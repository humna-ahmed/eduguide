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79" r:id="rId3"/>
    <p:sldId id="380" r:id="rId4"/>
    <p:sldId id="358" r:id="rId5"/>
    <p:sldId id="295" r:id="rId6"/>
    <p:sldId id="371" r:id="rId7"/>
    <p:sldId id="363" r:id="rId8"/>
    <p:sldId id="296" r:id="rId9"/>
    <p:sldId id="297" r:id="rId10"/>
    <p:sldId id="308" r:id="rId11"/>
    <p:sldId id="298" r:id="rId12"/>
    <p:sldId id="309" r:id="rId13"/>
    <p:sldId id="310" r:id="rId14"/>
    <p:sldId id="300" r:id="rId15"/>
    <p:sldId id="301" r:id="rId16"/>
    <p:sldId id="359" r:id="rId17"/>
    <p:sldId id="360" r:id="rId18"/>
    <p:sldId id="365" r:id="rId19"/>
    <p:sldId id="361" r:id="rId20"/>
    <p:sldId id="362" r:id="rId21"/>
    <p:sldId id="364" r:id="rId22"/>
    <p:sldId id="304" r:id="rId23"/>
    <p:sldId id="305" r:id="rId24"/>
    <p:sldId id="312" r:id="rId25"/>
    <p:sldId id="285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373" r:id="rId35"/>
    <p:sldId id="374" r:id="rId36"/>
    <p:sldId id="375" r:id="rId37"/>
    <p:sldId id="376" r:id="rId38"/>
    <p:sldId id="299" r:id="rId39"/>
    <p:sldId id="377" r:id="rId40"/>
    <p:sldId id="378" r:id="rId41"/>
    <p:sldId id="302" r:id="rId42"/>
    <p:sldId id="303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92" autoAdjust="0"/>
  </p:normalViewPr>
  <p:slideViewPr>
    <p:cSldViewPr snapToGrid="0">
      <p:cViewPr varScale="1">
        <p:scale>
          <a:sx n="69" d="100"/>
          <a:sy n="69" d="100"/>
        </p:scale>
        <p:origin x="-750" y="-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04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2D4D552-B536-4664-97D5-BB938EC76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E8320F51-83EE-403C-A2AB-7282A9699D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EE038FF-D863-48C1-9105-6279AFEED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BA1CAE44-35DD-4D4A-B213-7873F840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1CB3D8A-B6D7-42E8-A7CC-F1922E81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443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56EB059-E91F-4228-B000-A8CE45041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3991439-BB89-4F2F-A0FB-BEA41107B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A18AEDE-61B4-4F9C-99DF-7A153A9B5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2D1CE9C-8A75-4F5C-B047-6B6422945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178F5C1-3F0F-48B3-B232-5F339087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9139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DA586B-A1F7-48BF-BF44-975F413F1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4CB94E4C-2E77-49AC-AB33-96EB1A1BC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B32EDF8-811A-4532-966B-DADB600C2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57AA8BA-27F4-4BCA-A707-EF7506EF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80AA718-CCBF-4A08-BF4C-72B267B95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7489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FC960E0-A809-4DCB-93A0-7850B3638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3F99784-7B70-4BCC-BABC-E0700831D2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FE3E9348-D97E-49EB-A4F9-65420D247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B063044-4A7B-4978-85BB-3FAD49640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3330B97A-7C72-4CEB-A0E7-D21061969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BA3E9A3-E5DC-417E-9861-F9E331F6B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76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6A77BBD-5A7A-4456-A6FD-E12B302095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219B0DA-8393-46C9-ADDD-A87CF53AA0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FEBE0D7F-CDB8-489A-8B32-9C2AD4723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9F79453-580D-438A-8E16-3AEFA6765A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030A674A-AF76-429C-974B-5E6B9D59CD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FDBF2131-5081-4614-866B-A020ED84B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70A5C695-BEE1-475F-8200-94F4ADBCA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CDB53214-1D06-4C5E-A173-7FC5520F8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114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55E5EC-6BD5-4622-B515-01092B14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3D08A9DC-47D1-476D-A9DA-24D8EA2B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6A5C7F1-6F92-4539-BC9F-53307B6DF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D5DC2EC-82B3-432C-94BA-997DFA115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6949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F0CD2DB6-CE89-41E8-A8C6-101712F8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50EA493-EFFC-4D1A-97C5-D49C01E3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B0D0E45-1FCF-4783-A7E2-FF09D2854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37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C94C475-F194-448F-B700-063FF0AAD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DC1F759-65DF-49FD-AA98-D87FA17CB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DD6DF447-6C96-4FE2-9320-C5B46142F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4B20AF2-076E-455D-8152-B226B9A2E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6F4BB70-0383-4D2F-BFF5-EDEF5C8C3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795B469-73B9-42AE-806E-E88F4D73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188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B333982-11DA-4088-900D-727B958F3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CE76293F-5318-45F5-936D-342E1D5DE1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C883E50-5BCC-455A-B1A8-DD0DB3FEE1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0AD25927-04ED-45F9-92A7-BB9516141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C9C7967-B59D-4430-9A21-57A062C0F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3F10149-D27B-4ABA-92F3-8219B125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080FBB-C66A-4517-BCC1-7BC3876A7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86B676A-24EC-4BD9-90AB-FB26C0F86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4FDB7CB-3683-47D2-B2BE-3A40A282D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4D1A2DC-63DD-4CC3-BE15-67070DA20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7CB3931-D0F6-4D43-B980-F84890B6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501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2CF082C-EA21-4472-A4F2-B20E462CEF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80D1E37F-2DCB-45DE-898C-7CC2E3DE0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ED017DE-C385-4A16-AFF8-A4E574D72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D6A7A63-EB21-4E32-9382-BC68E2F6E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6519E8-3F8B-4763-8EC2-832FF766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725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C2F5D1DA-1E45-4874-9E1D-1837F4D74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C387FD6-8D70-4EA8-8CBC-42E790F7C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C1B32C3-01CA-44E7-A527-011E0A7CB1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51E3E7-4CB4-4096-8FAD-ED4BA4DEE51E}" type="datetimeFigureOut">
              <a:rPr lang="en-GB" smtClean="0"/>
              <a:t>05/06/2024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ACADDA5-5AFB-4663-8CCD-4C8F8840D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FF2FC0E-FCE9-4F71-BF19-B1B212E26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B040D8-EBCF-43DC-BDDE-E98B589442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5566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1BCA3C-60F2-413D-9593-E532C68414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Greedy Algorithms 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7CD3941-4E20-47D2-807B-016DBB867B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3600" dirty="0"/>
              <a:t>Lecture</a:t>
            </a:r>
            <a:r>
              <a:rPr lang="en-US" dirty="0"/>
              <a:t> </a:t>
            </a:r>
            <a:r>
              <a:rPr lang="en-US" sz="3200" dirty="0"/>
              <a:t>11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149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45C237-620D-404D-B44B-24C29D2D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8688" y="374651"/>
            <a:ext cx="7772400" cy="94297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ea typeface="+mj-ea"/>
              </a:rPr>
              <a:t>Optimization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195305-634C-465C-944C-AF99C0D33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35164" y="1563688"/>
            <a:ext cx="8047037" cy="4532312"/>
          </a:xfrm>
        </p:spPr>
        <p:txBody>
          <a:bodyPr/>
          <a:lstStyle/>
          <a:p>
            <a:pPr>
              <a:defRPr/>
            </a:pPr>
            <a:r>
              <a:rPr lang="en-US" sz="1800" b="1" dirty="0">
                <a:solidFill>
                  <a:schemeClr val="tx1"/>
                </a:solidFill>
              </a:rPr>
              <a:t>Optimization Problem</a:t>
            </a:r>
          </a:p>
          <a:p>
            <a:pPr lvl="1">
              <a:defRPr/>
            </a:pPr>
            <a:r>
              <a:rPr lang="en-US" sz="1800" dirty="0">
                <a:solidFill>
                  <a:schemeClr val="tx1"/>
                </a:solidFill>
              </a:rPr>
              <a:t>Problem with an objective function to either:</a:t>
            </a:r>
          </a:p>
          <a:p>
            <a:pPr lvl="2">
              <a:defRPr/>
            </a:pPr>
            <a:r>
              <a:rPr lang="en-US" sz="1600" dirty="0">
                <a:solidFill>
                  <a:schemeClr val="tx1"/>
                </a:solidFill>
              </a:rPr>
              <a:t>Maximize some profit</a:t>
            </a:r>
          </a:p>
          <a:p>
            <a:pPr lvl="2">
              <a:defRPr/>
            </a:pPr>
            <a:r>
              <a:rPr lang="en-US" sz="1600" dirty="0">
                <a:solidFill>
                  <a:schemeClr val="tx1"/>
                </a:solidFill>
              </a:rPr>
              <a:t>Minimize some cost</a:t>
            </a:r>
          </a:p>
          <a:p>
            <a:pPr lvl="2">
              <a:defRPr/>
            </a:pPr>
            <a:endParaRPr lang="en-US" sz="1600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sz="1800" b="1" dirty="0">
                <a:solidFill>
                  <a:schemeClr val="tx1"/>
                </a:solidFill>
              </a:rPr>
              <a:t>Optimization problems appear in so many applications</a:t>
            </a:r>
          </a:p>
          <a:p>
            <a:pPr lvl="1">
              <a:defRPr/>
            </a:pPr>
            <a:r>
              <a:rPr lang="en-US" sz="1600" i="1" dirty="0">
                <a:solidFill>
                  <a:schemeClr val="tx1"/>
                </a:solidFill>
              </a:rPr>
              <a:t>Maximize</a:t>
            </a:r>
            <a:r>
              <a:rPr lang="en-US" sz="1600" dirty="0">
                <a:solidFill>
                  <a:schemeClr val="tx1"/>
                </a:solidFill>
              </a:rPr>
              <a:t> the number of jobs using  a resource </a:t>
            </a:r>
            <a:r>
              <a:rPr lang="en-US" sz="1600" b="1" dirty="0">
                <a:solidFill>
                  <a:schemeClr val="tx1"/>
                </a:solidFill>
              </a:rPr>
              <a:t>[Activity-Selection Problem</a:t>
            </a:r>
            <a:r>
              <a:rPr lang="en-US" sz="1600" dirty="0">
                <a:solidFill>
                  <a:schemeClr val="tx1"/>
                </a:solidFill>
              </a:rPr>
              <a:t>]</a:t>
            </a:r>
          </a:p>
          <a:p>
            <a:pPr lvl="1">
              <a:defRPr/>
            </a:pPr>
            <a:r>
              <a:rPr lang="en-US" sz="1600" dirty="0">
                <a:solidFill>
                  <a:schemeClr val="tx1"/>
                </a:solidFill>
              </a:rPr>
              <a:t>Encode the data in a file to </a:t>
            </a:r>
            <a:r>
              <a:rPr lang="en-US" sz="1600" i="1" dirty="0">
                <a:solidFill>
                  <a:schemeClr val="tx1"/>
                </a:solidFill>
              </a:rPr>
              <a:t>minimize</a:t>
            </a:r>
            <a:r>
              <a:rPr lang="en-US" sz="1600" dirty="0">
                <a:solidFill>
                  <a:schemeClr val="tx1"/>
                </a:solidFill>
              </a:rPr>
              <a:t> its size [</a:t>
            </a:r>
            <a:r>
              <a:rPr lang="en-US" sz="1600" b="1" dirty="0">
                <a:solidFill>
                  <a:schemeClr val="tx1"/>
                </a:solidFill>
              </a:rPr>
              <a:t>Huffman Encoding Problem</a:t>
            </a:r>
            <a:r>
              <a:rPr lang="en-US" sz="1600" dirty="0">
                <a:solidFill>
                  <a:schemeClr val="tx1"/>
                </a:solidFill>
              </a:rPr>
              <a:t>]</a:t>
            </a:r>
          </a:p>
          <a:p>
            <a:pPr lvl="1">
              <a:defRPr/>
            </a:pPr>
            <a:r>
              <a:rPr lang="en-US" sz="1600" dirty="0">
                <a:solidFill>
                  <a:schemeClr val="tx1"/>
                </a:solidFill>
              </a:rPr>
              <a:t>Collect the </a:t>
            </a:r>
            <a:r>
              <a:rPr lang="en-US" sz="1600" i="1" dirty="0">
                <a:solidFill>
                  <a:schemeClr val="tx1"/>
                </a:solidFill>
              </a:rPr>
              <a:t>maximum</a:t>
            </a:r>
            <a:r>
              <a:rPr lang="en-US" sz="1600" dirty="0">
                <a:solidFill>
                  <a:schemeClr val="tx1"/>
                </a:solidFill>
              </a:rPr>
              <a:t> value of goods that fit in a given bucket [</a:t>
            </a:r>
            <a:r>
              <a:rPr lang="en-US" sz="1600" b="1" dirty="0">
                <a:solidFill>
                  <a:schemeClr val="tx1"/>
                </a:solidFill>
              </a:rPr>
              <a:t>knapsack Problem</a:t>
            </a:r>
            <a:r>
              <a:rPr lang="en-US" sz="1600" dirty="0">
                <a:solidFill>
                  <a:schemeClr val="tx1"/>
                </a:solidFill>
              </a:rPr>
              <a:t>]</a:t>
            </a:r>
          </a:p>
          <a:p>
            <a:pPr lvl="1">
              <a:defRPr/>
            </a:pPr>
            <a:r>
              <a:rPr lang="en-US" sz="1600" dirty="0">
                <a:solidFill>
                  <a:schemeClr val="tx1"/>
                </a:solidFill>
              </a:rPr>
              <a:t>Select the </a:t>
            </a:r>
            <a:r>
              <a:rPr lang="en-US" sz="1600" i="1" dirty="0">
                <a:solidFill>
                  <a:schemeClr val="tx1"/>
                </a:solidFill>
              </a:rPr>
              <a:t>smallest-weight </a:t>
            </a:r>
            <a:r>
              <a:rPr lang="en-US" sz="1600" dirty="0">
                <a:solidFill>
                  <a:schemeClr val="tx1"/>
                </a:solidFill>
              </a:rPr>
              <a:t>of edges to connect all nodes in a graph </a:t>
            </a:r>
            <a:r>
              <a:rPr lang="en-US" sz="1600" b="1" dirty="0">
                <a:solidFill>
                  <a:schemeClr val="tx1"/>
                </a:solidFill>
              </a:rPr>
              <a:t>[Minimum Spanning Tree</a:t>
            </a:r>
            <a:r>
              <a:rPr lang="en-US" sz="1600" dirty="0">
                <a:solidFill>
                  <a:schemeClr val="tx1"/>
                </a:solidFill>
              </a:rPr>
              <a:t>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E13DD9-EEDA-45A1-9D4C-F337974B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350838"/>
            <a:ext cx="7772400" cy="114300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tx1"/>
                </a:solidFill>
                <a:ea typeface="+mj-ea"/>
              </a:rPr>
              <a:t>Solving Optimization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B16F9C-8946-4755-9D0A-5C1F66407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4875" y="1552575"/>
            <a:ext cx="7772400" cy="1011238"/>
          </a:xfrm>
        </p:spPr>
        <p:txBody>
          <a:bodyPr>
            <a:normAutofit lnSpcReduction="10000"/>
          </a:bodyPr>
          <a:lstStyle/>
          <a:p>
            <a:r>
              <a:rPr lang="en-US" altLang="en-US" sz="2000" b="1">
                <a:solidFill>
                  <a:schemeClr val="tx1"/>
                </a:solidFill>
              </a:rPr>
              <a:t>Two techniques for solving optimization problems:</a:t>
            </a:r>
          </a:p>
          <a:p>
            <a:pPr lvl="1"/>
            <a:r>
              <a:rPr lang="en-US" altLang="en-US" sz="2000">
                <a:solidFill>
                  <a:schemeClr val="tx1"/>
                </a:solidFill>
              </a:rPr>
              <a:t>Greedy Algorithms (</a:t>
            </a:r>
            <a:r>
              <a:rPr lang="ja-JP" altLang="en-US" sz="2000">
                <a:solidFill>
                  <a:schemeClr val="tx1"/>
                </a:solidFill>
              </a:rPr>
              <a:t>“</a:t>
            </a:r>
            <a:r>
              <a:rPr lang="en-US" altLang="ja-JP" sz="2000">
                <a:solidFill>
                  <a:schemeClr val="tx1"/>
                </a:solidFill>
              </a:rPr>
              <a:t>Greedy Strategy</a:t>
            </a:r>
            <a:r>
              <a:rPr lang="ja-JP" altLang="en-US" sz="2000">
                <a:solidFill>
                  <a:schemeClr val="tx1"/>
                </a:solidFill>
              </a:rPr>
              <a:t>”</a:t>
            </a:r>
            <a:r>
              <a:rPr lang="en-US" altLang="ja-JP" sz="200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altLang="en-US" sz="2000">
                <a:solidFill>
                  <a:schemeClr val="tx1"/>
                </a:solidFill>
              </a:rPr>
              <a:t>Dynamic Programming</a:t>
            </a:r>
          </a:p>
          <a:p>
            <a:pPr lvl="1"/>
            <a:endParaRPr lang="en-US" altLang="en-US" sz="2000">
              <a:solidFill>
                <a:schemeClr val="tx1"/>
              </a:solidFill>
            </a:endParaRPr>
          </a:p>
          <a:p>
            <a:endParaRPr lang="en-US" altLang="en-US" sz="200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4778B5-ED95-497E-8531-73D5B2C1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endParaRPr lang="en-US" altLang="en-US" sz="1400" b="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xmlns="" id="{25CD3BE4-00E2-4BC1-BD84-1E6368505F85}"/>
              </a:ext>
            </a:extLst>
          </p:cNvPr>
          <p:cNvGrpSpPr>
            <a:grpSpLocks/>
          </p:cNvGrpSpPr>
          <p:nvPr/>
        </p:nvGrpSpPr>
        <p:grpSpPr bwMode="auto">
          <a:xfrm>
            <a:off x="6503988" y="2390775"/>
            <a:ext cx="3859212" cy="3346450"/>
            <a:chOff x="4980733" y="2389995"/>
            <a:chExt cx="3858467" cy="3346805"/>
          </a:xfrm>
        </p:grpSpPr>
        <p:grpSp>
          <p:nvGrpSpPr>
            <p:cNvPr id="18456" name="Group 34">
              <a:extLst>
                <a:ext uri="{FF2B5EF4-FFF2-40B4-BE49-F238E27FC236}">
                  <a16:creationId xmlns:a16="http://schemas.microsoft.com/office/drawing/2014/main" xmlns="" id="{82679204-D595-49F9-A72E-14F5F89A622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40201" y="2743199"/>
              <a:ext cx="3798999" cy="2993601"/>
              <a:chOff x="3216" y="2640"/>
              <a:chExt cx="2352" cy="1488"/>
            </a:xfrm>
          </p:grpSpPr>
          <p:sp>
            <p:nvSpPr>
              <p:cNvPr id="7" name="Rectangle 7">
                <a:extLst>
                  <a:ext uri="{FF2B5EF4-FFF2-40B4-BE49-F238E27FC236}">
                    <a16:creationId xmlns:a16="http://schemas.microsoft.com/office/drawing/2014/main" xmlns="" id="{31FC41E0-52B9-4E0E-B581-3EA16C57F4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16" y="2640"/>
                <a:ext cx="2352" cy="1488"/>
              </a:xfrm>
              <a:prstGeom prst="rect">
                <a:avLst/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8" name="AutoShape 8">
                <a:extLst>
                  <a:ext uri="{FF2B5EF4-FFF2-40B4-BE49-F238E27FC236}">
                    <a16:creationId xmlns:a16="http://schemas.microsoft.com/office/drawing/2014/main" xmlns="" id="{569F313C-7E76-46AD-AB1E-2455A7ED7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02" y="2831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9" name="AutoShape 9">
                <a:extLst>
                  <a:ext uri="{FF2B5EF4-FFF2-40B4-BE49-F238E27FC236}">
                    <a16:creationId xmlns:a16="http://schemas.microsoft.com/office/drawing/2014/main" xmlns="" id="{A0353974-B7C5-47E1-B859-3B84C3AE0A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00" y="3082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0" name="AutoShape 10">
                <a:extLst>
                  <a:ext uri="{FF2B5EF4-FFF2-40B4-BE49-F238E27FC236}">
                    <a16:creationId xmlns:a16="http://schemas.microsoft.com/office/drawing/2014/main" xmlns="" id="{1C9B47A4-C33A-4850-A201-3ABDAEF14B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96" y="3504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1" name="AutoShape 11">
                <a:extLst>
                  <a:ext uri="{FF2B5EF4-FFF2-40B4-BE49-F238E27FC236}">
                    <a16:creationId xmlns:a16="http://schemas.microsoft.com/office/drawing/2014/main" xmlns="" id="{8FC6E41D-1735-44D6-96C3-C306AB7DC3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84" y="3686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2" name="AutoShape 12">
                <a:extLst>
                  <a:ext uri="{FF2B5EF4-FFF2-40B4-BE49-F238E27FC236}">
                    <a16:creationId xmlns:a16="http://schemas.microsoft.com/office/drawing/2014/main" xmlns="" id="{EDB1EC6B-D841-4079-9AAB-1CBDB42036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08" y="2831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3" name="AutoShape 13">
                <a:extLst>
                  <a:ext uri="{FF2B5EF4-FFF2-40B4-BE49-F238E27FC236}">
                    <a16:creationId xmlns:a16="http://schemas.microsoft.com/office/drawing/2014/main" xmlns="" id="{B52B489A-6B60-4218-AC1E-737F8D1AF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64" y="3561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4" name="AutoShape 14">
                <a:extLst>
                  <a:ext uri="{FF2B5EF4-FFF2-40B4-BE49-F238E27FC236}">
                    <a16:creationId xmlns:a16="http://schemas.microsoft.com/office/drawing/2014/main" xmlns="" id="{4080023D-2728-4100-9111-862A3ADE49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32" y="2831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5" name="AutoShape 15">
                <a:extLst>
                  <a:ext uri="{FF2B5EF4-FFF2-40B4-BE49-F238E27FC236}">
                    <a16:creationId xmlns:a16="http://schemas.microsoft.com/office/drawing/2014/main" xmlns="" id="{080B2E42-E0D0-459E-B70D-F43C97E550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36" y="2831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6" name="AutoShape 16">
                <a:extLst>
                  <a:ext uri="{FF2B5EF4-FFF2-40B4-BE49-F238E27FC236}">
                    <a16:creationId xmlns:a16="http://schemas.microsoft.com/office/drawing/2014/main" xmlns="" id="{C9CC189D-7D9F-4C9B-B94C-527CC7BA8B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96" y="3494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17" name="AutoShape 17">
                <a:extLst>
                  <a:ext uri="{FF2B5EF4-FFF2-40B4-BE49-F238E27FC236}">
                    <a16:creationId xmlns:a16="http://schemas.microsoft.com/office/drawing/2014/main" xmlns="" id="{4D3F7E5F-F916-481C-8E50-6F798E46A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76" y="3389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008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  <p:sp>
          <p:nvSpPr>
            <p:cNvPr id="18" name="Text Box 18">
              <a:extLst>
                <a:ext uri="{FF2B5EF4-FFF2-40B4-BE49-F238E27FC236}">
                  <a16:creationId xmlns:a16="http://schemas.microsoft.com/office/drawing/2014/main" xmlns="" id="{14B7A04E-E3E9-42D2-A783-42DD1523C3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80733" y="2389995"/>
              <a:ext cx="3779107" cy="36992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8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rgbClr val="008000"/>
                  </a:solidFill>
                  <a:latin typeface="Arial" charset="0"/>
                  <a:ea typeface="ＭＳ Ｐゴシック" charset="0"/>
                  <a:cs typeface="ＭＳ Ｐゴシック" charset="0"/>
                </a:rPr>
                <a:t>Space of optimization problems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xmlns="" id="{B14F7340-F9B2-42B0-B004-281ECDA773C7}"/>
              </a:ext>
            </a:extLst>
          </p:cNvPr>
          <p:cNvGrpSpPr>
            <a:grpSpLocks/>
          </p:cNvGrpSpPr>
          <p:nvPr/>
        </p:nvGrpSpPr>
        <p:grpSpPr bwMode="auto">
          <a:xfrm>
            <a:off x="1955800" y="3016251"/>
            <a:ext cx="7164388" cy="2627313"/>
            <a:chOff x="432260" y="3016924"/>
            <a:chExt cx="7164223" cy="2627040"/>
          </a:xfrm>
        </p:grpSpPr>
        <p:sp>
          <p:nvSpPr>
            <p:cNvPr id="5" name="Text Box 4">
              <a:extLst>
                <a:ext uri="{FF2B5EF4-FFF2-40B4-BE49-F238E27FC236}">
                  <a16:creationId xmlns:a16="http://schemas.microsoft.com/office/drawing/2014/main" xmlns="" id="{127D92C3-A4E2-415B-9005-0155B76D05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260" y="3016924"/>
              <a:ext cx="3838487" cy="6460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rgbClr val="0000FF"/>
                  </a:solidFill>
                  <a:latin typeface="Arial" charset="0"/>
                  <a:ea typeface="ＭＳ Ｐゴシック" charset="0"/>
                  <a:cs typeface="ＭＳ Ｐゴシック" charset="0"/>
                </a:rPr>
                <a:t>Greedy algorithms can solve some problems optimally </a:t>
              </a:r>
            </a:p>
          </p:txBody>
        </p:sp>
        <p:grpSp>
          <p:nvGrpSpPr>
            <p:cNvPr id="18450" name="Group 32">
              <a:extLst>
                <a:ext uri="{FF2B5EF4-FFF2-40B4-BE49-F238E27FC236}">
                  <a16:creationId xmlns:a16="http://schemas.microsoft.com/office/drawing/2014/main" xmlns="" id="{6089D717-AB51-438C-9C2F-1D97E88B5B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03157" y="3732727"/>
              <a:ext cx="2093326" cy="1911237"/>
              <a:chOff x="3384" y="1258"/>
              <a:chExt cx="1296" cy="95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xmlns="" id="{2C67B856-FC69-4CDF-B940-A55D79591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384" y="1258"/>
                <a:ext cx="1296" cy="950"/>
              </a:xfrm>
              <a:prstGeom prst="ellipse">
                <a:avLst/>
              </a:prstGeom>
              <a:noFill/>
              <a:ln w="28575">
                <a:solidFill>
                  <a:srgbClr val="3333FF"/>
                </a:solidFill>
                <a:prstDash val="sysDot"/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1" name="AutoShape 24">
                <a:extLst>
                  <a:ext uri="{FF2B5EF4-FFF2-40B4-BE49-F238E27FC236}">
                    <a16:creationId xmlns:a16="http://schemas.microsoft.com/office/drawing/2014/main" xmlns="" id="{B48E2D0E-2046-4FEF-BD31-69A560AC89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64" y="1814"/>
                <a:ext cx="192" cy="249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3333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2" name="AutoShape 26">
                <a:extLst>
                  <a:ext uri="{FF2B5EF4-FFF2-40B4-BE49-F238E27FC236}">
                    <a16:creationId xmlns:a16="http://schemas.microsoft.com/office/drawing/2014/main" xmlns="" id="{516D7BCE-7634-4735-993B-C06973572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44" y="1689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3333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3" name="AutoShape 29">
                <a:extLst>
                  <a:ext uri="{FF2B5EF4-FFF2-40B4-BE49-F238E27FC236}">
                    <a16:creationId xmlns:a16="http://schemas.microsoft.com/office/drawing/2014/main" xmlns="" id="{65F66799-45F6-4476-AECF-5FD612EE90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74" y="1622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3333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4" name="AutoShape 30">
                <a:extLst>
                  <a:ext uri="{FF2B5EF4-FFF2-40B4-BE49-F238E27FC236}">
                    <a16:creationId xmlns:a16="http://schemas.microsoft.com/office/drawing/2014/main" xmlns="" id="{4232C915-C7A9-4BB8-8B09-F63B34097F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56" y="1517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3333FF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xmlns="" id="{B2AE02E5-7F6E-47D2-A0CF-CE80E834A641}"/>
              </a:ext>
            </a:extLst>
          </p:cNvPr>
          <p:cNvGrpSpPr>
            <a:grpSpLocks/>
          </p:cNvGrpSpPr>
          <p:nvPr/>
        </p:nvGrpSpPr>
        <p:grpSpPr bwMode="auto">
          <a:xfrm>
            <a:off x="1987550" y="3130551"/>
            <a:ext cx="7437438" cy="2220913"/>
            <a:chOff x="462879" y="3130305"/>
            <a:chExt cx="7438404" cy="2221059"/>
          </a:xfrm>
        </p:grpSpPr>
        <p:sp>
          <p:nvSpPr>
            <p:cNvPr id="25" name="Rectangle 33">
              <a:extLst>
                <a:ext uri="{FF2B5EF4-FFF2-40B4-BE49-F238E27FC236}">
                  <a16:creationId xmlns:a16="http://schemas.microsoft.com/office/drawing/2014/main" xmlns="" id="{4FD450DB-C52D-484D-B421-E8CD49847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2879" y="3781223"/>
              <a:ext cx="4108984" cy="6461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dirty="0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rPr>
                <a:t>Dynamic programming can solve more problems optimally (superset)</a:t>
              </a:r>
            </a:p>
          </p:txBody>
        </p:sp>
        <p:grpSp>
          <p:nvGrpSpPr>
            <p:cNvPr id="18441" name="Group 71">
              <a:extLst>
                <a:ext uri="{FF2B5EF4-FFF2-40B4-BE49-F238E27FC236}">
                  <a16:creationId xmlns:a16="http://schemas.microsoft.com/office/drawing/2014/main" xmlns="" id="{2EDC9127-D704-4C7A-90CB-F80C0D1130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497835" y="3130305"/>
              <a:ext cx="2403448" cy="2221059"/>
              <a:chOff x="3600" y="960"/>
              <a:chExt cx="1488" cy="1104"/>
            </a:xfrm>
          </p:grpSpPr>
          <p:sp>
            <p:nvSpPr>
              <p:cNvPr id="27" name="AutoShape 72">
                <a:extLst>
                  <a:ext uri="{FF2B5EF4-FFF2-40B4-BE49-F238E27FC236}">
                    <a16:creationId xmlns:a16="http://schemas.microsoft.com/office/drawing/2014/main" xmlns="" id="{5E823BED-5BE1-45A8-9A9A-CDBD2E1931B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00" y="960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8" name="AutoShape 73">
                <a:extLst>
                  <a:ext uri="{FF2B5EF4-FFF2-40B4-BE49-F238E27FC236}">
                    <a16:creationId xmlns:a16="http://schemas.microsoft.com/office/drawing/2014/main" xmlns="" id="{15273F0B-538C-4230-B6FD-49223AF10E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96" y="1210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29" name="AutoShape 74">
                <a:extLst>
                  <a:ext uri="{FF2B5EF4-FFF2-40B4-BE49-F238E27FC236}">
                    <a16:creationId xmlns:a16="http://schemas.microsoft.com/office/drawing/2014/main" xmlns="" id="{F02DE154-FCF7-406D-884F-1DB1833E1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78" y="1814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30" name="AutoShape 75">
                <a:extLst>
                  <a:ext uri="{FF2B5EF4-FFF2-40B4-BE49-F238E27FC236}">
                    <a16:creationId xmlns:a16="http://schemas.microsoft.com/office/drawing/2014/main" xmlns="" id="{6D010CAC-52CD-4659-A43E-2150D5649F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704" y="960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31" name="AutoShape 76">
                <a:extLst>
                  <a:ext uri="{FF2B5EF4-FFF2-40B4-BE49-F238E27FC236}">
                    <a16:creationId xmlns:a16="http://schemas.microsoft.com/office/drawing/2014/main" xmlns="" id="{D8EBF9FD-5D71-4E64-B610-8EDE4A9B35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0" y="1689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32" name="AutoShape 77">
                <a:extLst>
                  <a:ext uri="{FF2B5EF4-FFF2-40B4-BE49-F238E27FC236}">
                    <a16:creationId xmlns:a16="http://schemas.microsoft.com/office/drawing/2014/main" xmlns="" id="{D25BF92E-CF22-4E52-94C6-D5E9693CE0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90" y="1622"/>
                <a:ext cx="194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  <p:sp>
            <p:nvSpPr>
              <p:cNvPr id="33" name="AutoShape 78">
                <a:extLst>
                  <a:ext uri="{FF2B5EF4-FFF2-40B4-BE49-F238E27FC236}">
                    <a16:creationId xmlns:a16="http://schemas.microsoft.com/office/drawing/2014/main" xmlns="" id="{4D482234-1CDA-4D5C-BAE7-CBEBF6B577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2" y="1517"/>
                <a:ext cx="192" cy="250"/>
              </a:xfrm>
              <a:prstGeom prst="plus">
                <a:avLst>
                  <a:gd name="adj" fmla="val 25000"/>
                </a:avLst>
              </a:prstGeom>
              <a:noFill/>
              <a:ln w="28575">
                <a:solidFill>
                  <a:srgbClr val="8000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>
                  <a:solidFill>
                    <a:srgbClr val="800000"/>
                  </a:solidFill>
                  <a:latin typeface="Arial" charset="0"/>
                  <a:ea typeface="ＭＳ Ｐゴシック" charset="0"/>
                  <a:cs typeface="ＭＳ Ｐゴシック" charset="0"/>
                </a:endParaRPr>
              </a:p>
            </p:txBody>
          </p:sp>
        </p:grpSp>
      </p:grpSp>
      <p:sp>
        <p:nvSpPr>
          <p:cNvPr id="18439" name="TextBox 37">
            <a:extLst>
              <a:ext uri="{FF2B5EF4-FFF2-40B4-BE49-F238E27FC236}">
                <a16:creationId xmlns:a16="http://schemas.microsoft.com/office/drawing/2014/main" xmlns="" id="{1749B6EE-E8C3-4C53-9A3A-3CACE65DAE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5289" y="5114926"/>
            <a:ext cx="5443537" cy="1477963"/>
          </a:xfrm>
          <a:prstGeom prst="rect">
            <a:avLst/>
          </a:prstGeom>
          <a:solidFill>
            <a:srgbClr val="F9F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en-US" altLang="en-US" sz="1800"/>
              <a:t>We still care about Greedy Algorithms because for some problems: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en-US" sz="1800"/>
              <a:t>Dynamic programming is overkill (slow)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en-US" sz="1800"/>
              <a:t>Greedy algorithm is simpler and more efficient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209800" y="350838"/>
            <a:ext cx="7772400" cy="996950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Greedy Algorithms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2209800" y="1438276"/>
            <a:ext cx="7772400" cy="4449763"/>
          </a:xfrm>
        </p:spPr>
        <p:txBody>
          <a:bodyPr/>
          <a:lstStyle/>
          <a:p>
            <a:r>
              <a:rPr lang="en-US" altLang="en-US" b="1" dirty="0">
                <a:solidFill>
                  <a:schemeClr val="tx1"/>
                </a:solidFill>
              </a:rPr>
              <a:t>Main Concept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Divide the problem into multiple steps (sub-problems)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For each step take the best choice at the current moment (Local optimal) (Greedy choice)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A </a:t>
            </a:r>
            <a:r>
              <a:rPr lang="en-US" altLang="en-US" sz="2000" b="1" i="1" dirty="0">
                <a:solidFill>
                  <a:schemeClr val="tx1"/>
                </a:solidFill>
              </a:rPr>
              <a:t>greedy algorithm</a:t>
            </a:r>
            <a:r>
              <a:rPr lang="en-US" altLang="en-US" sz="2000" b="1" dirty="0">
                <a:solidFill>
                  <a:schemeClr val="tx1"/>
                </a:solidFill>
              </a:rPr>
              <a:t> always makes the choice that looks best at the moment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pPr lvl="1"/>
            <a:r>
              <a:rPr lang="en-US" altLang="en-US" sz="2000" b="1" u="sng" dirty="0">
                <a:solidFill>
                  <a:schemeClr val="tx1"/>
                </a:solidFill>
              </a:rPr>
              <a:t>The hope: </a:t>
            </a:r>
            <a:r>
              <a:rPr lang="en-US" altLang="en-US" sz="2000" b="1" dirty="0">
                <a:solidFill>
                  <a:schemeClr val="tx1"/>
                </a:solidFill>
              </a:rPr>
              <a:t>A locally optimal choice will lead to a globally optimal solution</a:t>
            </a:r>
          </a:p>
          <a:p>
            <a:pPr lvl="2"/>
            <a:r>
              <a:rPr lang="en-US" altLang="en-US" sz="1800" dirty="0">
                <a:solidFill>
                  <a:schemeClr val="tx1"/>
                </a:solidFill>
              </a:rPr>
              <a:t>For some problems, it works. For others, it does not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55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Greedy Algorithms</a:t>
            </a:r>
          </a:p>
        </p:txBody>
      </p:sp>
      <p:sp>
        <p:nvSpPr>
          <p:cNvPr id="1572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A </a:t>
            </a:r>
            <a:r>
              <a:rPr lang="en-US" altLang="en-US" i="1" dirty="0">
                <a:solidFill>
                  <a:schemeClr val="tx1"/>
                </a:solidFill>
              </a:rPr>
              <a:t>greedy algorithm</a:t>
            </a:r>
            <a:r>
              <a:rPr lang="en-US" altLang="en-US" dirty="0">
                <a:solidFill>
                  <a:schemeClr val="tx1"/>
                </a:solidFill>
              </a:rPr>
              <a:t> always makes the choice that looks best at the moment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The hope: a locally optimal choice will lead to a globally optimal solution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For some problems, it works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Dynamic programming can be overkill (slow); greedy algorithms tend to be easier to code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Activity-Selection Problem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Huffman Codes</a:t>
            </a:r>
          </a:p>
        </p:txBody>
      </p:sp>
    </p:spTree>
    <p:extLst>
      <p:ext uri="{BB962C8B-B14F-4D97-AF65-F5344CB8AC3E}">
        <p14:creationId xmlns:p14="http://schemas.microsoft.com/office/powerpoint/2010/main" val="3855452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xmlns="" id="{1E0BE7C4-C647-4E3A-8124-4D87AD6BD5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33600" y="304800"/>
            <a:ext cx="6324600" cy="1143000"/>
          </a:xfrm>
        </p:spPr>
        <p:txBody>
          <a:bodyPr>
            <a:normAutofit fontScale="90000"/>
          </a:bodyPr>
          <a:lstStyle/>
          <a:p>
            <a:r>
              <a:rPr lang="en-US" altLang="en-US">
                <a:solidFill>
                  <a:schemeClr val="tx1"/>
                </a:solidFill>
              </a:rPr>
              <a:t>The Greedy Method Technique</a:t>
            </a:r>
          </a:p>
        </p:txBody>
      </p:sp>
      <p:sp>
        <p:nvSpPr>
          <p:cNvPr id="145411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xmlns="" id="{40A844DA-37A1-4D7A-A577-0C56BA2BFDAB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057400" y="1676400"/>
            <a:ext cx="8229600" cy="3962400"/>
          </a:xfrm>
        </p:spPr>
        <p:txBody>
          <a:bodyPr/>
          <a:lstStyle/>
          <a:p>
            <a:r>
              <a:rPr lang="en-US" altLang="en-US" sz="2400" b="1" dirty="0">
                <a:solidFill>
                  <a:schemeClr val="tx1"/>
                </a:solidFill>
              </a:rPr>
              <a:t>The greedy method</a:t>
            </a:r>
            <a:r>
              <a:rPr lang="en-US" altLang="en-US" sz="2400" dirty="0">
                <a:solidFill>
                  <a:schemeClr val="tx1"/>
                </a:solidFill>
              </a:rPr>
              <a:t> is a general algorithm design paradigm, built on the following elements: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configurations</a:t>
            </a:r>
            <a:r>
              <a:rPr lang="en-US" altLang="en-US" sz="2000" dirty="0">
                <a:solidFill>
                  <a:schemeClr val="tx1"/>
                </a:solidFill>
              </a:rPr>
              <a:t>: different choices, collections, or values to find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objective function</a:t>
            </a:r>
            <a:r>
              <a:rPr lang="en-US" altLang="en-US" sz="2000" dirty="0">
                <a:solidFill>
                  <a:schemeClr val="tx1"/>
                </a:solidFill>
              </a:rPr>
              <a:t>: a score assigned to configurations, which we want to either maximize or minimize</a:t>
            </a:r>
          </a:p>
          <a:p>
            <a:r>
              <a:rPr lang="en-US" altLang="en-US" sz="2400" dirty="0">
                <a:solidFill>
                  <a:schemeClr val="tx1"/>
                </a:solidFill>
              </a:rPr>
              <a:t>It works best when applied to problems with the </a:t>
            </a:r>
            <a:r>
              <a:rPr lang="en-US" altLang="en-US" sz="2400" b="1" dirty="0">
                <a:solidFill>
                  <a:schemeClr val="tx1"/>
                </a:solidFill>
              </a:rPr>
              <a:t>greedy-choice</a:t>
            </a:r>
            <a:r>
              <a:rPr lang="en-US" altLang="en-US" sz="2400" dirty="0">
                <a:solidFill>
                  <a:schemeClr val="tx1"/>
                </a:solidFill>
              </a:rPr>
              <a:t> property: 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a globally-optimal solution can always be found by a series of local improvements from a starting configuration.</a:t>
            </a:r>
            <a:endParaRPr lang="en-US" altLang="zh-CN" sz="2000" dirty="0">
              <a:solidFill>
                <a:schemeClr val="tx1"/>
              </a:solidFill>
              <a:ea typeface="SimSun" panose="02010600030101010101" pitchFamily="2" charset="-122"/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en-US" sz="2400" b="1" i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2209800" y="422275"/>
            <a:ext cx="7772400" cy="928688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Elements Of Greedy Algorithms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2197100" y="1484313"/>
            <a:ext cx="8089900" cy="4424362"/>
          </a:xfrm>
        </p:spPr>
        <p:txBody>
          <a:bodyPr/>
          <a:lstStyle/>
          <a:p>
            <a:r>
              <a:rPr lang="en-US" altLang="en-US" sz="2000" b="1" dirty="0">
                <a:solidFill>
                  <a:schemeClr val="tx1"/>
                </a:solidFill>
              </a:rPr>
              <a:t>Greedy-Choice Property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At each step, we do a greedy (local optimal) choice</a:t>
            </a:r>
          </a:p>
          <a:p>
            <a:endParaRPr lang="en-US" altLang="en-US" sz="2000" dirty="0">
              <a:solidFill>
                <a:schemeClr val="tx1"/>
              </a:solidFill>
            </a:endParaRPr>
          </a:p>
          <a:p>
            <a:r>
              <a:rPr lang="en-US" altLang="en-US" sz="2000" b="1" dirty="0">
                <a:solidFill>
                  <a:schemeClr val="tx1"/>
                </a:solidFill>
              </a:rPr>
              <a:t>Top-Down Solution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The greedy choice is usually done independent of the sub-problems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Usually done “before” solving the sub-problem</a:t>
            </a:r>
          </a:p>
          <a:p>
            <a:pPr lvl="1"/>
            <a:endParaRPr lang="en-US" altLang="en-US" sz="2000" dirty="0">
              <a:solidFill>
                <a:schemeClr val="tx1"/>
              </a:solidFill>
            </a:endParaRPr>
          </a:p>
          <a:p>
            <a:r>
              <a:rPr lang="en-US" altLang="en-US" sz="2000" b="1" dirty="0">
                <a:solidFill>
                  <a:schemeClr val="tx1"/>
                </a:solidFill>
              </a:rPr>
              <a:t>Optimal Substructure 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The global optimal solution can be composed from the local optimal of the sub-problems</a:t>
            </a:r>
          </a:p>
        </p:txBody>
      </p:sp>
    </p:spTree>
    <p:extLst>
      <p:ext uri="{BB962C8B-B14F-4D97-AF65-F5344CB8AC3E}">
        <p14:creationId xmlns:p14="http://schemas.microsoft.com/office/powerpoint/2010/main" val="1226153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Activity-Selection Problem</a:t>
            </a:r>
          </a:p>
        </p:txBody>
      </p:sp>
      <p:sp>
        <p:nvSpPr>
          <p:cNvPr id="1573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Problem: get your money’s worth out of a carnival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Buy a wristband that lets you onto any ride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Lots of rides, each starting and ending at different times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Your goal: ride as many rides as possible</a:t>
            </a:r>
          </a:p>
          <a:p>
            <a:pPr lvl="2"/>
            <a:r>
              <a:rPr lang="en-US" altLang="en-US">
                <a:solidFill>
                  <a:schemeClr val="tx1"/>
                </a:solidFill>
              </a:rPr>
              <a:t>Another, alternative goal that we don’t solve here: maximize time spent on rides</a:t>
            </a:r>
          </a:p>
          <a:p>
            <a:r>
              <a:rPr lang="en-US" altLang="en-US">
                <a:solidFill>
                  <a:schemeClr val="tx1"/>
                </a:solidFill>
              </a:rPr>
              <a:t>Welcome to the </a:t>
            </a:r>
            <a:r>
              <a:rPr lang="en-US" altLang="en-US" i="1">
                <a:solidFill>
                  <a:schemeClr val="tx1"/>
                </a:solidFill>
              </a:rPr>
              <a:t>activity selection problem</a:t>
            </a:r>
            <a:endParaRPr lang="en-US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6169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Activity-Selection</a:t>
            </a:r>
          </a:p>
        </p:txBody>
      </p:sp>
      <p:sp>
        <p:nvSpPr>
          <p:cNvPr id="1574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371600"/>
            <a:ext cx="8229600" cy="2743200"/>
          </a:xfrm>
        </p:spPr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Formally: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Given a set </a:t>
            </a:r>
            <a:r>
              <a:rPr lang="en-US" altLang="en-US" i="1" dirty="0">
                <a:solidFill>
                  <a:schemeClr val="tx1"/>
                </a:solidFill>
              </a:rPr>
              <a:t>S</a:t>
            </a:r>
            <a:r>
              <a:rPr lang="en-US" altLang="en-US" dirty="0">
                <a:solidFill>
                  <a:schemeClr val="tx1"/>
                </a:solidFill>
              </a:rPr>
              <a:t> of </a:t>
            </a:r>
            <a:r>
              <a:rPr lang="en-US" altLang="en-US" i="1" dirty="0">
                <a:solidFill>
                  <a:schemeClr val="tx1"/>
                </a:solidFill>
              </a:rPr>
              <a:t>n</a:t>
            </a:r>
            <a:r>
              <a:rPr lang="en-US" altLang="en-US" dirty="0">
                <a:solidFill>
                  <a:schemeClr val="tx1"/>
                </a:solidFill>
              </a:rPr>
              <a:t> activities </a:t>
            </a:r>
            <a:r>
              <a:rPr lang="en-US" altLang="en-US" i="1" dirty="0">
                <a:solidFill>
                  <a:schemeClr val="tx1"/>
                </a:solidFill>
              </a:rPr>
              <a:t>S = {a</a:t>
            </a:r>
            <a:r>
              <a:rPr lang="en-US" altLang="en-US" i="1" baseline="-25000" dirty="0">
                <a:solidFill>
                  <a:schemeClr val="tx1"/>
                </a:solidFill>
              </a:rPr>
              <a:t>1</a:t>
            </a:r>
            <a:r>
              <a:rPr lang="en-US" altLang="en-US" i="1" dirty="0">
                <a:solidFill>
                  <a:schemeClr val="tx1"/>
                </a:solidFill>
              </a:rPr>
              <a:t>, …, a</a:t>
            </a:r>
            <a:r>
              <a:rPr lang="en-US" altLang="en-US" i="1" baseline="-25000" dirty="0">
                <a:solidFill>
                  <a:schemeClr val="tx1"/>
                </a:solidFill>
              </a:rPr>
              <a:t>n</a:t>
            </a:r>
            <a:r>
              <a:rPr lang="en-US" altLang="en-US" i="1" dirty="0">
                <a:solidFill>
                  <a:schemeClr val="tx1"/>
                </a:solidFill>
              </a:rPr>
              <a:t>}</a:t>
            </a: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dirty="0">
                <a:solidFill>
                  <a:schemeClr val="tx1"/>
                </a:solidFill>
              </a:rPr>
              <a:t>	</a:t>
            </a:r>
            <a:r>
              <a:rPr lang="en-US" altLang="en-US" i="1" dirty="0" err="1">
                <a:solidFill>
                  <a:schemeClr val="tx1"/>
                </a:solidFill>
              </a:rPr>
              <a:t>s</a:t>
            </a:r>
            <a:r>
              <a:rPr lang="en-US" altLang="en-US" i="1" baseline="-25000" dirty="0" err="1">
                <a:solidFill>
                  <a:schemeClr val="tx1"/>
                </a:solidFill>
              </a:rPr>
              <a:t>i</a:t>
            </a:r>
            <a:r>
              <a:rPr lang="en-US" altLang="en-US" i="1" dirty="0">
                <a:solidFill>
                  <a:schemeClr val="tx1"/>
                </a:solidFill>
              </a:rPr>
              <a:t> = </a:t>
            </a:r>
            <a:r>
              <a:rPr lang="en-US" altLang="en-US" dirty="0">
                <a:solidFill>
                  <a:schemeClr val="tx1"/>
                </a:solidFill>
              </a:rPr>
              <a:t>start time of activity </a:t>
            </a:r>
            <a:r>
              <a:rPr lang="en-US" altLang="en-US" i="1" dirty="0" err="1">
                <a:solidFill>
                  <a:schemeClr val="tx1"/>
                </a:solidFill>
              </a:rPr>
              <a:t>i</a:t>
            </a: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Times New Roman" panose="02020603050405020304" pitchFamily="18" charset="0"/>
              <a:buNone/>
            </a:pPr>
            <a:r>
              <a:rPr lang="en-US" altLang="en-US" dirty="0">
                <a:solidFill>
                  <a:schemeClr val="tx1"/>
                </a:solidFill>
              </a:rPr>
              <a:t>	</a:t>
            </a:r>
            <a:r>
              <a:rPr lang="en-US" altLang="en-US" i="1" dirty="0">
                <a:solidFill>
                  <a:schemeClr val="tx1"/>
                </a:solidFill>
              </a:rPr>
              <a:t>f</a:t>
            </a:r>
            <a:r>
              <a:rPr lang="en-US" altLang="en-US" i="1" baseline="-25000" dirty="0">
                <a:solidFill>
                  <a:schemeClr val="tx1"/>
                </a:solidFill>
              </a:rPr>
              <a:t>i</a:t>
            </a:r>
            <a:r>
              <a:rPr lang="en-US" altLang="en-US" i="1" dirty="0">
                <a:solidFill>
                  <a:schemeClr val="tx1"/>
                </a:solidFill>
              </a:rPr>
              <a:t> = </a:t>
            </a:r>
            <a:r>
              <a:rPr lang="en-US" altLang="en-US" dirty="0">
                <a:solidFill>
                  <a:schemeClr val="tx1"/>
                </a:solidFill>
              </a:rPr>
              <a:t>finish time of activity </a:t>
            </a:r>
            <a:r>
              <a:rPr lang="en-US" altLang="en-US" i="1" dirty="0" err="1">
                <a:solidFill>
                  <a:schemeClr val="tx1"/>
                </a:solidFill>
              </a:rPr>
              <a:t>i</a:t>
            </a:r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Find max-size subset </a:t>
            </a:r>
            <a:r>
              <a:rPr lang="en-US" altLang="en-US" i="1" dirty="0">
                <a:solidFill>
                  <a:schemeClr val="tx1"/>
                </a:solidFill>
              </a:rPr>
              <a:t>A</a:t>
            </a:r>
            <a:r>
              <a:rPr lang="en-US" altLang="en-US" dirty="0">
                <a:solidFill>
                  <a:schemeClr val="tx1"/>
                </a:solidFill>
              </a:rPr>
              <a:t> of compatible (non-overlapping ) activities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</p:txBody>
      </p:sp>
      <p:grpSp>
        <p:nvGrpSpPr>
          <p:cNvPr id="1574916" name="Group 4"/>
          <p:cNvGrpSpPr>
            <a:grpSpLocks/>
          </p:cNvGrpSpPr>
          <p:nvPr/>
        </p:nvGrpSpPr>
        <p:grpSpPr bwMode="auto">
          <a:xfrm>
            <a:off x="2286000" y="4419600"/>
            <a:ext cx="5638800" cy="914400"/>
            <a:chOff x="480" y="2784"/>
            <a:chExt cx="3552" cy="576"/>
          </a:xfrm>
        </p:grpSpPr>
        <p:sp>
          <p:nvSpPr>
            <p:cNvPr id="1574917" name="Line 5"/>
            <p:cNvSpPr>
              <a:spLocks noChangeShapeType="1"/>
            </p:cNvSpPr>
            <p:nvPr/>
          </p:nvSpPr>
          <p:spPr bwMode="auto">
            <a:xfrm>
              <a:off x="480" y="3360"/>
              <a:ext cx="52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74918" name="Line 6"/>
            <p:cNvSpPr>
              <a:spLocks noChangeShapeType="1"/>
            </p:cNvSpPr>
            <p:nvPr/>
          </p:nvSpPr>
          <p:spPr bwMode="auto">
            <a:xfrm>
              <a:off x="1152" y="3168"/>
              <a:ext cx="28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74920" name="Line 8"/>
            <p:cNvSpPr>
              <a:spLocks noChangeShapeType="1"/>
            </p:cNvSpPr>
            <p:nvPr/>
          </p:nvSpPr>
          <p:spPr bwMode="auto">
            <a:xfrm>
              <a:off x="1728" y="3360"/>
              <a:ext cx="1680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74922" name="Line 10"/>
            <p:cNvSpPr>
              <a:spLocks noChangeShapeType="1"/>
            </p:cNvSpPr>
            <p:nvPr/>
          </p:nvSpPr>
          <p:spPr bwMode="auto">
            <a:xfrm>
              <a:off x="2976" y="2976"/>
              <a:ext cx="1056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74919" name="Line 7"/>
            <p:cNvSpPr>
              <a:spLocks noChangeShapeType="1"/>
            </p:cNvSpPr>
            <p:nvPr/>
          </p:nvSpPr>
          <p:spPr bwMode="auto">
            <a:xfrm>
              <a:off x="624" y="2784"/>
              <a:ext cx="1104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74921" name="Line 9"/>
            <p:cNvSpPr>
              <a:spLocks noChangeShapeType="1"/>
            </p:cNvSpPr>
            <p:nvPr/>
          </p:nvSpPr>
          <p:spPr bwMode="auto">
            <a:xfrm>
              <a:off x="816" y="2976"/>
              <a:ext cx="1776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oval" w="med" len="med"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574923" name="Rectangle 11"/>
          <p:cNvSpPr>
            <a:spLocks noChangeArrowheads="1"/>
          </p:cNvSpPr>
          <p:nvPr/>
        </p:nvSpPr>
        <p:spPr bwMode="auto">
          <a:xfrm>
            <a:off x="1981200" y="5562600"/>
            <a:ext cx="8229600" cy="99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/>
          <a:lstStyle>
            <a:lvl1pPr marL="342900" indent="-3429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lvl="1">
              <a:spcBef>
                <a:spcPct val="20000"/>
              </a:spcBef>
              <a:buClr>
                <a:schemeClr val="tx2"/>
              </a:buClr>
              <a:buSzPct val="65000"/>
              <a:buFont typeface="Monotype Sorts" pitchFamily="2" charset="2"/>
              <a:buChar char="n"/>
            </a:pPr>
            <a:r>
              <a:rPr lang="en-US" altLang="en-US" sz="2800" dirty="0"/>
              <a:t>Assume that </a:t>
            </a:r>
            <a:r>
              <a:rPr lang="en-US" altLang="en-US" sz="2800" i="1" dirty="0"/>
              <a:t>f</a:t>
            </a:r>
            <a:r>
              <a:rPr lang="en-US" altLang="en-US" sz="2800" i="1" baseline="-25000" dirty="0"/>
              <a:t>1</a:t>
            </a:r>
            <a:r>
              <a:rPr lang="en-US" altLang="en-US" sz="2800" i="1" dirty="0"/>
              <a:t> </a:t>
            </a:r>
            <a:r>
              <a:rPr lang="en-US" altLang="en-US" sz="2800" i="1" dirty="0">
                <a:sym typeface="Symbol" panose="05050102010706020507" pitchFamily="18" charset="2"/>
              </a:rPr>
              <a:t> f</a:t>
            </a:r>
            <a:r>
              <a:rPr lang="en-US" altLang="en-US" sz="2800" i="1" baseline="-25000" dirty="0">
                <a:sym typeface="Symbol" panose="05050102010706020507" pitchFamily="18" charset="2"/>
              </a:rPr>
              <a:t>2</a:t>
            </a:r>
            <a:r>
              <a:rPr lang="en-US" altLang="en-US" sz="2800" i="1" dirty="0">
                <a:sym typeface="Symbol" panose="05050102010706020507" pitchFamily="18" charset="2"/>
              </a:rPr>
              <a:t>  …  </a:t>
            </a:r>
            <a:r>
              <a:rPr lang="en-US" altLang="en-US" sz="2800" i="1" dirty="0" err="1">
                <a:sym typeface="Symbol" panose="05050102010706020507" pitchFamily="18" charset="2"/>
              </a:rPr>
              <a:t>f</a:t>
            </a:r>
            <a:r>
              <a:rPr lang="en-US" altLang="en-US" sz="2800" i="1" baseline="-25000" dirty="0" err="1">
                <a:sym typeface="Symbol" panose="05050102010706020507" pitchFamily="18" charset="2"/>
              </a:rPr>
              <a:t>n</a:t>
            </a:r>
            <a:endParaRPr lang="en-US" altLang="en-US" sz="2800" i="1" dirty="0">
              <a:sym typeface="Symbol" panose="05050102010706020507" pitchFamily="18" charset="2"/>
            </a:endParaRPr>
          </a:p>
        </p:txBody>
      </p:sp>
      <p:grpSp>
        <p:nvGrpSpPr>
          <p:cNvPr id="1574924" name="Group 12"/>
          <p:cNvGrpSpPr>
            <a:grpSpLocks/>
          </p:cNvGrpSpPr>
          <p:nvPr/>
        </p:nvGrpSpPr>
        <p:grpSpPr bwMode="auto">
          <a:xfrm>
            <a:off x="2514601" y="4057653"/>
            <a:ext cx="4741863" cy="1268413"/>
            <a:chOff x="624" y="2556"/>
            <a:chExt cx="2987" cy="799"/>
          </a:xfrm>
        </p:grpSpPr>
        <p:sp>
          <p:nvSpPr>
            <p:cNvPr id="1574925" name="Text Box 13"/>
            <p:cNvSpPr txBox="1">
              <a:spLocks noChangeArrowheads="1"/>
            </p:cNvSpPr>
            <p:nvPr/>
          </p:nvSpPr>
          <p:spPr bwMode="auto">
            <a:xfrm>
              <a:off x="624" y="3112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1</a:t>
              </a:r>
            </a:p>
          </p:txBody>
        </p:sp>
        <p:sp>
          <p:nvSpPr>
            <p:cNvPr id="1574926" name="Text Box 14"/>
            <p:cNvSpPr txBox="1">
              <a:spLocks noChangeArrowheads="1"/>
            </p:cNvSpPr>
            <p:nvPr/>
          </p:nvSpPr>
          <p:spPr bwMode="auto">
            <a:xfrm>
              <a:off x="1200" y="2940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2</a:t>
              </a:r>
            </a:p>
          </p:txBody>
        </p:sp>
        <p:sp>
          <p:nvSpPr>
            <p:cNvPr id="1574927" name="Text Box 15"/>
            <p:cNvSpPr txBox="1">
              <a:spLocks noChangeArrowheads="1"/>
            </p:cNvSpPr>
            <p:nvPr/>
          </p:nvSpPr>
          <p:spPr bwMode="auto">
            <a:xfrm>
              <a:off x="1036" y="2556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3</a:t>
              </a:r>
            </a:p>
          </p:txBody>
        </p:sp>
        <p:sp>
          <p:nvSpPr>
            <p:cNvPr id="1574928" name="Text Box 16"/>
            <p:cNvSpPr txBox="1">
              <a:spLocks noChangeArrowheads="1"/>
            </p:cNvSpPr>
            <p:nvPr/>
          </p:nvSpPr>
          <p:spPr bwMode="auto">
            <a:xfrm>
              <a:off x="1536" y="2748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4</a:t>
              </a:r>
            </a:p>
          </p:txBody>
        </p:sp>
        <p:sp>
          <p:nvSpPr>
            <p:cNvPr id="1574929" name="Text Box 17"/>
            <p:cNvSpPr txBox="1">
              <a:spLocks noChangeArrowheads="1"/>
            </p:cNvSpPr>
            <p:nvPr/>
          </p:nvSpPr>
          <p:spPr bwMode="auto">
            <a:xfrm>
              <a:off x="2476" y="3122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5</a:t>
              </a:r>
            </a:p>
          </p:txBody>
        </p:sp>
        <p:sp>
          <p:nvSpPr>
            <p:cNvPr id="1574930" name="Text Box 18"/>
            <p:cNvSpPr txBox="1">
              <a:spLocks noChangeArrowheads="1"/>
            </p:cNvSpPr>
            <p:nvPr/>
          </p:nvSpPr>
          <p:spPr bwMode="auto">
            <a:xfrm>
              <a:off x="3408" y="2748"/>
              <a:ext cx="203" cy="233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en-US" b="1" dirty="0">
                  <a:solidFill>
                    <a:srgbClr val="0000FF"/>
                  </a:solidFill>
                  <a:latin typeface="Courier New" panose="02070309020205020404" pitchFamily="49" charset="0"/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0146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4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4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74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4923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9800" y="0"/>
            <a:ext cx="7772400" cy="7620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9800" y="5614340"/>
            <a:ext cx="7772400" cy="862660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Maximum-size mutually compatible set: </a:t>
            </a:r>
            <a:r>
              <a:rPr lang="en-US" sz="2400" i="1" dirty="0">
                <a:solidFill>
                  <a:schemeClr val="tx1"/>
                </a:solidFill>
              </a:rPr>
              <a:t>{a</a:t>
            </a:r>
            <a:r>
              <a:rPr lang="en-US" sz="2400" i="1" baseline="-25000" dirty="0">
                <a:solidFill>
                  <a:schemeClr val="tx1"/>
                </a:solidFill>
              </a:rPr>
              <a:t>1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3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6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8</a:t>
            </a:r>
            <a:r>
              <a:rPr lang="en-US" sz="2400" i="1" dirty="0">
                <a:solidFill>
                  <a:schemeClr val="tx1"/>
                </a:solidFill>
              </a:rPr>
              <a:t>}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dirty="0">
                <a:solidFill>
                  <a:schemeClr val="tx1"/>
                </a:solidFill>
              </a:rPr>
              <a:t>Not unique: also </a:t>
            </a:r>
            <a:r>
              <a:rPr lang="en-US" sz="2400" i="1" dirty="0">
                <a:solidFill>
                  <a:schemeClr val="tx1"/>
                </a:solidFill>
              </a:rPr>
              <a:t>{a</a:t>
            </a:r>
            <a:r>
              <a:rPr lang="en-US" sz="2400" i="1" baseline="-25000" dirty="0">
                <a:solidFill>
                  <a:schemeClr val="tx1"/>
                </a:solidFill>
              </a:rPr>
              <a:t>2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5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7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9</a:t>
            </a:r>
            <a:r>
              <a:rPr lang="en-US" sz="2400" i="1" dirty="0">
                <a:solidFill>
                  <a:schemeClr val="tx1"/>
                </a:solidFill>
              </a:rPr>
              <a:t>}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6" y="714376"/>
            <a:ext cx="7667625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36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Activity Selection: </a:t>
            </a:r>
            <a:br>
              <a:rPr lang="en-US" altLang="en-US">
                <a:solidFill>
                  <a:schemeClr val="tx1"/>
                </a:solidFill>
              </a:rPr>
            </a:br>
            <a:r>
              <a:rPr lang="en-US" altLang="en-US">
                <a:solidFill>
                  <a:schemeClr val="tx1"/>
                </a:solidFill>
              </a:rPr>
              <a:t>Optimal Substructure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593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828800" y="1371600"/>
                <a:ext cx="8763000" cy="51054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𝑆</m:t>
                    </m:r>
                    <m:r>
                      <a:rPr lang="en-US" altLang="en-US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𝑖𝑗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/>
                            <a:sym typeface="Math B" pitchFamily="2" charset="2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sym typeface="Math B" pitchFamily="2" charset="2"/>
                          </a:rPr>
                          <m:t>𝑎</m:t>
                        </m:r>
                        <m:r>
                          <a:rPr lang="en-US" altLang="en-US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sym typeface="Math B" pitchFamily="2" charset="2"/>
                          </a:rPr>
                          <m:t>𝑘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∈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𝑆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 :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𝑓𝑖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 ≤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𝑠𝑘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&lt;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𝑓𝑘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 ≤</m:t>
                        </m:r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𝑠𝑗</m:t>
                        </m:r>
                      </m:e>
                    </m:d>
                  </m:oMath>
                </a14:m>
                <a:endParaRPr lang="en-US" altLang="en-US" b="0" i="1" baseline="-25000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sym typeface="Math B" pitchFamily="2" charset="2"/>
                </a:endParaRPr>
              </a:p>
              <a:p>
                <a:pPr marL="457200" lvl="1" indent="0">
                  <a:buNone/>
                </a:pPr>
                <a:r>
                  <a:rPr lang="en-US" altLang="en-US" b="0" dirty="0">
                    <a:solidFill>
                      <a:schemeClr val="tx1"/>
                    </a:solidFill>
                    <a:sym typeface="Math B" pitchFamily="2" charset="2"/>
                  </a:rPr>
                  <a:t>    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=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activities that start after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finishes and finish before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j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starts</a:t>
                </a:r>
              </a:p>
              <a:p>
                <a:pPr marL="457200" lvl="1" indent="0">
                  <a:buNone/>
                </a:pPr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marL="457200" lvl="1" indent="0">
                  <a:buNone/>
                </a:pPr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marL="457200" lvl="1" indent="0">
                  <a:buNone/>
                </a:pPr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marL="457200" lvl="1" indent="0">
                  <a:buNone/>
                </a:pPr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In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words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activities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in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𝑆</m:t>
                    </m:r>
                    <m:r>
                      <a:rPr lang="en-US" altLang="en-US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𝑖𝑗</m:t>
                    </m:r>
                    <m:r>
                      <a:rPr lang="en-US" altLang="en-US" b="0" i="0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are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compatible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with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:</a:t>
                </a:r>
              </a:p>
              <a:p>
                <a:pPr lvl="1"/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All activities that finish by </a:t>
                </a:r>
                <a:r>
                  <a:rPr lang="en-US" altLang="en-US" i="1" dirty="0">
                    <a:solidFill>
                      <a:schemeClr val="tx1"/>
                    </a:solidFill>
                    <a:sym typeface="Math B" pitchFamily="2" charset="2"/>
                  </a:rPr>
                  <a:t>f</a:t>
                </a:r>
                <a:r>
                  <a:rPr lang="en-US" altLang="en-US" i="1" baseline="-25000" dirty="0">
                    <a:solidFill>
                      <a:schemeClr val="tx1"/>
                    </a:solidFill>
                    <a:sym typeface="Math B" pitchFamily="2" charset="2"/>
                  </a:rPr>
                  <a:t>i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</a:p>
              <a:p>
                <a:pPr lvl="1"/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All activities that start no earlier than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s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j</a:t>
                </a:r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</p:txBody>
          </p:sp>
        </mc:Choice>
        <mc:Fallback xmlns="">
          <p:sp>
            <p:nvSpPr>
              <p:cNvPr id="15759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828800" y="1371600"/>
                <a:ext cx="8763000" cy="5105400"/>
              </a:xfrm>
              <a:blipFill>
                <a:blip r:embed="rId2"/>
                <a:stretch>
                  <a:fillRect r="-48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050" y="2362200"/>
            <a:ext cx="7108501" cy="130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974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Activity Selection: </a:t>
            </a:r>
            <a:br>
              <a:rPr lang="en-US" altLang="en-US">
                <a:solidFill>
                  <a:schemeClr val="tx1"/>
                </a:solidFill>
              </a:rPr>
            </a:br>
            <a:r>
              <a:rPr lang="en-US" altLang="en-US">
                <a:solidFill>
                  <a:schemeClr val="tx1"/>
                </a:solidFill>
              </a:rPr>
              <a:t>Optimal Substructure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593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1524000" y="1371600"/>
                <a:ext cx="9144000" cy="51054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Let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𝐴</m:t>
                    </m:r>
                    <m:r>
                      <a:rPr lang="en-US" altLang="en-US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𝑖𝑗</m:t>
                    </m:r>
                  </m:oMath>
                </a14:m>
                <a:r>
                  <a:rPr lang="en-US" altLang="en-US" b="0" dirty="0">
                    <a:solidFill>
                      <a:schemeClr val="tx1"/>
                    </a:solidFill>
                    <a:sym typeface="Math B" pitchFamily="2" charset="2"/>
                  </a:rPr>
                  <a:t> be a maximum-size set of  compatible activities in </a:t>
                </a:r>
                <a:r>
                  <a:rPr lang="en-US" altLang="en-US" b="0" i="1" dirty="0" err="1">
                    <a:solidFill>
                      <a:schemeClr val="tx1"/>
                    </a:solidFill>
                    <a:sym typeface="Math B" pitchFamily="2" charset="2"/>
                  </a:rPr>
                  <a:t>S</a:t>
                </a:r>
                <a:r>
                  <a:rPr lang="en-US" altLang="en-US" b="0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ij</a:t>
                </a:r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Let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𝑎</m:t>
                    </m:r>
                    <m:r>
                      <a:rPr lang="en-US" altLang="en-US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𝑘</m:t>
                    </m:r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∈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𝐴</m:t>
                    </m:r>
                    <m:r>
                      <a:rPr lang="en-US" altLang="en-US" b="0" i="1" baseline="-25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𝑖𝑗</m:t>
                    </m:r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 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be some activity in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ij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. Then we have two sub-problems:</a:t>
                </a:r>
              </a:p>
              <a:p>
                <a:pPr lvl="1"/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Find compatible activities in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S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ik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(activities that start after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</a:t>
                </a:r>
                <a:r>
                  <a:rPr lang="en-US" altLang="en-US" i="1" baseline="-25000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finishes and that finish before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k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starts)</a:t>
                </a:r>
              </a:p>
              <a:p>
                <a:pPr lvl="1"/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Find compatible activities in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S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kj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(activities that start after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k</a:t>
                </a:r>
                <a:r>
                  <a:rPr lang="en-US" altLang="en-US" i="1" baseline="-25000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finishes and that finish before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j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starts)</a:t>
                </a:r>
              </a:p>
              <a:p>
                <a14:m>
                  <m:oMath xmlns:m="http://schemas.openxmlformats.org/officeDocument/2006/math"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𝐴</m:t>
                    </m:r>
                    <m:r>
                      <a:rPr lang="en-US" altLang="en-US" i="1" baseline="-2500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𝑖𝑗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= 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A</a:t>
                </a:r>
                <a:r>
                  <a:rPr lang="en-US" altLang="en-US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ik</a:t>
                </a:r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/>
                            <a:ea typeface="Cambria Math" panose="02040503050406030204" pitchFamily="18" charset="0"/>
                            <a:sym typeface="Math B" pitchFamily="2" charset="2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𝑎</m:t>
                        </m:r>
                        <m:r>
                          <a:rPr lang="en-US" altLang="en-US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𝑘</m:t>
                        </m:r>
                      </m:e>
                    </m:d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∪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𝐴𝑘𝑗</m:t>
                    </m:r>
                  </m:oMath>
                </a14:m>
                <a:r>
                  <a:rPr lang="en-US" altLang="en-US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:endParaRPr lang="en-US" altLang="en-US" dirty="0">
                  <a:solidFill>
                    <a:schemeClr val="tx1"/>
                  </a:solidFill>
                  <a:latin typeface="Cambria Math" panose="02040503050406030204" pitchFamily="18" charset="0"/>
                  <a:sym typeface="Math B" pitchFamily="2" charset="2"/>
                </a:endParaRPr>
              </a:p>
              <a:p>
                <a14:m>
                  <m:oMath xmlns:m="http://schemas.openxmlformats.org/officeDocument/2006/math">
                    <m:r>
                      <a:rPr lang="en-US" alt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→</m:t>
                    </m:r>
                    <m:d>
                      <m:dPr>
                        <m:begChr m:val="|"/>
                        <m:endChr m:val="|"/>
                        <m:ctrlP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/>
                            <a:ea typeface="Cambria Math" panose="02040503050406030204" pitchFamily="18" charset="0"/>
                            <a:sym typeface="Math B" pitchFamily="2" charset="2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𝐴</m:t>
                        </m:r>
                        <m:r>
                          <a:rPr lang="en-US" altLang="en-US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𝑖𝑗</m:t>
                        </m:r>
                      </m:e>
                    </m:d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/>
                            <a:ea typeface="Cambria Math" panose="02040503050406030204" pitchFamily="18" charset="0"/>
                            <a:sym typeface="Math B" pitchFamily="2" charset="2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𝐴</m:t>
                        </m:r>
                        <m:r>
                          <a:rPr lang="en-US" altLang="en-US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𝑖𝑘</m:t>
                        </m:r>
                      </m:e>
                    </m:d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/>
                            <a:ea typeface="Cambria Math" panose="02040503050406030204" pitchFamily="18" charset="0"/>
                            <a:sym typeface="Math B" pitchFamily="2" charset="2"/>
                          </a:rPr>
                        </m:ctrlPr>
                      </m:dPr>
                      <m:e>
                        <m:r>
                          <a:rPr lang="en-US" alt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𝐴</m:t>
                        </m:r>
                        <m:r>
                          <a:rPr lang="en-US" altLang="en-US" b="0" i="1" baseline="-250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Math B" pitchFamily="2" charset="2"/>
                          </a:rPr>
                          <m:t>𝑘𝑗</m:t>
                        </m:r>
                      </m:e>
                    </m:d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+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1</m:t>
                    </m:r>
                    <m:r>
                      <a:rPr lang="en-US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Math B" pitchFamily="2" charset="2"/>
                      </a:rPr>
                      <m:t> </m:t>
                    </m:r>
                  </m:oMath>
                </a14:m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marL="457200" lvl="1" indent="0">
                  <a:buNone/>
                </a:pPr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lvl="1"/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</p:txBody>
          </p:sp>
        </mc:Choice>
        <mc:Fallback xmlns="">
          <p:sp>
            <p:nvSpPr>
              <p:cNvPr id="15759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524000" y="1371600"/>
                <a:ext cx="9144000" cy="5105400"/>
              </a:xfrm>
              <a:blipFill>
                <a:blip r:embed="rId2"/>
                <a:stretch>
                  <a:fillRect t="-1909" r="-1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42314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Activity Selection: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Dynamic Programming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5939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133600" y="1371600"/>
                <a:ext cx="8305800" cy="510540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Let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 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𝑐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[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𝑖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,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𝑗</m:t>
                    </m:r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]</m:t>
                    </m:r>
                  </m:oMath>
                </a14:m>
                <a:r>
                  <a:rPr lang="en-US" altLang="en-US" b="0" dirty="0">
                    <a:solidFill>
                      <a:schemeClr val="tx1"/>
                    </a:solidFill>
                    <a:sym typeface="Math B" pitchFamily="2" charset="2"/>
                  </a:rPr>
                  <a:t> be the size of optimal solution for </a:t>
                </a:r>
                <a:r>
                  <a:rPr lang="en-US" altLang="en-US" b="0" i="1" dirty="0" err="1">
                    <a:solidFill>
                      <a:schemeClr val="tx1"/>
                    </a:solidFill>
                    <a:sym typeface="Math B" pitchFamily="2" charset="2"/>
                  </a:rPr>
                  <a:t>S</a:t>
                </a:r>
                <a:r>
                  <a:rPr lang="en-US" altLang="en-US" b="0" i="1" baseline="-25000" dirty="0" err="1">
                    <a:solidFill>
                      <a:schemeClr val="tx1"/>
                    </a:solidFill>
                    <a:sym typeface="Math B" pitchFamily="2" charset="2"/>
                  </a:rPr>
                  <a:t>ij</a:t>
                </a:r>
                <a:r>
                  <a:rPr lang="en-US" altLang="en-US" b="0" i="1" baseline="-25000" dirty="0">
                    <a:solidFill>
                      <a:schemeClr val="tx1"/>
                    </a:solidFill>
                    <a:sym typeface="Math B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. </m:t>
                    </m:r>
                    <m:r>
                      <m:rPr>
                        <m:sty m:val="p"/>
                      </m:rP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Then</m:t>
                    </m:r>
                    <m:r>
                      <a:rPr lang="en-US" alt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sym typeface="Math B" pitchFamily="2" charset="2"/>
                      </a:rPr>
                      <m:t>, </m:t>
                    </m:r>
                  </m:oMath>
                </a14:m>
                <a:endParaRPr lang="en-US" altLang="en-US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marL="0" indent="0">
                  <a:buNone/>
                </a:pPr>
                <a:r>
                  <a:rPr lang="en-US" altLang="en-US" i="1" dirty="0">
                    <a:solidFill>
                      <a:schemeClr val="tx1"/>
                    </a:solidFill>
                    <a:sym typeface="Math B" pitchFamily="2" charset="2"/>
                  </a:rPr>
                  <a:t>    c[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i,j</a:t>
                </a:r>
                <a:r>
                  <a:rPr lang="en-US" altLang="en-US" i="1" dirty="0">
                    <a:solidFill>
                      <a:schemeClr val="tx1"/>
                    </a:solidFill>
                    <a:sym typeface="Math B" pitchFamily="2" charset="2"/>
                  </a:rPr>
                  <a:t>] = c[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i,k</a:t>
                </a:r>
                <a:r>
                  <a:rPr lang="en-US" altLang="en-US" i="1" dirty="0">
                    <a:solidFill>
                      <a:schemeClr val="tx1"/>
                    </a:solidFill>
                    <a:sym typeface="Math B" pitchFamily="2" charset="2"/>
                  </a:rPr>
                  <a:t>] + c[</a:t>
                </a:r>
                <a:r>
                  <a:rPr lang="en-US" altLang="en-US" i="1" dirty="0" err="1">
                    <a:solidFill>
                      <a:schemeClr val="tx1"/>
                    </a:solidFill>
                    <a:sym typeface="Math B" pitchFamily="2" charset="2"/>
                  </a:rPr>
                  <a:t>k,j</a:t>
                </a:r>
                <a:r>
                  <a:rPr lang="en-US" altLang="en-US" i="1" dirty="0">
                    <a:solidFill>
                      <a:schemeClr val="tx1"/>
                    </a:solidFill>
                    <a:sym typeface="Math B" pitchFamily="2" charset="2"/>
                  </a:rPr>
                  <a:t>] + 1</a:t>
                </a:r>
              </a:p>
              <a:p>
                <a:pPr marL="457200" lvl="1" indent="0">
                  <a:buNone/>
                </a:pPr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  <a:p>
                <a:pPr lvl="1"/>
                <a:endParaRPr lang="en-US" altLang="en-US" i="1" baseline="-25000" dirty="0">
                  <a:solidFill>
                    <a:schemeClr val="tx1"/>
                  </a:solidFill>
                  <a:sym typeface="Math B" pitchFamily="2" charset="2"/>
                </a:endParaRPr>
              </a:p>
            </p:txBody>
          </p:sp>
        </mc:Choice>
        <mc:Fallback xmlns="">
          <p:sp>
            <p:nvSpPr>
              <p:cNvPr id="157593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133600" y="1371600"/>
                <a:ext cx="8305800" cy="5105400"/>
              </a:xfrm>
              <a:blipFill>
                <a:blip r:embed="rId2"/>
                <a:stretch>
                  <a:fillRect t="-190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7837" y="2678545"/>
            <a:ext cx="8276326" cy="147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639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Greedy Choice Property</a:t>
            </a:r>
          </a:p>
        </p:txBody>
      </p:sp>
      <p:sp>
        <p:nvSpPr>
          <p:cNvPr id="1577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Dynamic programming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Solve all the sub-problems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Activity selection problem also exhibits the greedy choice property: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We should choose an activity that leaves the resource available for as many other activities as possible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  <a:sym typeface="Symbol" panose="05050102010706020507" pitchFamily="18" charset="2"/>
              </a:rPr>
              <a:t>The first greedy choice is </a:t>
            </a:r>
            <a:r>
              <a:rPr lang="en-US" altLang="en-US" i="1" dirty="0">
                <a:solidFill>
                  <a:schemeClr val="tx1"/>
                </a:solidFill>
                <a:sym typeface="Symbol" panose="05050102010706020507" pitchFamily="18" charset="2"/>
              </a:rPr>
              <a:t>a</a:t>
            </a:r>
            <a:r>
              <a:rPr lang="en-US" altLang="en-US" i="1" baseline="-25000" dirty="0">
                <a:solidFill>
                  <a:schemeClr val="tx1"/>
                </a:solidFill>
                <a:sym typeface="Symbol" panose="05050102010706020507" pitchFamily="18" charset="2"/>
              </a:rPr>
              <a:t>1, </a:t>
            </a:r>
            <a:r>
              <a:rPr lang="en-US" altLang="en-US" dirty="0">
                <a:solidFill>
                  <a:schemeClr val="tx1"/>
                </a:solidFill>
              </a:rPr>
              <a:t>since  </a:t>
            </a:r>
            <a:r>
              <a:rPr lang="en-US" altLang="en-US" i="1" dirty="0">
                <a:solidFill>
                  <a:schemeClr val="tx1"/>
                </a:solidFill>
              </a:rPr>
              <a:t>f</a:t>
            </a:r>
            <a:r>
              <a:rPr lang="en-US" altLang="en-US" i="1" baseline="-25000" dirty="0">
                <a:solidFill>
                  <a:schemeClr val="tx1"/>
                </a:solidFill>
              </a:rPr>
              <a:t>1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i="1" dirty="0">
                <a:solidFill>
                  <a:schemeClr val="tx1"/>
                </a:solidFill>
                <a:sym typeface="Symbol" panose="05050102010706020507" pitchFamily="18" charset="2"/>
              </a:rPr>
              <a:t> f</a:t>
            </a:r>
            <a:r>
              <a:rPr lang="en-US" altLang="en-US" i="1" baseline="-25000" dirty="0">
                <a:solidFill>
                  <a:schemeClr val="tx1"/>
                </a:solidFill>
                <a:sym typeface="Symbol" panose="05050102010706020507" pitchFamily="18" charset="2"/>
              </a:rPr>
              <a:t>2</a:t>
            </a:r>
            <a:r>
              <a:rPr lang="en-US" altLang="en-US" i="1" dirty="0">
                <a:solidFill>
                  <a:schemeClr val="tx1"/>
                </a:solidFill>
                <a:sym typeface="Symbol" panose="05050102010706020507" pitchFamily="18" charset="2"/>
              </a:rPr>
              <a:t>  …  </a:t>
            </a:r>
            <a:r>
              <a:rPr lang="en-US" altLang="en-US" i="1" dirty="0" err="1">
                <a:solidFill>
                  <a:schemeClr val="tx1"/>
                </a:solidFill>
                <a:sym typeface="Symbol" panose="05050102010706020507" pitchFamily="18" charset="2"/>
              </a:rPr>
              <a:t>f</a:t>
            </a:r>
            <a:r>
              <a:rPr lang="en-US" altLang="en-US" i="1" baseline="-25000" dirty="0" err="1">
                <a:solidFill>
                  <a:schemeClr val="tx1"/>
                </a:solidFill>
                <a:sym typeface="Symbol" panose="05050102010706020507" pitchFamily="18" charset="2"/>
              </a:rPr>
              <a:t>n</a:t>
            </a:r>
            <a:endParaRPr lang="en-US" altLang="en-US" i="1" baseline="-25000" dirty="0">
              <a:solidFill>
                <a:schemeClr val="tx1"/>
              </a:solidFill>
              <a:sym typeface="Symbol" panose="05050102010706020507" pitchFamily="18" charset="2"/>
            </a:endParaRPr>
          </a:p>
          <a:p>
            <a:pPr marL="457200" lvl="1" indent="0">
              <a:buNone/>
            </a:pPr>
            <a:endParaRPr lang="en-US" altLang="en-US" i="1" baseline="-25000" dirty="0">
              <a:solidFill>
                <a:schemeClr val="tx1"/>
              </a:solidFill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29195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0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Activity Selection: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 Greedy Algorithm</a:t>
            </a:r>
          </a:p>
        </p:txBody>
      </p:sp>
      <p:sp>
        <p:nvSpPr>
          <p:cNvPr id="15790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So actual algorithm is simple: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Sort the activities by finish time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Schedule the first activity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Then schedule the next activity in sorted list which starts after previous activity finishes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Repeat until no more activities</a:t>
            </a:r>
          </a:p>
          <a:p>
            <a:r>
              <a:rPr lang="en-US" altLang="en-US">
                <a:solidFill>
                  <a:schemeClr val="tx1"/>
                </a:solidFill>
              </a:rPr>
              <a:t>Intuition is even more simple:</a:t>
            </a:r>
          </a:p>
          <a:p>
            <a:pPr lvl="1"/>
            <a:r>
              <a:rPr lang="en-US" altLang="en-US">
                <a:solidFill>
                  <a:schemeClr val="tx1"/>
                </a:solidFill>
              </a:rPr>
              <a:t>Always pick the shortest ride available at the time</a:t>
            </a:r>
          </a:p>
        </p:txBody>
      </p:sp>
    </p:spTree>
    <p:extLst>
      <p:ext uri="{BB962C8B-B14F-4D97-AF65-F5344CB8AC3E}">
        <p14:creationId xmlns:p14="http://schemas.microsoft.com/office/powerpoint/2010/main" val="2570753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905000" y="1606550"/>
            <a:ext cx="7772400" cy="4489450"/>
          </a:xfrm>
        </p:spPr>
        <p:txBody>
          <a:bodyPr/>
          <a:lstStyle/>
          <a:p>
            <a:r>
              <a:rPr lang="en-US" altLang="en-US" sz="2000" b="1" dirty="0">
                <a:solidFill>
                  <a:schemeClr val="tx1"/>
                </a:solidFill>
              </a:rPr>
              <a:t>Select the activity that ends first (smallest end time) 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Intuition: it leaves the largest possible empty space for more activities 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r>
              <a:rPr lang="en-US" altLang="en-US" sz="2000" b="1" dirty="0">
                <a:solidFill>
                  <a:schemeClr val="tx1"/>
                </a:solidFill>
              </a:rPr>
              <a:t>Once selected an activity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Delete all non-compatible activities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They cannot be selected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r>
              <a:rPr lang="en-US" altLang="en-US" sz="2000" b="1" dirty="0">
                <a:solidFill>
                  <a:schemeClr val="tx1"/>
                </a:solidFill>
              </a:rPr>
              <a:t>Repeat the algorithm for the remaining activities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Either using iterations or recursion 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1659731" y="281283"/>
            <a:ext cx="7772400" cy="762000"/>
          </a:xfrm>
        </p:spPr>
        <p:txBody>
          <a:bodyPr>
            <a:normAutofit fontScale="90000"/>
          </a:bodyPr>
          <a:lstStyle/>
          <a:p>
            <a:r>
              <a:rPr lang="en-US" altLang="en-US" dirty="0">
                <a:solidFill>
                  <a:schemeClr val="tx1"/>
                </a:solidFill>
              </a:rPr>
              <a:t>Activity Selection: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 Greedy Algorithm</a:t>
            </a:r>
          </a:p>
        </p:txBody>
      </p:sp>
      <p:sp>
        <p:nvSpPr>
          <p:cNvPr id="8" name="Rounded Rectangular Callout 4"/>
          <p:cNvSpPr>
            <a:spLocks noChangeArrowheads="1"/>
          </p:cNvSpPr>
          <p:nvPr/>
        </p:nvSpPr>
        <p:spPr bwMode="auto">
          <a:xfrm>
            <a:off x="7949138" y="879649"/>
            <a:ext cx="2668587" cy="1114425"/>
          </a:xfrm>
          <a:prstGeom prst="wedgeRoundRectCallout">
            <a:avLst>
              <a:gd name="adj1" fmla="val -69009"/>
              <a:gd name="adj2" fmla="val -750"/>
              <a:gd name="adj3" fmla="val 16667"/>
            </a:avLst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600" dirty="0">
                <a:solidFill>
                  <a:srgbClr val="0000FF"/>
                </a:solidFill>
              </a:rPr>
              <a:t>Greedy Choice: </a:t>
            </a:r>
            <a:r>
              <a:rPr lang="en-US" altLang="en-US" sz="1600" dirty="0"/>
              <a:t>Select the next best activity</a:t>
            </a:r>
          </a:p>
          <a:p>
            <a:r>
              <a:rPr lang="en-US" altLang="en-US" sz="1600" dirty="0"/>
              <a:t>(Local Optimal)</a:t>
            </a:r>
          </a:p>
          <a:p>
            <a:endParaRPr lang="en-US" altLang="en-US" sz="1600" dirty="0"/>
          </a:p>
        </p:txBody>
      </p:sp>
      <p:sp>
        <p:nvSpPr>
          <p:cNvPr id="9" name="Rounded Rectangular Callout 5"/>
          <p:cNvSpPr>
            <a:spLocks noChangeArrowheads="1"/>
          </p:cNvSpPr>
          <p:nvPr/>
        </p:nvSpPr>
        <p:spPr bwMode="auto">
          <a:xfrm>
            <a:off x="7732877" y="3932484"/>
            <a:ext cx="2919413" cy="1376363"/>
          </a:xfrm>
          <a:prstGeom prst="wedgeRoundRectCallout">
            <a:avLst>
              <a:gd name="adj1" fmla="val -79222"/>
              <a:gd name="adj2" fmla="val 28597"/>
              <a:gd name="adj3" fmla="val 16667"/>
            </a:avLst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600" dirty="0">
                <a:solidFill>
                  <a:srgbClr val="0000FF"/>
                </a:solidFill>
              </a:rPr>
              <a:t>Sub-problem: </a:t>
            </a:r>
            <a:r>
              <a:rPr lang="en-US" altLang="en-US" sz="1600" dirty="0"/>
              <a:t>We created one sub-problem to solve</a:t>
            </a:r>
          </a:p>
          <a:p>
            <a:r>
              <a:rPr lang="en-US" altLang="en-US" sz="1600" dirty="0"/>
              <a:t>(Find the optimal schedule after the selected activity)  </a:t>
            </a:r>
          </a:p>
        </p:txBody>
      </p:sp>
      <p:sp>
        <p:nvSpPr>
          <p:cNvPr id="10" name="TextBox 6"/>
          <p:cNvSpPr txBox="1">
            <a:spLocks noChangeArrowheads="1"/>
          </p:cNvSpPr>
          <p:nvPr/>
        </p:nvSpPr>
        <p:spPr bwMode="auto">
          <a:xfrm>
            <a:off x="2443956" y="5867400"/>
            <a:ext cx="6203950" cy="647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FF0000"/>
                </a:solidFill>
              </a:rPr>
              <a:t>Hopefully when we merge the local optimal + the sub-problem optimal solution </a:t>
            </a:r>
            <a:r>
              <a:rPr lang="en-US" altLang="en-US" sz="1800" dirty="0">
                <a:solidFill>
                  <a:srgbClr val="FF0000"/>
                </a:solidFill>
                <a:sym typeface="Wingdings" panose="05000000000000000000" pitchFamily="2" charset="2"/>
              </a:rPr>
              <a:t> we get a global optimal</a:t>
            </a:r>
            <a:endParaRPr lang="en-US" altLang="en-US" sz="1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7786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Greedy Algorithm Correctness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400" dirty="0">
                <a:solidFill>
                  <a:schemeClr val="tx1"/>
                </a:solidFill>
              </a:rPr>
              <a:t>Theorem: </a:t>
            </a: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If </a:t>
            </a:r>
            <a:r>
              <a:rPr lang="en-US" altLang="en-US" sz="2200" i="1" dirty="0" err="1">
                <a:solidFill>
                  <a:schemeClr val="tx1"/>
                </a:solidFill>
              </a:rPr>
              <a:t>S</a:t>
            </a:r>
            <a:r>
              <a:rPr lang="en-US" altLang="en-US" sz="2200" i="1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200" dirty="0">
                <a:solidFill>
                  <a:schemeClr val="tx1"/>
                </a:solidFill>
              </a:rPr>
              <a:t> (activities that start after </a:t>
            </a:r>
            <a:r>
              <a:rPr lang="en-US" altLang="en-US" sz="2200" i="1" dirty="0" err="1">
                <a:solidFill>
                  <a:schemeClr val="tx1"/>
                </a:solidFill>
              </a:rPr>
              <a:t>a</a:t>
            </a:r>
            <a:r>
              <a:rPr lang="en-US" altLang="en-US" sz="2200" i="1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200" dirty="0">
                <a:solidFill>
                  <a:schemeClr val="tx1"/>
                </a:solidFill>
              </a:rPr>
              <a:t> finishes) is nonempty and </a:t>
            </a:r>
            <a:r>
              <a:rPr lang="en-US" altLang="en-US" sz="2200" i="1" dirty="0">
                <a:solidFill>
                  <a:schemeClr val="tx1"/>
                </a:solidFill>
              </a:rPr>
              <a:t>a</a:t>
            </a:r>
            <a:r>
              <a:rPr lang="en-US" altLang="en-US" sz="2200" i="1" baseline="-25000" dirty="0">
                <a:solidFill>
                  <a:schemeClr val="tx1"/>
                </a:solidFill>
              </a:rPr>
              <a:t>m</a:t>
            </a:r>
            <a:r>
              <a:rPr lang="en-US" altLang="en-US" sz="2200" dirty="0">
                <a:solidFill>
                  <a:schemeClr val="tx1"/>
                </a:solidFill>
              </a:rPr>
              <a:t> has the earliest finish time in </a:t>
            </a:r>
            <a:r>
              <a:rPr lang="en-US" altLang="en-US" sz="2200" i="1" dirty="0" err="1">
                <a:solidFill>
                  <a:schemeClr val="tx1"/>
                </a:solidFill>
              </a:rPr>
              <a:t>S</a:t>
            </a:r>
            <a:r>
              <a:rPr lang="en-US" altLang="en-US" sz="2200" i="1" baseline="-25000" dirty="0" err="1">
                <a:solidFill>
                  <a:schemeClr val="tx1"/>
                </a:solidFill>
              </a:rPr>
              <a:t>k</a:t>
            </a:r>
            <a:r>
              <a:rPr lang="en-US" altLang="en-US" sz="2200" dirty="0">
                <a:solidFill>
                  <a:schemeClr val="tx1"/>
                </a:solidFill>
              </a:rPr>
              <a:t>, then </a:t>
            </a:r>
            <a:r>
              <a:rPr lang="en-US" altLang="en-US" sz="2200" i="1" dirty="0">
                <a:solidFill>
                  <a:schemeClr val="tx1"/>
                </a:solidFill>
              </a:rPr>
              <a:t>a</a:t>
            </a:r>
            <a:r>
              <a:rPr lang="en-US" altLang="en-US" sz="2200" i="1" baseline="-25000" dirty="0">
                <a:solidFill>
                  <a:schemeClr val="tx1"/>
                </a:solidFill>
              </a:rPr>
              <a:t>m</a:t>
            </a:r>
            <a:r>
              <a:rPr lang="en-US" altLang="en-US" sz="2200" dirty="0">
                <a:solidFill>
                  <a:schemeClr val="tx1"/>
                </a:solidFill>
              </a:rPr>
              <a:t> is included in some optimal solution.</a:t>
            </a:r>
          </a:p>
          <a:p>
            <a:endParaRPr lang="en-US" altLang="en-US" sz="2000" b="1" dirty="0">
              <a:solidFill>
                <a:schemeClr val="tx1"/>
              </a:solidFill>
            </a:endParaRPr>
          </a:p>
          <a:p>
            <a:r>
              <a:rPr lang="en-US" altLang="en-US" sz="2000" dirty="0">
                <a:solidFill>
                  <a:schemeClr val="tx1"/>
                </a:solidFill>
              </a:rPr>
              <a:t>How to prove it?</a:t>
            </a:r>
          </a:p>
          <a:p>
            <a:pPr lvl="1"/>
            <a:r>
              <a:rPr lang="en-US" altLang="en-US" sz="2000" b="1" dirty="0">
                <a:solidFill>
                  <a:schemeClr val="tx1"/>
                </a:solidFill>
              </a:rPr>
              <a:t>We can convert any other optimal solution (S’) to the greedy algorithm solution (S)</a:t>
            </a:r>
          </a:p>
          <a:p>
            <a:pPr lvl="1"/>
            <a:endParaRPr lang="en-US" altLang="en-US" sz="2000" b="1" dirty="0">
              <a:solidFill>
                <a:schemeClr val="tx1"/>
              </a:solidFill>
            </a:endParaRPr>
          </a:p>
          <a:p>
            <a:r>
              <a:rPr lang="en-US" altLang="en-US" sz="2000" dirty="0">
                <a:solidFill>
                  <a:schemeClr val="tx1"/>
                </a:solidFill>
              </a:rPr>
              <a:t>Idea: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Compare the activities in </a:t>
            </a:r>
            <a:r>
              <a:rPr lang="en-US" altLang="en-US" sz="2000" i="1" dirty="0">
                <a:solidFill>
                  <a:schemeClr val="tx1"/>
                </a:solidFill>
              </a:rPr>
              <a:t>S’</a:t>
            </a:r>
            <a:r>
              <a:rPr lang="en-US" altLang="en-US" sz="2000" dirty="0">
                <a:solidFill>
                  <a:schemeClr val="tx1"/>
                </a:solidFill>
              </a:rPr>
              <a:t> and </a:t>
            </a:r>
            <a:r>
              <a:rPr lang="en-US" altLang="en-US" sz="2000" i="1" dirty="0">
                <a:solidFill>
                  <a:schemeClr val="tx1"/>
                </a:solidFill>
              </a:rPr>
              <a:t>S</a:t>
            </a:r>
            <a:r>
              <a:rPr lang="en-US" altLang="en-US" sz="2000" dirty="0">
                <a:solidFill>
                  <a:schemeClr val="tx1"/>
                </a:solidFill>
              </a:rPr>
              <a:t> from left-to-right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</a:rPr>
              <a:t>If they match in the selected activity </a:t>
            </a:r>
            <a:r>
              <a:rPr lang="en-US" alt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 skip</a:t>
            </a:r>
          </a:p>
          <a:p>
            <a:pPr lvl="1"/>
            <a:r>
              <a:rPr lang="en-US" altLang="en-US" sz="2000" dirty="0">
                <a:solidFill>
                  <a:schemeClr val="tx1"/>
                </a:solidFill>
                <a:sym typeface="Wingdings" panose="05000000000000000000" pitchFamily="2" charset="2"/>
              </a:rPr>
              <a:t>If they do not match, w</a:t>
            </a:r>
            <a:r>
              <a:rPr lang="en-US" alt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e can replace the activity in </a:t>
            </a:r>
            <a:r>
              <a:rPr lang="en-US" altLang="en-US" sz="1800" i="1" dirty="0">
                <a:solidFill>
                  <a:schemeClr val="tx1"/>
                </a:solidFill>
                <a:sym typeface="Wingdings" panose="05000000000000000000" pitchFamily="2" charset="2"/>
              </a:rPr>
              <a:t>S’</a:t>
            </a:r>
            <a:r>
              <a:rPr lang="en-US" alt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by that in </a:t>
            </a:r>
            <a:r>
              <a:rPr lang="en-US" altLang="en-US" sz="1800" i="1" dirty="0">
                <a:solidFill>
                  <a:schemeClr val="tx1"/>
                </a:solidFill>
                <a:sym typeface="Wingdings" panose="05000000000000000000" pitchFamily="2" charset="2"/>
              </a:rPr>
              <a:t>S</a:t>
            </a:r>
            <a:r>
              <a:rPr lang="en-US" alt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because the one in </a:t>
            </a:r>
            <a:r>
              <a:rPr lang="en-US" altLang="en-US" sz="1800" i="1" dirty="0">
                <a:solidFill>
                  <a:schemeClr val="tx1"/>
                </a:solidFill>
                <a:sym typeface="Wingdings" panose="05000000000000000000" pitchFamily="2" charset="2"/>
              </a:rPr>
              <a:t>S</a:t>
            </a:r>
            <a:r>
              <a:rPr lang="en-US" altLang="en-US" sz="1800" dirty="0">
                <a:solidFill>
                  <a:schemeClr val="tx1"/>
                </a:solidFill>
                <a:sym typeface="Wingdings" panose="05000000000000000000" pitchFamily="2" charset="2"/>
              </a:rPr>
              <a:t> finishes first</a:t>
            </a:r>
          </a:p>
        </p:txBody>
      </p:sp>
    </p:spTree>
    <p:extLst>
      <p:ext uri="{BB962C8B-B14F-4D97-AF65-F5344CB8AC3E}">
        <p14:creationId xmlns:p14="http://schemas.microsoft.com/office/powerpoint/2010/main" val="22838076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9800" y="0"/>
            <a:ext cx="7772400" cy="762000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69504" y="4955221"/>
            <a:ext cx="7772400" cy="862660"/>
          </a:xfrm>
        </p:spPr>
        <p:txBody>
          <a:bodyPr>
            <a:normAutofit fontScale="62500" lnSpcReduction="20000"/>
          </a:bodyPr>
          <a:lstStyle/>
          <a:p>
            <a:r>
              <a:rPr lang="en-US" sz="2400" i="1" dirty="0">
                <a:solidFill>
                  <a:schemeClr val="tx1"/>
                </a:solidFill>
              </a:rPr>
              <a:t>S</a:t>
            </a:r>
            <a:r>
              <a:rPr lang="en-US" sz="2400" dirty="0">
                <a:solidFill>
                  <a:schemeClr val="tx1"/>
                </a:solidFill>
              </a:rPr>
              <a:t>: </a:t>
            </a:r>
            <a:r>
              <a:rPr lang="en-US" sz="2400" i="1" dirty="0">
                <a:solidFill>
                  <a:schemeClr val="tx1"/>
                </a:solidFill>
              </a:rPr>
              <a:t>{a</a:t>
            </a:r>
            <a:r>
              <a:rPr lang="en-US" sz="2400" i="1" baseline="-25000" dirty="0">
                <a:solidFill>
                  <a:schemeClr val="tx1"/>
                </a:solidFill>
              </a:rPr>
              <a:t>1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3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6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8</a:t>
            </a:r>
            <a:r>
              <a:rPr lang="en-US" sz="2400" i="1" dirty="0">
                <a:solidFill>
                  <a:schemeClr val="tx1"/>
                </a:solidFill>
              </a:rPr>
              <a:t>}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i="1" dirty="0">
                <a:solidFill>
                  <a:schemeClr val="tx1"/>
                </a:solidFill>
              </a:rPr>
              <a:t>S’</a:t>
            </a:r>
            <a:r>
              <a:rPr lang="en-US" sz="2400" dirty="0">
                <a:solidFill>
                  <a:schemeClr val="tx1"/>
                </a:solidFill>
              </a:rPr>
              <a:t>:{</a:t>
            </a:r>
            <a:r>
              <a:rPr lang="en-US" sz="2400" i="1" dirty="0">
                <a:solidFill>
                  <a:schemeClr val="tx1"/>
                </a:solidFill>
              </a:rPr>
              <a:t>a</a:t>
            </a:r>
            <a:r>
              <a:rPr lang="en-US" sz="2400" i="1" baseline="-25000" dirty="0">
                <a:solidFill>
                  <a:schemeClr val="tx1"/>
                </a:solidFill>
              </a:rPr>
              <a:t>2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5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7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9</a:t>
            </a:r>
            <a:r>
              <a:rPr lang="en-US" sz="2400" i="1" dirty="0">
                <a:solidFill>
                  <a:schemeClr val="tx1"/>
                </a:solidFill>
              </a:rPr>
              <a:t>}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</a:p>
          <a:p>
            <a:r>
              <a:rPr lang="en-US" sz="2400" i="1" dirty="0">
                <a:solidFill>
                  <a:schemeClr val="tx1"/>
                </a:solidFill>
              </a:rPr>
              <a:t>a</a:t>
            </a:r>
            <a:r>
              <a:rPr lang="en-US" sz="2400" i="1" baseline="-25000" dirty="0">
                <a:solidFill>
                  <a:schemeClr val="tx1"/>
                </a:solidFill>
              </a:rPr>
              <a:t>2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5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7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9</a:t>
            </a:r>
            <a:r>
              <a:rPr lang="en-US" altLang="en-US" sz="2400" dirty="0">
                <a:solidFill>
                  <a:schemeClr val="tx1"/>
                </a:solidFill>
              </a:rPr>
              <a:t> in </a:t>
            </a:r>
            <a:r>
              <a:rPr lang="en-US" altLang="en-US" sz="2400" i="1" dirty="0">
                <a:solidFill>
                  <a:schemeClr val="tx1"/>
                </a:solidFill>
              </a:rPr>
              <a:t>S’</a:t>
            </a:r>
            <a:r>
              <a:rPr lang="en-US" altLang="en-US" sz="2400" dirty="0">
                <a:solidFill>
                  <a:schemeClr val="tx1"/>
                </a:solidFill>
              </a:rPr>
              <a:t> can be replaced by </a:t>
            </a:r>
            <a:r>
              <a:rPr lang="en-US" sz="2400" i="1" dirty="0">
                <a:solidFill>
                  <a:schemeClr val="tx1"/>
                </a:solidFill>
              </a:rPr>
              <a:t>a</a:t>
            </a:r>
            <a:r>
              <a:rPr lang="en-US" sz="2400" i="1" baseline="-25000" dirty="0">
                <a:solidFill>
                  <a:schemeClr val="tx1"/>
                </a:solidFill>
              </a:rPr>
              <a:t>1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3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6</a:t>
            </a:r>
            <a:r>
              <a:rPr lang="en-US" sz="2400" i="1" dirty="0">
                <a:solidFill>
                  <a:schemeClr val="tx1"/>
                </a:solidFill>
              </a:rPr>
              <a:t>, a</a:t>
            </a:r>
            <a:r>
              <a:rPr lang="en-US" sz="2400" i="1" baseline="-25000" dirty="0">
                <a:solidFill>
                  <a:schemeClr val="tx1"/>
                </a:solidFill>
              </a:rPr>
              <a:t>8</a:t>
            </a:r>
            <a:r>
              <a:rPr lang="en-US" altLang="en-US" sz="2400" dirty="0">
                <a:solidFill>
                  <a:schemeClr val="tx1"/>
                </a:solidFill>
              </a:rPr>
              <a:t> from </a:t>
            </a:r>
            <a:r>
              <a:rPr lang="en-US" altLang="en-US" sz="2400" i="1" dirty="0">
                <a:solidFill>
                  <a:schemeClr val="tx1"/>
                </a:solidFill>
              </a:rPr>
              <a:t>S</a:t>
            </a:r>
            <a:r>
              <a:rPr lang="en-US" altLang="en-US" sz="2400" dirty="0">
                <a:solidFill>
                  <a:schemeClr val="tx1"/>
                </a:solidFill>
              </a:rPr>
              <a:t> (finishes earlier)</a:t>
            </a:r>
          </a:p>
        </p:txBody>
      </p:sp>
      <p:sp>
        <p:nvSpPr>
          <p:cNvPr id="5" name="Rounded Rectangular Callout 5"/>
          <p:cNvSpPr>
            <a:spLocks noChangeArrowheads="1"/>
          </p:cNvSpPr>
          <p:nvPr/>
        </p:nvSpPr>
        <p:spPr bwMode="auto">
          <a:xfrm>
            <a:off x="5633269" y="4932441"/>
            <a:ext cx="3355975" cy="854075"/>
          </a:xfrm>
          <a:prstGeom prst="wedgeRoundRectCallout">
            <a:avLst>
              <a:gd name="adj1" fmla="val -75263"/>
              <a:gd name="adj2" fmla="val 21159"/>
              <a:gd name="adj3" fmla="val 16667"/>
            </a:avLst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>
            <a:lvl1pPr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0000FF"/>
                </a:solidFill>
              </a:rPr>
              <a:t>We mapped </a:t>
            </a:r>
            <a:r>
              <a:rPr lang="en-US" altLang="en-US" sz="1800" i="1" dirty="0">
                <a:solidFill>
                  <a:srgbClr val="0000FF"/>
                </a:solidFill>
              </a:rPr>
              <a:t>S’</a:t>
            </a:r>
            <a:r>
              <a:rPr lang="en-US" altLang="en-US" sz="1800" dirty="0">
                <a:solidFill>
                  <a:srgbClr val="0000FF"/>
                </a:solidFill>
              </a:rPr>
              <a:t> to </a:t>
            </a:r>
            <a:r>
              <a:rPr lang="en-US" altLang="en-US" sz="1800" i="1" dirty="0">
                <a:solidFill>
                  <a:srgbClr val="0000FF"/>
                </a:solidFill>
              </a:rPr>
              <a:t>S</a:t>
            </a:r>
            <a:r>
              <a:rPr lang="en-US" altLang="en-US" sz="1800" dirty="0">
                <a:solidFill>
                  <a:srgbClr val="0000FF"/>
                </a:solidFill>
              </a:rPr>
              <a:t> and showed that </a:t>
            </a:r>
            <a:r>
              <a:rPr lang="en-US" altLang="en-US" sz="1800" i="1" dirty="0">
                <a:solidFill>
                  <a:srgbClr val="0000FF"/>
                </a:solidFill>
              </a:rPr>
              <a:t>S </a:t>
            </a:r>
            <a:r>
              <a:rPr lang="en-US" altLang="en-US" sz="1800" dirty="0">
                <a:solidFill>
                  <a:srgbClr val="0000FF"/>
                </a:solidFill>
              </a:rPr>
              <a:t>is even better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76" y="728231"/>
            <a:ext cx="6677025" cy="415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440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>
          <a:xfrm>
            <a:off x="2236788" y="301625"/>
            <a:ext cx="7772400" cy="1143000"/>
          </a:xfrm>
        </p:spPr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Recursive Solution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2005014" y="2620963"/>
            <a:ext cx="7018337" cy="2419350"/>
          </a:xfrm>
          <a:prstGeom prst="rect">
            <a:avLst/>
          </a:prstGeom>
          <a:solidFill>
            <a:schemeClr val="tx1">
              <a:lumMod val="50000"/>
              <a:lumOff val="50000"/>
              <a:alpha val="52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defRPr/>
            </a:pPr>
            <a:r>
              <a:rPr lang="en-US" altLang="en-US" sz="1800" dirty="0"/>
              <a:t>Recursive-Activity-Selection(s, f, k, n)</a:t>
            </a:r>
          </a:p>
          <a:p>
            <a:pPr>
              <a:defRPr/>
            </a:pPr>
            <a:r>
              <a:rPr lang="en-US" altLang="en-US" sz="1800" dirty="0"/>
              <a:t>    </a:t>
            </a:r>
            <a:r>
              <a:rPr lang="en-US" altLang="en-US" sz="1800" b="0" dirty="0"/>
              <a:t>m = k +1    </a:t>
            </a:r>
          </a:p>
          <a:p>
            <a:pPr>
              <a:defRPr/>
            </a:pPr>
            <a:r>
              <a:rPr lang="en-US" altLang="en-US" sz="1800" b="0" dirty="0"/>
              <a:t>    </a:t>
            </a:r>
            <a:r>
              <a:rPr lang="en-US" altLang="en-US" sz="1800" dirty="0"/>
              <a:t>While</a:t>
            </a:r>
            <a:r>
              <a:rPr lang="en-US" altLang="en-US" sz="1800" b="0" dirty="0"/>
              <a:t> (m &lt;= n) &amp;&amp; ( s[m] &lt; f[k])</a:t>
            </a:r>
          </a:p>
          <a:p>
            <a:pPr>
              <a:defRPr/>
            </a:pPr>
            <a:r>
              <a:rPr lang="en-US" altLang="en-US" sz="1800" b="0" dirty="0"/>
              <a:t>	m++; </a:t>
            </a:r>
          </a:p>
          <a:p>
            <a:pPr>
              <a:defRPr/>
            </a:pPr>
            <a:r>
              <a:rPr lang="en-US" altLang="en-US" sz="1800" b="0" dirty="0"/>
              <a:t>    </a:t>
            </a:r>
            <a:r>
              <a:rPr lang="en-US" altLang="en-US" sz="1800" dirty="0"/>
              <a:t>If</a:t>
            </a:r>
            <a:r>
              <a:rPr lang="en-US" altLang="en-US" sz="1800" b="0" dirty="0"/>
              <a:t> (m &lt;= n)</a:t>
            </a:r>
          </a:p>
          <a:p>
            <a:pPr>
              <a:defRPr/>
            </a:pPr>
            <a:r>
              <a:rPr lang="en-US" altLang="en-US" sz="1800" b="0" dirty="0"/>
              <a:t>           </a:t>
            </a:r>
            <a:r>
              <a:rPr lang="en-US" altLang="en-US" sz="1800" dirty="0">
                <a:solidFill>
                  <a:srgbClr val="800000"/>
                </a:solidFill>
              </a:rPr>
              <a:t>return</a:t>
            </a:r>
            <a:r>
              <a:rPr lang="en-US" altLang="en-US" sz="1800" b="0" dirty="0"/>
              <a:t>  {A</a:t>
            </a:r>
            <a:r>
              <a:rPr lang="en-US" altLang="en-US" sz="1800" b="0" baseline="-25000" dirty="0"/>
              <a:t>m</a:t>
            </a:r>
            <a:r>
              <a:rPr lang="en-US" altLang="en-US" sz="1800" b="0" dirty="0"/>
              <a:t>}  U </a:t>
            </a:r>
            <a:r>
              <a:rPr lang="en-US" altLang="en-US" sz="1800" dirty="0">
                <a:solidFill>
                  <a:srgbClr val="3333FF"/>
                </a:solidFill>
              </a:rPr>
              <a:t>Recursive-Activity-Selection</a:t>
            </a:r>
            <a:r>
              <a:rPr lang="en-US" altLang="en-US" sz="1800" b="0" dirty="0"/>
              <a:t>(s, f, m, n)</a:t>
            </a:r>
          </a:p>
          <a:p>
            <a:pPr>
              <a:defRPr/>
            </a:pPr>
            <a:r>
              <a:rPr lang="en-US" altLang="en-US" sz="1800" b="0" dirty="0"/>
              <a:t>    </a:t>
            </a:r>
            <a:r>
              <a:rPr lang="en-US" altLang="en-US" sz="1800" dirty="0"/>
              <a:t>Else</a:t>
            </a:r>
          </a:p>
          <a:p>
            <a:pPr>
              <a:defRPr/>
            </a:pPr>
            <a:r>
              <a:rPr lang="en-US" altLang="en-US" sz="1800" b="0" dirty="0"/>
              <a:t>           </a:t>
            </a:r>
            <a:r>
              <a:rPr lang="en-US" altLang="en-US" sz="1800" dirty="0">
                <a:solidFill>
                  <a:srgbClr val="800000"/>
                </a:solidFill>
              </a:rPr>
              <a:t>return</a:t>
            </a:r>
            <a:r>
              <a:rPr lang="en-US" altLang="en-US" sz="1800" b="0" dirty="0">
                <a:solidFill>
                  <a:srgbClr val="800000"/>
                </a:solidFill>
              </a:rPr>
              <a:t> </a:t>
            </a:r>
            <a:r>
              <a:rPr lang="en-US" altLang="en-US" sz="1800" b="0" dirty="0"/>
              <a:t>Φ	</a:t>
            </a:r>
          </a:p>
          <a:p>
            <a:pPr>
              <a:defRPr/>
            </a:pPr>
            <a:r>
              <a:rPr lang="en-US" altLang="en-US" sz="1800" b="0" dirty="0"/>
              <a:t> </a:t>
            </a:r>
          </a:p>
        </p:txBody>
      </p:sp>
      <p:grpSp>
        <p:nvGrpSpPr>
          <p:cNvPr id="16389" name="Group 14"/>
          <p:cNvGrpSpPr>
            <a:grpSpLocks/>
          </p:cNvGrpSpPr>
          <p:nvPr/>
        </p:nvGrpSpPr>
        <p:grpSpPr bwMode="auto">
          <a:xfrm>
            <a:off x="1738314" y="1644649"/>
            <a:ext cx="4142481" cy="1082674"/>
            <a:chOff x="213895" y="1644316"/>
            <a:chExt cx="4142755" cy="1083774"/>
          </a:xfrm>
        </p:grpSpPr>
        <p:cxnSp>
          <p:nvCxnSpPr>
            <p:cNvPr id="16397" name="Straight Arrow Connector 6"/>
            <p:cNvCxnSpPr>
              <a:cxnSpLocks noChangeShapeType="1"/>
            </p:cNvCxnSpPr>
            <p:nvPr/>
          </p:nvCxnSpPr>
          <p:spPr bwMode="auto">
            <a:xfrm>
              <a:off x="3262096" y="2111515"/>
              <a:ext cx="520734" cy="602274"/>
            </a:xfrm>
            <a:prstGeom prst="straightConnector1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16398" name="Straight Arrow Connector 8"/>
            <p:cNvCxnSpPr>
              <a:cxnSpLocks noChangeShapeType="1"/>
            </p:cNvCxnSpPr>
            <p:nvPr/>
          </p:nvCxnSpPr>
          <p:spPr bwMode="auto">
            <a:xfrm>
              <a:off x="3274797" y="2125817"/>
              <a:ext cx="763637" cy="602273"/>
            </a:xfrm>
            <a:prstGeom prst="straightConnector1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16399" name="TextBox 10"/>
            <p:cNvSpPr txBox="1">
              <a:spLocks noChangeArrowheads="1"/>
            </p:cNvSpPr>
            <p:nvPr/>
          </p:nvSpPr>
          <p:spPr bwMode="auto">
            <a:xfrm>
              <a:off x="213895" y="1644316"/>
              <a:ext cx="4142755" cy="52375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solidFill>
                    <a:srgbClr val="800000"/>
                  </a:solidFill>
                </a:rPr>
                <a:t>Two arrays containing the start and end times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solidFill>
                    <a:srgbClr val="800000"/>
                  </a:solidFill>
                </a:rPr>
                <a:t>(Assumption: they are sorted based on end times)</a:t>
              </a:r>
            </a:p>
          </p:txBody>
        </p:sp>
      </p:grpSp>
      <p:cxnSp>
        <p:nvCxnSpPr>
          <p:cNvPr id="16390" name="Straight Arrow Connector 16"/>
          <p:cNvCxnSpPr>
            <a:cxnSpLocks noChangeShapeType="1"/>
          </p:cNvCxnSpPr>
          <p:nvPr/>
        </p:nvCxnSpPr>
        <p:spPr bwMode="auto">
          <a:xfrm flipH="1">
            <a:off x="5881688" y="2098675"/>
            <a:ext cx="1765300" cy="628650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arrow" w="med" len="med"/>
          </a:ln>
        </p:spPr>
      </p:cxnSp>
      <p:sp>
        <p:nvSpPr>
          <p:cNvPr id="16391" name="TextBox 19"/>
          <p:cNvSpPr txBox="1">
            <a:spLocks noChangeArrowheads="1"/>
          </p:cNvSpPr>
          <p:nvPr/>
        </p:nvSpPr>
        <p:spPr bwMode="auto">
          <a:xfrm>
            <a:off x="6850063" y="1595439"/>
            <a:ext cx="1985962" cy="523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>
                <a:solidFill>
                  <a:srgbClr val="800000"/>
                </a:solidFill>
              </a:rPr>
              <a:t>The activity chosen in the last call</a:t>
            </a:r>
          </a:p>
        </p:txBody>
      </p:sp>
      <p:cxnSp>
        <p:nvCxnSpPr>
          <p:cNvPr id="16392" name="Straight Arrow Connector 20"/>
          <p:cNvCxnSpPr>
            <a:cxnSpLocks noChangeShapeType="1"/>
          </p:cNvCxnSpPr>
          <p:nvPr/>
        </p:nvCxnSpPr>
        <p:spPr bwMode="auto">
          <a:xfrm flipH="1">
            <a:off x="6248401" y="2419350"/>
            <a:ext cx="2066925" cy="406400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arrow" w="med" len="med"/>
          </a:ln>
        </p:spPr>
      </p:cxnSp>
      <p:sp>
        <p:nvSpPr>
          <p:cNvPr id="16393" name="TextBox 21"/>
          <p:cNvSpPr txBox="1">
            <a:spLocks noChangeArrowheads="1"/>
          </p:cNvSpPr>
          <p:nvPr/>
        </p:nvSpPr>
        <p:spPr bwMode="auto">
          <a:xfrm>
            <a:off x="8245476" y="2216151"/>
            <a:ext cx="1985963" cy="307975"/>
          </a:xfrm>
          <a:prstGeom prst="rect">
            <a:avLst/>
          </a:prstGeom>
          <a:solidFill>
            <a:srgbClr val="F9FFF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>
                <a:solidFill>
                  <a:srgbClr val="800000"/>
                </a:solidFill>
              </a:rPr>
              <a:t>The problem size</a:t>
            </a:r>
          </a:p>
        </p:txBody>
      </p:sp>
      <p:cxnSp>
        <p:nvCxnSpPr>
          <p:cNvPr id="16394" name="Straight Arrow Connector 23"/>
          <p:cNvCxnSpPr>
            <a:cxnSpLocks noChangeShapeType="1"/>
          </p:cNvCxnSpPr>
          <p:nvPr/>
        </p:nvCxnSpPr>
        <p:spPr bwMode="auto">
          <a:xfrm flipH="1">
            <a:off x="5761038" y="3341689"/>
            <a:ext cx="1217612" cy="53975"/>
          </a:xfrm>
          <a:prstGeom prst="straightConnector1">
            <a:avLst/>
          </a:prstGeom>
          <a:noFill/>
          <a:ln w="12700" algn="ctr">
            <a:solidFill>
              <a:schemeClr val="tx1"/>
            </a:solidFill>
            <a:round/>
            <a:headEnd type="none" w="sm" len="sm"/>
            <a:tailEnd type="arrow" w="med" len="med"/>
          </a:ln>
        </p:spPr>
      </p:cxnSp>
      <p:sp>
        <p:nvSpPr>
          <p:cNvPr id="16395" name="TextBox 24"/>
          <p:cNvSpPr txBox="1">
            <a:spLocks noChangeArrowheads="1"/>
          </p:cNvSpPr>
          <p:nvPr/>
        </p:nvSpPr>
        <p:spPr bwMode="auto">
          <a:xfrm>
            <a:off x="6980239" y="3157539"/>
            <a:ext cx="2992437" cy="5238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>
                <a:solidFill>
                  <a:srgbClr val="800000"/>
                </a:solidFill>
              </a:rPr>
              <a:t>Find the next activity starting after the end of k </a:t>
            </a:r>
          </a:p>
        </p:txBody>
      </p:sp>
      <p:sp>
        <p:nvSpPr>
          <p:cNvPr id="16396" name="Rectangle 27"/>
          <p:cNvSpPr>
            <a:spLocks noChangeArrowheads="1"/>
          </p:cNvSpPr>
          <p:nvPr/>
        </p:nvSpPr>
        <p:spPr bwMode="auto">
          <a:xfrm>
            <a:off x="2044701" y="5213351"/>
            <a:ext cx="7661275" cy="936625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1800" dirty="0"/>
              <a:t>Time Complexity: </a:t>
            </a:r>
            <a:r>
              <a:rPr lang="en-US" altLang="en-US" sz="1800" i="1" dirty="0"/>
              <a:t>O(n) </a:t>
            </a:r>
          </a:p>
          <a:p>
            <a:r>
              <a:rPr lang="en-US" altLang="en-US" sz="1800" dirty="0"/>
              <a:t>(Assuming arrays are already sorted, otherwise we add </a:t>
            </a:r>
            <a:r>
              <a:rPr lang="en-US" altLang="en-US" sz="1800" i="1" dirty="0"/>
              <a:t>O(n Log n) </a:t>
            </a:r>
          </a:p>
        </p:txBody>
      </p:sp>
    </p:spTree>
    <p:extLst>
      <p:ext uri="{BB962C8B-B14F-4D97-AF65-F5344CB8AC3E}">
        <p14:creationId xmlns:p14="http://schemas.microsoft.com/office/powerpoint/2010/main" val="201377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2236788" y="301625"/>
            <a:ext cx="7772400" cy="1143000"/>
          </a:xfrm>
        </p:spPr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Iterative Solution</a:t>
            </a:r>
          </a:p>
        </p:txBody>
      </p:sp>
      <p:sp>
        <p:nvSpPr>
          <p:cNvPr id="5" name="Rectangle 4"/>
          <p:cNvSpPr/>
          <p:nvPr/>
        </p:nvSpPr>
        <p:spPr bwMode="auto">
          <a:xfrm>
            <a:off x="2300288" y="2620963"/>
            <a:ext cx="5319712" cy="3170238"/>
          </a:xfrm>
          <a:prstGeom prst="rect">
            <a:avLst/>
          </a:prstGeom>
          <a:solidFill>
            <a:schemeClr val="tx1">
              <a:lumMod val="50000"/>
              <a:lumOff val="50000"/>
              <a:alpha val="52000"/>
            </a:schemeClr>
          </a:solidFill>
          <a:ln w="12700" cap="flat" cmpd="sng" algn="ctr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Iterative-Activity-Selection(s, f)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n = </a:t>
            </a:r>
            <a:r>
              <a:rPr lang="en-US" dirty="0" err="1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s.length</a:t>
            </a:r>
            <a:endParaRPr lang="en-US" dirty="0">
              <a:latin typeface="Courier New" panose="02070309020205020404" pitchFamily="49" charset="0"/>
              <a:ea typeface="ＭＳ Ｐゴシック" charset="0"/>
              <a:cs typeface="Courier New" panose="02070309020205020404" pitchFamily="49" charset="0"/>
            </a:endParaRP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A = {a</a:t>
            </a:r>
            <a:r>
              <a:rPr lang="en-US" baseline="-250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}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k = 1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for (m = 2 to n)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       if (S[m] &gt;= f[k])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              A = A U {a</a:t>
            </a:r>
            <a:r>
              <a:rPr lang="en-US" baseline="-25000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m</a:t>
            </a: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} </a:t>
            </a: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              k = m</a:t>
            </a:r>
          </a:p>
          <a:p>
            <a:pPr>
              <a:defRPr/>
            </a:pPr>
            <a:endParaRPr lang="en-US" dirty="0">
              <a:latin typeface="Courier New" panose="02070309020205020404" pitchFamily="49" charset="0"/>
              <a:ea typeface="ＭＳ Ｐゴシック" charset="0"/>
              <a:cs typeface="Courier New" panose="02070309020205020404" pitchFamily="49" charset="0"/>
            </a:endParaRPr>
          </a:p>
          <a:p>
            <a:pPr>
              <a:defRPr/>
            </a:pPr>
            <a:r>
              <a:rPr lang="en-US" dirty="0">
                <a:latin typeface="Courier New" panose="02070309020205020404" pitchFamily="49" charset="0"/>
                <a:ea typeface="ＭＳ Ｐゴシック" charset="0"/>
                <a:cs typeface="Courier New" panose="02070309020205020404" pitchFamily="49" charset="0"/>
              </a:rPr>
              <a:t>    Return A</a:t>
            </a:r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	</a:t>
            </a:r>
          </a:p>
          <a:p>
            <a:pPr>
              <a:defRPr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</a:p>
        </p:txBody>
      </p:sp>
      <p:grpSp>
        <p:nvGrpSpPr>
          <p:cNvPr id="17413" name="Group 14"/>
          <p:cNvGrpSpPr>
            <a:grpSpLocks/>
          </p:cNvGrpSpPr>
          <p:nvPr/>
        </p:nvGrpSpPr>
        <p:grpSpPr bwMode="auto">
          <a:xfrm>
            <a:off x="3048001" y="1635223"/>
            <a:ext cx="4142481" cy="1068388"/>
            <a:chOff x="213895" y="1644316"/>
            <a:chExt cx="4142755" cy="1069473"/>
          </a:xfrm>
        </p:grpSpPr>
        <p:cxnSp>
          <p:nvCxnSpPr>
            <p:cNvPr id="17414" name="Straight Arrow Connector 6"/>
            <p:cNvCxnSpPr>
              <a:cxnSpLocks noChangeShapeType="1"/>
            </p:cNvCxnSpPr>
            <p:nvPr/>
          </p:nvCxnSpPr>
          <p:spPr bwMode="auto">
            <a:xfrm>
              <a:off x="3062058" y="2111515"/>
              <a:ext cx="520734" cy="602274"/>
            </a:xfrm>
            <a:prstGeom prst="straightConnector1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17415" name="Straight Arrow Connector 8"/>
            <p:cNvCxnSpPr>
              <a:cxnSpLocks noChangeShapeType="1"/>
            </p:cNvCxnSpPr>
            <p:nvPr/>
          </p:nvCxnSpPr>
          <p:spPr bwMode="auto">
            <a:xfrm>
              <a:off x="3074759" y="2125817"/>
              <a:ext cx="847781" cy="580025"/>
            </a:xfrm>
            <a:prstGeom prst="straightConnector1">
              <a:avLst/>
            </a:prstGeom>
            <a:noFill/>
            <a:ln w="12700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17416" name="TextBox 10"/>
            <p:cNvSpPr txBox="1">
              <a:spLocks noChangeArrowheads="1"/>
            </p:cNvSpPr>
            <p:nvPr/>
          </p:nvSpPr>
          <p:spPr bwMode="auto">
            <a:xfrm>
              <a:off x="213895" y="1644316"/>
              <a:ext cx="4142755" cy="523751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 dirty="0">
                  <a:solidFill>
                    <a:srgbClr val="800000"/>
                  </a:solidFill>
                </a:rPr>
                <a:t>Two arrays containing the start and end times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400" dirty="0">
                  <a:solidFill>
                    <a:srgbClr val="800000"/>
                  </a:solidFill>
                </a:rPr>
                <a:t>(Assumption: they are sorted based on end times)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27731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2209800" y="422275"/>
            <a:ext cx="7772400" cy="928688"/>
          </a:xfrm>
        </p:spPr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Elements Of Greedy Algorithms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>
          <a:xfrm>
            <a:off x="2197100" y="1484313"/>
            <a:ext cx="8166100" cy="4424362"/>
          </a:xfrm>
        </p:spPr>
        <p:txBody>
          <a:bodyPr/>
          <a:lstStyle/>
          <a:p>
            <a:r>
              <a:rPr lang="en-US" altLang="en-US" b="1" dirty="0">
                <a:solidFill>
                  <a:schemeClr val="tx1"/>
                </a:solidFill>
              </a:rPr>
              <a:t>Proving a greedy solution is optimal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Remember: Not all problems have optimal greedy solution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If it does, you need to prove it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Usually the proof includes mapping or converting any other optimal solution to the greedy solution</a:t>
            </a:r>
          </a:p>
          <a:p>
            <a:pPr lvl="1"/>
            <a:endParaRPr lang="en-US" altLang="en-US" sz="2000" dirty="0">
              <a:solidFill>
                <a:schemeClr val="tx1"/>
              </a:solidFill>
            </a:endParaRPr>
          </a:p>
          <a:p>
            <a:endParaRPr lang="en-US" alt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115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1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Review: The Knapsack Problem</a:t>
            </a:r>
          </a:p>
        </p:txBody>
      </p:sp>
      <p:sp>
        <p:nvSpPr>
          <p:cNvPr id="1583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i="1" dirty="0">
                <a:solidFill>
                  <a:schemeClr val="tx1"/>
                </a:solidFill>
              </a:rPr>
              <a:t>0-1 knapsack problem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The thief must choose among </a:t>
            </a:r>
            <a:r>
              <a:rPr lang="en-US" altLang="en-US" i="1" dirty="0">
                <a:solidFill>
                  <a:schemeClr val="tx1"/>
                </a:solidFill>
              </a:rPr>
              <a:t>n</a:t>
            </a:r>
            <a:r>
              <a:rPr lang="en-US" altLang="en-US" dirty="0">
                <a:solidFill>
                  <a:schemeClr val="tx1"/>
                </a:solidFill>
              </a:rPr>
              <a:t> items, where the </a:t>
            </a:r>
            <a:r>
              <a:rPr lang="en-US" altLang="en-US" i="1" dirty="0" err="1">
                <a:solidFill>
                  <a:schemeClr val="tx1"/>
                </a:solidFill>
              </a:rPr>
              <a:t>i</a:t>
            </a:r>
            <a:r>
              <a:rPr lang="en-US" altLang="en-US" dirty="0" err="1">
                <a:solidFill>
                  <a:schemeClr val="tx1"/>
                </a:solidFill>
              </a:rPr>
              <a:t>th</a:t>
            </a:r>
            <a:r>
              <a:rPr lang="en-US" altLang="en-US" dirty="0">
                <a:solidFill>
                  <a:schemeClr val="tx1"/>
                </a:solidFill>
              </a:rPr>
              <a:t> item worth </a:t>
            </a:r>
            <a:r>
              <a:rPr lang="en-US" altLang="en-US" i="1" dirty="0">
                <a:solidFill>
                  <a:schemeClr val="tx1"/>
                </a:solidFill>
              </a:rPr>
              <a:t>v</a:t>
            </a:r>
            <a:r>
              <a:rPr lang="en-US" altLang="en-US" i="1" baseline="-25000" dirty="0">
                <a:solidFill>
                  <a:schemeClr val="tx1"/>
                </a:solidFill>
              </a:rPr>
              <a:t>i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dollars and weighs </a:t>
            </a:r>
            <a:r>
              <a:rPr lang="en-US" altLang="en-US" i="1" dirty="0" err="1">
                <a:solidFill>
                  <a:schemeClr val="tx1"/>
                </a:solidFill>
              </a:rPr>
              <a:t>w</a:t>
            </a:r>
            <a:r>
              <a:rPr lang="en-US" altLang="en-US" i="1" baseline="-25000" dirty="0" err="1">
                <a:solidFill>
                  <a:schemeClr val="tx1"/>
                </a:solidFill>
              </a:rPr>
              <a:t>i</a:t>
            </a:r>
            <a:r>
              <a:rPr lang="en-US" altLang="en-US" dirty="0">
                <a:solidFill>
                  <a:schemeClr val="tx1"/>
                </a:solidFill>
              </a:rPr>
              <a:t> pounds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Carrying at most </a:t>
            </a:r>
            <a:r>
              <a:rPr lang="en-US" altLang="en-US" i="1" dirty="0">
                <a:solidFill>
                  <a:schemeClr val="tx1"/>
                </a:solidFill>
              </a:rPr>
              <a:t>W</a:t>
            </a:r>
            <a:r>
              <a:rPr lang="en-US" altLang="en-US" dirty="0">
                <a:solidFill>
                  <a:schemeClr val="tx1"/>
                </a:solidFill>
              </a:rPr>
              <a:t> pounds, maximize value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Note: assume </a:t>
            </a:r>
            <a:r>
              <a:rPr lang="en-US" altLang="en-US" i="1" dirty="0">
                <a:solidFill>
                  <a:schemeClr val="tx1"/>
                </a:solidFill>
              </a:rPr>
              <a:t>v</a:t>
            </a:r>
            <a:r>
              <a:rPr lang="en-US" altLang="en-US" i="1" baseline="-25000" dirty="0">
                <a:solidFill>
                  <a:schemeClr val="tx1"/>
                </a:solidFill>
              </a:rPr>
              <a:t>i</a:t>
            </a:r>
            <a:r>
              <a:rPr lang="en-US" altLang="en-US" i="1" dirty="0">
                <a:solidFill>
                  <a:schemeClr val="tx1"/>
                </a:solidFill>
              </a:rPr>
              <a:t>, </a:t>
            </a:r>
            <a:r>
              <a:rPr lang="en-US" altLang="en-US" i="1" dirty="0" err="1">
                <a:solidFill>
                  <a:schemeClr val="tx1"/>
                </a:solidFill>
              </a:rPr>
              <a:t>w</a:t>
            </a:r>
            <a:r>
              <a:rPr lang="en-US" altLang="en-US" i="1" baseline="-25000" dirty="0" err="1">
                <a:solidFill>
                  <a:schemeClr val="tx1"/>
                </a:solidFill>
              </a:rPr>
              <a:t>i</a:t>
            </a:r>
            <a:r>
              <a:rPr lang="en-US" altLang="en-US" i="1" dirty="0">
                <a:solidFill>
                  <a:schemeClr val="tx1"/>
                </a:solidFill>
              </a:rPr>
              <a:t>, </a:t>
            </a:r>
            <a:r>
              <a:rPr lang="en-US" altLang="en-US" dirty="0">
                <a:solidFill>
                  <a:schemeClr val="tx1"/>
                </a:solidFill>
              </a:rPr>
              <a:t>and </a:t>
            </a:r>
            <a:r>
              <a:rPr lang="en-US" altLang="en-US" i="1" dirty="0">
                <a:solidFill>
                  <a:schemeClr val="tx1"/>
                </a:solidFill>
              </a:rPr>
              <a:t>W </a:t>
            </a:r>
            <a:r>
              <a:rPr lang="en-US" altLang="en-US" dirty="0">
                <a:solidFill>
                  <a:schemeClr val="tx1"/>
                </a:solidFill>
              </a:rPr>
              <a:t>are all integers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“0-1” b/c each item must be taken or left in entirety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A variation, the </a:t>
            </a:r>
            <a:r>
              <a:rPr lang="en-US" altLang="en-US" i="1" dirty="0">
                <a:solidFill>
                  <a:schemeClr val="tx1"/>
                </a:solidFill>
              </a:rPr>
              <a:t>fractional knapsack problem</a:t>
            </a:r>
            <a:r>
              <a:rPr lang="en-US" alt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Thief can take fractions of items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Think of items in 0-1 problem as gold ingots, in fractional problem as buckets of gold dust</a:t>
            </a:r>
          </a:p>
        </p:txBody>
      </p:sp>
    </p:spTree>
    <p:extLst>
      <p:ext uri="{BB962C8B-B14F-4D97-AF65-F5344CB8AC3E}">
        <p14:creationId xmlns:p14="http://schemas.microsoft.com/office/powerpoint/2010/main" val="10842058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Review: The Knapsack Problem  </a:t>
            </a:r>
            <a:br>
              <a:rPr lang="en-US" altLang="en-US">
                <a:solidFill>
                  <a:schemeClr val="tx1"/>
                </a:solidFill>
              </a:rPr>
            </a:br>
            <a:r>
              <a:rPr lang="en-US" altLang="en-US">
                <a:solidFill>
                  <a:schemeClr val="tx1"/>
                </a:solidFill>
              </a:rPr>
              <a:t>And Optimal Substructure</a:t>
            </a:r>
          </a:p>
        </p:txBody>
      </p:sp>
      <p:sp>
        <p:nvSpPr>
          <p:cNvPr id="158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Both variations exhibit optimal substructure</a:t>
            </a:r>
          </a:p>
          <a:p>
            <a:r>
              <a:rPr lang="en-US" altLang="en-US" dirty="0">
                <a:solidFill>
                  <a:schemeClr val="tx1"/>
                </a:solidFill>
              </a:rPr>
              <a:t>To show this for the 0-1 problem, consider the most valuable load weighing at most </a:t>
            </a:r>
            <a:r>
              <a:rPr lang="en-US" altLang="en-US" i="1" dirty="0">
                <a:solidFill>
                  <a:schemeClr val="tx1"/>
                </a:solidFill>
              </a:rPr>
              <a:t>W</a:t>
            </a:r>
            <a:r>
              <a:rPr lang="en-US" altLang="en-US" dirty="0">
                <a:solidFill>
                  <a:schemeClr val="tx1"/>
                </a:solidFill>
              </a:rPr>
              <a:t> pounds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If we remove item </a:t>
            </a:r>
            <a:r>
              <a:rPr lang="en-US" altLang="en-US" i="1" dirty="0">
                <a:solidFill>
                  <a:schemeClr val="tx1"/>
                </a:solidFill>
              </a:rPr>
              <a:t>j</a:t>
            </a:r>
            <a:r>
              <a:rPr lang="en-US" altLang="en-US" dirty="0">
                <a:solidFill>
                  <a:schemeClr val="tx1"/>
                </a:solidFill>
              </a:rPr>
              <a:t> from the load, what do we know about the remaining load?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A: remainder must be the most valuable load weighing at most </a:t>
            </a:r>
            <a:r>
              <a:rPr lang="en-US" altLang="en-US" i="1" dirty="0">
                <a:solidFill>
                  <a:schemeClr val="tx1"/>
                </a:solidFill>
              </a:rPr>
              <a:t>W</a:t>
            </a:r>
            <a:r>
              <a:rPr lang="en-US" altLang="en-US" dirty="0">
                <a:solidFill>
                  <a:schemeClr val="tx1"/>
                </a:solidFill>
              </a:rPr>
              <a:t> - </a:t>
            </a:r>
            <a:r>
              <a:rPr lang="en-US" altLang="en-US" i="1" dirty="0" err="1">
                <a:solidFill>
                  <a:schemeClr val="tx1"/>
                </a:solidFill>
              </a:rPr>
              <a:t>w</a:t>
            </a:r>
            <a:r>
              <a:rPr lang="en-US" altLang="en-US" i="1" baseline="-25000" dirty="0" err="1">
                <a:solidFill>
                  <a:schemeClr val="tx1"/>
                </a:solidFill>
              </a:rPr>
              <a:t>j</a:t>
            </a:r>
            <a:r>
              <a:rPr lang="en-US" altLang="en-US" i="1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that thief could take from museum, excluding item </a:t>
            </a:r>
            <a:r>
              <a:rPr lang="en-US" altLang="en-US" i="1" dirty="0">
                <a:solidFill>
                  <a:schemeClr val="tx1"/>
                </a:solidFill>
              </a:rPr>
              <a:t>j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  <a:endParaRPr lang="en-US" alt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91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>
                <a:solidFill>
                  <a:schemeClr val="tx1"/>
                </a:solidFill>
              </a:rPr>
              <a:t>Solving The Knapsack Problem</a:t>
            </a:r>
          </a:p>
        </p:txBody>
      </p:sp>
      <p:sp>
        <p:nvSpPr>
          <p:cNvPr id="1585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solidFill>
                  <a:schemeClr val="tx1"/>
                </a:solidFill>
              </a:rPr>
              <a:t>The optimal solution to the 0-1 problem cannot be found with the same greedy strategy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Greedy strategy: take in order of dollars/pound</a:t>
            </a: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Example: 3 items weighing 10, 20, and 30 pounds, knapsack can hold 50 pounds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Suppose 3 items are worth $60, $100, and $120.  </a:t>
            </a:r>
          </a:p>
          <a:p>
            <a:pPr lvl="2"/>
            <a:r>
              <a:rPr lang="en-US" altLang="en-US" dirty="0">
                <a:solidFill>
                  <a:schemeClr val="tx1"/>
                </a:solidFill>
              </a:rPr>
              <a:t>Will greedy strategy work? </a:t>
            </a:r>
          </a:p>
        </p:txBody>
      </p:sp>
    </p:spTree>
    <p:extLst>
      <p:ext uri="{BB962C8B-B14F-4D97-AF65-F5344CB8AC3E}">
        <p14:creationId xmlns:p14="http://schemas.microsoft.com/office/powerpoint/2010/main" val="1775969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270119" y="387553"/>
            <a:ext cx="684657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chemeClr val="tx1"/>
                </a:solidFill>
              </a:rPr>
              <a:t>Fractional knapsack</a:t>
            </a:r>
            <a:r>
              <a:rPr spc="-30" dirty="0">
                <a:solidFill>
                  <a:schemeClr val="tx1"/>
                </a:solidFill>
              </a:rPr>
              <a:t> </a:t>
            </a:r>
            <a:r>
              <a:rPr spc="-5" dirty="0">
                <a:solidFill>
                  <a:schemeClr val="tx1"/>
                </a:solidFill>
              </a:rPr>
              <a:t>problem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3" name="object 3"/>
          <p:cNvSpPr txBox="1"/>
          <p:nvPr/>
        </p:nvSpPr>
        <p:spPr>
          <a:xfrm>
            <a:off x="247091" y="1339037"/>
            <a:ext cx="11343640" cy="3293745"/>
          </a:xfrm>
          <a:prstGeom prst="rect">
            <a:avLst/>
          </a:prstGeom>
        </p:spPr>
        <p:txBody>
          <a:bodyPr vert="horz" wrap="square" lIns="0" tIns="62230" rIns="0" bIns="0" rtlCol="0">
            <a:spAutoFit/>
          </a:bodyPr>
          <a:lstStyle/>
          <a:p>
            <a:pPr marL="254000" marR="17780" indent="-228600" algn="just">
              <a:lnSpc>
                <a:spcPct val="90000"/>
              </a:lnSpc>
              <a:spcBef>
                <a:spcPts val="490"/>
              </a:spcBef>
              <a:buFont typeface="Arial"/>
              <a:buChar char="•"/>
              <a:tabLst>
                <a:tab pos="254000" algn="l"/>
              </a:tabLst>
            </a:pPr>
            <a:r>
              <a:rPr sz="3200" dirty="0">
                <a:latin typeface="Trebuchet MS"/>
                <a:cs typeface="Trebuchet MS"/>
              </a:rPr>
              <a:t>The setup </a:t>
            </a:r>
            <a:r>
              <a:rPr sz="3200" spc="-5" dirty="0">
                <a:latin typeface="Trebuchet MS"/>
                <a:cs typeface="Trebuchet MS"/>
              </a:rPr>
              <a:t>is same, but the thief can </a:t>
            </a:r>
            <a:r>
              <a:rPr sz="3200" dirty="0">
                <a:latin typeface="Trebuchet MS"/>
                <a:cs typeface="Trebuchet MS"/>
              </a:rPr>
              <a:t>take fractions of </a:t>
            </a:r>
            <a:r>
              <a:rPr sz="3200" spc="-5" dirty="0">
                <a:latin typeface="Trebuchet MS"/>
                <a:cs typeface="Trebuchet MS"/>
              </a:rPr>
              <a:t>items,  meaning </a:t>
            </a:r>
            <a:r>
              <a:rPr sz="3200" dirty="0">
                <a:latin typeface="Trebuchet MS"/>
                <a:cs typeface="Trebuchet MS"/>
              </a:rPr>
              <a:t>that </a:t>
            </a:r>
            <a:r>
              <a:rPr sz="3200" spc="-5" dirty="0">
                <a:latin typeface="Trebuchet MS"/>
                <a:cs typeface="Trebuchet MS"/>
              </a:rPr>
              <a:t>the items can </a:t>
            </a:r>
            <a:r>
              <a:rPr sz="3200" dirty="0">
                <a:latin typeface="Trebuchet MS"/>
                <a:cs typeface="Trebuchet MS"/>
              </a:rPr>
              <a:t>be </a:t>
            </a:r>
            <a:r>
              <a:rPr sz="3200" spc="-5" dirty="0">
                <a:latin typeface="Trebuchet MS"/>
                <a:cs typeface="Trebuchet MS"/>
              </a:rPr>
              <a:t>broken into </a:t>
            </a:r>
            <a:r>
              <a:rPr sz="3200" dirty="0">
                <a:latin typeface="Trebuchet MS"/>
                <a:cs typeface="Trebuchet MS"/>
              </a:rPr>
              <a:t>smaller </a:t>
            </a:r>
            <a:r>
              <a:rPr sz="3200" spc="-5" dirty="0">
                <a:latin typeface="Trebuchet MS"/>
                <a:cs typeface="Trebuchet MS"/>
              </a:rPr>
              <a:t>pieces </a:t>
            </a:r>
            <a:r>
              <a:rPr sz="3200" dirty="0">
                <a:latin typeface="Trebuchet MS"/>
                <a:cs typeface="Trebuchet MS"/>
              </a:rPr>
              <a:t>so  </a:t>
            </a:r>
            <a:r>
              <a:rPr sz="3200" spc="-5" dirty="0">
                <a:latin typeface="Trebuchet MS"/>
                <a:cs typeface="Trebuchet MS"/>
              </a:rPr>
              <a:t>that thief may decide to carry </a:t>
            </a:r>
            <a:r>
              <a:rPr sz="3200" dirty="0">
                <a:latin typeface="Trebuchet MS"/>
                <a:cs typeface="Trebuchet MS"/>
              </a:rPr>
              <a:t>only a </a:t>
            </a:r>
            <a:r>
              <a:rPr sz="3200" spc="-5" dirty="0">
                <a:latin typeface="Trebuchet MS"/>
                <a:cs typeface="Trebuchet MS"/>
              </a:rPr>
              <a:t>fraction </a:t>
            </a:r>
            <a:r>
              <a:rPr sz="3200" dirty="0">
                <a:latin typeface="Trebuchet MS"/>
                <a:cs typeface="Trebuchet MS"/>
              </a:rPr>
              <a:t>of </a:t>
            </a:r>
            <a:r>
              <a:rPr sz="3200" i="1" spc="5" dirty="0">
                <a:latin typeface="Trebuchet MS"/>
                <a:cs typeface="Trebuchet MS"/>
              </a:rPr>
              <a:t>x</a:t>
            </a:r>
            <a:r>
              <a:rPr sz="3150" i="1" spc="7" baseline="-21164" dirty="0">
                <a:latin typeface="Trebuchet MS"/>
                <a:cs typeface="Trebuchet MS"/>
              </a:rPr>
              <a:t>i </a:t>
            </a:r>
            <a:r>
              <a:rPr sz="3200" dirty="0">
                <a:latin typeface="Trebuchet MS"/>
                <a:cs typeface="Trebuchet MS"/>
              </a:rPr>
              <a:t>of </a:t>
            </a:r>
            <a:r>
              <a:rPr sz="3200" spc="-5" dirty="0">
                <a:latin typeface="Trebuchet MS"/>
                <a:cs typeface="Trebuchet MS"/>
              </a:rPr>
              <a:t>item </a:t>
            </a:r>
            <a:r>
              <a:rPr sz="3200" i="1" dirty="0">
                <a:latin typeface="Trebuchet MS"/>
                <a:cs typeface="Trebuchet MS"/>
              </a:rPr>
              <a:t>i</a:t>
            </a:r>
            <a:r>
              <a:rPr sz="3200" dirty="0">
                <a:latin typeface="Trebuchet MS"/>
                <a:cs typeface="Trebuchet MS"/>
              </a:rPr>
              <a:t>,  </a:t>
            </a:r>
            <a:r>
              <a:rPr sz="3200" spc="-5" dirty="0">
                <a:latin typeface="Trebuchet MS"/>
                <a:cs typeface="Trebuchet MS"/>
              </a:rPr>
              <a:t>where </a:t>
            </a:r>
            <a:r>
              <a:rPr sz="3200" dirty="0">
                <a:latin typeface="Trebuchet MS"/>
                <a:cs typeface="Trebuchet MS"/>
              </a:rPr>
              <a:t>0 ≤ </a:t>
            </a:r>
            <a:r>
              <a:rPr sz="3200" i="1" spc="5" dirty="0">
                <a:latin typeface="Trebuchet MS"/>
                <a:cs typeface="Trebuchet MS"/>
              </a:rPr>
              <a:t>x</a:t>
            </a:r>
            <a:r>
              <a:rPr sz="3150" i="1" spc="7" baseline="-21164" dirty="0">
                <a:latin typeface="Trebuchet MS"/>
                <a:cs typeface="Trebuchet MS"/>
              </a:rPr>
              <a:t>i </a:t>
            </a:r>
            <a:r>
              <a:rPr sz="3200" dirty="0">
                <a:latin typeface="Trebuchet MS"/>
                <a:cs typeface="Trebuchet MS"/>
              </a:rPr>
              <a:t>≤ </a:t>
            </a:r>
            <a:r>
              <a:rPr sz="3200" spc="-5" dirty="0">
                <a:latin typeface="Trebuchet MS"/>
                <a:cs typeface="Trebuchet MS"/>
              </a:rPr>
              <a:t>1.Exhibit </a:t>
            </a:r>
            <a:r>
              <a:rPr sz="3200" dirty="0">
                <a:latin typeface="Trebuchet MS"/>
                <a:cs typeface="Trebuchet MS"/>
              </a:rPr>
              <a:t>greedy </a:t>
            </a:r>
            <a:r>
              <a:rPr sz="3200" spc="-5" dirty="0">
                <a:latin typeface="Trebuchet MS"/>
                <a:cs typeface="Trebuchet MS"/>
              </a:rPr>
              <a:t>choice</a:t>
            </a:r>
            <a:r>
              <a:rPr sz="3200" spc="-60" dirty="0">
                <a:latin typeface="Trebuchet MS"/>
                <a:cs typeface="Trebuchet MS"/>
              </a:rPr>
              <a:t> </a:t>
            </a:r>
            <a:r>
              <a:rPr sz="3200" spc="-45" dirty="0">
                <a:latin typeface="Trebuchet MS"/>
                <a:cs typeface="Trebuchet MS"/>
              </a:rPr>
              <a:t>property.</a:t>
            </a:r>
            <a:endParaRPr sz="3200">
              <a:latin typeface="Trebuchet MS"/>
              <a:cs typeface="Trebuchet MS"/>
            </a:endParaRPr>
          </a:p>
          <a:p>
            <a:pPr marL="711200" lvl="1" indent="-229235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711835" algn="l"/>
              </a:tabLst>
            </a:pPr>
            <a:r>
              <a:rPr sz="2800" spc="-5" dirty="0">
                <a:latin typeface="Trebuchet MS"/>
                <a:cs typeface="Trebuchet MS"/>
              </a:rPr>
              <a:t>Greedy </a:t>
            </a:r>
            <a:r>
              <a:rPr sz="2800" spc="-10" dirty="0">
                <a:latin typeface="Trebuchet MS"/>
                <a:cs typeface="Trebuchet MS"/>
              </a:rPr>
              <a:t>algorithm</a:t>
            </a:r>
            <a:r>
              <a:rPr sz="2800" spc="-15" dirty="0">
                <a:latin typeface="Trebuchet MS"/>
                <a:cs typeface="Trebuchet MS"/>
              </a:rPr>
              <a:t> </a:t>
            </a:r>
            <a:r>
              <a:rPr sz="2800" spc="-10" dirty="0">
                <a:latin typeface="Trebuchet MS"/>
                <a:cs typeface="Trebuchet MS"/>
              </a:rPr>
              <a:t>exists.</a:t>
            </a:r>
            <a:endParaRPr sz="2800">
              <a:latin typeface="Trebuchet MS"/>
              <a:cs typeface="Trebuchet MS"/>
            </a:endParaRPr>
          </a:p>
          <a:p>
            <a:pPr marL="254000" indent="-228600">
              <a:lnSpc>
                <a:spcPct val="100000"/>
              </a:lnSpc>
              <a:spcBef>
                <a:spcPts val="605"/>
              </a:spcBef>
              <a:buFont typeface="Arial"/>
              <a:buChar char="•"/>
              <a:tabLst>
                <a:tab pos="254000" algn="l"/>
              </a:tabLst>
            </a:pPr>
            <a:r>
              <a:rPr sz="3200" dirty="0">
                <a:latin typeface="Trebuchet MS"/>
                <a:cs typeface="Trebuchet MS"/>
              </a:rPr>
              <a:t>Exhibit </a:t>
            </a:r>
            <a:r>
              <a:rPr sz="3200" spc="-5" dirty="0">
                <a:latin typeface="Trebuchet MS"/>
                <a:cs typeface="Trebuchet MS"/>
              </a:rPr>
              <a:t>optimal </a:t>
            </a:r>
            <a:r>
              <a:rPr sz="3200" dirty="0">
                <a:latin typeface="Trebuchet MS"/>
                <a:cs typeface="Trebuchet MS"/>
              </a:rPr>
              <a:t>substructure</a:t>
            </a:r>
            <a:r>
              <a:rPr sz="3200" spc="15" dirty="0">
                <a:latin typeface="Trebuchet MS"/>
                <a:cs typeface="Trebuchet MS"/>
              </a:rPr>
              <a:t> </a:t>
            </a:r>
            <a:r>
              <a:rPr sz="3200" spc="-45" dirty="0">
                <a:latin typeface="Trebuchet MS"/>
                <a:cs typeface="Trebuchet MS"/>
              </a:rPr>
              <a:t>property.</a:t>
            </a:r>
            <a:endParaRPr sz="3200">
              <a:latin typeface="Trebuchet MS"/>
              <a:cs typeface="Trebuchet MS"/>
            </a:endParaRPr>
          </a:p>
          <a:p>
            <a:pPr marL="711200" lvl="1" indent="-229235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711835" algn="l"/>
              </a:tabLst>
            </a:pPr>
            <a:r>
              <a:rPr sz="2800" dirty="0">
                <a:latin typeface="Trebuchet MS"/>
                <a:cs typeface="Trebuchet MS"/>
              </a:rPr>
              <a:t>?????</a:t>
            </a:r>
            <a:endParaRPr sz="2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158036" y="387553"/>
            <a:ext cx="10959465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chemeClr val="tx1"/>
                </a:solidFill>
              </a:rPr>
              <a:t>Greedy Solution </a:t>
            </a:r>
            <a:r>
              <a:rPr dirty="0">
                <a:solidFill>
                  <a:schemeClr val="tx1"/>
                </a:solidFill>
              </a:rPr>
              <a:t>- </a:t>
            </a:r>
            <a:r>
              <a:rPr spc="-5" dirty="0">
                <a:solidFill>
                  <a:schemeClr val="tx1"/>
                </a:solidFill>
              </a:rPr>
              <a:t>Fractional </a:t>
            </a:r>
            <a:r>
              <a:rPr dirty="0">
                <a:solidFill>
                  <a:schemeClr val="tx1"/>
                </a:solidFill>
              </a:rPr>
              <a:t>Knapsack</a:t>
            </a:r>
            <a:r>
              <a:rPr spc="-6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3" name="object 3"/>
          <p:cNvSpPr txBox="1"/>
          <p:nvPr/>
        </p:nvSpPr>
        <p:spPr>
          <a:xfrm>
            <a:off x="247091" y="1349705"/>
            <a:ext cx="11340465" cy="4727575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254000" marR="454025" indent="-228600" algn="just">
              <a:lnSpc>
                <a:spcPct val="90000"/>
              </a:lnSpc>
              <a:spcBef>
                <a:spcPts val="415"/>
              </a:spcBef>
              <a:buFont typeface="Arial"/>
              <a:buChar char="•"/>
              <a:tabLst>
                <a:tab pos="254000" algn="l"/>
              </a:tabLst>
            </a:pPr>
            <a:r>
              <a:rPr sz="2600" dirty="0">
                <a:latin typeface="Trebuchet MS"/>
                <a:cs typeface="Trebuchet MS"/>
              </a:rPr>
              <a:t>There </a:t>
            </a:r>
            <a:r>
              <a:rPr sz="2600" spc="-5" dirty="0">
                <a:latin typeface="Trebuchet MS"/>
                <a:cs typeface="Trebuchet MS"/>
              </a:rPr>
              <a:t>are </a:t>
            </a:r>
            <a:r>
              <a:rPr sz="2600" i="1" dirty="0">
                <a:latin typeface="Trebuchet MS"/>
                <a:cs typeface="Trebuchet MS"/>
              </a:rPr>
              <a:t>n </a:t>
            </a:r>
            <a:r>
              <a:rPr sz="2600" spc="-5" dirty="0">
                <a:latin typeface="Trebuchet MS"/>
                <a:cs typeface="Trebuchet MS"/>
              </a:rPr>
              <a:t>items </a:t>
            </a:r>
            <a:r>
              <a:rPr sz="2600" dirty="0">
                <a:latin typeface="Trebuchet MS"/>
                <a:cs typeface="Trebuchet MS"/>
              </a:rPr>
              <a:t>in a </a:t>
            </a:r>
            <a:r>
              <a:rPr sz="2600" spc="-5" dirty="0">
                <a:latin typeface="Trebuchet MS"/>
                <a:cs typeface="Trebuchet MS"/>
              </a:rPr>
              <a:t>store. </a:t>
            </a:r>
            <a:r>
              <a:rPr sz="2600" b="1" spc="-40" dirty="0">
                <a:latin typeface="Trebuchet MS"/>
                <a:cs typeface="Trebuchet MS"/>
              </a:rPr>
              <a:t>For </a:t>
            </a:r>
            <a:r>
              <a:rPr sz="2600" b="1" dirty="0">
                <a:latin typeface="Trebuchet MS"/>
                <a:cs typeface="Trebuchet MS"/>
              </a:rPr>
              <a:t>i =1,2, . . . , n</a:t>
            </a:r>
            <a:r>
              <a:rPr sz="2600" dirty="0">
                <a:latin typeface="Trebuchet MS"/>
                <a:cs typeface="Trebuchet MS"/>
              </a:rPr>
              <a:t>, </a:t>
            </a:r>
            <a:r>
              <a:rPr sz="2600" spc="-5" dirty="0">
                <a:latin typeface="Trebuchet MS"/>
                <a:cs typeface="Trebuchet MS"/>
              </a:rPr>
              <a:t>item </a:t>
            </a:r>
            <a:r>
              <a:rPr sz="2600" b="1" dirty="0">
                <a:latin typeface="Trebuchet MS"/>
                <a:cs typeface="Trebuchet MS"/>
              </a:rPr>
              <a:t>i </a:t>
            </a:r>
            <a:r>
              <a:rPr sz="2600" spc="-5" dirty="0">
                <a:latin typeface="Trebuchet MS"/>
                <a:cs typeface="Trebuchet MS"/>
              </a:rPr>
              <a:t>has weight </a:t>
            </a:r>
            <a:r>
              <a:rPr sz="2600" b="1" i="1" spc="5" dirty="0">
                <a:latin typeface="Trebuchet MS"/>
                <a:cs typeface="Trebuchet MS"/>
              </a:rPr>
              <a:t>w</a:t>
            </a:r>
            <a:r>
              <a:rPr sz="2550" b="1" i="1" spc="7" baseline="-21241" dirty="0">
                <a:latin typeface="Trebuchet MS"/>
                <a:cs typeface="Trebuchet MS"/>
              </a:rPr>
              <a:t>i </a:t>
            </a:r>
            <a:r>
              <a:rPr sz="2600" b="1" dirty="0">
                <a:latin typeface="Trebuchet MS"/>
                <a:cs typeface="Trebuchet MS"/>
              </a:rPr>
              <a:t>&gt;  </a:t>
            </a:r>
            <a:r>
              <a:rPr sz="2600" dirty="0">
                <a:latin typeface="Trebuchet MS"/>
                <a:cs typeface="Trebuchet MS"/>
              </a:rPr>
              <a:t>0 </a:t>
            </a:r>
            <a:r>
              <a:rPr sz="2600" spc="-5" dirty="0">
                <a:latin typeface="Trebuchet MS"/>
                <a:cs typeface="Trebuchet MS"/>
              </a:rPr>
              <a:t>and worth </a:t>
            </a:r>
            <a:r>
              <a:rPr sz="2600" b="1" i="1" dirty="0">
                <a:latin typeface="Trebuchet MS"/>
                <a:cs typeface="Trebuchet MS"/>
              </a:rPr>
              <a:t>v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dirty="0">
                <a:latin typeface="Trebuchet MS"/>
                <a:cs typeface="Trebuchet MS"/>
              </a:rPr>
              <a:t>&gt; 0</a:t>
            </a:r>
            <a:r>
              <a:rPr sz="2600" dirty="0">
                <a:latin typeface="Trebuchet MS"/>
                <a:cs typeface="Trebuchet MS"/>
              </a:rPr>
              <a:t>. Thief </a:t>
            </a:r>
            <a:r>
              <a:rPr sz="2600" spc="-5" dirty="0">
                <a:latin typeface="Trebuchet MS"/>
                <a:cs typeface="Trebuchet MS"/>
              </a:rPr>
              <a:t>can carry </a:t>
            </a:r>
            <a:r>
              <a:rPr sz="2600" dirty="0">
                <a:latin typeface="Trebuchet MS"/>
                <a:cs typeface="Trebuchet MS"/>
              </a:rPr>
              <a:t>a maximum </a:t>
            </a:r>
            <a:r>
              <a:rPr sz="2600" spc="-5" dirty="0">
                <a:latin typeface="Trebuchet MS"/>
                <a:cs typeface="Trebuchet MS"/>
              </a:rPr>
              <a:t>weight </a:t>
            </a:r>
            <a:r>
              <a:rPr sz="2600" dirty="0">
                <a:latin typeface="Trebuchet MS"/>
                <a:cs typeface="Trebuchet MS"/>
              </a:rPr>
              <a:t>of </a:t>
            </a:r>
            <a:r>
              <a:rPr sz="2600" i="1" dirty="0">
                <a:latin typeface="Trebuchet MS"/>
                <a:cs typeface="Trebuchet MS"/>
              </a:rPr>
              <a:t>W </a:t>
            </a:r>
            <a:r>
              <a:rPr sz="2600" spc="-5" dirty="0">
                <a:latin typeface="Trebuchet MS"/>
                <a:cs typeface="Trebuchet MS"/>
              </a:rPr>
              <a:t>pounds in </a:t>
            </a:r>
            <a:r>
              <a:rPr sz="2600" dirty="0">
                <a:latin typeface="Trebuchet MS"/>
                <a:cs typeface="Trebuchet MS"/>
              </a:rPr>
              <a:t>a  </a:t>
            </a:r>
            <a:r>
              <a:rPr sz="2600" spc="-5" dirty="0">
                <a:latin typeface="Trebuchet MS"/>
                <a:cs typeface="Trebuchet MS"/>
              </a:rPr>
              <a:t>knapsack.</a:t>
            </a:r>
            <a:endParaRPr sz="2600">
              <a:latin typeface="Trebuchet MS"/>
              <a:cs typeface="Trebuchet MS"/>
            </a:endParaRPr>
          </a:p>
          <a:p>
            <a:pPr marL="254000" marR="17780" indent="-228600" algn="just">
              <a:lnSpc>
                <a:spcPts val="2810"/>
              </a:lnSpc>
              <a:spcBef>
                <a:spcPts val="1050"/>
              </a:spcBef>
              <a:buFont typeface="Arial"/>
              <a:buChar char="•"/>
              <a:tabLst>
                <a:tab pos="254000" algn="l"/>
              </a:tabLst>
            </a:pPr>
            <a:r>
              <a:rPr sz="2600" spc="-5" dirty="0">
                <a:latin typeface="Trebuchet MS"/>
                <a:cs typeface="Trebuchet MS"/>
              </a:rPr>
              <a:t>In this version </a:t>
            </a:r>
            <a:r>
              <a:rPr sz="2600" dirty="0">
                <a:latin typeface="Trebuchet MS"/>
                <a:cs typeface="Trebuchet MS"/>
              </a:rPr>
              <a:t>of a </a:t>
            </a:r>
            <a:r>
              <a:rPr sz="2600" spc="-5" dirty="0">
                <a:latin typeface="Trebuchet MS"/>
                <a:cs typeface="Trebuchet MS"/>
              </a:rPr>
              <a:t>problem the items can be broken into </a:t>
            </a:r>
            <a:r>
              <a:rPr sz="2600" dirty="0">
                <a:latin typeface="Trebuchet MS"/>
                <a:cs typeface="Trebuchet MS"/>
              </a:rPr>
              <a:t>smaller </a:t>
            </a:r>
            <a:r>
              <a:rPr sz="2600" spc="-5" dirty="0">
                <a:latin typeface="Trebuchet MS"/>
                <a:cs typeface="Trebuchet MS"/>
              </a:rPr>
              <a:t>piece, </a:t>
            </a:r>
            <a:r>
              <a:rPr sz="2600" dirty="0">
                <a:latin typeface="Trebuchet MS"/>
                <a:cs typeface="Trebuchet MS"/>
              </a:rPr>
              <a:t>so  </a:t>
            </a:r>
            <a:r>
              <a:rPr sz="2600" spc="-5" dirty="0">
                <a:latin typeface="Trebuchet MS"/>
                <a:cs typeface="Trebuchet MS"/>
              </a:rPr>
              <a:t>the thief may decide </a:t>
            </a:r>
            <a:r>
              <a:rPr sz="2600" dirty="0">
                <a:latin typeface="Trebuchet MS"/>
                <a:cs typeface="Trebuchet MS"/>
              </a:rPr>
              <a:t>to </a:t>
            </a:r>
            <a:r>
              <a:rPr sz="2600" spc="-5" dirty="0">
                <a:latin typeface="Trebuchet MS"/>
                <a:cs typeface="Trebuchet MS"/>
              </a:rPr>
              <a:t>carry </a:t>
            </a:r>
            <a:r>
              <a:rPr sz="2600" dirty="0">
                <a:latin typeface="Trebuchet MS"/>
                <a:cs typeface="Trebuchet MS"/>
              </a:rPr>
              <a:t>only a </a:t>
            </a:r>
            <a:r>
              <a:rPr sz="2600" spc="-5" dirty="0">
                <a:latin typeface="Trebuchet MS"/>
                <a:cs typeface="Trebuchet MS"/>
              </a:rPr>
              <a:t>fraction </a:t>
            </a:r>
            <a:r>
              <a:rPr sz="2600" i="1" spc="5" dirty="0">
                <a:latin typeface="Trebuchet MS"/>
                <a:cs typeface="Trebuchet MS"/>
              </a:rPr>
              <a:t>x</a:t>
            </a:r>
            <a:r>
              <a:rPr sz="2550" i="1" spc="7" baseline="-21241" dirty="0">
                <a:latin typeface="Trebuchet MS"/>
                <a:cs typeface="Trebuchet MS"/>
              </a:rPr>
              <a:t>i </a:t>
            </a:r>
            <a:r>
              <a:rPr sz="2600" dirty="0">
                <a:latin typeface="Trebuchet MS"/>
                <a:cs typeface="Trebuchet MS"/>
              </a:rPr>
              <a:t>of object </a:t>
            </a:r>
            <a:r>
              <a:rPr sz="2600" i="1" dirty="0">
                <a:latin typeface="Trebuchet MS"/>
                <a:cs typeface="Trebuchet MS"/>
              </a:rPr>
              <a:t>i</a:t>
            </a:r>
            <a:r>
              <a:rPr sz="2600" dirty="0">
                <a:latin typeface="Trebuchet MS"/>
                <a:cs typeface="Trebuchet MS"/>
              </a:rPr>
              <a:t>, </a:t>
            </a:r>
            <a:r>
              <a:rPr sz="2600" spc="-5" dirty="0">
                <a:latin typeface="Trebuchet MS"/>
                <a:cs typeface="Trebuchet MS"/>
              </a:rPr>
              <a:t>where </a:t>
            </a:r>
            <a:r>
              <a:rPr sz="2600" b="1" dirty="0">
                <a:latin typeface="Trebuchet MS"/>
                <a:cs typeface="Trebuchet MS"/>
              </a:rPr>
              <a:t>0 ≤ </a:t>
            </a:r>
            <a:r>
              <a:rPr sz="2600" b="1" spc="5" dirty="0">
                <a:latin typeface="Trebuchet MS"/>
                <a:cs typeface="Trebuchet MS"/>
              </a:rPr>
              <a:t>x</a:t>
            </a:r>
            <a:r>
              <a:rPr sz="2550" b="1" spc="7" baseline="-21241" dirty="0">
                <a:latin typeface="Trebuchet MS"/>
                <a:cs typeface="Trebuchet MS"/>
              </a:rPr>
              <a:t>i</a:t>
            </a:r>
            <a:r>
              <a:rPr sz="2550" b="1" spc="67" baseline="-21241" dirty="0">
                <a:latin typeface="Trebuchet MS"/>
                <a:cs typeface="Trebuchet MS"/>
              </a:rPr>
              <a:t> </a:t>
            </a:r>
            <a:r>
              <a:rPr sz="2600" b="1" dirty="0">
                <a:latin typeface="Trebuchet MS"/>
                <a:cs typeface="Trebuchet MS"/>
              </a:rPr>
              <a:t>≤</a:t>
            </a:r>
            <a:endParaRPr sz="2600">
              <a:latin typeface="Trebuchet MS"/>
              <a:cs typeface="Trebuchet MS"/>
            </a:endParaRPr>
          </a:p>
          <a:p>
            <a:pPr marL="668020" lvl="1" indent="-414655" algn="just">
              <a:lnSpc>
                <a:spcPts val="2610"/>
              </a:lnSpc>
              <a:buFont typeface="Trebuchet MS"/>
              <a:buAutoNum type="arabicPeriod"/>
              <a:tabLst>
                <a:tab pos="668655" algn="l"/>
              </a:tabLst>
            </a:pPr>
            <a:r>
              <a:rPr sz="2600" spc="-5" dirty="0">
                <a:latin typeface="Trebuchet MS"/>
                <a:cs typeface="Trebuchet MS"/>
              </a:rPr>
              <a:t>Item </a:t>
            </a:r>
            <a:r>
              <a:rPr sz="2600" b="1" i="1" dirty="0">
                <a:latin typeface="Trebuchet MS"/>
                <a:cs typeface="Trebuchet MS"/>
              </a:rPr>
              <a:t>i </a:t>
            </a:r>
            <a:r>
              <a:rPr sz="2600" spc="-5" dirty="0">
                <a:latin typeface="Trebuchet MS"/>
                <a:cs typeface="Trebuchet MS"/>
              </a:rPr>
              <a:t>contributes </a:t>
            </a:r>
            <a:r>
              <a:rPr sz="2600" b="1" i="1" dirty="0">
                <a:latin typeface="Trebuchet MS"/>
                <a:cs typeface="Trebuchet MS"/>
              </a:rPr>
              <a:t>x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i="1" dirty="0">
                <a:latin typeface="Trebuchet MS"/>
                <a:cs typeface="Trebuchet MS"/>
              </a:rPr>
              <a:t>w</a:t>
            </a:r>
            <a:r>
              <a:rPr sz="2550" b="1" i="1" baseline="-21241" dirty="0">
                <a:latin typeface="Trebuchet MS"/>
                <a:cs typeface="Trebuchet MS"/>
              </a:rPr>
              <a:t>i </a:t>
            </a:r>
            <a:r>
              <a:rPr sz="2600" spc="-5" dirty="0">
                <a:latin typeface="Trebuchet MS"/>
                <a:cs typeface="Trebuchet MS"/>
              </a:rPr>
              <a:t>to the total weight in the knapsack, and </a:t>
            </a:r>
            <a:r>
              <a:rPr sz="2600" b="1" i="1" dirty="0">
                <a:latin typeface="Trebuchet MS"/>
                <a:cs typeface="Trebuchet MS"/>
              </a:rPr>
              <a:t>x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i="1" dirty="0">
                <a:latin typeface="Trebuchet MS"/>
                <a:cs typeface="Trebuchet MS"/>
              </a:rPr>
              <a:t>v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550" b="1" i="1" spc="135" baseline="-21241" dirty="0">
                <a:latin typeface="Trebuchet MS"/>
                <a:cs typeface="Trebuchet MS"/>
              </a:rPr>
              <a:t> </a:t>
            </a:r>
            <a:r>
              <a:rPr sz="2600" spc="-5" dirty="0">
                <a:latin typeface="Trebuchet MS"/>
                <a:cs typeface="Trebuchet MS"/>
              </a:rPr>
              <a:t>to</a:t>
            </a:r>
            <a:endParaRPr sz="2600">
              <a:latin typeface="Trebuchet MS"/>
              <a:cs typeface="Trebuchet MS"/>
            </a:endParaRPr>
          </a:p>
          <a:p>
            <a:pPr marL="254000" algn="just">
              <a:lnSpc>
                <a:spcPts val="2965"/>
              </a:lnSpc>
            </a:pPr>
            <a:r>
              <a:rPr sz="2600" spc="-5" dirty="0">
                <a:latin typeface="Trebuchet MS"/>
                <a:cs typeface="Trebuchet MS"/>
              </a:rPr>
              <a:t>the </a:t>
            </a:r>
            <a:r>
              <a:rPr sz="2600" dirty="0">
                <a:latin typeface="Trebuchet MS"/>
                <a:cs typeface="Trebuchet MS"/>
              </a:rPr>
              <a:t>value </a:t>
            </a:r>
            <a:r>
              <a:rPr sz="2600" spc="-5" dirty="0">
                <a:latin typeface="Trebuchet MS"/>
                <a:cs typeface="Trebuchet MS"/>
              </a:rPr>
              <a:t>of </a:t>
            </a:r>
            <a:r>
              <a:rPr sz="2600" dirty="0">
                <a:latin typeface="Trebuchet MS"/>
                <a:cs typeface="Trebuchet MS"/>
              </a:rPr>
              <a:t>the</a:t>
            </a:r>
            <a:r>
              <a:rPr sz="2600" spc="-15" dirty="0">
                <a:latin typeface="Trebuchet MS"/>
                <a:cs typeface="Trebuchet MS"/>
              </a:rPr>
              <a:t> </a:t>
            </a:r>
            <a:r>
              <a:rPr sz="2600" spc="-5" dirty="0">
                <a:latin typeface="Trebuchet MS"/>
                <a:cs typeface="Trebuchet MS"/>
              </a:rPr>
              <a:t>load.</a:t>
            </a:r>
            <a:endParaRPr sz="2600">
              <a:latin typeface="Trebuchet MS"/>
              <a:cs typeface="Trebuchet MS"/>
            </a:endParaRPr>
          </a:p>
          <a:p>
            <a:pPr marL="254000" marR="1113155" indent="-228600">
              <a:lnSpc>
                <a:spcPts val="2810"/>
              </a:lnSpc>
              <a:spcBef>
                <a:spcPts val="1035"/>
              </a:spcBef>
              <a:buFont typeface="Arial"/>
              <a:buChar char="•"/>
              <a:tabLst>
                <a:tab pos="254000" algn="l"/>
              </a:tabLst>
            </a:pPr>
            <a:r>
              <a:rPr sz="2600" spc="-5" dirty="0">
                <a:latin typeface="Trebuchet MS"/>
                <a:cs typeface="Trebuchet MS"/>
              </a:rPr>
              <a:t>In Symbol, the fraction knapsack problem can be </a:t>
            </a:r>
            <a:r>
              <a:rPr sz="2600" dirty="0">
                <a:latin typeface="Trebuchet MS"/>
                <a:cs typeface="Trebuchet MS"/>
              </a:rPr>
              <a:t>stated </a:t>
            </a:r>
            <a:r>
              <a:rPr sz="2600" spc="-5" dirty="0">
                <a:latin typeface="Trebuchet MS"/>
                <a:cs typeface="Trebuchet MS"/>
              </a:rPr>
              <a:t>as follows.  maximize </a:t>
            </a:r>
            <a:r>
              <a:rPr sz="2550" b="1" spc="7" baseline="26143" dirty="0">
                <a:latin typeface="Trebuchet MS"/>
                <a:cs typeface="Trebuchet MS"/>
              </a:rPr>
              <a:t>n</a:t>
            </a:r>
            <a:r>
              <a:rPr sz="2600" b="1" spc="5" dirty="0">
                <a:latin typeface="Trebuchet MS"/>
                <a:cs typeface="Trebuchet MS"/>
              </a:rPr>
              <a:t>S</a:t>
            </a:r>
            <a:r>
              <a:rPr sz="2550" b="1" spc="7" baseline="-21241" dirty="0">
                <a:latin typeface="Trebuchet MS"/>
                <a:cs typeface="Trebuchet MS"/>
              </a:rPr>
              <a:t>i=1 </a:t>
            </a:r>
            <a:r>
              <a:rPr sz="2600" b="1" i="1" dirty="0">
                <a:latin typeface="Trebuchet MS"/>
                <a:cs typeface="Trebuchet MS"/>
              </a:rPr>
              <a:t>x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i="1" dirty="0">
                <a:latin typeface="Trebuchet MS"/>
                <a:cs typeface="Trebuchet MS"/>
              </a:rPr>
              <a:t>v</a:t>
            </a:r>
            <a:r>
              <a:rPr sz="2550" b="1" i="1" baseline="-21241" dirty="0">
                <a:latin typeface="Trebuchet MS"/>
                <a:cs typeface="Trebuchet MS"/>
              </a:rPr>
              <a:t>i </a:t>
            </a:r>
            <a:r>
              <a:rPr sz="2600" dirty="0">
                <a:latin typeface="Trebuchet MS"/>
                <a:cs typeface="Trebuchet MS"/>
              </a:rPr>
              <a:t>subject to </a:t>
            </a:r>
            <a:r>
              <a:rPr sz="2600" spc="-5" dirty="0">
                <a:latin typeface="Trebuchet MS"/>
                <a:cs typeface="Trebuchet MS"/>
              </a:rPr>
              <a:t>constraint </a:t>
            </a:r>
            <a:r>
              <a:rPr sz="2550" b="1" spc="7" baseline="26143" dirty="0">
                <a:latin typeface="Trebuchet MS"/>
                <a:cs typeface="Trebuchet MS"/>
              </a:rPr>
              <a:t>n</a:t>
            </a:r>
            <a:r>
              <a:rPr sz="2600" b="1" spc="5" dirty="0">
                <a:latin typeface="Trebuchet MS"/>
                <a:cs typeface="Trebuchet MS"/>
              </a:rPr>
              <a:t>S</a:t>
            </a:r>
            <a:r>
              <a:rPr sz="2550" b="1" spc="7" baseline="-21241" dirty="0">
                <a:latin typeface="Trebuchet MS"/>
                <a:cs typeface="Trebuchet MS"/>
              </a:rPr>
              <a:t>i=1 </a:t>
            </a:r>
            <a:r>
              <a:rPr sz="2600" b="1" i="1" dirty="0">
                <a:latin typeface="Trebuchet MS"/>
                <a:cs typeface="Trebuchet MS"/>
              </a:rPr>
              <a:t>x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i="1" dirty="0">
                <a:latin typeface="Trebuchet MS"/>
                <a:cs typeface="Trebuchet MS"/>
              </a:rPr>
              <a:t>w</a:t>
            </a:r>
            <a:r>
              <a:rPr sz="2550" b="1" i="1" baseline="-21241" dirty="0">
                <a:latin typeface="Trebuchet MS"/>
                <a:cs typeface="Trebuchet MS"/>
              </a:rPr>
              <a:t>i </a:t>
            </a:r>
            <a:r>
              <a:rPr sz="2600" b="1" i="1" dirty="0">
                <a:latin typeface="Trebuchet MS"/>
                <a:cs typeface="Trebuchet MS"/>
              </a:rPr>
              <a:t>≤</a:t>
            </a:r>
            <a:r>
              <a:rPr sz="2600" b="1" i="1" spc="-520" dirty="0">
                <a:latin typeface="Trebuchet MS"/>
                <a:cs typeface="Trebuchet MS"/>
              </a:rPr>
              <a:t> </a:t>
            </a:r>
            <a:r>
              <a:rPr sz="2600" b="1" i="1" spc="5" dirty="0">
                <a:latin typeface="Trebuchet MS"/>
                <a:cs typeface="Trebuchet MS"/>
              </a:rPr>
              <a:t>W</a:t>
            </a:r>
            <a:endParaRPr sz="2600">
              <a:latin typeface="Trebuchet MS"/>
              <a:cs typeface="Trebuchet MS"/>
            </a:endParaRPr>
          </a:p>
          <a:p>
            <a:pPr marL="254000" marR="265430" indent="-228600">
              <a:lnSpc>
                <a:spcPts val="2810"/>
              </a:lnSpc>
              <a:spcBef>
                <a:spcPts val="994"/>
              </a:spcBef>
              <a:buFont typeface="Arial"/>
              <a:buChar char="•"/>
              <a:tabLst>
                <a:tab pos="254000" algn="l"/>
              </a:tabLst>
            </a:pPr>
            <a:r>
              <a:rPr sz="2600" spc="-5" dirty="0">
                <a:latin typeface="Trebuchet MS"/>
                <a:cs typeface="Trebuchet MS"/>
              </a:rPr>
              <a:t>It is clear that an </a:t>
            </a:r>
            <a:r>
              <a:rPr sz="2600" dirty="0">
                <a:latin typeface="Trebuchet MS"/>
                <a:cs typeface="Trebuchet MS"/>
              </a:rPr>
              <a:t>optimal solution </a:t>
            </a:r>
            <a:r>
              <a:rPr sz="2600" spc="-5" dirty="0">
                <a:latin typeface="Trebuchet MS"/>
                <a:cs typeface="Trebuchet MS"/>
              </a:rPr>
              <a:t>must </a:t>
            </a:r>
            <a:r>
              <a:rPr sz="2600" dirty="0">
                <a:latin typeface="Trebuchet MS"/>
                <a:cs typeface="Trebuchet MS"/>
              </a:rPr>
              <a:t>fill </a:t>
            </a:r>
            <a:r>
              <a:rPr sz="2600" spc="-5" dirty="0">
                <a:latin typeface="Trebuchet MS"/>
                <a:cs typeface="Trebuchet MS"/>
              </a:rPr>
              <a:t>the knapsack </a:t>
            </a:r>
            <a:r>
              <a:rPr sz="2600" spc="-40" dirty="0">
                <a:latin typeface="Trebuchet MS"/>
                <a:cs typeface="Trebuchet MS"/>
              </a:rPr>
              <a:t>exactly, </a:t>
            </a:r>
            <a:r>
              <a:rPr sz="2600" spc="-5" dirty="0">
                <a:latin typeface="Trebuchet MS"/>
                <a:cs typeface="Trebuchet MS"/>
              </a:rPr>
              <a:t>for  otherwise we could add </a:t>
            </a:r>
            <a:r>
              <a:rPr sz="2600" dirty="0">
                <a:latin typeface="Trebuchet MS"/>
                <a:cs typeface="Trebuchet MS"/>
              </a:rPr>
              <a:t>a </a:t>
            </a:r>
            <a:r>
              <a:rPr sz="2600" spc="-5" dirty="0">
                <a:latin typeface="Trebuchet MS"/>
                <a:cs typeface="Trebuchet MS"/>
              </a:rPr>
              <a:t>fraction </a:t>
            </a:r>
            <a:r>
              <a:rPr sz="2600" dirty="0">
                <a:latin typeface="Trebuchet MS"/>
                <a:cs typeface="Trebuchet MS"/>
              </a:rPr>
              <a:t>of one of </a:t>
            </a:r>
            <a:r>
              <a:rPr sz="2600" spc="-5" dirty="0">
                <a:latin typeface="Trebuchet MS"/>
                <a:cs typeface="Trebuchet MS"/>
              </a:rPr>
              <a:t>the remaining objects and  increase the </a:t>
            </a:r>
            <a:r>
              <a:rPr sz="2600" dirty="0">
                <a:latin typeface="Trebuchet MS"/>
                <a:cs typeface="Trebuchet MS"/>
              </a:rPr>
              <a:t>value </a:t>
            </a:r>
            <a:r>
              <a:rPr sz="2600" spc="-5" dirty="0">
                <a:latin typeface="Trebuchet MS"/>
                <a:cs typeface="Trebuchet MS"/>
              </a:rPr>
              <a:t>of </a:t>
            </a:r>
            <a:r>
              <a:rPr sz="2600" dirty="0">
                <a:latin typeface="Trebuchet MS"/>
                <a:cs typeface="Trebuchet MS"/>
              </a:rPr>
              <a:t>the </a:t>
            </a:r>
            <a:r>
              <a:rPr sz="2600" spc="-5" dirty="0">
                <a:latin typeface="Trebuchet MS"/>
                <a:cs typeface="Trebuchet MS"/>
              </a:rPr>
              <a:t>load. </a:t>
            </a:r>
            <a:r>
              <a:rPr sz="2600" dirty="0">
                <a:latin typeface="Trebuchet MS"/>
                <a:cs typeface="Trebuchet MS"/>
              </a:rPr>
              <a:t>Thus </a:t>
            </a:r>
            <a:r>
              <a:rPr sz="2600" spc="-5" dirty="0">
                <a:latin typeface="Trebuchet MS"/>
                <a:cs typeface="Trebuchet MS"/>
              </a:rPr>
              <a:t>in an optimal </a:t>
            </a:r>
            <a:r>
              <a:rPr sz="2600" dirty="0">
                <a:latin typeface="Trebuchet MS"/>
                <a:cs typeface="Trebuchet MS"/>
              </a:rPr>
              <a:t>solution </a:t>
            </a:r>
            <a:r>
              <a:rPr sz="2550" b="1" spc="7" baseline="26143" dirty="0">
                <a:latin typeface="Trebuchet MS"/>
                <a:cs typeface="Trebuchet MS"/>
              </a:rPr>
              <a:t>n</a:t>
            </a:r>
            <a:r>
              <a:rPr sz="2600" b="1" spc="5" dirty="0">
                <a:latin typeface="Trebuchet MS"/>
                <a:cs typeface="Trebuchet MS"/>
              </a:rPr>
              <a:t>S</a:t>
            </a:r>
            <a:r>
              <a:rPr sz="2550" b="1" spc="7" baseline="-21241" dirty="0">
                <a:latin typeface="Trebuchet MS"/>
                <a:cs typeface="Trebuchet MS"/>
              </a:rPr>
              <a:t>i=1 </a:t>
            </a:r>
            <a:r>
              <a:rPr sz="2600" b="1" i="1" dirty="0">
                <a:latin typeface="Trebuchet MS"/>
                <a:cs typeface="Trebuchet MS"/>
              </a:rPr>
              <a:t>x</a:t>
            </a:r>
            <a:r>
              <a:rPr sz="2550" b="1" i="1" baseline="-21241" dirty="0">
                <a:latin typeface="Trebuchet MS"/>
                <a:cs typeface="Trebuchet MS"/>
              </a:rPr>
              <a:t>i</a:t>
            </a:r>
            <a:r>
              <a:rPr sz="2600" b="1" i="1" dirty="0">
                <a:latin typeface="Trebuchet MS"/>
                <a:cs typeface="Trebuchet MS"/>
              </a:rPr>
              <a:t>w</a:t>
            </a:r>
            <a:r>
              <a:rPr sz="2550" b="1" i="1" baseline="-21241" dirty="0">
                <a:latin typeface="Trebuchet MS"/>
                <a:cs typeface="Trebuchet MS"/>
              </a:rPr>
              <a:t>i </a:t>
            </a:r>
            <a:r>
              <a:rPr sz="2600" b="1" i="1" dirty="0">
                <a:latin typeface="Trebuchet MS"/>
                <a:cs typeface="Trebuchet MS"/>
              </a:rPr>
              <a:t>=</a:t>
            </a:r>
            <a:r>
              <a:rPr sz="2600" b="1" i="1" spc="-250" dirty="0">
                <a:latin typeface="Trebuchet MS"/>
                <a:cs typeface="Trebuchet MS"/>
              </a:rPr>
              <a:t> </a:t>
            </a:r>
            <a:r>
              <a:rPr sz="2600" b="1" i="1" spc="-225" dirty="0">
                <a:latin typeface="Trebuchet MS"/>
                <a:cs typeface="Trebuchet MS"/>
              </a:rPr>
              <a:t>W.</a:t>
            </a:r>
            <a:endParaRPr sz="26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34391" y="14995"/>
            <a:ext cx="11903075" cy="2937407"/>
          </a:xfrm>
          <a:prstGeom prst="rect">
            <a:avLst/>
          </a:prstGeom>
        </p:spPr>
        <p:txBody>
          <a:bodyPr vert="horz" wrap="square" lIns="0" tIns="385445" rIns="0" bIns="0" rtlCol="0">
            <a:spAutoFit/>
          </a:bodyPr>
          <a:lstStyle/>
          <a:p>
            <a:pPr marL="6561455">
              <a:lnSpc>
                <a:spcPct val="100000"/>
              </a:lnSpc>
              <a:spcBef>
                <a:spcPts val="3035"/>
              </a:spcBef>
            </a:pPr>
            <a:r>
              <a:rPr sz="4500" dirty="0">
                <a:latin typeface="Impact"/>
                <a:cs typeface="Impact"/>
              </a:rPr>
              <a:t>The </a:t>
            </a:r>
            <a:r>
              <a:rPr sz="4500" spc="-5" dirty="0">
                <a:latin typeface="Impact"/>
                <a:cs typeface="Impact"/>
              </a:rPr>
              <a:t>knapsack</a:t>
            </a:r>
            <a:r>
              <a:rPr sz="4500" spc="-105" dirty="0">
                <a:latin typeface="Impact"/>
                <a:cs typeface="Impact"/>
              </a:rPr>
              <a:t> </a:t>
            </a:r>
            <a:r>
              <a:rPr sz="4500" spc="-5" dirty="0">
                <a:latin typeface="Impact"/>
                <a:cs typeface="Impact"/>
              </a:rPr>
              <a:t>problem</a:t>
            </a:r>
            <a:endParaRPr sz="4500" dirty="0">
              <a:latin typeface="Impact"/>
              <a:cs typeface="Impact"/>
            </a:endParaRPr>
          </a:p>
          <a:p>
            <a:pPr marL="266700" indent="-228600">
              <a:lnSpc>
                <a:spcPct val="100000"/>
              </a:lnSpc>
              <a:spcBef>
                <a:spcPts val="2095"/>
              </a:spcBef>
              <a:buFont typeface="Arial"/>
              <a:buChar char="•"/>
              <a:tabLst>
                <a:tab pos="266700" algn="l"/>
              </a:tabLst>
            </a:pPr>
            <a:r>
              <a:rPr sz="3200" b="1" dirty="0">
                <a:latin typeface="Trebuchet MS"/>
                <a:cs typeface="Trebuchet MS"/>
              </a:rPr>
              <a:t>n </a:t>
            </a:r>
            <a:r>
              <a:rPr sz="3200" dirty="0">
                <a:latin typeface="Trebuchet MS"/>
                <a:cs typeface="Trebuchet MS"/>
              </a:rPr>
              <a:t>objects, each with a weight </a:t>
            </a:r>
            <a:r>
              <a:rPr sz="3200" spc="5" dirty="0">
                <a:latin typeface="Trebuchet MS"/>
                <a:cs typeface="Trebuchet MS"/>
              </a:rPr>
              <a:t>w</a:t>
            </a:r>
            <a:r>
              <a:rPr sz="3150" spc="7" baseline="-25132" dirty="0">
                <a:latin typeface="Trebuchet MS"/>
                <a:cs typeface="Trebuchet MS"/>
              </a:rPr>
              <a:t>i  </a:t>
            </a:r>
            <a:r>
              <a:rPr sz="3200" dirty="0">
                <a:latin typeface="Trebuchet MS"/>
                <a:cs typeface="Trebuchet MS"/>
              </a:rPr>
              <a:t>&gt;</a:t>
            </a:r>
            <a:r>
              <a:rPr sz="3200" spc="-400" dirty="0">
                <a:latin typeface="Trebuchet MS"/>
                <a:cs typeface="Trebuchet MS"/>
              </a:rPr>
              <a:t> </a:t>
            </a:r>
            <a:r>
              <a:rPr sz="3200" dirty="0">
                <a:latin typeface="Trebuchet MS"/>
                <a:cs typeface="Trebuchet MS"/>
              </a:rPr>
              <a:t>0</a:t>
            </a:r>
          </a:p>
          <a:p>
            <a:pPr marL="2781300" marR="4745990" indent="1281430">
              <a:lnSpc>
                <a:spcPct val="115900"/>
              </a:lnSpc>
              <a:spcBef>
                <a:spcPts val="5"/>
              </a:spcBef>
            </a:pPr>
            <a:r>
              <a:rPr sz="3200" dirty="0">
                <a:latin typeface="Trebuchet MS"/>
                <a:cs typeface="Trebuchet MS"/>
              </a:rPr>
              <a:t>a </a:t>
            </a:r>
            <a:r>
              <a:rPr sz="3200" spc="-5" dirty="0">
                <a:latin typeface="Trebuchet MS"/>
                <a:cs typeface="Trebuchet MS"/>
              </a:rPr>
              <a:t>profit </a:t>
            </a:r>
            <a:r>
              <a:rPr lang="en-US" sz="3200" spc="-5" dirty="0">
                <a:latin typeface="Trebuchet MS"/>
                <a:cs typeface="Trebuchet MS"/>
              </a:rPr>
              <a:t>V</a:t>
            </a:r>
            <a:r>
              <a:rPr sz="3150" spc="15" baseline="-25132" dirty="0">
                <a:latin typeface="Trebuchet MS"/>
                <a:cs typeface="Trebuchet MS"/>
              </a:rPr>
              <a:t>i </a:t>
            </a:r>
            <a:r>
              <a:rPr sz="3200" dirty="0">
                <a:latin typeface="Trebuchet MS"/>
                <a:cs typeface="Trebuchet MS"/>
              </a:rPr>
              <a:t>&gt; 0  </a:t>
            </a:r>
            <a:r>
              <a:rPr sz="3200" spc="-5" dirty="0">
                <a:latin typeface="Trebuchet MS"/>
                <a:cs typeface="Trebuchet MS"/>
              </a:rPr>
              <a:t>capacity </a:t>
            </a:r>
            <a:r>
              <a:rPr sz="3200" dirty="0">
                <a:latin typeface="Trebuchet MS"/>
                <a:cs typeface="Trebuchet MS"/>
              </a:rPr>
              <a:t>of </a:t>
            </a:r>
            <a:r>
              <a:rPr sz="3200" dirty="0" err="1">
                <a:latin typeface="Trebuchet MS"/>
                <a:cs typeface="Trebuchet MS"/>
              </a:rPr>
              <a:t>knapsack:</a:t>
            </a:r>
            <a:r>
              <a:rPr lang="en-US" sz="3200" spc="-45" dirty="0" err="1">
                <a:latin typeface="Trebuchet MS"/>
                <a:cs typeface="Trebuchet MS"/>
              </a:rPr>
              <a:t>W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3" name="object 3"/>
          <p:cNvSpPr txBox="1"/>
          <p:nvPr/>
        </p:nvSpPr>
        <p:spPr>
          <a:xfrm>
            <a:off x="259791" y="3603116"/>
            <a:ext cx="171513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5" dirty="0">
                <a:latin typeface="Trebuchet MS"/>
                <a:cs typeface="Trebuchet MS"/>
              </a:rPr>
              <a:t>Maximize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34391" y="4657242"/>
            <a:ext cx="3707129" cy="115951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720"/>
              </a:spcBef>
            </a:pPr>
            <a:r>
              <a:rPr sz="3200" dirty="0">
                <a:latin typeface="Trebuchet MS"/>
                <a:cs typeface="Trebuchet MS"/>
              </a:rPr>
              <a:t>Subject</a:t>
            </a:r>
            <a:r>
              <a:rPr sz="3200" spc="-10" dirty="0">
                <a:latin typeface="Trebuchet MS"/>
                <a:cs typeface="Trebuchet MS"/>
              </a:rPr>
              <a:t> </a:t>
            </a:r>
            <a:r>
              <a:rPr sz="3200" dirty="0">
                <a:latin typeface="Trebuchet MS"/>
                <a:cs typeface="Trebuchet MS"/>
              </a:rPr>
              <a:t>to</a:t>
            </a:r>
            <a:endParaRPr sz="3200">
              <a:latin typeface="Trebuchet MS"/>
              <a:cs typeface="Trebuchet MS"/>
            </a:endParaRPr>
          </a:p>
          <a:p>
            <a:pPr marL="266700">
              <a:lnSpc>
                <a:spcPct val="100000"/>
              </a:lnSpc>
              <a:spcBef>
                <a:spcPts val="625"/>
              </a:spcBef>
            </a:pPr>
            <a:r>
              <a:rPr sz="3200" dirty="0">
                <a:latin typeface="Trebuchet MS"/>
                <a:cs typeface="Trebuchet MS"/>
              </a:rPr>
              <a:t>0 </a:t>
            </a:r>
            <a:r>
              <a:rPr sz="3200" dirty="0">
                <a:latin typeface="Symbol"/>
                <a:cs typeface="Symbol"/>
              </a:rPr>
              <a:t></a:t>
            </a:r>
            <a:r>
              <a:rPr sz="3200" dirty="0">
                <a:latin typeface="Times New Roman"/>
                <a:cs typeface="Times New Roman"/>
              </a:rPr>
              <a:t> </a:t>
            </a:r>
            <a:r>
              <a:rPr sz="3200" spc="5" dirty="0">
                <a:latin typeface="Trebuchet MS"/>
                <a:cs typeface="Trebuchet MS"/>
              </a:rPr>
              <a:t>x</a:t>
            </a:r>
            <a:r>
              <a:rPr sz="3150" spc="7" baseline="-25132" dirty="0">
                <a:latin typeface="Trebuchet MS"/>
                <a:cs typeface="Trebuchet MS"/>
              </a:rPr>
              <a:t>i </a:t>
            </a:r>
            <a:r>
              <a:rPr sz="3200" dirty="0">
                <a:latin typeface="Symbol"/>
                <a:cs typeface="Symbol"/>
              </a:rPr>
              <a:t></a:t>
            </a:r>
            <a:r>
              <a:rPr sz="3200" dirty="0">
                <a:latin typeface="Times New Roman"/>
                <a:cs typeface="Times New Roman"/>
              </a:rPr>
              <a:t> </a:t>
            </a:r>
            <a:r>
              <a:rPr sz="3200" spc="-5" dirty="0">
                <a:latin typeface="Trebuchet MS"/>
                <a:cs typeface="Trebuchet MS"/>
              </a:rPr>
              <a:t>1, </a:t>
            </a:r>
            <a:r>
              <a:rPr sz="3200" dirty="0">
                <a:latin typeface="Trebuchet MS"/>
                <a:cs typeface="Trebuchet MS"/>
              </a:rPr>
              <a:t>1 </a:t>
            </a:r>
            <a:r>
              <a:rPr sz="3200" dirty="0">
                <a:latin typeface="Symbol"/>
                <a:cs typeface="Symbol"/>
              </a:rPr>
              <a:t></a:t>
            </a:r>
            <a:r>
              <a:rPr sz="3200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rebuchet MS"/>
                <a:cs typeface="Trebuchet MS"/>
              </a:rPr>
              <a:t>i </a:t>
            </a:r>
            <a:r>
              <a:rPr sz="3200" dirty="0">
                <a:latin typeface="Symbol"/>
                <a:cs typeface="Symbol"/>
              </a:rPr>
              <a:t></a:t>
            </a:r>
            <a:r>
              <a:rPr sz="3200" spc="245" dirty="0">
                <a:latin typeface="Times New Roman"/>
                <a:cs typeface="Times New Roman"/>
              </a:rPr>
              <a:t> </a:t>
            </a:r>
            <a:r>
              <a:rPr sz="3200" dirty="0">
                <a:latin typeface="Trebuchet MS"/>
                <a:cs typeface="Trebuchet MS"/>
              </a:rPr>
              <a:t>n</a:t>
            </a:r>
            <a:endParaRPr sz="3200">
              <a:latin typeface="Trebuchet MS"/>
              <a:cs typeface="Trebuchet M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666044" y="2830345"/>
            <a:ext cx="3333115" cy="30848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505459">
              <a:lnSpc>
                <a:spcPct val="100000"/>
              </a:lnSpc>
              <a:spcBef>
                <a:spcPts val="130"/>
              </a:spcBef>
            </a:pPr>
            <a:r>
              <a:rPr sz="10350" spc="75" baseline="-6843" dirty="0">
                <a:latin typeface="Symbol"/>
                <a:cs typeface="Symbol"/>
              </a:rPr>
              <a:t></a:t>
            </a:r>
            <a:r>
              <a:rPr sz="10350" spc="-2152" baseline="-6843" dirty="0">
                <a:latin typeface="Times New Roman"/>
                <a:cs typeface="Times New Roman"/>
              </a:rPr>
              <a:t> </a:t>
            </a:r>
            <a:r>
              <a:rPr lang="en-US" sz="5750" spc="185" baseline="-6843" dirty="0">
                <a:latin typeface="Times New Roman"/>
                <a:cs typeface="Times New Roman"/>
              </a:rPr>
              <a:t>V</a:t>
            </a:r>
            <a:r>
              <a:rPr sz="6075" spc="277" baseline="-19890" dirty="0">
                <a:latin typeface="Times New Roman"/>
                <a:cs typeface="Times New Roman"/>
              </a:rPr>
              <a:t>i </a:t>
            </a:r>
            <a:r>
              <a:rPr sz="5750" spc="185" dirty="0">
                <a:latin typeface="Times New Roman"/>
                <a:cs typeface="Times New Roman"/>
              </a:rPr>
              <a:t>x</a:t>
            </a:r>
            <a:r>
              <a:rPr sz="6075" spc="277" baseline="-19890" dirty="0">
                <a:latin typeface="Times New Roman"/>
                <a:cs typeface="Times New Roman"/>
              </a:rPr>
              <a:t>i</a:t>
            </a:r>
            <a:endParaRPr sz="6075" baseline="-19890" dirty="0">
              <a:latin typeface="Times New Roman"/>
              <a:cs typeface="Times New Roman"/>
            </a:endParaRPr>
          </a:p>
          <a:p>
            <a:pPr marL="152400">
              <a:lnSpc>
                <a:spcPts val="4845"/>
              </a:lnSpc>
              <a:spcBef>
                <a:spcPts val="185"/>
              </a:spcBef>
            </a:pPr>
            <a:r>
              <a:rPr sz="4050" spc="120" dirty="0">
                <a:latin typeface="Times New Roman"/>
                <a:cs typeface="Times New Roman"/>
              </a:rPr>
              <a:t>1</a:t>
            </a:r>
            <a:r>
              <a:rPr sz="4050" spc="120" dirty="0">
                <a:latin typeface="Symbol"/>
                <a:cs typeface="Symbol"/>
              </a:rPr>
              <a:t></a:t>
            </a:r>
            <a:r>
              <a:rPr sz="4050" spc="120" dirty="0">
                <a:latin typeface="Times New Roman"/>
                <a:cs typeface="Times New Roman"/>
              </a:rPr>
              <a:t>i</a:t>
            </a:r>
            <a:r>
              <a:rPr sz="4050" spc="120" dirty="0">
                <a:latin typeface="Symbol"/>
                <a:cs typeface="Symbol"/>
              </a:rPr>
              <a:t></a:t>
            </a:r>
            <a:r>
              <a:rPr sz="4050" spc="120" dirty="0">
                <a:latin typeface="Times New Roman"/>
                <a:cs typeface="Times New Roman"/>
              </a:rPr>
              <a:t>n</a:t>
            </a:r>
            <a:endParaRPr sz="4050" dirty="0">
              <a:latin typeface="Times New Roman"/>
              <a:cs typeface="Times New Roman"/>
            </a:endParaRPr>
          </a:p>
          <a:p>
            <a:pPr marL="325120">
              <a:lnSpc>
                <a:spcPts val="6765"/>
              </a:lnSpc>
              <a:tabLst>
                <a:tab pos="2267585" algn="l"/>
              </a:tabLst>
            </a:pPr>
            <a:r>
              <a:rPr sz="8475" baseline="-5408" dirty="0">
                <a:latin typeface="Symbol"/>
                <a:cs typeface="Symbol"/>
              </a:rPr>
              <a:t></a:t>
            </a:r>
            <a:r>
              <a:rPr sz="8475" spc="-937" baseline="-5408" dirty="0">
                <a:latin typeface="Times New Roman"/>
                <a:cs typeface="Times New Roman"/>
              </a:rPr>
              <a:t> </a:t>
            </a:r>
            <a:r>
              <a:rPr sz="4700" spc="210" dirty="0">
                <a:latin typeface="Times New Roman"/>
                <a:cs typeface="Times New Roman"/>
              </a:rPr>
              <a:t>w</a:t>
            </a:r>
            <a:r>
              <a:rPr sz="4950" spc="315" baseline="-20202" dirty="0">
                <a:latin typeface="Times New Roman"/>
                <a:cs typeface="Times New Roman"/>
              </a:rPr>
              <a:t>i</a:t>
            </a:r>
            <a:r>
              <a:rPr sz="4950" spc="-577" baseline="-20202" dirty="0">
                <a:latin typeface="Times New Roman"/>
                <a:cs typeface="Times New Roman"/>
              </a:rPr>
              <a:t> </a:t>
            </a:r>
            <a:r>
              <a:rPr sz="4700" spc="145" dirty="0">
                <a:latin typeface="Times New Roman"/>
                <a:cs typeface="Times New Roman"/>
              </a:rPr>
              <a:t>x</a:t>
            </a:r>
            <a:r>
              <a:rPr sz="4950" spc="217" baseline="-20202" dirty="0">
                <a:latin typeface="Times New Roman"/>
                <a:cs typeface="Times New Roman"/>
              </a:rPr>
              <a:t>i	</a:t>
            </a:r>
            <a:r>
              <a:rPr sz="4700" spc="5" dirty="0">
                <a:latin typeface="Symbol"/>
                <a:cs typeface="Symbol"/>
              </a:rPr>
              <a:t></a:t>
            </a:r>
            <a:r>
              <a:rPr sz="4700" spc="60" dirty="0">
                <a:latin typeface="Times New Roman"/>
                <a:cs typeface="Times New Roman"/>
              </a:rPr>
              <a:t> </a:t>
            </a:r>
            <a:r>
              <a:rPr lang="en-US" sz="4700" spc="10" dirty="0">
                <a:latin typeface="Times New Roman"/>
                <a:cs typeface="Times New Roman"/>
              </a:rPr>
              <a:t>W</a:t>
            </a:r>
            <a:endParaRPr sz="4700" dirty="0">
              <a:latin typeface="Times New Roman"/>
              <a:cs typeface="Times New Roman"/>
            </a:endParaRPr>
          </a:p>
          <a:p>
            <a:pPr marL="38100">
              <a:lnSpc>
                <a:spcPct val="100000"/>
              </a:lnSpc>
              <a:spcBef>
                <a:spcPts val="25"/>
              </a:spcBef>
            </a:pPr>
            <a:r>
              <a:rPr sz="3300" spc="90" dirty="0">
                <a:latin typeface="Times New Roman"/>
                <a:cs typeface="Times New Roman"/>
              </a:rPr>
              <a:t>1</a:t>
            </a:r>
            <a:r>
              <a:rPr sz="3300" spc="90" dirty="0">
                <a:latin typeface="Symbol"/>
                <a:cs typeface="Symbol"/>
              </a:rPr>
              <a:t></a:t>
            </a:r>
            <a:r>
              <a:rPr sz="3300" spc="90" dirty="0">
                <a:latin typeface="Times New Roman"/>
                <a:cs typeface="Times New Roman"/>
              </a:rPr>
              <a:t>i</a:t>
            </a:r>
            <a:r>
              <a:rPr sz="3300" spc="90" dirty="0">
                <a:latin typeface="Symbol"/>
                <a:cs typeface="Symbol"/>
              </a:rPr>
              <a:t></a:t>
            </a:r>
            <a:r>
              <a:rPr sz="3300" spc="90" dirty="0">
                <a:latin typeface="Times New Roman"/>
                <a:cs typeface="Times New Roman"/>
              </a:rPr>
              <a:t>n</a:t>
            </a:r>
            <a:endParaRPr sz="33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1255" y="351790"/>
            <a:ext cx="638048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The </a:t>
            </a:r>
            <a:r>
              <a:rPr spc="-5" dirty="0">
                <a:solidFill>
                  <a:schemeClr val="tx1"/>
                </a:solidFill>
              </a:rPr>
              <a:t>knapsack </a:t>
            </a:r>
            <a:r>
              <a:rPr dirty="0">
                <a:solidFill>
                  <a:schemeClr val="tx1"/>
                </a:solidFill>
              </a:rPr>
              <a:t>Pseudo</a:t>
            </a:r>
            <a:r>
              <a:rPr spc="-140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Code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3" name="object 3"/>
          <p:cNvSpPr txBox="1"/>
          <p:nvPr/>
        </p:nvSpPr>
        <p:spPr>
          <a:xfrm>
            <a:off x="373379" y="1517846"/>
            <a:ext cx="7533005" cy="1973580"/>
          </a:xfrm>
          <a:prstGeom prst="rect">
            <a:avLst/>
          </a:prstGeom>
        </p:spPr>
        <p:txBody>
          <a:bodyPr vert="horz" wrap="square" lIns="0" tIns="120014" rIns="0" bIns="0" rtlCol="0">
            <a:spAutoFit/>
          </a:bodyPr>
          <a:lstStyle/>
          <a:p>
            <a:pPr marL="266700" indent="-228600">
              <a:lnSpc>
                <a:spcPct val="100000"/>
              </a:lnSpc>
              <a:spcBef>
                <a:spcPts val="944"/>
              </a:spcBef>
              <a:buFont typeface="Arial"/>
              <a:buChar char="•"/>
              <a:tabLst>
                <a:tab pos="266700" algn="l"/>
              </a:tabLst>
            </a:pPr>
            <a:r>
              <a:rPr sz="2800" u="heavy" spc="-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rebuchet MS"/>
                <a:cs typeface="Trebuchet MS"/>
              </a:rPr>
              <a:t>The greedy</a:t>
            </a:r>
            <a:r>
              <a:rPr sz="2800" u="heavy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rebuchet MS"/>
                <a:cs typeface="Trebuchet MS"/>
              </a:rPr>
              <a:t> </a:t>
            </a:r>
            <a:r>
              <a:rPr sz="2800" u="heavy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rebuchet MS"/>
                <a:cs typeface="Trebuchet MS"/>
              </a:rPr>
              <a:t>algorithm</a:t>
            </a:r>
            <a:r>
              <a:rPr sz="2800" spc="-10" dirty="0">
                <a:latin typeface="Trebuchet MS"/>
                <a:cs typeface="Trebuchet MS"/>
              </a:rPr>
              <a:t>:</a:t>
            </a:r>
            <a:endParaRPr sz="2800">
              <a:latin typeface="Trebuchet MS"/>
              <a:cs typeface="Trebuchet MS"/>
            </a:endParaRPr>
          </a:p>
          <a:p>
            <a:pPr marL="266700">
              <a:lnSpc>
                <a:spcPct val="100000"/>
              </a:lnSpc>
              <a:spcBef>
                <a:spcPts val="725"/>
              </a:spcBef>
            </a:pPr>
            <a:r>
              <a:rPr sz="2400" dirty="0">
                <a:latin typeface="Trebuchet MS"/>
                <a:cs typeface="Trebuchet MS"/>
              </a:rPr>
              <a:t>Step </a:t>
            </a:r>
            <a:r>
              <a:rPr sz="2400" spc="-5" dirty="0">
                <a:latin typeface="Trebuchet MS"/>
                <a:cs typeface="Trebuchet MS"/>
              </a:rPr>
              <a:t>1: Sort p</a:t>
            </a:r>
            <a:r>
              <a:rPr sz="2400" spc="-7" baseline="-24305" dirty="0">
                <a:latin typeface="Trebuchet MS"/>
                <a:cs typeface="Trebuchet MS"/>
              </a:rPr>
              <a:t>i</a:t>
            </a:r>
            <a:r>
              <a:rPr sz="2400" spc="-5" dirty="0">
                <a:latin typeface="Trebuchet MS"/>
                <a:cs typeface="Trebuchet MS"/>
              </a:rPr>
              <a:t>/w</a:t>
            </a:r>
            <a:r>
              <a:rPr sz="2400" spc="-7" baseline="-24305" dirty="0">
                <a:latin typeface="Trebuchet MS"/>
                <a:cs typeface="Trebuchet MS"/>
              </a:rPr>
              <a:t>i </a:t>
            </a:r>
            <a:r>
              <a:rPr sz="2400" spc="-5" dirty="0">
                <a:latin typeface="Trebuchet MS"/>
                <a:cs typeface="Trebuchet MS"/>
              </a:rPr>
              <a:t>into </a:t>
            </a:r>
            <a:r>
              <a:rPr sz="2400" u="heavy" spc="-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Trebuchet MS"/>
                <a:cs typeface="Trebuchet MS"/>
              </a:rPr>
              <a:t>nonincreasing</a:t>
            </a:r>
            <a:r>
              <a:rPr sz="2400" spc="-155" dirty="0">
                <a:solidFill>
                  <a:srgbClr val="0462C1"/>
                </a:solidFill>
                <a:latin typeface="Trebuchet MS"/>
                <a:cs typeface="Trebuchet MS"/>
              </a:rPr>
              <a:t> </a:t>
            </a:r>
            <a:r>
              <a:rPr sz="2400" spc="-60" dirty="0">
                <a:latin typeface="Trebuchet MS"/>
                <a:cs typeface="Trebuchet MS"/>
              </a:rPr>
              <a:t>order.</a:t>
            </a:r>
            <a:endParaRPr sz="2400">
              <a:latin typeface="Trebuchet MS"/>
              <a:cs typeface="Trebuchet MS"/>
            </a:endParaRPr>
          </a:p>
          <a:p>
            <a:pPr marL="266700">
              <a:lnSpc>
                <a:spcPct val="100000"/>
              </a:lnSpc>
              <a:spcBef>
                <a:spcPts val="720"/>
              </a:spcBef>
            </a:pPr>
            <a:r>
              <a:rPr sz="2400" dirty="0">
                <a:latin typeface="Trebuchet MS"/>
                <a:cs typeface="Trebuchet MS"/>
              </a:rPr>
              <a:t>Step </a:t>
            </a:r>
            <a:r>
              <a:rPr sz="2400" spc="-5" dirty="0">
                <a:latin typeface="Trebuchet MS"/>
                <a:cs typeface="Trebuchet MS"/>
              </a:rPr>
              <a:t>2: </a:t>
            </a:r>
            <a:r>
              <a:rPr sz="2400" dirty="0">
                <a:latin typeface="Trebuchet MS"/>
                <a:cs typeface="Trebuchet MS"/>
              </a:rPr>
              <a:t>Put </a:t>
            </a:r>
            <a:r>
              <a:rPr sz="2400" spc="-5" dirty="0">
                <a:latin typeface="Trebuchet MS"/>
                <a:cs typeface="Trebuchet MS"/>
              </a:rPr>
              <a:t>the objects into the knapsack</a:t>
            </a:r>
            <a:r>
              <a:rPr sz="2400" spc="60" dirty="0">
                <a:latin typeface="Trebuchet MS"/>
                <a:cs typeface="Trebuchet MS"/>
              </a:rPr>
              <a:t> </a:t>
            </a:r>
            <a:r>
              <a:rPr sz="2400" spc="-10" dirty="0">
                <a:latin typeface="Trebuchet MS"/>
                <a:cs typeface="Trebuchet MS"/>
              </a:rPr>
              <a:t>according</a:t>
            </a:r>
            <a:endParaRPr sz="2400">
              <a:latin typeface="Trebuchet MS"/>
              <a:cs typeface="Trebuchet MS"/>
            </a:endParaRPr>
          </a:p>
          <a:p>
            <a:pPr marL="1234440">
              <a:lnSpc>
                <a:spcPct val="100000"/>
              </a:lnSpc>
              <a:spcBef>
                <a:spcPts val="1045"/>
              </a:spcBef>
            </a:pPr>
            <a:r>
              <a:rPr sz="2400" spc="-5" dirty="0">
                <a:latin typeface="Trebuchet MS"/>
                <a:cs typeface="Trebuchet MS"/>
              </a:rPr>
              <a:t>to the sorted sequence as possible as </a:t>
            </a:r>
            <a:r>
              <a:rPr sz="2400" dirty="0">
                <a:latin typeface="Trebuchet MS"/>
                <a:cs typeface="Trebuchet MS"/>
              </a:rPr>
              <a:t>we</a:t>
            </a:r>
            <a:r>
              <a:rPr sz="2400" spc="60" dirty="0">
                <a:latin typeface="Trebuchet MS"/>
                <a:cs typeface="Trebuchet MS"/>
              </a:rPr>
              <a:t> </a:t>
            </a:r>
            <a:r>
              <a:rPr sz="2400" spc="-5" dirty="0">
                <a:latin typeface="Trebuchet MS"/>
                <a:cs typeface="Trebuchet MS"/>
              </a:rPr>
              <a:t>can.</a:t>
            </a:r>
            <a:endParaRPr sz="24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78745" y="387553"/>
            <a:ext cx="233680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pc="-5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3" name="object 3"/>
          <p:cNvSpPr txBox="1"/>
          <p:nvPr/>
        </p:nvSpPr>
        <p:spPr>
          <a:xfrm>
            <a:off x="259791" y="1280286"/>
            <a:ext cx="9399270" cy="4937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775"/>
              </a:lnSpc>
              <a:spcBef>
                <a:spcPts val="100"/>
              </a:spcBef>
            </a:pPr>
            <a:r>
              <a:rPr sz="2400" b="1" spc="-5" dirty="0">
                <a:solidFill>
                  <a:srgbClr val="FF00FF"/>
                </a:solidFill>
                <a:latin typeface="Times New Roman"/>
                <a:cs typeface="Times New Roman"/>
              </a:rPr>
              <a:t>Greedy-fractional-knapsack </a:t>
            </a:r>
            <a:r>
              <a:rPr sz="2400" b="1" spc="-30" dirty="0">
                <a:latin typeface="Times New Roman"/>
                <a:cs typeface="Times New Roman"/>
              </a:rPr>
              <a:t>(</a:t>
            </a:r>
            <a:r>
              <a:rPr sz="2400" b="1" i="1" spc="-30" dirty="0">
                <a:latin typeface="Times New Roman"/>
                <a:cs typeface="Times New Roman"/>
              </a:rPr>
              <a:t>w, </a:t>
            </a:r>
            <a:r>
              <a:rPr sz="2400" b="1" i="1" spc="-45" dirty="0">
                <a:latin typeface="Times New Roman"/>
                <a:cs typeface="Times New Roman"/>
              </a:rPr>
              <a:t>v,</a:t>
            </a:r>
            <a:r>
              <a:rPr sz="2400" b="1" i="1" spc="-55" dirty="0">
                <a:latin typeface="Times New Roman"/>
                <a:cs typeface="Times New Roman"/>
              </a:rPr>
              <a:t> </a:t>
            </a:r>
            <a:r>
              <a:rPr sz="2400" b="1" i="1" spc="-5" dirty="0">
                <a:latin typeface="Times New Roman"/>
                <a:cs typeface="Times New Roman"/>
              </a:rPr>
              <a:t>W</a:t>
            </a:r>
            <a:r>
              <a:rPr sz="2400" b="1" spc="-5" dirty="0">
                <a:latin typeface="Times New Roman"/>
                <a:cs typeface="Times New Roman"/>
              </a:rPr>
              <a:t>)</a:t>
            </a:r>
            <a:endParaRPr sz="2400">
              <a:latin typeface="Times New Roman"/>
              <a:cs typeface="Times New Roman"/>
            </a:endParaRPr>
          </a:p>
          <a:p>
            <a:pPr marL="1384300">
              <a:lnSpc>
                <a:spcPts val="2895"/>
              </a:lnSpc>
              <a:tabLst>
                <a:tab pos="3860800" algn="l"/>
              </a:tabLst>
            </a:pPr>
            <a:r>
              <a:rPr sz="2500" b="1" spc="-5" dirty="0">
                <a:latin typeface="Courier New"/>
                <a:cs typeface="Courier New"/>
              </a:rPr>
              <a:t>FOR 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i="1" spc="15" dirty="0">
                <a:latin typeface="Courier New"/>
                <a:cs typeface="Courier New"/>
              </a:rPr>
              <a:t> </a:t>
            </a:r>
            <a:r>
              <a:rPr sz="2500" spc="-5" dirty="0">
                <a:latin typeface="Courier New"/>
                <a:cs typeface="Courier New"/>
              </a:rPr>
              <a:t>=1</a:t>
            </a:r>
            <a:r>
              <a:rPr sz="2500" spc="5" dirty="0">
                <a:latin typeface="Courier New"/>
                <a:cs typeface="Courier New"/>
              </a:rPr>
              <a:t> </a:t>
            </a:r>
            <a:r>
              <a:rPr sz="2500" spc="-5" dirty="0">
                <a:latin typeface="Courier New"/>
                <a:cs typeface="Courier New"/>
              </a:rPr>
              <a:t>to	</a:t>
            </a:r>
            <a:r>
              <a:rPr sz="2500" b="1" spc="-5" dirty="0">
                <a:latin typeface="Courier New"/>
                <a:cs typeface="Courier New"/>
              </a:rPr>
              <a:t>do</a:t>
            </a:r>
            <a:endParaRPr sz="2500">
              <a:latin typeface="Courier New"/>
              <a:cs typeface="Courier New"/>
            </a:endParaRPr>
          </a:p>
          <a:p>
            <a:pPr marL="1841500">
              <a:lnSpc>
                <a:spcPct val="100000"/>
              </a:lnSpc>
            </a:pPr>
            <a:r>
              <a:rPr sz="2500" i="1" spc="-5" dirty="0">
                <a:latin typeface="Courier New"/>
                <a:cs typeface="Courier New"/>
              </a:rPr>
              <a:t>x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=0</a:t>
            </a:r>
            <a:endParaRPr sz="2500">
              <a:latin typeface="Courier New"/>
              <a:cs typeface="Courier New"/>
            </a:endParaRPr>
          </a:p>
          <a:p>
            <a:pPr marL="1384300">
              <a:lnSpc>
                <a:spcPct val="100000"/>
              </a:lnSpc>
            </a:pPr>
            <a:r>
              <a:rPr sz="2500" spc="-5" dirty="0">
                <a:latin typeface="Courier New"/>
                <a:cs typeface="Courier New"/>
              </a:rPr>
              <a:t>weight =</a:t>
            </a:r>
            <a:r>
              <a:rPr sz="2500" dirty="0">
                <a:latin typeface="Courier New"/>
                <a:cs typeface="Courier New"/>
              </a:rPr>
              <a:t> </a:t>
            </a:r>
            <a:r>
              <a:rPr sz="2500" spc="-5" dirty="0">
                <a:latin typeface="Courier New"/>
                <a:cs typeface="Courier New"/>
              </a:rPr>
              <a:t>0</a:t>
            </a:r>
            <a:endParaRPr sz="2500">
              <a:latin typeface="Courier New"/>
              <a:cs typeface="Courier New"/>
            </a:endParaRPr>
          </a:p>
          <a:p>
            <a:pPr marL="1384300">
              <a:lnSpc>
                <a:spcPct val="100000"/>
              </a:lnSpc>
            </a:pPr>
            <a:r>
              <a:rPr sz="2500" spc="-5" dirty="0">
                <a:latin typeface="Courier New"/>
                <a:cs typeface="Courier New"/>
              </a:rPr>
              <a:t>while weight &lt;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r>
              <a:rPr sz="2500" i="1" spc="10" dirty="0">
                <a:latin typeface="Courier New"/>
                <a:cs typeface="Courier New"/>
              </a:rPr>
              <a:t> </a:t>
            </a:r>
            <a:r>
              <a:rPr sz="2500" b="1" spc="-5" dirty="0">
                <a:latin typeface="Courier New"/>
                <a:cs typeface="Courier New"/>
              </a:rPr>
              <a:t>do</a:t>
            </a:r>
            <a:endParaRPr sz="2500">
              <a:latin typeface="Courier New"/>
              <a:cs typeface="Courier New"/>
            </a:endParaRPr>
          </a:p>
          <a:p>
            <a:pPr marL="1841500">
              <a:lnSpc>
                <a:spcPct val="100000"/>
              </a:lnSpc>
            </a:pPr>
            <a:r>
              <a:rPr sz="2500" i="1" spc="-5" dirty="0">
                <a:latin typeface="Courier New"/>
                <a:cs typeface="Courier New"/>
              </a:rPr>
              <a:t>i </a:t>
            </a:r>
            <a:r>
              <a:rPr sz="2500" spc="-5" dirty="0">
                <a:latin typeface="Courier New"/>
                <a:cs typeface="Courier New"/>
              </a:rPr>
              <a:t>= best remaining</a:t>
            </a:r>
            <a:r>
              <a:rPr sz="2500" spc="5" dirty="0">
                <a:latin typeface="Courier New"/>
                <a:cs typeface="Courier New"/>
              </a:rPr>
              <a:t> </a:t>
            </a:r>
            <a:r>
              <a:rPr sz="2500" spc="-5" dirty="0">
                <a:latin typeface="Courier New"/>
                <a:cs typeface="Courier New"/>
              </a:rPr>
              <a:t>item</a:t>
            </a:r>
            <a:endParaRPr sz="2500">
              <a:latin typeface="Courier New"/>
              <a:cs typeface="Courier New"/>
            </a:endParaRPr>
          </a:p>
          <a:p>
            <a:pPr marL="2908300">
              <a:lnSpc>
                <a:spcPct val="100000"/>
              </a:lnSpc>
            </a:pPr>
            <a:r>
              <a:rPr sz="2500" b="1" spc="-5" dirty="0">
                <a:latin typeface="Courier New"/>
                <a:cs typeface="Courier New"/>
              </a:rPr>
              <a:t>IF </a:t>
            </a:r>
            <a:r>
              <a:rPr sz="2500" spc="-5" dirty="0">
                <a:latin typeface="Courier New"/>
                <a:cs typeface="Courier New"/>
              </a:rPr>
              <a:t>weight +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≤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r>
              <a:rPr sz="2500" i="1" spc="5" dirty="0">
                <a:latin typeface="Courier New"/>
                <a:cs typeface="Courier New"/>
              </a:rPr>
              <a:t> </a:t>
            </a:r>
            <a:r>
              <a:rPr sz="2500" b="1" spc="-5" dirty="0">
                <a:latin typeface="Courier New"/>
                <a:cs typeface="Courier New"/>
              </a:rPr>
              <a:t>then</a:t>
            </a:r>
            <a:endParaRPr sz="2500">
              <a:latin typeface="Courier New"/>
              <a:cs typeface="Courier New"/>
            </a:endParaRPr>
          </a:p>
          <a:p>
            <a:pPr marL="2755900">
              <a:lnSpc>
                <a:spcPct val="100000"/>
              </a:lnSpc>
            </a:pPr>
            <a:r>
              <a:rPr sz="2500" i="1" spc="-5" dirty="0">
                <a:latin typeface="Courier New"/>
                <a:cs typeface="Courier New"/>
              </a:rPr>
              <a:t>x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= 1</a:t>
            </a:r>
            <a:endParaRPr sz="2500">
              <a:latin typeface="Courier New"/>
              <a:cs typeface="Courier New"/>
            </a:endParaRPr>
          </a:p>
          <a:p>
            <a:pPr marL="3670300" marR="767080" indent="762000">
              <a:lnSpc>
                <a:spcPct val="100000"/>
              </a:lnSpc>
              <a:spcBef>
                <a:spcPts val="5"/>
              </a:spcBef>
            </a:pPr>
            <a:r>
              <a:rPr sz="2500" spc="-5" dirty="0">
                <a:latin typeface="Courier New"/>
                <a:cs typeface="Courier New"/>
              </a:rPr>
              <a:t>weight = weight +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 else</a:t>
            </a:r>
            <a:endParaRPr sz="2500">
              <a:latin typeface="Courier New"/>
              <a:cs typeface="Courier New"/>
            </a:endParaRPr>
          </a:p>
          <a:p>
            <a:pPr marL="4432300" marR="5080">
              <a:lnSpc>
                <a:spcPct val="100000"/>
              </a:lnSpc>
            </a:pPr>
            <a:r>
              <a:rPr sz="2500" i="1" spc="-5" dirty="0">
                <a:latin typeface="Courier New"/>
                <a:cs typeface="Courier New"/>
              </a:rPr>
              <a:t>x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= (</a:t>
            </a:r>
            <a:r>
              <a:rPr sz="2500" i="1" spc="-5" dirty="0">
                <a:latin typeface="Courier New"/>
                <a:cs typeface="Courier New"/>
              </a:rPr>
              <a:t>w </a:t>
            </a:r>
            <a:r>
              <a:rPr sz="2500" spc="-5" dirty="0">
                <a:latin typeface="Courier New"/>
                <a:cs typeface="Courier New"/>
              </a:rPr>
              <a:t>- weight) /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r>
              <a:rPr sz="2500" spc="-5" dirty="0">
                <a:latin typeface="Courier New"/>
                <a:cs typeface="Courier New"/>
              </a:rPr>
              <a:t>[</a:t>
            </a:r>
            <a:r>
              <a:rPr sz="2500" i="1" spc="-5" dirty="0">
                <a:latin typeface="Courier New"/>
                <a:cs typeface="Courier New"/>
              </a:rPr>
              <a:t>i</a:t>
            </a:r>
            <a:r>
              <a:rPr sz="2500" spc="-5" dirty="0">
                <a:latin typeface="Courier New"/>
                <a:cs typeface="Courier New"/>
              </a:rPr>
              <a:t>]  weight = </a:t>
            </a:r>
            <a:r>
              <a:rPr sz="2500" i="1" spc="-5" dirty="0">
                <a:latin typeface="Courier New"/>
                <a:cs typeface="Courier New"/>
              </a:rPr>
              <a:t>W</a:t>
            </a:r>
            <a:endParaRPr sz="2500">
              <a:latin typeface="Courier New"/>
              <a:cs typeface="Courier New"/>
            </a:endParaRPr>
          </a:p>
          <a:p>
            <a:pPr marL="1384300">
              <a:lnSpc>
                <a:spcPct val="100000"/>
              </a:lnSpc>
            </a:pPr>
            <a:r>
              <a:rPr sz="2500" b="1" spc="-5" dirty="0">
                <a:latin typeface="Courier New"/>
                <a:cs typeface="Courier New"/>
              </a:rPr>
              <a:t>return </a:t>
            </a:r>
            <a:r>
              <a:rPr sz="2500" i="1" spc="-5" dirty="0">
                <a:latin typeface="Courier New"/>
                <a:cs typeface="Courier New"/>
              </a:rPr>
              <a:t>x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44386"/>
            <a:ext cx="1051560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68318"/>
            <a:ext cx="137414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12 </a:t>
            </a:r>
            <a:r>
              <a:rPr sz="2400" b="1" dirty="0">
                <a:latin typeface="Calibri"/>
                <a:cs typeface="Calibri"/>
              </a:rPr>
              <a:t>– 4 =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8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12 </a:t>
            </a:r>
            <a:r>
              <a:rPr sz="2400" b="1" dirty="0">
                <a:latin typeface="Calibri"/>
                <a:cs typeface="Calibri"/>
              </a:rPr>
              <a:t>– 4 =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8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8 – 5 =</a:t>
            </a:r>
            <a:r>
              <a:rPr sz="2400" b="1" spc="-8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3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306567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1854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12 </a:t>
            </a:r>
            <a:r>
              <a:rPr sz="2400" b="1" dirty="0">
                <a:latin typeface="Calibri"/>
                <a:cs typeface="Calibri"/>
              </a:rPr>
              <a:t>– 4 =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8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8 – 5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3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3 – 1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2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306567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1128247" y="3291078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7322735"/>
              </p:ext>
            </p:extLst>
          </p:nvPr>
        </p:nvGraphicFramePr>
        <p:xfrm>
          <a:off x="241300" y="1463432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12 </a:t>
            </a:r>
            <a:r>
              <a:rPr sz="2400" b="1" dirty="0">
                <a:latin typeface="Calibri"/>
                <a:cs typeface="Calibri"/>
              </a:rPr>
              <a:t>– 4 =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8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8 – 5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3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3 – 1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2 – 2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0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306567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1128247" y="3291078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690365" y="3256915"/>
            <a:ext cx="397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2</a:t>
            </a:r>
            <a:r>
              <a:rPr sz="1800" spc="-8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/3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5006340" y="3931920"/>
            <a:ext cx="1645920" cy="2446020"/>
          </a:xfrm>
          <a:custGeom>
            <a:avLst/>
            <a:gdLst/>
            <a:ahLst/>
            <a:cxnLst/>
            <a:rect l="l" t="t" r="r" b="b"/>
            <a:pathLst>
              <a:path w="1645920" h="2446020">
                <a:moveTo>
                  <a:pt x="1645919" y="407669"/>
                </a:moveTo>
                <a:lnTo>
                  <a:pt x="1636138" y="470722"/>
                </a:lnTo>
                <a:lnTo>
                  <a:pt x="1607770" y="530728"/>
                </a:lnTo>
                <a:lnTo>
                  <a:pt x="1562277" y="586962"/>
                </a:lnTo>
                <a:lnTo>
                  <a:pt x="1533567" y="613438"/>
                </a:lnTo>
                <a:lnTo>
                  <a:pt x="1501124" y="638699"/>
                </a:lnTo>
                <a:lnTo>
                  <a:pt x="1465132" y="662655"/>
                </a:lnTo>
                <a:lnTo>
                  <a:pt x="1425774" y="685215"/>
                </a:lnTo>
                <a:lnTo>
                  <a:pt x="1383232" y="706289"/>
                </a:lnTo>
                <a:lnTo>
                  <a:pt x="1337689" y="725786"/>
                </a:lnTo>
                <a:lnTo>
                  <a:pt x="1289329" y="743615"/>
                </a:lnTo>
                <a:lnTo>
                  <a:pt x="1238334" y="759685"/>
                </a:lnTo>
                <a:lnTo>
                  <a:pt x="1184887" y="773907"/>
                </a:lnTo>
                <a:lnTo>
                  <a:pt x="1129171" y="786190"/>
                </a:lnTo>
                <a:lnTo>
                  <a:pt x="1071370" y="796442"/>
                </a:lnTo>
                <a:lnTo>
                  <a:pt x="1011664" y="804574"/>
                </a:lnTo>
                <a:lnTo>
                  <a:pt x="950239" y="810494"/>
                </a:lnTo>
                <a:lnTo>
                  <a:pt x="887277" y="814113"/>
                </a:lnTo>
                <a:lnTo>
                  <a:pt x="822960" y="815339"/>
                </a:lnTo>
                <a:lnTo>
                  <a:pt x="758642" y="814113"/>
                </a:lnTo>
                <a:lnTo>
                  <a:pt x="695680" y="810494"/>
                </a:lnTo>
                <a:lnTo>
                  <a:pt x="634255" y="804574"/>
                </a:lnTo>
                <a:lnTo>
                  <a:pt x="574549" y="796442"/>
                </a:lnTo>
                <a:lnTo>
                  <a:pt x="516748" y="786190"/>
                </a:lnTo>
                <a:lnTo>
                  <a:pt x="461032" y="773907"/>
                </a:lnTo>
                <a:lnTo>
                  <a:pt x="407585" y="759685"/>
                </a:lnTo>
                <a:lnTo>
                  <a:pt x="356590" y="743615"/>
                </a:lnTo>
                <a:lnTo>
                  <a:pt x="308230" y="725786"/>
                </a:lnTo>
                <a:lnTo>
                  <a:pt x="262687" y="706289"/>
                </a:lnTo>
                <a:lnTo>
                  <a:pt x="220145" y="685215"/>
                </a:lnTo>
                <a:lnTo>
                  <a:pt x="180787" y="662655"/>
                </a:lnTo>
                <a:lnTo>
                  <a:pt x="144795" y="638699"/>
                </a:lnTo>
                <a:lnTo>
                  <a:pt x="112352" y="613438"/>
                </a:lnTo>
                <a:lnTo>
                  <a:pt x="83642" y="586962"/>
                </a:lnTo>
                <a:lnTo>
                  <a:pt x="38149" y="530728"/>
                </a:lnTo>
                <a:lnTo>
                  <a:pt x="9781" y="470722"/>
                </a:lnTo>
                <a:lnTo>
                  <a:pt x="2475" y="439531"/>
                </a:lnTo>
                <a:lnTo>
                  <a:pt x="0" y="407669"/>
                </a:lnTo>
              </a:path>
              <a:path w="1645920" h="2446020">
                <a:moveTo>
                  <a:pt x="0" y="407669"/>
                </a:moveTo>
                <a:lnTo>
                  <a:pt x="9781" y="344617"/>
                </a:lnTo>
                <a:lnTo>
                  <a:pt x="38149" y="284611"/>
                </a:lnTo>
                <a:lnTo>
                  <a:pt x="83642" y="228377"/>
                </a:lnTo>
                <a:lnTo>
                  <a:pt x="112352" y="201901"/>
                </a:lnTo>
                <a:lnTo>
                  <a:pt x="144795" y="176640"/>
                </a:lnTo>
                <a:lnTo>
                  <a:pt x="180787" y="152684"/>
                </a:lnTo>
                <a:lnTo>
                  <a:pt x="220145" y="130124"/>
                </a:lnTo>
                <a:lnTo>
                  <a:pt x="262687" y="109050"/>
                </a:lnTo>
                <a:lnTo>
                  <a:pt x="308230" y="89553"/>
                </a:lnTo>
                <a:lnTo>
                  <a:pt x="356590" y="71724"/>
                </a:lnTo>
                <a:lnTo>
                  <a:pt x="407585" y="55654"/>
                </a:lnTo>
                <a:lnTo>
                  <a:pt x="461032" y="41432"/>
                </a:lnTo>
                <a:lnTo>
                  <a:pt x="516748" y="29149"/>
                </a:lnTo>
                <a:lnTo>
                  <a:pt x="574549" y="18897"/>
                </a:lnTo>
                <a:lnTo>
                  <a:pt x="634255" y="10765"/>
                </a:lnTo>
                <a:lnTo>
                  <a:pt x="695680" y="4845"/>
                </a:lnTo>
                <a:lnTo>
                  <a:pt x="758642" y="1226"/>
                </a:lnTo>
                <a:lnTo>
                  <a:pt x="822960" y="0"/>
                </a:lnTo>
                <a:lnTo>
                  <a:pt x="887277" y="1226"/>
                </a:lnTo>
                <a:lnTo>
                  <a:pt x="950239" y="4845"/>
                </a:lnTo>
                <a:lnTo>
                  <a:pt x="1011664" y="10765"/>
                </a:lnTo>
                <a:lnTo>
                  <a:pt x="1071370" y="18897"/>
                </a:lnTo>
                <a:lnTo>
                  <a:pt x="1129171" y="29149"/>
                </a:lnTo>
                <a:lnTo>
                  <a:pt x="1184887" y="41432"/>
                </a:lnTo>
                <a:lnTo>
                  <a:pt x="1238334" y="55654"/>
                </a:lnTo>
                <a:lnTo>
                  <a:pt x="1289329" y="71724"/>
                </a:lnTo>
                <a:lnTo>
                  <a:pt x="1337689" y="89553"/>
                </a:lnTo>
                <a:lnTo>
                  <a:pt x="1383232" y="109050"/>
                </a:lnTo>
                <a:lnTo>
                  <a:pt x="1425774" y="130124"/>
                </a:lnTo>
                <a:lnTo>
                  <a:pt x="1465132" y="152684"/>
                </a:lnTo>
                <a:lnTo>
                  <a:pt x="1501124" y="176640"/>
                </a:lnTo>
                <a:lnTo>
                  <a:pt x="1533567" y="201901"/>
                </a:lnTo>
                <a:lnTo>
                  <a:pt x="1562277" y="228377"/>
                </a:lnTo>
                <a:lnTo>
                  <a:pt x="1607770" y="284611"/>
                </a:lnTo>
                <a:lnTo>
                  <a:pt x="1636138" y="344617"/>
                </a:lnTo>
                <a:lnTo>
                  <a:pt x="1645919" y="407669"/>
                </a:lnTo>
                <a:lnTo>
                  <a:pt x="1645919" y="2038349"/>
                </a:lnTo>
                <a:lnTo>
                  <a:pt x="1636138" y="2101396"/>
                </a:lnTo>
                <a:lnTo>
                  <a:pt x="1607770" y="2161398"/>
                </a:lnTo>
                <a:lnTo>
                  <a:pt x="1562277" y="2217631"/>
                </a:lnTo>
                <a:lnTo>
                  <a:pt x="1533567" y="2244106"/>
                </a:lnTo>
                <a:lnTo>
                  <a:pt x="1501124" y="2269368"/>
                </a:lnTo>
                <a:lnTo>
                  <a:pt x="1465132" y="2293324"/>
                </a:lnTo>
                <a:lnTo>
                  <a:pt x="1425774" y="2315885"/>
                </a:lnTo>
                <a:lnTo>
                  <a:pt x="1383232" y="2336960"/>
                </a:lnTo>
                <a:lnTo>
                  <a:pt x="1337689" y="2356458"/>
                </a:lnTo>
                <a:lnTo>
                  <a:pt x="1289329" y="2374288"/>
                </a:lnTo>
                <a:lnTo>
                  <a:pt x="1238334" y="2390360"/>
                </a:lnTo>
                <a:lnTo>
                  <a:pt x="1184887" y="2404583"/>
                </a:lnTo>
                <a:lnTo>
                  <a:pt x="1129171" y="2416866"/>
                </a:lnTo>
                <a:lnTo>
                  <a:pt x="1071370" y="2427120"/>
                </a:lnTo>
                <a:lnTo>
                  <a:pt x="1011664" y="2435252"/>
                </a:lnTo>
                <a:lnTo>
                  <a:pt x="950239" y="2441174"/>
                </a:lnTo>
                <a:lnTo>
                  <a:pt x="887277" y="2444793"/>
                </a:lnTo>
                <a:lnTo>
                  <a:pt x="822960" y="2446019"/>
                </a:lnTo>
                <a:lnTo>
                  <a:pt x="758642" y="2444793"/>
                </a:lnTo>
                <a:lnTo>
                  <a:pt x="695680" y="2441174"/>
                </a:lnTo>
                <a:lnTo>
                  <a:pt x="634255" y="2435252"/>
                </a:lnTo>
                <a:lnTo>
                  <a:pt x="574549" y="2427120"/>
                </a:lnTo>
                <a:lnTo>
                  <a:pt x="516748" y="2416866"/>
                </a:lnTo>
                <a:lnTo>
                  <a:pt x="461032" y="2404583"/>
                </a:lnTo>
                <a:lnTo>
                  <a:pt x="407585" y="2390360"/>
                </a:lnTo>
                <a:lnTo>
                  <a:pt x="356590" y="2374288"/>
                </a:lnTo>
                <a:lnTo>
                  <a:pt x="308230" y="2356458"/>
                </a:lnTo>
                <a:lnTo>
                  <a:pt x="262687" y="2336960"/>
                </a:lnTo>
                <a:lnTo>
                  <a:pt x="220145" y="2315885"/>
                </a:lnTo>
                <a:lnTo>
                  <a:pt x="180787" y="2293324"/>
                </a:lnTo>
                <a:lnTo>
                  <a:pt x="144795" y="2269368"/>
                </a:lnTo>
                <a:lnTo>
                  <a:pt x="112352" y="2244106"/>
                </a:lnTo>
                <a:lnTo>
                  <a:pt x="83642" y="2217631"/>
                </a:lnTo>
                <a:lnTo>
                  <a:pt x="38149" y="2161398"/>
                </a:lnTo>
                <a:lnTo>
                  <a:pt x="9781" y="2101396"/>
                </a:lnTo>
                <a:lnTo>
                  <a:pt x="0" y="2038349"/>
                </a:lnTo>
                <a:lnTo>
                  <a:pt x="0" y="40766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100065" y="4941823"/>
            <a:ext cx="146050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800" dirty="0">
                <a:latin typeface="Calibri"/>
                <a:cs typeface="Calibri"/>
              </a:rPr>
              <a:t>15</a:t>
            </a:r>
            <a:r>
              <a:rPr sz="4800" spc="-90" dirty="0">
                <a:latin typeface="Calibri"/>
                <a:cs typeface="Calibri"/>
              </a:rPr>
              <a:t> </a:t>
            </a:r>
            <a:r>
              <a:rPr sz="4800" spc="-95" dirty="0">
                <a:latin typeface="Calibri"/>
                <a:cs typeface="Calibri"/>
              </a:rPr>
              <a:t>KG</a:t>
            </a:r>
            <a:endParaRPr sz="480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6731889" y="3946017"/>
            <a:ext cx="1374140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5" dirty="0">
                <a:latin typeface="Calibri"/>
                <a:cs typeface="Calibri"/>
              </a:rPr>
              <a:t>15 </a:t>
            </a:r>
            <a:r>
              <a:rPr sz="2400" b="1" dirty="0">
                <a:latin typeface="Calibri"/>
                <a:cs typeface="Calibri"/>
              </a:rPr>
              <a:t>– 1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14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14 </a:t>
            </a:r>
            <a:r>
              <a:rPr sz="2400" b="1" dirty="0">
                <a:latin typeface="Calibri"/>
                <a:cs typeface="Calibri"/>
              </a:rPr>
              <a:t>– 2 =</a:t>
            </a:r>
            <a:r>
              <a:rPr sz="2400" b="1" spc="-12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12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spc="-5" dirty="0">
                <a:latin typeface="Calibri"/>
                <a:cs typeface="Calibri"/>
              </a:rPr>
              <a:t>12 </a:t>
            </a:r>
            <a:r>
              <a:rPr sz="2400" b="1" dirty="0">
                <a:latin typeface="Calibri"/>
                <a:cs typeface="Calibri"/>
              </a:rPr>
              <a:t>– 4 =</a:t>
            </a:r>
            <a:r>
              <a:rPr sz="2400" b="1" spc="-90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8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8 – 5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3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3 – 1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2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alibri"/>
                <a:cs typeface="Calibri"/>
              </a:rPr>
              <a:t>2 – 2 =</a:t>
            </a:r>
            <a:r>
              <a:rPr sz="2400" b="1" spc="-135" dirty="0">
                <a:latin typeface="Calibri"/>
                <a:cs typeface="Calibri"/>
              </a:rPr>
              <a:t> </a:t>
            </a:r>
            <a:r>
              <a:rPr sz="2400" b="1" dirty="0">
                <a:latin typeface="Calibri"/>
                <a:cs typeface="Calibri"/>
              </a:rPr>
              <a:t>0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306567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1128247" y="3291078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690365" y="3256915"/>
            <a:ext cx="397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2</a:t>
            </a:r>
            <a:r>
              <a:rPr sz="1800" spc="-8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/3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  <p:sp>
        <p:nvSpPr>
          <p:cNvPr id="14" name="object 14"/>
          <p:cNvSpPr txBox="1"/>
          <p:nvPr/>
        </p:nvSpPr>
        <p:spPr>
          <a:xfrm>
            <a:off x="6731889" y="32480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0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5175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Knapsack</a:t>
            </a:r>
            <a:r>
              <a:rPr spc="-114" dirty="0">
                <a:solidFill>
                  <a:schemeClr val="tx1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Problem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1300" y="1449577"/>
          <a:ext cx="11694159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5" dirty="0">
                          <a:latin typeface="Calibri"/>
                          <a:cs typeface="Calibri"/>
                        </a:rPr>
                        <a:t>Objects</a:t>
                      </a:r>
                      <a:r>
                        <a:rPr sz="1800" b="1" spc="-5" dirty="0">
                          <a:latin typeface="Calibri"/>
                          <a:cs typeface="Calibri"/>
                        </a:rPr>
                        <a:t>(O)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800" spc="-10" dirty="0">
                          <a:latin typeface="Calibri"/>
                          <a:cs typeface="Calibri"/>
                        </a:rPr>
                        <a:t>Profits (P)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10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18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034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spc="-15" dirty="0">
                          <a:latin typeface="Calibri"/>
                          <a:cs typeface="Calibri"/>
                        </a:rPr>
                        <a:t>Weight </a:t>
                      </a:r>
                      <a:r>
                        <a:rPr sz="1800" spc="-5" dirty="0">
                          <a:latin typeface="Calibri"/>
                          <a:cs typeface="Calibri"/>
                        </a:rPr>
                        <a:t>(W)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2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7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4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spc="-30" dirty="0">
                          <a:latin typeface="Calibri"/>
                          <a:cs typeface="Calibri"/>
                        </a:rPr>
                        <a:t>P/W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1.3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1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6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spc="-5" dirty="0">
                          <a:latin typeface="Calibri"/>
                          <a:cs typeface="Calibri"/>
                        </a:rPr>
                        <a:t>4.5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209"/>
                        </a:spcBef>
                      </a:pPr>
                      <a:r>
                        <a:rPr sz="2400" b="1" dirty="0">
                          <a:latin typeface="Calibri"/>
                          <a:cs typeface="Calibri"/>
                        </a:rPr>
                        <a:t>3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26669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41300" y="3554729"/>
          <a:ext cx="1169415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177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461769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6"/>
                    </a:ext>
                  </a:extLst>
                </a:gridCol>
                <a:gridCol w="1461770">
                  <a:extLst>
                    <a:ext uri="{9D8B030D-6E8A-4147-A177-3AD203B41FA5}">
                      <a16:colId xmlns:a16="http://schemas.microsoft.com/office/drawing/2014/main" xmlns="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1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2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3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4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5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6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1800" b="1" dirty="0">
                          <a:latin typeface="Calibri"/>
                          <a:cs typeface="Calibri"/>
                        </a:rPr>
                        <a:t>X</a:t>
                      </a:r>
                      <a:r>
                        <a:rPr sz="1800" b="1" baseline="-20833" dirty="0">
                          <a:latin typeface="Calibri"/>
                          <a:cs typeface="Calibri"/>
                        </a:rPr>
                        <a:t>7</a:t>
                      </a:r>
                      <a:endParaRPr sz="1800" baseline="-20833">
                        <a:latin typeface="Calibri"/>
                        <a:cs typeface="Calibri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/>
          <p:nvPr/>
        </p:nvSpPr>
        <p:spPr>
          <a:xfrm>
            <a:off x="8217407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380488" y="3284982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9649968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306567" y="3300221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1128247" y="3291078"/>
            <a:ext cx="114300" cy="276860"/>
          </a:xfrm>
          <a:custGeom>
            <a:avLst/>
            <a:gdLst/>
            <a:ahLst/>
            <a:cxnLst/>
            <a:rect l="l" t="t" r="r" b="b"/>
            <a:pathLst>
              <a:path w="114300" h="276860">
                <a:moveTo>
                  <a:pt x="38100" y="162051"/>
                </a:moveTo>
                <a:lnTo>
                  <a:pt x="0" y="162051"/>
                </a:lnTo>
                <a:lnTo>
                  <a:pt x="57150" y="276351"/>
                </a:lnTo>
                <a:lnTo>
                  <a:pt x="104775" y="181101"/>
                </a:lnTo>
                <a:lnTo>
                  <a:pt x="38100" y="181101"/>
                </a:lnTo>
                <a:lnTo>
                  <a:pt x="38100" y="162051"/>
                </a:lnTo>
                <a:close/>
              </a:path>
              <a:path w="114300" h="276860">
                <a:moveTo>
                  <a:pt x="76200" y="0"/>
                </a:moveTo>
                <a:lnTo>
                  <a:pt x="38100" y="0"/>
                </a:lnTo>
                <a:lnTo>
                  <a:pt x="38100" y="181101"/>
                </a:lnTo>
                <a:lnTo>
                  <a:pt x="76200" y="181101"/>
                </a:lnTo>
                <a:lnTo>
                  <a:pt x="76200" y="0"/>
                </a:lnTo>
                <a:close/>
              </a:path>
              <a:path w="114300" h="276860">
                <a:moveTo>
                  <a:pt x="114300" y="162051"/>
                </a:moveTo>
                <a:lnTo>
                  <a:pt x="76200" y="162051"/>
                </a:lnTo>
                <a:lnTo>
                  <a:pt x="76200" y="181101"/>
                </a:lnTo>
                <a:lnTo>
                  <a:pt x="104775" y="181101"/>
                </a:lnTo>
                <a:lnTo>
                  <a:pt x="114300" y="162051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690365" y="3256915"/>
            <a:ext cx="3975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2</a:t>
            </a:r>
            <a:r>
              <a:rPr sz="1800" spc="-80" dirty="0">
                <a:latin typeface="Calibri"/>
                <a:cs typeface="Calibri"/>
              </a:rPr>
              <a:t> </a:t>
            </a:r>
            <a:r>
              <a:rPr sz="1800" spc="-5" dirty="0">
                <a:latin typeface="Calibri"/>
                <a:cs typeface="Calibri"/>
              </a:rPr>
              <a:t>/3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731889" y="32480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0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6542" y="4028947"/>
            <a:ext cx="16224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/>
                <a:cs typeface="Calibri"/>
              </a:rPr>
              <a:t>Calculate</a:t>
            </a:r>
            <a:r>
              <a:rPr sz="1800" b="1" spc="-60" dirty="0">
                <a:latin typeface="Calibri"/>
                <a:cs typeface="Calibri"/>
              </a:rPr>
              <a:t> </a:t>
            </a:r>
            <a:r>
              <a:rPr sz="1800" b="1" spc="-15" dirty="0">
                <a:latin typeface="Calibri"/>
                <a:cs typeface="Calibri"/>
              </a:rPr>
              <a:t>Weight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58342" y="4355083"/>
            <a:ext cx="85216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spc="367" baseline="13888" dirty="0">
                <a:latin typeface="Cambria Math"/>
                <a:cs typeface="Cambria Math"/>
              </a:rPr>
              <a:t>σ </a:t>
            </a:r>
            <a:r>
              <a:rPr sz="2700" spc="30" baseline="10802" dirty="0">
                <a:latin typeface="Cambria Math"/>
                <a:cs typeface="Cambria Math"/>
              </a:rPr>
              <a:t>𝑥</a:t>
            </a:r>
            <a:r>
              <a:rPr sz="1300" spc="20" dirty="0">
                <a:latin typeface="Cambria Math"/>
                <a:cs typeface="Cambria Math"/>
              </a:rPr>
              <a:t>𝑖</a:t>
            </a:r>
            <a:r>
              <a:rPr sz="1300" spc="-85" dirty="0">
                <a:latin typeface="Cambria Math"/>
                <a:cs typeface="Cambria Math"/>
              </a:rPr>
              <a:t> </a:t>
            </a:r>
            <a:r>
              <a:rPr sz="1300" spc="75" dirty="0">
                <a:latin typeface="Cambria Math"/>
                <a:cs typeface="Cambria Math"/>
              </a:rPr>
              <a:t>𝑤</a:t>
            </a:r>
            <a:r>
              <a:rPr sz="1575" spc="112" baseline="-15873" dirty="0">
                <a:latin typeface="Cambria Math"/>
                <a:cs typeface="Cambria Math"/>
              </a:rPr>
              <a:t>𝑖</a:t>
            </a:r>
            <a:r>
              <a:rPr sz="1300" spc="75" dirty="0">
                <a:latin typeface="Cambria Math"/>
                <a:cs typeface="Cambria Math"/>
              </a:rPr>
              <a:t>=</a:t>
            </a:r>
            <a:endParaRPr sz="1300">
              <a:latin typeface="Cambria Math"/>
              <a:cs typeface="Cambria Math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707260" y="4307840"/>
            <a:ext cx="59061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1 𝑥 2 + 2/3 𝑥 3 + 1 𝑥 5 + 0 𝑥 7 + 1 𝑥 1 + 1 𝑥 4 + 1 𝑥</a:t>
            </a:r>
            <a:r>
              <a:rPr sz="1800" spc="7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1</a:t>
            </a:r>
            <a:endParaRPr sz="1800">
              <a:latin typeface="Cambria Math"/>
              <a:cs typeface="Cambria Math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670810" y="5753582"/>
            <a:ext cx="376555" cy="15240"/>
          </a:xfrm>
          <a:custGeom>
            <a:avLst/>
            <a:gdLst/>
            <a:ahLst/>
            <a:cxnLst/>
            <a:rect l="l" t="t" r="r" b="b"/>
            <a:pathLst>
              <a:path w="376555" h="15239">
                <a:moveTo>
                  <a:pt x="376427" y="0"/>
                </a:moveTo>
                <a:lnTo>
                  <a:pt x="0" y="0"/>
                </a:lnTo>
                <a:lnTo>
                  <a:pt x="0" y="15239"/>
                </a:lnTo>
                <a:lnTo>
                  <a:pt x="376427" y="15239"/>
                </a:lnTo>
                <a:lnTo>
                  <a:pt x="37642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01142" y="4606544"/>
            <a:ext cx="6038013" cy="1793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69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mbria Math"/>
                <a:cs typeface="Cambria Math"/>
              </a:rPr>
              <a:t>2 + 2 + 5 + 0 + 1 + 4 + 1 =</a:t>
            </a:r>
            <a:r>
              <a:rPr sz="1800" spc="285" dirty="0">
                <a:latin typeface="Cambria Math"/>
                <a:cs typeface="Cambria Math"/>
              </a:rPr>
              <a:t> </a:t>
            </a:r>
            <a:r>
              <a:rPr sz="1800" spc="-5" dirty="0">
                <a:latin typeface="Cambria Math"/>
                <a:cs typeface="Cambria Math"/>
              </a:rPr>
              <a:t>15</a:t>
            </a:r>
            <a:endParaRPr sz="1800" dirty="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800" dirty="0">
              <a:latin typeface="Cambria Math"/>
              <a:cs typeface="Cambria Math"/>
            </a:endParaRPr>
          </a:p>
          <a:p>
            <a:pPr marL="38100">
              <a:lnSpc>
                <a:spcPts val="2100"/>
              </a:lnSpc>
            </a:pPr>
            <a:r>
              <a:rPr sz="1800" b="1" spc="-10" dirty="0">
                <a:latin typeface="Calibri"/>
                <a:cs typeface="Calibri"/>
              </a:rPr>
              <a:t>Calculate</a:t>
            </a:r>
            <a:r>
              <a:rPr sz="1800" b="1" spc="-3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Profit</a:t>
            </a:r>
            <a:endParaRPr sz="1800" dirty="0">
              <a:latin typeface="Calibri"/>
              <a:cs typeface="Calibri"/>
            </a:endParaRPr>
          </a:p>
          <a:p>
            <a:pPr marR="408940" algn="ctr">
              <a:lnSpc>
                <a:spcPts val="1705"/>
              </a:lnSpc>
            </a:pPr>
            <a:r>
              <a:rPr sz="1800" dirty="0">
                <a:latin typeface="Cambria Math"/>
                <a:cs typeface="Cambria Math"/>
              </a:rPr>
              <a:t>2</a:t>
            </a:r>
          </a:p>
          <a:p>
            <a:pPr marL="495300">
              <a:lnSpc>
                <a:spcPts val="1764"/>
              </a:lnSpc>
            </a:pPr>
            <a:r>
              <a:rPr sz="1800" spc="1825" dirty="0">
                <a:latin typeface="Cambria Math"/>
                <a:cs typeface="Cambria Math"/>
              </a:rPr>
              <a:t>෍ </a:t>
            </a:r>
            <a:r>
              <a:rPr sz="1800" spc="20" dirty="0">
                <a:latin typeface="Cambria Math"/>
                <a:cs typeface="Cambria Math"/>
              </a:rPr>
              <a:t>𝑥</a:t>
            </a:r>
            <a:r>
              <a:rPr sz="1950" spc="30" baseline="-14957" dirty="0">
                <a:latin typeface="Cambria Math"/>
                <a:cs typeface="Cambria Math"/>
              </a:rPr>
              <a:t>𝑖 </a:t>
            </a:r>
            <a:r>
              <a:rPr sz="1950" spc="104" baseline="-14957" dirty="0">
                <a:latin typeface="Cambria Math"/>
                <a:cs typeface="Cambria Math"/>
              </a:rPr>
              <a:t>𝑝</a:t>
            </a:r>
            <a:r>
              <a:rPr sz="1575" spc="104" baseline="-34391" dirty="0">
                <a:latin typeface="Cambria Math"/>
                <a:cs typeface="Cambria Math"/>
              </a:rPr>
              <a:t>𝑖</a:t>
            </a:r>
            <a:r>
              <a:rPr sz="1950" spc="104" baseline="-14957" dirty="0">
                <a:latin typeface="Cambria Math"/>
                <a:cs typeface="Cambria Math"/>
              </a:rPr>
              <a:t>= </a:t>
            </a:r>
            <a:r>
              <a:rPr sz="1800" dirty="0">
                <a:latin typeface="Cambria Math"/>
                <a:cs typeface="Cambria Math"/>
              </a:rPr>
              <a:t>1 𝑋 </a:t>
            </a:r>
            <a:r>
              <a:rPr sz="1800" spc="-5" dirty="0">
                <a:latin typeface="Cambria Math"/>
                <a:cs typeface="Cambria Math"/>
              </a:rPr>
              <a:t>10 </a:t>
            </a:r>
            <a:r>
              <a:rPr sz="1800" dirty="0">
                <a:latin typeface="Cambria Math"/>
                <a:cs typeface="Cambria Math"/>
              </a:rPr>
              <a:t>+ </a:t>
            </a:r>
            <a:r>
              <a:rPr sz="2700" baseline="-37037" dirty="0">
                <a:latin typeface="Cambria Math"/>
                <a:cs typeface="Cambria Math"/>
              </a:rPr>
              <a:t>3𝑥5 </a:t>
            </a:r>
            <a:r>
              <a:rPr sz="1800" dirty="0">
                <a:latin typeface="Cambria Math"/>
                <a:cs typeface="Cambria Math"/>
              </a:rPr>
              <a:t>+ 1𝑥</a:t>
            </a:r>
            <a:r>
              <a:rPr lang="en-US" sz="1800" dirty="0">
                <a:latin typeface="Cambria Math"/>
                <a:cs typeface="Cambria Math"/>
              </a:rPr>
              <a:t>1</a:t>
            </a:r>
            <a:r>
              <a:rPr sz="1800" dirty="0">
                <a:latin typeface="Cambria Math"/>
                <a:cs typeface="Cambria Math"/>
              </a:rPr>
              <a:t>5 + 1𝑥6 + 1𝑥18 +  </a:t>
            </a:r>
            <a:r>
              <a:rPr sz="1800" spc="-190" dirty="0">
                <a:latin typeface="Cambria Math"/>
                <a:cs typeface="Cambria Math"/>
              </a:rPr>
              <a:t>1𝑥3</a:t>
            </a:r>
            <a:endParaRPr sz="1800" dirty="0">
              <a:latin typeface="Cambria Math"/>
              <a:cs typeface="Cambria Math"/>
            </a:endParaRPr>
          </a:p>
          <a:p>
            <a:pPr marL="495300">
              <a:lnSpc>
                <a:spcPct val="100000"/>
              </a:lnSpc>
              <a:spcBef>
                <a:spcPts val="1885"/>
              </a:spcBef>
            </a:pPr>
            <a:r>
              <a:rPr sz="1800" spc="-5" dirty="0">
                <a:latin typeface="Cambria Math"/>
                <a:cs typeface="Cambria Math"/>
              </a:rPr>
              <a:t>10 </a:t>
            </a:r>
            <a:r>
              <a:rPr sz="1800" dirty="0">
                <a:latin typeface="Cambria Math"/>
                <a:cs typeface="Cambria Math"/>
              </a:rPr>
              <a:t>+ 2𝑥1.3 + </a:t>
            </a:r>
            <a:r>
              <a:rPr sz="1800" spc="-5" dirty="0">
                <a:latin typeface="Cambria Math"/>
                <a:cs typeface="Cambria Math"/>
              </a:rPr>
              <a:t>15 </a:t>
            </a:r>
            <a:r>
              <a:rPr sz="1800" dirty="0">
                <a:latin typeface="Cambria Math"/>
                <a:cs typeface="Cambria Math"/>
              </a:rPr>
              <a:t>+ 6 + </a:t>
            </a:r>
            <a:r>
              <a:rPr sz="1800" spc="-5" dirty="0">
                <a:latin typeface="Cambria Math"/>
                <a:cs typeface="Cambria Math"/>
              </a:rPr>
              <a:t>18 </a:t>
            </a:r>
            <a:r>
              <a:rPr sz="1800" dirty="0">
                <a:latin typeface="Cambria Math"/>
                <a:cs typeface="Cambria Math"/>
              </a:rPr>
              <a:t>+ 3 =</a:t>
            </a:r>
            <a:r>
              <a:rPr sz="1800" spc="285" dirty="0">
                <a:latin typeface="Cambria Math"/>
                <a:cs typeface="Cambria Math"/>
              </a:rPr>
              <a:t> </a:t>
            </a:r>
            <a:r>
              <a:rPr sz="1800" dirty="0">
                <a:latin typeface="Cambria Math"/>
                <a:cs typeface="Cambria Math"/>
              </a:rPr>
              <a:t>54.6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21691" y="237824"/>
            <a:ext cx="11905615" cy="4779645"/>
          </a:xfrm>
          <a:prstGeom prst="rect">
            <a:avLst/>
          </a:prstGeom>
        </p:spPr>
        <p:txBody>
          <a:bodyPr vert="horz" wrap="square" lIns="0" tIns="162560" rIns="0" bIns="0" rtlCol="0">
            <a:spAutoFit/>
          </a:bodyPr>
          <a:lstStyle/>
          <a:p>
            <a:pPr marR="17780" algn="r">
              <a:lnSpc>
                <a:spcPct val="100000"/>
              </a:lnSpc>
              <a:spcBef>
                <a:spcPts val="1280"/>
              </a:spcBef>
            </a:pPr>
            <a:r>
              <a:rPr sz="4500" dirty="0">
                <a:latin typeface="Impact"/>
                <a:cs typeface="Impact"/>
              </a:rPr>
              <a:t>Conclusion</a:t>
            </a:r>
            <a:endParaRPr sz="4500">
              <a:latin typeface="Impact"/>
              <a:cs typeface="Impact"/>
            </a:endParaRPr>
          </a:p>
          <a:p>
            <a:pPr marL="748665" indent="-241300">
              <a:lnSpc>
                <a:spcPts val="6730"/>
              </a:lnSpc>
              <a:spcBef>
                <a:spcPts val="1485"/>
              </a:spcBef>
              <a:buSzPct val="92982"/>
              <a:buFont typeface="Arial"/>
              <a:buChar char="•"/>
              <a:tabLst>
                <a:tab pos="749300" algn="l"/>
              </a:tabLst>
            </a:pPr>
            <a:r>
              <a:rPr sz="5700" i="1" spc="-150" dirty="0">
                <a:latin typeface="Cambria Math"/>
                <a:cs typeface="Cambria Math"/>
              </a:rPr>
              <a:t>Constraints</a:t>
            </a:r>
            <a:endParaRPr sz="5700">
              <a:latin typeface="Cambria Math"/>
              <a:cs typeface="Cambria Math"/>
            </a:endParaRPr>
          </a:p>
          <a:p>
            <a:pPr marL="2710180">
              <a:lnSpc>
                <a:spcPts val="6370"/>
              </a:lnSpc>
              <a:tabLst>
                <a:tab pos="4081779" algn="l"/>
                <a:tab pos="4885055" algn="l"/>
              </a:tabLst>
            </a:pPr>
            <a:r>
              <a:rPr sz="8100" spc="1110" baseline="2572" dirty="0">
                <a:latin typeface="Cambria Math"/>
                <a:cs typeface="Cambria Math"/>
              </a:rPr>
              <a:t>σ</a:t>
            </a:r>
            <a:r>
              <a:rPr sz="8100" spc="-434" baseline="2572" dirty="0">
                <a:latin typeface="Cambria Math"/>
                <a:cs typeface="Cambria Math"/>
              </a:rPr>
              <a:t> </a:t>
            </a:r>
            <a:r>
              <a:rPr sz="5400" spc="40" dirty="0">
                <a:latin typeface="Cambria Math"/>
                <a:cs typeface="Cambria Math"/>
              </a:rPr>
              <a:t>𝑥</a:t>
            </a:r>
            <a:r>
              <a:rPr sz="5925" spc="60" baseline="-15471" dirty="0">
                <a:latin typeface="Cambria Math"/>
                <a:cs typeface="Cambria Math"/>
              </a:rPr>
              <a:t>𝑖	</a:t>
            </a:r>
            <a:r>
              <a:rPr sz="5925" spc="359" baseline="-15471" dirty="0">
                <a:latin typeface="Cambria Math"/>
                <a:cs typeface="Cambria Math"/>
              </a:rPr>
              <a:t>𝑤</a:t>
            </a:r>
            <a:r>
              <a:rPr sz="4875" spc="359" baseline="-33333" dirty="0">
                <a:latin typeface="Cambria Math"/>
                <a:cs typeface="Cambria Math"/>
              </a:rPr>
              <a:t>𝑖	</a:t>
            </a:r>
            <a:r>
              <a:rPr sz="5925" spc="-742" baseline="-15471" dirty="0">
                <a:latin typeface="Cambria Math"/>
                <a:cs typeface="Cambria Math"/>
              </a:rPr>
              <a:t>≤  </a:t>
            </a:r>
            <a:r>
              <a:rPr sz="4400" dirty="0">
                <a:latin typeface="Trebuchet MS"/>
                <a:cs typeface="Trebuchet MS"/>
              </a:rPr>
              <a:t>m </a:t>
            </a:r>
            <a:r>
              <a:rPr sz="4400" spc="-5" dirty="0">
                <a:latin typeface="Trebuchet MS"/>
                <a:cs typeface="Trebuchet MS"/>
              </a:rPr>
              <a:t>where </a:t>
            </a:r>
            <a:r>
              <a:rPr sz="4400" dirty="0">
                <a:latin typeface="Trebuchet MS"/>
                <a:cs typeface="Trebuchet MS"/>
              </a:rPr>
              <a:t>m =</a:t>
            </a:r>
            <a:r>
              <a:rPr sz="4400" spc="-100" dirty="0">
                <a:latin typeface="Trebuchet MS"/>
                <a:cs typeface="Trebuchet MS"/>
              </a:rPr>
              <a:t> </a:t>
            </a:r>
            <a:r>
              <a:rPr sz="4400" spc="-5" dirty="0">
                <a:latin typeface="Trebuchet MS"/>
                <a:cs typeface="Trebuchet MS"/>
              </a:rPr>
              <a:t>15</a:t>
            </a:r>
            <a:endParaRPr sz="4400">
              <a:latin typeface="Trebuchet MS"/>
              <a:cs typeface="Trebuchet MS"/>
            </a:endParaRPr>
          </a:p>
          <a:p>
            <a:pPr marL="291465" indent="-241300">
              <a:lnSpc>
                <a:spcPct val="100000"/>
              </a:lnSpc>
              <a:spcBef>
                <a:spcPts val="625"/>
              </a:spcBef>
              <a:buSzPct val="92982"/>
              <a:buFont typeface="Arial"/>
              <a:buChar char="•"/>
              <a:tabLst>
                <a:tab pos="292100" algn="l"/>
              </a:tabLst>
            </a:pPr>
            <a:r>
              <a:rPr sz="5700" i="1" spc="-165" dirty="0">
                <a:latin typeface="Cambria Math"/>
                <a:cs typeface="Cambria Math"/>
              </a:rPr>
              <a:t>Objective</a:t>
            </a:r>
            <a:endParaRPr sz="5700">
              <a:latin typeface="Cambria Math"/>
              <a:cs typeface="Cambria Math"/>
            </a:endParaRPr>
          </a:p>
          <a:p>
            <a:pPr marL="3315335">
              <a:lnSpc>
                <a:spcPct val="100000"/>
              </a:lnSpc>
              <a:spcBef>
                <a:spcPts val="2320"/>
              </a:spcBef>
              <a:tabLst>
                <a:tab pos="5059045" algn="l"/>
                <a:tab pos="6854190" algn="l"/>
              </a:tabLst>
            </a:pPr>
            <a:r>
              <a:rPr sz="5400" spc="-5" dirty="0">
                <a:latin typeface="Cambria Math"/>
                <a:cs typeface="Cambria Math"/>
              </a:rPr>
              <a:t>𝑀𝐴𝑋	</a:t>
            </a:r>
            <a:r>
              <a:rPr sz="5400" spc="5475" dirty="0">
                <a:latin typeface="Cambria Math"/>
                <a:cs typeface="Cambria Math"/>
              </a:rPr>
              <a:t>෍</a:t>
            </a:r>
            <a:r>
              <a:rPr sz="5400" spc="-280" dirty="0">
                <a:latin typeface="Cambria Math"/>
                <a:cs typeface="Cambria Math"/>
              </a:rPr>
              <a:t> </a:t>
            </a:r>
            <a:r>
              <a:rPr sz="5400" spc="40" dirty="0">
                <a:latin typeface="Cambria Math"/>
                <a:cs typeface="Cambria Math"/>
              </a:rPr>
              <a:t>𝑥</a:t>
            </a:r>
            <a:r>
              <a:rPr sz="5925" spc="60" baseline="-15471" dirty="0">
                <a:latin typeface="Cambria Math"/>
                <a:cs typeface="Cambria Math"/>
              </a:rPr>
              <a:t>𝑖	</a:t>
            </a:r>
            <a:r>
              <a:rPr sz="5925" spc="262" baseline="-15471" dirty="0">
                <a:latin typeface="Cambria Math"/>
                <a:cs typeface="Cambria Math"/>
              </a:rPr>
              <a:t>𝑝</a:t>
            </a:r>
            <a:r>
              <a:rPr sz="4875" spc="262" baseline="-33333" dirty="0">
                <a:latin typeface="Cambria Math"/>
                <a:cs typeface="Cambria Math"/>
              </a:rPr>
              <a:t>𝑖</a:t>
            </a:r>
            <a:r>
              <a:rPr sz="5925" spc="262" baseline="-15471" dirty="0">
                <a:latin typeface="Cambria Math"/>
                <a:cs typeface="Cambria Math"/>
              </a:rPr>
              <a:t>=</a:t>
            </a:r>
            <a:endParaRPr sz="5925" baseline="-15471">
              <a:latin typeface="Cambria Math"/>
              <a:cs typeface="Cambria Math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102088" y="387553"/>
            <a:ext cx="2011680" cy="711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chemeClr val="tx1"/>
                </a:solidFill>
              </a:rPr>
              <a:t>Analysis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dt" sz="half" idx="6"/>
          </p:nvPr>
        </p:nvSpPr>
        <p:spPr>
          <a:xfrm>
            <a:off x="5763895" y="6409770"/>
            <a:ext cx="850900" cy="2949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2000" b="0" i="0" kern="1200">
                <a:solidFill>
                  <a:srgbClr val="000066"/>
                </a:solidFill>
                <a:latin typeface="Arial"/>
                <a:ea typeface="+mn-ea"/>
                <a:cs typeface="Arial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2315"/>
              </a:lnSpc>
            </a:pPr>
            <a:r>
              <a:rPr lang="en-GB" spc="-10"/>
              <a:t> </a:t>
            </a:r>
            <a:endParaRPr spc="-285" dirty="0"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10670285" y="6492417"/>
            <a:ext cx="1410334" cy="1820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b="1" i="0" kern="1200">
                <a:solidFill>
                  <a:srgbClr val="000066"/>
                </a:solidFill>
                <a:latin typeface="Calibri"/>
                <a:ea typeface="+mn-ea"/>
                <a:cs typeface="Calibri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>
              <a:lnSpc>
                <a:spcPts val="1435"/>
              </a:lnSpc>
            </a:pPr>
            <a:r>
              <a:rPr lang="en-GB" dirty="0"/>
              <a:t> 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234391" y="1346657"/>
            <a:ext cx="11303000" cy="4070985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266700" marR="275590" indent="-266700">
              <a:lnSpc>
                <a:spcPts val="3030"/>
              </a:lnSpc>
              <a:spcBef>
                <a:spcPts val="475"/>
              </a:spcBef>
              <a:buFont typeface="Arial"/>
              <a:buChar char="•"/>
              <a:tabLst>
                <a:tab pos="266700" algn="l"/>
              </a:tabLst>
            </a:pPr>
            <a:r>
              <a:rPr sz="2800" spc="-5" dirty="0">
                <a:latin typeface="Trebuchet MS"/>
                <a:cs typeface="Trebuchet MS"/>
              </a:rPr>
              <a:t>If </a:t>
            </a:r>
            <a:r>
              <a:rPr sz="2800" spc="-10" dirty="0">
                <a:latin typeface="Trebuchet MS"/>
                <a:cs typeface="Trebuchet MS"/>
              </a:rPr>
              <a:t>the items </a:t>
            </a:r>
            <a:r>
              <a:rPr sz="2800" spc="-5" dirty="0">
                <a:latin typeface="Trebuchet MS"/>
                <a:cs typeface="Trebuchet MS"/>
              </a:rPr>
              <a:t>are already sorted </a:t>
            </a:r>
            <a:r>
              <a:rPr sz="2800" spc="-10" dirty="0">
                <a:latin typeface="Trebuchet MS"/>
                <a:cs typeface="Trebuchet MS"/>
              </a:rPr>
              <a:t>into decreasing </a:t>
            </a:r>
            <a:r>
              <a:rPr sz="2800" spc="-5" dirty="0">
                <a:latin typeface="Trebuchet MS"/>
                <a:cs typeface="Trebuchet MS"/>
              </a:rPr>
              <a:t>order of </a:t>
            </a:r>
            <a:r>
              <a:rPr sz="2800" i="1" dirty="0">
                <a:latin typeface="Trebuchet MS"/>
                <a:cs typeface="Trebuchet MS"/>
              </a:rPr>
              <a:t>v</a:t>
            </a:r>
            <a:r>
              <a:rPr sz="2775" i="1" baseline="-21021" dirty="0">
                <a:latin typeface="Trebuchet MS"/>
                <a:cs typeface="Trebuchet MS"/>
              </a:rPr>
              <a:t>i </a:t>
            </a:r>
            <a:r>
              <a:rPr sz="2800" i="1" spc="-5" dirty="0">
                <a:latin typeface="Trebuchet MS"/>
                <a:cs typeface="Trebuchet MS"/>
              </a:rPr>
              <a:t>/ </a:t>
            </a:r>
            <a:r>
              <a:rPr sz="2800" i="1" dirty="0">
                <a:latin typeface="Trebuchet MS"/>
                <a:cs typeface="Trebuchet MS"/>
              </a:rPr>
              <a:t>w</a:t>
            </a:r>
            <a:r>
              <a:rPr sz="2775" i="1" baseline="-21021" dirty="0">
                <a:latin typeface="Trebuchet MS"/>
                <a:cs typeface="Trebuchet MS"/>
              </a:rPr>
              <a:t>i, </a:t>
            </a:r>
            <a:r>
              <a:rPr sz="2800" spc="-10" dirty="0">
                <a:latin typeface="Trebuchet MS"/>
                <a:cs typeface="Trebuchet MS"/>
              </a:rPr>
              <a:t>then  the </a:t>
            </a:r>
            <a:r>
              <a:rPr sz="2800" spc="-5" dirty="0">
                <a:latin typeface="Trebuchet MS"/>
                <a:cs typeface="Trebuchet MS"/>
              </a:rPr>
              <a:t>while-loop </a:t>
            </a:r>
            <a:r>
              <a:rPr sz="2800" spc="-10" dirty="0">
                <a:latin typeface="Trebuchet MS"/>
                <a:cs typeface="Trebuchet MS"/>
              </a:rPr>
              <a:t>takes </a:t>
            </a:r>
            <a:r>
              <a:rPr sz="2800" spc="-5" dirty="0">
                <a:latin typeface="Trebuchet MS"/>
                <a:cs typeface="Trebuchet MS"/>
              </a:rPr>
              <a:t>a </a:t>
            </a:r>
            <a:r>
              <a:rPr sz="2800" spc="-10" dirty="0">
                <a:latin typeface="Trebuchet MS"/>
                <a:cs typeface="Trebuchet MS"/>
              </a:rPr>
              <a:t>time </a:t>
            </a:r>
            <a:r>
              <a:rPr sz="2800" spc="-5" dirty="0">
                <a:latin typeface="Trebuchet MS"/>
                <a:cs typeface="Trebuchet MS"/>
              </a:rPr>
              <a:t>in</a:t>
            </a:r>
            <a:r>
              <a:rPr sz="2800" spc="55" dirty="0">
                <a:latin typeface="Trebuchet MS"/>
                <a:cs typeface="Trebuchet MS"/>
              </a:rPr>
              <a:t> </a:t>
            </a:r>
            <a:r>
              <a:rPr sz="2800" b="1" i="1" spc="-5" dirty="0">
                <a:latin typeface="Trebuchet MS"/>
                <a:cs typeface="Trebuchet MS"/>
              </a:rPr>
              <a:t>O(n)</a:t>
            </a:r>
            <a:r>
              <a:rPr sz="2800" spc="-5" dirty="0">
                <a:latin typeface="Trebuchet MS"/>
                <a:cs typeface="Trebuchet MS"/>
              </a:rPr>
              <a:t>;</a:t>
            </a:r>
            <a:endParaRPr sz="2800">
              <a:latin typeface="Trebuchet MS"/>
              <a:cs typeface="Trebuchet MS"/>
            </a:endParaRPr>
          </a:p>
          <a:p>
            <a:pPr marL="266700">
              <a:lnSpc>
                <a:spcPts val="2975"/>
              </a:lnSpc>
            </a:pPr>
            <a:r>
              <a:rPr sz="2800" spc="-5" dirty="0">
                <a:latin typeface="Trebuchet MS"/>
                <a:cs typeface="Trebuchet MS"/>
              </a:rPr>
              <a:t>Therefore, </a:t>
            </a:r>
            <a:r>
              <a:rPr sz="2800" spc="-10" dirty="0">
                <a:latin typeface="Trebuchet MS"/>
                <a:cs typeface="Trebuchet MS"/>
              </a:rPr>
              <a:t>the total time </a:t>
            </a:r>
            <a:r>
              <a:rPr sz="2800" spc="-5" dirty="0">
                <a:latin typeface="Trebuchet MS"/>
                <a:cs typeface="Trebuchet MS"/>
              </a:rPr>
              <a:t>including </a:t>
            </a:r>
            <a:r>
              <a:rPr sz="2800" spc="-10" dirty="0">
                <a:latin typeface="Trebuchet MS"/>
                <a:cs typeface="Trebuchet MS"/>
              </a:rPr>
              <a:t>the </a:t>
            </a:r>
            <a:r>
              <a:rPr sz="2800" spc="-5" dirty="0">
                <a:latin typeface="Trebuchet MS"/>
                <a:cs typeface="Trebuchet MS"/>
              </a:rPr>
              <a:t>sort is in </a:t>
            </a:r>
            <a:r>
              <a:rPr sz="2800" b="1" i="1" spc="-5" dirty="0">
                <a:latin typeface="Trebuchet MS"/>
                <a:cs typeface="Trebuchet MS"/>
              </a:rPr>
              <a:t>O(n log</a:t>
            </a:r>
            <a:r>
              <a:rPr sz="2800" b="1" i="1" spc="85" dirty="0">
                <a:latin typeface="Trebuchet MS"/>
                <a:cs typeface="Trebuchet MS"/>
              </a:rPr>
              <a:t> </a:t>
            </a:r>
            <a:r>
              <a:rPr sz="2800" b="1" i="1" dirty="0">
                <a:latin typeface="Trebuchet MS"/>
                <a:cs typeface="Trebuchet MS"/>
              </a:rPr>
              <a:t>n)</a:t>
            </a:r>
            <a:r>
              <a:rPr sz="2800" b="1" dirty="0">
                <a:latin typeface="Trebuchet MS"/>
                <a:cs typeface="Trebuchet MS"/>
              </a:rPr>
              <a:t>.</a:t>
            </a:r>
            <a:endParaRPr sz="2800">
              <a:latin typeface="Trebuchet MS"/>
              <a:cs typeface="Trebuchet MS"/>
            </a:endParaRPr>
          </a:p>
          <a:p>
            <a:pPr marL="266700" indent="-228600">
              <a:lnSpc>
                <a:spcPct val="100000"/>
              </a:lnSpc>
              <a:spcBef>
                <a:spcPts val="670"/>
              </a:spcBef>
              <a:buFont typeface="Arial"/>
              <a:buChar char="•"/>
              <a:tabLst>
                <a:tab pos="266700" algn="l"/>
              </a:tabLst>
            </a:pPr>
            <a:r>
              <a:rPr sz="2800" spc="-5" dirty="0">
                <a:latin typeface="Trebuchet MS"/>
                <a:cs typeface="Trebuchet MS"/>
              </a:rPr>
              <a:t>If </a:t>
            </a:r>
            <a:r>
              <a:rPr sz="2800" spc="-10" dirty="0">
                <a:latin typeface="Trebuchet MS"/>
                <a:cs typeface="Trebuchet MS"/>
              </a:rPr>
              <a:t>we </a:t>
            </a:r>
            <a:r>
              <a:rPr sz="2800" spc="-5" dirty="0">
                <a:latin typeface="Trebuchet MS"/>
                <a:cs typeface="Trebuchet MS"/>
              </a:rPr>
              <a:t>keep </a:t>
            </a:r>
            <a:r>
              <a:rPr sz="2800" spc="-10" dirty="0">
                <a:latin typeface="Trebuchet MS"/>
                <a:cs typeface="Trebuchet MS"/>
              </a:rPr>
              <a:t>the items </a:t>
            </a:r>
            <a:r>
              <a:rPr sz="2800" spc="-5" dirty="0">
                <a:latin typeface="Trebuchet MS"/>
                <a:cs typeface="Trebuchet MS"/>
              </a:rPr>
              <a:t>in </a:t>
            </a:r>
            <a:r>
              <a:rPr sz="2800" spc="-10" dirty="0">
                <a:latin typeface="Trebuchet MS"/>
                <a:cs typeface="Trebuchet MS"/>
              </a:rPr>
              <a:t>heap with </a:t>
            </a:r>
            <a:r>
              <a:rPr sz="2800" spc="-5" dirty="0">
                <a:latin typeface="Trebuchet MS"/>
                <a:cs typeface="Trebuchet MS"/>
              </a:rPr>
              <a:t>largest </a:t>
            </a:r>
            <a:r>
              <a:rPr sz="2800" i="1" spc="-5" dirty="0">
                <a:latin typeface="Trebuchet MS"/>
                <a:cs typeface="Trebuchet MS"/>
              </a:rPr>
              <a:t>v</a:t>
            </a:r>
            <a:r>
              <a:rPr sz="2775" i="1" spc="-7" baseline="-21021" dirty="0">
                <a:latin typeface="Trebuchet MS"/>
                <a:cs typeface="Trebuchet MS"/>
              </a:rPr>
              <a:t>i</a:t>
            </a:r>
            <a:r>
              <a:rPr sz="2800" i="1" spc="-5" dirty="0">
                <a:latin typeface="Trebuchet MS"/>
                <a:cs typeface="Trebuchet MS"/>
              </a:rPr>
              <a:t>/w</a:t>
            </a:r>
            <a:r>
              <a:rPr sz="2775" i="1" spc="-7" baseline="-21021" dirty="0">
                <a:latin typeface="Trebuchet MS"/>
                <a:cs typeface="Trebuchet MS"/>
              </a:rPr>
              <a:t>i </a:t>
            </a:r>
            <a:r>
              <a:rPr sz="2800" spc="-5" dirty="0">
                <a:latin typeface="Trebuchet MS"/>
                <a:cs typeface="Trebuchet MS"/>
              </a:rPr>
              <a:t>at </a:t>
            </a:r>
            <a:r>
              <a:rPr sz="2800" spc="-10" dirty="0">
                <a:latin typeface="Trebuchet MS"/>
                <a:cs typeface="Trebuchet MS"/>
              </a:rPr>
              <a:t>the </a:t>
            </a:r>
            <a:r>
              <a:rPr sz="2800" spc="-5" dirty="0">
                <a:latin typeface="Trebuchet MS"/>
                <a:cs typeface="Trebuchet MS"/>
              </a:rPr>
              <a:t>root.</a:t>
            </a:r>
            <a:r>
              <a:rPr sz="2800" spc="125" dirty="0">
                <a:latin typeface="Trebuchet MS"/>
                <a:cs typeface="Trebuchet MS"/>
              </a:rPr>
              <a:t> </a:t>
            </a:r>
            <a:r>
              <a:rPr sz="2800" spc="-5" dirty="0">
                <a:latin typeface="Trebuchet MS"/>
                <a:cs typeface="Trebuchet MS"/>
              </a:rPr>
              <a:t>Then</a:t>
            </a:r>
            <a:endParaRPr sz="2800">
              <a:latin typeface="Trebuchet MS"/>
              <a:cs typeface="Trebuchet MS"/>
            </a:endParaRPr>
          </a:p>
          <a:p>
            <a:pPr marL="723900" lvl="1" indent="-229235">
              <a:lnSpc>
                <a:spcPct val="100000"/>
              </a:lnSpc>
              <a:spcBef>
                <a:spcPts val="220"/>
              </a:spcBef>
              <a:buFont typeface="Arial"/>
              <a:buChar char="•"/>
              <a:tabLst>
                <a:tab pos="724535" algn="l"/>
              </a:tabLst>
            </a:pPr>
            <a:r>
              <a:rPr sz="2400" spc="-5" dirty="0">
                <a:latin typeface="Trebuchet MS"/>
                <a:cs typeface="Trebuchet MS"/>
              </a:rPr>
              <a:t>creating the heap takes </a:t>
            </a:r>
            <a:r>
              <a:rPr sz="2400" b="1" i="1" spc="-10" dirty="0">
                <a:latin typeface="Trebuchet MS"/>
                <a:cs typeface="Trebuchet MS"/>
              </a:rPr>
              <a:t>O(n)</a:t>
            </a:r>
            <a:r>
              <a:rPr sz="2400" b="1" i="1" spc="85" dirty="0">
                <a:latin typeface="Trebuchet MS"/>
                <a:cs typeface="Trebuchet MS"/>
              </a:rPr>
              <a:t> </a:t>
            </a:r>
            <a:r>
              <a:rPr sz="2400" spc="-5" dirty="0">
                <a:latin typeface="Trebuchet MS"/>
                <a:cs typeface="Trebuchet MS"/>
              </a:rPr>
              <a:t>time</a:t>
            </a:r>
            <a:endParaRPr sz="2400">
              <a:latin typeface="Trebuchet MS"/>
              <a:cs typeface="Trebuchet MS"/>
            </a:endParaRPr>
          </a:p>
          <a:p>
            <a:pPr marL="723900" marR="368300" lvl="1" indent="-229235">
              <a:lnSpc>
                <a:spcPts val="2590"/>
              </a:lnSpc>
              <a:spcBef>
                <a:spcPts val="545"/>
              </a:spcBef>
              <a:buFont typeface="Arial"/>
              <a:buChar char="•"/>
              <a:tabLst>
                <a:tab pos="724535" algn="l"/>
              </a:tabLst>
            </a:pPr>
            <a:r>
              <a:rPr sz="2400" spc="-5" dirty="0">
                <a:latin typeface="Trebuchet MS"/>
                <a:cs typeface="Trebuchet MS"/>
              </a:rPr>
              <a:t>while-loop now takes </a:t>
            </a:r>
            <a:r>
              <a:rPr sz="2400" b="1" i="1" spc="-5" dirty="0">
                <a:latin typeface="Trebuchet MS"/>
                <a:cs typeface="Trebuchet MS"/>
              </a:rPr>
              <a:t>O(log </a:t>
            </a:r>
            <a:r>
              <a:rPr sz="2400" b="1" i="1" dirty="0">
                <a:latin typeface="Trebuchet MS"/>
                <a:cs typeface="Trebuchet MS"/>
              </a:rPr>
              <a:t>n) </a:t>
            </a:r>
            <a:r>
              <a:rPr sz="2400" spc="-5" dirty="0">
                <a:latin typeface="Trebuchet MS"/>
                <a:cs typeface="Trebuchet MS"/>
              </a:rPr>
              <a:t>time (since heap property must </a:t>
            </a:r>
            <a:r>
              <a:rPr sz="2400" spc="-10" dirty="0">
                <a:latin typeface="Trebuchet MS"/>
                <a:cs typeface="Trebuchet MS"/>
              </a:rPr>
              <a:t>be </a:t>
            </a:r>
            <a:r>
              <a:rPr sz="2400" dirty="0">
                <a:latin typeface="Trebuchet MS"/>
                <a:cs typeface="Trebuchet MS"/>
              </a:rPr>
              <a:t>restored  </a:t>
            </a:r>
            <a:r>
              <a:rPr sz="2400" spc="-5" dirty="0">
                <a:latin typeface="Trebuchet MS"/>
                <a:cs typeface="Trebuchet MS"/>
              </a:rPr>
              <a:t>after the </a:t>
            </a:r>
            <a:r>
              <a:rPr sz="2400" dirty="0">
                <a:latin typeface="Trebuchet MS"/>
                <a:cs typeface="Trebuchet MS"/>
              </a:rPr>
              <a:t>removal of</a:t>
            </a:r>
            <a:r>
              <a:rPr sz="2400" spc="20" dirty="0">
                <a:latin typeface="Trebuchet MS"/>
                <a:cs typeface="Trebuchet MS"/>
              </a:rPr>
              <a:t> </a:t>
            </a:r>
            <a:r>
              <a:rPr sz="2400" spc="-5" dirty="0">
                <a:latin typeface="Trebuchet MS"/>
                <a:cs typeface="Trebuchet MS"/>
              </a:rPr>
              <a:t>root)</a:t>
            </a:r>
            <a:endParaRPr sz="2400">
              <a:latin typeface="Trebuchet MS"/>
              <a:cs typeface="Trebuchet MS"/>
            </a:endParaRPr>
          </a:p>
          <a:p>
            <a:pPr lvl="1">
              <a:lnSpc>
                <a:spcPct val="100000"/>
              </a:lnSpc>
              <a:spcBef>
                <a:spcPts val="45"/>
              </a:spcBef>
              <a:buFont typeface="Arial"/>
              <a:buChar char="•"/>
            </a:pPr>
            <a:endParaRPr sz="3050">
              <a:latin typeface="Trebuchet MS"/>
              <a:cs typeface="Trebuchet MS"/>
            </a:endParaRPr>
          </a:p>
          <a:p>
            <a:pPr marL="266700" marR="17780" indent="-228600">
              <a:lnSpc>
                <a:spcPts val="3020"/>
              </a:lnSpc>
              <a:buFont typeface="Arial"/>
              <a:buChar char="•"/>
              <a:tabLst>
                <a:tab pos="266700" algn="l"/>
              </a:tabLst>
            </a:pPr>
            <a:r>
              <a:rPr sz="2800" spc="-5" dirty="0">
                <a:latin typeface="Trebuchet MS"/>
                <a:cs typeface="Trebuchet MS"/>
              </a:rPr>
              <a:t>Although </a:t>
            </a:r>
            <a:r>
              <a:rPr sz="2800" spc="-10" dirty="0">
                <a:latin typeface="Trebuchet MS"/>
                <a:cs typeface="Trebuchet MS"/>
              </a:rPr>
              <a:t>this data structure does not alter the </a:t>
            </a:r>
            <a:r>
              <a:rPr sz="2800" spc="-5" dirty="0">
                <a:latin typeface="Trebuchet MS"/>
                <a:cs typeface="Trebuchet MS"/>
              </a:rPr>
              <a:t>worst-case, it </a:t>
            </a:r>
            <a:r>
              <a:rPr sz="2800" spc="-10" dirty="0">
                <a:latin typeface="Trebuchet MS"/>
                <a:cs typeface="Trebuchet MS"/>
              </a:rPr>
              <a:t>may be  faster </a:t>
            </a:r>
            <a:r>
              <a:rPr sz="2800" spc="-5" dirty="0">
                <a:latin typeface="Trebuchet MS"/>
                <a:cs typeface="Trebuchet MS"/>
              </a:rPr>
              <a:t>if only a </a:t>
            </a:r>
            <a:r>
              <a:rPr sz="2800" spc="-10" dirty="0">
                <a:latin typeface="Trebuchet MS"/>
                <a:cs typeface="Trebuchet MS"/>
              </a:rPr>
              <a:t>small number </a:t>
            </a:r>
            <a:r>
              <a:rPr sz="2800" spc="-5" dirty="0">
                <a:latin typeface="Trebuchet MS"/>
                <a:cs typeface="Trebuchet MS"/>
              </a:rPr>
              <a:t>of </a:t>
            </a:r>
            <a:r>
              <a:rPr sz="2800" spc="-10" dirty="0">
                <a:latin typeface="Trebuchet MS"/>
                <a:cs typeface="Trebuchet MS"/>
              </a:rPr>
              <a:t>items are need </a:t>
            </a:r>
            <a:r>
              <a:rPr sz="2800" spc="-5" dirty="0">
                <a:latin typeface="Trebuchet MS"/>
                <a:cs typeface="Trebuchet MS"/>
              </a:rPr>
              <a:t>to fill </a:t>
            </a:r>
            <a:r>
              <a:rPr sz="2800" spc="-10" dirty="0">
                <a:latin typeface="Trebuchet MS"/>
                <a:cs typeface="Trebuchet MS"/>
              </a:rPr>
              <a:t>the</a:t>
            </a:r>
            <a:r>
              <a:rPr sz="2800" spc="170" dirty="0">
                <a:latin typeface="Trebuchet MS"/>
                <a:cs typeface="Trebuchet MS"/>
              </a:rPr>
              <a:t> </a:t>
            </a:r>
            <a:r>
              <a:rPr sz="2800" spc="-10" dirty="0">
                <a:latin typeface="Trebuchet MS"/>
                <a:cs typeface="Trebuchet MS"/>
              </a:rPr>
              <a:t>knapsack.</a:t>
            </a:r>
            <a:endParaRPr sz="28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1066</TotalTime>
  <Words>2763</Words>
  <Application>Microsoft Office PowerPoint</Application>
  <PresentationFormat>Custom</PresentationFormat>
  <Paragraphs>763</Paragraphs>
  <Slides>42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3" baseType="lpstr">
      <vt:lpstr>Office Theme</vt:lpstr>
      <vt:lpstr>Greedy Algorithms </vt:lpstr>
      <vt:lpstr>Optimization Problems</vt:lpstr>
      <vt:lpstr>Solving Optimization Problems</vt:lpstr>
      <vt:lpstr>Greedy Algorithms</vt:lpstr>
      <vt:lpstr>Greedy Algorithms</vt:lpstr>
      <vt:lpstr>The Greedy Method Technique</vt:lpstr>
      <vt:lpstr>Elements Of Greedy Algorithms</vt:lpstr>
      <vt:lpstr>Activity-Selection Problem</vt:lpstr>
      <vt:lpstr>Activity-Selection</vt:lpstr>
      <vt:lpstr>Example</vt:lpstr>
      <vt:lpstr>Activity Selection:  Optimal Substructure </vt:lpstr>
      <vt:lpstr>Activity Selection:  Optimal Substructure </vt:lpstr>
      <vt:lpstr>Activity Selection:  Dynamic Programming</vt:lpstr>
      <vt:lpstr>Greedy Choice Property</vt:lpstr>
      <vt:lpstr>Activity Selection: A Greedy Algorithm</vt:lpstr>
      <vt:lpstr>Activity Selection: A Greedy Algorithm</vt:lpstr>
      <vt:lpstr>Greedy Algorithm Correctness</vt:lpstr>
      <vt:lpstr>Example</vt:lpstr>
      <vt:lpstr>Recursive Solution</vt:lpstr>
      <vt:lpstr>Iterative Solution</vt:lpstr>
      <vt:lpstr>Elements Of Greedy Algorithms</vt:lpstr>
      <vt:lpstr>Review: The Knapsack Problem</vt:lpstr>
      <vt:lpstr>Review: The Knapsack Problem   And Optimal Substructure</vt:lpstr>
      <vt:lpstr>Solving The Knapsack Problem</vt:lpstr>
      <vt:lpstr>Fractional knapsack problem</vt:lpstr>
      <vt:lpstr>Greedy Solution - Fractional Knapsack Problem</vt:lpstr>
      <vt:lpstr>PowerPoint Presentation</vt:lpstr>
      <vt:lpstr>The knapsack Pseudo Code</vt:lpstr>
      <vt:lpstr>Algorithm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Knapsack Problem</vt:lpstr>
      <vt:lpstr>PowerPoint Presentation</vt:lpstr>
      <vt:lpstr>Analysis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Bushra Fazal BUKC</dc:creator>
  <cp:lastModifiedBy>PC</cp:lastModifiedBy>
  <cp:revision>17</cp:revision>
  <dcterms:created xsi:type="dcterms:W3CDTF">2020-12-16T05:52:27Z</dcterms:created>
  <dcterms:modified xsi:type="dcterms:W3CDTF">2024-06-06T04:35:04Z</dcterms:modified>
</cp:coreProperties>
</file>