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6858000" type="screen4x3"/>
  <p:notesSz cx="9144000" cy="685800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76" d="100"/>
          <a:sy n="76" d="100"/>
        </p:scale>
        <p:origin x="-1170" y="1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2125980"/>
            <a:ext cx="77724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000" b="1" i="0">
                <a:solidFill>
                  <a:srgbClr val="073D86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3840480"/>
            <a:ext cx="64008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3/21/2024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1" i="0">
                <a:solidFill>
                  <a:srgbClr val="073D86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0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3/21/2024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1" i="0">
                <a:solidFill>
                  <a:srgbClr val="073D86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3/21/2024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1" i="0">
                <a:solidFill>
                  <a:srgbClr val="073D86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3/21/2024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3/21/2024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77724" y="0"/>
            <a:ext cx="9066530" cy="6858000"/>
          </a:xfrm>
          <a:custGeom>
            <a:avLst/>
            <a:gdLst/>
            <a:ahLst/>
            <a:cxnLst/>
            <a:rect l="l" t="t" r="r" b="b"/>
            <a:pathLst>
              <a:path w="9066530" h="6858000">
                <a:moveTo>
                  <a:pt x="9066276" y="0"/>
                </a:moveTo>
                <a:lnTo>
                  <a:pt x="9066276" y="0"/>
                </a:lnTo>
                <a:lnTo>
                  <a:pt x="0" y="0"/>
                </a:lnTo>
                <a:lnTo>
                  <a:pt x="0" y="6858000"/>
                </a:lnTo>
                <a:lnTo>
                  <a:pt x="9066276" y="6858000"/>
                </a:lnTo>
                <a:lnTo>
                  <a:pt x="9066276" y="0"/>
                </a:lnTo>
                <a:close/>
              </a:path>
            </a:pathLst>
          </a:custGeom>
          <a:solidFill>
            <a:srgbClr val="FFFFFF">
              <a:alpha val="10195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65531" y="3486410"/>
            <a:ext cx="9078595" cy="2715260"/>
          </a:xfrm>
          <a:custGeom>
            <a:avLst/>
            <a:gdLst/>
            <a:ahLst/>
            <a:cxnLst/>
            <a:rect l="l" t="t" r="r" b="b"/>
            <a:pathLst>
              <a:path w="9078595" h="2715260">
                <a:moveTo>
                  <a:pt x="0" y="2664542"/>
                </a:moveTo>
                <a:lnTo>
                  <a:pt x="44897" y="2667239"/>
                </a:lnTo>
                <a:lnTo>
                  <a:pt x="89827" y="2669929"/>
                </a:lnTo>
                <a:lnTo>
                  <a:pt x="134821" y="2672605"/>
                </a:lnTo>
                <a:lnTo>
                  <a:pt x="179912" y="2675260"/>
                </a:lnTo>
                <a:lnTo>
                  <a:pt x="225132" y="2677888"/>
                </a:lnTo>
                <a:lnTo>
                  <a:pt x="270512" y="2680480"/>
                </a:lnTo>
                <a:lnTo>
                  <a:pt x="316086" y="2683031"/>
                </a:lnTo>
                <a:lnTo>
                  <a:pt x="361886" y="2685534"/>
                </a:lnTo>
                <a:lnTo>
                  <a:pt x="407943" y="2687980"/>
                </a:lnTo>
                <a:lnTo>
                  <a:pt x="454290" y="2690365"/>
                </a:lnTo>
                <a:lnTo>
                  <a:pt x="500959" y="2692680"/>
                </a:lnTo>
                <a:lnTo>
                  <a:pt x="547982" y="2694918"/>
                </a:lnTo>
                <a:lnTo>
                  <a:pt x="595392" y="2697074"/>
                </a:lnTo>
                <a:lnTo>
                  <a:pt x="643221" y="2699139"/>
                </a:lnTo>
                <a:lnTo>
                  <a:pt x="691501" y="2701107"/>
                </a:lnTo>
                <a:lnTo>
                  <a:pt x="740264" y="2702971"/>
                </a:lnTo>
                <a:lnTo>
                  <a:pt x="789542" y="2704723"/>
                </a:lnTo>
                <a:lnTo>
                  <a:pt x="839368" y="2706358"/>
                </a:lnTo>
                <a:lnTo>
                  <a:pt x="889773" y="2707869"/>
                </a:lnTo>
                <a:lnTo>
                  <a:pt x="940791" y="2709247"/>
                </a:lnTo>
                <a:lnTo>
                  <a:pt x="992453" y="2710486"/>
                </a:lnTo>
                <a:lnTo>
                  <a:pt x="1044791" y="2711580"/>
                </a:lnTo>
                <a:lnTo>
                  <a:pt x="1097838" y="2712521"/>
                </a:lnTo>
                <a:lnTo>
                  <a:pt x="1151625" y="2713303"/>
                </a:lnTo>
                <a:lnTo>
                  <a:pt x="1206186" y="2713918"/>
                </a:lnTo>
                <a:lnTo>
                  <a:pt x="1261552" y="2714360"/>
                </a:lnTo>
                <a:lnTo>
                  <a:pt x="1317756" y="2714622"/>
                </a:lnTo>
                <a:lnTo>
                  <a:pt x="1374829" y="2714696"/>
                </a:lnTo>
                <a:lnTo>
                  <a:pt x="1432804" y="2714576"/>
                </a:lnTo>
                <a:lnTo>
                  <a:pt x="1491713" y="2714254"/>
                </a:lnTo>
                <a:lnTo>
                  <a:pt x="1551589" y="2713725"/>
                </a:lnTo>
                <a:lnTo>
                  <a:pt x="1612463" y="2712981"/>
                </a:lnTo>
                <a:lnTo>
                  <a:pt x="1674368" y="2712015"/>
                </a:lnTo>
                <a:lnTo>
                  <a:pt x="1717496" y="2711270"/>
                </a:lnTo>
                <a:lnTo>
                  <a:pt x="1761028" y="2710516"/>
                </a:lnTo>
                <a:lnTo>
                  <a:pt x="1804957" y="2709749"/>
                </a:lnTo>
                <a:lnTo>
                  <a:pt x="1849280" y="2708963"/>
                </a:lnTo>
                <a:lnTo>
                  <a:pt x="1893993" y="2708156"/>
                </a:lnTo>
                <a:lnTo>
                  <a:pt x="1939090" y="2707323"/>
                </a:lnTo>
                <a:lnTo>
                  <a:pt x="1984567" y="2706460"/>
                </a:lnTo>
                <a:lnTo>
                  <a:pt x="2030419" y="2705562"/>
                </a:lnTo>
                <a:lnTo>
                  <a:pt x="2076643" y="2704625"/>
                </a:lnTo>
                <a:lnTo>
                  <a:pt x="2123233" y="2703646"/>
                </a:lnTo>
                <a:lnTo>
                  <a:pt x="2170185" y="2702619"/>
                </a:lnTo>
                <a:lnTo>
                  <a:pt x="2217495" y="2701541"/>
                </a:lnTo>
                <a:lnTo>
                  <a:pt x="2265158" y="2700408"/>
                </a:lnTo>
                <a:lnTo>
                  <a:pt x="2313169" y="2699216"/>
                </a:lnTo>
                <a:lnTo>
                  <a:pt x="2361525" y="2697959"/>
                </a:lnTo>
                <a:lnTo>
                  <a:pt x="2410220" y="2696635"/>
                </a:lnTo>
                <a:lnTo>
                  <a:pt x="2459250" y="2695239"/>
                </a:lnTo>
                <a:lnTo>
                  <a:pt x="2508610" y="2693766"/>
                </a:lnTo>
                <a:lnTo>
                  <a:pt x="2558297" y="2692213"/>
                </a:lnTo>
                <a:lnTo>
                  <a:pt x="2608305" y="2690575"/>
                </a:lnTo>
                <a:lnTo>
                  <a:pt x="2658630" y="2688848"/>
                </a:lnTo>
                <a:lnTo>
                  <a:pt x="2709267" y="2687028"/>
                </a:lnTo>
                <a:lnTo>
                  <a:pt x="2760213" y="2685111"/>
                </a:lnTo>
                <a:lnTo>
                  <a:pt x="2811462" y="2683092"/>
                </a:lnTo>
                <a:lnTo>
                  <a:pt x="2863010" y="2680968"/>
                </a:lnTo>
                <a:lnTo>
                  <a:pt x="2914853" y="2678734"/>
                </a:lnTo>
                <a:lnTo>
                  <a:pt x="2966985" y="2676386"/>
                </a:lnTo>
                <a:lnTo>
                  <a:pt x="3019403" y="2673920"/>
                </a:lnTo>
                <a:lnTo>
                  <a:pt x="3072102" y="2671331"/>
                </a:lnTo>
                <a:lnTo>
                  <a:pt x="3125077" y="2668616"/>
                </a:lnTo>
                <a:lnTo>
                  <a:pt x="3178324" y="2665770"/>
                </a:lnTo>
                <a:lnTo>
                  <a:pt x="3231839" y="2662790"/>
                </a:lnTo>
                <a:lnTo>
                  <a:pt x="3285617" y="2659670"/>
                </a:lnTo>
                <a:lnTo>
                  <a:pt x="3339653" y="2656407"/>
                </a:lnTo>
                <a:lnTo>
                  <a:pt x="3393943" y="2652996"/>
                </a:lnTo>
                <a:lnTo>
                  <a:pt x="3448482" y="2649434"/>
                </a:lnTo>
                <a:lnTo>
                  <a:pt x="3503266" y="2645716"/>
                </a:lnTo>
                <a:lnTo>
                  <a:pt x="3558291" y="2641837"/>
                </a:lnTo>
                <a:lnTo>
                  <a:pt x="3613552" y="2637795"/>
                </a:lnTo>
                <a:lnTo>
                  <a:pt x="3669044" y="2633584"/>
                </a:lnTo>
                <a:lnTo>
                  <a:pt x="3724762" y="2629201"/>
                </a:lnTo>
                <a:lnTo>
                  <a:pt x="3780704" y="2624641"/>
                </a:lnTo>
                <a:lnTo>
                  <a:pt x="3836863" y="2619900"/>
                </a:lnTo>
                <a:lnTo>
                  <a:pt x="3893235" y="2614973"/>
                </a:lnTo>
                <a:lnTo>
                  <a:pt x="3949817" y="2609858"/>
                </a:lnTo>
                <a:lnTo>
                  <a:pt x="4006602" y="2604549"/>
                </a:lnTo>
                <a:lnTo>
                  <a:pt x="4063588" y="2599042"/>
                </a:lnTo>
                <a:lnTo>
                  <a:pt x="4120768" y="2593333"/>
                </a:lnTo>
                <a:lnTo>
                  <a:pt x="4166137" y="2588697"/>
                </a:lnTo>
                <a:lnTo>
                  <a:pt x="4212100" y="2583936"/>
                </a:lnTo>
                <a:lnTo>
                  <a:pt x="4258634" y="2579050"/>
                </a:lnTo>
                <a:lnTo>
                  <a:pt x="4305717" y="2574044"/>
                </a:lnTo>
                <a:lnTo>
                  <a:pt x="4353327" y="2568918"/>
                </a:lnTo>
                <a:lnTo>
                  <a:pt x="4401442" y="2563674"/>
                </a:lnTo>
                <a:lnTo>
                  <a:pt x="4450040" y="2558316"/>
                </a:lnTo>
                <a:lnTo>
                  <a:pt x="4499098" y="2552844"/>
                </a:lnTo>
                <a:lnTo>
                  <a:pt x="4548593" y="2547260"/>
                </a:lnTo>
                <a:lnTo>
                  <a:pt x="4598504" y="2541568"/>
                </a:lnTo>
                <a:lnTo>
                  <a:pt x="4648809" y="2535768"/>
                </a:lnTo>
                <a:lnTo>
                  <a:pt x="4699484" y="2529863"/>
                </a:lnTo>
                <a:lnTo>
                  <a:pt x="4750508" y="2523855"/>
                </a:lnTo>
                <a:lnTo>
                  <a:pt x="4801858" y="2517746"/>
                </a:lnTo>
                <a:lnTo>
                  <a:pt x="4853512" y="2511538"/>
                </a:lnTo>
                <a:lnTo>
                  <a:pt x="4905448" y="2505233"/>
                </a:lnTo>
                <a:lnTo>
                  <a:pt x="4957644" y="2498833"/>
                </a:lnTo>
                <a:lnTo>
                  <a:pt x="5010077" y="2492340"/>
                </a:lnTo>
                <a:lnTo>
                  <a:pt x="5062725" y="2485757"/>
                </a:lnTo>
                <a:lnTo>
                  <a:pt x="5115565" y="2479084"/>
                </a:lnTo>
                <a:lnTo>
                  <a:pt x="5168575" y="2472325"/>
                </a:lnTo>
                <a:lnTo>
                  <a:pt x="5221734" y="2465480"/>
                </a:lnTo>
                <a:lnTo>
                  <a:pt x="5275018" y="2458554"/>
                </a:lnTo>
                <a:lnTo>
                  <a:pt x="5328406" y="2451546"/>
                </a:lnTo>
                <a:lnTo>
                  <a:pt x="5381875" y="2444460"/>
                </a:lnTo>
                <a:lnTo>
                  <a:pt x="5435403" y="2437297"/>
                </a:lnTo>
                <a:lnTo>
                  <a:pt x="5488967" y="2430060"/>
                </a:lnTo>
                <a:lnTo>
                  <a:pt x="5542545" y="2422750"/>
                </a:lnTo>
                <a:lnTo>
                  <a:pt x="5596116" y="2415370"/>
                </a:lnTo>
                <a:lnTo>
                  <a:pt x="5649656" y="2407921"/>
                </a:lnTo>
                <a:lnTo>
                  <a:pt x="5703143" y="2400406"/>
                </a:lnTo>
                <a:lnTo>
                  <a:pt x="5756556" y="2392826"/>
                </a:lnTo>
                <a:lnTo>
                  <a:pt x="5809871" y="2385184"/>
                </a:lnTo>
                <a:lnTo>
                  <a:pt x="5863067" y="2377482"/>
                </a:lnTo>
                <a:lnTo>
                  <a:pt x="5916120" y="2369722"/>
                </a:lnTo>
                <a:lnTo>
                  <a:pt x="5969010" y="2361905"/>
                </a:lnTo>
                <a:lnTo>
                  <a:pt x="6021714" y="2354035"/>
                </a:lnTo>
                <a:lnTo>
                  <a:pt x="6074208" y="2346112"/>
                </a:lnTo>
                <a:lnTo>
                  <a:pt x="6126472" y="2338139"/>
                </a:lnTo>
                <a:lnTo>
                  <a:pt x="6178482" y="2330118"/>
                </a:lnTo>
                <a:lnTo>
                  <a:pt x="6230217" y="2322051"/>
                </a:lnTo>
                <a:lnTo>
                  <a:pt x="6281654" y="2313940"/>
                </a:lnTo>
                <a:lnTo>
                  <a:pt x="6332771" y="2305787"/>
                </a:lnTo>
                <a:lnTo>
                  <a:pt x="6383545" y="2297595"/>
                </a:lnTo>
                <a:lnTo>
                  <a:pt x="6433954" y="2289364"/>
                </a:lnTo>
                <a:lnTo>
                  <a:pt x="6483977" y="2281098"/>
                </a:lnTo>
                <a:lnTo>
                  <a:pt x="6533590" y="2272798"/>
                </a:lnTo>
                <a:lnTo>
                  <a:pt x="6582771" y="2264466"/>
                </a:lnTo>
                <a:lnTo>
                  <a:pt x="6631499" y="2256104"/>
                </a:lnTo>
                <a:lnTo>
                  <a:pt x="6679750" y="2247715"/>
                </a:lnTo>
                <a:lnTo>
                  <a:pt x="6727503" y="2239300"/>
                </a:lnTo>
                <a:lnTo>
                  <a:pt x="6774735" y="2230862"/>
                </a:lnTo>
                <a:lnTo>
                  <a:pt x="6821423" y="2222402"/>
                </a:lnTo>
                <a:lnTo>
                  <a:pt x="6867547" y="2213923"/>
                </a:lnTo>
                <a:lnTo>
                  <a:pt x="6913082" y="2205426"/>
                </a:lnTo>
                <a:lnTo>
                  <a:pt x="6958008" y="2196914"/>
                </a:lnTo>
                <a:lnTo>
                  <a:pt x="7002301" y="2188388"/>
                </a:lnTo>
                <a:lnTo>
                  <a:pt x="7045940" y="2179851"/>
                </a:lnTo>
                <a:lnTo>
                  <a:pt x="7088902" y="2171305"/>
                </a:lnTo>
                <a:lnTo>
                  <a:pt x="7131164" y="2162751"/>
                </a:lnTo>
                <a:lnTo>
                  <a:pt x="7172706" y="2154193"/>
                </a:lnTo>
                <a:lnTo>
                  <a:pt x="7233990" y="2141279"/>
                </a:lnTo>
                <a:lnTo>
                  <a:pt x="7295292" y="2128018"/>
                </a:lnTo>
                <a:lnTo>
                  <a:pt x="7356561" y="2114429"/>
                </a:lnTo>
                <a:lnTo>
                  <a:pt x="7417744" y="2100531"/>
                </a:lnTo>
                <a:lnTo>
                  <a:pt x="7478789" y="2086344"/>
                </a:lnTo>
                <a:lnTo>
                  <a:pt x="7539643" y="2071887"/>
                </a:lnTo>
                <a:lnTo>
                  <a:pt x="7600255" y="2057181"/>
                </a:lnTo>
                <a:lnTo>
                  <a:pt x="7660572" y="2042245"/>
                </a:lnTo>
                <a:lnTo>
                  <a:pt x="7720543" y="2027099"/>
                </a:lnTo>
                <a:lnTo>
                  <a:pt x="7780114" y="2011762"/>
                </a:lnTo>
                <a:lnTo>
                  <a:pt x="7839234" y="1996253"/>
                </a:lnTo>
                <a:lnTo>
                  <a:pt x="7897850" y="1980594"/>
                </a:lnTo>
                <a:lnTo>
                  <a:pt x="7955910" y="1964802"/>
                </a:lnTo>
                <a:lnTo>
                  <a:pt x="8013363" y="1948898"/>
                </a:lnTo>
                <a:lnTo>
                  <a:pt x="8070155" y="1932902"/>
                </a:lnTo>
                <a:lnTo>
                  <a:pt x="8126235" y="1916833"/>
                </a:lnTo>
                <a:lnTo>
                  <a:pt x="8181550" y="1900711"/>
                </a:lnTo>
                <a:lnTo>
                  <a:pt x="8236049" y="1884555"/>
                </a:lnTo>
                <a:lnTo>
                  <a:pt x="8289678" y="1868385"/>
                </a:lnTo>
                <a:lnTo>
                  <a:pt x="8342386" y="1852221"/>
                </a:lnTo>
                <a:lnTo>
                  <a:pt x="8394121" y="1836083"/>
                </a:lnTo>
                <a:lnTo>
                  <a:pt x="8444830" y="1819989"/>
                </a:lnTo>
                <a:lnTo>
                  <a:pt x="8494462" y="1803960"/>
                </a:lnTo>
                <a:lnTo>
                  <a:pt x="8542963" y="1788015"/>
                </a:lnTo>
                <a:lnTo>
                  <a:pt x="8590282" y="1772174"/>
                </a:lnTo>
                <a:lnTo>
                  <a:pt x="8636367" y="1756457"/>
                </a:lnTo>
                <a:lnTo>
                  <a:pt x="8681165" y="1740883"/>
                </a:lnTo>
                <a:lnTo>
                  <a:pt x="8724624" y="1725472"/>
                </a:lnTo>
                <a:lnTo>
                  <a:pt x="8766692" y="1710243"/>
                </a:lnTo>
                <a:lnTo>
                  <a:pt x="8807316" y="1695216"/>
                </a:lnTo>
                <a:lnTo>
                  <a:pt x="8846446" y="1680412"/>
                </a:lnTo>
                <a:lnTo>
                  <a:pt x="8884027" y="1665848"/>
                </a:lnTo>
                <a:lnTo>
                  <a:pt x="8920009" y="1651546"/>
                </a:lnTo>
                <a:lnTo>
                  <a:pt x="8986963" y="1623804"/>
                </a:lnTo>
                <a:lnTo>
                  <a:pt x="9046892" y="1597341"/>
                </a:lnTo>
                <a:lnTo>
                  <a:pt x="9074091" y="1584639"/>
                </a:lnTo>
                <a:lnTo>
                  <a:pt x="9078468" y="1582506"/>
                </a:lnTo>
              </a:path>
              <a:path w="9078595" h="2715260">
                <a:moveTo>
                  <a:pt x="0" y="872229"/>
                </a:moveTo>
                <a:lnTo>
                  <a:pt x="35919" y="853180"/>
                </a:lnTo>
                <a:lnTo>
                  <a:pt x="71982" y="834132"/>
                </a:lnTo>
                <a:lnTo>
                  <a:pt x="108333" y="815087"/>
                </a:lnTo>
                <a:lnTo>
                  <a:pt x="145116" y="796048"/>
                </a:lnTo>
                <a:lnTo>
                  <a:pt x="182474" y="777015"/>
                </a:lnTo>
                <a:lnTo>
                  <a:pt x="220551" y="757991"/>
                </a:lnTo>
                <a:lnTo>
                  <a:pt x="259492" y="738977"/>
                </a:lnTo>
                <a:lnTo>
                  <a:pt x="299440" y="719976"/>
                </a:lnTo>
                <a:lnTo>
                  <a:pt x="340539" y="700988"/>
                </a:lnTo>
                <a:lnTo>
                  <a:pt x="382933" y="682016"/>
                </a:lnTo>
                <a:lnTo>
                  <a:pt x="426766" y="663060"/>
                </a:lnTo>
                <a:lnTo>
                  <a:pt x="472181" y="644124"/>
                </a:lnTo>
                <a:lnTo>
                  <a:pt x="519323" y="625208"/>
                </a:lnTo>
                <a:lnTo>
                  <a:pt x="568335" y="606315"/>
                </a:lnTo>
                <a:lnTo>
                  <a:pt x="619361" y="587445"/>
                </a:lnTo>
                <a:lnTo>
                  <a:pt x="672546" y="568602"/>
                </a:lnTo>
                <a:lnTo>
                  <a:pt x="728032" y="549786"/>
                </a:lnTo>
                <a:lnTo>
                  <a:pt x="785965" y="530999"/>
                </a:lnTo>
                <a:lnTo>
                  <a:pt x="846487" y="512243"/>
                </a:lnTo>
                <a:lnTo>
                  <a:pt x="909743" y="493519"/>
                </a:lnTo>
                <a:lnTo>
                  <a:pt x="975877" y="474830"/>
                </a:lnTo>
                <a:lnTo>
                  <a:pt x="1045032" y="456177"/>
                </a:lnTo>
                <a:lnTo>
                  <a:pt x="1082442" y="446311"/>
                </a:lnTo>
                <a:lnTo>
                  <a:pt x="1120581" y="436245"/>
                </a:lnTo>
                <a:lnTo>
                  <a:pt x="1159438" y="425994"/>
                </a:lnTo>
                <a:lnTo>
                  <a:pt x="1199000" y="415576"/>
                </a:lnTo>
                <a:lnTo>
                  <a:pt x="1239256" y="405004"/>
                </a:lnTo>
                <a:lnTo>
                  <a:pt x="1280195" y="394297"/>
                </a:lnTo>
                <a:lnTo>
                  <a:pt x="1321804" y="383469"/>
                </a:lnTo>
                <a:lnTo>
                  <a:pt x="1364074" y="372536"/>
                </a:lnTo>
                <a:lnTo>
                  <a:pt x="1406991" y="361514"/>
                </a:lnTo>
                <a:lnTo>
                  <a:pt x="1450545" y="350419"/>
                </a:lnTo>
                <a:lnTo>
                  <a:pt x="1494724" y="339268"/>
                </a:lnTo>
                <a:lnTo>
                  <a:pt x="1539516" y="328075"/>
                </a:lnTo>
                <a:lnTo>
                  <a:pt x="1584910" y="316858"/>
                </a:lnTo>
                <a:lnTo>
                  <a:pt x="1630895" y="305631"/>
                </a:lnTo>
                <a:lnTo>
                  <a:pt x="1677458" y="294410"/>
                </a:lnTo>
                <a:lnTo>
                  <a:pt x="1724589" y="283212"/>
                </a:lnTo>
                <a:lnTo>
                  <a:pt x="1772276" y="272053"/>
                </a:lnTo>
                <a:lnTo>
                  <a:pt x="1820507" y="260948"/>
                </a:lnTo>
                <a:lnTo>
                  <a:pt x="1869271" y="249913"/>
                </a:lnTo>
                <a:lnTo>
                  <a:pt x="1918556" y="238964"/>
                </a:lnTo>
                <a:lnTo>
                  <a:pt x="1968350" y="228117"/>
                </a:lnTo>
                <a:lnTo>
                  <a:pt x="2018643" y="217388"/>
                </a:lnTo>
                <a:lnTo>
                  <a:pt x="2069423" y="206793"/>
                </a:lnTo>
                <a:lnTo>
                  <a:pt x="2120677" y="196348"/>
                </a:lnTo>
                <a:lnTo>
                  <a:pt x="2172396" y="186068"/>
                </a:lnTo>
                <a:lnTo>
                  <a:pt x="2224566" y="175970"/>
                </a:lnTo>
                <a:lnTo>
                  <a:pt x="2277177" y="166069"/>
                </a:lnTo>
                <a:lnTo>
                  <a:pt x="2330217" y="156382"/>
                </a:lnTo>
                <a:lnTo>
                  <a:pt x="2383675" y="146924"/>
                </a:lnTo>
                <a:lnTo>
                  <a:pt x="2437538" y="137711"/>
                </a:lnTo>
                <a:lnTo>
                  <a:pt x="2491796" y="128759"/>
                </a:lnTo>
                <a:lnTo>
                  <a:pt x="2546437" y="120084"/>
                </a:lnTo>
                <a:lnTo>
                  <a:pt x="2601449" y="111702"/>
                </a:lnTo>
                <a:lnTo>
                  <a:pt x="2656822" y="103628"/>
                </a:lnTo>
                <a:lnTo>
                  <a:pt x="2712542" y="95879"/>
                </a:lnTo>
                <a:lnTo>
                  <a:pt x="2768600" y="88471"/>
                </a:lnTo>
                <a:lnTo>
                  <a:pt x="2824982" y="81419"/>
                </a:lnTo>
                <a:lnTo>
                  <a:pt x="2881679" y="74740"/>
                </a:lnTo>
                <a:lnTo>
                  <a:pt x="2938678" y="68449"/>
                </a:lnTo>
                <a:lnTo>
                  <a:pt x="2995967" y="62561"/>
                </a:lnTo>
                <a:lnTo>
                  <a:pt x="3053536" y="57094"/>
                </a:lnTo>
                <a:lnTo>
                  <a:pt x="3111373" y="52063"/>
                </a:lnTo>
                <a:lnTo>
                  <a:pt x="3155803" y="48448"/>
                </a:lnTo>
                <a:lnTo>
                  <a:pt x="3200573" y="44959"/>
                </a:lnTo>
                <a:lnTo>
                  <a:pt x="3245678" y="41597"/>
                </a:lnTo>
                <a:lnTo>
                  <a:pt x="3291111" y="38362"/>
                </a:lnTo>
                <a:lnTo>
                  <a:pt x="3336868" y="35255"/>
                </a:lnTo>
                <a:lnTo>
                  <a:pt x="3382943" y="32275"/>
                </a:lnTo>
                <a:lnTo>
                  <a:pt x="3429330" y="29425"/>
                </a:lnTo>
                <a:lnTo>
                  <a:pt x="3476023" y="26703"/>
                </a:lnTo>
                <a:lnTo>
                  <a:pt x="3523018" y="24111"/>
                </a:lnTo>
                <a:lnTo>
                  <a:pt x="3570308" y="21648"/>
                </a:lnTo>
                <a:lnTo>
                  <a:pt x="3617888" y="19316"/>
                </a:lnTo>
                <a:lnTo>
                  <a:pt x="3665752" y="17114"/>
                </a:lnTo>
                <a:lnTo>
                  <a:pt x="3713896" y="15043"/>
                </a:lnTo>
                <a:lnTo>
                  <a:pt x="3762312" y="13104"/>
                </a:lnTo>
                <a:lnTo>
                  <a:pt x="3810996" y="11297"/>
                </a:lnTo>
                <a:lnTo>
                  <a:pt x="3859942" y="9622"/>
                </a:lnTo>
                <a:lnTo>
                  <a:pt x="3909144" y="8079"/>
                </a:lnTo>
                <a:lnTo>
                  <a:pt x="3958598" y="6670"/>
                </a:lnTo>
                <a:lnTo>
                  <a:pt x="4008297" y="5395"/>
                </a:lnTo>
                <a:lnTo>
                  <a:pt x="4058235" y="4254"/>
                </a:lnTo>
                <a:lnTo>
                  <a:pt x="4108408" y="3247"/>
                </a:lnTo>
                <a:lnTo>
                  <a:pt x="4158810" y="2375"/>
                </a:lnTo>
                <a:lnTo>
                  <a:pt x="4209434" y="1638"/>
                </a:lnTo>
                <a:lnTo>
                  <a:pt x="4260276" y="1037"/>
                </a:lnTo>
                <a:lnTo>
                  <a:pt x="4311330" y="572"/>
                </a:lnTo>
                <a:lnTo>
                  <a:pt x="4362591" y="244"/>
                </a:lnTo>
                <a:lnTo>
                  <a:pt x="4414052" y="53"/>
                </a:lnTo>
                <a:lnTo>
                  <a:pt x="4465708" y="0"/>
                </a:lnTo>
                <a:lnTo>
                  <a:pt x="4517554" y="84"/>
                </a:lnTo>
                <a:lnTo>
                  <a:pt x="4569585" y="306"/>
                </a:lnTo>
                <a:lnTo>
                  <a:pt x="4621793" y="667"/>
                </a:lnTo>
                <a:lnTo>
                  <a:pt x="4674175" y="1168"/>
                </a:lnTo>
                <a:lnTo>
                  <a:pt x="4726724" y="1808"/>
                </a:lnTo>
                <a:lnTo>
                  <a:pt x="4779435" y="2588"/>
                </a:lnTo>
                <a:lnTo>
                  <a:pt x="4832302" y="3508"/>
                </a:lnTo>
                <a:lnTo>
                  <a:pt x="4885320" y="4569"/>
                </a:lnTo>
                <a:lnTo>
                  <a:pt x="4938483" y="5772"/>
                </a:lnTo>
                <a:lnTo>
                  <a:pt x="4991785" y="7116"/>
                </a:lnTo>
                <a:lnTo>
                  <a:pt x="5045222" y="8603"/>
                </a:lnTo>
                <a:lnTo>
                  <a:pt x="5098787" y="10232"/>
                </a:lnTo>
                <a:lnTo>
                  <a:pt x="5152475" y="12004"/>
                </a:lnTo>
                <a:lnTo>
                  <a:pt x="5206280" y="13919"/>
                </a:lnTo>
                <a:lnTo>
                  <a:pt x="5260196" y="15978"/>
                </a:lnTo>
                <a:lnTo>
                  <a:pt x="5314219" y="18182"/>
                </a:lnTo>
                <a:lnTo>
                  <a:pt x="5368342" y="20530"/>
                </a:lnTo>
                <a:lnTo>
                  <a:pt x="5422561" y="23023"/>
                </a:lnTo>
                <a:lnTo>
                  <a:pt x="5476868" y="25662"/>
                </a:lnTo>
                <a:lnTo>
                  <a:pt x="5531260" y="28447"/>
                </a:lnTo>
                <a:lnTo>
                  <a:pt x="5585730" y="31378"/>
                </a:lnTo>
                <a:lnTo>
                  <a:pt x="5640273" y="34456"/>
                </a:lnTo>
                <a:lnTo>
                  <a:pt x="5694882" y="37681"/>
                </a:lnTo>
                <a:lnTo>
                  <a:pt x="5749554" y="41054"/>
                </a:lnTo>
                <a:lnTo>
                  <a:pt x="5804281" y="44575"/>
                </a:lnTo>
                <a:lnTo>
                  <a:pt x="5859059" y="48245"/>
                </a:lnTo>
                <a:lnTo>
                  <a:pt x="5913882" y="52063"/>
                </a:lnTo>
                <a:lnTo>
                  <a:pt x="5961497" y="55558"/>
                </a:lnTo>
                <a:lnTo>
                  <a:pt x="6010054" y="59357"/>
                </a:lnTo>
                <a:lnTo>
                  <a:pt x="6059512" y="63450"/>
                </a:lnTo>
                <a:lnTo>
                  <a:pt x="6109828" y="67827"/>
                </a:lnTo>
                <a:lnTo>
                  <a:pt x="6160963" y="72478"/>
                </a:lnTo>
                <a:lnTo>
                  <a:pt x="6212875" y="77394"/>
                </a:lnTo>
                <a:lnTo>
                  <a:pt x="6265523" y="82565"/>
                </a:lnTo>
                <a:lnTo>
                  <a:pt x="6318865" y="87981"/>
                </a:lnTo>
                <a:lnTo>
                  <a:pt x="6372861" y="93633"/>
                </a:lnTo>
                <a:lnTo>
                  <a:pt x="6427469" y="99509"/>
                </a:lnTo>
                <a:lnTo>
                  <a:pt x="6482648" y="105602"/>
                </a:lnTo>
                <a:lnTo>
                  <a:pt x="6538356" y="111900"/>
                </a:lnTo>
                <a:lnTo>
                  <a:pt x="6594554" y="118394"/>
                </a:lnTo>
                <a:lnTo>
                  <a:pt x="6651199" y="125075"/>
                </a:lnTo>
                <a:lnTo>
                  <a:pt x="6708250" y="131932"/>
                </a:lnTo>
                <a:lnTo>
                  <a:pt x="6765667" y="138955"/>
                </a:lnTo>
                <a:lnTo>
                  <a:pt x="6823407" y="146135"/>
                </a:lnTo>
                <a:lnTo>
                  <a:pt x="6881430" y="153463"/>
                </a:lnTo>
                <a:lnTo>
                  <a:pt x="6939695" y="160927"/>
                </a:lnTo>
                <a:lnTo>
                  <a:pt x="6998160" y="168519"/>
                </a:lnTo>
                <a:lnTo>
                  <a:pt x="7056785" y="176229"/>
                </a:lnTo>
                <a:lnTo>
                  <a:pt x="7115528" y="184046"/>
                </a:lnTo>
                <a:lnTo>
                  <a:pt x="7174347" y="191962"/>
                </a:lnTo>
                <a:lnTo>
                  <a:pt x="7233203" y="199966"/>
                </a:lnTo>
                <a:lnTo>
                  <a:pt x="7292053" y="208048"/>
                </a:lnTo>
                <a:lnTo>
                  <a:pt x="7350856" y="216198"/>
                </a:lnTo>
                <a:lnTo>
                  <a:pt x="7409571" y="224408"/>
                </a:lnTo>
                <a:lnTo>
                  <a:pt x="7468158" y="232667"/>
                </a:lnTo>
                <a:lnTo>
                  <a:pt x="7526574" y="240964"/>
                </a:lnTo>
                <a:lnTo>
                  <a:pt x="7584779" y="249291"/>
                </a:lnTo>
                <a:lnTo>
                  <a:pt x="7642732" y="257638"/>
                </a:lnTo>
                <a:lnTo>
                  <a:pt x="7700390" y="265995"/>
                </a:lnTo>
                <a:lnTo>
                  <a:pt x="7757714" y="274351"/>
                </a:lnTo>
                <a:lnTo>
                  <a:pt x="7814662" y="282698"/>
                </a:lnTo>
                <a:lnTo>
                  <a:pt x="7871193" y="291025"/>
                </a:lnTo>
                <a:lnTo>
                  <a:pt x="7927265" y="299323"/>
                </a:lnTo>
                <a:lnTo>
                  <a:pt x="7982838" y="307581"/>
                </a:lnTo>
                <a:lnTo>
                  <a:pt x="8037870" y="315791"/>
                </a:lnTo>
                <a:lnTo>
                  <a:pt x="8092320" y="323942"/>
                </a:lnTo>
                <a:lnTo>
                  <a:pt x="8146147" y="332024"/>
                </a:lnTo>
                <a:lnTo>
                  <a:pt x="8199310" y="340028"/>
                </a:lnTo>
                <a:lnTo>
                  <a:pt x="8251767" y="347943"/>
                </a:lnTo>
                <a:lnTo>
                  <a:pt x="8303478" y="355760"/>
                </a:lnTo>
                <a:lnTo>
                  <a:pt x="8354400" y="363470"/>
                </a:lnTo>
                <a:lnTo>
                  <a:pt x="8404494" y="371062"/>
                </a:lnTo>
                <a:lnTo>
                  <a:pt x="8453718" y="378527"/>
                </a:lnTo>
                <a:lnTo>
                  <a:pt x="8502030" y="385854"/>
                </a:lnTo>
                <a:lnTo>
                  <a:pt x="8549389" y="393034"/>
                </a:lnTo>
                <a:lnTo>
                  <a:pt x="8595755" y="400058"/>
                </a:lnTo>
                <a:lnTo>
                  <a:pt x="8641087" y="406915"/>
                </a:lnTo>
                <a:lnTo>
                  <a:pt x="8685342" y="413595"/>
                </a:lnTo>
                <a:lnTo>
                  <a:pt x="8728479" y="420090"/>
                </a:lnTo>
                <a:lnTo>
                  <a:pt x="8770459" y="426388"/>
                </a:lnTo>
                <a:lnTo>
                  <a:pt x="8811239" y="432480"/>
                </a:lnTo>
                <a:lnTo>
                  <a:pt x="8850778" y="438357"/>
                </a:lnTo>
                <a:lnTo>
                  <a:pt x="8889035" y="444008"/>
                </a:lnTo>
                <a:lnTo>
                  <a:pt x="8961538" y="454595"/>
                </a:lnTo>
                <a:lnTo>
                  <a:pt x="9028420" y="464163"/>
                </a:lnTo>
                <a:lnTo>
                  <a:pt x="9059649" y="468540"/>
                </a:lnTo>
                <a:lnTo>
                  <a:pt x="9078468" y="471133"/>
                </a:lnTo>
              </a:path>
            </a:pathLst>
          </a:custGeom>
          <a:ln w="6096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53339" y="5640324"/>
            <a:ext cx="3005455" cy="1211580"/>
          </a:xfrm>
          <a:custGeom>
            <a:avLst/>
            <a:gdLst/>
            <a:ahLst/>
            <a:cxnLst/>
            <a:rect l="l" t="t" r="r" b="b"/>
            <a:pathLst>
              <a:path w="3005455" h="1211579">
                <a:moveTo>
                  <a:pt x="0" y="0"/>
                </a:moveTo>
                <a:lnTo>
                  <a:pt x="51736" y="23523"/>
                </a:lnTo>
                <a:lnTo>
                  <a:pt x="103465" y="47039"/>
                </a:lnTo>
                <a:lnTo>
                  <a:pt x="155181" y="70542"/>
                </a:lnTo>
                <a:lnTo>
                  <a:pt x="206875" y="94025"/>
                </a:lnTo>
                <a:lnTo>
                  <a:pt x="258542" y="117481"/>
                </a:lnTo>
                <a:lnTo>
                  <a:pt x="310173" y="140903"/>
                </a:lnTo>
                <a:lnTo>
                  <a:pt x="361763" y="164285"/>
                </a:lnTo>
                <a:lnTo>
                  <a:pt x="413304" y="187620"/>
                </a:lnTo>
                <a:lnTo>
                  <a:pt x="464788" y="210901"/>
                </a:lnTo>
                <a:lnTo>
                  <a:pt x="516210" y="234122"/>
                </a:lnTo>
                <a:lnTo>
                  <a:pt x="567562" y="257275"/>
                </a:lnTo>
                <a:lnTo>
                  <a:pt x="618837" y="280354"/>
                </a:lnTo>
                <a:lnTo>
                  <a:pt x="670028" y="303352"/>
                </a:lnTo>
                <a:lnTo>
                  <a:pt x="721127" y="326263"/>
                </a:lnTo>
                <a:lnTo>
                  <a:pt x="772129" y="349080"/>
                </a:lnTo>
                <a:lnTo>
                  <a:pt x="823026" y="371796"/>
                </a:lnTo>
                <a:lnTo>
                  <a:pt x="873811" y="394404"/>
                </a:lnTo>
                <a:lnTo>
                  <a:pt x="924477" y="416898"/>
                </a:lnTo>
                <a:lnTo>
                  <a:pt x="975017" y="439271"/>
                </a:lnTo>
                <a:lnTo>
                  <a:pt x="1025424" y="461515"/>
                </a:lnTo>
                <a:lnTo>
                  <a:pt x="1075691" y="483626"/>
                </a:lnTo>
                <a:lnTo>
                  <a:pt x="1125811" y="505594"/>
                </a:lnTo>
                <a:lnTo>
                  <a:pt x="1175776" y="527415"/>
                </a:lnTo>
                <a:lnTo>
                  <a:pt x="1225581" y="549081"/>
                </a:lnTo>
                <a:lnTo>
                  <a:pt x="1275218" y="570586"/>
                </a:lnTo>
                <a:lnTo>
                  <a:pt x="1324680" y="591923"/>
                </a:lnTo>
                <a:lnTo>
                  <a:pt x="1373960" y="613084"/>
                </a:lnTo>
                <a:lnTo>
                  <a:pt x="1423050" y="634064"/>
                </a:lnTo>
                <a:lnTo>
                  <a:pt x="1471945" y="654855"/>
                </a:lnTo>
                <a:lnTo>
                  <a:pt x="1520637" y="675452"/>
                </a:lnTo>
                <a:lnTo>
                  <a:pt x="1569118" y="695846"/>
                </a:lnTo>
                <a:lnTo>
                  <a:pt x="1617383" y="716032"/>
                </a:lnTo>
                <a:lnTo>
                  <a:pt x="1665423" y="736002"/>
                </a:lnTo>
                <a:lnTo>
                  <a:pt x="1713232" y="755751"/>
                </a:lnTo>
                <a:lnTo>
                  <a:pt x="1760804" y="775270"/>
                </a:lnTo>
                <a:lnTo>
                  <a:pt x="1808130" y="794555"/>
                </a:lnTo>
                <a:lnTo>
                  <a:pt x="1855204" y="813597"/>
                </a:lnTo>
                <a:lnTo>
                  <a:pt x="1902019" y="832390"/>
                </a:lnTo>
                <a:lnTo>
                  <a:pt x="1948568" y="850927"/>
                </a:lnTo>
                <a:lnTo>
                  <a:pt x="1994844" y="869202"/>
                </a:lnTo>
                <a:lnTo>
                  <a:pt x="2040840" y="887208"/>
                </a:lnTo>
                <a:lnTo>
                  <a:pt x="2086549" y="904937"/>
                </a:lnTo>
                <a:lnTo>
                  <a:pt x="2131963" y="922385"/>
                </a:lnTo>
                <a:lnTo>
                  <a:pt x="2177077" y="939543"/>
                </a:lnTo>
                <a:lnTo>
                  <a:pt x="2221882" y="956404"/>
                </a:lnTo>
                <a:lnTo>
                  <a:pt x="2266372" y="972963"/>
                </a:lnTo>
                <a:lnTo>
                  <a:pt x="2310540" y="989213"/>
                </a:lnTo>
                <a:lnTo>
                  <a:pt x="2354379" y="1005146"/>
                </a:lnTo>
                <a:lnTo>
                  <a:pt x="2397882" y="1020757"/>
                </a:lnTo>
                <a:lnTo>
                  <a:pt x="2441042" y="1036037"/>
                </a:lnTo>
                <a:lnTo>
                  <a:pt x="2483852" y="1050981"/>
                </a:lnTo>
                <a:lnTo>
                  <a:pt x="2526304" y="1065583"/>
                </a:lnTo>
                <a:lnTo>
                  <a:pt x="2568393" y="1079834"/>
                </a:lnTo>
                <a:lnTo>
                  <a:pt x="2610110" y="1093728"/>
                </a:lnTo>
                <a:lnTo>
                  <a:pt x="2651449" y="1107259"/>
                </a:lnTo>
                <a:lnTo>
                  <a:pt x="2692403" y="1120420"/>
                </a:lnTo>
                <a:lnTo>
                  <a:pt x="2732964" y="1133205"/>
                </a:lnTo>
                <a:lnTo>
                  <a:pt x="2773127" y="1145605"/>
                </a:lnTo>
                <a:lnTo>
                  <a:pt x="2812883" y="1157616"/>
                </a:lnTo>
                <a:lnTo>
                  <a:pt x="2852227" y="1169229"/>
                </a:lnTo>
                <a:lnTo>
                  <a:pt x="2891150" y="1180439"/>
                </a:lnTo>
                <a:lnTo>
                  <a:pt x="2929645" y="1191239"/>
                </a:lnTo>
                <a:lnTo>
                  <a:pt x="2967707" y="1201621"/>
                </a:lnTo>
                <a:lnTo>
                  <a:pt x="3005328" y="1211579"/>
                </a:lnTo>
              </a:path>
            </a:pathLst>
          </a:custGeom>
          <a:ln w="6096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65531" y="5285232"/>
            <a:ext cx="9078595" cy="1467485"/>
          </a:xfrm>
          <a:custGeom>
            <a:avLst/>
            <a:gdLst/>
            <a:ahLst/>
            <a:cxnLst/>
            <a:rect l="l" t="t" r="r" b="b"/>
            <a:pathLst>
              <a:path w="9078595" h="1467484">
                <a:moveTo>
                  <a:pt x="0" y="0"/>
                </a:moveTo>
                <a:lnTo>
                  <a:pt x="37323" y="13040"/>
                </a:lnTo>
                <a:lnTo>
                  <a:pt x="74768" y="26102"/>
                </a:lnTo>
                <a:lnTo>
                  <a:pt x="112457" y="39209"/>
                </a:lnTo>
                <a:lnTo>
                  <a:pt x="150510" y="52381"/>
                </a:lnTo>
                <a:lnTo>
                  <a:pt x="189049" y="65641"/>
                </a:lnTo>
                <a:lnTo>
                  <a:pt x="228196" y="79010"/>
                </a:lnTo>
                <a:lnTo>
                  <a:pt x="268072" y="92511"/>
                </a:lnTo>
                <a:lnTo>
                  <a:pt x="308798" y="106166"/>
                </a:lnTo>
                <a:lnTo>
                  <a:pt x="350497" y="119996"/>
                </a:lnTo>
                <a:lnTo>
                  <a:pt x="393290" y="134024"/>
                </a:lnTo>
                <a:lnTo>
                  <a:pt x="437298" y="148271"/>
                </a:lnTo>
                <a:lnTo>
                  <a:pt x="482642" y="162760"/>
                </a:lnTo>
                <a:lnTo>
                  <a:pt x="529445" y="177511"/>
                </a:lnTo>
                <a:lnTo>
                  <a:pt x="577827" y="192548"/>
                </a:lnTo>
                <a:lnTo>
                  <a:pt x="627911" y="207892"/>
                </a:lnTo>
                <a:lnTo>
                  <a:pt x="679817" y="223566"/>
                </a:lnTo>
                <a:lnTo>
                  <a:pt x="733668" y="239590"/>
                </a:lnTo>
                <a:lnTo>
                  <a:pt x="789584" y="255987"/>
                </a:lnTo>
                <a:lnTo>
                  <a:pt x="847687" y="272779"/>
                </a:lnTo>
                <a:lnTo>
                  <a:pt x="908100" y="289988"/>
                </a:lnTo>
                <a:lnTo>
                  <a:pt x="970942" y="307635"/>
                </a:lnTo>
                <a:lnTo>
                  <a:pt x="1036337" y="325744"/>
                </a:lnTo>
                <a:lnTo>
                  <a:pt x="1104404" y="344335"/>
                </a:lnTo>
                <a:lnTo>
                  <a:pt x="1142874" y="354783"/>
                </a:lnTo>
                <a:lnTo>
                  <a:pt x="1182216" y="365482"/>
                </a:lnTo>
                <a:lnTo>
                  <a:pt x="1222405" y="376420"/>
                </a:lnTo>
                <a:lnTo>
                  <a:pt x="1263418" y="387587"/>
                </a:lnTo>
                <a:lnTo>
                  <a:pt x="1305230" y="398970"/>
                </a:lnTo>
                <a:lnTo>
                  <a:pt x="1347817" y="410558"/>
                </a:lnTo>
                <a:lnTo>
                  <a:pt x="1391155" y="422339"/>
                </a:lnTo>
                <a:lnTo>
                  <a:pt x="1435221" y="434301"/>
                </a:lnTo>
                <a:lnTo>
                  <a:pt x="1479990" y="446435"/>
                </a:lnTo>
                <a:lnTo>
                  <a:pt x="1525438" y="458726"/>
                </a:lnTo>
                <a:lnTo>
                  <a:pt x="1571541" y="471165"/>
                </a:lnTo>
                <a:lnTo>
                  <a:pt x="1618274" y="483740"/>
                </a:lnTo>
                <a:lnTo>
                  <a:pt x="1665615" y="496438"/>
                </a:lnTo>
                <a:lnTo>
                  <a:pt x="1713539" y="509249"/>
                </a:lnTo>
                <a:lnTo>
                  <a:pt x="1762022" y="522161"/>
                </a:lnTo>
                <a:lnTo>
                  <a:pt x="1811039" y="535163"/>
                </a:lnTo>
                <a:lnTo>
                  <a:pt x="1860567" y="548242"/>
                </a:lnTo>
                <a:lnTo>
                  <a:pt x="1910582" y="561388"/>
                </a:lnTo>
                <a:lnTo>
                  <a:pt x="1961060" y="574589"/>
                </a:lnTo>
                <a:lnTo>
                  <a:pt x="2011976" y="587832"/>
                </a:lnTo>
                <a:lnTo>
                  <a:pt x="2063307" y="601108"/>
                </a:lnTo>
                <a:lnTo>
                  <a:pt x="2115028" y="614404"/>
                </a:lnTo>
                <a:lnTo>
                  <a:pt x="2167116" y="627708"/>
                </a:lnTo>
                <a:lnTo>
                  <a:pt x="2219546" y="641010"/>
                </a:lnTo>
                <a:lnTo>
                  <a:pt x="2272294" y="654297"/>
                </a:lnTo>
                <a:lnTo>
                  <a:pt x="2325337" y="667558"/>
                </a:lnTo>
                <a:lnTo>
                  <a:pt x="2378650" y="680782"/>
                </a:lnTo>
                <a:lnTo>
                  <a:pt x="2432210" y="693956"/>
                </a:lnTo>
                <a:lnTo>
                  <a:pt x="2485992" y="707070"/>
                </a:lnTo>
                <a:lnTo>
                  <a:pt x="2539971" y="720112"/>
                </a:lnTo>
                <a:lnTo>
                  <a:pt x="2594125" y="733070"/>
                </a:lnTo>
                <a:lnTo>
                  <a:pt x="2648429" y="745933"/>
                </a:lnTo>
                <a:lnTo>
                  <a:pt x="2702859" y="758689"/>
                </a:lnTo>
                <a:lnTo>
                  <a:pt x="2757391" y="771327"/>
                </a:lnTo>
                <a:lnTo>
                  <a:pt x="2812001" y="783835"/>
                </a:lnTo>
                <a:lnTo>
                  <a:pt x="2866664" y="796202"/>
                </a:lnTo>
                <a:lnTo>
                  <a:pt x="2921358" y="808416"/>
                </a:lnTo>
                <a:lnTo>
                  <a:pt x="2976057" y="820465"/>
                </a:lnTo>
                <a:lnTo>
                  <a:pt x="3030738" y="832339"/>
                </a:lnTo>
                <a:lnTo>
                  <a:pt x="3085376" y="844024"/>
                </a:lnTo>
                <a:lnTo>
                  <a:pt x="3139949" y="855511"/>
                </a:lnTo>
                <a:lnTo>
                  <a:pt x="3194431" y="866787"/>
                </a:lnTo>
                <a:lnTo>
                  <a:pt x="3240390" y="876174"/>
                </a:lnTo>
                <a:lnTo>
                  <a:pt x="3286814" y="885572"/>
                </a:lnTo>
                <a:lnTo>
                  <a:pt x="3333683" y="894977"/>
                </a:lnTo>
                <a:lnTo>
                  <a:pt x="3380978" y="904385"/>
                </a:lnTo>
                <a:lnTo>
                  <a:pt x="3428679" y="913795"/>
                </a:lnTo>
                <a:lnTo>
                  <a:pt x="3476766" y="923202"/>
                </a:lnTo>
                <a:lnTo>
                  <a:pt x="3525219" y="932602"/>
                </a:lnTo>
                <a:lnTo>
                  <a:pt x="3574020" y="941993"/>
                </a:lnTo>
                <a:lnTo>
                  <a:pt x="3623148" y="951370"/>
                </a:lnTo>
                <a:lnTo>
                  <a:pt x="3672583" y="960731"/>
                </a:lnTo>
                <a:lnTo>
                  <a:pt x="3722307" y="970072"/>
                </a:lnTo>
                <a:lnTo>
                  <a:pt x="3772299" y="979390"/>
                </a:lnTo>
                <a:lnTo>
                  <a:pt x="3822539" y="988681"/>
                </a:lnTo>
                <a:lnTo>
                  <a:pt x="3873008" y="997942"/>
                </a:lnTo>
                <a:lnTo>
                  <a:pt x="3923686" y="1007169"/>
                </a:lnTo>
                <a:lnTo>
                  <a:pt x="3974554" y="1016359"/>
                </a:lnTo>
                <a:lnTo>
                  <a:pt x="4025592" y="1025508"/>
                </a:lnTo>
                <a:lnTo>
                  <a:pt x="4076780" y="1034614"/>
                </a:lnTo>
                <a:lnTo>
                  <a:pt x="4128098" y="1043673"/>
                </a:lnTo>
                <a:lnTo>
                  <a:pt x="4179528" y="1052680"/>
                </a:lnTo>
                <a:lnTo>
                  <a:pt x="4231048" y="1061634"/>
                </a:lnTo>
                <a:lnTo>
                  <a:pt x="4282641" y="1070530"/>
                </a:lnTo>
                <a:lnTo>
                  <a:pt x="4334285" y="1079365"/>
                </a:lnTo>
                <a:lnTo>
                  <a:pt x="4385961" y="1088135"/>
                </a:lnTo>
                <a:lnTo>
                  <a:pt x="4437649" y="1096838"/>
                </a:lnTo>
                <a:lnTo>
                  <a:pt x="4489331" y="1105470"/>
                </a:lnTo>
                <a:lnTo>
                  <a:pt x="4540986" y="1114027"/>
                </a:lnTo>
                <a:lnTo>
                  <a:pt x="4592594" y="1122505"/>
                </a:lnTo>
                <a:lnTo>
                  <a:pt x="4644136" y="1130903"/>
                </a:lnTo>
                <a:lnTo>
                  <a:pt x="4695592" y="1139215"/>
                </a:lnTo>
                <a:lnTo>
                  <a:pt x="4746942" y="1147439"/>
                </a:lnTo>
                <a:lnTo>
                  <a:pt x="4798168" y="1155572"/>
                </a:lnTo>
                <a:lnTo>
                  <a:pt x="4849248" y="1163609"/>
                </a:lnTo>
                <a:lnTo>
                  <a:pt x="4900164" y="1171548"/>
                </a:lnTo>
                <a:lnTo>
                  <a:pt x="4950896" y="1179384"/>
                </a:lnTo>
                <a:lnTo>
                  <a:pt x="5001424" y="1187116"/>
                </a:lnTo>
                <a:lnTo>
                  <a:pt x="5051729" y="1194738"/>
                </a:lnTo>
                <a:lnTo>
                  <a:pt x="5101790" y="1202248"/>
                </a:lnTo>
                <a:lnTo>
                  <a:pt x="5151588" y="1209643"/>
                </a:lnTo>
                <a:lnTo>
                  <a:pt x="5201104" y="1216918"/>
                </a:lnTo>
                <a:lnTo>
                  <a:pt x="5250317" y="1224071"/>
                </a:lnTo>
                <a:lnTo>
                  <a:pt x="5299209" y="1231098"/>
                </a:lnTo>
                <a:lnTo>
                  <a:pt x="5347759" y="1237995"/>
                </a:lnTo>
                <a:lnTo>
                  <a:pt x="5395947" y="1244760"/>
                </a:lnTo>
                <a:lnTo>
                  <a:pt x="5443755" y="1251389"/>
                </a:lnTo>
                <a:lnTo>
                  <a:pt x="5491162" y="1257878"/>
                </a:lnTo>
                <a:lnTo>
                  <a:pt x="5538149" y="1264224"/>
                </a:lnTo>
                <a:lnTo>
                  <a:pt x="5584696" y="1270423"/>
                </a:lnTo>
                <a:lnTo>
                  <a:pt x="5630783" y="1276473"/>
                </a:lnTo>
                <a:lnTo>
                  <a:pt x="5676392" y="1282369"/>
                </a:lnTo>
                <a:lnTo>
                  <a:pt x="5731811" y="1289363"/>
                </a:lnTo>
                <a:lnTo>
                  <a:pt x="5787409" y="1296155"/>
                </a:lnTo>
                <a:lnTo>
                  <a:pt x="5843151" y="1302751"/>
                </a:lnTo>
                <a:lnTo>
                  <a:pt x="5899002" y="1309154"/>
                </a:lnTo>
                <a:lnTo>
                  <a:pt x="5954929" y="1315370"/>
                </a:lnTo>
                <a:lnTo>
                  <a:pt x="6010898" y="1321401"/>
                </a:lnTo>
                <a:lnTo>
                  <a:pt x="6066874" y="1327252"/>
                </a:lnTo>
                <a:lnTo>
                  <a:pt x="6122823" y="1332927"/>
                </a:lnTo>
                <a:lnTo>
                  <a:pt x="6178712" y="1338430"/>
                </a:lnTo>
                <a:lnTo>
                  <a:pt x="6234506" y="1343766"/>
                </a:lnTo>
                <a:lnTo>
                  <a:pt x="6290170" y="1348938"/>
                </a:lnTo>
                <a:lnTo>
                  <a:pt x="6345672" y="1353951"/>
                </a:lnTo>
                <a:lnTo>
                  <a:pt x="6400976" y="1358809"/>
                </a:lnTo>
                <a:lnTo>
                  <a:pt x="6456049" y="1363515"/>
                </a:lnTo>
                <a:lnTo>
                  <a:pt x="6510856" y="1368075"/>
                </a:lnTo>
                <a:lnTo>
                  <a:pt x="6565363" y="1372492"/>
                </a:lnTo>
                <a:lnTo>
                  <a:pt x="6619537" y="1376770"/>
                </a:lnTo>
                <a:lnTo>
                  <a:pt x="6673343" y="1380913"/>
                </a:lnTo>
                <a:lnTo>
                  <a:pt x="6726747" y="1384927"/>
                </a:lnTo>
                <a:lnTo>
                  <a:pt x="6779715" y="1388814"/>
                </a:lnTo>
                <a:lnTo>
                  <a:pt x="6832213" y="1392578"/>
                </a:lnTo>
                <a:lnTo>
                  <a:pt x="6884206" y="1396225"/>
                </a:lnTo>
                <a:lnTo>
                  <a:pt x="6935661" y="1399758"/>
                </a:lnTo>
                <a:lnTo>
                  <a:pt x="6986543" y="1403181"/>
                </a:lnTo>
                <a:lnTo>
                  <a:pt x="7036818" y="1406499"/>
                </a:lnTo>
                <a:lnTo>
                  <a:pt x="7086453" y="1409715"/>
                </a:lnTo>
                <a:lnTo>
                  <a:pt x="7135412" y="1412834"/>
                </a:lnTo>
                <a:lnTo>
                  <a:pt x="7183663" y="1415860"/>
                </a:lnTo>
                <a:lnTo>
                  <a:pt x="7231170" y="1418796"/>
                </a:lnTo>
                <a:lnTo>
                  <a:pt x="7277900" y="1421648"/>
                </a:lnTo>
                <a:lnTo>
                  <a:pt x="7323819" y="1424419"/>
                </a:lnTo>
                <a:lnTo>
                  <a:pt x="7368892" y="1427113"/>
                </a:lnTo>
                <a:lnTo>
                  <a:pt x="7413086" y="1429735"/>
                </a:lnTo>
                <a:lnTo>
                  <a:pt x="7456365" y="1432289"/>
                </a:lnTo>
                <a:lnTo>
                  <a:pt x="7498697" y="1434778"/>
                </a:lnTo>
                <a:lnTo>
                  <a:pt x="7540047" y="1437207"/>
                </a:lnTo>
                <a:lnTo>
                  <a:pt x="7580380" y="1439580"/>
                </a:lnTo>
                <a:lnTo>
                  <a:pt x="7619663" y="1441901"/>
                </a:lnTo>
                <a:lnTo>
                  <a:pt x="7657862" y="1444175"/>
                </a:lnTo>
                <a:lnTo>
                  <a:pt x="7694943" y="1446405"/>
                </a:lnTo>
                <a:lnTo>
                  <a:pt x="7730871" y="1448596"/>
                </a:lnTo>
                <a:lnTo>
                  <a:pt x="7812458" y="1453393"/>
                </a:lnTo>
                <a:lnTo>
                  <a:pt x="7887182" y="1457351"/>
                </a:lnTo>
                <a:lnTo>
                  <a:pt x="7955617" y="1460536"/>
                </a:lnTo>
                <a:lnTo>
                  <a:pt x="8018335" y="1463013"/>
                </a:lnTo>
                <a:lnTo>
                  <a:pt x="8075908" y="1464848"/>
                </a:lnTo>
                <a:lnTo>
                  <a:pt x="8128910" y="1466104"/>
                </a:lnTo>
                <a:lnTo>
                  <a:pt x="8177913" y="1466849"/>
                </a:lnTo>
                <a:lnTo>
                  <a:pt x="8223490" y="1467146"/>
                </a:lnTo>
                <a:lnTo>
                  <a:pt x="8266214" y="1467061"/>
                </a:lnTo>
                <a:lnTo>
                  <a:pt x="8306657" y="1466660"/>
                </a:lnTo>
                <a:lnTo>
                  <a:pt x="8345393" y="1466007"/>
                </a:lnTo>
                <a:lnTo>
                  <a:pt x="8420033" y="1464209"/>
                </a:lnTo>
                <a:lnTo>
                  <a:pt x="8457083" y="1463194"/>
                </a:lnTo>
                <a:lnTo>
                  <a:pt x="8494716" y="1462189"/>
                </a:lnTo>
                <a:lnTo>
                  <a:pt x="8533505" y="1461258"/>
                </a:lnTo>
                <a:lnTo>
                  <a:pt x="8574024" y="1460468"/>
                </a:lnTo>
                <a:lnTo>
                  <a:pt x="8636600" y="1459103"/>
                </a:lnTo>
                <a:lnTo>
                  <a:pt x="8696102" y="1457203"/>
                </a:lnTo>
                <a:lnTo>
                  <a:pt x="8752836" y="1454821"/>
                </a:lnTo>
                <a:lnTo>
                  <a:pt x="8807112" y="1452010"/>
                </a:lnTo>
                <a:lnTo>
                  <a:pt x="8859235" y="1448825"/>
                </a:lnTo>
                <a:lnTo>
                  <a:pt x="8909514" y="1445320"/>
                </a:lnTo>
                <a:lnTo>
                  <a:pt x="8958256" y="1441546"/>
                </a:lnTo>
                <a:lnTo>
                  <a:pt x="9005768" y="1437559"/>
                </a:lnTo>
                <a:lnTo>
                  <a:pt x="9052357" y="1433412"/>
                </a:lnTo>
                <a:lnTo>
                  <a:pt x="9078468" y="1430996"/>
                </a:lnTo>
              </a:path>
            </a:pathLst>
          </a:custGeom>
          <a:ln w="609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bg object 21"/>
          <p:cNvSpPr/>
          <p:nvPr/>
        </p:nvSpPr>
        <p:spPr>
          <a:xfrm>
            <a:off x="2215895" y="5138558"/>
            <a:ext cx="6928484" cy="1713864"/>
          </a:xfrm>
          <a:custGeom>
            <a:avLst/>
            <a:gdLst/>
            <a:ahLst/>
            <a:cxnLst/>
            <a:rect l="l" t="t" r="r" b="b"/>
            <a:pathLst>
              <a:path w="6928484" h="1713865">
                <a:moveTo>
                  <a:pt x="0" y="1713344"/>
                </a:moveTo>
                <a:lnTo>
                  <a:pt x="32477" y="1676752"/>
                </a:lnTo>
                <a:lnTo>
                  <a:pt x="65057" y="1640186"/>
                </a:lnTo>
                <a:lnTo>
                  <a:pt x="97845" y="1603673"/>
                </a:lnTo>
                <a:lnTo>
                  <a:pt x="130949" y="1567238"/>
                </a:lnTo>
                <a:lnTo>
                  <a:pt x="164474" y="1530909"/>
                </a:lnTo>
                <a:lnTo>
                  <a:pt x="198526" y="1494711"/>
                </a:lnTo>
                <a:lnTo>
                  <a:pt x="233211" y="1458672"/>
                </a:lnTo>
                <a:lnTo>
                  <a:pt x="268636" y="1422817"/>
                </a:lnTo>
                <a:lnTo>
                  <a:pt x="304906" y="1387174"/>
                </a:lnTo>
                <a:lnTo>
                  <a:pt x="342128" y="1351767"/>
                </a:lnTo>
                <a:lnTo>
                  <a:pt x="380408" y="1316625"/>
                </a:lnTo>
                <a:lnTo>
                  <a:pt x="419851" y="1281772"/>
                </a:lnTo>
                <a:lnTo>
                  <a:pt x="460565" y="1247236"/>
                </a:lnTo>
                <a:lnTo>
                  <a:pt x="502655" y="1213044"/>
                </a:lnTo>
                <a:lnTo>
                  <a:pt x="546227" y="1179221"/>
                </a:lnTo>
                <a:lnTo>
                  <a:pt x="583927" y="1151080"/>
                </a:lnTo>
                <a:lnTo>
                  <a:pt x="623062" y="1122756"/>
                </a:lnTo>
                <a:lnTo>
                  <a:pt x="663493" y="1094323"/>
                </a:lnTo>
                <a:lnTo>
                  <a:pt x="705078" y="1065853"/>
                </a:lnTo>
                <a:lnTo>
                  <a:pt x="747676" y="1037419"/>
                </a:lnTo>
                <a:lnTo>
                  <a:pt x="791148" y="1009096"/>
                </a:lnTo>
                <a:lnTo>
                  <a:pt x="835353" y="980955"/>
                </a:lnTo>
                <a:lnTo>
                  <a:pt x="880151" y="953072"/>
                </a:lnTo>
                <a:lnTo>
                  <a:pt x="925401" y="925518"/>
                </a:lnTo>
                <a:lnTo>
                  <a:pt x="970962" y="898366"/>
                </a:lnTo>
                <a:lnTo>
                  <a:pt x="1016695" y="871692"/>
                </a:lnTo>
                <a:lnTo>
                  <a:pt x="1062458" y="845566"/>
                </a:lnTo>
                <a:lnTo>
                  <a:pt x="1108111" y="820064"/>
                </a:lnTo>
                <a:lnTo>
                  <a:pt x="1153515" y="795257"/>
                </a:lnTo>
                <a:lnTo>
                  <a:pt x="1198527" y="771220"/>
                </a:lnTo>
                <a:lnTo>
                  <a:pt x="1243009" y="748025"/>
                </a:lnTo>
                <a:lnTo>
                  <a:pt x="1286819" y="725746"/>
                </a:lnTo>
                <a:lnTo>
                  <a:pt x="1329817" y="704457"/>
                </a:lnTo>
                <a:lnTo>
                  <a:pt x="1376588" y="681872"/>
                </a:lnTo>
                <a:lnTo>
                  <a:pt x="1421450" y="660755"/>
                </a:lnTo>
                <a:lnTo>
                  <a:pt x="1464811" y="640947"/>
                </a:lnTo>
                <a:lnTo>
                  <a:pt x="1507079" y="622293"/>
                </a:lnTo>
                <a:lnTo>
                  <a:pt x="1548663" y="604635"/>
                </a:lnTo>
                <a:lnTo>
                  <a:pt x="1589972" y="587818"/>
                </a:lnTo>
                <a:lnTo>
                  <a:pt x="1631414" y="571684"/>
                </a:lnTo>
                <a:lnTo>
                  <a:pt x="1673399" y="556078"/>
                </a:lnTo>
                <a:lnTo>
                  <a:pt x="1716335" y="540841"/>
                </a:lnTo>
                <a:lnTo>
                  <a:pt x="1760631" y="525819"/>
                </a:lnTo>
                <a:lnTo>
                  <a:pt x="1806695" y="510854"/>
                </a:lnTo>
                <a:lnTo>
                  <a:pt x="1854936" y="495789"/>
                </a:lnTo>
                <a:lnTo>
                  <a:pt x="1905763" y="480469"/>
                </a:lnTo>
                <a:lnTo>
                  <a:pt x="1959584" y="464736"/>
                </a:lnTo>
                <a:lnTo>
                  <a:pt x="2016809" y="448434"/>
                </a:lnTo>
                <a:lnTo>
                  <a:pt x="2077846" y="431407"/>
                </a:lnTo>
                <a:lnTo>
                  <a:pt x="2117861" y="420519"/>
                </a:lnTo>
                <a:lnTo>
                  <a:pt x="2160140" y="409335"/>
                </a:lnTo>
                <a:lnTo>
                  <a:pt x="2204488" y="397889"/>
                </a:lnTo>
                <a:lnTo>
                  <a:pt x="2250711" y="386220"/>
                </a:lnTo>
                <a:lnTo>
                  <a:pt x="2298615" y="374362"/>
                </a:lnTo>
                <a:lnTo>
                  <a:pt x="2348004" y="362354"/>
                </a:lnTo>
                <a:lnTo>
                  <a:pt x="2398684" y="350230"/>
                </a:lnTo>
                <a:lnTo>
                  <a:pt x="2450462" y="338028"/>
                </a:lnTo>
                <a:lnTo>
                  <a:pt x="2503141" y="325784"/>
                </a:lnTo>
                <a:lnTo>
                  <a:pt x="2556528" y="313534"/>
                </a:lnTo>
                <a:lnTo>
                  <a:pt x="2610428" y="301316"/>
                </a:lnTo>
                <a:lnTo>
                  <a:pt x="2664647" y="289165"/>
                </a:lnTo>
                <a:lnTo>
                  <a:pt x="2718990" y="277117"/>
                </a:lnTo>
                <a:lnTo>
                  <a:pt x="2773263" y="265211"/>
                </a:lnTo>
                <a:lnTo>
                  <a:pt x="2827270" y="253480"/>
                </a:lnTo>
                <a:lnTo>
                  <a:pt x="2880818" y="241964"/>
                </a:lnTo>
                <a:lnTo>
                  <a:pt x="2933712" y="230696"/>
                </a:lnTo>
                <a:lnTo>
                  <a:pt x="2985757" y="219715"/>
                </a:lnTo>
                <a:lnTo>
                  <a:pt x="3036760" y="209057"/>
                </a:lnTo>
                <a:lnTo>
                  <a:pt x="3086524" y="198758"/>
                </a:lnTo>
                <a:lnTo>
                  <a:pt x="3134857" y="188854"/>
                </a:lnTo>
                <a:lnTo>
                  <a:pt x="3181562" y="179383"/>
                </a:lnTo>
                <a:lnTo>
                  <a:pt x="3226447" y="170379"/>
                </a:lnTo>
                <a:lnTo>
                  <a:pt x="3269316" y="161881"/>
                </a:lnTo>
                <a:lnTo>
                  <a:pt x="3309974" y="153924"/>
                </a:lnTo>
                <a:lnTo>
                  <a:pt x="3348228" y="146546"/>
                </a:lnTo>
                <a:lnTo>
                  <a:pt x="3417619" y="133499"/>
                </a:lnTo>
                <a:lnTo>
                  <a:pt x="3478766" y="122452"/>
                </a:lnTo>
                <a:lnTo>
                  <a:pt x="3533046" y="113160"/>
                </a:lnTo>
                <a:lnTo>
                  <a:pt x="3581837" y="105382"/>
                </a:lnTo>
                <a:lnTo>
                  <a:pt x="3626517" y="98875"/>
                </a:lnTo>
                <a:lnTo>
                  <a:pt x="3668463" y="93396"/>
                </a:lnTo>
                <a:lnTo>
                  <a:pt x="3709053" y="88704"/>
                </a:lnTo>
                <a:lnTo>
                  <a:pt x="3749664" y="84556"/>
                </a:lnTo>
                <a:lnTo>
                  <a:pt x="3791675" y="80709"/>
                </a:lnTo>
                <a:lnTo>
                  <a:pt x="3836462" y="76922"/>
                </a:lnTo>
                <a:lnTo>
                  <a:pt x="3885404" y="72950"/>
                </a:lnTo>
                <a:lnTo>
                  <a:pt x="3939878" y="68553"/>
                </a:lnTo>
                <a:lnTo>
                  <a:pt x="4001262" y="63488"/>
                </a:lnTo>
                <a:lnTo>
                  <a:pt x="4042770" y="60084"/>
                </a:lnTo>
                <a:lnTo>
                  <a:pt x="4086321" y="56666"/>
                </a:lnTo>
                <a:lnTo>
                  <a:pt x="4131724" y="53244"/>
                </a:lnTo>
                <a:lnTo>
                  <a:pt x="4178785" y="49831"/>
                </a:lnTo>
                <a:lnTo>
                  <a:pt x="4227312" y="46438"/>
                </a:lnTo>
                <a:lnTo>
                  <a:pt x="4277113" y="43077"/>
                </a:lnTo>
                <a:lnTo>
                  <a:pt x="4327995" y="39757"/>
                </a:lnTo>
                <a:lnTo>
                  <a:pt x="4379766" y="36492"/>
                </a:lnTo>
                <a:lnTo>
                  <a:pt x="4432232" y="33293"/>
                </a:lnTo>
                <a:lnTo>
                  <a:pt x="4485203" y="30171"/>
                </a:lnTo>
                <a:lnTo>
                  <a:pt x="4538485" y="27137"/>
                </a:lnTo>
                <a:lnTo>
                  <a:pt x="4591886" y="24203"/>
                </a:lnTo>
                <a:lnTo>
                  <a:pt x="4645214" y="21380"/>
                </a:lnTo>
                <a:lnTo>
                  <a:pt x="4698275" y="18680"/>
                </a:lnTo>
                <a:lnTo>
                  <a:pt x="4750878" y="16114"/>
                </a:lnTo>
                <a:lnTo>
                  <a:pt x="4802830" y="13694"/>
                </a:lnTo>
                <a:lnTo>
                  <a:pt x="4853939" y="11431"/>
                </a:lnTo>
                <a:lnTo>
                  <a:pt x="4904012" y="9337"/>
                </a:lnTo>
                <a:lnTo>
                  <a:pt x="4952856" y="7422"/>
                </a:lnTo>
                <a:lnTo>
                  <a:pt x="5000280" y="5699"/>
                </a:lnTo>
                <a:lnTo>
                  <a:pt x="5046090" y="4179"/>
                </a:lnTo>
                <a:lnTo>
                  <a:pt x="5310580" y="0"/>
                </a:lnTo>
                <a:lnTo>
                  <a:pt x="5585618" y="464"/>
                </a:lnTo>
                <a:lnTo>
                  <a:pt x="5801649" y="2786"/>
                </a:lnTo>
                <a:lnTo>
                  <a:pt x="5889117" y="4179"/>
                </a:lnTo>
                <a:lnTo>
                  <a:pt x="6494653" y="4179"/>
                </a:lnTo>
                <a:lnTo>
                  <a:pt x="6556949" y="6085"/>
                </a:lnTo>
                <a:lnTo>
                  <a:pt x="6617261" y="8711"/>
                </a:lnTo>
                <a:lnTo>
                  <a:pt x="6674892" y="11849"/>
                </a:lnTo>
                <a:lnTo>
                  <a:pt x="6729142" y="15291"/>
                </a:lnTo>
                <a:lnTo>
                  <a:pt x="6779315" y="18828"/>
                </a:lnTo>
                <a:lnTo>
                  <a:pt x="6824712" y="22252"/>
                </a:lnTo>
                <a:lnTo>
                  <a:pt x="6864635" y="25355"/>
                </a:lnTo>
                <a:lnTo>
                  <a:pt x="6898385" y="27928"/>
                </a:lnTo>
                <a:lnTo>
                  <a:pt x="6928104" y="30179"/>
                </a:lnTo>
              </a:path>
            </a:pathLst>
          </a:custGeom>
          <a:ln w="6096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bg object 22"/>
          <p:cNvSpPr/>
          <p:nvPr/>
        </p:nvSpPr>
        <p:spPr>
          <a:xfrm>
            <a:off x="3177158" y="2750057"/>
            <a:ext cx="1395095" cy="1607185"/>
          </a:xfrm>
          <a:custGeom>
            <a:avLst/>
            <a:gdLst/>
            <a:ahLst/>
            <a:cxnLst/>
            <a:rect l="l" t="t" r="r" b="b"/>
            <a:pathLst>
              <a:path w="1395095" h="1607185">
                <a:moveTo>
                  <a:pt x="694055" y="0"/>
                </a:moveTo>
                <a:lnTo>
                  <a:pt x="3937" y="402970"/>
                </a:lnTo>
                <a:lnTo>
                  <a:pt x="0" y="1202181"/>
                </a:lnTo>
                <a:lnTo>
                  <a:pt x="700532" y="1606677"/>
                </a:lnTo>
                <a:lnTo>
                  <a:pt x="1390777" y="1203705"/>
                </a:lnTo>
                <a:lnTo>
                  <a:pt x="1394587" y="404367"/>
                </a:lnTo>
                <a:lnTo>
                  <a:pt x="694055" y="0"/>
                </a:lnTo>
                <a:close/>
              </a:path>
            </a:pathLst>
          </a:custGeom>
          <a:solidFill>
            <a:srgbClr val="FFFFFF">
              <a:alpha val="10195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bg object 23"/>
          <p:cNvSpPr/>
          <p:nvPr/>
        </p:nvSpPr>
        <p:spPr>
          <a:xfrm>
            <a:off x="3177158" y="2750057"/>
            <a:ext cx="1395095" cy="1607185"/>
          </a:xfrm>
          <a:custGeom>
            <a:avLst/>
            <a:gdLst/>
            <a:ahLst/>
            <a:cxnLst/>
            <a:rect l="l" t="t" r="r" b="b"/>
            <a:pathLst>
              <a:path w="1395095" h="1607185">
                <a:moveTo>
                  <a:pt x="3937" y="402970"/>
                </a:moveTo>
                <a:lnTo>
                  <a:pt x="694055" y="0"/>
                </a:lnTo>
                <a:lnTo>
                  <a:pt x="1394587" y="404367"/>
                </a:lnTo>
                <a:lnTo>
                  <a:pt x="1390777" y="1203705"/>
                </a:lnTo>
                <a:lnTo>
                  <a:pt x="700532" y="1606677"/>
                </a:lnTo>
                <a:lnTo>
                  <a:pt x="0" y="1202181"/>
                </a:lnTo>
                <a:lnTo>
                  <a:pt x="3937" y="402970"/>
                </a:lnTo>
                <a:close/>
              </a:path>
            </a:pathLst>
          </a:custGeom>
          <a:ln w="127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bg object 24"/>
          <p:cNvSpPr/>
          <p:nvPr/>
        </p:nvSpPr>
        <p:spPr>
          <a:xfrm>
            <a:off x="3901059" y="4016883"/>
            <a:ext cx="1395095" cy="1607185"/>
          </a:xfrm>
          <a:custGeom>
            <a:avLst/>
            <a:gdLst/>
            <a:ahLst/>
            <a:cxnLst/>
            <a:rect l="l" t="t" r="r" b="b"/>
            <a:pathLst>
              <a:path w="1395095" h="1607185">
                <a:moveTo>
                  <a:pt x="3937" y="402971"/>
                </a:moveTo>
                <a:lnTo>
                  <a:pt x="694054" y="0"/>
                </a:lnTo>
                <a:lnTo>
                  <a:pt x="1394587" y="404368"/>
                </a:lnTo>
                <a:lnTo>
                  <a:pt x="1390777" y="1203706"/>
                </a:lnTo>
                <a:lnTo>
                  <a:pt x="700531" y="1606651"/>
                </a:lnTo>
                <a:lnTo>
                  <a:pt x="0" y="1202182"/>
                </a:lnTo>
                <a:lnTo>
                  <a:pt x="3937" y="402971"/>
                </a:lnTo>
                <a:close/>
              </a:path>
            </a:pathLst>
          </a:custGeom>
          <a:ln w="127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bg object 25"/>
          <p:cNvSpPr/>
          <p:nvPr/>
        </p:nvSpPr>
        <p:spPr>
          <a:xfrm>
            <a:off x="3910584" y="1483232"/>
            <a:ext cx="1395095" cy="1607185"/>
          </a:xfrm>
          <a:custGeom>
            <a:avLst/>
            <a:gdLst/>
            <a:ahLst/>
            <a:cxnLst/>
            <a:rect l="l" t="t" r="r" b="b"/>
            <a:pathLst>
              <a:path w="1395095" h="1607185">
                <a:moveTo>
                  <a:pt x="694054" y="0"/>
                </a:moveTo>
                <a:lnTo>
                  <a:pt x="3937" y="402970"/>
                </a:lnTo>
                <a:lnTo>
                  <a:pt x="0" y="1202181"/>
                </a:lnTo>
                <a:lnTo>
                  <a:pt x="700531" y="1606677"/>
                </a:lnTo>
                <a:lnTo>
                  <a:pt x="1390777" y="1203705"/>
                </a:lnTo>
                <a:lnTo>
                  <a:pt x="1394587" y="404367"/>
                </a:lnTo>
                <a:lnTo>
                  <a:pt x="694054" y="0"/>
                </a:lnTo>
                <a:close/>
              </a:path>
            </a:pathLst>
          </a:custGeom>
          <a:solidFill>
            <a:srgbClr val="FFFFFF">
              <a:alpha val="7058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bg object 26"/>
          <p:cNvSpPr/>
          <p:nvPr/>
        </p:nvSpPr>
        <p:spPr>
          <a:xfrm>
            <a:off x="3910584" y="1483232"/>
            <a:ext cx="1395095" cy="1607185"/>
          </a:xfrm>
          <a:custGeom>
            <a:avLst/>
            <a:gdLst/>
            <a:ahLst/>
            <a:cxnLst/>
            <a:rect l="l" t="t" r="r" b="b"/>
            <a:pathLst>
              <a:path w="1395095" h="1607185">
                <a:moveTo>
                  <a:pt x="3937" y="402970"/>
                </a:moveTo>
                <a:lnTo>
                  <a:pt x="694054" y="0"/>
                </a:lnTo>
                <a:lnTo>
                  <a:pt x="1394587" y="404367"/>
                </a:lnTo>
                <a:lnTo>
                  <a:pt x="1390777" y="1203705"/>
                </a:lnTo>
                <a:lnTo>
                  <a:pt x="700531" y="1606677"/>
                </a:lnTo>
                <a:lnTo>
                  <a:pt x="0" y="1202181"/>
                </a:lnTo>
                <a:lnTo>
                  <a:pt x="3937" y="402970"/>
                </a:lnTo>
                <a:close/>
              </a:path>
            </a:pathLst>
          </a:custGeom>
          <a:ln w="127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bg object 27"/>
          <p:cNvSpPr/>
          <p:nvPr/>
        </p:nvSpPr>
        <p:spPr>
          <a:xfrm>
            <a:off x="3158108" y="216407"/>
            <a:ext cx="1395095" cy="1607185"/>
          </a:xfrm>
          <a:custGeom>
            <a:avLst/>
            <a:gdLst/>
            <a:ahLst/>
            <a:cxnLst/>
            <a:rect l="l" t="t" r="r" b="b"/>
            <a:pathLst>
              <a:path w="1395095" h="1607185">
                <a:moveTo>
                  <a:pt x="694055" y="0"/>
                </a:moveTo>
                <a:lnTo>
                  <a:pt x="3937" y="402971"/>
                </a:lnTo>
                <a:lnTo>
                  <a:pt x="0" y="1202182"/>
                </a:lnTo>
                <a:lnTo>
                  <a:pt x="700532" y="1606677"/>
                </a:lnTo>
                <a:lnTo>
                  <a:pt x="1390777" y="1203706"/>
                </a:lnTo>
                <a:lnTo>
                  <a:pt x="1394587" y="404368"/>
                </a:lnTo>
                <a:lnTo>
                  <a:pt x="694055" y="0"/>
                </a:lnTo>
                <a:close/>
              </a:path>
            </a:pathLst>
          </a:custGeom>
          <a:solidFill>
            <a:srgbClr val="FFFFFF">
              <a:alpha val="3921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bg object 28"/>
          <p:cNvSpPr/>
          <p:nvPr/>
        </p:nvSpPr>
        <p:spPr>
          <a:xfrm>
            <a:off x="3158108" y="216407"/>
            <a:ext cx="1395095" cy="1607185"/>
          </a:xfrm>
          <a:custGeom>
            <a:avLst/>
            <a:gdLst/>
            <a:ahLst/>
            <a:cxnLst/>
            <a:rect l="l" t="t" r="r" b="b"/>
            <a:pathLst>
              <a:path w="1395095" h="1607185">
                <a:moveTo>
                  <a:pt x="3937" y="402971"/>
                </a:moveTo>
                <a:lnTo>
                  <a:pt x="694055" y="0"/>
                </a:lnTo>
                <a:lnTo>
                  <a:pt x="1394587" y="404368"/>
                </a:lnTo>
                <a:lnTo>
                  <a:pt x="1390777" y="1203706"/>
                </a:lnTo>
                <a:lnTo>
                  <a:pt x="700532" y="1606677"/>
                </a:lnTo>
                <a:lnTo>
                  <a:pt x="0" y="1202182"/>
                </a:lnTo>
                <a:lnTo>
                  <a:pt x="3937" y="402971"/>
                </a:lnTo>
                <a:close/>
              </a:path>
            </a:pathLst>
          </a:custGeom>
          <a:ln w="127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bg object 29"/>
          <p:cNvSpPr/>
          <p:nvPr/>
        </p:nvSpPr>
        <p:spPr>
          <a:xfrm>
            <a:off x="4644009" y="5274183"/>
            <a:ext cx="1395095" cy="1584325"/>
          </a:xfrm>
          <a:custGeom>
            <a:avLst/>
            <a:gdLst/>
            <a:ahLst/>
            <a:cxnLst/>
            <a:rect l="l" t="t" r="r" b="b"/>
            <a:pathLst>
              <a:path w="1395095" h="1584325">
                <a:moveTo>
                  <a:pt x="694054" y="0"/>
                </a:moveTo>
                <a:lnTo>
                  <a:pt x="3937" y="402958"/>
                </a:lnTo>
                <a:lnTo>
                  <a:pt x="0" y="1202220"/>
                </a:lnTo>
                <a:lnTo>
                  <a:pt x="660966" y="1583815"/>
                </a:lnTo>
                <a:lnTo>
                  <a:pt x="739656" y="1583815"/>
                </a:lnTo>
                <a:lnTo>
                  <a:pt x="1390777" y="1203667"/>
                </a:lnTo>
                <a:lnTo>
                  <a:pt x="1394587" y="404406"/>
                </a:lnTo>
                <a:lnTo>
                  <a:pt x="694054" y="0"/>
                </a:lnTo>
                <a:close/>
              </a:path>
            </a:pathLst>
          </a:custGeom>
          <a:solidFill>
            <a:srgbClr val="FFFFFF">
              <a:alpha val="5882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bg object 30"/>
          <p:cNvSpPr/>
          <p:nvPr/>
        </p:nvSpPr>
        <p:spPr>
          <a:xfrm>
            <a:off x="4644009" y="5274183"/>
            <a:ext cx="1395095" cy="1584325"/>
          </a:xfrm>
          <a:custGeom>
            <a:avLst/>
            <a:gdLst/>
            <a:ahLst/>
            <a:cxnLst/>
            <a:rect l="l" t="t" r="r" b="b"/>
            <a:pathLst>
              <a:path w="1395095" h="1584325">
                <a:moveTo>
                  <a:pt x="3937" y="402958"/>
                </a:moveTo>
                <a:lnTo>
                  <a:pt x="694054" y="0"/>
                </a:lnTo>
                <a:lnTo>
                  <a:pt x="1394587" y="404406"/>
                </a:lnTo>
                <a:lnTo>
                  <a:pt x="1390777" y="1203667"/>
                </a:lnTo>
                <a:lnTo>
                  <a:pt x="739656" y="1583815"/>
                </a:lnTo>
              </a:path>
              <a:path w="1395095" h="1584325">
                <a:moveTo>
                  <a:pt x="660966" y="1583815"/>
                </a:moveTo>
                <a:lnTo>
                  <a:pt x="0" y="1202220"/>
                </a:lnTo>
                <a:lnTo>
                  <a:pt x="3937" y="402958"/>
                </a:lnTo>
              </a:path>
            </a:pathLst>
          </a:custGeom>
          <a:ln w="127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bg object 31"/>
          <p:cNvSpPr/>
          <p:nvPr/>
        </p:nvSpPr>
        <p:spPr>
          <a:xfrm>
            <a:off x="74214" y="4007358"/>
            <a:ext cx="802005" cy="1607185"/>
          </a:xfrm>
          <a:custGeom>
            <a:avLst/>
            <a:gdLst/>
            <a:ahLst/>
            <a:cxnLst/>
            <a:rect l="l" t="t" r="r" b="b"/>
            <a:pathLst>
              <a:path w="802005" h="1607185">
                <a:moveTo>
                  <a:pt x="101349" y="0"/>
                </a:moveTo>
                <a:lnTo>
                  <a:pt x="0" y="62865"/>
                </a:lnTo>
                <a:lnTo>
                  <a:pt x="3425" y="1545971"/>
                </a:lnTo>
                <a:lnTo>
                  <a:pt x="107750" y="1606651"/>
                </a:lnTo>
                <a:lnTo>
                  <a:pt x="797982" y="1203706"/>
                </a:lnTo>
                <a:lnTo>
                  <a:pt x="801869" y="404368"/>
                </a:lnTo>
                <a:lnTo>
                  <a:pt x="101349" y="0"/>
                </a:lnTo>
                <a:close/>
              </a:path>
            </a:pathLst>
          </a:custGeom>
          <a:solidFill>
            <a:srgbClr val="FFFFFF">
              <a:alpha val="10195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bg object 32"/>
          <p:cNvSpPr/>
          <p:nvPr/>
        </p:nvSpPr>
        <p:spPr>
          <a:xfrm>
            <a:off x="74214" y="4007358"/>
            <a:ext cx="802005" cy="1607185"/>
          </a:xfrm>
          <a:custGeom>
            <a:avLst/>
            <a:gdLst/>
            <a:ahLst/>
            <a:cxnLst/>
            <a:rect l="l" t="t" r="r" b="b"/>
            <a:pathLst>
              <a:path w="802005" h="1607185">
                <a:moveTo>
                  <a:pt x="0" y="62865"/>
                </a:moveTo>
                <a:lnTo>
                  <a:pt x="101349" y="0"/>
                </a:lnTo>
                <a:lnTo>
                  <a:pt x="801869" y="404368"/>
                </a:lnTo>
                <a:lnTo>
                  <a:pt x="797982" y="1203706"/>
                </a:lnTo>
                <a:lnTo>
                  <a:pt x="107750" y="1606651"/>
                </a:lnTo>
                <a:lnTo>
                  <a:pt x="3425" y="1545971"/>
                </a:lnTo>
                <a:lnTo>
                  <a:pt x="0" y="62865"/>
                </a:lnTo>
              </a:path>
            </a:pathLst>
          </a:custGeom>
          <a:ln w="127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bg object 33"/>
          <p:cNvSpPr/>
          <p:nvPr/>
        </p:nvSpPr>
        <p:spPr>
          <a:xfrm>
            <a:off x="205346" y="5293233"/>
            <a:ext cx="1395095" cy="1565275"/>
          </a:xfrm>
          <a:custGeom>
            <a:avLst/>
            <a:gdLst/>
            <a:ahLst/>
            <a:cxnLst/>
            <a:rect l="l" t="t" r="r" b="b"/>
            <a:pathLst>
              <a:path w="1395095" h="1565275">
                <a:moveTo>
                  <a:pt x="3898" y="402958"/>
                </a:moveTo>
                <a:lnTo>
                  <a:pt x="694118" y="0"/>
                </a:lnTo>
                <a:lnTo>
                  <a:pt x="1394599" y="404406"/>
                </a:lnTo>
                <a:lnTo>
                  <a:pt x="1390789" y="1203667"/>
                </a:lnTo>
                <a:lnTo>
                  <a:pt x="772275" y="1564765"/>
                </a:lnTo>
              </a:path>
              <a:path w="1395095" h="1565275">
                <a:moveTo>
                  <a:pt x="627958" y="1564765"/>
                </a:moveTo>
                <a:lnTo>
                  <a:pt x="0" y="1202220"/>
                </a:lnTo>
                <a:lnTo>
                  <a:pt x="3898" y="402958"/>
                </a:lnTo>
              </a:path>
            </a:pathLst>
          </a:custGeom>
          <a:ln w="127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bg object 34"/>
          <p:cNvSpPr/>
          <p:nvPr/>
        </p:nvSpPr>
        <p:spPr>
          <a:xfrm>
            <a:off x="233934" y="2740532"/>
            <a:ext cx="1395095" cy="1607185"/>
          </a:xfrm>
          <a:custGeom>
            <a:avLst/>
            <a:gdLst/>
            <a:ahLst/>
            <a:cxnLst/>
            <a:rect l="l" t="t" r="r" b="b"/>
            <a:pathLst>
              <a:path w="1395095" h="1607185">
                <a:moveTo>
                  <a:pt x="694118" y="0"/>
                </a:moveTo>
                <a:lnTo>
                  <a:pt x="3886" y="402970"/>
                </a:lnTo>
                <a:lnTo>
                  <a:pt x="0" y="1202181"/>
                </a:lnTo>
                <a:lnTo>
                  <a:pt x="700506" y="1606677"/>
                </a:lnTo>
                <a:lnTo>
                  <a:pt x="1390777" y="1203705"/>
                </a:lnTo>
                <a:lnTo>
                  <a:pt x="1394586" y="404367"/>
                </a:lnTo>
                <a:lnTo>
                  <a:pt x="694118" y="0"/>
                </a:lnTo>
                <a:close/>
              </a:path>
            </a:pathLst>
          </a:custGeom>
          <a:solidFill>
            <a:srgbClr val="FFFFFF">
              <a:alpha val="7058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bg object 35"/>
          <p:cNvSpPr/>
          <p:nvPr/>
        </p:nvSpPr>
        <p:spPr>
          <a:xfrm>
            <a:off x="233934" y="2740532"/>
            <a:ext cx="1395095" cy="1607185"/>
          </a:xfrm>
          <a:custGeom>
            <a:avLst/>
            <a:gdLst/>
            <a:ahLst/>
            <a:cxnLst/>
            <a:rect l="l" t="t" r="r" b="b"/>
            <a:pathLst>
              <a:path w="1395095" h="1607185">
                <a:moveTo>
                  <a:pt x="3886" y="402970"/>
                </a:moveTo>
                <a:lnTo>
                  <a:pt x="694118" y="0"/>
                </a:lnTo>
                <a:lnTo>
                  <a:pt x="1394586" y="404367"/>
                </a:lnTo>
                <a:lnTo>
                  <a:pt x="1390777" y="1203705"/>
                </a:lnTo>
                <a:lnTo>
                  <a:pt x="700506" y="1606677"/>
                </a:lnTo>
                <a:lnTo>
                  <a:pt x="0" y="1202181"/>
                </a:lnTo>
                <a:lnTo>
                  <a:pt x="3886" y="402970"/>
                </a:lnTo>
              </a:path>
            </a:pathLst>
          </a:custGeom>
          <a:ln w="127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bg object 36"/>
          <p:cNvSpPr/>
          <p:nvPr/>
        </p:nvSpPr>
        <p:spPr>
          <a:xfrm>
            <a:off x="957821" y="4016883"/>
            <a:ext cx="1395095" cy="1607185"/>
          </a:xfrm>
          <a:custGeom>
            <a:avLst/>
            <a:gdLst/>
            <a:ahLst/>
            <a:cxnLst/>
            <a:rect l="l" t="t" r="r" b="b"/>
            <a:pathLst>
              <a:path w="1395095" h="1607185">
                <a:moveTo>
                  <a:pt x="3898" y="402971"/>
                </a:moveTo>
                <a:lnTo>
                  <a:pt x="694067" y="0"/>
                </a:lnTo>
                <a:lnTo>
                  <a:pt x="1394599" y="404368"/>
                </a:lnTo>
                <a:lnTo>
                  <a:pt x="1390789" y="1203706"/>
                </a:lnTo>
                <a:lnTo>
                  <a:pt x="700544" y="1606651"/>
                </a:lnTo>
                <a:lnTo>
                  <a:pt x="0" y="1202182"/>
                </a:lnTo>
                <a:lnTo>
                  <a:pt x="3898" y="402971"/>
                </a:lnTo>
              </a:path>
            </a:pathLst>
          </a:custGeom>
          <a:ln w="12699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bg object 37"/>
          <p:cNvSpPr/>
          <p:nvPr/>
        </p:nvSpPr>
        <p:spPr>
          <a:xfrm>
            <a:off x="1691258" y="5302758"/>
            <a:ext cx="1395095" cy="1555750"/>
          </a:xfrm>
          <a:custGeom>
            <a:avLst/>
            <a:gdLst/>
            <a:ahLst/>
            <a:cxnLst/>
            <a:rect l="l" t="t" r="r" b="b"/>
            <a:pathLst>
              <a:path w="1395095" h="1555750">
                <a:moveTo>
                  <a:pt x="3937" y="402958"/>
                </a:moveTo>
                <a:lnTo>
                  <a:pt x="694055" y="0"/>
                </a:lnTo>
                <a:lnTo>
                  <a:pt x="1394587" y="404406"/>
                </a:lnTo>
                <a:lnTo>
                  <a:pt x="1390777" y="1203667"/>
                </a:lnTo>
                <a:lnTo>
                  <a:pt x="788600" y="1555240"/>
                </a:lnTo>
              </a:path>
              <a:path w="1395095" h="1555750">
                <a:moveTo>
                  <a:pt x="611471" y="1555240"/>
                </a:moveTo>
                <a:lnTo>
                  <a:pt x="0" y="1202220"/>
                </a:lnTo>
                <a:lnTo>
                  <a:pt x="3937" y="402958"/>
                </a:lnTo>
              </a:path>
            </a:pathLst>
          </a:custGeom>
          <a:ln w="127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bg object 38"/>
          <p:cNvSpPr/>
          <p:nvPr/>
        </p:nvSpPr>
        <p:spPr>
          <a:xfrm>
            <a:off x="1710308" y="2750057"/>
            <a:ext cx="1395095" cy="1607185"/>
          </a:xfrm>
          <a:custGeom>
            <a:avLst/>
            <a:gdLst/>
            <a:ahLst/>
            <a:cxnLst/>
            <a:rect l="l" t="t" r="r" b="b"/>
            <a:pathLst>
              <a:path w="1395095" h="1607185">
                <a:moveTo>
                  <a:pt x="694055" y="0"/>
                </a:moveTo>
                <a:lnTo>
                  <a:pt x="3937" y="402970"/>
                </a:lnTo>
                <a:lnTo>
                  <a:pt x="0" y="1202181"/>
                </a:lnTo>
                <a:lnTo>
                  <a:pt x="700532" y="1606677"/>
                </a:lnTo>
                <a:lnTo>
                  <a:pt x="1390777" y="1203705"/>
                </a:lnTo>
                <a:lnTo>
                  <a:pt x="1394587" y="404367"/>
                </a:lnTo>
                <a:lnTo>
                  <a:pt x="694055" y="0"/>
                </a:lnTo>
                <a:close/>
              </a:path>
            </a:pathLst>
          </a:custGeom>
          <a:solidFill>
            <a:srgbClr val="FFFFFF">
              <a:alpha val="7058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bg object 39"/>
          <p:cNvSpPr/>
          <p:nvPr/>
        </p:nvSpPr>
        <p:spPr>
          <a:xfrm>
            <a:off x="1710308" y="2750057"/>
            <a:ext cx="1395095" cy="1607185"/>
          </a:xfrm>
          <a:custGeom>
            <a:avLst/>
            <a:gdLst/>
            <a:ahLst/>
            <a:cxnLst/>
            <a:rect l="l" t="t" r="r" b="b"/>
            <a:pathLst>
              <a:path w="1395095" h="1607185">
                <a:moveTo>
                  <a:pt x="3937" y="402970"/>
                </a:moveTo>
                <a:lnTo>
                  <a:pt x="694055" y="0"/>
                </a:lnTo>
                <a:lnTo>
                  <a:pt x="1394587" y="404367"/>
                </a:lnTo>
                <a:lnTo>
                  <a:pt x="1390777" y="1203705"/>
                </a:lnTo>
                <a:lnTo>
                  <a:pt x="700532" y="1606677"/>
                </a:lnTo>
                <a:lnTo>
                  <a:pt x="0" y="1202181"/>
                </a:lnTo>
                <a:lnTo>
                  <a:pt x="3937" y="402970"/>
                </a:lnTo>
              </a:path>
            </a:pathLst>
          </a:custGeom>
          <a:ln w="127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bg object 40"/>
          <p:cNvSpPr/>
          <p:nvPr/>
        </p:nvSpPr>
        <p:spPr>
          <a:xfrm>
            <a:off x="976871" y="1454657"/>
            <a:ext cx="1395095" cy="1607185"/>
          </a:xfrm>
          <a:custGeom>
            <a:avLst/>
            <a:gdLst/>
            <a:ahLst/>
            <a:cxnLst/>
            <a:rect l="l" t="t" r="r" b="b"/>
            <a:pathLst>
              <a:path w="1395095" h="1607185">
                <a:moveTo>
                  <a:pt x="3898" y="402970"/>
                </a:moveTo>
                <a:lnTo>
                  <a:pt x="694067" y="0"/>
                </a:lnTo>
                <a:lnTo>
                  <a:pt x="1394599" y="404367"/>
                </a:lnTo>
                <a:lnTo>
                  <a:pt x="1390789" y="1203705"/>
                </a:lnTo>
                <a:lnTo>
                  <a:pt x="700544" y="1606677"/>
                </a:lnTo>
                <a:lnTo>
                  <a:pt x="0" y="1202181"/>
                </a:lnTo>
                <a:lnTo>
                  <a:pt x="3898" y="402970"/>
                </a:lnTo>
              </a:path>
            </a:pathLst>
          </a:custGeom>
          <a:ln w="127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bg object 41"/>
          <p:cNvSpPr/>
          <p:nvPr/>
        </p:nvSpPr>
        <p:spPr>
          <a:xfrm>
            <a:off x="6987158" y="4035933"/>
            <a:ext cx="1395095" cy="1607185"/>
          </a:xfrm>
          <a:custGeom>
            <a:avLst/>
            <a:gdLst/>
            <a:ahLst/>
            <a:cxnLst/>
            <a:rect l="l" t="t" r="r" b="b"/>
            <a:pathLst>
              <a:path w="1395095" h="1607185">
                <a:moveTo>
                  <a:pt x="694055" y="0"/>
                </a:moveTo>
                <a:lnTo>
                  <a:pt x="3937" y="402971"/>
                </a:lnTo>
                <a:lnTo>
                  <a:pt x="0" y="1202182"/>
                </a:lnTo>
                <a:lnTo>
                  <a:pt x="700532" y="1606651"/>
                </a:lnTo>
                <a:lnTo>
                  <a:pt x="1390777" y="1203706"/>
                </a:lnTo>
                <a:lnTo>
                  <a:pt x="1394587" y="404368"/>
                </a:lnTo>
                <a:lnTo>
                  <a:pt x="694055" y="0"/>
                </a:lnTo>
                <a:close/>
              </a:path>
            </a:pathLst>
          </a:custGeom>
          <a:solidFill>
            <a:srgbClr val="FFFFFF">
              <a:alpha val="10195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bg object 42"/>
          <p:cNvSpPr/>
          <p:nvPr/>
        </p:nvSpPr>
        <p:spPr>
          <a:xfrm>
            <a:off x="6987158" y="4035933"/>
            <a:ext cx="1395095" cy="1607185"/>
          </a:xfrm>
          <a:custGeom>
            <a:avLst/>
            <a:gdLst/>
            <a:ahLst/>
            <a:cxnLst/>
            <a:rect l="l" t="t" r="r" b="b"/>
            <a:pathLst>
              <a:path w="1395095" h="1607185">
                <a:moveTo>
                  <a:pt x="3937" y="402971"/>
                </a:moveTo>
                <a:lnTo>
                  <a:pt x="694055" y="0"/>
                </a:lnTo>
                <a:lnTo>
                  <a:pt x="1394587" y="404368"/>
                </a:lnTo>
                <a:lnTo>
                  <a:pt x="1390777" y="1203706"/>
                </a:lnTo>
                <a:lnTo>
                  <a:pt x="700532" y="1606651"/>
                </a:lnTo>
                <a:lnTo>
                  <a:pt x="0" y="1202182"/>
                </a:lnTo>
                <a:lnTo>
                  <a:pt x="3937" y="402971"/>
                </a:lnTo>
              </a:path>
            </a:pathLst>
          </a:custGeom>
          <a:ln w="127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bg object 43"/>
          <p:cNvSpPr/>
          <p:nvPr/>
        </p:nvSpPr>
        <p:spPr>
          <a:xfrm>
            <a:off x="7730108" y="5312283"/>
            <a:ext cx="1395095" cy="1546225"/>
          </a:xfrm>
          <a:custGeom>
            <a:avLst/>
            <a:gdLst/>
            <a:ahLst/>
            <a:cxnLst/>
            <a:rect l="l" t="t" r="r" b="b"/>
            <a:pathLst>
              <a:path w="1395095" h="1546225">
                <a:moveTo>
                  <a:pt x="3937" y="402958"/>
                </a:moveTo>
                <a:lnTo>
                  <a:pt x="694055" y="0"/>
                </a:lnTo>
                <a:lnTo>
                  <a:pt x="1394587" y="404406"/>
                </a:lnTo>
                <a:lnTo>
                  <a:pt x="1390777" y="1203667"/>
                </a:lnTo>
                <a:lnTo>
                  <a:pt x="804914" y="1545715"/>
                </a:lnTo>
              </a:path>
              <a:path w="1395095" h="1546225">
                <a:moveTo>
                  <a:pt x="594972" y="1545715"/>
                </a:moveTo>
                <a:lnTo>
                  <a:pt x="0" y="1202220"/>
                </a:lnTo>
                <a:lnTo>
                  <a:pt x="3937" y="402958"/>
                </a:lnTo>
              </a:path>
            </a:pathLst>
          </a:custGeom>
          <a:ln w="127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bg object 44"/>
          <p:cNvSpPr/>
          <p:nvPr/>
        </p:nvSpPr>
        <p:spPr>
          <a:xfrm>
            <a:off x="7730108" y="2759582"/>
            <a:ext cx="1395095" cy="1607185"/>
          </a:xfrm>
          <a:custGeom>
            <a:avLst/>
            <a:gdLst/>
            <a:ahLst/>
            <a:cxnLst/>
            <a:rect l="l" t="t" r="r" b="b"/>
            <a:pathLst>
              <a:path w="1395095" h="1607185">
                <a:moveTo>
                  <a:pt x="694055" y="0"/>
                </a:moveTo>
                <a:lnTo>
                  <a:pt x="3937" y="402970"/>
                </a:lnTo>
                <a:lnTo>
                  <a:pt x="0" y="1202181"/>
                </a:lnTo>
                <a:lnTo>
                  <a:pt x="700532" y="1606677"/>
                </a:lnTo>
                <a:lnTo>
                  <a:pt x="1390777" y="1203705"/>
                </a:lnTo>
                <a:lnTo>
                  <a:pt x="1394587" y="404367"/>
                </a:lnTo>
                <a:lnTo>
                  <a:pt x="694055" y="0"/>
                </a:lnTo>
                <a:close/>
              </a:path>
            </a:pathLst>
          </a:custGeom>
          <a:solidFill>
            <a:srgbClr val="FFFFFF">
              <a:alpha val="7058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bg object 45"/>
          <p:cNvSpPr/>
          <p:nvPr/>
        </p:nvSpPr>
        <p:spPr>
          <a:xfrm>
            <a:off x="7730108" y="2759582"/>
            <a:ext cx="1395095" cy="1607185"/>
          </a:xfrm>
          <a:custGeom>
            <a:avLst/>
            <a:gdLst/>
            <a:ahLst/>
            <a:cxnLst/>
            <a:rect l="l" t="t" r="r" b="b"/>
            <a:pathLst>
              <a:path w="1395095" h="1607185">
                <a:moveTo>
                  <a:pt x="3937" y="402970"/>
                </a:moveTo>
                <a:lnTo>
                  <a:pt x="694055" y="0"/>
                </a:lnTo>
                <a:lnTo>
                  <a:pt x="1394587" y="404367"/>
                </a:lnTo>
                <a:lnTo>
                  <a:pt x="1390777" y="1203705"/>
                </a:lnTo>
                <a:lnTo>
                  <a:pt x="700532" y="1606677"/>
                </a:lnTo>
                <a:lnTo>
                  <a:pt x="0" y="1202181"/>
                </a:lnTo>
                <a:lnTo>
                  <a:pt x="3937" y="402970"/>
                </a:lnTo>
              </a:path>
            </a:pathLst>
          </a:custGeom>
          <a:ln w="127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bg object 46"/>
          <p:cNvSpPr/>
          <p:nvPr/>
        </p:nvSpPr>
        <p:spPr>
          <a:xfrm>
            <a:off x="8463533" y="4043867"/>
            <a:ext cx="680720" cy="1587500"/>
          </a:xfrm>
          <a:custGeom>
            <a:avLst/>
            <a:gdLst/>
            <a:ahLst/>
            <a:cxnLst/>
            <a:rect l="l" t="t" r="r" b="b"/>
            <a:pathLst>
              <a:path w="680720" h="1587500">
                <a:moveTo>
                  <a:pt x="680466" y="0"/>
                </a:moveTo>
                <a:lnTo>
                  <a:pt x="3937" y="395036"/>
                </a:lnTo>
                <a:lnTo>
                  <a:pt x="0" y="1194247"/>
                </a:lnTo>
                <a:lnTo>
                  <a:pt x="680466" y="1587131"/>
                </a:lnTo>
                <a:lnTo>
                  <a:pt x="680466" y="0"/>
                </a:lnTo>
                <a:close/>
              </a:path>
            </a:pathLst>
          </a:custGeom>
          <a:solidFill>
            <a:srgbClr val="FFFFFF">
              <a:alpha val="3921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bg object 47"/>
          <p:cNvSpPr/>
          <p:nvPr/>
        </p:nvSpPr>
        <p:spPr>
          <a:xfrm>
            <a:off x="8463533" y="4043867"/>
            <a:ext cx="680720" cy="1587500"/>
          </a:xfrm>
          <a:custGeom>
            <a:avLst/>
            <a:gdLst/>
            <a:ahLst/>
            <a:cxnLst/>
            <a:rect l="l" t="t" r="r" b="b"/>
            <a:pathLst>
              <a:path w="680720" h="1587500">
                <a:moveTo>
                  <a:pt x="3937" y="395036"/>
                </a:moveTo>
                <a:lnTo>
                  <a:pt x="680466" y="0"/>
                </a:lnTo>
              </a:path>
              <a:path w="680720" h="1587500">
                <a:moveTo>
                  <a:pt x="680466" y="1587131"/>
                </a:moveTo>
                <a:lnTo>
                  <a:pt x="0" y="1194247"/>
                </a:lnTo>
                <a:lnTo>
                  <a:pt x="3937" y="395036"/>
                </a:lnTo>
              </a:path>
            </a:pathLst>
          </a:custGeom>
          <a:ln w="127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bg object 48"/>
          <p:cNvSpPr/>
          <p:nvPr/>
        </p:nvSpPr>
        <p:spPr>
          <a:xfrm>
            <a:off x="8463533" y="1500692"/>
            <a:ext cx="680720" cy="1587500"/>
          </a:xfrm>
          <a:custGeom>
            <a:avLst/>
            <a:gdLst/>
            <a:ahLst/>
            <a:cxnLst/>
            <a:rect l="l" t="t" r="r" b="b"/>
            <a:pathLst>
              <a:path w="680720" h="1587500">
                <a:moveTo>
                  <a:pt x="3937" y="395036"/>
                </a:moveTo>
                <a:lnTo>
                  <a:pt x="680466" y="0"/>
                </a:lnTo>
              </a:path>
              <a:path w="680720" h="1587500">
                <a:moveTo>
                  <a:pt x="680466" y="1587155"/>
                </a:moveTo>
                <a:lnTo>
                  <a:pt x="0" y="1194247"/>
                </a:lnTo>
                <a:lnTo>
                  <a:pt x="3937" y="395036"/>
                </a:lnTo>
              </a:path>
            </a:pathLst>
          </a:custGeom>
          <a:ln w="127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bg object 49"/>
          <p:cNvSpPr/>
          <p:nvPr/>
        </p:nvSpPr>
        <p:spPr>
          <a:xfrm>
            <a:off x="457200" y="333755"/>
            <a:ext cx="8229600" cy="6186170"/>
          </a:xfrm>
          <a:custGeom>
            <a:avLst/>
            <a:gdLst/>
            <a:ahLst/>
            <a:cxnLst/>
            <a:rect l="l" t="t" r="r" b="b"/>
            <a:pathLst>
              <a:path w="8229600" h="6186170">
                <a:moveTo>
                  <a:pt x="8229600" y="0"/>
                </a:moveTo>
                <a:lnTo>
                  <a:pt x="0" y="0"/>
                </a:lnTo>
                <a:lnTo>
                  <a:pt x="0" y="6185916"/>
                </a:lnTo>
                <a:lnTo>
                  <a:pt x="8229600" y="6185916"/>
                </a:lnTo>
                <a:lnTo>
                  <a:pt x="82296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bg object 50"/>
          <p:cNvSpPr/>
          <p:nvPr/>
        </p:nvSpPr>
        <p:spPr>
          <a:xfrm>
            <a:off x="457200" y="333755"/>
            <a:ext cx="8229600" cy="6186170"/>
          </a:xfrm>
          <a:custGeom>
            <a:avLst/>
            <a:gdLst/>
            <a:ahLst/>
            <a:cxnLst/>
            <a:rect l="l" t="t" r="r" b="b"/>
            <a:pathLst>
              <a:path w="8229600" h="6186170">
                <a:moveTo>
                  <a:pt x="0" y="6185916"/>
                </a:moveTo>
                <a:lnTo>
                  <a:pt x="8229600" y="6185916"/>
                </a:lnTo>
                <a:lnTo>
                  <a:pt x="8229600" y="0"/>
                </a:lnTo>
                <a:lnTo>
                  <a:pt x="0" y="0"/>
                </a:lnTo>
                <a:lnTo>
                  <a:pt x="0" y="6185916"/>
                </a:lnTo>
                <a:close/>
              </a:path>
            </a:pathLst>
          </a:custGeom>
          <a:ln w="6096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bg object 51"/>
          <p:cNvSpPr/>
          <p:nvPr/>
        </p:nvSpPr>
        <p:spPr>
          <a:xfrm>
            <a:off x="4561332" y="0"/>
            <a:ext cx="3679190" cy="678180"/>
          </a:xfrm>
          <a:custGeom>
            <a:avLst/>
            <a:gdLst/>
            <a:ahLst/>
            <a:cxnLst/>
            <a:rect l="l" t="t" r="r" b="b"/>
            <a:pathLst>
              <a:path w="3679190" h="678180">
                <a:moveTo>
                  <a:pt x="0" y="678179"/>
                </a:moveTo>
                <a:lnTo>
                  <a:pt x="3678936" y="678179"/>
                </a:lnTo>
                <a:lnTo>
                  <a:pt x="3678936" y="0"/>
                </a:lnTo>
                <a:lnTo>
                  <a:pt x="0" y="0"/>
                </a:lnTo>
                <a:lnTo>
                  <a:pt x="0" y="678179"/>
                </a:lnTo>
                <a:close/>
              </a:path>
            </a:pathLst>
          </a:custGeom>
          <a:solidFill>
            <a:srgbClr val="F5F5F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bg object 52"/>
          <p:cNvSpPr/>
          <p:nvPr/>
        </p:nvSpPr>
        <p:spPr>
          <a:xfrm>
            <a:off x="4561332" y="0"/>
            <a:ext cx="3679190" cy="678180"/>
          </a:xfrm>
          <a:custGeom>
            <a:avLst/>
            <a:gdLst/>
            <a:ahLst/>
            <a:cxnLst/>
            <a:rect l="l" t="t" r="r" b="b"/>
            <a:pathLst>
              <a:path w="3679190" h="678180">
                <a:moveTo>
                  <a:pt x="0" y="678179"/>
                </a:moveTo>
                <a:lnTo>
                  <a:pt x="3678936" y="678179"/>
                </a:lnTo>
                <a:lnTo>
                  <a:pt x="3678936" y="0"/>
                </a:lnTo>
              </a:path>
              <a:path w="3679190" h="678180">
                <a:moveTo>
                  <a:pt x="0" y="0"/>
                </a:moveTo>
                <a:lnTo>
                  <a:pt x="0" y="678179"/>
                </a:lnTo>
              </a:path>
            </a:pathLst>
          </a:custGeom>
          <a:ln w="15240">
            <a:solidFill>
              <a:srgbClr val="0A86D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bg object 53"/>
          <p:cNvSpPr/>
          <p:nvPr/>
        </p:nvSpPr>
        <p:spPr>
          <a:xfrm>
            <a:off x="4649723" y="0"/>
            <a:ext cx="3505200" cy="601980"/>
          </a:xfrm>
          <a:custGeom>
            <a:avLst/>
            <a:gdLst/>
            <a:ahLst/>
            <a:cxnLst/>
            <a:rect l="l" t="t" r="r" b="b"/>
            <a:pathLst>
              <a:path w="3505200" h="601980">
                <a:moveTo>
                  <a:pt x="0" y="601979"/>
                </a:moveTo>
                <a:lnTo>
                  <a:pt x="3505200" y="601979"/>
                </a:lnTo>
                <a:lnTo>
                  <a:pt x="3505200" y="0"/>
                </a:lnTo>
                <a:lnTo>
                  <a:pt x="0" y="0"/>
                </a:lnTo>
                <a:lnTo>
                  <a:pt x="0" y="601979"/>
                </a:lnTo>
                <a:close/>
              </a:path>
            </a:pathLst>
          </a:custGeom>
          <a:solidFill>
            <a:srgbClr val="073D8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002283" y="820039"/>
            <a:ext cx="7224395" cy="7569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000" b="1" i="0">
                <a:solidFill>
                  <a:srgbClr val="073D86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98449" y="1712722"/>
            <a:ext cx="7851775" cy="39135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6377940"/>
            <a:ext cx="292608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6377940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3/21/2024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86155" y="1266825"/>
            <a:ext cx="7051040" cy="91186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900" b="0" spc="-70" dirty="0">
                <a:latin typeface="Verdana"/>
                <a:cs typeface="Verdana"/>
              </a:rPr>
              <a:t>CSC-</a:t>
            </a:r>
            <a:r>
              <a:rPr sz="2900" b="0" spc="-225" dirty="0">
                <a:latin typeface="Verdana"/>
                <a:cs typeface="Verdana"/>
              </a:rPr>
              <a:t> </a:t>
            </a:r>
            <a:r>
              <a:rPr sz="2900" b="0" spc="-25" dirty="0">
                <a:latin typeface="Verdana"/>
                <a:cs typeface="Verdana"/>
              </a:rPr>
              <a:t>321</a:t>
            </a:r>
            <a:endParaRPr sz="290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sz="2900" spc="-220" dirty="0"/>
              <a:t>DESIGN</a:t>
            </a:r>
            <a:r>
              <a:rPr sz="2900" spc="-40" dirty="0"/>
              <a:t> </a:t>
            </a:r>
            <a:r>
              <a:rPr sz="2900" dirty="0"/>
              <a:t>AND</a:t>
            </a:r>
            <a:r>
              <a:rPr sz="2900" spc="-175" dirty="0"/>
              <a:t> </a:t>
            </a:r>
            <a:r>
              <a:rPr sz="2900" spc="-220" dirty="0"/>
              <a:t>ANALYSIS</a:t>
            </a:r>
            <a:r>
              <a:rPr sz="2900" spc="-20" dirty="0"/>
              <a:t> </a:t>
            </a:r>
            <a:r>
              <a:rPr sz="2900" dirty="0"/>
              <a:t>OF</a:t>
            </a:r>
            <a:r>
              <a:rPr sz="2900" spc="-95" dirty="0"/>
              <a:t> </a:t>
            </a:r>
            <a:r>
              <a:rPr sz="2900" spc="-155" dirty="0"/>
              <a:t>ALGORITHMS</a:t>
            </a:r>
            <a:endParaRPr sz="2900"/>
          </a:p>
        </p:txBody>
      </p:sp>
      <p:sp>
        <p:nvSpPr>
          <p:cNvPr id="3" name="object 3"/>
          <p:cNvSpPr txBox="1"/>
          <p:nvPr/>
        </p:nvSpPr>
        <p:spPr>
          <a:xfrm>
            <a:off x="4734814" y="223519"/>
            <a:ext cx="3303904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60" dirty="0">
                <a:solidFill>
                  <a:srgbClr val="FFFFFF"/>
                </a:solidFill>
                <a:latin typeface="Verdana"/>
                <a:cs typeface="Verdana"/>
              </a:rPr>
              <a:t>Bahria</a:t>
            </a:r>
            <a:r>
              <a:rPr sz="1600" spc="-8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110" dirty="0">
                <a:solidFill>
                  <a:srgbClr val="FFFFFF"/>
                </a:solidFill>
                <a:latin typeface="Verdana"/>
                <a:cs typeface="Verdana"/>
              </a:rPr>
              <a:t>University</a:t>
            </a:r>
            <a:r>
              <a:rPr sz="1600" spc="-6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30" dirty="0">
                <a:solidFill>
                  <a:srgbClr val="FFFFFF"/>
                </a:solidFill>
                <a:latin typeface="Verdana"/>
                <a:cs typeface="Verdana"/>
              </a:rPr>
              <a:t>Karachi</a:t>
            </a:r>
            <a:r>
              <a:rPr sz="1600" spc="-85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10" dirty="0">
                <a:solidFill>
                  <a:srgbClr val="FFFFFF"/>
                </a:solidFill>
                <a:latin typeface="Verdana"/>
                <a:cs typeface="Verdana"/>
              </a:rPr>
              <a:t>Campus</a:t>
            </a:r>
            <a:endParaRPr sz="1600">
              <a:latin typeface="Verdana"/>
              <a:cs typeface="Verdana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52600" y="2743200"/>
            <a:ext cx="1524000" cy="1676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734814" y="223519"/>
            <a:ext cx="3303904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60" dirty="0">
                <a:solidFill>
                  <a:srgbClr val="FFFFFF"/>
                </a:solidFill>
                <a:latin typeface="Verdana"/>
                <a:cs typeface="Verdana"/>
              </a:rPr>
              <a:t>Bahria</a:t>
            </a:r>
            <a:r>
              <a:rPr sz="1600" spc="-8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110" dirty="0">
                <a:solidFill>
                  <a:srgbClr val="FFFFFF"/>
                </a:solidFill>
                <a:latin typeface="Verdana"/>
                <a:cs typeface="Verdana"/>
              </a:rPr>
              <a:t>University</a:t>
            </a:r>
            <a:r>
              <a:rPr sz="1600" spc="-6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30" dirty="0">
                <a:solidFill>
                  <a:srgbClr val="FFFFFF"/>
                </a:solidFill>
                <a:latin typeface="Verdana"/>
                <a:cs typeface="Verdana"/>
              </a:rPr>
              <a:t>Karachi</a:t>
            </a:r>
            <a:r>
              <a:rPr sz="1600" spc="-85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10" dirty="0">
                <a:solidFill>
                  <a:srgbClr val="FFFFFF"/>
                </a:solidFill>
                <a:latin typeface="Verdana"/>
                <a:cs typeface="Verdana"/>
              </a:rPr>
              <a:t>Campus</a:t>
            </a:r>
            <a:endParaRPr sz="1600">
              <a:latin typeface="Verdana"/>
              <a:cs typeface="Verdana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489197" y="1442973"/>
            <a:ext cx="1710689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spc="-270" dirty="0">
                <a:solidFill>
                  <a:srgbClr val="000000"/>
                </a:solidFill>
              </a:rPr>
              <a:t>LECTURE</a:t>
            </a:r>
            <a:r>
              <a:rPr sz="2800" spc="-25" dirty="0">
                <a:solidFill>
                  <a:srgbClr val="000000"/>
                </a:solidFill>
              </a:rPr>
              <a:t> </a:t>
            </a:r>
            <a:r>
              <a:rPr sz="2800" spc="-125" dirty="0">
                <a:solidFill>
                  <a:srgbClr val="000000"/>
                </a:solidFill>
              </a:rPr>
              <a:t>7</a:t>
            </a:r>
            <a:endParaRPr sz="2800"/>
          </a:p>
        </p:txBody>
      </p:sp>
      <p:sp>
        <p:nvSpPr>
          <p:cNvPr id="4" name="object 4"/>
          <p:cNvSpPr txBox="1"/>
          <p:nvPr/>
        </p:nvSpPr>
        <p:spPr>
          <a:xfrm>
            <a:off x="3515105" y="1964817"/>
            <a:ext cx="355981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spc="-55" dirty="0">
                <a:latin typeface="Verdana"/>
                <a:cs typeface="Verdana"/>
              </a:rPr>
              <a:t>Divide</a:t>
            </a:r>
            <a:r>
              <a:rPr sz="2800" spc="-204" dirty="0">
                <a:latin typeface="Verdana"/>
                <a:cs typeface="Verdana"/>
              </a:rPr>
              <a:t> </a:t>
            </a:r>
            <a:r>
              <a:rPr sz="2800" spc="65" dirty="0">
                <a:latin typeface="Verdana"/>
                <a:cs typeface="Verdana"/>
              </a:rPr>
              <a:t>And</a:t>
            </a:r>
            <a:r>
              <a:rPr sz="2800" spc="-185" dirty="0">
                <a:latin typeface="Verdana"/>
                <a:cs typeface="Verdana"/>
              </a:rPr>
              <a:t> </a:t>
            </a:r>
            <a:r>
              <a:rPr sz="2800" spc="-10" dirty="0">
                <a:latin typeface="Verdana"/>
                <a:cs typeface="Verdana"/>
              </a:rPr>
              <a:t>Conquer</a:t>
            </a:r>
            <a:endParaRPr sz="2800">
              <a:latin typeface="Verdana"/>
              <a:cs typeface="Verdana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1215389" y="3634359"/>
            <a:ext cx="1053465" cy="21590"/>
          </a:xfrm>
          <a:custGeom>
            <a:avLst/>
            <a:gdLst/>
            <a:ahLst/>
            <a:cxnLst/>
            <a:rect l="l" t="t" r="r" b="b"/>
            <a:pathLst>
              <a:path w="1053464" h="21589">
                <a:moveTo>
                  <a:pt x="1053084" y="0"/>
                </a:moveTo>
                <a:lnTo>
                  <a:pt x="0" y="0"/>
                </a:lnTo>
                <a:lnTo>
                  <a:pt x="0" y="21336"/>
                </a:lnTo>
                <a:lnTo>
                  <a:pt x="1053084" y="21336"/>
                </a:lnTo>
                <a:lnTo>
                  <a:pt x="105308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1202842" y="3369309"/>
            <a:ext cx="2256155" cy="25800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latin typeface="Times New Roman"/>
                <a:cs typeface="Times New Roman"/>
              </a:rPr>
              <a:t>OUTLINE</a:t>
            </a:r>
            <a:endParaRPr sz="18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40"/>
              </a:spcBef>
            </a:pPr>
            <a:endParaRPr sz="1800">
              <a:latin typeface="Times New Roman"/>
              <a:cs typeface="Times New Roman"/>
            </a:endParaRPr>
          </a:p>
          <a:p>
            <a:pPr marL="602615" indent="-285750">
              <a:lnSpc>
                <a:spcPct val="100000"/>
              </a:lnSpc>
              <a:buClr>
                <a:srgbClr val="5BB9F6"/>
              </a:buClr>
              <a:buFont typeface="Wingdings"/>
              <a:buChar char=""/>
              <a:tabLst>
                <a:tab pos="602615" algn="l"/>
              </a:tabLst>
            </a:pPr>
            <a:r>
              <a:rPr sz="1600" dirty="0">
                <a:latin typeface="Times New Roman"/>
                <a:cs typeface="Times New Roman"/>
              </a:rPr>
              <a:t>Divide</a:t>
            </a:r>
            <a:r>
              <a:rPr sz="1600" spc="-6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and</a:t>
            </a:r>
            <a:r>
              <a:rPr sz="1600" spc="-60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Conquer</a:t>
            </a:r>
            <a:endParaRPr sz="1600">
              <a:latin typeface="Times New Roman"/>
              <a:cs typeface="Times New Roman"/>
            </a:endParaRPr>
          </a:p>
          <a:p>
            <a:pPr marL="602615" indent="-285750">
              <a:lnSpc>
                <a:spcPct val="100000"/>
              </a:lnSpc>
              <a:spcBef>
                <a:spcPts val="300"/>
              </a:spcBef>
              <a:buClr>
                <a:srgbClr val="5BB9F6"/>
              </a:buClr>
              <a:buFont typeface="Wingdings"/>
              <a:buChar char=""/>
              <a:tabLst>
                <a:tab pos="602615" algn="l"/>
              </a:tabLst>
            </a:pPr>
            <a:r>
              <a:rPr sz="1600" spc="-10" dirty="0">
                <a:latin typeface="Times New Roman"/>
                <a:cs typeface="Times New Roman"/>
              </a:rPr>
              <a:t>Algorithm</a:t>
            </a:r>
            <a:endParaRPr sz="1600">
              <a:latin typeface="Times New Roman"/>
              <a:cs typeface="Times New Roman"/>
            </a:endParaRPr>
          </a:p>
          <a:p>
            <a:pPr marL="602615" indent="-285750">
              <a:lnSpc>
                <a:spcPct val="100000"/>
              </a:lnSpc>
              <a:spcBef>
                <a:spcPts val="300"/>
              </a:spcBef>
              <a:buClr>
                <a:srgbClr val="5BB9F6"/>
              </a:buClr>
              <a:buFont typeface="Wingdings"/>
              <a:buChar char=""/>
              <a:tabLst>
                <a:tab pos="602615" algn="l"/>
              </a:tabLst>
            </a:pPr>
            <a:r>
              <a:rPr sz="1600" spc="-10" dirty="0">
                <a:latin typeface="Times New Roman"/>
                <a:cs typeface="Times New Roman"/>
              </a:rPr>
              <a:t>Implementation</a:t>
            </a:r>
            <a:endParaRPr sz="1600">
              <a:latin typeface="Times New Roman"/>
              <a:cs typeface="Times New Roman"/>
            </a:endParaRPr>
          </a:p>
          <a:p>
            <a:pPr marL="602615" indent="-285750">
              <a:lnSpc>
                <a:spcPct val="100000"/>
              </a:lnSpc>
              <a:spcBef>
                <a:spcPts val="300"/>
              </a:spcBef>
              <a:buClr>
                <a:srgbClr val="5BB9F6"/>
              </a:buClr>
              <a:buFont typeface="Wingdings"/>
              <a:buChar char=""/>
              <a:tabLst>
                <a:tab pos="602615" algn="l"/>
              </a:tabLst>
            </a:pPr>
            <a:r>
              <a:rPr sz="1600" spc="-10" dirty="0">
                <a:latin typeface="Times New Roman"/>
                <a:cs typeface="Times New Roman"/>
              </a:rPr>
              <a:t>Examples</a:t>
            </a:r>
            <a:endParaRPr sz="1600">
              <a:latin typeface="Times New Roman"/>
              <a:cs typeface="Times New Roman"/>
            </a:endParaRPr>
          </a:p>
          <a:p>
            <a:pPr marL="602615" indent="-285750">
              <a:lnSpc>
                <a:spcPct val="100000"/>
              </a:lnSpc>
              <a:spcBef>
                <a:spcPts val="300"/>
              </a:spcBef>
              <a:buClr>
                <a:srgbClr val="5BB9F6"/>
              </a:buClr>
              <a:buFont typeface="Wingdings"/>
              <a:buChar char=""/>
              <a:tabLst>
                <a:tab pos="602615" algn="l"/>
              </a:tabLst>
            </a:pPr>
            <a:r>
              <a:rPr sz="1600" dirty="0">
                <a:latin typeface="Times New Roman"/>
                <a:cs typeface="Times New Roman"/>
              </a:rPr>
              <a:t>Merge</a:t>
            </a:r>
            <a:r>
              <a:rPr sz="1600" spc="-100" dirty="0">
                <a:latin typeface="Times New Roman"/>
                <a:cs typeface="Times New Roman"/>
              </a:rPr>
              <a:t> </a:t>
            </a:r>
            <a:r>
              <a:rPr sz="1600" spc="-20" dirty="0">
                <a:latin typeface="Times New Roman"/>
                <a:cs typeface="Times New Roman"/>
              </a:rPr>
              <a:t>Sort</a:t>
            </a:r>
            <a:endParaRPr sz="1600">
              <a:latin typeface="Times New Roman"/>
              <a:cs typeface="Times New Roman"/>
            </a:endParaRPr>
          </a:p>
          <a:p>
            <a:pPr marL="602615" indent="-285750">
              <a:lnSpc>
                <a:spcPct val="100000"/>
              </a:lnSpc>
              <a:spcBef>
                <a:spcPts val="300"/>
              </a:spcBef>
              <a:buClr>
                <a:srgbClr val="5BB9F6"/>
              </a:buClr>
              <a:buFont typeface="Wingdings"/>
              <a:buChar char=""/>
              <a:tabLst>
                <a:tab pos="602615" algn="l"/>
              </a:tabLst>
            </a:pPr>
            <a:r>
              <a:rPr sz="1600" dirty="0">
                <a:latin typeface="Times New Roman"/>
                <a:cs typeface="Times New Roman"/>
              </a:rPr>
              <a:t>Quick</a:t>
            </a:r>
            <a:r>
              <a:rPr sz="1600" spc="-45" dirty="0">
                <a:latin typeface="Times New Roman"/>
                <a:cs typeface="Times New Roman"/>
              </a:rPr>
              <a:t> </a:t>
            </a:r>
            <a:r>
              <a:rPr sz="1600" spc="-20" dirty="0">
                <a:latin typeface="Times New Roman"/>
                <a:cs typeface="Times New Roman"/>
              </a:rPr>
              <a:t>Sort</a:t>
            </a:r>
            <a:endParaRPr sz="1600">
              <a:latin typeface="Times New Roman"/>
              <a:cs typeface="Times New Roman"/>
            </a:endParaRPr>
          </a:p>
          <a:p>
            <a:pPr marL="602615" indent="-285750">
              <a:lnSpc>
                <a:spcPct val="100000"/>
              </a:lnSpc>
              <a:spcBef>
                <a:spcPts val="300"/>
              </a:spcBef>
              <a:buClr>
                <a:srgbClr val="5BB9F6"/>
              </a:buClr>
              <a:buFont typeface="Wingdings"/>
              <a:buChar char=""/>
              <a:tabLst>
                <a:tab pos="602615" algn="l"/>
              </a:tabLst>
            </a:pPr>
            <a:r>
              <a:rPr sz="1600" dirty="0">
                <a:latin typeface="Times New Roman"/>
                <a:cs typeface="Times New Roman"/>
              </a:rPr>
              <a:t>Binary</a:t>
            </a:r>
            <a:r>
              <a:rPr sz="1600" spc="-65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Search</a:t>
            </a:r>
            <a:endParaRPr sz="1600">
              <a:latin typeface="Times New Roman"/>
              <a:cs typeface="Times New Roman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87780" y="1066800"/>
            <a:ext cx="2129027" cy="20574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847850" y="1065021"/>
            <a:ext cx="466280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-140" dirty="0"/>
              <a:t>DIVIDE</a:t>
            </a:r>
            <a:r>
              <a:rPr sz="3600" spc="-110" dirty="0"/>
              <a:t> </a:t>
            </a:r>
            <a:r>
              <a:rPr sz="3600" spc="-370" dirty="0"/>
              <a:t>&amp;</a:t>
            </a:r>
            <a:r>
              <a:rPr sz="3600" spc="-35" dirty="0"/>
              <a:t> </a:t>
            </a:r>
            <a:r>
              <a:rPr sz="3600" spc="125" dirty="0"/>
              <a:t>CONQUER</a:t>
            </a:r>
            <a:endParaRPr sz="3600"/>
          </a:p>
        </p:txBody>
      </p:sp>
      <p:sp>
        <p:nvSpPr>
          <p:cNvPr id="3" name="object 3"/>
          <p:cNvSpPr txBox="1"/>
          <p:nvPr/>
        </p:nvSpPr>
        <p:spPr>
          <a:xfrm>
            <a:off x="970889" y="1939518"/>
            <a:ext cx="7084059" cy="3439795"/>
          </a:xfrm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00"/>
              </a:spcBef>
            </a:pPr>
            <a:r>
              <a:rPr sz="2000" dirty="0">
                <a:latin typeface="Verdana"/>
                <a:cs typeface="Verdana"/>
              </a:rPr>
              <a:t>The</a:t>
            </a:r>
            <a:r>
              <a:rPr sz="2000" spc="250" dirty="0">
                <a:latin typeface="Verdana"/>
                <a:cs typeface="Verdana"/>
              </a:rPr>
              <a:t> </a:t>
            </a:r>
            <a:r>
              <a:rPr sz="2000" dirty="0">
                <a:latin typeface="Verdana"/>
                <a:cs typeface="Verdana"/>
              </a:rPr>
              <a:t>most</a:t>
            </a:r>
            <a:r>
              <a:rPr sz="2000" spc="235" dirty="0">
                <a:latin typeface="Verdana"/>
                <a:cs typeface="Verdana"/>
              </a:rPr>
              <a:t> </a:t>
            </a:r>
            <a:r>
              <a:rPr sz="2000" dirty="0">
                <a:latin typeface="Verdana"/>
                <a:cs typeface="Verdana"/>
              </a:rPr>
              <a:t>well</a:t>
            </a:r>
            <a:r>
              <a:rPr sz="2000" spc="100" dirty="0">
                <a:latin typeface="Verdana"/>
                <a:cs typeface="Verdana"/>
              </a:rPr>
              <a:t> </a:t>
            </a:r>
            <a:r>
              <a:rPr sz="2000" spc="105" dirty="0">
                <a:latin typeface="Verdana"/>
                <a:cs typeface="Verdana"/>
              </a:rPr>
              <a:t>known</a:t>
            </a:r>
            <a:r>
              <a:rPr sz="2000" spc="245" dirty="0">
                <a:latin typeface="Verdana"/>
                <a:cs typeface="Verdana"/>
              </a:rPr>
              <a:t> </a:t>
            </a:r>
            <a:r>
              <a:rPr sz="2000" spc="95" dirty="0">
                <a:latin typeface="Verdana"/>
                <a:cs typeface="Verdana"/>
              </a:rPr>
              <a:t>algorithm</a:t>
            </a:r>
            <a:r>
              <a:rPr sz="2000" spc="254" dirty="0">
                <a:latin typeface="Verdana"/>
                <a:cs typeface="Verdana"/>
              </a:rPr>
              <a:t> </a:t>
            </a:r>
            <a:r>
              <a:rPr sz="2000" spc="95" dirty="0">
                <a:latin typeface="Verdana"/>
                <a:cs typeface="Verdana"/>
              </a:rPr>
              <a:t>design</a:t>
            </a:r>
            <a:r>
              <a:rPr sz="2000" spc="-380" dirty="0">
                <a:latin typeface="Verdana"/>
                <a:cs typeface="Verdana"/>
              </a:rPr>
              <a:t> </a:t>
            </a:r>
            <a:r>
              <a:rPr sz="2000" spc="35" dirty="0">
                <a:latin typeface="Verdana"/>
                <a:cs typeface="Verdana"/>
              </a:rPr>
              <a:t>strategy:</a:t>
            </a:r>
            <a:endParaRPr sz="2000">
              <a:latin typeface="Verdana"/>
              <a:cs typeface="Verdana"/>
            </a:endParaRPr>
          </a:p>
          <a:p>
            <a:pPr marL="469900" marR="382270" indent="-457834">
              <a:lnSpc>
                <a:spcPct val="108000"/>
              </a:lnSpc>
              <a:spcBef>
                <a:spcPts val="405"/>
              </a:spcBef>
              <a:buClr>
                <a:srgbClr val="FC8536"/>
              </a:buClr>
              <a:buSzPct val="67500"/>
              <a:buAutoNum type="arabicPeriod"/>
              <a:tabLst>
                <a:tab pos="469900" algn="l"/>
              </a:tabLst>
            </a:pPr>
            <a:r>
              <a:rPr sz="2000" b="1" spc="-130" dirty="0">
                <a:solidFill>
                  <a:srgbClr val="FF0000"/>
                </a:solidFill>
                <a:latin typeface="Tahoma"/>
                <a:cs typeface="Tahoma"/>
              </a:rPr>
              <a:t>D</a:t>
            </a:r>
            <a:r>
              <a:rPr sz="2000" b="1" spc="-34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2000" b="1" spc="-120" dirty="0">
                <a:solidFill>
                  <a:srgbClr val="FF0000"/>
                </a:solidFill>
                <a:latin typeface="Tahoma"/>
                <a:cs typeface="Tahoma"/>
              </a:rPr>
              <a:t>i</a:t>
            </a:r>
            <a:r>
              <a:rPr sz="2000" b="1" spc="-34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2000" b="1" spc="-55" dirty="0">
                <a:solidFill>
                  <a:srgbClr val="FF0000"/>
                </a:solidFill>
                <a:latin typeface="Tahoma"/>
                <a:cs typeface="Tahoma"/>
              </a:rPr>
              <a:t>v</a:t>
            </a:r>
            <a:r>
              <a:rPr sz="2000" b="1" spc="-33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2000" b="1" spc="-120" dirty="0">
                <a:solidFill>
                  <a:srgbClr val="FF0000"/>
                </a:solidFill>
                <a:latin typeface="Tahoma"/>
                <a:cs typeface="Tahoma"/>
              </a:rPr>
              <a:t>i</a:t>
            </a:r>
            <a:r>
              <a:rPr sz="2000" b="1" spc="-34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2000" b="1" spc="195" dirty="0">
                <a:solidFill>
                  <a:srgbClr val="FF0000"/>
                </a:solidFill>
                <a:latin typeface="Tahoma"/>
                <a:cs typeface="Tahoma"/>
              </a:rPr>
              <a:t>de</a:t>
            </a:r>
            <a:r>
              <a:rPr sz="2000" b="1" spc="30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2000" spc="130" dirty="0">
                <a:latin typeface="Verdana"/>
                <a:cs typeface="Verdana"/>
              </a:rPr>
              <a:t>the</a:t>
            </a:r>
            <a:r>
              <a:rPr sz="2000" spc="100" dirty="0">
                <a:latin typeface="Verdana"/>
                <a:cs typeface="Verdana"/>
              </a:rPr>
              <a:t> </a:t>
            </a:r>
            <a:r>
              <a:rPr sz="2000" spc="114" dirty="0">
                <a:latin typeface="Verdana"/>
                <a:cs typeface="Verdana"/>
              </a:rPr>
              <a:t>problem</a:t>
            </a:r>
            <a:r>
              <a:rPr sz="2000" spc="35" dirty="0">
                <a:latin typeface="Verdana"/>
                <a:cs typeface="Verdana"/>
              </a:rPr>
              <a:t> </a:t>
            </a:r>
            <a:r>
              <a:rPr sz="2000" spc="60" dirty="0">
                <a:latin typeface="Verdana"/>
                <a:cs typeface="Verdana"/>
              </a:rPr>
              <a:t>into</a:t>
            </a:r>
            <a:r>
              <a:rPr sz="2000" spc="35" dirty="0">
                <a:latin typeface="Verdana"/>
                <a:cs typeface="Verdana"/>
              </a:rPr>
              <a:t> </a:t>
            </a:r>
            <a:r>
              <a:rPr sz="2000" spc="90" dirty="0">
                <a:latin typeface="Verdana"/>
                <a:cs typeface="Verdana"/>
              </a:rPr>
              <a:t>two</a:t>
            </a:r>
            <a:r>
              <a:rPr sz="2000" spc="10" dirty="0">
                <a:latin typeface="Verdana"/>
                <a:cs typeface="Verdana"/>
              </a:rPr>
              <a:t> </a:t>
            </a:r>
            <a:r>
              <a:rPr sz="2000" dirty="0">
                <a:latin typeface="Verdana"/>
                <a:cs typeface="Verdana"/>
              </a:rPr>
              <a:t>or</a:t>
            </a:r>
            <a:r>
              <a:rPr sz="2000" spc="50" dirty="0">
                <a:latin typeface="Verdana"/>
                <a:cs typeface="Verdana"/>
              </a:rPr>
              <a:t> </a:t>
            </a:r>
            <a:r>
              <a:rPr sz="2000" spc="90" dirty="0">
                <a:latin typeface="Verdana"/>
                <a:cs typeface="Verdana"/>
              </a:rPr>
              <a:t>more</a:t>
            </a:r>
            <a:r>
              <a:rPr sz="2000" spc="55" dirty="0">
                <a:latin typeface="Verdana"/>
                <a:cs typeface="Verdana"/>
              </a:rPr>
              <a:t> </a:t>
            </a:r>
            <a:r>
              <a:rPr sz="2000" spc="50" dirty="0">
                <a:latin typeface="Verdana"/>
                <a:cs typeface="Verdana"/>
              </a:rPr>
              <a:t>smaller </a:t>
            </a:r>
            <a:r>
              <a:rPr sz="2000" spc="65" dirty="0">
                <a:latin typeface="Verdana"/>
                <a:cs typeface="Verdana"/>
              </a:rPr>
              <a:t>subproblems.</a:t>
            </a:r>
            <a:endParaRPr sz="200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1510"/>
              </a:spcBef>
              <a:buClr>
                <a:srgbClr val="FC8536"/>
              </a:buClr>
              <a:buFont typeface="Tahoma"/>
              <a:buAutoNum type="arabicPeriod"/>
            </a:pPr>
            <a:endParaRPr sz="2000">
              <a:latin typeface="Verdana"/>
              <a:cs typeface="Verdana"/>
            </a:endParaRPr>
          </a:p>
          <a:p>
            <a:pPr marL="469900" marR="640080" indent="-457834">
              <a:lnSpc>
                <a:spcPct val="108500"/>
              </a:lnSpc>
              <a:buClr>
                <a:srgbClr val="FC8536"/>
              </a:buClr>
              <a:buSzPct val="67500"/>
              <a:buAutoNum type="arabicPeriod"/>
              <a:tabLst>
                <a:tab pos="469900" algn="l"/>
                <a:tab pos="1861185" algn="l"/>
              </a:tabLst>
            </a:pPr>
            <a:r>
              <a:rPr sz="2000" b="1" spc="190" dirty="0">
                <a:solidFill>
                  <a:srgbClr val="FF0000"/>
                </a:solidFill>
                <a:latin typeface="Tahoma"/>
                <a:cs typeface="Tahoma"/>
              </a:rPr>
              <a:t>Conquer</a:t>
            </a:r>
            <a:r>
              <a:rPr sz="2000" b="1" dirty="0">
                <a:solidFill>
                  <a:srgbClr val="FF0000"/>
                </a:solidFill>
                <a:latin typeface="Tahoma"/>
                <a:cs typeface="Tahoma"/>
              </a:rPr>
              <a:t>	</a:t>
            </a:r>
            <a:r>
              <a:rPr sz="2000" spc="130" dirty="0">
                <a:latin typeface="Verdana"/>
                <a:cs typeface="Verdana"/>
              </a:rPr>
              <a:t>the</a:t>
            </a:r>
            <a:r>
              <a:rPr sz="2000" spc="320" dirty="0">
                <a:latin typeface="Verdana"/>
                <a:cs typeface="Verdana"/>
              </a:rPr>
              <a:t> </a:t>
            </a:r>
            <a:r>
              <a:rPr sz="2000" spc="90" dirty="0">
                <a:latin typeface="Verdana"/>
                <a:cs typeface="Verdana"/>
              </a:rPr>
              <a:t>subproblems</a:t>
            </a:r>
            <a:r>
              <a:rPr sz="2000" spc="240" dirty="0">
                <a:latin typeface="Verdana"/>
                <a:cs typeface="Verdana"/>
              </a:rPr>
              <a:t> </a:t>
            </a:r>
            <a:r>
              <a:rPr sz="2000" dirty="0">
                <a:latin typeface="Verdana"/>
                <a:cs typeface="Verdana"/>
              </a:rPr>
              <a:t>by</a:t>
            </a:r>
            <a:r>
              <a:rPr sz="2000" spc="105" dirty="0">
                <a:latin typeface="Verdana"/>
                <a:cs typeface="Verdana"/>
              </a:rPr>
              <a:t> </a:t>
            </a:r>
            <a:r>
              <a:rPr sz="2000" dirty="0">
                <a:latin typeface="Verdana"/>
                <a:cs typeface="Verdana"/>
              </a:rPr>
              <a:t>solving</a:t>
            </a:r>
            <a:r>
              <a:rPr sz="2000" spc="-400" dirty="0">
                <a:latin typeface="Verdana"/>
                <a:cs typeface="Verdana"/>
              </a:rPr>
              <a:t> </a:t>
            </a:r>
            <a:r>
              <a:rPr sz="2000" spc="120" dirty="0">
                <a:latin typeface="Verdana"/>
                <a:cs typeface="Verdana"/>
              </a:rPr>
              <a:t>them </a:t>
            </a:r>
            <a:r>
              <a:rPr sz="2000" spc="-10" dirty="0">
                <a:latin typeface="Verdana"/>
                <a:cs typeface="Verdana"/>
              </a:rPr>
              <a:t>recursively.</a:t>
            </a:r>
            <a:endParaRPr sz="200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1505"/>
              </a:spcBef>
              <a:buClr>
                <a:srgbClr val="FC8536"/>
              </a:buClr>
              <a:buFont typeface="Tahoma"/>
              <a:buAutoNum type="arabicPeriod"/>
            </a:pPr>
            <a:endParaRPr sz="2000">
              <a:latin typeface="Verdana"/>
              <a:cs typeface="Verdana"/>
            </a:endParaRPr>
          </a:p>
          <a:p>
            <a:pPr marL="469900" marR="5080" indent="-457834">
              <a:lnSpc>
                <a:spcPct val="108500"/>
              </a:lnSpc>
              <a:buClr>
                <a:srgbClr val="FC8536"/>
              </a:buClr>
              <a:buSzPct val="67500"/>
              <a:buAutoNum type="arabicPeriod"/>
              <a:tabLst>
                <a:tab pos="469900" algn="l"/>
              </a:tabLst>
            </a:pPr>
            <a:r>
              <a:rPr sz="2000" b="1" spc="235" dirty="0">
                <a:solidFill>
                  <a:srgbClr val="FF0000"/>
                </a:solidFill>
                <a:latin typeface="Tahoma"/>
                <a:cs typeface="Tahoma"/>
              </a:rPr>
              <a:t>Com</a:t>
            </a:r>
            <a:r>
              <a:rPr sz="2000" b="1" spc="-32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2000" b="1" spc="85" dirty="0">
                <a:solidFill>
                  <a:srgbClr val="FF0000"/>
                </a:solidFill>
                <a:latin typeface="Tahoma"/>
                <a:cs typeface="Tahoma"/>
              </a:rPr>
              <a:t>bi</a:t>
            </a:r>
            <a:r>
              <a:rPr sz="2000" b="1" spc="-33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2000" b="1" spc="130" dirty="0">
                <a:solidFill>
                  <a:srgbClr val="FF0000"/>
                </a:solidFill>
                <a:latin typeface="Tahoma"/>
                <a:cs typeface="Tahoma"/>
              </a:rPr>
              <a:t>ne</a:t>
            </a:r>
            <a:r>
              <a:rPr sz="2000" b="1" spc="32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2000" spc="130" dirty="0">
                <a:latin typeface="Verdana"/>
                <a:cs typeface="Verdana"/>
              </a:rPr>
              <a:t>the</a:t>
            </a:r>
            <a:r>
              <a:rPr sz="2000" spc="155" dirty="0">
                <a:latin typeface="Verdana"/>
                <a:cs typeface="Verdana"/>
              </a:rPr>
              <a:t> </a:t>
            </a:r>
            <a:r>
              <a:rPr sz="2000" dirty="0">
                <a:latin typeface="Verdana"/>
                <a:cs typeface="Verdana"/>
              </a:rPr>
              <a:t>solutions</a:t>
            </a:r>
            <a:r>
              <a:rPr sz="2000" spc="105" dirty="0">
                <a:latin typeface="Verdana"/>
                <a:cs typeface="Verdana"/>
              </a:rPr>
              <a:t> </a:t>
            </a:r>
            <a:r>
              <a:rPr sz="2000" spc="60" dirty="0">
                <a:latin typeface="Verdana"/>
                <a:cs typeface="Verdana"/>
              </a:rPr>
              <a:t>to</a:t>
            </a:r>
            <a:r>
              <a:rPr sz="2000" spc="50" dirty="0">
                <a:latin typeface="Verdana"/>
                <a:cs typeface="Verdana"/>
              </a:rPr>
              <a:t> </a:t>
            </a:r>
            <a:r>
              <a:rPr sz="2000" spc="130" dirty="0">
                <a:latin typeface="Verdana"/>
                <a:cs typeface="Verdana"/>
              </a:rPr>
              <a:t>the</a:t>
            </a:r>
            <a:r>
              <a:rPr sz="2000" spc="145" dirty="0">
                <a:latin typeface="Verdana"/>
                <a:cs typeface="Verdana"/>
              </a:rPr>
              <a:t> </a:t>
            </a:r>
            <a:r>
              <a:rPr sz="2000" spc="90" dirty="0">
                <a:latin typeface="Verdana"/>
                <a:cs typeface="Verdana"/>
              </a:rPr>
              <a:t>subproblems</a:t>
            </a:r>
            <a:r>
              <a:rPr sz="2000" spc="110" dirty="0">
                <a:latin typeface="Verdana"/>
                <a:cs typeface="Verdana"/>
              </a:rPr>
              <a:t> </a:t>
            </a:r>
            <a:r>
              <a:rPr sz="2000" spc="40" dirty="0">
                <a:latin typeface="Verdana"/>
                <a:cs typeface="Verdana"/>
              </a:rPr>
              <a:t>into </a:t>
            </a:r>
            <a:r>
              <a:rPr sz="2000" spc="130" dirty="0">
                <a:latin typeface="Verdana"/>
                <a:cs typeface="Verdana"/>
              </a:rPr>
              <a:t>the</a:t>
            </a:r>
            <a:r>
              <a:rPr sz="2000" spc="305" dirty="0">
                <a:latin typeface="Verdana"/>
                <a:cs typeface="Verdana"/>
              </a:rPr>
              <a:t> </a:t>
            </a:r>
            <a:r>
              <a:rPr sz="2000" dirty="0">
                <a:latin typeface="Verdana"/>
                <a:cs typeface="Verdana"/>
              </a:rPr>
              <a:t>solutions</a:t>
            </a:r>
            <a:r>
              <a:rPr sz="2000" spc="175" dirty="0">
                <a:latin typeface="Verdana"/>
                <a:cs typeface="Verdana"/>
              </a:rPr>
              <a:t> </a:t>
            </a:r>
            <a:r>
              <a:rPr sz="2000" dirty="0">
                <a:latin typeface="Verdana"/>
                <a:cs typeface="Verdana"/>
              </a:rPr>
              <a:t>for</a:t>
            </a:r>
            <a:r>
              <a:rPr sz="2000" spc="50" dirty="0">
                <a:latin typeface="Verdana"/>
                <a:cs typeface="Verdana"/>
              </a:rPr>
              <a:t> </a:t>
            </a:r>
            <a:r>
              <a:rPr sz="2000" spc="130" dirty="0">
                <a:latin typeface="Verdana"/>
                <a:cs typeface="Verdana"/>
              </a:rPr>
              <a:t>the</a:t>
            </a:r>
            <a:r>
              <a:rPr sz="2000" spc="315" dirty="0">
                <a:latin typeface="Verdana"/>
                <a:cs typeface="Verdana"/>
              </a:rPr>
              <a:t> </a:t>
            </a:r>
            <a:r>
              <a:rPr sz="2000" spc="65" dirty="0">
                <a:latin typeface="Verdana"/>
                <a:cs typeface="Verdana"/>
              </a:rPr>
              <a:t>original</a:t>
            </a:r>
            <a:r>
              <a:rPr sz="2000" spc="-340" dirty="0">
                <a:latin typeface="Verdana"/>
                <a:cs typeface="Verdana"/>
              </a:rPr>
              <a:t> </a:t>
            </a:r>
            <a:r>
              <a:rPr sz="2000" spc="80" dirty="0">
                <a:latin typeface="Verdana"/>
                <a:cs typeface="Verdana"/>
              </a:rPr>
              <a:t>problem.</a:t>
            </a:r>
            <a:endParaRPr sz="2000">
              <a:latin typeface="Verdana"/>
              <a:cs typeface="Verdan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734814" y="223519"/>
            <a:ext cx="3303904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60" dirty="0">
                <a:solidFill>
                  <a:srgbClr val="FFFFFF"/>
                </a:solidFill>
                <a:latin typeface="Verdana"/>
                <a:cs typeface="Verdana"/>
              </a:rPr>
              <a:t>Bahria</a:t>
            </a:r>
            <a:r>
              <a:rPr sz="1600" spc="-8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110" dirty="0">
                <a:solidFill>
                  <a:srgbClr val="FFFFFF"/>
                </a:solidFill>
                <a:latin typeface="Verdana"/>
                <a:cs typeface="Verdana"/>
              </a:rPr>
              <a:t>University</a:t>
            </a:r>
            <a:r>
              <a:rPr sz="1600" spc="-6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30" dirty="0">
                <a:solidFill>
                  <a:srgbClr val="FFFFFF"/>
                </a:solidFill>
                <a:latin typeface="Verdana"/>
                <a:cs typeface="Verdana"/>
              </a:rPr>
              <a:t>Karachi</a:t>
            </a:r>
            <a:r>
              <a:rPr sz="1600" spc="-85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10" dirty="0">
                <a:solidFill>
                  <a:srgbClr val="FFFFFF"/>
                </a:solidFill>
                <a:latin typeface="Verdana"/>
                <a:cs typeface="Verdana"/>
              </a:rPr>
              <a:t>Campus</a:t>
            </a:r>
            <a:endParaRPr sz="160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760095">
              <a:lnSpc>
                <a:spcPct val="100000"/>
              </a:lnSpc>
              <a:spcBef>
                <a:spcPts val="95"/>
              </a:spcBef>
            </a:pPr>
            <a:r>
              <a:rPr spc="-380" dirty="0"/>
              <a:t>DIVIDE-</a:t>
            </a:r>
            <a:r>
              <a:rPr spc="-75" dirty="0"/>
              <a:t>AND-</a:t>
            </a:r>
            <a:r>
              <a:rPr spc="-45" dirty="0"/>
              <a:t>CONQUER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4720" y="1625854"/>
            <a:ext cx="7071359" cy="448056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469900" marR="110489" indent="-457200">
              <a:lnSpc>
                <a:spcPct val="100000"/>
              </a:lnSpc>
              <a:spcBef>
                <a:spcPts val="105"/>
              </a:spcBef>
              <a:buClr>
                <a:srgbClr val="5BB9F6"/>
              </a:buClr>
              <a:buFont typeface="Wingdings"/>
              <a:buChar char=""/>
              <a:tabLst>
                <a:tab pos="469900" algn="l"/>
              </a:tabLst>
            </a:pPr>
            <a:r>
              <a:rPr sz="3200" spc="175" dirty="0">
                <a:latin typeface="Verdana"/>
                <a:cs typeface="Verdana"/>
              </a:rPr>
              <a:t>A</a:t>
            </a:r>
            <a:r>
              <a:rPr sz="3200" spc="-210" dirty="0">
                <a:latin typeface="Verdana"/>
                <a:cs typeface="Verdana"/>
              </a:rPr>
              <a:t> </a:t>
            </a:r>
            <a:r>
              <a:rPr sz="3200" spc="-10" dirty="0">
                <a:latin typeface="Verdana"/>
                <a:cs typeface="Verdana"/>
              </a:rPr>
              <a:t>general</a:t>
            </a:r>
            <a:r>
              <a:rPr sz="3200" spc="-240" dirty="0">
                <a:latin typeface="Verdana"/>
                <a:cs typeface="Verdana"/>
              </a:rPr>
              <a:t> </a:t>
            </a:r>
            <a:r>
              <a:rPr sz="3200" dirty="0">
                <a:latin typeface="Verdana"/>
                <a:cs typeface="Verdana"/>
              </a:rPr>
              <a:t>methodology</a:t>
            </a:r>
            <a:r>
              <a:rPr sz="3200" spc="-240" dirty="0">
                <a:latin typeface="Verdana"/>
                <a:cs typeface="Verdana"/>
              </a:rPr>
              <a:t> </a:t>
            </a:r>
            <a:r>
              <a:rPr sz="3200" spc="-135" dirty="0">
                <a:latin typeface="Verdana"/>
                <a:cs typeface="Verdana"/>
              </a:rPr>
              <a:t>for</a:t>
            </a:r>
            <a:r>
              <a:rPr sz="3200" spc="-235" dirty="0">
                <a:latin typeface="Verdana"/>
                <a:cs typeface="Verdana"/>
              </a:rPr>
              <a:t> </a:t>
            </a:r>
            <a:r>
              <a:rPr sz="3200" spc="-85" dirty="0">
                <a:latin typeface="Verdana"/>
                <a:cs typeface="Verdana"/>
              </a:rPr>
              <a:t>using </a:t>
            </a:r>
            <a:r>
              <a:rPr sz="3200" spc="-105" dirty="0">
                <a:latin typeface="Verdana"/>
                <a:cs typeface="Verdana"/>
              </a:rPr>
              <a:t>recursion</a:t>
            </a:r>
            <a:r>
              <a:rPr sz="3200" spc="-250" dirty="0">
                <a:latin typeface="Verdana"/>
                <a:cs typeface="Verdana"/>
              </a:rPr>
              <a:t> </a:t>
            </a:r>
            <a:r>
              <a:rPr sz="3200" dirty="0">
                <a:latin typeface="Verdana"/>
                <a:cs typeface="Verdana"/>
              </a:rPr>
              <a:t>to</a:t>
            </a:r>
            <a:r>
              <a:rPr sz="3200" spc="-225" dirty="0">
                <a:latin typeface="Verdana"/>
                <a:cs typeface="Verdana"/>
              </a:rPr>
              <a:t> </a:t>
            </a:r>
            <a:r>
              <a:rPr sz="3200" spc="-45" dirty="0">
                <a:latin typeface="Verdana"/>
                <a:cs typeface="Verdana"/>
              </a:rPr>
              <a:t>design</a:t>
            </a:r>
            <a:r>
              <a:rPr sz="3200" spc="-250" dirty="0">
                <a:latin typeface="Verdana"/>
                <a:cs typeface="Verdana"/>
              </a:rPr>
              <a:t> </a:t>
            </a:r>
            <a:r>
              <a:rPr sz="3200" spc="-10" dirty="0">
                <a:latin typeface="Verdana"/>
                <a:cs typeface="Verdana"/>
              </a:rPr>
              <a:t>efficient </a:t>
            </a:r>
            <a:r>
              <a:rPr sz="3200" spc="-20" dirty="0">
                <a:latin typeface="Verdana"/>
                <a:cs typeface="Verdana"/>
              </a:rPr>
              <a:t>algorithms</a:t>
            </a:r>
            <a:endParaRPr sz="3200">
              <a:latin typeface="Verdana"/>
              <a:cs typeface="Verdana"/>
            </a:endParaRPr>
          </a:p>
          <a:p>
            <a:pPr marL="469265" indent="-456565">
              <a:lnSpc>
                <a:spcPct val="100000"/>
              </a:lnSpc>
              <a:spcBef>
                <a:spcPts val="805"/>
              </a:spcBef>
              <a:buClr>
                <a:srgbClr val="5BB9F6"/>
              </a:buClr>
              <a:buFont typeface="Wingdings"/>
              <a:buChar char=""/>
              <a:tabLst>
                <a:tab pos="469265" algn="l"/>
              </a:tabLst>
            </a:pPr>
            <a:r>
              <a:rPr sz="3200" spc="-405" dirty="0">
                <a:latin typeface="Verdana"/>
                <a:cs typeface="Verdana"/>
              </a:rPr>
              <a:t>It</a:t>
            </a:r>
            <a:r>
              <a:rPr sz="3200" spc="-245" dirty="0">
                <a:latin typeface="Verdana"/>
                <a:cs typeface="Verdana"/>
              </a:rPr>
              <a:t> </a:t>
            </a:r>
            <a:r>
              <a:rPr sz="3200" spc="-160" dirty="0">
                <a:latin typeface="Verdana"/>
                <a:cs typeface="Verdana"/>
              </a:rPr>
              <a:t>solves</a:t>
            </a:r>
            <a:r>
              <a:rPr sz="3200" spc="-285" dirty="0">
                <a:latin typeface="Verdana"/>
                <a:cs typeface="Verdana"/>
              </a:rPr>
              <a:t> </a:t>
            </a:r>
            <a:r>
              <a:rPr sz="3200" spc="250" dirty="0">
                <a:latin typeface="Verdana"/>
                <a:cs typeface="Verdana"/>
              </a:rPr>
              <a:t>a</a:t>
            </a:r>
            <a:r>
              <a:rPr sz="3200" spc="-235" dirty="0">
                <a:latin typeface="Verdana"/>
                <a:cs typeface="Verdana"/>
              </a:rPr>
              <a:t> </a:t>
            </a:r>
            <a:r>
              <a:rPr sz="3200" spc="-20" dirty="0">
                <a:latin typeface="Verdana"/>
                <a:cs typeface="Verdana"/>
              </a:rPr>
              <a:t>problem</a:t>
            </a:r>
            <a:r>
              <a:rPr sz="3200" spc="-225" dirty="0">
                <a:latin typeface="Verdana"/>
                <a:cs typeface="Verdana"/>
              </a:rPr>
              <a:t> </a:t>
            </a:r>
            <a:r>
              <a:rPr sz="3200" spc="-25" dirty="0">
                <a:latin typeface="Verdana"/>
                <a:cs typeface="Verdana"/>
              </a:rPr>
              <a:t>by:</a:t>
            </a:r>
            <a:endParaRPr sz="3200">
              <a:latin typeface="Verdana"/>
              <a:cs typeface="Verdana"/>
            </a:endParaRPr>
          </a:p>
          <a:p>
            <a:pPr marL="927100" lvl="1" indent="-457200">
              <a:lnSpc>
                <a:spcPct val="100000"/>
              </a:lnSpc>
              <a:spcBef>
                <a:spcPts val="700"/>
              </a:spcBef>
              <a:buClr>
                <a:srgbClr val="5BB9F6"/>
              </a:buClr>
              <a:buFont typeface="Wingdings"/>
              <a:buChar char=""/>
              <a:tabLst>
                <a:tab pos="927100" algn="l"/>
              </a:tabLst>
            </a:pPr>
            <a:r>
              <a:rPr sz="2800" spc="-100" dirty="0">
                <a:latin typeface="Verdana"/>
                <a:cs typeface="Verdana"/>
              </a:rPr>
              <a:t>Diving</a:t>
            </a:r>
            <a:r>
              <a:rPr sz="2800" spc="-225" dirty="0">
                <a:latin typeface="Verdana"/>
                <a:cs typeface="Verdana"/>
              </a:rPr>
              <a:t> </a:t>
            </a:r>
            <a:r>
              <a:rPr sz="2800" spc="-40" dirty="0">
                <a:latin typeface="Verdana"/>
                <a:cs typeface="Verdana"/>
              </a:rPr>
              <a:t>the</a:t>
            </a:r>
            <a:r>
              <a:rPr sz="2800" spc="-200" dirty="0">
                <a:latin typeface="Verdana"/>
                <a:cs typeface="Verdana"/>
              </a:rPr>
              <a:t> </a:t>
            </a:r>
            <a:r>
              <a:rPr sz="2800" spc="105" dirty="0">
                <a:latin typeface="Verdana"/>
                <a:cs typeface="Verdana"/>
              </a:rPr>
              <a:t>data</a:t>
            </a:r>
            <a:r>
              <a:rPr sz="2800" spc="-210" dirty="0">
                <a:latin typeface="Verdana"/>
                <a:cs typeface="Verdana"/>
              </a:rPr>
              <a:t> </a:t>
            </a:r>
            <a:r>
              <a:rPr sz="2800" spc="-80" dirty="0">
                <a:latin typeface="Verdana"/>
                <a:cs typeface="Verdana"/>
              </a:rPr>
              <a:t>into</a:t>
            </a:r>
            <a:r>
              <a:rPr sz="2800" spc="-165" dirty="0">
                <a:latin typeface="Verdana"/>
                <a:cs typeface="Verdana"/>
              </a:rPr>
              <a:t> </a:t>
            </a:r>
            <a:r>
              <a:rPr sz="2800" spc="-10" dirty="0">
                <a:latin typeface="Verdana"/>
                <a:cs typeface="Verdana"/>
              </a:rPr>
              <a:t>parts</a:t>
            </a:r>
            <a:endParaRPr sz="2800">
              <a:latin typeface="Verdana"/>
              <a:cs typeface="Verdana"/>
            </a:endParaRPr>
          </a:p>
          <a:p>
            <a:pPr marL="927100" marR="5080" lvl="1" indent="-457834">
              <a:lnSpc>
                <a:spcPct val="100000"/>
              </a:lnSpc>
              <a:spcBef>
                <a:spcPts val="710"/>
              </a:spcBef>
              <a:buClr>
                <a:srgbClr val="5BB9F6"/>
              </a:buClr>
              <a:buFont typeface="Wingdings"/>
              <a:buChar char=""/>
              <a:tabLst>
                <a:tab pos="927100" algn="l"/>
              </a:tabLst>
            </a:pPr>
            <a:r>
              <a:rPr sz="2800" spc="-85" dirty="0">
                <a:latin typeface="Verdana"/>
                <a:cs typeface="Verdana"/>
              </a:rPr>
              <a:t>Finding</a:t>
            </a:r>
            <a:r>
              <a:rPr sz="2800" spc="-204" dirty="0">
                <a:latin typeface="Verdana"/>
                <a:cs typeface="Verdana"/>
              </a:rPr>
              <a:t> </a:t>
            </a:r>
            <a:r>
              <a:rPr sz="2800" spc="-110" dirty="0">
                <a:latin typeface="Verdana"/>
                <a:cs typeface="Verdana"/>
              </a:rPr>
              <a:t>sub</a:t>
            </a:r>
            <a:r>
              <a:rPr sz="2800" spc="-175" dirty="0">
                <a:latin typeface="Verdana"/>
                <a:cs typeface="Verdana"/>
              </a:rPr>
              <a:t> </a:t>
            </a:r>
            <a:r>
              <a:rPr sz="2800" spc="-150" dirty="0">
                <a:latin typeface="Verdana"/>
                <a:cs typeface="Verdana"/>
              </a:rPr>
              <a:t>solutions</a:t>
            </a:r>
            <a:r>
              <a:rPr sz="2800" spc="-225" dirty="0">
                <a:latin typeface="Verdana"/>
                <a:cs typeface="Verdana"/>
              </a:rPr>
              <a:t> </a:t>
            </a:r>
            <a:r>
              <a:rPr sz="2800" spc="-125" dirty="0">
                <a:latin typeface="Verdana"/>
                <a:cs typeface="Verdana"/>
              </a:rPr>
              <a:t>for</a:t>
            </a:r>
            <a:r>
              <a:rPr sz="2800" spc="-190" dirty="0">
                <a:latin typeface="Verdana"/>
                <a:cs typeface="Verdana"/>
              </a:rPr>
              <a:t> </a:t>
            </a:r>
            <a:r>
              <a:rPr sz="2800" spc="145" dirty="0">
                <a:latin typeface="Verdana"/>
                <a:cs typeface="Verdana"/>
              </a:rPr>
              <a:t>each</a:t>
            </a:r>
            <a:r>
              <a:rPr sz="2800" spc="-160" dirty="0">
                <a:latin typeface="Verdana"/>
                <a:cs typeface="Verdana"/>
              </a:rPr>
              <a:t> </a:t>
            </a:r>
            <a:r>
              <a:rPr sz="2800" dirty="0">
                <a:latin typeface="Verdana"/>
                <a:cs typeface="Verdana"/>
              </a:rPr>
              <a:t>of</a:t>
            </a:r>
            <a:r>
              <a:rPr sz="2800" spc="-204" dirty="0">
                <a:latin typeface="Verdana"/>
                <a:cs typeface="Verdana"/>
              </a:rPr>
              <a:t> </a:t>
            </a:r>
            <a:r>
              <a:rPr sz="2800" spc="-25" dirty="0">
                <a:latin typeface="Verdana"/>
                <a:cs typeface="Verdana"/>
              </a:rPr>
              <a:t>the </a:t>
            </a:r>
            <a:r>
              <a:rPr sz="2800" spc="-10" dirty="0">
                <a:latin typeface="Verdana"/>
                <a:cs typeface="Verdana"/>
              </a:rPr>
              <a:t>parts</a:t>
            </a:r>
            <a:endParaRPr sz="2800">
              <a:latin typeface="Verdana"/>
              <a:cs typeface="Verdana"/>
            </a:endParaRPr>
          </a:p>
          <a:p>
            <a:pPr marL="927100" marR="263525" lvl="1" indent="-457834">
              <a:lnSpc>
                <a:spcPct val="100000"/>
              </a:lnSpc>
              <a:spcBef>
                <a:spcPts val="695"/>
              </a:spcBef>
              <a:buClr>
                <a:srgbClr val="5BB9F6"/>
              </a:buClr>
              <a:buFont typeface="Wingdings"/>
              <a:buChar char=""/>
              <a:tabLst>
                <a:tab pos="927100" algn="l"/>
                <a:tab pos="2386965" algn="l"/>
              </a:tabLst>
            </a:pPr>
            <a:r>
              <a:rPr sz="2800" spc="-60" dirty="0">
                <a:latin typeface="Verdana"/>
                <a:cs typeface="Verdana"/>
              </a:rPr>
              <a:t>Constructing</a:t>
            </a:r>
            <a:r>
              <a:rPr sz="2800" spc="-215" dirty="0">
                <a:latin typeface="Verdana"/>
                <a:cs typeface="Verdana"/>
              </a:rPr>
              <a:t> </a:t>
            </a:r>
            <a:r>
              <a:rPr sz="2800" spc="-40" dirty="0">
                <a:latin typeface="Verdana"/>
                <a:cs typeface="Verdana"/>
              </a:rPr>
              <a:t>the</a:t>
            </a:r>
            <a:r>
              <a:rPr sz="2800" spc="-175" dirty="0">
                <a:latin typeface="Verdana"/>
                <a:cs typeface="Verdana"/>
              </a:rPr>
              <a:t> </a:t>
            </a:r>
            <a:r>
              <a:rPr sz="2800" spc="-85" dirty="0">
                <a:latin typeface="Verdana"/>
                <a:cs typeface="Verdana"/>
              </a:rPr>
              <a:t>final</a:t>
            </a:r>
            <a:r>
              <a:rPr sz="2800" spc="-180" dirty="0">
                <a:latin typeface="Verdana"/>
                <a:cs typeface="Verdana"/>
              </a:rPr>
              <a:t> </a:t>
            </a:r>
            <a:r>
              <a:rPr sz="2800" spc="-85" dirty="0">
                <a:latin typeface="Verdana"/>
                <a:cs typeface="Verdana"/>
              </a:rPr>
              <a:t>answer</a:t>
            </a:r>
            <a:r>
              <a:rPr sz="2800" spc="-155" dirty="0">
                <a:latin typeface="Verdana"/>
                <a:cs typeface="Verdana"/>
              </a:rPr>
              <a:t> </a:t>
            </a:r>
            <a:r>
              <a:rPr sz="2800" spc="-75" dirty="0">
                <a:latin typeface="Verdana"/>
                <a:cs typeface="Verdana"/>
              </a:rPr>
              <a:t>from </a:t>
            </a:r>
            <a:r>
              <a:rPr sz="2800" spc="-35" dirty="0">
                <a:latin typeface="Verdana"/>
                <a:cs typeface="Verdana"/>
              </a:rPr>
              <a:t>the</a:t>
            </a:r>
            <a:r>
              <a:rPr sz="2800" spc="-204" dirty="0">
                <a:latin typeface="Verdana"/>
                <a:cs typeface="Verdana"/>
              </a:rPr>
              <a:t> </a:t>
            </a:r>
            <a:r>
              <a:rPr sz="2800" spc="-25" dirty="0">
                <a:latin typeface="Verdana"/>
                <a:cs typeface="Verdana"/>
              </a:rPr>
              <a:t>sub</a:t>
            </a:r>
            <a:r>
              <a:rPr sz="2800" dirty="0">
                <a:latin typeface="Verdana"/>
                <a:cs typeface="Verdana"/>
              </a:rPr>
              <a:t>	</a:t>
            </a:r>
            <a:r>
              <a:rPr sz="2800" spc="-35" dirty="0">
                <a:latin typeface="Verdana"/>
                <a:cs typeface="Verdana"/>
              </a:rPr>
              <a:t>solutions</a:t>
            </a:r>
            <a:endParaRPr sz="2800">
              <a:latin typeface="Verdana"/>
              <a:cs typeface="Verdan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734814" y="223519"/>
            <a:ext cx="3303904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60" dirty="0">
                <a:solidFill>
                  <a:srgbClr val="FFFFFF"/>
                </a:solidFill>
                <a:latin typeface="Verdana"/>
                <a:cs typeface="Verdana"/>
              </a:rPr>
              <a:t>Bahria</a:t>
            </a:r>
            <a:r>
              <a:rPr sz="1600" spc="-8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110" dirty="0">
                <a:solidFill>
                  <a:srgbClr val="FFFFFF"/>
                </a:solidFill>
                <a:latin typeface="Verdana"/>
                <a:cs typeface="Verdana"/>
              </a:rPr>
              <a:t>University</a:t>
            </a:r>
            <a:r>
              <a:rPr sz="1600" spc="-6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30" dirty="0">
                <a:solidFill>
                  <a:srgbClr val="FFFFFF"/>
                </a:solidFill>
                <a:latin typeface="Verdana"/>
                <a:cs typeface="Verdana"/>
              </a:rPr>
              <a:t>Karachi</a:t>
            </a:r>
            <a:r>
              <a:rPr sz="1600" spc="-85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10" dirty="0">
                <a:solidFill>
                  <a:srgbClr val="FFFFFF"/>
                </a:solidFill>
                <a:latin typeface="Verdana"/>
                <a:cs typeface="Verdana"/>
              </a:rPr>
              <a:t>Campus</a:t>
            </a:r>
            <a:endParaRPr sz="160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632330" y="778510"/>
            <a:ext cx="5519420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409" dirty="0"/>
              <a:t>DIVIDE</a:t>
            </a:r>
            <a:r>
              <a:rPr spc="-55" dirty="0"/>
              <a:t> </a:t>
            </a:r>
            <a:r>
              <a:rPr spc="-10" dirty="0"/>
              <a:t>AND</a:t>
            </a:r>
            <a:r>
              <a:rPr spc="-265" dirty="0"/>
              <a:t> </a:t>
            </a:r>
            <a:r>
              <a:rPr spc="-65" dirty="0"/>
              <a:t>CONQUER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4196" y="1669161"/>
            <a:ext cx="7451725" cy="44456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469265" marR="1615440" indent="-457200">
              <a:lnSpc>
                <a:spcPct val="100000"/>
              </a:lnSpc>
              <a:spcBef>
                <a:spcPts val="95"/>
              </a:spcBef>
              <a:buClr>
                <a:srgbClr val="5BB9F6"/>
              </a:buClr>
              <a:buFont typeface="Wingdings"/>
              <a:buChar char=""/>
              <a:tabLst>
                <a:tab pos="469265" algn="l"/>
              </a:tabLst>
            </a:pPr>
            <a:r>
              <a:rPr sz="2800" spc="-35" dirty="0">
                <a:latin typeface="Verdana"/>
                <a:cs typeface="Verdana"/>
              </a:rPr>
              <a:t>Based</a:t>
            </a:r>
            <a:r>
              <a:rPr sz="2800" spc="-180" dirty="0">
                <a:latin typeface="Verdana"/>
                <a:cs typeface="Verdana"/>
              </a:rPr>
              <a:t> </a:t>
            </a:r>
            <a:r>
              <a:rPr sz="2800" dirty="0">
                <a:latin typeface="Verdana"/>
                <a:cs typeface="Verdana"/>
              </a:rPr>
              <a:t>on</a:t>
            </a:r>
            <a:r>
              <a:rPr sz="2800" spc="-175" dirty="0">
                <a:latin typeface="Verdana"/>
                <a:cs typeface="Verdana"/>
              </a:rPr>
              <a:t> </a:t>
            </a:r>
            <a:r>
              <a:rPr sz="2800" spc="-55" dirty="0">
                <a:latin typeface="Verdana"/>
                <a:cs typeface="Verdana"/>
              </a:rPr>
              <a:t>dividing</a:t>
            </a:r>
            <a:r>
              <a:rPr sz="2800" spc="-235" dirty="0">
                <a:latin typeface="Verdana"/>
                <a:cs typeface="Verdana"/>
              </a:rPr>
              <a:t> </a:t>
            </a:r>
            <a:r>
              <a:rPr sz="2800" spc="-10" dirty="0">
                <a:latin typeface="Verdana"/>
                <a:cs typeface="Verdana"/>
              </a:rPr>
              <a:t>problem</a:t>
            </a:r>
            <a:r>
              <a:rPr sz="2800" spc="-170" dirty="0">
                <a:latin typeface="Verdana"/>
                <a:cs typeface="Verdana"/>
              </a:rPr>
              <a:t> </a:t>
            </a:r>
            <a:r>
              <a:rPr sz="2800" spc="-50" dirty="0">
                <a:latin typeface="Verdana"/>
                <a:cs typeface="Verdana"/>
              </a:rPr>
              <a:t>into </a:t>
            </a:r>
            <a:r>
              <a:rPr sz="2800" spc="-10" dirty="0">
                <a:latin typeface="Verdana"/>
                <a:cs typeface="Verdana"/>
              </a:rPr>
              <a:t>subproblems</a:t>
            </a:r>
            <a:endParaRPr sz="2800">
              <a:latin typeface="Verdana"/>
              <a:cs typeface="Verdana"/>
            </a:endParaRPr>
          </a:p>
          <a:p>
            <a:pPr marL="469265" indent="-456565">
              <a:lnSpc>
                <a:spcPct val="100000"/>
              </a:lnSpc>
              <a:spcBef>
                <a:spcPts val="805"/>
              </a:spcBef>
              <a:buClr>
                <a:srgbClr val="5BB9F6"/>
              </a:buClr>
              <a:buFont typeface="Wingdings"/>
              <a:buChar char=""/>
              <a:tabLst>
                <a:tab pos="469265" algn="l"/>
              </a:tabLst>
            </a:pPr>
            <a:r>
              <a:rPr sz="2800" spc="70" dirty="0">
                <a:latin typeface="Verdana"/>
                <a:cs typeface="Verdana"/>
              </a:rPr>
              <a:t>Approach</a:t>
            </a:r>
            <a:endParaRPr sz="2800">
              <a:latin typeface="Verdana"/>
              <a:cs typeface="Verdana"/>
            </a:endParaRPr>
          </a:p>
          <a:p>
            <a:pPr marL="1040765" lvl="1" indent="-583565">
              <a:lnSpc>
                <a:spcPct val="100000"/>
              </a:lnSpc>
              <a:spcBef>
                <a:spcPts val="330"/>
              </a:spcBef>
              <a:buAutoNum type="arabicPeriod"/>
              <a:tabLst>
                <a:tab pos="1040765" algn="l"/>
              </a:tabLst>
            </a:pPr>
            <a:r>
              <a:rPr sz="2400" spc="-55" dirty="0">
                <a:latin typeface="Verdana"/>
                <a:cs typeface="Verdana"/>
              </a:rPr>
              <a:t>Divide</a:t>
            </a:r>
            <a:r>
              <a:rPr sz="2400" spc="-185" dirty="0">
                <a:latin typeface="Verdana"/>
                <a:cs typeface="Verdana"/>
              </a:rPr>
              <a:t> </a:t>
            </a:r>
            <a:r>
              <a:rPr sz="2400" spc="-20" dirty="0">
                <a:latin typeface="Verdana"/>
                <a:cs typeface="Verdana"/>
              </a:rPr>
              <a:t>problem</a:t>
            </a:r>
            <a:r>
              <a:rPr sz="2400" spc="-185" dirty="0">
                <a:latin typeface="Verdana"/>
                <a:cs typeface="Verdana"/>
              </a:rPr>
              <a:t> </a:t>
            </a:r>
            <a:r>
              <a:rPr sz="2400" spc="-75" dirty="0">
                <a:latin typeface="Verdana"/>
                <a:cs typeface="Verdana"/>
              </a:rPr>
              <a:t>into</a:t>
            </a:r>
            <a:r>
              <a:rPr sz="2400" spc="-165" dirty="0">
                <a:latin typeface="Verdana"/>
                <a:cs typeface="Verdana"/>
              </a:rPr>
              <a:t> </a:t>
            </a:r>
            <a:r>
              <a:rPr sz="2400" spc="-120" dirty="0">
                <a:latin typeface="Verdana"/>
                <a:cs typeface="Verdana"/>
              </a:rPr>
              <a:t>smaller</a:t>
            </a:r>
            <a:r>
              <a:rPr sz="2400" spc="-155" dirty="0">
                <a:latin typeface="Verdana"/>
                <a:cs typeface="Verdana"/>
              </a:rPr>
              <a:t> </a:t>
            </a:r>
            <a:r>
              <a:rPr sz="2400" spc="-10" dirty="0">
                <a:latin typeface="Verdana"/>
                <a:cs typeface="Verdana"/>
              </a:rPr>
              <a:t>subproblems</a:t>
            </a:r>
            <a:endParaRPr sz="2400">
              <a:latin typeface="Verdana"/>
              <a:cs typeface="Verdana"/>
            </a:endParaRPr>
          </a:p>
          <a:p>
            <a:pPr marL="1040765" marR="338455">
              <a:lnSpc>
                <a:spcPct val="119000"/>
              </a:lnSpc>
              <a:spcBef>
                <a:spcPts val="65"/>
              </a:spcBef>
              <a:tabLst>
                <a:tab pos="5513070" algn="l"/>
              </a:tabLst>
            </a:pPr>
            <a:r>
              <a:rPr sz="2000" spc="-75" dirty="0">
                <a:latin typeface="Verdana"/>
                <a:cs typeface="Verdana"/>
              </a:rPr>
              <a:t>Subproblems</a:t>
            </a:r>
            <a:r>
              <a:rPr sz="2000" spc="-165" dirty="0">
                <a:latin typeface="Verdana"/>
                <a:cs typeface="Verdana"/>
              </a:rPr>
              <a:t> </a:t>
            </a:r>
            <a:r>
              <a:rPr sz="2000" spc="-135" dirty="0">
                <a:latin typeface="Verdana"/>
                <a:cs typeface="Verdana"/>
              </a:rPr>
              <a:t>must</a:t>
            </a:r>
            <a:r>
              <a:rPr sz="2000" spc="-160" dirty="0">
                <a:latin typeface="Verdana"/>
                <a:cs typeface="Verdana"/>
              </a:rPr>
              <a:t> </a:t>
            </a:r>
            <a:r>
              <a:rPr sz="2000" spc="105" dirty="0">
                <a:latin typeface="Verdana"/>
                <a:cs typeface="Verdana"/>
              </a:rPr>
              <a:t>be</a:t>
            </a:r>
            <a:r>
              <a:rPr sz="2000" spc="-135" dirty="0">
                <a:latin typeface="Verdana"/>
                <a:cs typeface="Verdana"/>
              </a:rPr>
              <a:t> </a:t>
            </a:r>
            <a:r>
              <a:rPr sz="2000" dirty="0">
                <a:latin typeface="Verdana"/>
                <a:cs typeface="Verdana"/>
              </a:rPr>
              <a:t>of</a:t>
            </a:r>
            <a:r>
              <a:rPr sz="2000" spc="-145" dirty="0">
                <a:latin typeface="Verdana"/>
                <a:cs typeface="Verdana"/>
              </a:rPr>
              <a:t> </a:t>
            </a:r>
            <a:r>
              <a:rPr sz="2000" spc="-10" dirty="0">
                <a:latin typeface="Verdana"/>
                <a:cs typeface="Verdana"/>
              </a:rPr>
              <a:t>same</a:t>
            </a:r>
            <a:r>
              <a:rPr sz="2000" spc="-114" dirty="0">
                <a:latin typeface="Verdana"/>
                <a:cs typeface="Verdana"/>
              </a:rPr>
              <a:t> </a:t>
            </a:r>
            <a:r>
              <a:rPr sz="2000" spc="-20" dirty="0">
                <a:latin typeface="Verdana"/>
                <a:cs typeface="Verdana"/>
              </a:rPr>
              <a:t>type</a:t>
            </a:r>
            <a:r>
              <a:rPr sz="2000" dirty="0">
                <a:latin typeface="Verdana"/>
                <a:cs typeface="Verdana"/>
              </a:rPr>
              <a:t>	</a:t>
            </a:r>
            <a:r>
              <a:rPr sz="2000" spc="-70" dirty="0">
                <a:latin typeface="Verdana"/>
                <a:cs typeface="Verdana"/>
              </a:rPr>
              <a:t>Subproblems </a:t>
            </a:r>
            <a:r>
              <a:rPr sz="2000" spc="105" dirty="0">
                <a:latin typeface="Verdana"/>
                <a:cs typeface="Verdana"/>
              </a:rPr>
              <a:t>do</a:t>
            </a:r>
            <a:r>
              <a:rPr sz="2000" spc="-155" dirty="0">
                <a:latin typeface="Verdana"/>
                <a:cs typeface="Verdana"/>
              </a:rPr>
              <a:t> </a:t>
            </a:r>
            <a:r>
              <a:rPr sz="2000" spc="-35" dirty="0">
                <a:latin typeface="Verdana"/>
                <a:cs typeface="Verdana"/>
              </a:rPr>
              <a:t>not</a:t>
            </a:r>
            <a:r>
              <a:rPr sz="2000" spc="-165" dirty="0">
                <a:latin typeface="Verdana"/>
                <a:cs typeface="Verdana"/>
              </a:rPr>
              <a:t> </a:t>
            </a:r>
            <a:r>
              <a:rPr sz="2000" spc="70" dirty="0">
                <a:latin typeface="Verdana"/>
                <a:cs typeface="Verdana"/>
              </a:rPr>
              <a:t>need</a:t>
            </a:r>
            <a:r>
              <a:rPr sz="2000" spc="-180" dirty="0">
                <a:latin typeface="Verdana"/>
                <a:cs typeface="Verdana"/>
              </a:rPr>
              <a:t> </a:t>
            </a:r>
            <a:r>
              <a:rPr sz="2000" dirty="0">
                <a:latin typeface="Verdana"/>
                <a:cs typeface="Verdana"/>
              </a:rPr>
              <a:t>to</a:t>
            </a:r>
            <a:r>
              <a:rPr sz="2000" spc="-165" dirty="0">
                <a:latin typeface="Verdana"/>
                <a:cs typeface="Verdana"/>
              </a:rPr>
              <a:t> </a:t>
            </a:r>
            <a:r>
              <a:rPr sz="2000" spc="-10" dirty="0">
                <a:latin typeface="Verdana"/>
                <a:cs typeface="Verdana"/>
              </a:rPr>
              <a:t>overlap</a:t>
            </a:r>
            <a:endParaRPr sz="2000">
              <a:latin typeface="Verdana"/>
              <a:cs typeface="Verdana"/>
            </a:endParaRPr>
          </a:p>
          <a:p>
            <a:pPr marL="1040765" lvl="1" indent="-457200">
              <a:lnSpc>
                <a:spcPct val="100000"/>
              </a:lnSpc>
              <a:spcBef>
                <a:spcPts val="970"/>
              </a:spcBef>
              <a:buAutoNum type="arabicPeriod" startAt="2"/>
              <a:tabLst>
                <a:tab pos="1040765" algn="l"/>
              </a:tabLst>
            </a:pPr>
            <a:r>
              <a:rPr sz="2400" spc="-105" dirty="0">
                <a:latin typeface="Verdana"/>
                <a:cs typeface="Verdana"/>
              </a:rPr>
              <a:t>Solve</a:t>
            </a:r>
            <a:r>
              <a:rPr sz="2400" spc="-210" dirty="0">
                <a:latin typeface="Verdana"/>
                <a:cs typeface="Verdana"/>
              </a:rPr>
              <a:t> </a:t>
            </a:r>
            <a:r>
              <a:rPr sz="2400" spc="140" dirty="0">
                <a:latin typeface="Verdana"/>
                <a:cs typeface="Verdana"/>
              </a:rPr>
              <a:t>each</a:t>
            </a:r>
            <a:r>
              <a:rPr sz="2400" spc="-185" dirty="0">
                <a:latin typeface="Verdana"/>
                <a:cs typeface="Verdana"/>
              </a:rPr>
              <a:t> </a:t>
            </a:r>
            <a:r>
              <a:rPr sz="2400" spc="-45" dirty="0">
                <a:latin typeface="Verdana"/>
                <a:cs typeface="Verdana"/>
              </a:rPr>
              <a:t>subproblem</a:t>
            </a:r>
            <a:r>
              <a:rPr sz="2400" spc="-170" dirty="0">
                <a:latin typeface="Verdana"/>
                <a:cs typeface="Verdana"/>
              </a:rPr>
              <a:t> </a:t>
            </a:r>
            <a:r>
              <a:rPr sz="2400" spc="-10" dirty="0">
                <a:latin typeface="Verdana"/>
                <a:cs typeface="Verdana"/>
              </a:rPr>
              <a:t>recursively</a:t>
            </a:r>
            <a:endParaRPr sz="2400">
              <a:latin typeface="Verdana"/>
              <a:cs typeface="Verdana"/>
            </a:endParaRPr>
          </a:p>
          <a:p>
            <a:pPr marL="1040765" lvl="1" indent="-457200">
              <a:lnSpc>
                <a:spcPct val="100000"/>
              </a:lnSpc>
              <a:spcBef>
                <a:spcPts val="695"/>
              </a:spcBef>
              <a:buAutoNum type="arabicPeriod" startAt="2"/>
              <a:tabLst>
                <a:tab pos="1040765" algn="l"/>
              </a:tabLst>
            </a:pPr>
            <a:r>
              <a:rPr sz="2400" dirty="0">
                <a:latin typeface="Verdana"/>
                <a:cs typeface="Verdana"/>
              </a:rPr>
              <a:t>Combine</a:t>
            </a:r>
            <a:r>
              <a:rPr sz="2400" spc="-170" dirty="0">
                <a:latin typeface="Verdana"/>
                <a:cs typeface="Verdana"/>
              </a:rPr>
              <a:t> </a:t>
            </a:r>
            <a:r>
              <a:rPr sz="2400" spc="-130" dirty="0">
                <a:latin typeface="Verdana"/>
                <a:cs typeface="Verdana"/>
              </a:rPr>
              <a:t>solutions</a:t>
            </a:r>
            <a:r>
              <a:rPr sz="2400" spc="-140" dirty="0">
                <a:latin typeface="Verdana"/>
                <a:cs typeface="Verdana"/>
              </a:rPr>
              <a:t> </a:t>
            </a:r>
            <a:r>
              <a:rPr sz="2400" spc="-20" dirty="0">
                <a:latin typeface="Verdana"/>
                <a:cs typeface="Verdana"/>
              </a:rPr>
              <a:t>to</a:t>
            </a:r>
            <a:r>
              <a:rPr sz="2400" spc="-105" dirty="0">
                <a:latin typeface="Verdana"/>
                <a:cs typeface="Verdana"/>
              </a:rPr>
              <a:t> </a:t>
            </a:r>
            <a:r>
              <a:rPr sz="2400" spc="-85" dirty="0">
                <a:latin typeface="Verdana"/>
                <a:cs typeface="Verdana"/>
              </a:rPr>
              <a:t>solve</a:t>
            </a:r>
            <a:r>
              <a:rPr sz="2400" spc="-140" dirty="0">
                <a:latin typeface="Verdana"/>
                <a:cs typeface="Verdana"/>
              </a:rPr>
              <a:t> </a:t>
            </a:r>
            <a:r>
              <a:rPr sz="2400" spc="-70" dirty="0">
                <a:latin typeface="Verdana"/>
                <a:cs typeface="Verdana"/>
              </a:rPr>
              <a:t>original</a:t>
            </a:r>
            <a:r>
              <a:rPr sz="2400" spc="-145" dirty="0">
                <a:latin typeface="Verdana"/>
                <a:cs typeface="Verdana"/>
              </a:rPr>
              <a:t> </a:t>
            </a:r>
            <a:r>
              <a:rPr sz="2400" spc="-10" dirty="0">
                <a:latin typeface="Verdana"/>
                <a:cs typeface="Verdana"/>
              </a:rPr>
              <a:t>problem</a:t>
            </a:r>
            <a:endParaRPr sz="2400">
              <a:latin typeface="Verdana"/>
              <a:cs typeface="Verdana"/>
            </a:endParaRPr>
          </a:p>
          <a:p>
            <a:pPr marL="469265" marR="431800" indent="-457200">
              <a:lnSpc>
                <a:spcPct val="100000"/>
              </a:lnSpc>
              <a:spcBef>
                <a:spcPts val="790"/>
              </a:spcBef>
              <a:buClr>
                <a:srgbClr val="5BB9F6"/>
              </a:buClr>
              <a:buFont typeface="Wingdings"/>
              <a:buChar char=""/>
              <a:tabLst>
                <a:tab pos="469265" algn="l"/>
              </a:tabLst>
            </a:pPr>
            <a:r>
              <a:rPr sz="2800" spc="-165" dirty="0">
                <a:latin typeface="Verdana"/>
                <a:cs typeface="Verdana"/>
              </a:rPr>
              <a:t>Usually</a:t>
            </a:r>
            <a:r>
              <a:rPr sz="2800" spc="-229" dirty="0">
                <a:latin typeface="Verdana"/>
                <a:cs typeface="Verdana"/>
              </a:rPr>
              <a:t> </a:t>
            </a:r>
            <a:r>
              <a:rPr sz="2800" spc="-25" dirty="0">
                <a:latin typeface="Verdana"/>
                <a:cs typeface="Verdana"/>
              </a:rPr>
              <a:t>contains</a:t>
            </a:r>
            <a:r>
              <a:rPr sz="2800" spc="-180" dirty="0">
                <a:latin typeface="Verdana"/>
                <a:cs typeface="Verdana"/>
              </a:rPr>
              <a:t> </a:t>
            </a:r>
            <a:r>
              <a:rPr sz="2800" dirty="0">
                <a:latin typeface="Verdana"/>
                <a:cs typeface="Verdana"/>
              </a:rPr>
              <a:t>two</a:t>
            </a:r>
            <a:r>
              <a:rPr sz="2800" spc="-220" dirty="0">
                <a:latin typeface="Verdana"/>
                <a:cs typeface="Verdana"/>
              </a:rPr>
              <a:t> </a:t>
            </a:r>
            <a:r>
              <a:rPr sz="2800" spc="-125" dirty="0">
                <a:latin typeface="Verdana"/>
                <a:cs typeface="Verdana"/>
              </a:rPr>
              <a:t>or</a:t>
            </a:r>
            <a:r>
              <a:rPr sz="2800" spc="-195" dirty="0">
                <a:latin typeface="Verdana"/>
                <a:cs typeface="Verdana"/>
              </a:rPr>
              <a:t> </a:t>
            </a:r>
            <a:r>
              <a:rPr sz="2800" spc="-60" dirty="0">
                <a:latin typeface="Verdana"/>
                <a:cs typeface="Verdana"/>
              </a:rPr>
              <a:t>more</a:t>
            </a:r>
            <a:r>
              <a:rPr sz="2800" spc="-185" dirty="0">
                <a:latin typeface="Verdana"/>
                <a:cs typeface="Verdana"/>
              </a:rPr>
              <a:t> </a:t>
            </a:r>
            <a:r>
              <a:rPr sz="2800" spc="-75" dirty="0">
                <a:latin typeface="Verdana"/>
                <a:cs typeface="Verdana"/>
              </a:rPr>
              <a:t>recursive </a:t>
            </a:r>
            <a:r>
              <a:rPr sz="2800" spc="-10" dirty="0">
                <a:latin typeface="Verdana"/>
                <a:cs typeface="Verdana"/>
              </a:rPr>
              <a:t>calls</a:t>
            </a:r>
            <a:endParaRPr sz="2800">
              <a:latin typeface="Verdana"/>
              <a:cs typeface="Verdan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734814" y="223519"/>
            <a:ext cx="3303904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60" dirty="0">
                <a:solidFill>
                  <a:srgbClr val="FFFFFF"/>
                </a:solidFill>
                <a:latin typeface="Verdana"/>
                <a:cs typeface="Verdana"/>
              </a:rPr>
              <a:t>Bahria</a:t>
            </a:r>
            <a:r>
              <a:rPr sz="1600" spc="-8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110" dirty="0">
                <a:solidFill>
                  <a:srgbClr val="FFFFFF"/>
                </a:solidFill>
                <a:latin typeface="Verdana"/>
                <a:cs typeface="Verdana"/>
              </a:rPr>
              <a:t>University</a:t>
            </a:r>
            <a:r>
              <a:rPr sz="1600" spc="-6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30" dirty="0">
                <a:solidFill>
                  <a:srgbClr val="FFFFFF"/>
                </a:solidFill>
                <a:latin typeface="Verdana"/>
                <a:cs typeface="Verdana"/>
              </a:rPr>
              <a:t>Karachi</a:t>
            </a:r>
            <a:r>
              <a:rPr sz="1600" spc="-85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10" dirty="0">
                <a:solidFill>
                  <a:srgbClr val="FFFFFF"/>
                </a:solidFill>
                <a:latin typeface="Verdana"/>
                <a:cs typeface="Verdana"/>
              </a:rPr>
              <a:t>Campus</a:t>
            </a:r>
            <a:endParaRPr sz="160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23087" y="788034"/>
            <a:ext cx="771080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-325" dirty="0"/>
              <a:t>DIVIDE-</a:t>
            </a:r>
            <a:r>
              <a:rPr sz="3600" spc="-60" dirty="0"/>
              <a:t>AND-</a:t>
            </a:r>
            <a:r>
              <a:rPr sz="3600" spc="-70" dirty="0"/>
              <a:t>CONQUER</a:t>
            </a:r>
            <a:r>
              <a:rPr sz="3600" spc="-95" dirty="0"/>
              <a:t> </a:t>
            </a:r>
            <a:r>
              <a:rPr sz="3600" spc="-285" dirty="0"/>
              <a:t>TECHNIQUE</a:t>
            </a:r>
            <a:endParaRPr sz="3600"/>
          </a:p>
        </p:txBody>
      </p:sp>
      <p:grpSp>
        <p:nvGrpSpPr>
          <p:cNvPr id="3" name="object 3"/>
          <p:cNvGrpSpPr/>
          <p:nvPr/>
        </p:nvGrpSpPr>
        <p:grpSpPr>
          <a:xfrm>
            <a:off x="5556250" y="2666745"/>
            <a:ext cx="2298700" cy="850900"/>
            <a:chOff x="5556250" y="2666745"/>
            <a:chExt cx="2298700" cy="850900"/>
          </a:xfrm>
        </p:grpSpPr>
        <p:sp>
          <p:nvSpPr>
            <p:cNvPr id="4" name="object 4"/>
            <p:cNvSpPr/>
            <p:nvPr/>
          </p:nvSpPr>
          <p:spPr>
            <a:xfrm>
              <a:off x="5562600" y="2673095"/>
              <a:ext cx="2286000" cy="838200"/>
            </a:xfrm>
            <a:custGeom>
              <a:avLst/>
              <a:gdLst/>
              <a:ahLst/>
              <a:cxnLst/>
              <a:rect l="l" t="t" r="r" b="b"/>
              <a:pathLst>
                <a:path w="2286000" h="838200">
                  <a:moveTo>
                    <a:pt x="1143000" y="0"/>
                  </a:moveTo>
                  <a:lnTo>
                    <a:pt x="1074166" y="634"/>
                  </a:lnTo>
                  <a:lnTo>
                    <a:pt x="1006601" y="2793"/>
                  </a:lnTo>
                  <a:lnTo>
                    <a:pt x="940434" y="6095"/>
                  </a:lnTo>
                  <a:lnTo>
                    <a:pt x="875791" y="10794"/>
                  </a:lnTo>
                  <a:lnTo>
                    <a:pt x="812546" y="16637"/>
                  </a:lnTo>
                  <a:lnTo>
                    <a:pt x="750951" y="23749"/>
                  </a:lnTo>
                  <a:lnTo>
                    <a:pt x="691134" y="32130"/>
                  </a:lnTo>
                  <a:lnTo>
                    <a:pt x="633095" y="41528"/>
                  </a:lnTo>
                  <a:lnTo>
                    <a:pt x="577088" y="52069"/>
                  </a:lnTo>
                  <a:lnTo>
                    <a:pt x="522986" y="63753"/>
                  </a:lnTo>
                  <a:lnTo>
                    <a:pt x="471042" y="76453"/>
                  </a:lnTo>
                  <a:lnTo>
                    <a:pt x="421259" y="90169"/>
                  </a:lnTo>
                  <a:lnTo>
                    <a:pt x="373761" y="104901"/>
                  </a:lnTo>
                  <a:lnTo>
                    <a:pt x="328549" y="120523"/>
                  </a:lnTo>
                  <a:lnTo>
                    <a:pt x="286003" y="137032"/>
                  </a:lnTo>
                  <a:lnTo>
                    <a:pt x="245872" y="154431"/>
                  </a:lnTo>
                  <a:lnTo>
                    <a:pt x="208534" y="172719"/>
                  </a:lnTo>
                  <a:lnTo>
                    <a:pt x="173862" y="191769"/>
                  </a:lnTo>
                  <a:lnTo>
                    <a:pt x="113284" y="232155"/>
                  </a:lnTo>
                  <a:lnTo>
                    <a:pt x="64897" y="275336"/>
                  </a:lnTo>
                  <a:lnTo>
                    <a:pt x="29337" y="321055"/>
                  </a:lnTo>
                  <a:lnTo>
                    <a:pt x="7492" y="369062"/>
                  </a:lnTo>
                  <a:lnTo>
                    <a:pt x="0" y="419100"/>
                  </a:lnTo>
                  <a:lnTo>
                    <a:pt x="1904" y="444373"/>
                  </a:lnTo>
                  <a:lnTo>
                    <a:pt x="16637" y="493394"/>
                  </a:lnTo>
                  <a:lnTo>
                    <a:pt x="45465" y="540257"/>
                  </a:lnTo>
                  <a:lnTo>
                    <a:pt x="87502" y="584834"/>
                  </a:lnTo>
                  <a:lnTo>
                    <a:pt x="142112" y="626617"/>
                  </a:lnTo>
                  <a:lnTo>
                    <a:pt x="208534" y="665479"/>
                  </a:lnTo>
                  <a:lnTo>
                    <a:pt x="245872" y="683767"/>
                  </a:lnTo>
                  <a:lnTo>
                    <a:pt x="286003" y="701166"/>
                  </a:lnTo>
                  <a:lnTo>
                    <a:pt x="328549" y="717676"/>
                  </a:lnTo>
                  <a:lnTo>
                    <a:pt x="373761" y="733298"/>
                  </a:lnTo>
                  <a:lnTo>
                    <a:pt x="421259" y="748029"/>
                  </a:lnTo>
                  <a:lnTo>
                    <a:pt x="471042" y="761745"/>
                  </a:lnTo>
                  <a:lnTo>
                    <a:pt x="522986" y="774445"/>
                  </a:lnTo>
                  <a:lnTo>
                    <a:pt x="577088" y="786129"/>
                  </a:lnTo>
                  <a:lnTo>
                    <a:pt x="633095" y="796670"/>
                  </a:lnTo>
                  <a:lnTo>
                    <a:pt x="691134" y="806068"/>
                  </a:lnTo>
                  <a:lnTo>
                    <a:pt x="750951" y="814451"/>
                  </a:lnTo>
                  <a:lnTo>
                    <a:pt x="812546" y="821563"/>
                  </a:lnTo>
                  <a:lnTo>
                    <a:pt x="875791" y="827404"/>
                  </a:lnTo>
                  <a:lnTo>
                    <a:pt x="940434" y="832103"/>
                  </a:lnTo>
                  <a:lnTo>
                    <a:pt x="1006601" y="835405"/>
                  </a:lnTo>
                  <a:lnTo>
                    <a:pt x="1074166" y="837564"/>
                  </a:lnTo>
                  <a:lnTo>
                    <a:pt x="1143000" y="838200"/>
                  </a:lnTo>
                  <a:lnTo>
                    <a:pt x="1211833" y="837564"/>
                  </a:lnTo>
                  <a:lnTo>
                    <a:pt x="1279271" y="835405"/>
                  </a:lnTo>
                  <a:lnTo>
                    <a:pt x="1345565" y="832103"/>
                  </a:lnTo>
                  <a:lnTo>
                    <a:pt x="1410207" y="827404"/>
                  </a:lnTo>
                  <a:lnTo>
                    <a:pt x="1473453" y="821563"/>
                  </a:lnTo>
                  <a:lnTo>
                    <a:pt x="1535049" y="814451"/>
                  </a:lnTo>
                  <a:lnTo>
                    <a:pt x="1594866" y="806068"/>
                  </a:lnTo>
                  <a:lnTo>
                    <a:pt x="1652904" y="796670"/>
                  </a:lnTo>
                  <a:lnTo>
                    <a:pt x="1708911" y="786129"/>
                  </a:lnTo>
                  <a:lnTo>
                    <a:pt x="1763014" y="774445"/>
                  </a:lnTo>
                  <a:lnTo>
                    <a:pt x="1814956" y="761745"/>
                  </a:lnTo>
                  <a:lnTo>
                    <a:pt x="1864741" y="748029"/>
                  </a:lnTo>
                  <a:lnTo>
                    <a:pt x="1912239" y="733298"/>
                  </a:lnTo>
                  <a:lnTo>
                    <a:pt x="1957324" y="717676"/>
                  </a:lnTo>
                  <a:lnTo>
                    <a:pt x="1999996" y="701166"/>
                  </a:lnTo>
                  <a:lnTo>
                    <a:pt x="2040127" y="683767"/>
                  </a:lnTo>
                  <a:lnTo>
                    <a:pt x="2077466" y="665479"/>
                  </a:lnTo>
                  <a:lnTo>
                    <a:pt x="2112136" y="646429"/>
                  </a:lnTo>
                  <a:lnTo>
                    <a:pt x="2172716" y="606043"/>
                  </a:lnTo>
                  <a:lnTo>
                    <a:pt x="2221103" y="562863"/>
                  </a:lnTo>
                  <a:lnTo>
                    <a:pt x="2256663" y="517143"/>
                  </a:lnTo>
                  <a:lnTo>
                    <a:pt x="2278506" y="469138"/>
                  </a:lnTo>
                  <a:lnTo>
                    <a:pt x="2286000" y="419100"/>
                  </a:lnTo>
                  <a:lnTo>
                    <a:pt x="2284095" y="393826"/>
                  </a:lnTo>
                  <a:lnTo>
                    <a:pt x="2269363" y="344804"/>
                  </a:lnTo>
                  <a:lnTo>
                    <a:pt x="2240533" y="297941"/>
                  </a:lnTo>
                  <a:lnTo>
                    <a:pt x="2198497" y="253364"/>
                  </a:lnTo>
                  <a:lnTo>
                    <a:pt x="2143886" y="211581"/>
                  </a:lnTo>
                  <a:lnTo>
                    <a:pt x="2077466" y="172719"/>
                  </a:lnTo>
                  <a:lnTo>
                    <a:pt x="2040127" y="154431"/>
                  </a:lnTo>
                  <a:lnTo>
                    <a:pt x="1999996" y="137032"/>
                  </a:lnTo>
                  <a:lnTo>
                    <a:pt x="1957324" y="120523"/>
                  </a:lnTo>
                  <a:lnTo>
                    <a:pt x="1912239" y="104901"/>
                  </a:lnTo>
                  <a:lnTo>
                    <a:pt x="1864741" y="90169"/>
                  </a:lnTo>
                  <a:lnTo>
                    <a:pt x="1814956" y="76453"/>
                  </a:lnTo>
                  <a:lnTo>
                    <a:pt x="1763014" y="63753"/>
                  </a:lnTo>
                  <a:lnTo>
                    <a:pt x="1708911" y="52069"/>
                  </a:lnTo>
                  <a:lnTo>
                    <a:pt x="1652904" y="41528"/>
                  </a:lnTo>
                  <a:lnTo>
                    <a:pt x="1594866" y="32130"/>
                  </a:lnTo>
                  <a:lnTo>
                    <a:pt x="1535049" y="23749"/>
                  </a:lnTo>
                  <a:lnTo>
                    <a:pt x="1473453" y="16637"/>
                  </a:lnTo>
                  <a:lnTo>
                    <a:pt x="1410207" y="10794"/>
                  </a:lnTo>
                  <a:lnTo>
                    <a:pt x="1345565" y="6095"/>
                  </a:lnTo>
                  <a:lnTo>
                    <a:pt x="1279271" y="2793"/>
                  </a:lnTo>
                  <a:lnTo>
                    <a:pt x="1211833" y="634"/>
                  </a:lnTo>
                  <a:lnTo>
                    <a:pt x="1143000" y="0"/>
                  </a:lnTo>
                  <a:close/>
                </a:path>
              </a:pathLst>
            </a:custGeom>
            <a:solidFill>
              <a:srgbClr val="0099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562600" y="2673095"/>
              <a:ext cx="2286000" cy="838200"/>
            </a:xfrm>
            <a:custGeom>
              <a:avLst/>
              <a:gdLst/>
              <a:ahLst/>
              <a:cxnLst/>
              <a:rect l="l" t="t" r="r" b="b"/>
              <a:pathLst>
                <a:path w="2286000" h="838200">
                  <a:moveTo>
                    <a:pt x="1143000" y="0"/>
                  </a:moveTo>
                  <a:lnTo>
                    <a:pt x="1211833" y="634"/>
                  </a:lnTo>
                  <a:lnTo>
                    <a:pt x="1279271" y="2793"/>
                  </a:lnTo>
                  <a:lnTo>
                    <a:pt x="1345565" y="6095"/>
                  </a:lnTo>
                  <a:lnTo>
                    <a:pt x="1410207" y="10794"/>
                  </a:lnTo>
                  <a:lnTo>
                    <a:pt x="1473453" y="16637"/>
                  </a:lnTo>
                  <a:lnTo>
                    <a:pt x="1535049" y="23749"/>
                  </a:lnTo>
                  <a:lnTo>
                    <a:pt x="1594866" y="32130"/>
                  </a:lnTo>
                  <a:lnTo>
                    <a:pt x="1652904" y="41528"/>
                  </a:lnTo>
                  <a:lnTo>
                    <a:pt x="1708911" y="52069"/>
                  </a:lnTo>
                  <a:lnTo>
                    <a:pt x="1763014" y="63753"/>
                  </a:lnTo>
                  <a:lnTo>
                    <a:pt x="1814956" y="76453"/>
                  </a:lnTo>
                  <a:lnTo>
                    <a:pt x="1864741" y="90169"/>
                  </a:lnTo>
                  <a:lnTo>
                    <a:pt x="1912239" y="104901"/>
                  </a:lnTo>
                  <a:lnTo>
                    <a:pt x="1957324" y="120523"/>
                  </a:lnTo>
                  <a:lnTo>
                    <a:pt x="1999996" y="137032"/>
                  </a:lnTo>
                  <a:lnTo>
                    <a:pt x="2040127" y="154431"/>
                  </a:lnTo>
                  <a:lnTo>
                    <a:pt x="2077466" y="172719"/>
                  </a:lnTo>
                  <a:lnTo>
                    <a:pt x="2112136" y="191769"/>
                  </a:lnTo>
                  <a:lnTo>
                    <a:pt x="2172716" y="232155"/>
                  </a:lnTo>
                  <a:lnTo>
                    <a:pt x="2221103" y="275336"/>
                  </a:lnTo>
                  <a:lnTo>
                    <a:pt x="2256663" y="321055"/>
                  </a:lnTo>
                  <a:lnTo>
                    <a:pt x="2278506" y="369062"/>
                  </a:lnTo>
                  <a:lnTo>
                    <a:pt x="2286000" y="419100"/>
                  </a:lnTo>
                  <a:lnTo>
                    <a:pt x="2284095" y="444373"/>
                  </a:lnTo>
                  <a:lnTo>
                    <a:pt x="2269363" y="493394"/>
                  </a:lnTo>
                  <a:lnTo>
                    <a:pt x="2240533" y="540257"/>
                  </a:lnTo>
                  <a:lnTo>
                    <a:pt x="2198497" y="584834"/>
                  </a:lnTo>
                  <a:lnTo>
                    <a:pt x="2143886" y="626617"/>
                  </a:lnTo>
                  <a:lnTo>
                    <a:pt x="2077466" y="665479"/>
                  </a:lnTo>
                  <a:lnTo>
                    <a:pt x="2040127" y="683767"/>
                  </a:lnTo>
                  <a:lnTo>
                    <a:pt x="1999996" y="701166"/>
                  </a:lnTo>
                  <a:lnTo>
                    <a:pt x="1957324" y="717676"/>
                  </a:lnTo>
                  <a:lnTo>
                    <a:pt x="1912239" y="733298"/>
                  </a:lnTo>
                  <a:lnTo>
                    <a:pt x="1864741" y="748029"/>
                  </a:lnTo>
                  <a:lnTo>
                    <a:pt x="1814956" y="761745"/>
                  </a:lnTo>
                  <a:lnTo>
                    <a:pt x="1763014" y="774445"/>
                  </a:lnTo>
                  <a:lnTo>
                    <a:pt x="1708911" y="786129"/>
                  </a:lnTo>
                  <a:lnTo>
                    <a:pt x="1652904" y="796670"/>
                  </a:lnTo>
                  <a:lnTo>
                    <a:pt x="1594866" y="806068"/>
                  </a:lnTo>
                  <a:lnTo>
                    <a:pt x="1535049" y="814451"/>
                  </a:lnTo>
                  <a:lnTo>
                    <a:pt x="1473453" y="821563"/>
                  </a:lnTo>
                  <a:lnTo>
                    <a:pt x="1410207" y="827404"/>
                  </a:lnTo>
                  <a:lnTo>
                    <a:pt x="1345565" y="832103"/>
                  </a:lnTo>
                  <a:lnTo>
                    <a:pt x="1279271" y="835405"/>
                  </a:lnTo>
                  <a:lnTo>
                    <a:pt x="1211833" y="837564"/>
                  </a:lnTo>
                  <a:lnTo>
                    <a:pt x="1143000" y="838200"/>
                  </a:lnTo>
                  <a:lnTo>
                    <a:pt x="1074166" y="837564"/>
                  </a:lnTo>
                  <a:lnTo>
                    <a:pt x="1006601" y="835405"/>
                  </a:lnTo>
                  <a:lnTo>
                    <a:pt x="940434" y="832103"/>
                  </a:lnTo>
                  <a:lnTo>
                    <a:pt x="875791" y="827404"/>
                  </a:lnTo>
                  <a:lnTo>
                    <a:pt x="812546" y="821563"/>
                  </a:lnTo>
                  <a:lnTo>
                    <a:pt x="750951" y="814451"/>
                  </a:lnTo>
                  <a:lnTo>
                    <a:pt x="691134" y="806068"/>
                  </a:lnTo>
                  <a:lnTo>
                    <a:pt x="633095" y="796670"/>
                  </a:lnTo>
                  <a:lnTo>
                    <a:pt x="577088" y="786129"/>
                  </a:lnTo>
                  <a:lnTo>
                    <a:pt x="522986" y="774445"/>
                  </a:lnTo>
                  <a:lnTo>
                    <a:pt x="471042" y="761745"/>
                  </a:lnTo>
                  <a:lnTo>
                    <a:pt x="421259" y="748029"/>
                  </a:lnTo>
                  <a:lnTo>
                    <a:pt x="373761" y="733298"/>
                  </a:lnTo>
                  <a:lnTo>
                    <a:pt x="328549" y="717676"/>
                  </a:lnTo>
                  <a:lnTo>
                    <a:pt x="286003" y="701166"/>
                  </a:lnTo>
                  <a:lnTo>
                    <a:pt x="245872" y="683767"/>
                  </a:lnTo>
                  <a:lnTo>
                    <a:pt x="208534" y="665479"/>
                  </a:lnTo>
                  <a:lnTo>
                    <a:pt x="173862" y="646429"/>
                  </a:lnTo>
                  <a:lnTo>
                    <a:pt x="113284" y="606043"/>
                  </a:lnTo>
                  <a:lnTo>
                    <a:pt x="64897" y="562863"/>
                  </a:lnTo>
                  <a:lnTo>
                    <a:pt x="29337" y="517143"/>
                  </a:lnTo>
                  <a:lnTo>
                    <a:pt x="7492" y="469138"/>
                  </a:lnTo>
                  <a:lnTo>
                    <a:pt x="0" y="419100"/>
                  </a:lnTo>
                  <a:lnTo>
                    <a:pt x="1904" y="393826"/>
                  </a:lnTo>
                  <a:lnTo>
                    <a:pt x="16637" y="344804"/>
                  </a:lnTo>
                  <a:lnTo>
                    <a:pt x="45465" y="297941"/>
                  </a:lnTo>
                  <a:lnTo>
                    <a:pt x="87502" y="253364"/>
                  </a:lnTo>
                  <a:lnTo>
                    <a:pt x="142112" y="211581"/>
                  </a:lnTo>
                  <a:lnTo>
                    <a:pt x="208534" y="172719"/>
                  </a:lnTo>
                  <a:lnTo>
                    <a:pt x="245872" y="154431"/>
                  </a:lnTo>
                  <a:lnTo>
                    <a:pt x="286003" y="137032"/>
                  </a:lnTo>
                  <a:lnTo>
                    <a:pt x="328549" y="120523"/>
                  </a:lnTo>
                  <a:lnTo>
                    <a:pt x="373761" y="104901"/>
                  </a:lnTo>
                  <a:lnTo>
                    <a:pt x="421259" y="90169"/>
                  </a:lnTo>
                  <a:lnTo>
                    <a:pt x="471042" y="76453"/>
                  </a:lnTo>
                  <a:lnTo>
                    <a:pt x="522986" y="63753"/>
                  </a:lnTo>
                  <a:lnTo>
                    <a:pt x="577088" y="52069"/>
                  </a:lnTo>
                  <a:lnTo>
                    <a:pt x="633095" y="41528"/>
                  </a:lnTo>
                  <a:lnTo>
                    <a:pt x="691134" y="32130"/>
                  </a:lnTo>
                  <a:lnTo>
                    <a:pt x="750951" y="23749"/>
                  </a:lnTo>
                  <a:lnTo>
                    <a:pt x="812546" y="16637"/>
                  </a:lnTo>
                  <a:lnTo>
                    <a:pt x="875791" y="10794"/>
                  </a:lnTo>
                  <a:lnTo>
                    <a:pt x="940434" y="6095"/>
                  </a:lnTo>
                  <a:lnTo>
                    <a:pt x="1006601" y="2793"/>
                  </a:lnTo>
                  <a:lnTo>
                    <a:pt x="1074166" y="634"/>
                  </a:lnTo>
                  <a:lnTo>
                    <a:pt x="1143000" y="0"/>
                  </a:lnTo>
                  <a:close/>
                </a:path>
              </a:pathLst>
            </a:custGeom>
            <a:ln w="1219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556504" y="2666999"/>
              <a:ext cx="2298700" cy="850900"/>
            </a:xfrm>
            <a:custGeom>
              <a:avLst/>
              <a:gdLst/>
              <a:ahLst/>
              <a:cxnLst/>
              <a:rect l="l" t="t" r="r" b="b"/>
              <a:pathLst>
                <a:path w="2298700" h="850900">
                  <a:moveTo>
                    <a:pt x="12192" y="6096"/>
                  </a:moveTo>
                  <a:lnTo>
                    <a:pt x="10401" y="1790"/>
                  </a:lnTo>
                  <a:lnTo>
                    <a:pt x="6096" y="0"/>
                  </a:lnTo>
                  <a:lnTo>
                    <a:pt x="1778" y="1790"/>
                  </a:lnTo>
                  <a:lnTo>
                    <a:pt x="0" y="6096"/>
                  </a:lnTo>
                  <a:lnTo>
                    <a:pt x="1778" y="10414"/>
                  </a:lnTo>
                  <a:lnTo>
                    <a:pt x="6096" y="12204"/>
                  </a:lnTo>
                  <a:lnTo>
                    <a:pt x="10401" y="10414"/>
                  </a:lnTo>
                  <a:lnTo>
                    <a:pt x="12192" y="6096"/>
                  </a:lnTo>
                  <a:close/>
                </a:path>
                <a:path w="2298700" h="850900">
                  <a:moveTo>
                    <a:pt x="2298192" y="844296"/>
                  </a:moveTo>
                  <a:lnTo>
                    <a:pt x="2296401" y="839990"/>
                  </a:lnTo>
                  <a:lnTo>
                    <a:pt x="2292096" y="838200"/>
                  </a:lnTo>
                  <a:lnTo>
                    <a:pt x="2287778" y="839990"/>
                  </a:lnTo>
                  <a:lnTo>
                    <a:pt x="2286000" y="844296"/>
                  </a:lnTo>
                  <a:lnTo>
                    <a:pt x="2287778" y="848614"/>
                  </a:lnTo>
                  <a:lnTo>
                    <a:pt x="2292096" y="850404"/>
                  </a:lnTo>
                  <a:lnTo>
                    <a:pt x="2296401" y="848614"/>
                  </a:lnTo>
                  <a:lnTo>
                    <a:pt x="2298192" y="844296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5964428" y="2766441"/>
            <a:ext cx="1399540" cy="6362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spc="-10" dirty="0">
                <a:latin typeface="Times New Roman"/>
                <a:cs typeface="Times New Roman"/>
              </a:rPr>
              <a:t>subproblem</a:t>
            </a:r>
            <a:r>
              <a:rPr sz="2000" spc="-65" dirty="0">
                <a:latin typeface="Times New Roman"/>
                <a:cs typeface="Times New Roman"/>
              </a:rPr>
              <a:t> </a:t>
            </a:r>
            <a:r>
              <a:rPr sz="2000" spc="-50" dirty="0">
                <a:latin typeface="Times New Roman"/>
                <a:cs typeface="Times New Roman"/>
              </a:rPr>
              <a:t>2</a:t>
            </a:r>
            <a:endParaRPr sz="2000">
              <a:latin typeface="Times New Roman"/>
              <a:cs typeface="Times New Roman"/>
            </a:endParaRPr>
          </a:p>
          <a:p>
            <a:pPr marL="210820">
              <a:lnSpc>
                <a:spcPct val="100000"/>
              </a:lnSpc>
            </a:pPr>
            <a:r>
              <a:rPr sz="2000" dirty="0">
                <a:latin typeface="Times New Roman"/>
                <a:cs typeface="Times New Roman"/>
              </a:rPr>
              <a:t>of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size</a:t>
            </a:r>
            <a:r>
              <a:rPr sz="2000" spc="-65" dirty="0">
                <a:latin typeface="Times New Roman"/>
                <a:cs typeface="Times New Roman"/>
              </a:rPr>
              <a:t> </a:t>
            </a:r>
            <a:r>
              <a:rPr sz="2000" i="1" spc="-25" dirty="0">
                <a:latin typeface="Times New Roman"/>
                <a:cs typeface="Times New Roman"/>
              </a:rPr>
              <a:t>n</a:t>
            </a:r>
            <a:r>
              <a:rPr sz="2000" spc="-25" dirty="0">
                <a:latin typeface="Times New Roman"/>
                <a:cs typeface="Times New Roman"/>
              </a:rPr>
              <a:t>/2</a:t>
            </a:r>
            <a:endParaRPr sz="2000">
              <a:latin typeface="Times New Roman"/>
              <a:cs typeface="Times New Roman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1212850" y="2666745"/>
            <a:ext cx="2298700" cy="850900"/>
            <a:chOff x="1212850" y="2666745"/>
            <a:chExt cx="2298700" cy="850900"/>
          </a:xfrm>
        </p:grpSpPr>
        <p:sp>
          <p:nvSpPr>
            <p:cNvPr id="9" name="object 9"/>
            <p:cNvSpPr/>
            <p:nvPr/>
          </p:nvSpPr>
          <p:spPr>
            <a:xfrm>
              <a:off x="1219200" y="2673095"/>
              <a:ext cx="2286000" cy="838200"/>
            </a:xfrm>
            <a:custGeom>
              <a:avLst/>
              <a:gdLst/>
              <a:ahLst/>
              <a:cxnLst/>
              <a:rect l="l" t="t" r="r" b="b"/>
              <a:pathLst>
                <a:path w="2286000" h="838200">
                  <a:moveTo>
                    <a:pt x="1143000" y="0"/>
                  </a:moveTo>
                  <a:lnTo>
                    <a:pt x="1074166" y="634"/>
                  </a:lnTo>
                  <a:lnTo>
                    <a:pt x="1006601" y="2793"/>
                  </a:lnTo>
                  <a:lnTo>
                    <a:pt x="940435" y="6095"/>
                  </a:lnTo>
                  <a:lnTo>
                    <a:pt x="875792" y="10794"/>
                  </a:lnTo>
                  <a:lnTo>
                    <a:pt x="812545" y="16637"/>
                  </a:lnTo>
                  <a:lnTo>
                    <a:pt x="750951" y="23749"/>
                  </a:lnTo>
                  <a:lnTo>
                    <a:pt x="691133" y="32130"/>
                  </a:lnTo>
                  <a:lnTo>
                    <a:pt x="633094" y="41528"/>
                  </a:lnTo>
                  <a:lnTo>
                    <a:pt x="577088" y="52069"/>
                  </a:lnTo>
                  <a:lnTo>
                    <a:pt x="522986" y="63753"/>
                  </a:lnTo>
                  <a:lnTo>
                    <a:pt x="471043" y="76453"/>
                  </a:lnTo>
                  <a:lnTo>
                    <a:pt x="421258" y="90169"/>
                  </a:lnTo>
                  <a:lnTo>
                    <a:pt x="373761" y="104901"/>
                  </a:lnTo>
                  <a:lnTo>
                    <a:pt x="328549" y="120523"/>
                  </a:lnTo>
                  <a:lnTo>
                    <a:pt x="286003" y="137032"/>
                  </a:lnTo>
                  <a:lnTo>
                    <a:pt x="245872" y="154431"/>
                  </a:lnTo>
                  <a:lnTo>
                    <a:pt x="208534" y="172719"/>
                  </a:lnTo>
                  <a:lnTo>
                    <a:pt x="173862" y="191769"/>
                  </a:lnTo>
                  <a:lnTo>
                    <a:pt x="113284" y="232155"/>
                  </a:lnTo>
                  <a:lnTo>
                    <a:pt x="64896" y="275336"/>
                  </a:lnTo>
                  <a:lnTo>
                    <a:pt x="29324" y="321055"/>
                  </a:lnTo>
                  <a:lnTo>
                    <a:pt x="7454" y="369062"/>
                  </a:lnTo>
                  <a:lnTo>
                    <a:pt x="0" y="419100"/>
                  </a:lnTo>
                  <a:lnTo>
                    <a:pt x="1879" y="444373"/>
                  </a:lnTo>
                  <a:lnTo>
                    <a:pt x="16637" y="493394"/>
                  </a:lnTo>
                  <a:lnTo>
                    <a:pt x="45427" y="540257"/>
                  </a:lnTo>
                  <a:lnTo>
                    <a:pt x="87503" y="584834"/>
                  </a:lnTo>
                  <a:lnTo>
                    <a:pt x="142112" y="626617"/>
                  </a:lnTo>
                  <a:lnTo>
                    <a:pt x="208534" y="665479"/>
                  </a:lnTo>
                  <a:lnTo>
                    <a:pt x="245872" y="683767"/>
                  </a:lnTo>
                  <a:lnTo>
                    <a:pt x="286003" y="701166"/>
                  </a:lnTo>
                  <a:lnTo>
                    <a:pt x="328549" y="717676"/>
                  </a:lnTo>
                  <a:lnTo>
                    <a:pt x="373761" y="733298"/>
                  </a:lnTo>
                  <a:lnTo>
                    <a:pt x="421258" y="748029"/>
                  </a:lnTo>
                  <a:lnTo>
                    <a:pt x="471043" y="761745"/>
                  </a:lnTo>
                  <a:lnTo>
                    <a:pt x="522986" y="774445"/>
                  </a:lnTo>
                  <a:lnTo>
                    <a:pt x="577088" y="786129"/>
                  </a:lnTo>
                  <a:lnTo>
                    <a:pt x="633094" y="796670"/>
                  </a:lnTo>
                  <a:lnTo>
                    <a:pt x="691133" y="806068"/>
                  </a:lnTo>
                  <a:lnTo>
                    <a:pt x="750951" y="814451"/>
                  </a:lnTo>
                  <a:lnTo>
                    <a:pt x="812545" y="821563"/>
                  </a:lnTo>
                  <a:lnTo>
                    <a:pt x="875792" y="827404"/>
                  </a:lnTo>
                  <a:lnTo>
                    <a:pt x="940435" y="832103"/>
                  </a:lnTo>
                  <a:lnTo>
                    <a:pt x="1006601" y="835405"/>
                  </a:lnTo>
                  <a:lnTo>
                    <a:pt x="1074166" y="837564"/>
                  </a:lnTo>
                  <a:lnTo>
                    <a:pt x="1143000" y="838200"/>
                  </a:lnTo>
                  <a:lnTo>
                    <a:pt x="1211833" y="837564"/>
                  </a:lnTo>
                  <a:lnTo>
                    <a:pt x="1279398" y="835405"/>
                  </a:lnTo>
                  <a:lnTo>
                    <a:pt x="1345564" y="832103"/>
                  </a:lnTo>
                  <a:lnTo>
                    <a:pt x="1410208" y="827404"/>
                  </a:lnTo>
                  <a:lnTo>
                    <a:pt x="1473454" y="821563"/>
                  </a:lnTo>
                  <a:lnTo>
                    <a:pt x="1535049" y="814451"/>
                  </a:lnTo>
                  <a:lnTo>
                    <a:pt x="1594866" y="806068"/>
                  </a:lnTo>
                  <a:lnTo>
                    <a:pt x="1652905" y="796670"/>
                  </a:lnTo>
                  <a:lnTo>
                    <a:pt x="1708912" y="786129"/>
                  </a:lnTo>
                  <a:lnTo>
                    <a:pt x="1763014" y="774445"/>
                  </a:lnTo>
                  <a:lnTo>
                    <a:pt x="1814957" y="761745"/>
                  </a:lnTo>
                  <a:lnTo>
                    <a:pt x="1864741" y="748029"/>
                  </a:lnTo>
                  <a:lnTo>
                    <a:pt x="1912239" y="733298"/>
                  </a:lnTo>
                  <a:lnTo>
                    <a:pt x="1957324" y="717676"/>
                  </a:lnTo>
                  <a:lnTo>
                    <a:pt x="1999995" y="701166"/>
                  </a:lnTo>
                  <a:lnTo>
                    <a:pt x="2040127" y="683767"/>
                  </a:lnTo>
                  <a:lnTo>
                    <a:pt x="2077465" y="665479"/>
                  </a:lnTo>
                  <a:lnTo>
                    <a:pt x="2112137" y="646429"/>
                  </a:lnTo>
                  <a:lnTo>
                    <a:pt x="2172716" y="606043"/>
                  </a:lnTo>
                  <a:lnTo>
                    <a:pt x="2221103" y="562863"/>
                  </a:lnTo>
                  <a:lnTo>
                    <a:pt x="2256663" y="517143"/>
                  </a:lnTo>
                  <a:lnTo>
                    <a:pt x="2278507" y="469138"/>
                  </a:lnTo>
                  <a:lnTo>
                    <a:pt x="2286000" y="419100"/>
                  </a:lnTo>
                  <a:lnTo>
                    <a:pt x="2284095" y="393826"/>
                  </a:lnTo>
                  <a:lnTo>
                    <a:pt x="2269363" y="344804"/>
                  </a:lnTo>
                  <a:lnTo>
                    <a:pt x="2240534" y="297941"/>
                  </a:lnTo>
                  <a:lnTo>
                    <a:pt x="2198497" y="253364"/>
                  </a:lnTo>
                  <a:lnTo>
                    <a:pt x="2143887" y="211581"/>
                  </a:lnTo>
                  <a:lnTo>
                    <a:pt x="2077465" y="172719"/>
                  </a:lnTo>
                  <a:lnTo>
                    <a:pt x="2040127" y="154431"/>
                  </a:lnTo>
                  <a:lnTo>
                    <a:pt x="1999995" y="137032"/>
                  </a:lnTo>
                  <a:lnTo>
                    <a:pt x="1957324" y="120523"/>
                  </a:lnTo>
                  <a:lnTo>
                    <a:pt x="1912239" y="104901"/>
                  </a:lnTo>
                  <a:lnTo>
                    <a:pt x="1864741" y="90169"/>
                  </a:lnTo>
                  <a:lnTo>
                    <a:pt x="1814957" y="76453"/>
                  </a:lnTo>
                  <a:lnTo>
                    <a:pt x="1763014" y="63753"/>
                  </a:lnTo>
                  <a:lnTo>
                    <a:pt x="1708912" y="52069"/>
                  </a:lnTo>
                  <a:lnTo>
                    <a:pt x="1652905" y="41528"/>
                  </a:lnTo>
                  <a:lnTo>
                    <a:pt x="1594866" y="32130"/>
                  </a:lnTo>
                  <a:lnTo>
                    <a:pt x="1535049" y="23749"/>
                  </a:lnTo>
                  <a:lnTo>
                    <a:pt x="1473454" y="16637"/>
                  </a:lnTo>
                  <a:lnTo>
                    <a:pt x="1410208" y="10794"/>
                  </a:lnTo>
                  <a:lnTo>
                    <a:pt x="1345564" y="6095"/>
                  </a:lnTo>
                  <a:lnTo>
                    <a:pt x="1279398" y="2793"/>
                  </a:lnTo>
                  <a:lnTo>
                    <a:pt x="1211833" y="634"/>
                  </a:lnTo>
                  <a:lnTo>
                    <a:pt x="1143000" y="0"/>
                  </a:lnTo>
                  <a:close/>
                </a:path>
              </a:pathLst>
            </a:custGeom>
            <a:solidFill>
              <a:srgbClr val="0099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219200" y="2673095"/>
              <a:ext cx="2286000" cy="838200"/>
            </a:xfrm>
            <a:custGeom>
              <a:avLst/>
              <a:gdLst/>
              <a:ahLst/>
              <a:cxnLst/>
              <a:rect l="l" t="t" r="r" b="b"/>
              <a:pathLst>
                <a:path w="2286000" h="838200">
                  <a:moveTo>
                    <a:pt x="1143000" y="0"/>
                  </a:moveTo>
                  <a:lnTo>
                    <a:pt x="1211833" y="634"/>
                  </a:lnTo>
                  <a:lnTo>
                    <a:pt x="1279398" y="2793"/>
                  </a:lnTo>
                  <a:lnTo>
                    <a:pt x="1345564" y="6095"/>
                  </a:lnTo>
                  <a:lnTo>
                    <a:pt x="1410208" y="10794"/>
                  </a:lnTo>
                  <a:lnTo>
                    <a:pt x="1473454" y="16637"/>
                  </a:lnTo>
                  <a:lnTo>
                    <a:pt x="1535049" y="23749"/>
                  </a:lnTo>
                  <a:lnTo>
                    <a:pt x="1594866" y="32130"/>
                  </a:lnTo>
                  <a:lnTo>
                    <a:pt x="1652905" y="41528"/>
                  </a:lnTo>
                  <a:lnTo>
                    <a:pt x="1708912" y="52069"/>
                  </a:lnTo>
                  <a:lnTo>
                    <a:pt x="1763014" y="63753"/>
                  </a:lnTo>
                  <a:lnTo>
                    <a:pt x="1814957" y="76453"/>
                  </a:lnTo>
                  <a:lnTo>
                    <a:pt x="1864741" y="90169"/>
                  </a:lnTo>
                  <a:lnTo>
                    <a:pt x="1912239" y="104901"/>
                  </a:lnTo>
                  <a:lnTo>
                    <a:pt x="1957324" y="120523"/>
                  </a:lnTo>
                  <a:lnTo>
                    <a:pt x="1999995" y="137032"/>
                  </a:lnTo>
                  <a:lnTo>
                    <a:pt x="2040127" y="154431"/>
                  </a:lnTo>
                  <a:lnTo>
                    <a:pt x="2077465" y="172719"/>
                  </a:lnTo>
                  <a:lnTo>
                    <a:pt x="2112137" y="191769"/>
                  </a:lnTo>
                  <a:lnTo>
                    <a:pt x="2172716" y="232155"/>
                  </a:lnTo>
                  <a:lnTo>
                    <a:pt x="2221103" y="275336"/>
                  </a:lnTo>
                  <a:lnTo>
                    <a:pt x="2256663" y="321055"/>
                  </a:lnTo>
                  <a:lnTo>
                    <a:pt x="2278507" y="369062"/>
                  </a:lnTo>
                  <a:lnTo>
                    <a:pt x="2286000" y="419100"/>
                  </a:lnTo>
                  <a:lnTo>
                    <a:pt x="2284095" y="444373"/>
                  </a:lnTo>
                  <a:lnTo>
                    <a:pt x="2269363" y="493394"/>
                  </a:lnTo>
                  <a:lnTo>
                    <a:pt x="2240534" y="540257"/>
                  </a:lnTo>
                  <a:lnTo>
                    <a:pt x="2198497" y="584834"/>
                  </a:lnTo>
                  <a:lnTo>
                    <a:pt x="2143887" y="626617"/>
                  </a:lnTo>
                  <a:lnTo>
                    <a:pt x="2077465" y="665479"/>
                  </a:lnTo>
                  <a:lnTo>
                    <a:pt x="2040127" y="683767"/>
                  </a:lnTo>
                  <a:lnTo>
                    <a:pt x="1999995" y="701166"/>
                  </a:lnTo>
                  <a:lnTo>
                    <a:pt x="1957324" y="717676"/>
                  </a:lnTo>
                  <a:lnTo>
                    <a:pt x="1912239" y="733298"/>
                  </a:lnTo>
                  <a:lnTo>
                    <a:pt x="1864741" y="748029"/>
                  </a:lnTo>
                  <a:lnTo>
                    <a:pt x="1814957" y="761745"/>
                  </a:lnTo>
                  <a:lnTo>
                    <a:pt x="1763014" y="774445"/>
                  </a:lnTo>
                  <a:lnTo>
                    <a:pt x="1708912" y="786129"/>
                  </a:lnTo>
                  <a:lnTo>
                    <a:pt x="1652905" y="796670"/>
                  </a:lnTo>
                  <a:lnTo>
                    <a:pt x="1594866" y="806068"/>
                  </a:lnTo>
                  <a:lnTo>
                    <a:pt x="1535049" y="814451"/>
                  </a:lnTo>
                  <a:lnTo>
                    <a:pt x="1473454" y="821563"/>
                  </a:lnTo>
                  <a:lnTo>
                    <a:pt x="1410208" y="827404"/>
                  </a:lnTo>
                  <a:lnTo>
                    <a:pt x="1345564" y="832103"/>
                  </a:lnTo>
                  <a:lnTo>
                    <a:pt x="1279398" y="835405"/>
                  </a:lnTo>
                  <a:lnTo>
                    <a:pt x="1211833" y="837564"/>
                  </a:lnTo>
                  <a:lnTo>
                    <a:pt x="1143000" y="838200"/>
                  </a:lnTo>
                  <a:lnTo>
                    <a:pt x="1074166" y="837564"/>
                  </a:lnTo>
                  <a:lnTo>
                    <a:pt x="1006601" y="835405"/>
                  </a:lnTo>
                  <a:lnTo>
                    <a:pt x="940435" y="832103"/>
                  </a:lnTo>
                  <a:lnTo>
                    <a:pt x="875792" y="827404"/>
                  </a:lnTo>
                  <a:lnTo>
                    <a:pt x="812545" y="821563"/>
                  </a:lnTo>
                  <a:lnTo>
                    <a:pt x="750951" y="814451"/>
                  </a:lnTo>
                  <a:lnTo>
                    <a:pt x="691133" y="806068"/>
                  </a:lnTo>
                  <a:lnTo>
                    <a:pt x="633094" y="796670"/>
                  </a:lnTo>
                  <a:lnTo>
                    <a:pt x="577088" y="786129"/>
                  </a:lnTo>
                  <a:lnTo>
                    <a:pt x="522986" y="774445"/>
                  </a:lnTo>
                  <a:lnTo>
                    <a:pt x="471043" y="761745"/>
                  </a:lnTo>
                  <a:lnTo>
                    <a:pt x="421258" y="748029"/>
                  </a:lnTo>
                  <a:lnTo>
                    <a:pt x="373761" y="733298"/>
                  </a:lnTo>
                  <a:lnTo>
                    <a:pt x="328549" y="717676"/>
                  </a:lnTo>
                  <a:lnTo>
                    <a:pt x="286003" y="701166"/>
                  </a:lnTo>
                  <a:lnTo>
                    <a:pt x="245872" y="683767"/>
                  </a:lnTo>
                  <a:lnTo>
                    <a:pt x="208534" y="665479"/>
                  </a:lnTo>
                  <a:lnTo>
                    <a:pt x="173862" y="646429"/>
                  </a:lnTo>
                  <a:lnTo>
                    <a:pt x="113284" y="606043"/>
                  </a:lnTo>
                  <a:lnTo>
                    <a:pt x="64896" y="562863"/>
                  </a:lnTo>
                  <a:lnTo>
                    <a:pt x="29324" y="517143"/>
                  </a:lnTo>
                  <a:lnTo>
                    <a:pt x="7454" y="469138"/>
                  </a:lnTo>
                  <a:lnTo>
                    <a:pt x="0" y="419100"/>
                  </a:lnTo>
                  <a:lnTo>
                    <a:pt x="1879" y="393826"/>
                  </a:lnTo>
                  <a:lnTo>
                    <a:pt x="16637" y="344804"/>
                  </a:lnTo>
                  <a:lnTo>
                    <a:pt x="45427" y="297941"/>
                  </a:lnTo>
                  <a:lnTo>
                    <a:pt x="87503" y="253364"/>
                  </a:lnTo>
                  <a:lnTo>
                    <a:pt x="142112" y="211581"/>
                  </a:lnTo>
                  <a:lnTo>
                    <a:pt x="208534" y="172719"/>
                  </a:lnTo>
                  <a:lnTo>
                    <a:pt x="245872" y="154431"/>
                  </a:lnTo>
                  <a:lnTo>
                    <a:pt x="286003" y="137032"/>
                  </a:lnTo>
                  <a:lnTo>
                    <a:pt x="328549" y="120523"/>
                  </a:lnTo>
                  <a:lnTo>
                    <a:pt x="373761" y="104901"/>
                  </a:lnTo>
                  <a:lnTo>
                    <a:pt x="421258" y="90169"/>
                  </a:lnTo>
                  <a:lnTo>
                    <a:pt x="471043" y="76453"/>
                  </a:lnTo>
                  <a:lnTo>
                    <a:pt x="522986" y="63753"/>
                  </a:lnTo>
                  <a:lnTo>
                    <a:pt x="577088" y="52069"/>
                  </a:lnTo>
                  <a:lnTo>
                    <a:pt x="633094" y="41528"/>
                  </a:lnTo>
                  <a:lnTo>
                    <a:pt x="691133" y="32130"/>
                  </a:lnTo>
                  <a:lnTo>
                    <a:pt x="750951" y="23749"/>
                  </a:lnTo>
                  <a:lnTo>
                    <a:pt x="812545" y="16637"/>
                  </a:lnTo>
                  <a:lnTo>
                    <a:pt x="875792" y="10794"/>
                  </a:lnTo>
                  <a:lnTo>
                    <a:pt x="940435" y="6095"/>
                  </a:lnTo>
                  <a:lnTo>
                    <a:pt x="1006601" y="2793"/>
                  </a:lnTo>
                  <a:lnTo>
                    <a:pt x="1074166" y="634"/>
                  </a:lnTo>
                  <a:lnTo>
                    <a:pt x="1143000" y="0"/>
                  </a:lnTo>
                  <a:close/>
                </a:path>
              </a:pathLst>
            </a:custGeom>
            <a:ln w="1219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213104" y="2666999"/>
              <a:ext cx="2298700" cy="850900"/>
            </a:xfrm>
            <a:custGeom>
              <a:avLst/>
              <a:gdLst/>
              <a:ahLst/>
              <a:cxnLst/>
              <a:rect l="l" t="t" r="r" b="b"/>
              <a:pathLst>
                <a:path w="2298700" h="850900">
                  <a:moveTo>
                    <a:pt x="12192" y="6096"/>
                  </a:moveTo>
                  <a:lnTo>
                    <a:pt x="10401" y="1790"/>
                  </a:lnTo>
                  <a:lnTo>
                    <a:pt x="6096" y="0"/>
                  </a:lnTo>
                  <a:lnTo>
                    <a:pt x="1778" y="1790"/>
                  </a:lnTo>
                  <a:lnTo>
                    <a:pt x="0" y="6096"/>
                  </a:lnTo>
                  <a:lnTo>
                    <a:pt x="1778" y="10414"/>
                  </a:lnTo>
                  <a:lnTo>
                    <a:pt x="6096" y="12204"/>
                  </a:lnTo>
                  <a:lnTo>
                    <a:pt x="10401" y="10414"/>
                  </a:lnTo>
                  <a:lnTo>
                    <a:pt x="12192" y="6096"/>
                  </a:lnTo>
                  <a:close/>
                </a:path>
                <a:path w="2298700" h="850900">
                  <a:moveTo>
                    <a:pt x="2298192" y="844296"/>
                  </a:moveTo>
                  <a:lnTo>
                    <a:pt x="2296401" y="839990"/>
                  </a:lnTo>
                  <a:lnTo>
                    <a:pt x="2292096" y="838200"/>
                  </a:lnTo>
                  <a:lnTo>
                    <a:pt x="2287778" y="839990"/>
                  </a:lnTo>
                  <a:lnTo>
                    <a:pt x="2286000" y="844296"/>
                  </a:lnTo>
                  <a:lnTo>
                    <a:pt x="2287778" y="848614"/>
                  </a:lnTo>
                  <a:lnTo>
                    <a:pt x="2292096" y="850404"/>
                  </a:lnTo>
                  <a:lnTo>
                    <a:pt x="2296401" y="848614"/>
                  </a:lnTo>
                  <a:lnTo>
                    <a:pt x="2298192" y="844296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1620392" y="2766441"/>
            <a:ext cx="1399540" cy="6362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spc="-10" dirty="0">
                <a:latin typeface="Times New Roman"/>
                <a:cs typeface="Times New Roman"/>
              </a:rPr>
              <a:t>subproblem</a:t>
            </a:r>
            <a:r>
              <a:rPr sz="2000" spc="-70" dirty="0">
                <a:latin typeface="Times New Roman"/>
                <a:cs typeface="Times New Roman"/>
              </a:rPr>
              <a:t> </a:t>
            </a:r>
            <a:r>
              <a:rPr sz="2000" spc="-50" dirty="0">
                <a:latin typeface="Times New Roman"/>
                <a:cs typeface="Times New Roman"/>
              </a:rPr>
              <a:t>1</a:t>
            </a:r>
            <a:endParaRPr sz="2000">
              <a:latin typeface="Times New Roman"/>
              <a:cs typeface="Times New Roman"/>
            </a:endParaRPr>
          </a:p>
          <a:p>
            <a:pPr marL="210185">
              <a:lnSpc>
                <a:spcPct val="100000"/>
              </a:lnSpc>
            </a:pPr>
            <a:r>
              <a:rPr sz="2000" dirty="0">
                <a:latin typeface="Times New Roman"/>
                <a:cs typeface="Times New Roman"/>
              </a:rPr>
              <a:t>of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size</a:t>
            </a:r>
            <a:r>
              <a:rPr sz="2000" spc="-65" dirty="0">
                <a:latin typeface="Times New Roman"/>
                <a:cs typeface="Times New Roman"/>
              </a:rPr>
              <a:t> </a:t>
            </a:r>
            <a:r>
              <a:rPr sz="2000" i="1" spc="-25" dirty="0">
                <a:latin typeface="Times New Roman"/>
                <a:cs typeface="Times New Roman"/>
              </a:rPr>
              <a:t>n</a:t>
            </a:r>
            <a:r>
              <a:rPr sz="2000" spc="-25" dirty="0">
                <a:latin typeface="Times New Roman"/>
                <a:cs typeface="Times New Roman"/>
              </a:rPr>
              <a:t>/2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219200" y="3968496"/>
            <a:ext cx="2286000" cy="654050"/>
          </a:xfrm>
          <a:prstGeom prst="rect">
            <a:avLst/>
          </a:prstGeom>
          <a:solidFill>
            <a:srgbClr val="009900"/>
          </a:solidFill>
          <a:ln w="12192">
            <a:solidFill>
              <a:srgbClr val="FF0000"/>
            </a:solidFill>
          </a:ln>
        </p:spPr>
        <p:txBody>
          <a:bodyPr vert="horz" wrap="square" lIns="0" tIns="30480" rIns="0" bIns="0" rtlCol="0">
            <a:spAutoFit/>
          </a:bodyPr>
          <a:lstStyle/>
          <a:p>
            <a:pPr marL="445134" marR="457200" indent="34925">
              <a:lnSpc>
                <a:spcPct val="100000"/>
              </a:lnSpc>
              <a:spcBef>
                <a:spcPts val="240"/>
              </a:spcBef>
            </a:pPr>
            <a:r>
              <a:rPr sz="2000" dirty="0">
                <a:latin typeface="Times New Roman"/>
                <a:cs typeface="Times New Roman"/>
              </a:rPr>
              <a:t>a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solution</a:t>
            </a:r>
            <a:r>
              <a:rPr sz="2000" spc="-70" dirty="0">
                <a:latin typeface="Times New Roman"/>
                <a:cs typeface="Times New Roman"/>
              </a:rPr>
              <a:t> </a:t>
            </a:r>
            <a:r>
              <a:rPr sz="2000" spc="-25" dirty="0">
                <a:latin typeface="Times New Roman"/>
                <a:cs typeface="Times New Roman"/>
              </a:rPr>
              <a:t>to </a:t>
            </a:r>
            <a:r>
              <a:rPr sz="2000" spc="-10" dirty="0">
                <a:latin typeface="Times New Roman"/>
                <a:cs typeface="Times New Roman"/>
              </a:rPr>
              <a:t>subproblem</a:t>
            </a:r>
            <a:r>
              <a:rPr sz="2000" spc="-45" dirty="0">
                <a:latin typeface="Times New Roman"/>
                <a:cs typeface="Times New Roman"/>
              </a:rPr>
              <a:t> </a:t>
            </a:r>
            <a:r>
              <a:rPr sz="2000" spc="-50" dirty="0">
                <a:latin typeface="Times New Roman"/>
                <a:cs typeface="Times New Roman"/>
              </a:rPr>
              <a:t>1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429000" y="5721096"/>
            <a:ext cx="2286000" cy="654050"/>
          </a:xfrm>
          <a:prstGeom prst="rect">
            <a:avLst/>
          </a:prstGeom>
          <a:solidFill>
            <a:srgbClr val="009900"/>
          </a:solidFill>
          <a:ln w="12192">
            <a:solidFill>
              <a:srgbClr val="FF0000"/>
            </a:solidFill>
          </a:ln>
        </p:spPr>
        <p:txBody>
          <a:bodyPr vert="horz" wrap="square" lIns="0" tIns="3048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240"/>
              </a:spcBef>
            </a:pPr>
            <a:r>
              <a:rPr sz="2000" dirty="0">
                <a:latin typeface="Times New Roman"/>
                <a:cs typeface="Times New Roman"/>
              </a:rPr>
              <a:t>a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solution</a:t>
            </a:r>
            <a:r>
              <a:rPr sz="2000" spc="-80" dirty="0">
                <a:latin typeface="Times New Roman"/>
                <a:cs typeface="Times New Roman"/>
              </a:rPr>
              <a:t> </a:t>
            </a:r>
            <a:r>
              <a:rPr sz="2000" spc="-25" dirty="0">
                <a:latin typeface="Times New Roman"/>
                <a:cs typeface="Times New Roman"/>
              </a:rPr>
              <a:t>to</a:t>
            </a:r>
            <a:endParaRPr sz="2000">
              <a:latin typeface="Times New Roman"/>
              <a:cs typeface="Times New Roman"/>
            </a:endParaRPr>
          </a:p>
          <a:p>
            <a:pPr marL="1905" algn="ctr">
              <a:lnSpc>
                <a:spcPct val="100000"/>
              </a:lnSpc>
              <a:spcBef>
                <a:spcPts val="5"/>
              </a:spcBef>
            </a:pPr>
            <a:r>
              <a:rPr sz="2000" dirty="0">
                <a:latin typeface="Times New Roman"/>
                <a:cs typeface="Times New Roman"/>
              </a:rPr>
              <a:t>the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original</a:t>
            </a:r>
            <a:r>
              <a:rPr sz="2000" spc="-90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problem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5562600" y="3968496"/>
            <a:ext cx="2286000" cy="654050"/>
          </a:xfrm>
          <a:prstGeom prst="rect">
            <a:avLst/>
          </a:prstGeom>
          <a:solidFill>
            <a:srgbClr val="009900"/>
          </a:solidFill>
          <a:ln w="12192">
            <a:solidFill>
              <a:srgbClr val="FF0000"/>
            </a:solidFill>
          </a:ln>
        </p:spPr>
        <p:txBody>
          <a:bodyPr vert="horz" wrap="square" lIns="0" tIns="30480" rIns="0" bIns="0" rtlCol="0">
            <a:spAutoFit/>
          </a:bodyPr>
          <a:lstStyle/>
          <a:p>
            <a:pPr marL="447040" marR="454659" indent="34925">
              <a:lnSpc>
                <a:spcPct val="100000"/>
              </a:lnSpc>
              <a:spcBef>
                <a:spcPts val="240"/>
              </a:spcBef>
            </a:pPr>
            <a:r>
              <a:rPr sz="2000" dirty="0">
                <a:latin typeface="Times New Roman"/>
                <a:cs typeface="Times New Roman"/>
              </a:rPr>
              <a:t>a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solution</a:t>
            </a:r>
            <a:r>
              <a:rPr sz="2000" spc="-70" dirty="0">
                <a:latin typeface="Times New Roman"/>
                <a:cs typeface="Times New Roman"/>
              </a:rPr>
              <a:t> </a:t>
            </a:r>
            <a:r>
              <a:rPr sz="2000" spc="-25" dirty="0">
                <a:latin typeface="Times New Roman"/>
                <a:cs typeface="Times New Roman"/>
              </a:rPr>
              <a:t>to </a:t>
            </a:r>
            <a:r>
              <a:rPr sz="2000" spc="-10" dirty="0">
                <a:latin typeface="Times New Roman"/>
                <a:cs typeface="Times New Roman"/>
              </a:rPr>
              <a:t>subproblem</a:t>
            </a:r>
            <a:r>
              <a:rPr sz="2000" spc="-45" dirty="0">
                <a:latin typeface="Times New Roman"/>
                <a:cs typeface="Times New Roman"/>
              </a:rPr>
              <a:t> </a:t>
            </a:r>
            <a:r>
              <a:rPr sz="2000" spc="-50" dirty="0">
                <a:latin typeface="Times New Roman"/>
                <a:cs typeface="Times New Roman"/>
              </a:rPr>
              <a:t>2</a:t>
            </a:r>
            <a:endParaRPr sz="2000">
              <a:latin typeface="Times New Roman"/>
              <a:cs typeface="Times New Roman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2667000" y="1599946"/>
            <a:ext cx="3810000" cy="1088390"/>
            <a:chOff x="2667000" y="1599946"/>
            <a:chExt cx="3810000" cy="1088390"/>
          </a:xfrm>
        </p:grpSpPr>
        <p:sp>
          <p:nvSpPr>
            <p:cNvPr id="17" name="object 17"/>
            <p:cNvSpPr/>
            <p:nvPr/>
          </p:nvSpPr>
          <p:spPr>
            <a:xfrm>
              <a:off x="4953000" y="2368296"/>
              <a:ext cx="1478280" cy="295910"/>
            </a:xfrm>
            <a:custGeom>
              <a:avLst/>
              <a:gdLst/>
              <a:ahLst/>
              <a:cxnLst/>
              <a:rect l="l" t="t" r="r" b="b"/>
              <a:pathLst>
                <a:path w="1478279" h="295910">
                  <a:moveTo>
                    <a:pt x="0" y="0"/>
                  </a:moveTo>
                  <a:lnTo>
                    <a:pt x="1478279" y="295655"/>
                  </a:lnTo>
                </a:path>
              </a:pathLst>
            </a:custGeom>
            <a:ln w="1219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6422135" y="2639568"/>
              <a:ext cx="55244" cy="48895"/>
            </a:xfrm>
            <a:custGeom>
              <a:avLst/>
              <a:gdLst/>
              <a:ahLst/>
              <a:cxnLst/>
              <a:rect l="l" t="t" r="r" b="b"/>
              <a:pathLst>
                <a:path w="55245" h="48894">
                  <a:moveTo>
                    <a:pt x="10160" y="0"/>
                  </a:moveTo>
                  <a:lnTo>
                    <a:pt x="0" y="48768"/>
                  </a:lnTo>
                  <a:lnTo>
                    <a:pt x="54863" y="33782"/>
                  </a:lnTo>
                  <a:lnTo>
                    <a:pt x="10160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2712719" y="2368296"/>
              <a:ext cx="1402080" cy="295910"/>
            </a:xfrm>
            <a:custGeom>
              <a:avLst/>
              <a:gdLst/>
              <a:ahLst/>
              <a:cxnLst/>
              <a:rect l="l" t="t" r="r" b="b"/>
              <a:pathLst>
                <a:path w="1402079" h="295910">
                  <a:moveTo>
                    <a:pt x="1402080" y="0"/>
                  </a:moveTo>
                  <a:lnTo>
                    <a:pt x="0" y="295655"/>
                  </a:lnTo>
                </a:path>
              </a:pathLst>
            </a:custGeom>
            <a:ln w="12191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2667000" y="2639568"/>
              <a:ext cx="55244" cy="47625"/>
            </a:xfrm>
            <a:custGeom>
              <a:avLst/>
              <a:gdLst/>
              <a:ahLst/>
              <a:cxnLst/>
              <a:rect l="l" t="t" r="r" b="b"/>
              <a:pathLst>
                <a:path w="55244" h="47625">
                  <a:moveTo>
                    <a:pt x="44704" y="0"/>
                  </a:moveTo>
                  <a:lnTo>
                    <a:pt x="0" y="33528"/>
                  </a:lnTo>
                  <a:lnTo>
                    <a:pt x="54863" y="47244"/>
                  </a:lnTo>
                  <a:lnTo>
                    <a:pt x="44704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3429000" y="1606296"/>
              <a:ext cx="2286000" cy="838200"/>
            </a:xfrm>
            <a:custGeom>
              <a:avLst/>
              <a:gdLst/>
              <a:ahLst/>
              <a:cxnLst/>
              <a:rect l="l" t="t" r="r" b="b"/>
              <a:pathLst>
                <a:path w="2286000" h="838200">
                  <a:moveTo>
                    <a:pt x="1143000" y="0"/>
                  </a:moveTo>
                  <a:lnTo>
                    <a:pt x="1074165" y="634"/>
                  </a:lnTo>
                  <a:lnTo>
                    <a:pt x="1006601" y="2666"/>
                  </a:lnTo>
                  <a:lnTo>
                    <a:pt x="940435" y="6095"/>
                  </a:lnTo>
                  <a:lnTo>
                    <a:pt x="875791" y="10667"/>
                  </a:lnTo>
                  <a:lnTo>
                    <a:pt x="812546" y="16509"/>
                  </a:lnTo>
                  <a:lnTo>
                    <a:pt x="750951" y="23621"/>
                  </a:lnTo>
                  <a:lnTo>
                    <a:pt x="691134" y="31876"/>
                  </a:lnTo>
                  <a:lnTo>
                    <a:pt x="633095" y="41275"/>
                  </a:lnTo>
                  <a:lnTo>
                    <a:pt x="577088" y="51815"/>
                  </a:lnTo>
                  <a:lnTo>
                    <a:pt x="522986" y="63500"/>
                  </a:lnTo>
                  <a:lnTo>
                    <a:pt x="471042" y="76073"/>
                  </a:lnTo>
                  <a:lnTo>
                    <a:pt x="421259" y="89788"/>
                  </a:lnTo>
                  <a:lnTo>
                    <a:pt x="373761" y="104393"/>
                  </a:lnTo>
                  <a:lnTo>
                    <a:pt x="328549" y="120014"/>
                  </a:lnTo>
                  <a:lnTo>
                    <a:pt x="286003" y="136525"/>
                  </a:lnTo>
                  <a:lnTo>
                    <a:pt x="245872" y="153924"/>
                  </a:lnTo>
                  <a:lnTo>
                    <a:pt x="208534" y="172084"/>
                  </a:lnTo>
                  <a:lnTo>
                    <a:pt x="173862" y="191134"/>
                  </a:lnTo>
                  <a:lnTo>
                    <a:pt x="113284" y="231648"/>
                  </a:lnTo>
                  <a:lnTo>
                    <a:pt x="64897" y="274827"/>
                  </a:lnTo>
                  <a:lnTo>
                    <a:pt x="29337" y="320675"/>
                  </a:lnTo>
                  <a:lnTo>
                    <a:pt x="7492" y="368934"/>
                  </a:lnTo>
                  <a:lnTo>
                    <a:pt x="0" y="419100"/>
                  </a:lnTo>
                  <a:lnTo>
                    <a:pt x="1904" y="444373"/>
                  </a:lnTo>
                  <a:lnTo>
                    <a:pt x="16637" y="493394"/>
                  </a:lnTo>
                  <a:lnTo>
                    <a:pt x="45465" y="540257"/>
                  </a:lnTo>
                  <a:lnTo>
                    <a:pt x="87502" y="584834"/>
                  </a:lnTo>
                  <a:lnTo>
                    <a:pt x="142112" y="626617"/>
                  </a:lnTo>
                  <a:lnTo>
                    <a:pt x="208534" y="665479"/>
                  </a:lnTo>
                  <a:lnTo>
                    <a:pt x="245872" y="683767"/>
                  </a:lnTo>
                  <a:lnTo>
                    <a:pt x="286003" y="701166"/>
                  </a:lnTo>
                  <a:lnTo>
                    <a:pt x="328549" y="717676"/>
                  </a:lnTo>
                  <a:lnTo>
                    <a:pt x="373761" y="733298"/>
                  </a:lnTo>
                  <a:lnTo>
                    <a:pt x="421259" y="748029"/>
                  </a:lnTo>
                  <a:lnTo>
                    <a:pt x="471042" y="761745"/>
                  </a:lnTo>
                  <a:lnTo>
                    <a:pt x="522986" y="774445"/>
                  </a:lnTo>
                  <a:lnTo>
                    <a:pt x="577088" y="786129"/>
                  </a:lnTo>
                  <a:lnTo>
                    <a:pt x="633095" y="796670"/>
                  </a:lnTo>
                  <a:lnTo>
                    <a:pt x="691134" y="806068"/>
                  </a:lnTo>
                  <a:lnTo>
                    <a:pt x="750951" y="814451"/>
                  </a:lnTo>
                  <a:lnTo>
                    <a:pt x="812546" y="821563"/>
                  </a:lnTo>
                  <a:lnTo>
                    <a:pt x="875791" y="827404"/>
                  </a:lnTo>
                  <a:lnTo>
                    <a:pt x="940435" y="832103"/>
                  </a:lnTo>
                  <a:lnTo>
                    <a:pt x="1006601" y="835405"/>
                  </a:lnTo>
                  <a:lnTo>
                    <a:pt x="1074165" y="837564"/>
                  </a:lnTo>
                  <a:lnTo>
                    <a:pt x="1143000" y="838200"/>
                  </a:lnTo>
                  <a:lnTo>
                    <a:pt x="1211834" y="837564"/>
                  </a:lnTo>
                  <a:lnTo>
                    <a:pt x="1279398" y="835405"/>
                  </a:lnTo>
                  <a:lnTo>
                    <a:pt x="1345564" y="832103"/>
                  </a:lnTo>
                  <a:lnTo>
                    <a:pt x="1410208" y="827404"/>
                  </a:lnTo>
                  <a:lnTo>
                    <a:pt x="1473453" y="821563"/>
                  </a:lnTo>
                  <a:lnTo>
                    <a:pt x="1535049" y="814451"/>
                  </a:lnTo>
                  <a:lnTo>
                    <a:pt x="1594865" y="806068"/>
                  </a:lnTo>
                  <a:lnTo>
                    <a:pt x="1652904" y="796670"/>
                  </a:lnTo>
                  <a:lnTo>
                    <a:pt x="1708912" y="786129"/>
                  </a:lnTo>
                  <a:lnTo>
                    <a:pt x="1763014" y="774445"/>
                  </a:lnTo>
                  <a:lnTo>
                    <a:pt x="1814957" y="761745"/>
                  </a:lnTo>
                  <a:lnTo>
                    <a:pt x="1864740" y="748029"/>
                  </a:lnTo>
                  <a:lnTo>
                    <a:pt x="1912239" y="733298"/>
                  </a:lnTo>
                  <a:lnTo>
                    <a:pt x="1957324" y="717676"/>
                  </a:lnTo>
                  <a:lnTo>
                    <a:pt x="1999996" y="701166"/>
                  </a:lnTo>
                  <a:lnTo>
                    <a:pt x="2040127" y="683767"/>
                  </a:lnTo>
                  <a:lnTo>
                    <a:pt x="2077465" y="665479"/>
                  </a:lnTo>
                  <a:lnTo>
                    <a:pt x="2112137" y="646429"/>
                  </a:lnTo>
                  <a:lnTo>
                    <a:pt x="2172716" y="606043"/>
                  </a:lnTo>
                  <a:lnTo>
                    <a:pt x="2221103" y="562863"/>
                  </a:lnTo>
                  <a:lnTo>
                    <a:pt x="2256663" y="517143"/>
                  </a:lnTo>
                  <a:lnTo>
                    <a:pt x="2278507" y="469138"/>
                  </a:lnTo>
                  <a:lnTo>
                    <a:pt x="2286000" y="419100"/>
                  </a:lnTo>
                  <a:lnTo>
                    <a:pt x="2284095" y="393700"/>
                  </a:lnTo>
                  <a:lnTo>
                    <a:pt x="2269363" y="344550"/>
                  </a:lnTo>
                  <a:lnTo>
                    <a:pt x="2240534" y="297433"/>
                  </a:lnTo>
                  <a:lnTo>
                    <a:pt x="2198497" y="252856"/>
                  </a:lnTo>
                  <a:lnTo>
                    <a:pt x="2143887" y="211074"/>
                  </a:lnTo>
                  <a:lnTo>
                    <a:pt x="2077465" y="172084"/>
                  </a:lnTo>
                  <a:lnTo>
                    <a:pt x="2040127" y="153924"/>
                  </a:lnTo>
                  <a:lnTo>
                    <a:pt x="1999996" y="136525"/>
                  </a:lnTo>
                  <a:lnTo>
                    <a:pt x="1957324" y="120014"/>
                  </a:lnTo>
                  <a:lnTo>
                    <a:pt x="1912239" y="104393"/>
                  </a:lnTo>
                  <a:lnTo>
                    <a:pt x="1864740" y="89788"/>
                  </a:lnTo>
                  <a:lnTo>
                    <a:pt x="1814957" y="76073"/>
                  </a:lnTo>
                  <a:lnTo>
                    <a:pt x="1763014" y="63500"/>
                  </a:lnTo>
                  <a:lnTo>
                    <a:pt x="1708912" y="51815"/>
                  </a:lnTo>
                  <a:lnTo>
                    <a:pt x="1652904" y="41275"/>
                  </a:lnTo>
                  <a:lnTo>
                    <a:pt x="1594865" y="31876"/>
                  </a:lnTo>
                  <a:lnTo>
                    <a:pt x="1535049" y="23621"/>
                  </a:lnTo>
                  <a:lnTo>
                    <a:pt x="1473453" y="16509"/>
                  </a:lnTo>
                  <a:lnTo>
                    <a:pt x="1410208" y="10667"/>
                  </a:lnTo>
                  <a:lnTo>
                    <a:pt x="1345564" y="6095"/>
                  </a:lnTo>
                  <a:lnTo>
                    <a:pt x="1279398" y="2666"/>
                  </a:lnTo>
                  <a:lnTo>
                    <a:pt x="1211834" y="634"/>
                  </a:lnTo>
                  <a:lnTo>
                    <a:pt x="1143000" y="0"/>
                  </a:lnTo>
                  <a:close/>
                </a:path>
              </a:pathLst>
            </a:custGeom>
            <a:solidFill>
              <a:srgbClr val="0099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3429000" y="1606296"/>
              <a:ext cx="2286000" cy="838200"/>
            </a:xfrm>
            <a:custGeom>
              <a:avLst/>
              <a:gdLst/>
              <a:ahLst/>
              <a:cxnLst/>
              <a:rect l="l" t="t" r="r" b="b"/>
              <a:pathLst>
                <a:path w="2286000" h="838200">
                  <a:moveTo>
                    <a:pt x="1143000" y="0"/>
                  </a:moveTo>
                  <a:lnTo>
                    <a:pt x="1211834" y="634"/>
                  </a:lnTo>
                  <a:lnTo>
                    <a:pt x="1279398" y="2666"/>
                  </a:lnTo>
                  <a:lnTo>
                    <a:pt x="1345564" y="6095"/>
                  </a:lnTo>
                  <a:lnTo>
                    <a:pt x="1410208" y="10667"/>
                  </a:lnTo>
                  <a:lnTo>
                    <a:pt x="1473453" y="16509"/>
                  </a:lnTo>
                  <a:lnTo>
                    <a:pt x="1535049" y="23621"/>
                  </a:lnTo>
                  <a:lnTo>
                    <a:pt x="1594865" y="31876"/>
                  </a:lnTo>
                  <a:lnTo>
                    <a:pt x="1652904" y="41275"/>
                  </a:lnTo>
                  <a:lnTo>
                    <a:pt x="1708912" y="51815"/>
                  </a:lnTo>
                  <a:lnTo>
                    <a:pt x="1763014" y="63500"/>
                  </a:lnTo>
                  <a:lnTo>
                    <a:pt x="1814957" y="76073"/>
                  </a:lnTo>
                  <a:lnTo>
                    <a:pt x="1864740" y="89788"/>
                  </a:lnTo>
                  <a:lnTo>
                    <a:pt x="1912239" y="104393"/>
                  </a:lnTo>
                  <a:lnTo>
                    <a:pt x="1957324" y="120014"/>
                  </a:lnTo>
                  <a:lnTo>
                    <a:pt x="1999996" y="136525"/>
                  </a:lnTo>
                  <a:lnTo>
                    <a:pt x="2040127" y="153924"/>
                  </a:lnTo>
                  <a:lnTo>
                    <a:pt x="2077465" y="172084"/>
                  </a:lnTo>
                  <a:lnTo>
                    <a:pt x="2112137" y="191134"/>
                  </a:lnTo>
                  <a:lnTo>
                    <a:pt x="2172716" y="231648"/>
                  </a:lnTo>
                  <a:lnTo>
                    <a:pt x="2221103" y="274827"/>
                  </a:lnTo>
                  <a:lnTo>
                    <a:pt x="2256663" y="320675"/>
                  </a:lnTo>
                  <a:lnTo>
                    <a:pt x="2278507" y="368934"/>
                  </a:lnTo>
                  <a:lnTo>
                    <a:pt x="2286000" y="419100"/>
                  </a:lnTo>
                  <a:lnTo>
                    <a:pt x="2284095" y="444373"/>
                  </a:lnTo>
                  <a:lnTo>
                    <a:pt x="2269363" y="493394"/>
                  </a:lnTo>
                  <a:lnTo>
                    <a:pt x="2240534" y="540257"/>
                  </a:lnTo>
                  <a:lnTo>
                    <a:pt x="2198497" y="584834"/>
                  </a:lnTo>
                  <a:lnTo>
                    <a:pt x="2143887" y="626617"/>
                  </a:lnTo>
                  <a:lnTo>
                    <a:pt x="2077465" y="665479"/>
                  </a:lnTo>
                  <a:lnTo>
                    <a:pt x="2040127" y="683767"/>
                  </a:lnTo>
                  <a:lnTo>
                    <a:pt x="1999996" y="701166"/>
                  </a:lnTo>
                  <a:lnTo>
                    <a:pt x="1957324" y="717676"/>
                  </a:lnTo>
                  <a:lnTo>
                    <a:pt x="1912239" y="733298"/>
                  </a:lnTo>
                  <a:lnTo>
                    <a:pt x="1864740" y="748029"/>
                  </a:lnTo>
                  <a:lnTo>
                    <a:pt x="1814957" y="761745"/>
                  </a:lnTo>
                  <a:lnTo>
                    <a:pt x="1763014" y="774445"/>
                  </a:lnTo>
                  <a:lnTo>
                    <a:pt x="1708912" y="786129"/>
                  </a:lnTo>
                  <a:lnTo>
                    <a:pt x="1652904" y="796670"/>
                  </a:lnTo>
                  <a:lnTo>
                    <a:pt x="1594865" y="806068"/>
                  </a:lnTo>
                  <a:lnTo>
                    <a:pt x="1535049" y="814451"/>
                  </a:lnTo>
                  <a:lnTo>
                    <a:pt x="1473453" y="821563"/>
                  </a:lnTo>
                  <a:lnTo>
                    <a:pt x="1410208" y="827404"/>
                  </a:lnTo>
                  <a:lnTo>
                    <a:pt x="1345564" y="832103"/>
                  </a:lnTo>
                  <a:lnTo>
                    <a:pt x="1279398" y="835405"/>
                  </a:lnTo>
                  <a:lnTo>
                    <a:pt x="1211834" y="837564"/>
                  </a:lnTo>
                  <a:lnTo>
                    <a:pt x="1143000" y="838200"/>
                  </a:lnTo>
                  <a:lnTo>
                    <a:pt x="1074165" y="837564"/>
                  </a:lnTo>
                  <a:lnTo>
                    <a:pt x="1006601" y="835405"/>
                  </a:lnTo>
                  <a:lnTo>
                    <a:pt x="940435" y="832103"/>
                  </a:lnTo>
                  <a:lnTo>
                    <a:pt x="875791" y="827404"/>
                  </a:lnTo>
                  <a:lnTo>
                    <a:pt x="812546" y="821563"/>
                  </a:lnTo>
                  <a:lnTo>
                    <a:pt x="750951" y="814451"/>
                  </a:lnTo>
                  <a:lnTo>
                    <a:pt x="691134" y="806068"/>
                  </a:lnTo>
                  <a:lnTo>
                    <a:pt x="633095" y="796670"/>
                  </a:lnTo>
                  <a:lnTo>
                    <a:pt x="577088" y="786129"/>
                  </a:lnTo>
                  <a:lnTo>
                    <a:pt x="522986" y="774445"/>
                  </a:lnTo>
                  <a:lnTo>
                    <a:pt x="471042" y="761745"/>
                  </a:lnTo>
                  <a:lnTo>
                    <a:pt x="421259" y="748029"/>
                  </a:lnTo>
                  <a:lnTo>
                    <a:pt x="373761" y="733298"/>
                  </a:lnTo>
                  <a:lnTo>
                    <a:pt x="328549" y="717676"/>
                  </a:lnTo>
                  <a:lnTo>
                    <a:pt x="286003" y="701166"/>
                  </a:lnTo>
                  <a:lnTo>
                    <a:pt x="245872" y="683767"/>
                  </a:lnTo>
                  <a:lnTo>
                    <a:pt x="208534" y="665479"/>
                  </a:lnTo>
                  <a:lnTo>
                    <a:pt x="173862" y="646429"/>
                  </a:lnTo>
                  <a:lnTo>
                    <a:pt x="113284" y="606043"/>
                  </a:lnTo>
                  <a:lnTo>
                    <a:pt x="64897" y="562863"/>
                  </a:lnTo>
                  <a:lnTo>
                    <a:pt x="29337" y="517143"/>
                  </a:lnTo>
                  <a:lnTo>
                    <a:pt x="7492" y="469138"/>
                  </a:lnTo>
                  <a:lnTo>
                    <a:pt x="0" y="419100"/>
                  </a:lnTo>
                  <a:lnTo>
                    <a:pt x="1904" y="393700"/>
                  </a:lnTo>
                  <a:lnTo>
                    <a:pt x="16637" y="344550"/>
                  </a:lnTo>
                  <a:lnTo>
                    <a:pt x="45465" y="297433"/>
                  </a:lnTo>
                  <a:lnTo>
                    <a:pt x="87502" y="252856"/>
                  </a:lnTo>
                  <a:lnTo>
                    <a:pt x="142112" y="211074"/>
                  </a:lnTo>
                  <a:lnTo>
                    <a:pt x="208534" y="172084"/>
                  </a:lnTo>
                  <a:lnTo>
                    <a:pt x="245872" y="153924"/>
                  </a:lnTo>
                  <a:lnTo>
                    <a:pt x="286003" y="136525"/>
                  </a:lnTo>
                  <a:lnTo>
                    <a:pt x="328549" y="120014"/>
                  </a:lnTo>
                  <a:lnTo>
                    <a:pt x="373761" y="104393"/>
                  </a:lnTo>
                  <a:lnTo>
                    <a:pt x="421259" y="89788"/>
                  </a:lnTo>
                  <a:lnTo>
                    <a:pt x="471042" y="76073"/>
                  </a:lnTo>
                  <a:lnTo>
                    <a:pt x="522986" y="63500"/>
                  </a:lnTo>
                  <a:lnTo>
                    <a:pt x="577088" y="51815"/>
                  </a:lnTo>
                  <a:lnTo>
                    <a:pt x="633095" y="41275"/>
                  </a:lnTo>
                  <a:lnTo>
                    <a:pt x="691134" y="31876"/>
                  </a:lnTo>
                  <a:lnTo>
                    <a:pt x="750951" y="23621"/>
                  </a:lnTo>
                  <a:lnTo>
                    <a:pt x="812546" y="16509"/>
                  </a:lnTo>
                  <a:lnTo>
                    <a:pt x="875791" y="10667"/>
                  </a:lnTo>
                  <a:lnTo>
                    <a:pt x="940435" y="6095"/>
                  </a:lnTo>
                  <a:lnTo>
                    <a:pt x="1006601" y="2666"/>
                  </a:lnTo>
                  <a:lnTo>
                    <a:pt x="1074165" y="634"/>
                  </a:lnTo>
                  <a:lnTo>
                    <a:pt x="1143000" y="0"/>
                  </a:lnTo>
                  <a:close/>
                </a:path>
              </a:pathLst>
            </a:custGeom>
            <a:ln w="1219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3422904" y="1600199"/>
              <a:ext cx="2298700" cy="850900"/>
            </a:xfrm>
            <a:custGeom>
              <a:avLst/>
              <a:gdLst/>
              <a:ahLst/>
              <a:cxnLst/>
              <a:rect l="l" t="t" r="r" b="b"/>
              <a:pathLst>
                <a:path w="2298700" h="850900">
                  <a:moveTo>
                    <a:pt x="12192" y="6096"/>
                  </a:moveTo>
                  <a:lnTo>
                    <a:pt x="10401" y="1790"/>
                  </a:lnTo>
                  <a:lnTo>
                    <a:pt x="6096" y="0"/>
                  </a:lnTo>
                  <a:lnTo>
                    <a:pt x="1778" y="1790"/>
                  </a:lnTo>
                  <a:lnTo>
                    <a:pt x="0" y="6096"/>
                  </a:lnTo>
                  <a:lnTo>
                    <a:pt x="1778" y="10414"/>
                  </a:lnTo>
                  <a:lnTo>
                    <a:pt x="6096" y="12204"/>
                  </a:lnTo>
                  <a:lnTo>
                    <a:pt x="10401" y="10414"/>
                  </a:lnTo>
                  <a:lnTo>
                    <a:pt x="12192" y="6096"/>
                  </a:lnTo>
                  <a:close/>
                </a:path>
                <a:path w="2298700" h="850900">
                  <a:moveTo>
                    <a:pt x="2298192" y="844296"/>
                  </a:moveTo>
                  <a:lnTo>
                    <a:pt x="2296401" y="839990"/>
                  </a:lnTo>
                  <a:lnTo>
                    <a:pt x="2292096" y="838200"/>
                  </a:lnTo>
                  <a:lnTo>
                    <a:pt x="2287778" y="839990"/>
                  </a:lnTo>
                  <a:lnTo>
                    <a:pt x="2286000" y="844296"/>
                  </a:lnTo>
                  <a:lnTo>
                    <a:pt x="2287778" y="848614"/>
                  </a:lnTo>
                  <a:lnTo>
                    <a:pt x="2292096" y="850404"/>
                  </a:lnTo>
                  <a:lnTo>
                    <a:pt x="2296401" y="848614"/>
                  </a:lnTo>
                  <a:lnTo>
                    <a:pt x="2298192" y="844296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3582670" y="1851482"/>
            <a:ext cx="1957705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dirty="0">
                <a:latin typeface="Times New Roman"/>
                <a:cs typeface="Times New Roman"/>
              </a:rPr>
              <a:t>a problem</a:t>
            </a:r>
            <a:r>
              <a:rPr sz="2000" spc="-6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of</a:t>
            </a:r>
            <a:r>
              <a:rPr sz="2000" spc="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size</a:t>
            </a:r>
            <a:r>
              <a:rPr sz="2000" spc="-110" dirty="0">
                <a:latin typeface="Times New Roman"/>
                <a:cs typeface="Times New Roman"/>
              </a:rPr>
              <a:t> </a:t>
            </a:r>
            <a:r>
              <a:rPr sz="2000" i="1" spc="-50" dirty="0">
                <a:latin typeface="Times New Roman"/>
                <a:cs typeface="Times New Roman"/>
              </a:rPr>
              <a:t>n</a:t>
            </a:r>
            <a:endParaRPr sz="2000">
              <a:latin typeface="Times New Roman"/>
              <a:cs typeface="Times New Roman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2260092" y="3511296"/>
            <a:ext cx="4471670" cy="457200"/>
            <a:chOff x="2260092" y="3511296"/>
            <a:chExt cx="4471670" cy="457200"/>
          </a:xfrm>
        </p:grpSpPr>
        <p:sp>
          <p:nvSpPr>
            <p:cNvPr id="26" name="object 26"/>
            <p:cNvSpPr/>
            <p:nvPr/>
          </p:nvSpPr>
          <p:spPr>
            <a:xfrm>
              <a:off x="2286000" y="3511296"/>
              <a:ext cx="0" cy="410209"/>
            </a:xfrm>
            <a:custGeom>
              <a:avLst/>
              <a:gdLst/>
              <a:ahLst/>
              <a:cxnLst/>
              <a:rect l="l" t="t" r="r" b="b"/>
              <a:pathLst>
                <a:path h="410210">
                  <a:moveTo>
                    <a:pt x="0" y="0"/>
                  </a:moveTo>
                  <a:lnTo>
                    <a:pt x="0" y="409955"/>
                  </a:lnTo>
                </a:path>
              </a:pathLst>
            </a:custGeom>
            <a:ln w="1219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2260092" y="3918204"/>
              <a:ext cx="52069" cy="50800"/>
            </a:xfrm>
            <a:custGeom>
              <a:avLst/>
              <a:gdLst/>
              <a:ahLst/>
              <a:cxnLst/>
              <a:rect l="l" t="t" r="r" b="b"/>
              <a:pathLst>
                <a:path w="52069" h="50800">
                  <a:moveTo>
                    <a:pt x="51815" y="0"/>
                  </a:moveTo>
                  <a:lnTo>
                    <a:pt x="0" y="0"/>
                  </a:lnTo>
                  <a:lnTo>
                    <a:pt x="25907" y="50292"/>
                  </a:lnTo>
                  <a:lnTo>
                    <a:pt x="51815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6705600" y="3511296"/>
              <a:ext cx="0" cy="410209"/>
            </a:xfrm>
            <a:custGeom>
              <a:avLst/>
              <a:gdLst/>
              <a:ahLst/>
              <a:cxnLst/>
              <a:rect l="l" t="t" r="r" b="b"/>
              <a:pathLst>
                <a:path h="410210">
                  <a:moveTo>
                    <a:pt x="0" y="0"/>
                  </a:moveTo>
                  <a:lnTo>
                    <a:pt x="0" y="409955"/>
                  </a:lnTo>
                </a:path>
              </a:pathLst>
            </a:custGeom>
            <a:ln w="1219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6679692" y="3918204"/>
              <a:ext cx="52069" cy="50800"/>
            </a:xfrm>
            <a:custGeom>
              <a:avLst/>
              <a:gdLst/>
              <a:ahLst/>
              <a:cxnLst/>
              <a:rect l="l" t="t" r="r" b="b"/>
              <a:pathLst>
                <a:path w="52070" h="50800">
                  <a:moveTo>
                    <a:pt x="51815" y="0"/>
                  </a:moveTo>
                  <a:lnTo>
                    <a:pt x="0" y="0"/>
                  </a:lnTo>
                  <a:lnTo>
                    <a:pt x="25907" y="50292"/>
                  </a:lnTo>
                  <a:lnTo>
                    <a:pt x="51815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0" name="object 30"/>
          <p:cNvGrpSpPr/>
          <p:nvPr/>
        </p:nvGrpSpPr>
        <p:grpSpPr>
          <a:xfrm>
            <a:off x="2279904" y="4654296"/>
            <a:ext cx="4432300" cy="1066800"/>
            <a:chOff x="2279904" y="4654296"/>
            <a:chExt cx="4432300" cy="1066800"/>
          </a:xfrm>
        </p:grpSpPr>
        <p:sp>
          <p:nvSpPr>
            <p:cNvPr id="31" name="object 31"/>
            <p:cNvSpPr/>
            <p:nvPr/>
          </p:nvSpPr>
          <p:spPr>
            <a:xfrm>
              <a:off x="2286000" y="4654296"/>
              <a:ext cx="4419600" cy="1019810"/>
            </a:xfrm>
            <a:custGeom>
              <a:avLst/>
              <a:gdLst/>
              <a:ahLst/>
              <a:cxnLst/>
              <a:rect l="l" t="t" r="r" b="b"/>
              <a:pathLst>
                <a:path w="4419600" h="1019810">
                  <a:moveTo>
                    <a:pt x="0" y="0"/>
                  </a:moveTo>
                  <a:lnTo>
                    <a:pt x="0" y="533399"/>
                  </a:lnTo>
                </a:path>
                <a:path w="4419600" h="1019810">
                  <a:moveTo>
                    <a:pt x="4419600" y="0"/>
                  </a:moveTo>
                  <a:lnTo>
                    <a:pt x="4419600" y="533399"/>
                  </a:lnTo>
                </a:path>
                <a:path w="4419600" h="1019810">
                  <a:moveTo>
                    <a:pt x="0" y="533399"/>
                  </a:moveTo>
                  <a:lnTo>
                    <a:pt x="4419600" y="533399"/>
                  </a:lnTo>
                </a:path>
                <a:path w="4419600" h="1019810">
                  <a:moveTo>
                    <a:pt x="2286000" y="533399"/>
                  </a:moveTo>
                  <a:lnTo>
                    <a:pt x="2286000" y="1019555"/>
                  </a:lnTo>
                </a:path>
              </a:pathLst>
            </a:custGeom>
            <a:ln w="1219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4546092" y="5670804"/>
              <a:ext cx="52069" cy="50800"/>
            </a:xfrm>
            <a:custGeom>
              <a:avLst/>
              <a:gdLst/>
              <a:ahLst/>
              <a:cxnLst/>
              <a:rect l="l" t="t" r="r" b="b"/>
              <a:pathLst>
                <a:path w="52070" h="50800">
                  <a:moveTo>
                    <a:pt x="51816" y="0"/>
                  </a:moveTo>
                  <a:lnTo>
                    <a:pt x="0" y="0"/>
                  </a:lnTo>
                  <a:lnTo>
                    <a:pt x="25908" y="50292"/>
                  </a:lnTo>
                  <a:lnTo>
                    <a:pt x="51816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3" name="object 33"/>
          <p:cNvSpPr txBox="1"/>
          <p:nvPr/>
        </p:nvSpPr>
        <p:spPr>
          <a:xfrm>
            <a:off x="4734814" y="223519"/>
            <a:ext cx="3303904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60" dirty="0">
                <a:solidFill>
                  <a:srgbClr val="FFFFFF"/>
                </a:solidFill>
                <a:latin typeface="Verdana"/>
                <a:cs typeface="Verdana"/>
              </a:rPr>
              <a:t>Bahria</a:t>
            </a:r>
            <a:r>
              <a:rPr sz="1600" spc="-8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110" dirty="0">
                <a:solidFill>
                  <a:srgbClr val="FFFFFF"/>
                </a:solidFill>
                <a:latin typeface="Verdana"/>
                <a:cs typeface="Verdana"/>
              </a:rPr>
              <a:t>University</a:t>
            </a:r>
            <a:r>
              <a:rPr sz="1600" spc="-6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30" dirty="0">
                <a:solidFill>
                  <a:srgbClr val="FFFFFF"/>
                </a:solidFill>
                <a:latin typeface="Verdana"/>
                <a:cs typeface="Verdana"/>
              </a:rPr>
              <a:t>Karachi</a:t>
            </a:r>
            <a:r>
              <a:rPr sz="1600" spc="-85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10" dirty="0">
                <a:solidFill>
                  <a:srgbClr val="FFFFFF"/>
                </a:solidFill>
                <a:latin typeface="Verdana"/>
                <a:cs typeface="Verdana"/>
              </a:rPr>
              <a:t>Campus</a:t>
            </a:r>
            <a:endParaRPr sz="160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543558" y="756361"/>
            <a:ext cx="5536565" cy="1244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184275" marR="5080" indent="-1172210">
              <a:lnSpc>
                <a:spcPct val="100000"/>
              </a:lnSpc>
              <a:spcBef>
                <a:spcPts val="95"/>
              </a:spcBef>
            </a:pPr>
            <a:r>
              <a:rPr spc="-409" dirty="0"/>
              <a:t>DIVIDE</a:t>
            </a:r>
            <a:r>
              <a:rPr spc="-60" dirty="0"/>
              <a:t> </a:t>
            </a:r>
            <a:r>
              <a:rPr dirty="0"/>
              <a:t>AND</a:t>
            </a:r>
            <a:r>
              <a:rPr spc="-220" dirty="0"/>
              <a:t> </a:t>
            </a:r>
            <a:r>
              <a:rPr spc="-65" dirty="0"/>
              <a:t>CONQUER </a:t>
            </a:r>
            <a:r>
              <a:rPr spc="-295" dirty="0"/>
              <a:t>ALGORITHMS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86841" y="2254757"/>
            <a:ext cx="6346825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95"/>
              </a:spcBef>
              <a:buClr>
                <a:srgbClr val="5BB9F6"/>
              </a:buClr>
              <a:buFont typeface="Wingdings"/>
              <a:buChar char=""/>
              <a:tabLst>
                <a:tab pos="355600" algn="l"/>
              </a:tabLst>
            </a:pPr>
            <a:r>
              <a:rPr sz="2200" spc="-40" dirty="0">
                <a:latin typeface="Verdana"/>
                <a:cs typeface="Verdana"/>
              </a:rPr>
              <a:t>Based</a:t>
            </a:r>
            <a:r>
              <a:rPr sz="2200" spc="-155" dirty="0">
                <a:latin typeface="Verdana"/>
                <a:cs typeface="Verdana"/>
              </a:rPr>
              <a:t> </a:t>
            </a:r>
            <a:r>
              <a:rPr sz="2200" dirty="0">
                <a:latin typeface="Verdana"/>
                <a:cs typeface="Verdana"/>
              </a:rPr>
              <a:t>on</a:t>
            </a:r>
            <a:r>
              <a:rPr sz="2200" spc="-130" dirty="0">
                <a:latin typeface="Verdana"/>
                <a:cs typeface="Verdana"/>
              </a:rPr>
              <a:t> </a:t>
            </a:r>
            <a:r>
              <a:rPr sz="2200" spc="-45" dirty="0">
                <a:latin typeface="Verdana"/>
                <a:cs typeface="Verdana"/>
              </a:rPr>
              <a:t>dividing</a:t>
            </a:r>
            <a:r>
              <a:rPr sz="2200" spc="-170" dirty="0">
                <a:latin typeface="Verdana"/>
                <a:cs typeface="Verdana"/>
              </a:rPr>
              <a:t> </a:t>
            </a:r>
            <a:r>
              <a:rPr sz="2200" spc="-25" dirty="0">
                <a:latin typeface="Verdana"/>
                <a:cs typeface="Verdana"/>
              </a:rPr>
              <a:t>problem</a:t>
            </a:r>
            <a:r>
              <a:rPr sz="2200" spc="-160" dirty="0">
                <a:latin typeface="Verdana"/>
                <a:cs typeface="Verdana"/>
              </a:rPr>
              <a:t> </a:t>
            </a:r>
            <a:r>
              <a:rPr sz="2200" spc="-65" dirty="0">
                <a:latin typeface="Verdana"/>
                <a:cs typeface="Verdana"/>
              </a:rPr>
              <a:t>into</a:t>
            </a:r>
            <a:r>
              <a:rPr sz="2200" spc="-235" dirty="0">
                <a:latin typeface="Verdana"/>
                <a:cs typeface="Verdana"/>
              </a:rPr>
              <a:t> </a:t>
            </a:r>
            <a:r>
              <a:rPr sz="2200" spc="-35" dirty="0">
                <a:latin typeface="Verdana"/>
                <a:cs typeface="Verdana"/>
              </a:rPr>
              <a:t>subproblems</a:t>
            </a:r>
            <a:endParaRPr sz="2200">
              <a:latin typeface="Verdana"/>
              <a:cs typeface="Verdan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299831" y="4289552"/>
            <a:ext cx="176530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200" spc="-290" dirty="0">
                <a:latin typeface="Verdana"/>
                <a:cs typeface="Verdana"/>
              </a:rPr>
              <a:t>If</a:t>
            </a:r>
            <a:endParaRPr sz="2200">
              <a:latin typeface="Verdana"/>
              <a:cs typeface="Verdan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044346" y="2551706"/>
            <a:ext cx="7126605" cy="35280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697865" marR="1652905" indent="-685800">
              <a:lnSpc>
                <a:spcPct val="120000"/>
              </a:lnSpc>
              <a:spcBef>
                <a:spcPts val="95"/>
              </a:spcBef>
              <a:buClr>
                <a:srgbClr val="5BB9F6"/>
              </a:buClr>
              <a:buFont typeface="Wingdings"/>
              <a:buChar char=""/>
              <a:tabLst>
                <a:tab pos="697865" algn="l"/>
              </a:tabLst>
            </a:pPr>
            <a:r>
              <a:rPr sz="2200" b="1" spc="-55" dirty="0">
                <a:latin typeface="Tahoma"/>
                <a:cs typeface="Tahoma"/>
              </a:rPr>
              <a:t>Divide</a:t>
            </a:r>
            <a:r>
              <a:rPr sz="2200" b="1" spc="-45" dirty="0">
                <a:latin typeface="Tahoma"/>
                <a:cs typeface="Tahoma"/>
              </a:rPr>
              <a:t> </a:t>
            </a:r>
            <a:r>
              <a:rPr sz="2200" spc="-20" dirty="0">
                <a:latin typeface="Verdana"/>
                <a:cs typeface="Verdana"/>
              </a:rPr>
              <a:t>problem</a:t>
            </a:r>
            <a:r>
              <a:rPr sz="2200" spc="-195" dirty="0">
                <a:latin typeface="Verdana"/>
                <a:cs typeface="Verdana"/>
              </a:rPr>
              <a:t> </a:t>
            </a:r>
            <a:r>
              <a:rPr sz="2200" spc="-65" dirty="0">
                <a:latin typeface="Verdana"/>
                <a:cs typeface="Verdana"/>
              </a:rPr>
              <a:t>into</a:t>
            </a:r>
            <a:r>
              <a:rPr sz="2200" spc="-185" dirty="0">
                <a:latin typeface="Verdana"/>
                <a:cs typeface="Verdana"/>
              </a:rPr>
              <a:t> </a:t>
            </a:r>
            <a:r>
              <a:rPr sz="2200" spc="-130" dirty="0">
                <a:latin typeface="Verdana"/>
                <a:cs typeface="Verdana"/>
              </a:rPr>
              <a:t>Sub</a:t>
            </a:r>
            <a:r>
              <a:rPr sz="2200" spc="-114" dirty="0">
                <a:latin typeface="Verdana"/>
                <a:cs typeface="Verdana"/>
              </a:rPr>
              <a:t> </a:t>
            </a:r>
            <a:r>
              <a:rPr sz="2200" spc="-10" dirty="0">
                <a:latin typeface="Verdana"/>
                <a:cs typeface="Verdana"/>
              </a:rPr>
              <a:t>problems </a:t>
            </a:r>
            <a:r>
              <a:rPr sz="2200" spc="-75" dirty="0">
                <a:latin typeface="Verdana"/>
                <a:cs typeface="Verdana"/>
              </a:rPr>
              <a:t>Subproblems</a:t>
            </a:r>
            <a:r>
              <a:rPr sz="2200" spc="-200" dirty="0">
                <a:latin typeface="Verdana"/>
                <a:cs typeface="Verdana"/>
              </a:rPr>
              <a:t> </a:t>
            </a:r>
            <a:r>
              <a:rPr sz="2200" spc="-140" dirty="0">
                <a:latin typeface="Verdana"/>
                <a:cs typeface="Verdana"/>
              </a:rPr>
              <a:t>must </a:t>
            </a:r>
            <a:r>
              <a:rPr sz="2200" spc="105" dirty="0">
                <a:latin typeface="Verdana"/>
                <a:cs typeface="Verdana"/>
              </a:rPr>
              <a:t>be</a:t>
            </a:r>
            <a:r>
              <a:rPr sz="2200" spc="-140" dirty="0">
                <a:latin typeface="Verdana"/>
                <a:cs typeface="Verdana"/>
              </a:rPr>
              <a:t> </a:t>
            </a:r>
            <a:r>
              <a:rPr sz="2200" dirty="0">
                <a:latin typeface="Verdana"/>
                <a:cs typeface="Verdana"/>
              </a:rPr>
              <a:t>of</a:t>
            </a:r>
            <a:r>
              <a:rPr sz="2200" spc="-180" dirty="0">
                <a:latin typeface="Verdana"/>
                <a:cs typeface="Verdana"/>
              </a:rPr>
              <a:t> </a:t>
            </a:r>
            <a:r>
              <a:rPr sz="2200" spc="-30" dirty="0">
                <a:latin typeface="Verdana"/>
                <a:cs typeface="Verdana"/>
              </a:rPr>
              <a:t>same</a:t>
            </a:r>
            <a:r>
              <a:rPr sz="2200" spc="-145" dirty="0">
                <a:latin typeface="Verdana"/>
                <a:cs typeface="Verdana"/>
              </a:rPr>
              <a:t> </a:t>
            </a:r>
            <a:r>
              <a:rPr sz="2200" spc="-20" dirty="0">
                <a:latin typeface="Verdana"/>
                <a:cs typeface="Verdana"/>
              </a:rPr>
              <a:t>type </a:t>
            </a:r>
            <a:r>
              <a:rPr sz="2200" spc="-80" dirty="0">
                <a:latin typeface="Verdana"/>
                <a:cs typeface="Verdana"/>
              </a:rPr>
              <a:t>Subproblems</a:t>
            </a:r>
            <a:r>
              <a:rPr sz="2200" spc="-185" dirty="0">
                <a:latin typeface="Verdana"/>
                <a:cs typeface="Verdana"/>
              </a:rPr>
              <a:t> </a:t>
            </a:r>
            <a:r>
              <a:rPr sz="2200" spc="105" dirty="0">
                <a:latin typeface="Verdana"/>
                <a:cs typeface="Verdana"/>
              </a:rPr>
              <a:t>do</a:t>
            </a:r>
            <a:r>
              <a:rPr sz="2200" spc="-140" dirty="0">
                <a:latin typeface="Verdana"/>
                <a:cs typeface="Verdana"/>
              </a:rPr>
              <a:t> </a:t>
            </a:r>
            <a:r>
              <a:rPr sz="2200" spc="-35" dirty="0">
                <a:latin typeface="Verdana"/>
                <a:cs typeface="Verdana"/>
              </a:rPr>
              <a:t>not</a:t>
            </a:r>
            <a:r>
              <a:rPr sz="2200" spc="-160" dirty="0">
                <a:latin typeface="Verdana"/>
                <a:cs typeface="Verdana"/>
              </a:rPr>
              <a:t> </a:t>
            </a:r>
            <a:r>
              <a:rPr sz="2200" spc="60" dirty="0">
                <a:latin typeface="Verdana"/>
                <a:cs typeface="Verdana"/>
              </a:rPr>
              <a:t>need</a:t>
            </a:r>
            <a:r>
              <a:rPr sz="2200" spc="-145" dirty="0">
                <a:latin typeface="Verdana"/>
                <a:cs typeface="Verdana"/>
              </a:rPr>
              <a:t> </a:t>
            </a:r>
            <a:r>
              <a:rPr sz="2200" spc="-25" dirty="0">
                <a:latin typeface="Verdana"/>
                <a:cs typeface="Verdana"/>
              </a:rPr>
              <a:t>to </a:t>
            </a:r>
            <a:r>
              <a:rPr sz="2200" spc="-10" dirty="0">
                <a:latin typeface="Verdana"/>
                <a:cs typeface="Verdana"/>
              </a:rPr>
              <a:t>overlap</a:t>
            </a:r>
            <a:endParaRPr sz="2200">
              <a:latin typeface="Verdana"/>
              <a:cs typeface="Verdana"/>
            </a:endParaRPr>
          </a:p>
          <a:p>
            <a:pPr marL="354965" indent="-342265">
              <a:lnSpc>
                <a:spcPct val="100000"/>
              </a:lnSpc>
              <a:spcBef>
                <a:spcPts val="1010"/>
              </a:spcBef>
              <a:buClr>
                <a:srgbClr val="5BB9F6"/>
              </a:buClr>
              <a:buFont typeface="Wingdings"/>
              <a:buChar char=""/>
              <a:tabLst>
                <a:tab pos="354965" algn="l"/>
              </a:tabLst>
            </a:pPr>
            <a:r>
              <a:rPr sz="2200" b="1" dirty="0">
                <a:latin typeface="Tahoma"/>
                <a:cs typeface="Tahoma"/>
              </a:rPr>
              <a:t>Conquer</a:t>
            </a:r>
            <a:r>
              <a:rPr sz="2200" b="1" spc="20" dirty="0">
                <a:latin typeface="Tahoma"/>
                <a:cs typeface="Tahoma"/>
              </a:rPr>
              <a:t> </a:t>
            </a:r>
            <a:r>
              <a:rPr sz="2200" dirty="0">
                <a:latin typeface="Verdana"/>
                <a:cs typeface="Verdana"/>
              </a:rPr>
              <a:t>by</a:t>
            </a:r>
            <a:r>
              <a:rPr sz="2200" spc="-150" dirty="0">
                <a:latin typeface="Verdana"/>
                <a:cs typeface="Verdana"/>
              </a:rPr>
              <a:t> </a:t>
            </a:r>
            <a:r>
              <a:rPr sz="2200" spc="-90" dirty="0">
                <a:latin typeface="Verdana"/>
                <a:cs typeface="Verdana"/>
              </a:rPr>
              <a:t>solving</a:t>
            </a:r>
            <a:r>
              <a:rPr sz="2200" spc="-175" dirty="0">
                <a:latin typeface="Verdana"/>
                <a:cs typeface="Verdana"/>
              </a:rPr>
              <a:t> </a:t>
            </a:r>
            <a:r>
              <a:rPr sz="2200" spc="-145" dirty="0">
                <a:latin typeface="Verdana"/>
                <a:cs typeface="Verdana"/>
              </a:rPr>
              <a:t>sub-</a:t>
            </a:r>
            <a:r>
              <a:rPr sz="2200" spc="-50" dirty="0">
                <a:latin typeface="Verdana"/>
                <a:cs typeface="Verdana"/>
              </a:rPr>
              <a:t>problems</a:t>
            </a:r>
            <a:r>
              <a:rPr sz="2200" spc="-150" dirty="0">
                <a:latin typeface="Verdana"/>
                <a:cs typeface="Verdana"/>
              </a:rPr>
              <a:t> </a:t>
            </a:r>
            <a:r>
              <a:rPr sz="2200" spc="-10" dirty="0">
                <a:latin typeface="Verdana"/>
                <a:cs typeface="Verdana"/>
              </a:rPr>
              <a:t>recursively.</a:t>
            </a:r>
            <a:endParaRPr sz="2200">
              <a:latin typeface="Verdana"/>
              <a:cs typeface="Verdana"/>
            </a:endParaRPr>
          </a:p>
          <a:p>
            <a:pPr marL="354965" marR="5080">
              <a:lnSpc>
                <a:spcPct val="100000"/>
              </a:lnSpc>
              <a:tabLst>
                <a:tab pos="6885305" algn="l"/>
              </a:tabLst>
            </a:pPr>
            <a:r>
              <a:rPr sz="2200" spc="-25" dirty="0">
                <a:latin typeface="Verdana"/>
                <a:cs typeface="Verdana"/>
              </a:rPr>
              <a:t>the</a:t>
            </a:r>
            <a:r>
              <a:rPr sz="2200" spc="-165" dirty="0">
                <a:latin typeface="Verdana"/>
                <a:cs typeface="Verdana"/>
              </a:rPr>
              <a:t> </a:t>
            </a:r>
            <a:r>
              <a:rPr sz="2200" spc="-140" dirty="0">
                <a:latin typeface="Verdana"/>
                <a:cs typeface="Verdana"/>
              </a:rPr>
              <a:t>sub-</a:t>
            </a:r>
            <a:r>
              <a:rPr sz="2200" spc="-55" dirty="0">
                <a:latin typeface="Verdana"/>
                <a:cs typeface="Verdana"/>
              </a:rPr>
              <a:t>problems</a:t>
            </a:r>
            <a:r>
              <a:rPr sz="2200" spc="-145" dirty="0">
                <a:latin typeface="Verdana"/>
                <a:cs typeface="Verdana"/>
              </a:rPr>
              <a:t> </a:t>
            </a:r>
            <a:r>
              <a:rPr sz="2200" dirty="0">
                <a:latin typeface="Verdana"/>
                <a:cs typeface="Verdana"/>
              </a:rPr>
              <a:t>are</a:t>
            </a:r>
            <a:r>
              <a:rPr sz="2200" spc="-165" dirty="0">
                <a:latin typeface="Verdana"/>
                <a:cs typeface="Verdana"/>
              </a:rPr>
              <a:t> </a:t>
            </a:r>
            <a:r>
              <a:rPr sz="2200" spc="-114" dirty="0">
                <a:latin typeface="Verdana"/>
                <a:cs typeface="Verdana"/>
              </a:rPr>
              <a:t>small</a:t>
            </a:r>
            <a:r>
              <a:rPr sz="2200" spc="-145" dirty="0">
                <a:latin typeface="Verdana"/>
                <a:cs typeface="Verdana"/>
              </a:rPr>
              <a:t> </a:t>
            </a:r>
            <a:r>
              <a:rPr sz="2200" spc="-10" dirty="0">
                <a:latin typeface="Verdana"/>
                <a:cs typeface="Verdana"/>
              </a:rPr>
              <a:t>enough,</a:t>
            </a:r>
            <a:r>
              <a:rPr sz="2200" spc="-145" dirty="0">
                <a:latin typeface="Verdana"/>
                <a:cs typeface="Verdana"/>
              </a:rPr>
              <a:t> </a:t>
            </a:r>
            <a:r>
              <a:rPr sz="2200" spc="-80" dirty="0">
                <a:latin typeface="Verdana"/>
                <a:cs typeface="Verdana"/>
              </a:rPr>
              <a:t>solve</a:t>
            </a:r>
            <a:r>
              <a:rPr sz="2200" spc="-150" dirty="0">
                <a:latin typeface="Verdana"/>
                <a:cs typeface="Verdana"/>
              </a:rPr>
              <a:t> </a:t>
            </a:r>
            <a:r>
              <a:rPr sz="2200" spc="-20" dirty="0">
                <a:latin typeface="Verdana"/>
                <a:cs typeface="Verdana"/>
              </a:rPr>
              <a:t>them</a:t>
            </a:r>
            <a:r>
              <a:rPr sz="2200" dirty="0">
                <a:latin typeface="Verdana"/>
                <a:cs typeface="Verdana"/>
              </a:rPr>
              <a:t>	</a:t>
            </a:r>
            <a:r>
              <a:rPr sz="2200" spc="-120" dirty="0">
                <a:latin typeface="Verdana"/>
                <a:cs typeface="Verdana"/>
              </a:rPr>
              <a:t>in </a:t>
            </a:r>
            <a:r>
              <a:rPr sz="2200" spc="-60" dirty="0">
                <a:latin typeface="Verdana"/>
                <a:cs typeface="Verdana"/>
              </a:rPr>
              <a:t>brute</a:t>
            </a:r>
            <a:r>
              <a:rPr sz="2200" spc="-130" dirty="0">
                <a:latin typeface="Verdana"/>
                <a:cs typeface="Verdana"/>
              </a:rPr>
              <a:t> </a:t>
            </a:r>
            <a:r>
              <a:rPr sz="2200" dirty="0">
                <a:latin typeface="Verdana"/>
                <a:cs typeface="Verdana"/>
              </a:rPr>
              <a:t>force</a:t>
            </a:r>
            <a:r>
              <a:rPr sz="2200" spc="-75" dirty="0">
                <a:latin typeface="Verdana"/>
                <a:cs typeface="Verdana"/>
              </a:rPr>
              <a:t> </a:t>
            </a:r>
            <a:r>
              <a:rPr sz="2200" spc="-10" dirty="0">
                <a:latin typeface="Verdana"/>
                <a:cs typeface="Verdana"/>
              </a:rPr>
              <a:t>fashion</a:t>
            </a:r>
            <a:endParaRPr sz="2200">
              <a:latin typeface="Verdana"/>
              <a:cs typeface="Verdana"/>
            </a:endParaRPr>
          </a:p>
          <a:p>
            <a:pPr marL="342265" marR="685165" indent="-342265" algn="ctr">
              <a:lnSpc>
                <a:spcPct val="100000"/>
              </a:lnSpc>
              <a:spcBef>
                <a:spcPts val="700"/>
              </a:spcBef>
              <a:buClr>
                <a:srgbClr val="5BB9F6"/>
              </a:buClr>
              <a:buFont typeface="Wingdings"/>
              <a:buChar char=""/>
              <a:tabLst>
                <a:tab pos="342265" algn="l"/>
              </a:tabLst>
            </a:pPr>
            <a:r>
              <a:rPr sz="2200" b="1" dirty="0">
                <a:latin typeface="Tahoma"/>
                <a:cs typeface="Tahoma"/>
              </a:rPr>
              <a:t>Combine</a:t>
            </a:r>
            <a:r>
              <a:rPr sz="2200" b="1" spc="40" dirty="0">
                <a:latin typeface="Tahoma"/>
                <a:cs typeface="Tahoma"/>
              </a:rPr>
              <a:t> </a:t>
            </a:r>
            <a:r>
              <a:rPr sz="2200" spc="-30" dirty="0">
                <a:latin typeface="Verdana"/>
                <a:cs typeface="Verdana"/>
              </a:rPr>
              <a:t>the</a:t>
            </a:r>
            <a:r>
              <a:rPr sz="2200" spc="-140" dirty="0">
                <a:latin typeface="Verdana"/>
                <a:cs typeface="Verdana"/>
              </a:rPr>
              <a:t> </a:t>
            </a:r>
            <a:r>
              <a:rPr sz="2200" spc="-120" dirty="0">
                <a:latin typeface="Verdana"/>
                <a:cs typeface="Verdana"/>
              </a:rPr>
              <a:t>solutions</a:t>
            </a:r>
            <a:r>
              <a:rPr sz="2200" spc="-155" dirty="0">
                <a:latin typeface="Verdana"/>
                <a:cs typeface="Verdana"/>
              </a:rPr>
              <a:t> </a:t>
            </a:r>
            <a:r>
              <a:rPr sz="2200" dirty="0">
                <a:latin typeface="Verdana"/>
                <a:cs typeface="Verdana"/>
              </a:rPr>
              <a:t>of</a:t>
            </a:r>
            <a:r>
              <a:rPr sz="2200" spc="-114" dirty="0">
                <a:latin typeface="Verdana"/>
                <a:cs typeface="Verdana"/>
              </a:rPr>
              <a:t> </a:t>
            </a:r>
            <a:r>
              <a:rPr sz="2200" spc="-140" dirty="0">
                <a:latin typeface="Verdana"/>
                <a:cs typeface="Verdana"/>
              </a:rPr>
              <a:t>sub-</a:t>
            </a:r>
            <a:r>
              <a:rPr sz="2200" spc="-55" dirty="0">
                <a:latin typeface="Verdana"/>
                <a:cs typeface="Verdana"/>
              </a:rPr>
              <a:t>problems</a:t>
            </a:r>
            <a:r>
              <a:rPr sz="2200" spc="-114" dirty="0">
                <a:latin typeface="Verdana"/>
                <a:cs typeface="Verdana"/>
              </a:rPr>
              <a:t> </a:t>
            </a:r>
            <a:r>
              <a:rPr sz="2200" spc="-65" dirty="0">
                <a:latin typeface="Verdana"/>
                <a:cs typeface="Verdana"/>
              </a:rPr>
              <a:t>into</a:t>
            </a:r>
            <a:r>
              <a:rPr sz="2200" spc="-155" dirty="0">
                <a:latin typeface="Verdana"/>
                <a:cs typeface="Verdana"/>
              </a:rPr>
              <a:t> </a:t>
            </a:r>
            <a:r>
              <a:rPr sz="2200" spc="120" dirty="0">
                <a:latin typeface="Verdana"/>
                <a:cs typeface="Verdana"/>
              </a:rPr>
              <a:t>a</a:t>
            </a:r>
            <a:endParaRPr sz="2200">
              <a:latin typeface="Verdana"/>
              <a:cs typeface="Verdana"/>
            </a:endParaRPr>
          </a:p>
          <a:p>
            <a:pPr marR="626745" algn="ctr">
              <a:lnSpc>
                <a:spcPct val="100000"/>
              </a:lnSpc>
            </a:pPr>
            <a:r>
              <a:rPr sz="2200" spc="-90" dirty="0">
                <a:latin typeface="Verdana"/>
                <a:cs typeface="Verdana"/>
              </a:rPr>
              <a:t>solution</a:t>
            </a:r>
            <a:r>
              <a:rPr sz="2200" spc="-170" dirty="0">
                <a:latin typeface="Verdana"/>
                <a:cs typeface="Verdana"/>
              </a:rPr>
              <a:t> </a:t>
            </a:r>
            <a:r>
              <a:rPr sz="2200" dirty="0">
                <a:latin typeface="Verdana"/>
                <a:cs typeface="Verdana"/>
              </a:rPr>
              <a:t>of</a:t>
            </a:r>
            <a:r>
              <a:rPr sz="2200" spc="-120" dirty="0">
                <a:latin typeface="Verdana"/>
                <a:cs typeface="Verdana"/>
              </a:rPr>
              <a:t> </a:t>
            </a:r>
            <a:r>
              <a:rPr sz="2200" spc="-30" dirty="0">
                <a:latin typeface="Verdana"/>
                <a:cs typeface="Verdana"/>
              </a:rPr>
              <a:t>the</a:t>
            </a:r>
            <a:r>
              <a:rPr sz="2200" spc="-155" dirty="0">
                <a:latin typeface="Verdana"/>
                <a:cs typeface="Verdana"/>
              </a:rPr>
              <a:t> </a:t>
            </a:r>
            <a:r>
              <a:rPr sz="2200" spc="-65" dirty="0">
                <a:latin typeface="Verdana"/>
                <a:cs typeface="Verdana"/>
              </a:rPr>
              <a:t>original</a:t>
            </a:r>
            <a:r>
              <a:rPr sz="2200" spc="-185" dirty="0">
                <a:latin typeface="Verdana"/>
                <a:cs typeface="Verdana"/>
              </a:rPr>
              <a:t> </a:t>
            </a:r>
            <a:r>
              <a:rPr sz="2200" spc="-20" dirty="0">
                <a:latin typeface="Verdana"/>
                <a:cs typeface="Verdana"/>
              </a:rPr>
              <a:t>problem</a:t>
            </a:r>
            <a:r>
              <a:rPr sz="2200" spc="-165" dirty="0">
                <a:latin typeface="Verdana"/>
                <a:cs typeface="Verdana"/>
              </a:rPr>
              <a:t> </a:t>
            </a:r>
            <a:r>
              <a:rPr sz="2200" spc="-135" dirty="0">
                <a:latin typeface="Verdana"/>
                <a:cs typeface="Verdana"/>
              </a:rPr>
              <a:t>(tricky</a:t>
            </a:r>
            <a:r>
              <a:rPr sz="2200" spc="-100" dirty="0">
                <a:latin typeface="Verdana"/>
                <a:cs typeface="Verdana"/>
              </a:rPr>
              <a:t> </a:t>
            </a:r>
            <a:r>
              <a:rPr sz="2200" spc="-10" dirty="0">
                <a:latin typeface="Verdana"/>
                <a:cs typeface="Verdana"/>
              </a:rPr>
              <a:t>part)</a:t>
            </a:r>
            <a:endParaRPr sz="2200">
              <a:latin typeface="Verdana"/>
              <a:cs typeface="Verdan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734814" y="223519"/>
            <a:ext cx="3303904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60" dirty="0">
                <a:solidFill>
                  <a:srgbClr val="FFFFFF"/>
                </a:solidFill>
                <a:latin typeface="Verdana"/>
                <a:cs typeface="Verdana"/>
              </a:rPr>
              <a:t>Bahria</a:t>
            </a:r>
            <a:r>
              <a:rPr sz="1600" spc="-8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110" dirty="0">
                <a:solidFill>
                  <a:srgbClr val="FFFFFF"/>
                </a:solidFill>
                <a:latin typeface="Verdana"/>
                <a:cs typeface="Verdana"/>
              </a:rPr>
              <a:t>University</a:t>
            </a:r>
            <a:r>
              <a:rPr sz="1600" spc="-6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30" dirty="0">
                <a:solidFill>
                  <a:srgbClr val="FFFFFF"/>
                </a:solidFill>
                <a:latin typeface="Verdana"/>
                <a:cs typeface="Verdana"/>
              </a:rPr>
              <a:t>Karachi</a:t>
            </a:r>
            <a:r>
              <a:rPr sz="1600" spc="-85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10" dirty="0">
                <a:solidFill>
                  <a:srgbClr val="FFFFFF"/>
                </a:solidFill>
                <a:latin typeface="Verdana"/>
                <a:cs typeface="Verdana"/>
              </a:rPr>
              <a:t>Campus</a:t>
            </a:r>
            <a:endParaRPr sz="160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8529" rIns="0" bIns="0" rtlCol="0">
            <a:spAutoFit/>
          </a:bodyPr>
          <a:lstStyle/>
          <a:p>
            <a:pPr marL="2654935">
              <a:lnSpc>
                <a:spcPct val="100000"/>
              </a:lnSpc>
              <a:spcBef>
                <a:spcPts val="105"/>
              </a:spcBef>
            </a:pPr>
            <a:r>
              <a:rPr sz="4400" spc="-175" dirty="0"/>
              <a:t>D-</a:t>
            </a:r>
            <a:r>
              <a:rPr sz="4400" spc="80" dirty="0"/>
              <a:t>A-</a:t>
            </a:r>
            <a:r>
              <a:rPr sz="4400" spc="420" dirty="0"/>
              <a:t>C</a:t>
            </a:r>
            <a:endParaRPr sz="4400"/>
          </a:p>
        </p:txBody>
      </p:sp>
      <p:sp>
        <p:nvSpPr>
          <p:cNvPr id="3" name="object 3"/>
          <p:cNvSpPr txBox="1"/>
          <p:nvPr/>
        </p:nvSpPr>
        <p:spPr>
          <a:xfrm>
            <a:off x="534111" y="1897456"/>
            <a:ext cx="7706995" cy="45986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469900" marR="525145" indent="-457834">
              <a:lnSpc>
                <a:spcPct val="100000"/>
              </a:lnSpc>
              <a:spcBef>
                <a:spcPts val="95"/>
              </a:spcBef>
              <a:buClr>
                <a:srgbClr val="5BB9F6"/>
              </a:buClr>
              <a:buFont typeface="Wingdings"/>
              <a:buChar char=""/>
              <a:tabLst>
                <a:tab pos="469900" algn="l"/>
              </a:tabLst>
            </a:pPr>
            <a:r>
              <a:rPr sz="2800" spc="-175" dirty="0">
                <a:latin typeface="Verdana"/>
                <a:cs typeface="Verdana"/>
              </a:rPr>
              <a:t>For</a:t>
            </a:r>
            <a:r>
              <a:rPr sz="2800" spc="-150" dirty="0">
                <a:latin typeface="Verdana"/>
                <a:cs typeface="Verdana"/>
              </a:rPr>
              <a:t> </a:t>
            </a:r>
            <a:r>
              <a:rPr sz="2800" spc="-100" dirty="0">
                <a:latin typeface="Verdana"/>
                <a:cs typeface="Verdana"/>
              </a:rPr>
              <a:t>Divide-</a:t>
            </a:r>
            <a:r>
              <a:rPr sz="2800" spc="-25" dirty="0">
                <a:latin typeface="Verdana"/>
                <a:cs typeface="Verdana"/>
              </a:rPr>
              <a:t>and-</a:t>
            </a:r>
            <a:r>
              <a:rPr sz="2800" dirty="0">
                <a:latin typeface="Verdana"/>
                <a:cs typeface="Verdana"/>
              </a:rPr>
              <a:t>Conquer</a:t>
            </a:r>
            <a:r>
              <a:rPr sz="2800" spc="-100" dirty="0">
                <a:latin typeface="Verdana"/>
                <a:cs typeface="Verdana"/>
              </a:rPr>
              <a:t> </a:t>
            </a:r>
            <a:r>
              <a:rPr sz="2800" spc="-105" dirty="0">
                <a:latin typeface="Verdana"/>
                <a:cs typeface="Verdana"/>
              </a:rPr>
              <a:t>algorithms</a:t>
            </a:r>
            <a:r>
              <a:rPr sz="2800" spc="-110" dirty="0">
                <a:latin typeface="Verdana"/>
                <a:cs typeface="Verdana"/>
              </a:rPr>
              <a:t> </a:t>
            </a:r>
            <a:r>
              <a:rPr sz="2800" spc="-25" dirty="0">
                <a:latin typeface="Verdana"/>
                <a:cs typeface="Verdana"/>
              </a:rPr>
              <a:t>the </a:t>
            </a:r>
            <a:r>
              <a:rPr sz="2800" spc="-114" dirty="0">
                <a:latin typeface="Verdana"/>
                <a:cs typeface="Verdana"/>
              </a:rPr>
              <a:t>running</a:t>
            </a:r>
            <a:r>
              <a:rPr sz="2800" spc="-190" dirty="0">
                <a:latin typeface="Verdana"/>
                <a:cs typeface="Verdana"/>
              </a:rPr>
              <a:t> </a:t>
            </a:r>
            <a:r>
              <a:rPr sz="2800" spc="-85" dirty="0">
                <a:latin typeface="Verdana"/>
                <a:cs typeface="Verdana"/>
              </a:rPr>
              <a:t>time</a:t>
            </a:r>
            <a:r>
              <a:rPr sz="2800" spc="-175" dirty="0">
                <a:latin typeface="Verdana"/>
                <a:cs typeface="Verdana"/>
              </a:rPr>
              <a:t> </a:t>
            </a:r>
            <a:r>
              <a:rPr sz="2800" spc="-290" dirty="0">
                <a:latin typeface="Verdana"/>
                <a:cs typeface="Verdana"/>
              </a:rPr>
              <a:t>is</a:t>
            </a:r>
            <a:r>
              <a:rPr sz="2800" spc="-215" dirty="0">
                <a:latin typeface="Verdana"/>
                <a:cs typeface="Verdana"/>
              </a:rPr>
              <a:t> </a:t>
            </a:r>
            <a:r>
              <a:rPr sz="2800" spc="-105" dirty="0">
                <a:latin typeface="Verdana"/>
                <a:cs typeface="Verdana"/>
              </a:rPr>
              <a:t>mainly</a:t>
            </a:r>
            <a:r>
              <a:rPr sz="2800" spc="-180" dirty="0">
                <a:latin typeface="Verdana"/>
                <a:cs typeface="Verdana"/>
              </a:rPr>
              <a:t> </a:t>
            </a:r>
            <a:r>
              <a:rPr sz="2800" spc="65" dirty="0">
                <a:latin typeface="Verdana"/>
                <a:cs typeface="Verdana"/>
              </a:rPr>
              <a:t>affected</a:t>
            </a:r>
            <a:r>
              <a:rPr sz="2800" spc="-204" dirty="0">
                <a:latin typeface="Verdana"/>
                <a:cs typeface="Verdana"/>
              </a:rPr>
              <a:t> </a:t>
            </a:r>
            <a:r>
              <a:rPr sz="2800" spc="-10" dirty="0">
                <a:latin typeface="Verdana"/>
                <a:cs typeface="Verdana"/>
              </a:rPr>
              <a:t>by</a:t>
            </a:r>
            <a:r>
              <a:rPr sz="2800" spc="-195" dirty="0">
                <a:latin typeface="Verdana"/>
                <a:cs typeface="Verdana"/>
              </a:rPr>
              <a:t> </a:t>
            </a:r>
            <a:r>
              <a:rPr sz="2800" spc="-50" dirty="0">
                <a:latin typeface="Verdana"/>
                <a:cs typeface="Verdana"/>
              </a:rPr>
              <a:t>3 </a:t>
            </a:r>
            <a:r>
              <a:rPr sz="2800" spc="-20" dirty="0">
                <a:latin typeface="Verdana"/>
                <a:cs typeface="Verdana"/>
              </a:rPr>
              <a:t>criteria:</a:t>
            </a:r>
            <a:endParaRPr sz="2800">
              <a:latin typeface="Verdana"/>
              <a:cs typeface="Verdana"/>
            </a:endParaRPr>
          </a:p>
          <a:p>
            <a:pPr marL="469900" marR="5080" indent="-457834">
              <a:lnSpc>
                <a:spcPct val="100000"/>
              </a:lnSpc>
              <a:spcBef>
                <a:spcPts val="810"/>
              </a:spcBef>
              <a:buClr>
                <a:srgbClr val="5BB9F6"/>
              </a:buClr>
              <a:buFont typeface="Wingdings"/>
              <a:buChar char=""/>
              <a:tabLst>
                <a:tab pos="469900" algn="l"/>
                <a:tab pos="7450455" algn="l"/>
              </a:tabLst>
            </a:pPr>
            <a:r>
              <a:rPr sz="2800" spc="-155" dirty="0">
                <a:latin typeface="Verdana"/>
                <a:cs typeface="Verdana"/>
              </a:rPr>
              <a:t>The</a:t>
            </a:r>
            <a:r>
              <a:rPr sz="2800" spc="-220" dirty="0">
                <a:latin typeface="Verdana"/>
                <a:cs typeface="Verdana"/>
              </a:rPr>
              <a:t> </a:t>
            </a:r>
            <a:r>
              <a:rPr sz="2800" b="1" spc="-70" dirty="0">
                <a:latin typeface="Tahoma"/>
                <a:cs typeface="Tahoma"/>
              </a:rPr>
              <a:t>number</a:t>
            </a:r>
            <a:r>
              <a:rPr sz="2800" b="1" spc="-85" dirty="0">
                <a:latin typeface="Tahoma"/>
                <a:cs typeface="Tahoma"/>
              </a:rPr>
              <a:t> of</a:t>
            </a:r>
            <a:r>
              <a:rPr sz="2800" b="1" spc="-25" dirty="0">
                <a:latin typeface="Tahoma"/>
                <a:cs typeface="Tahoma"/>
              </a:rPr>
              <a:t> </a:t>
            </a:r>
            <a:r>
              <a:rPr sz="2800" b="1" spc="-85" dirty="0">
                <a:latin typeface="Tahoma"/>
                <a:cs typeface="Tahoma"/>
              </a:rPr>
              <a:t>sub-</a:t>
            </a:r>
            <a:r>
              <a:rPr sz="2800" b="1" spc="-75" dirty="0">
                <a:latin typeface="Tahoma"/>
                <a:cs typeface="Tahoma"/>
              </a:rPr>
              <a:t>instances</a:t>
            </a:r>
            <a:r>
              <a:rPr sz="2800" b="1" spc="-85" dirty="0">
                <a:latin typeface="Tahoma"/>
                <a:cs typeface="Tahoma"/>
              </a:rPr>
              <a:t> </a:t>
            </a:r>
            <a:r>
              <a:rPr sz="2800" spc="-80" dirty="0">
                <a:latin typeface="Verdana"/>
                <a:cs typeface="Verdana"/>
              </a:rPr>
              <a:t>into</a:t>
            </a:r>
            <a:r>
              <a:rPr sz="2800" spc="-240" dirty="0">
                <a:latin typeface="Verdana"/>
                <a:cs typeface="Verdana"/>
              </a:rPr>
              <a:t> </a:t>
            </a:r>
            <a:r>
              <a:rPr sz="2800" spc="-10" dirty="0">
                <a:latin typeface="Verdana"/>
                <a:cs typeface="Verdana"/>
              </a:rPr>
              <a:t>which</a:t>
            </a:r>
            <a:r>
              <a:rPr sz="2800" dirty="0">
                <a:latin typeface="Verdana"/>
                <a:cs typeface="Verdana"/>
              </a:rPr>
              <a:t>	</a:t>
            </a:r>
            <a:r>
              <a:rPr sz="2800" spc="165" dirty="0">
                <a:latin typeface="Verdana"/>
                <a:cs typeface="Verdana"/>
              </a:rPr>
              <a:t>a </a:t>
            </a:r>
            <a:r>
              <a:rPr sz="2800" spc="-10" dirty="0">
                <a:latin typeface="Verdana"/>
                <a:cs typeface="Verdana"/>
              </a:rPr>
              <a:t>problem</a:t>
            </a:r>
            <a:r>
              <a:rPr sz="2800" spc="-235" dirty="0">
                <a:latin typeface="Verdana"/>
                <a:cs typeface="Verdana"/>
              </a:rPr>
              <a:t> </a:t>
            </a:r>
            <a:r>
              <a:rPr sz="2800" spc="-290" dirty="0">
                <a:latin typeface="Verdana"/>
                <a:cs typeface="Verdana"/>
              </a:rPr>
              <a:t>is</a:t>
            </a:r>
            <a:r>
              <a:rPr sz="2800" spc="-235" dirty="0">
                <a:latin typeface="Verdana"/>
                <a:cs typeface="Verdana"/>
              </a:rPr>
              <a:t> </a:t>
            </a:r>
            <a:r>
              <a:rPr sz="2800" spc="-10" dirty="0">
                <a:latin typeface="Verdana"/>
                <a:cs typeface="Verdana"/>
              </a:rPr>
              <a:t>split.</a:t>
            </a:r>
            <a:endParaRPr sz="2800">
              <a:latin typeface="Verdana"/>
              <a:cs typeface="Verdana"/>
            </a:endParaRPr>
          </a:p>
          <a:p>
            <a:pPr marL="469900" marR="773430" indent="-457834">
              <a:lnSpc>
                <a:spcPct val="100000"/>
              </a:lnSpc>
              <a:spcBef>
                <a:spcPts val="805"/>
              </a:spcBef>
              <a:buClr>
                <a:srgbClr val="5BB9F6"/>
              </a:buClr>
              <a:buFont typeface="Wingdings"/>
              <a:buChar char=""/>
              <a:tabLst>
                <a:tab pos="469900" algn="l"/>
              </a:tabLst>
            </a:pPr>
            <a:r>
              <a:rPr sz="2800" spc="-160" dirty="0">
                <a:latin typeface="Verdana"/>
                <a:cs typeface="Verdana"/>
              </a:rPr>
              <a:t>The</a:t>
            </a:r>
            <a:r>
              <a:rPr sz="2800" spc="-215" dirty="0">
                <a:latin typeface="Verdana"/>
                <a:cs typeface="Verdana"/>
              </a:rPr>
              <a:t> </a:t>
            </a:r>
            <a:r>
              <a:rPr sz="2800" b="1" spc="-120" dirty="0">
                <a:latin typeface="Tahoma"/>
                <a:cs typeface="Tahoma"/>
              </a:rPr>
              <a:t>ratio</a:t>
            </a:r>
            <a:r>
              <a:rPr sz="2800" b="1" spc="-90" dirty="0">
                <a:latin typeface="Tahoma"/>
                <a:cs typeface="Tahoma"/>
              </a:rPr>
              <a:t> of</a:t>
            </a:r>
            <a:r>
              <a:rPr sz="2800" b="1" spc="-114" dirty="0">
                <a:latin typeface="Tahoma"/>
                <a:cs typeface="Tahoma"/>
              </a:rPr>
              <a:t> </a:t>
            </a:r>
            <a:r>
              <a:rPr sz="2800" b="1" spc="-160" dirty="0">
                <a:latin typeface="Tahoma"/>
                <a:cs typeface="Tahoma"/>
              </a:rPr>
              <a:t>initial</a:t>
            </a:r>
            <a:r>
              <a:rPr sz="2800" b="1" spc="-65" dirty="0">
                <a:latin typeface="Tahoma"/>
                <a:cs typeface="Tahoma"/>
              </a:rPr>
              <a:t> </a:t>
            </a:r>
            <a:r>
              <a:rPr sz="2800" b="1" spc="-20" dirty="0">
                <a:latin typeface="Tahoma"/>
                <a:cs typeface="Tahoma"/>
              </a:rPr>
              <a:t>problem</a:t>
            </a:r>
            <a:r>
              <a:rPr sz="2800" b="1" spc="-110" dirty="0">
                <a:latin typeface="Tahoma"/>
                <a:cs typeface="Tahoma"/>
              </a:rPr>
              <a:t> size</a:t>
            </a:r>
            <a:r>
              <a:rPr sz="2800" b="1" spc="-65" dirty="0">
                <a:latin typeface="Tahoma"/>
                <a:cs typeface="Tahoma"/>
              </a:rPr>
              <a:t> </a:t>
            </a:r>
            <a:r>
              <a:rPr sz="2800" b="1" spc="-100" dirty="0">
                <a:latin typeface="Tahoma"/>
                <a:cs typeface="Tahoma"/>
              </a:rPr>
              <a:t>to</a:t>
            </a:r>
            <a:r>
              <a:rPr sz="2800" b="1" spc="-80" dirty="0">
                <a:latin typeface="Tahoma"/>
                <a:cs typeface="Tahoma"/>
              </a:rPr>
              <a:t> </a:t>
            </a:r>
            <a:r>
              <a:rPr sz="2800" b="1" spc="-20" dirty="0">
                <a:latin typeface="Tahoma"/>
                <a:cs typeface="Tahoma"/>
              </a:rPr>
              <a:t>sub- problem</a:t>
            </a:r>
            <a:r>
              <a:rPr sz="2800" b="1" spc="-160" dirty="0">
                <a:latin typeface="Tahoma"/>
                <a:cs typeface="Tahoma"/>
              </a:rPr>
              <a:t> </a:t>
            </a:r>
            <a:r>
              <a:rPr sz="2800" b="1" spc="-20" dirty="0">
                <a:latin typeface="Tahoma"/>
                <a:cs typeface="Tahoma"/>
              </a:rPr>
              <a:t>size</a:t>
            </a:r>
            <a:r>
              <a:rPr sz="2800" spc="-20" dirty="0">
                <a:latin typeface="Verdana"/>
                <a:cs typeface="Verdana"/>
              </a:rPr>
              <a:t>.</a:t>
            </a:r>
            <a:endParaRPr sz="2800">
              <a:latin typeface="Verdana"/>
              <a:cs typeface="Verdana"/>
            </a:endParaRPr>
          </a:p>
          <a:p>
            <a:pPr marL="469900" marR="422275" indent="-457834">
              <a:lnSpc>
                <a:spcPct val="100000"/>
              </a:lnSpc>
              <a:spcBef>
                <a:spcPts val="795"/>
              </a:spcBef>
              <a:buClr>
                <a:srgbClr val="5BB9F6"/>
              </a:buClr>
              <a:buFont typeface="Wingdings"/>
              <a:buChar char=""/>
              <a:tabLst>
                <a:tab pos="469900" algn="l"/>
              </a:tabLst>
            </a:pPr>
            <a:r>
              <a:rPr sz="2800" spc="-160" dirty="0">
                <a:latin typeface="Verdana"/>
                <a:cs typeface="Verdana"/>
              </a:rPr>
              <a:t>The</a:t>
            </a:r>
            <a:r>
              <a:rPr sz="2800" spc="-215" dirty="0">
                <a:latin typeface="Verdana"/>
                <a:cs typeface="Verdana"/>
              </a:rPr>
              <a:t> </a:t>
            </a:r>
            <a:r>
              <a:rPr sz="2800" b="1" spc="-60" dirty="0">
                <a:latin typeface="Tahoma"/>
                <a:cs typeface="Tahoma"/>
              </a:rPr>
              <a:t>number</a:t>
            </a:r>
            <a:r>
              <a:rPr sz="2800" b="1" spc="-150" dirty="0">
                <a:latin typeface="Tahoma"/>
                <a:cs typeface="Tahoma"/>
              </a:rPr>
              <a:t> </a:t>
            </a:r>
            <a:r>
              <a:rPr sz="2800" b="1" spc="-80" dirty="0">
                <a:latin typeface="Tahoma"/>
                <a:cs typeface="Tahoma"/>
              </a:rPr>
              <a:t>of</a:t>
            </a:r>
            <a:r>
              <a:rPr sz="2800" b="1" spc="-105" dirty="0">
                <a:latin typeface="Tahoma"/>
                <a:cs typeface="Tahoma"/>
              </a:rPr>
              <a:t> steps</a:t>
            </a:r>
            <a:r>
              <a:rPr sz="2800" b="1" spc="-65" dirty="0">
                <a:latin typeface="Tahoma"/>
                <a:cs typeface="Tahoma"/>
              </a:rPr>
              <a:t> </a:t>
            </a:r>
            <a:r>
              <a:rPr sz="2800" spc="-55" dirty="0">
                <a:latin typeface="Verdana"/>
                <a:cs typeface="Verdana"/>
              </a:rPr>
              <a:t>required</a:t>
            </a:r>
            <a:r>
              <a:rPr sz="2800" spc="-200" dirty="0">
                <a:latin typeface="Verdana"/>
                <a:cs typeface="Verdana"/>
              </a:rPr>
              <a:t> </a:t>
            </a:r>
            <a:r>
              <a:rPr sz="2800" dirty="0">
                <a:latin typeface="Verdana"/>
                <a:cs typeface="Verdana"/>
              </a:rPr>
              <a:t>to</a:t>
            </a:r>
            <a:r>
              <a:rPr sz="2800" spc="-250" dirty="0">
                <a:latin typeface="Verdana"/>
                <a:cs typeface="Verdana"/>
              </a:rPr>
              <a:t> </a:t>
            </a:r>
            <a:r>
              <a:rPr sz="2800" b="1" spc="-10" dirty="0">
                <a:latin typeface="Tahoma"/>
                <a:cs typeface="Tahoma"/>
              </a:rPr>
              <a:t>divide </a:t>
            </a:r>
            <a:r>
              <a:rPr sz="2800" spc="-35" dirty="0">
                <a:latin typeface="Verdana"/>
                <a:cs typeface="Verdana"/>
              </a:rPr>
              <a:t>the</a:t>
            </a:r>
            <a:r>
              <a:rPr sz="2800" spc="-175" dirty="0">
                <a:latin typeface="Verdana"/>
                <a:cs typeface="Verdana"/>
              </a:rPr>
              <a:t> </a:t>
            </a:r>
            <a:r>
              <a:rPr sz="2800" spc="-125" dirty="0">
                <a:latin typeface="Verdana"/>
                <a:cs typeface="Verdana"/>
              </a:rPr>
              <a:t>initial</a:t>
            </a:r>
            <a:r>
              <a:rPr sz="2800" spc="-204" dirty="0">
                <a:latin typeface="Verdana"/>
                <a:cs typeface="Verdana"/>
              </a:rPr>
              <a:t> </a:t>
            </a:r>
            <a:r>
              <a:rPr sz="2800" spc="-20" dirty="0">
                <a:latin typeface="Verdana"/>
                <a:cs typeface="Verdana"/>
              </a:rPr>
              <a:t>instance</a:t>
            </a:r>
            <a:r>
              <a:rPr sz="2800" spc="-150" dirty="0">
                <a:latin typeface="Verdana"/>
                <a:cs typeface="Verdana"/>
              </a:rPr>
              <a:t> </a:t>
            </a:r>
            <a:r>
              <a:rPr sz="2800" spc="100" dirty="0">
                <a:latin typeface="Verdana"/>
                <a:cs typeface="Verdana"/>
              </a:rPr>
              <a:t>and</a:t>
            </a:r>
            <a:r>
              <a:rPr sz="2800" spc="-160" dirty="0">
                <a:latin typeface="Verdana"/>
                <a:cs typeface="Verdana"/>
              </a:rPr>
              <a:t> </a:t>
            </a:r>
            <a:r>
              <a:rPr sz="2800" dirty="0">
                <a:latin typeface="Verdana"/>
                <a:cs typeface="Verdana"/>
              </a:rPr>
              <a:t>to</a:t>
            </a:r>
            <a:r>
              <a:rPr sz="2800" spc="-180" dirty="0">
                <a:latin typeface="Verdana"/>
                <a:cs typeface="Verdana"/>
              </a:rPr>
              <a:t> </a:t>
            </a:r>
            <a:r>
              <a:rPr sz="2800" b="1" dirty="0">
                <a:latin typeface="Tahoma"/>
                <a:cs typeface="Tahoma"/>
              </a:rPr>
              <a:t>combine</a:t>
            </a:r>
            <a:r>
              <a:rPr sz="2800" b="1" spc="-25" dirty="0">
                <a:latin typeface="Tahoma"/>
                <a:cs typeface="Tahoma"/>
              </a:rPr>
              <a:t> </a:t>
            </a:r>
            <a:r>
              <a:rPr sz="2800" spc="-140" dirty="0">
                <a:latin typeface="Verdana"/>
                <a:cs typeface="Verdana"/>
              </a:rPr>
              <a:t>sub- </a:t>
            </a:r>
            <a:r>
              <a:rPr sz="2800" spc="-55" dirty="0">
                <a:latin typeface="Verdana"/>
                <a:cs typeface="Verdana"/>
              </a:rPr>
              <a:t>solutions.</a:t>
            </a:r>
            <a:endParaRPr sz="2800">
              <a:latin typeface="Verdana"/>
              <a:cs typeface="Verdan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734814" y="223519"/>
            <a:ext cx="3303904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60" dirty="0">
                <a:solidFill>
                  <a:srgbClr val="FFFFFF"/>
                </a:solidFill>
                <a:latin typeface="Verdana"/>
                <a:cs typeface="Verdana"/>
              </a:rPr>
              <a:t>Bahria</a:t>
            </a:r>
            <a:r>
              <a:rPr sz="1600" spc="-8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110" dirty="0">
                <a:solidFill>
                  <a:srgbClr val="FFFFFF"/>
                </a:solidFill>
                <a:latin typeface="Verdana"/>
                <a:cs typeface="Verdana"/>
              </a:rPr>
              <a:t>University</a:t>
            </a:r>
            <a:r>
              <a:rPr sz="1600" spc="-6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30" dirty="0">
                <a:solidFill>
                  <a:srgbClr val="FFFFFF"/>
                </a:solidFill>
                <a:latin typeface="Verdana"/>
                <a:cs typeface="Verdana"/>
              </a:rPr>
              <a:t>Karachi</a:t>
            </a:r>
            <a:r>
              <a:rPr sz="1600" spc="-85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10" dirty="0">
                <a:solidFill>
                  <a:srgbClr val="FFFFFF"/>
                </a:solidFill>
                <a:latin typeface="Verdana"/>
                <a:cs typeface="Verdana"/>
              </a:rPr>
              <a:t>Campus</a:t>
            </a:r>
            <a:endParaRPr sz="160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160" dirty="0"/>
              <a:t>ALGORITHM</a:t>
            </a:r>
            <a:r>
              <a:rPr sz="2400" spc="-60" dirty="0"/>
              <a:t> </a:t>
            </a:r>
            <a:r>
              <a:rPr sz="2400" spc="-160" dirty="0"/>
              <a:t>FOR</a:t>
            </a:r>
            <a:r>
              <a:rPr sz="2400" spc="-45" dirty="0"/>
              <a:t> </a:t>
            </a:r>
            <a:r>
              <a:rPr sz="2400" spc="-135" dirty="0"/>
              <a:t>GENERAL</a:t>
            </a:r>
            <a:r>
              <a:rPr sz="2400" spc="-65" dirty="0"/>
              <a:t> </a:t>
            </a:r>
            <a:r>
              <a:rPr sz="2400" spc="-250" dirty="0"/>
              <a:t>DIVIDE</a:t>
            </a:r>
            <a:r>
              <a:rPr sz="2400" spc="-65" dirty="0"/>
              <a:t> </a:t>
            </a:r>
            <a:r>
              <a:rPr sz="2400" spc="-10" dirty="0"/>
              <a:t>AND</a:t>
            </a:r>
            <a:r>
              <a:rPr sz="2400" spc="-45" dirty="0"/>
              <a:t> </a:t>
            </a:r>
            <a:r>
              <a:rPr sz="2400" spc="-10" dirty="0"/>
              <a:t>CONQUER</a:t>
            </a:r>
            <a:endParaRPr sz="2400"/>
          </a:p>
          <a:p>
            <a:pPr marL="4589780">
              <a:lnSpc>
                <a:spcPct val="100000"/>
              </a:lnSpc>
            </a:pPr>
            <a:r>
              <a:rPr sz="2400" spc="-50" dirty="0"/>
              <a:t>SORTING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4111" y="1628902"/>
            <a:ext cx="6569709" cy="4318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marR="5080" indent="-343535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355600" algn="l"/>
              </a:tabLst>
            </a:pPr>
            <a:r>
              <a:rPr sz="2400" b="1" spc="-110" dirty="0">
                <a:latin typeface="Tahoma"/>
                <a:cs typeface="Tahoma"/>
              </a:rPr>
              <a:t>Algorithm</a:t>
            </a:r>
            <a:r>
              <a:rPr sz="2400" b="1" spc="-15" dirty="0">
                <a:latin typeface="Tahoma"/>
                <a:cs typeface="Tahoma"/>
              </a:rPr>
              <a:t> </a:t>
            </a:r>
            <a:r>
              <a:rPr sz="2400" b="1" spc="-165" dirty="0">
                <a:latin typeface="Tahoma"/>
                <a:cs typeface="Tahoma"/>
              </a:rPr>
              <a:t>for</a:t>
            </a:r>
            <a:r>
              <a:rPr sz="2400" b="1" spc="-15" dirty="0">
                <a:latin typeface="Tahoma"/>
                <a:cs typeface="Tahoma"/>
              </a:rPr>
              <a:t> </a:t>
            </a:r>
            <a:r>
              <a:rPr sz="2400" b="1" dirty="0">
                <a:latin typeface="Tahoma"/>
                <a:cs typeface="Tahoma"/>
              </a:rPr>
              <a:t>General</a:t>
            </a:r>
            <a:r>
              <a:rPr sz="2400" b="1" spc="-50" dirty="0">
                <a:latin typeface="Tahoma"/>
                <a:cs typeface="Tahoma"/>
              </a:rPr>
              <a:t> </a:t>
            </a:r>
            <a:r>
              <a:rPr sz="2400" b="1" spc="-55" dirty="0">
                <a:latin typeface="Tahoma"/>
                <a:cs typeface="Tahoma"/>
              </a:rPr>
              <a:t>Divide</a:t>
            </a:r>
            <a:r>
              <a:rPr sz="2400" b="1" spc="-25" dirty="0">
                <a:latin typeface="Tahoma"/>
                <a:cs typeface="Tahoma"/>
              </a:rPr>
              <a:t> </a:t>
            </a:r>
            <a:r>
              <a:rPr sz="2400" b="1" dirty="0">
                <a:latin typeface="Tahoma"/>
                <a:cs typeface="Tahoma"/>
              </a:rPr>
              <a:t>and</a:t>
            </a:r>
            <a:r>
              <a:rPr sz="2400" b="1" spc="-30" dirty="0">
                <a:latin typeface="Tahoma"/>
                <a:cs typeface="Tahoma"/>
              </a:rPr>
              <a:t> </a:t>
            </a:r>
            <a:r>
              <a:rPr sz="2400" b="1" spc="-10" dirty="0">
                <a:latin typeface="Tahoma"/>
                <a:cs typeface="Tahoma"/>
              </a:rPr>
              <a:t>Conquer </a:t>
            </a:r>
            <a:r>
              <a:rPr sz="2400" b="1" spc="-25" dirty="0">
                <a:latin typeface="Tahoma"/>
                <a:cs typeface="Tahoma"/>
              </a:rPr>
              <a:t>Sorting</a:t>
            </a:r>
            <a:endParaRPr sz="2400">
              <a:latin typeface="Tahoma"/>
              <a:cs typeface="Tahoma"/>
            </a:endParaRPr>
          </a:p>
          <a:p>
            <a:pPr marL="355600" indent="-342900">
              <a:lnSpc>
                <a:spcPct val="100000"/>
              </a:lnSpc>
              <a:spcBef>
                <a:spcPts val="994"/>
              </a:spcBef>
              <a:buFont typeface="Arial MT"/>
              <a:buChar char="•"/>
              <a:tabLst>
                <a:tab pos="355600" algn="l"/>
              </a:tabLst>
            </a:pPr>
            <a:r>
              <a:rPr sz="2400" b="1" spc="-70" dirty="0">
                <a:latin typeface="Tahoma"/>
                <a:cs typeface="Tahoma"/>
              </a:rPr>
              <a:t>Begin</a:t>
            </a:r>
            <a:r>
              <a:rPr sz="2400" b="1" spc="-95" dirty="0">
                <a:latin typeface="Tahoma"/>
                <a:cs typeface="Tahoma"/>
              </a:rPr>
              <a:t> </a:t>
            </a:r>
            <a:r>
              <a:rPr sz="2400" b="1" spc="-10" dirty="0">
                <a:latin typeface="Tahoma"/>
                <a:cs typeface="Tahoma"/>
              </a:rPr>
              <a:t>Algorithm</a:t>
            </a:r>
            <a:endParaRPr sz="2400">
              <a:latin typeface="Tahoma"/>
              <a:cs typeface="Tahoma"/>
            </a:endParaRPr>
          </a:p>
          <a:p>
            <a:pPr marL="469900">
              <a:lnSpc>
                <a:spcPct val="100000"/>
              </a:lnSpc>
              <a:spcBef>
                <a:spcPts val="1015"/>
              </a:spcBef>
            </a:pPr>
            <a:r>
              <a:rPr sz="2000" b="1" spc="-170" dirty="0">
                <a:latin typeface="Tahoma"/>
                <a:cs typeface="Tahoma"/>
              </a:rPr>
              <a:t>Start</a:t>
            </a:r>
            <a:r>
              <a:rPr sz="2000" b="1" spc="-35" dirty="0">
                <a:latin typeface="Tahoma"/>
                <a:cs typeface="Tahoma"/>
              </a:rPr>
              <a:t> Sort(L)</a:t>
            </a:r>
            <a:endParaRPr sz="2000">
              <a:latin typeface="Tahoma"/>
              <a:cs typeface="Tahoma"/>
            </a:endParaRPr>
          </a:p>
          <a:p>
            <a:pPr marL="755015" marR="1728470">
              <a:lnSpc>
                <a:spcPct val="100000"/>
              </a:lnSpc>
            </a:pPr>
            <a:r>
              <a:rPr sz="2000" b="1" spc="-305" dirty="0">
                <a:latin typeface="Tahoma"/>
                <a:cs typeface="Tahoma"/>
              </a:rPr>
              <a:t>If</a:t>
            </a:r>
            <a:r>
              <a:rPr sz="2000" b="1" spc="-20" dirty="0">
                <a:latin typeface="Tahoma"/>
                <a:cs typeface="Tahoma"/>
              </a:rPr>
              <a:t> </a:t>
            </a:r>
            <a:r>
              <a:rPr sz="2000" b="1" spc="-280" dirty="0">
                <a:latin typeface="Tahoma"/>
                <a:cs typeface="Tahoma"/>
              </a:rPr>
              <a:t>L</a:t>
            </a:r>
            <a:r>
              <a:rPr sz="2000" b="1" spc="-40" dirty="0">
                <a:latin typeface="Tahoma"/>
                <a:cs typeface="Tahoma"/>
              </a:rPr>
              <a:t> </a:t>
            </a:r>
            <a:r>
              <a:rPr sz="2000" b="1" spc="-10" dirty="0">
                <a:latin typeface="Tahoma"/>
                <a:cs typeface="Tahoma"/>
              </a:rPr>
              <a:t>has</a:t>
            </a:r>
            <a:r>
              <a:rPr sz="2000" b="1" spc="-50" dirty="0">
                <a:latin typeface="Tahoma"/>
                <a:cs typeface="Tahoma"/>
              </a:rPr>
              <a:t> </a:t>
            </a:r>
            <a:r>
              <a:rPr sz="2000" b="1" spc="-75" dirty="0">
                <a:latin typeface="Tahoma"/>
                <a:cs typeface="Tahoma"/>
              </a:rPr>
              <a:t>length</a:t>
            </a:r>
            <a:r>
              <a:rPr sz="2000" b="1" spc="-80" dirty="0">
                <a:latin typeface="Tahoma"/>
                <a:cs typeface="Tahoma"/>
              </a:rPr>
              <a:t> </a:t>
            </a:r>
            <a:r>
              <a:rPr sz="2000" b="1" spc="-55" dirty="0">
                <a:latin typeface="Tahoma"/>
                <a:cs typeface="Tahoma"/>
              </a:rPr>
              <a:t>greater</a:t>
            </a:r>
            <a:r>
              <a:rPr sz="2000" b="1" spc="-80" dirty="0">
                <a:latin typeface="Tahoma"/>
                <a:cs typeface="Tahoma"/>
              </a:rPr>
              <a:t> </a:t>
            </a:r>
            <a:r>
              <a:rPr sz="2000" b="1" spc="-65" dirty="0">
                <a:latin typeface="Tahoma"/>
                <a:cs typeface="Tahoma"/>
              </a:rPr>
              <a:t>than</a:t>
            </a:r>
            <a:r>
              <a:rPr sz="2000" b="1" spc="-40" dirty="0">
                <a:latin typeface="Tahoma"/>
                <a:cs typeface="Tahoma"/>
              </a:rPr>
              <a:t> </a:t>
            </a:r>
            <a:r>
              <a:rPr sz="2000" b="1" spc="-160" dirty="0">
                <a:latin typeface="Tahoma"/>
                <a:cs typeface="Tahoma"/>
              </a:rPr>
              <a:t>1</a:t>
            </a:r>
            <a:r>
              <a:rPr sz="2000" b="1" spc="-30" dirty="0">
                <a:latin typeface="Tahoma"/>
                <a:cs typeface="Tahoma"/>
              </a:rPr>
              <a:t> </a:t>
            </a:r>
            <a:r>
              <a:rPr sz="2000" b="1" spc="-40" dirty="0">
                <a:latin typeface="Tahoma"/>
                <a:cs typeface="Tahoma"/>
              </a:rPr>
              <a:t>then </a:t>
            </a:r>
            <a:r>
              <a:rPr sz="2000" b="1" spc="-10" dirty="0">
                <a:latin typeface="Tahoma"/>
                <a:cs typeface="Tahoma"/>
              </a:rPr>
              <a:t>Begin</a:t>
            </a:r>
            <a:endParaRPr sz="2000">
              <a:latin typeface="Tahoma"/>
              <a:cs typeface="Tahoma"/>
            </a:endParaRPr>
          </a:p>
          <a:p>
            <a:pPr marL="1384300">
              <a:lnSpc>
                <a:spcPct val="100000"/>
              </a:lnSpc>
              <a:spcBef>
                <a:spcPts val="1010"/>
              </a:spcBef>
            </a:pPr>
            <a:r>
              <a:rPr sz="1600" b="1" spc="-105" dirty="0">
                <a:latin typeface="Tahoma"/>
                <a:cs typeface="Tahoma"/>
              </a:rPr>
              <a:t>Partition</a:t>
            </a:r>
            <a:r>
              <a:rPr sz="1600" b="1" spc="-45" dirty="0">
                <a:latin typeface="Tahoma"/>
                <a:cs typeface="Tahoma"/>
              </a:rPr>
              <a:t> </a:t>
            </a:r>
            <a:r>
              <a:rPr sz="1600" b="1" spc="-50" dirty="0">
                <a:latin typeface="Tahoma"/>
                <a:cs typeface="Tahoma"/>
              </a:rPr>
              <a:t>the</a:t>
            </a:r>
            <a:r>
              <a:rPr sz="1600" b="1" spc="-70" dirty="0">
                <a:latin typeface="Tahoma"/>
                <a:cs typeface="Tahoma"/>
              </a:rPr>
              <a:t> </a:t>
            </a:r>
            <a:r>
              <a:rPr sz="1600" b="1" spc="-140" dirty="0">
                <a:latin typeface="Tahoma"/>
                <a:cs typeface="Tahoma"/>
              </a:rPr>
              <a:t>list</a:t>
            </a:r>
            <a:r>
              <a:rPr sz="1600" b="1" spc="-50" dirty="0">
                <a:latin typeface="Tahoma"/>
                <a:cs typeface="Tahoma"/>
              </a:rPr>
              <a:t> </a:t>
            </a:r>
            <a:r>
              <a:rPr sz="1600" b="1" spc="-95" dirty="0">
                <a:latin typeface="Tahoma"/>
                <a:cs typeface="Tahoma"/>
              </a:rPr>
              <a:t>into</a:t>
            </a:r>
            <a:r>
              <a:rPr sz="1600" b="1" spc="-35" dirty="0">
                <a:latin typeface="Tahoma"/>
                <a:cs typeface="Tahoma"/>
              </a:rPr>
              <a:t> </a:t>
            </a:r>
            <a:r>
              <a:rPr sz="1600" b="1" spc="-95" dirty="0">
                <a:latin typeface="Tahoma"/>
                <a:cs typeface="Tahoma"/>
              </a:rPr>
              <a:t>two</a:t>
            </a:r>
            <a:r>
              <a:rPr sz="1600" b="1" spc="-25" dirty="0">
                <a:latin typeface="Tahoma"/>
                <a:cs typeface="Tahoma"/>
              </a:rPr>
              <a:t> </a:t>
            </a:r>
            <a:r>
              <a:rPr sz="1600" b="1" spc="-125" dirty="0">
                <a:latin typeface="Tahoma"/>
                <a:cs typeface="Tahoma"/>
              </a:rPr>
              <a:t>lists,</a:t>
            </a:r>
            <a:r>
              <a:rPr sz="1600" b="1" spc="-65" dirty="0">
                <a:latin typeface="Tahoma"/>
                <a:cs typeface="Tahoma"/>
              </a:rPr>
              <a:t> </a:t>
            </a:r>
            <a:r>
              <a:rPr sz="1600" b="1" spc="-50" dirty="0">
                <a:latin typeface="Tahoma"/>
                <a:cs typeface="Tahoma"/>
              </a:rPr>
              <a:t>high</a:t>
            </a:r>
            <a:r>
              <a:rPr sz="1600" b="1" spc="-55" dirty="0">
                <a:latin typeface="Tahoma"/>
                <a:cs typeface="Tahoma"/>
              </a:rPr>
              <a:t> </a:t>
            </a:r>
            <a:r>
              <a:rPr sz="1600" b="1" dirty="0">
                <a:latin typeface="Tahoma"/>
                <a:cs typeface="Tahoma"/>
              </a:rPr>
              <a:t>and</a:t>
            </a:r>
            <a:r>
              <a:rPr sz="1600" b="1" spc="-45" dirty="0">
                <a:latin typeface="Tahoma"/>
                <a:cs typeface="Tahoma"/>
              </a:rPr>
              <a:t> </a:t>
            </a:r>
            <a:r>
              <a:rPr sz="1600" b="1" dirty="0">
                <a:latin typeface="Tahoma"/>
                <a:cs typeface="Tahoma"/>
              </a:rPr>
              <a:t>low</a:t>
            </a:r>
            <a:r>
              <a:rPr sz="1600" b="1" spc="375" dirty="0">
                <a:latin typeface="Tahoma"/>
                <a:cs typeface="Tahoma"/>
              </a:rPr>
              <a:t> </a:t>
            </a:r>
            <a:r>
              <a:rPr sz="1600" b="1" spc="-10" dirty="0">
                <a:latin typeface="Tahoma"/>
                <a:cs typeface="Tahoma"/>
              </a:rPr>
              <a:t>Start</a:t>
            </a:r>
            <a:endParaRPr sz="1600">
              <a:latin typeface="Tahoma"/>
              <a:cs typeface="Tahoma"/>
            </a:endParaRPr>
          </a:p>
          <a:p>
            <a:pPr marL="1612900">
              <a:lnSpc>
                <a:spcPct val="100000"/>
              </a:lnSpc>
              <a:spcBef>
                <a:spcPts val="5"/>
              </a:spcBef>
            </a:pPr>
            <a:r>
              <a:rPr sz="1600" b="1" spc="-10" dirty="0">
                <a:latin typeface="Tahoma"/>
                <a:cs typeface="Tahoma"/>
              </a:rPr>
              <a:t>Sort(high)</a:t>
            </a:r>
            <a:endParaRPr sz="1600">
              <a:latin typeface="Tahoma"/>
              <a:cs typeface="Tahoma"/>
            </a:endParaRPr>
          </a:p>
          <a:p>
            <a:pPr marL="1612900" marR="2585720">
              <a:lnSpc>
                <a:spcPct val="100000"/>
              </a:lnSpc>
            </a:pPr>
            <a:r>
              <a:rPr sz="1600" b="1" spc="-150" dirty="0">
                <a:latin typeface="Tahoma"/>
                <a:cs typeface="Tahoma"/>
              </a:rPr>
              <a:t>Start</a:t>
            </a:r>
            <a:r>
              <a:rPr sz="1600" b="1" spc="-25" dirty="0">
                <a:latin typeface="Tahoma"/>
                <a:cs typeface="Tahoma"/>
              </a:rPr>
              <a:t> </a:t>
            </a:r>
            <a:r>
              <a:rPr sz="1600" b="1" spc="-85" dirty="0">
                <a:latin typeface="Tahoma"/>
                <a:cs typeface="Tahoma"/>
              </a:rPr>
              <a:t>Sort(low)</a:t>
            </a:r>
            <a:r>
              <a:rPr sz="1600" b="1" spc="235" dirty="0">
                <a:latin typeface="Tahoma"/>
                <a:cs typeface="Tahoma"/>
              </a:rPr>
              <a:t> </a:t>
            </a:r>
            <a:r>
              <a:rPr sz="1600" b="1" spc="-10" dirty="0">
                <a:latin typeface="Tahoma"/>
                <a:cs typeface="Tahoma"/>
              </a:rPr>
              <a:t>Combine </a:t>
            </a:r>
            <a:r>
              <a:rPr sz="1600" b="1" spc="-50" dirty="0">
                <a:latin typeface="Tahoma"/>
                <a:cs typeface="Tahoma"/>
              </a:rPr>
              <a:t>high</a:t>
            </a:r>
            <a:r>
              <a:rPr sz="1600" b="1" spc="-20" dirty="0">
                <a:latin typeface="Tahoma"/>
                <a:cs typeface="Tahoma"/>
              </a:rPr>
              <a:t> </a:t>
            </a:r>
            <a:r>
              <a:rPr sz="1600" b="1" dirty="0">
                <a:latin typeface="Tahoma"/>
                <a:cs typeface="Tahoma"/>
              </a:rPr>
              <a:t>and</a:t>
            </a:r>
            <a:r>
              <a:rPr sz="1600" b="1" spc="-55" dirty="0">
                <a:latin typeface="Tahoma"/>
                <a:cs typeface="Tahoma"/>
              </a:rPr>
              <a:t> </a:t>
            </a:r>
            <a:r>
              <a:rPr sz="1600" b="1" spc="-25" dirty="0">
                <a:latin typeface="Tahoma"/>
                <a:cs typeface="Tahoma"/>
              </a:rPr>
              <a:t>low</a:t>
            </a:r>
            <a:endParaRPr sz="1600">
              <a:latin typeface="Tahoma"/>
              <a:cs typeface="Tahoma"/>
            </a:endParaRPr>
          </a:p>
          <a:p>
            <a:pPr marL="927100">
              <a:lnSpc>
                <a:spcPct val="100000"/>
              </a:lnSpc>
              <a:spcBef>
                <a:spcPts val="990"/>
              </a:spcBef>
            </a:pPr>
            <a:r>
              <a:rPr sz="2000" b="1" spc="-25" dirty="0">
                <a:latin typeface="Tahoma"/>
                <a:cs typeface="Tahoma"/>
              </a:rPr>
              <a:t>End</a:t>
            </a:r>
            <a:endParaRPr sz="2000">
              <a:latin typeface="Tahoma"/>
              <a:cs typeface="Tahoma"/>
            </a:endParaRPr>
          </a:p>
          <a:p>
            <a:pPr marL="355600" indent="-342900">
              <a:lnSpc>
                <a:spcPct val="100000"/>
              </a:lnSpc>
              <a:spcBef>
                <a:spcPts val="985"/>
              </a:spcBef>
              <a:buFont typeface="Arial MT"/>
              <a:buChar char="•"/>
              <a:tabLst>
                <a:tab pos="355600" algn="l"/>
              </a:tabLst>
            </a:pPr>
            <a:r>
              <a:rPr sz="2400" b="1" spc="-100" dirty="0">
                <a:latin typeface="Tahoma"/>
                <a:cs typeface="Tahoma"/>
              </a:rPr>
              <a:t>End</a:t>
            </a:r>
            <a:r>
              <a:rPr sz="2400" b="1" spc="-60" dirty="0">
                <a:latin typeface="Tahoma"/>
                <a:cs typeface="Tahoma"/>
              </a:rPr>
              <a:t> </a:t>
            </a:r>
            <a:r>
              <a:rPr sz="2400" b="1" spc="-10" dirty="0">
                <a:latin typeface="Tahoma"/>
                <a:cs typeface="Tahoma"/>
              </a:rPr>
              <a:t>Algorithm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734814" y="223519"/>
            <a:ext cx="3303904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60" dirty="0">
                <a:solidFill>
                  <a:srgbClr val="FFFFFF"/>
                </a:solidFill>
                <a:latin typeface="Verdana"/>
                <a:cs typeface="Verdana"/>
              </a:rPr>
              <a:t>Bahria</a:t>
            </a:r>
            <a:r>
              <a:rPr sz="1600" spc="-8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110" dirty="0">
                <a:solidFill>
                  <a:srgbClr val="FFFFFF"/>
                </a:solidFill>
                <a:latin typeface="Verdana"/>
                <a:cs typeface="Verdana"/>
              </a:rPr>
              <a:t>University</a:t>
            </a:r>
            <a:r>
              <a:rPr sz="1600" spc="-6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30" dirty="0">
                <a:solidFill>
                  <a:srgbClr val="FFFFFF"/>
                </a:solidFill>
                <a:latin typeface="Verdana"/>
                <a:cs typeface="Verdana"/>
              </a:rPr>
              <a:t>Karachi</a:t>
            </a:r>
            <a:r>
              <a:rPr sz="1600" spc="-85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10" dirty="0">
                <a:solidFill>
                  <a:srgbClr val="FFFFFF"/>
                </a:solidFill>
                <a:latin typeface="Verdana"/>
                <a:cs typeface="Verdana"/>
              </a:rPr>
              <a:t>Campus</a:t>
            </a:r>
            <a:endParaRPr sz="160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05993" rIns="0" bIns="0" rtlCol="0">
            <a:spAutoFit/>
          </a:bodyPr>
          <a:lstStyle/>
          <a:p>
            <a:pPr marL="1270635">
              <a:lnSpc>
                <a:spcPct val="100000"/>
              </a:lnSpc>
              <a:spcBef>
                <a:spcPts val="105"/>
              </a:spcBef>
            </a:pPr>
            <a:r>
              <a:rPr sz="4400" spc="-560" dirty="0"/>
              <a:t>THE</a:t>
            </a:r>
            <a:r>
              <a:rPr sz="4400" spc="390" dirty="0"/>
              <a:t> </a:t>
            </a:r>
            <a:r>
              <a:rPr sz="4400" spc="-285" dirty="0"/>
              <a:t>ALGORITHM</a:t>
            </a:r>
            <a:endParaRPr sz="4400"/>
          </a:p>
        </p:txBody>
      </p:sp>
      <p:sp>
        <p:nvSpPr>
          <p:cNvPr id="3" name="object 3"/>
          <p:cNvSpPr txBox="1"/>
          <p:nvPr/>
        </p:nvSpPr>
        <p:spPr>
          <a:xfrm>
            <a:off x="763016" y="1600826"/>
            <a:ext cx="5830570" cy="4553585"/>
          </a:xfrm>
          <a:prstGeom prst="rect">
            <a:avLst/>
          </a:prstGeom>
        </p:spPr>
        <p:txBody>
          <a:bodyPr vert="horz" wrap="square" lIns="0" tIns="168275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1325"/>
              </a:spcBef>
              <a:buClr>
                <a:srgbClr val="5BB9F6"/>
              </a:buClr>
              <a:buFont typeface="Wingdings"/>
              <a:buChar char=""/>
              <a:tabLst>
                <a:tab pos="354965" algn="l"/>
              </a:tabLst>
            </a:pPr>
            <a:r>
              <a:rPr sz="2400" spc="-155" dirty="0">
                <a:latin typeface="Verdana"/>
                <a:cs typeface="Verdana"/>
              </a:rPr>
              <a:t>Lets</a:t>
            </a:r>
            <a:r>
              <a:rPr sz="2400" spc="-170" dirty="0">
                <a:latin typeface="Verdana"/>
                <a:cs typeface="Verdana"/>
              </a:rPr>
              <a:t> </a:t>
            </a:r>
            <a:r>
              <a:rPr sz="2400" spc="-85" dirty="0">
                <a:latin typeface="Verdana"/>
                <a:cs typeface="Verdana"/>
              </a:rPr>
              <a:t>assume</a:t>
            </a:r>
            <a:r>
              <a:rPr sz="2400" spc="-160" dirty="0">
                <a:latin typeface="Verdana"/>
                <a:cs typeface="Verdana"/>
              </a:rPr>
              <a:t> </a:t>
            </a:r>
            <a:r>
              <a:rPr sz="2400" spc="-30" dirty="0">
                <a:latin typeface="Verdana"/>
                <a:cs typeface="Verdana"/>
              </a:rPr>
              <a:t>the</a:t>
            </a:r>
            <a:r>
              <a:rPr sz="2400" spc="-170" dirty="0">
                <a:latin typeface="Verdana"/>
                <a:cs typeface="Verdana"/>
              </a:rPr>
              <a:t> </a:t>
            </a:r>
            <a:r>
              <a:rPr sz="2400" spc="-50" dirty="0">
                <a:latin typeface="Verdana"/>
                <a:cs typeface="Verdana"/>
              </a:rPr>
              <a:t>following</a:t>
            </a:r>
            <a:r>
              <a:rPr sz="2400" spc="-225" dirty="0">
                <a:latin typeface="Verdana"/>
                <a:cs typeface="Verdana"/>
              </a:rPr>
              <a:t> </a:t>
            </a:r>
            <a:r>
              <a:rPr sz="2400" spc="-10" dirty="0">
                <a:latin typeface="Verdana"/>
                <a:cs typeface="Verdana"/>
              </a:rPr>
              <a:t>array</a:t>
            </a:r>
            <a:endParaRPr sz="2400">
              <a:latin typeface="Verdana"/>
              <a:cs typeface="Verdana"/>
            </a:endParaRPr>
          </a:p>
          <a:p>
            <a:pPr marL="1753235">
              <a:lnSpc>
                <a:spcPct val="100000"/>
              </a:lnSpc>
              <a:spcBef>
                <a:spcPts val="815"/>
              </a:spcBef>
              <a:tabLst>
                <a:tab pos="2158365" algn="l"/>
                <a:tab pos="2563495" algn="l"/>
                <a:tab pos="2970530" algn="l"/>
                <a:tab pos="3376295" algn="l"/>
                <a:tab pos="3789679" algn="l"/>
                <a:tab pos="4123054" algn="l"/>
                <a:tab pos="4534535" algn="l"/>
                <a:tab pos="4975225" algn="l"/>
              </a:tabLst>
            </a:pPr>
            <a:r>
              <a:rPr sz="1600" spc="-25" dirty="0">
                <a:latin typeface="Verdana"/>
                <a:cs typeface="Verdana"/>
              </a:rPr>
              <a:t>26</a:t>
            </a:r>
            <a:r>
              <a:rPr sz="1600" dirty="0">
                <a:latin typeface="Verdana"/>
                <a:cs typeface="Verdana"/>
              </a:rPr>
              <a:t>	</a:t>
            </a:r>
            <a:r>
              <a:rPr sz="1600" spc="-50" dirty="0">
                <a:latin typeface="Verdana"/>
                <a:cs typeface="Verdana"/>
              </a:rPr>
              <a:t>7</a:t>
            </a:r>
            <a:r>
              <a:rPr sz="1600" dirty="0">
                <a:latin typeface="Verdana"/>
                <a:cs typeface="Verdana"/>
              </a:rPr>
              <a:t>	</a:t>
            </a:r>
            <a:r>
              <a:rPr sz="1600" spc="-50" dirty="0">
                <a:latin typeface="Verdana"/>
                <a:cs typeface="Verdana"/>
              </a:rPr>
              <a:t>3</a:t>
            </a:r>
            <a:r>
              <a:rPr sz="1600" dirty="0">
                <a:latin typeface="Verdana"/>
                <a:cs typeface="Verdana"/>
              </a:rPr>
              <a:t>	</a:t>
            </a:r>
            <a:r>
              <a:rPr sz="1600" spc="-50" dirty="0">
                <a:latin typeface="Verdana"/>
                <a:cs typeface="Verdana"/>
              </a:rPr>
              <a:t>5</a:t>
            </a:r>
            <a:r>
              <a:rPr sz="1600" dirty="0">
                <a:latin typeface="Verdana"/>
                <a:cs typeface="Verdana"/>
              </a:rPr>
              <a:t>	</a:t>
            </a:r>
            <a:r>
              <a:rPr sz="1600" spc="-50" dirty="0">
                <a:latin typeface="Verdana"/>
                <a:cs typeface="Verdana"/>
              </a:rPr>
              <a:t>6</a:t>
            </a:r>
            <a:r>
              <a:rPr sz="1600" dirty="0">
                <a:latin typeface="Verdana"/>
                <a:cs typeface="Verdana"/>
              </a:rPr>
              <a:t>	</a:t>
            </a:r>
            <a:r>
              <a:rPr sz="1600" spc="-50" dirty="0">
                <a:latin typeface="Verdana"/>
                <a:cs typeface="Verdana"/>
              </a:rPr>
              <a:t>9</a:t>
            </a:r>
            <a:r>
              <a:rPr sz="1600" dirty="0">
                <a:latin typeface="Verdana"/>
                <a:cs typeface="Verdana"/>
              </a:rPr>
              <a:t>	</a:t>
            </a:r>
            <a:r>
              <a:rPr sz="1600" spc="-50" dirty="0">
                <a:latin typeface="Verdana"/>
                <a:cs typeface="Verdana"/>
              </a:rPr>
              <a:t>2</a:t>
            </a:r>
            <a:r>
              <a:rPr sz="1600" dirty="0">
                <a:latin typeface="Verdana"/>
                <a:cs typeface="Verdana"/>
              </a:rPr>
              <a:t>	</a:t>
            </a:r>
            <a:r>
              <a:rPr sz="1600" spc="-50" dirty="0">
                <a:latin typeface="Verdana"/>
                <a:cs typeface="Verdana"/>
              </a:rPr>
              <a:t>4</a:t>
            </a:r>
            <a:r>
              <a:rPr sz="1600" dirty="0">
                <a:latin typeface="Verdana"/>
                <a:cs typeface="Verdana"/>
              </a:rPr>
              <a:t>	</a:t>
            </a:r>
            <a:r>
              <a:rPr sz="1600" spc="-50" dirty="0">
                <a:latin typeface="Verdana"/>
                <a:cs typeface="Verdana"/>
              </a:rPr>
              <a:t>1</a:t>
            </a:r>
            <a:endParaRPr sz="1600">
              <a:latin typeface="Verdana"/>
              <a:cs typeface="Verdana"/>
            </a:endParaRPr>
          </a:p>
          <a:p>
            <a:pPr>
              <a:lnSpc>
                <a:spcPct val="100000"/>
              </a:lnSpc>
            </a:pPr>
            <a:endParaRPr sz="160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760"/>
              </a:spcBef>
            </a:pPr>
            <a:endParaRPr sz="1600">
              <a:latin typeface="Verdana"/>
              <a:cs typeface="Verdana"/>
            </a:endParaRPr>
          </a:p>
          <a:p>
            <a:pPr marL="354965" indent="-342265">
              <a:lnSpc>
                <a:spcPct val="100000"/>
              </a:lnSpc>
              <a:buClr>
                <a:srgbClr val="5BB9F6"/>
              </a:buClr>
              <a:buFont typeface="Wingdings"/>
              <a:buChar char=""/>
              <a:tabLst>
                <a:tab pos="354965" algn="l"/>
              </a:tabLst>
            </a:pPr>
            <a:r>
              <a:rPr sz="2400" dirty="0">
                <a:latin typeface="Verdana"/>
                <a:cs typeface="Verdana"/>
              </a:rPr>
              <a:t>We</a:t>
            </a:r>
            <a:r>
              <a:rPr sz="2400" spc="-120" dirty="0">
                <a:latin typeface="Verdana"/>
                <a:cs typeface="Verdana"/>
              </a:rPr>
              <a:t> </a:t>
            </a:r>
            <a:r>
              <a:rPr sz="2400" spc="-25" dirty="0">
                <a:latin typeface="Verdana"/>
                <a:cs typeface="Verdana"/>
              </a:rPr>
              <a:t>divide</a:t>
            </a:r>
            <a:r>
              <a:rPr sz="2400" spc="-190" dirty="0">
                <a:latin typeface="Verdana"/>
                <a:cs typeface="Verdana"/>
              </a:rPr>
              <a:t> </a:t>
            </a:r>
            <a:r>
              <a:rPr sz="2400" spc="-35" dirty="0">
                <a:latin typeface="Verdana"/>
                <a:cs typeface="Verdana"/>
              </a:rPr>
              <a:t>the</a:t>
            </a:r>
            <a:r>
              <a:rPr sz="2400" spc="-180" dirty="0">
                <a:latin typeface="Verdana"/>
                <a:cs typeface="Verdana"/>
              </a:rPr>
              <a:t> </a:t>
            </a:r>
            <a:r>
              <a:rPr sz="2400" spc="-65" dirty="0">
                <a:latin typeface="Verdana"/>
                <a:cs typeface="Verdana"/>
              </a:rPr>
              <a:t>values</a:t>
            </a:r>
            <a:r>
              <a:rPr sz="2400" spc="-195" dirty="0">
                <a:latin typeface="Verdana"/>
                <a:cs typeface="Verdana"/>
              </a:rPr>
              <a:t> </a:t>
            </a:r>
            <a:r>
              <a:rPr sz="2400" spc="-80" dirty="0">
                <a:latin typeface="Verdana"/>
                <a:cs typeface="Verdana"/>
              </a:rPr>
              <a:t>into</a:t>
            </a:r>
            <a:r>
              <a:rPr sz="2400" spc="-190" dirty="0">
                <a:latin typeface="Verdana"/>
                <a:cs typeface="Verdana"/>
              </a:rPr>
              <a:t> </a:t>
            </a:r>
            <a:r>
              <a:rPr sz="2400" spc="-10" dirty="0">
                <a:latin typeface="Verdana"/>
                <a:cs typeface="Verdana"/>
              </a:rPr>
              <a:t>pairs</a:t>
            </a:r>
            <a:endParaRPr sz="2400">
              <a:latin typeface="Verdana"/>
              <a:cs typeface="Verdana"/>
            </a:endParaRPr>
          </a:p>
          <a:p>
            <a:pPr marL="1753235">
              <a:lnSpc>
                <a:spcPct val="100000"/>
              </a:lnSpc>
              <a:spcBef>
                <a:spcPts val="905"/>
              </a:spcBef>
              <a:tabLst>
                <a:tab pos="2158365" algn="l"/>
                <a:tab pos="2562225" algn="l"/>
                <a:tab pos="2970530" algn="l"/>
                <a:tab pos="3376295" algn="l"/>
                <a:tab pos="3787775" algn="l"/>
                <a:tab pos="4163060" algn="l"/>
                <a:tab pos="4574540" algn="l"/>
                <a:tab pos="5014595" algn="l"/>
              </a:tabLst>
            </a:pPr>
            <a:r>
              <a:rPr sz="1600" spc="-25" dirty="0">
                <a:solidFill>
                  <a:srgbClr val="333399"/>
                </a:solidFill>
                <a:latin typeface="Verdana"/>
                <a:cs typeface="Verdana"/>
              </a:rPr>
              <a:t>26</a:t>
            </a:r>
            <a:r>
              <a:rPr sz="1600" dirty="0">
                <a:solidFill>
                  <a:srgbClr val="333399"/>
                </a:solidFill>
                <a:latin typeface="Verdana"/>
                <a:cs typeface="Verdana"/>
              </a:rPr>
              <a:t>	</a:t>
            </a:r>
            <a:r>
              <a:rPr sz="1600" spc="-50" dirty="0">
                <a:latin typeface="Verdana"/>
                <a:cs typeface="Verdana"/>
              </a:rPr>
              <a:t>7</a:t>
            </a:r>
            <a:r>
              <a:rPr sz="1600" dirty="0">
                <a:latin typeface="Verdana"/>
                <a:cs typeface="Verdana"/>
              </a:rPr>
              <a:t>	</a:t>
            </a:r>
            <a:r>
              <a:rPr sz="1600" spc="-50" dirty="0">
                <a:latin typeface="Verdana"/>
                <a:cs typeface="Verdana"/>
              </a:rPr>
              <a:t>3</a:t>
            </a:r>
            <a:r>
              <a:rPr sz="1600" dirty="0">
                <a:latin typeface="Verdana"/>
                <a:cs typeface="Verdana"/>
              </a:rPr>
              <a:t>	</a:t>
            </a:r>
            <a:r>
              <a:rPr sz="1600" spc="-50" dirty="0">
                <a:solidFill>
                  <a:srgbClr val="333399"/>
                </a:solidFill>
                <a:latin typeface="Verdana"/>
                <a:cs typeface="Verdana"/>
              </a:rPr>
              <a:t>5</a:t>
            </a:r>
            <a:r>
              <a:rPr sz="1600" dirty="0">
                <a:solidFill>
                  <a:srgbClr val="333399"/>
                </a:solidFill>
                <a:latin typeface="Verdana"/>
                <a:cs typeface="Verdana"/>
              </a:rPr>
              <a:t>	</a:t>
            </a:r>
            <a:r>
              <a:rPr sz="1600" spc="-50" dirty="0">
                <a:solidFill>
                  <a:srgbClr val="333399"/>
                </a:solidFill>
                <a:latin typeface="Verdana"/>
                <a:cs typeface="Verdana"/>
              </a:rPr>
              <a:t>6</a:t>
            </a:r>
            <a:r>
              <a:rPr sz="1600" dirty="0">
                <a:solidFill>
                  <a:srgbClr val="333399"/>
                </a:solidFill>
                <a:latin typeface="Verdana"/>
                <a:cs typeface="Verdana"/>
              </a:rPr>
              <a:t>	</a:t>
            </a:r>
            <a:r>
              <a:rPr sz="1600" spc="-50" dirty="0">
                <a:latin typeface="Verdana"/>
                <a:cs typeface="Verdana"/>
              </a:rPr>
              <a:t>9</a:t>
            </a:r>
            <a:r>
              <a:rPr sz="1600" dirty="0">
                <a:latin typeface="Verdana"/>
                <a:cs typeface="Verdana"/>
              </a:rPr>
              <a:t>	</a:t>
            </a:r>
            <a:r>
              <a:rPr sz="1600" spc="-50" dirty="0">
                <a:latin typeface="Verdana"/>
                <a:cs typeface="Verdana"/>
              </a:rPr>
              <a:t>2</a:t>
            </a:r>
            <a:r>
              <a:rPr sz="1600" dirty="0">
                <a:latin typeface="Verdana"/>
                <a:cs typeface="Verdana"/>
              </a:rPr>
              <a:t>	</a:t>
            </a:r>
            <a:r>
              <a:rPr sz="1600" spc="-50" dirty="0">
                <a:solidFill>
                  <a:srgbClr val="333399"/>
                </a:solidFill>
                <a:latin typeface="Verdana"/>
                <a:cs typeface="Verdana"/>
              </a:rPr>
              <a:t>4</a:t>
            </a:r>
            <a:r>
              <a:rPr sz="1600" dirty="0">
                <a:solidFill>
                  <a:srgbClr val="333399"/>
                </a:solidFill>
                <a:latin typeface="Verdana"/>
                <a:cs typeface="Verdana"/>
              </a:rPr>
              <a:t>	</a:t>
            </a:r>
            <a:r>
              <a:rPr sz="1600" spc="-50" dirty="0">
                <a:solidFill>
                  <a:srgbClr val="333399"/>
                </a:solidFill>
                <a:latin typeface="Verdana"/>
                <a:cs typeface="Verdana"/>
              </a:rPr>
              <a:t>1</a:t>
            </a:r>
            <a:endParaRPr sz="1600">
              <a:latin typeface="Verdana"/>
              <a:cs typeface="Verdana"/>
            </a:endParaRPr>
          </a:p>
          <a:p>
            <a:pPr>
              <a:lnSpc>
                <a:spcPct val="100000"/>
              </a:lnSpc>
            </a:pPr>
            <a:endParaRPr sz="160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715"/>
              </a:spcBef>
            </a:pPr>
            <a:endParaRPr sz="1600">
              <a:latin typeface="Verdana"/>
              <a:cs typeface="Verdana"/>
            </a:endParaRPr>
          </a:p>
          <a:p>
            <a:pPr marL="354965" indent="-342265">
              <a:lnSpc>
                <a:spcPct val="100000"/>
              </a:lnSpc>
              <a:buClr>
                <a:srgbClr val="5BB9F6"/>
              </a:buClr>
              <a:buFont typeface="Wingdings"/>
              <a:buChar char=""/>
              <a:tabLst>
                <a:tab pos="354965" algn="l"/>
              </a:tabLst>
            </a:pPr>
            <a:r>
              <a:rPr sz="2400" dirty="0">
                <a:latin typeface="Verdana"/>
                <a:cs typeface="Verdana"/>
              </a:rPr>
              <a:t>We</a:t>
            </a:r>
            <a:r>
              <a:rPr sz="2400" spc="-140" dirty="0">
                <a:latin typeface="Verdana"/>
                <a:cs typeface="Verdana"/>
              </a:rPr>
              <a:t> </a:t>
            </a:r>
            <a:r>
              <a:rPr sz="2400" spc="-170" dirty="0">
                <a:latin typeface="Verdana"/>
                <a:cs typeface="Verdana"/>
              </a:rPr>
              <a:t>sort</a:t>
            </a:r>
            <a:r>
              <a:rPr sz="2400" spc="-160" dirty="0">
                <a:latin typeface="Verdana"/>
                <a:cs typeface="Verdana"/>
              </a:rPr>
              <a:t> </a:t>
            </a:r>
            <a:r>
              <a:rPr sz="2400" spc="140" dirty="0">
                <a:latin typeface="Verdana"/>
                <a:cs typeface="Verdana"/>
              </a:rPr>
              <a:t>each</a:t>
            </a:r>
            <a:r>
              <a:rPr sz="2400" spc="-210" dirty="0">
                <a:latin typeface="Verdana"/>
                <a:cs typeface="Verdana"/>
              </a:rPr>
              <a:t> </a:t>
            </a:r>
            <a:r>
              <a:rPr sz="2400" spc="-20" dirty="0">
                <a:latin typeface="Verdana"/>
                <a:cs typeface="Verdana"/>
              </a:rPr>
              <a:t>pair</a:t>
            </a:r>
            <a:endParaRPr sz="2400">
              <a:latin typeface="Verdana"/>
              <a:cs typeface="Verdana"/>
            </a:endParaRPr>
          </a:p>
          <a:p>
            <a:pPr marL="2027555">
              <a:lnSpc>
                <a:spcPct val="100000"/>
              </a:lnSpc>
              <a:spcBef>
                <a:spcPts val="225"/>
              </a:spcBef>
              <a:tabLst>
                <a:tab pos="2411095" algn="l"/>
                <a:tab pos="2794000" algn="l"/>
                <a:tab pos="3178175" algn="l"/>
                <a:tab pos="3561715" algn="l"/>
                <a:tab pos="3950970" algn="l"/>
                <a:tab pos="4305935" algn="l"/>
                <a:tab pos="4694555" algn="l"/>
                <a:tab pos="5110480" algn="l"/>
              </a:tabLst>
            </a:pPr>
            <a:r>
              <a:rPr sz="1600" spc="-25" dirty="0">
                <a:solidFill>
                  <a:srgbClr val="333399"/>
                </a:solidFill>
                <a:latin typeface="Verdana"/>
                <a:cs typeface="Verdana"/>
              </a:rPr>
              <a:t>26</a:t>
            </a:r>
            <a:r>
              <a:rPr sz="1600" dirty="0">
                <a:solidFill>
                  <a:srgbClr val="333399"/>
                </a:solidFill>
                <a:latin typeface="Verdana"/>
                <a:cs typeface="Verdana"/>
              </a:rPr>
              <a:t>	</a:t>
            </a:r>
            <a:r>
              <a:rPr sz="1600" spc="-50" dirty="0">
                <a:latin typeface="Verdana"/>
                <a:cs typeface="Verdana"/>
              </a:rPr>
              <a:t>3</a:t>
            </a:r>
            <a:r>
              <a:rPr sz="1600" dirty="0">
                <a:latin typeface="Verdana"/>
                <a:cs typeface="Verdana"/>
              </a:rPr>
              <a:t>	</a:t>
            </a:r>
            <a:r>
              <a:rPr sz="1600" spc="-50" dirty="0">
                <a:latin typeface="Verdana"/>
                <a:cs typeface="Verdana"/>
              </a:rPr>
              <a:t>7</a:t>
            </a:r>
            <a:r>
              <a:rPr sz="1600" dirty="0">
                <a:latin typeface="Verdana"/>
                <a:cs typeface="Verdana"/>
              </a:rPr>
              <a:t>	</a:t>
            </a:r>
            <a:r>
              <a:rPr sz="1600" spc="-50" dirty="0">
                <a:solidFill>
                  <a:srgbClr val="333399"/>
                </a:solidFill>
                <a:latin typeface="Verdana"/>
                <a:cs typeface="Verdana"/>
              </a:rPr>
              <a:t>5</a:t>
            </a:r>
            <a:r>
              <a:rPr sz="1600" dirty="0">
                <a:solidFill>
                  <a:srgbClr val="333399"/>
                </a:solidFill>
                <a:latin typeface="Verdana"/>
                <a:cs typeface="Verdana"/>
              </a:rPr>
              <a:t>	</a:t>
            </a:r>
            <a:r>
              <a:rPr sz="1600" spc="-50" dirty="0">
                <a:solidFill>
                  <a:srgbClr val="333399"/>
                </a:solidFill>
                <a:latin typeface="Verdana"/>
                <a:cs typeface="Verdana"/>
              </a:rPr>
              <a:t>6</a:t>
            </a:r>
            <a:r>
              <a:rPr sz="1600" dirty="0">
                <a:solidFill>
                  <a:srgbClr val="333399"/>
                </a:solidFill>
                <a:latin typeface="Verdana"/>
                <a:cs typeface="Verdana"/>
              </a:rPr>
              <a:t>	</a:t>
            </a:r>
            <a:r>
              <a:rPr sz="1600" spc="-50" dirty="0">
                <a:latin typeface="Verdana"/>
                <a:cs typeface="Verdana"/>
              </a:rPr>
              <a:t>2</a:t>
            </a:r>
            <a:r>
              <a:rPr sz="1600" dirty="0">
                <a:latin typeface="Verdana"/>
                <a:cs typeface="Verdana"/>
              </a:rPr>
              <a:t>	</a:t>
            </a:r>
            <a:r>
              <a:rPr sz="1600" spc="-50" dirty="0">
                <a:latin typeface="Verdana"/>
                <a:cs typeface="Verdana"/>
              </a:rPr>
              <a:t>9</a:t>
            </a:r>
            <a:r>
              <a:rPr sz="1600" dirty="0">
                <a:latin typeface="Verdana"/>
                <a:cs typeface="Verdana"/>
              </a:rPr>
              <a:t>	</a:t>
            </a:r>
            <a:r>
              <a:rPr sz="1600" spc="-50" dirty="0">
                <a:solidFill>
                  <a:srgbClr val="333399"/>
                </a:solidFill>
                <a:latin typeface="Verdana"/>
                <a:cs typeface="Verdana"/>
              </a:rPr>
              <a:t>1</a:t>
            </a:r>
            <a:r>
              <a:rPr sz="1600" dirty="0">
                <a:solidFill>
                  <a:srgbClr val="333399"/>
                </a:solidFill>
                <a:latin typeface="Verdana"/>
                <a:cs typeface="Verdana"/>
              </a:rPr>
              <a:t>	</a:t>
            </a:r>
            <a:r>
              <a:rPr sz="1600" spc="-50" dirty="0">
                <a:solidFill>
                  <a:srgbClr val="333399"/>
                </a:solidFill>
                <a:latin typeface="Verdana"/>
                <a:cs typeface="Verdana"/>
              </a:rPr>
              <a:t>4</a:t>
            </a:r>
            <a:endParaRPr sz="1600">
              <a:latin typeface="Verdana"/>
              <a:cs typeface="Verdana"/>
            </a:endParaRPr>
          </a:p>
          <a:p>
            <a:pPr>
              <a:lnSpc>
                <a:spcPct val="100000"/>
              </a:lnSpc>
            </a:pPr>
            <a:endParaRPr sz="1600">
              <a:latin typeface="Verdana"/>
              <a:cs typeface="Verdana"/>
            </a:endParaRPr>
          </a:p>
          <a:p>
            <a:pPr>
              <a:lnSpc>
                <a:spcPct val="100000"/>
              </a:lnSpc>
            </a:pPr>
            <a:endParaRPr sz="160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110"/>
              </a:spcBef>
            </a:pPr>
            <a:endParaRPr sz="1600">
              <a:latin typeface="Verdana"/>
              <a:cs typeface="Verdana"/>
            </a:endParaRPr>
          </a:p>
          <a:p>
            <a:pPr marL="354965" indent="-342265">
              <a:lnSpc>
                <a:spcPct val="100000"/>
              </a:lnSpc>
              <a:buClr>
                <a:srgbClr val="5BB9F6"/>
              </a:buClr>
              <a:buFont typeface="Wingdings"/>
              <a:buChar char=""/>
              <a:tabLst>
                <a:tab pos="354965" algn="l"/>
              </a:tabLst>
            </a:pPr>
            <a:r>
              <a:rPr sz="2400" spc="70" dirty="0">
                <a:latin typeface="Verdana"/>
                <a:cs typeface="Verdana"/>
              </a:rPr>
              <a:t>Get</a:t>
            </a:r>
            <a:r>
              <a:rPr sz="2400" spc="-195" dirty="0">
                <a:latin typeface="Verdana"/>
                <a:cs typeface="Verdana"/>
              </a:rPr>
              <a:t> </a:t>
            </a:r>
            <a:r>
              <a:rPr sz="2400" spc="-30" dirty="0">
                <a:latin typeface="Verdana"/>
                <a:cs typeface="Verdana"/>
              </a:rPr>
              <a:t>the</a:t>
            </a:r>
            <a:r>
              <a:rPr sz="2400" spc="-175" dirty="0">
                <a:latin typeface="Verdana"/>
                <a:cs typeface="Verdana"/>
              </a:rPr>
              <a:t> </a:t>
            </a:r>
            <a:r>
              <a:rPr sz="2400" spc="-215" dirty="0">
                <a:latin typeface="Verdana"/>
                <a:cs typeface="Verdana"/>
              </a:rPr>
              <a:t>first</a:t>
            </a:r>
            <a:r>
              <a:rPr sz="2400" spc="-200" dirty="0">
                <a:latin typeface="Verdana"/>
                <a:cs typeface="Verdana"/>
              </a:rPr>
              <a:t> </a:t>
            </a:r>
            <a:r>
              <a:rPr sz="2400" spc="-45" dirty="0">
                <a:latin typeface="Verdana"/>
                <a:cs typeface="Verdana"/>
              </a:rPr>
              <a:t>pair</a:t>
            </a:r>
            <a:r>
              <a:rPr sz="2400" spc="-220" dirty="0">
                <a:latin typeface="Verdana"/>
                <a:cs typeface="Verdana"/>
              </a:rPr>
              <a:t> </a:t>
            </a:r>
            <a:r>
              <a:rPr sz="2400" spc="-45" dirty="0">
                <a:latin typeface="Verdana"/>
                <a:cs typeface="Verdana"/>
              </a:rPr>
              <a:t>(both</a:t>
            </a:r>
            <a:r>
              <a:rPr sz="2400" spc="-185" dirty="0">
                <a:latin typeface="Verdana"/>
                <a:cs typeface="Verdana"/>
              </a:rPr>
              <a:t> </a:t>
            </a:r>
            <a:r>
              <a:rPr sz="2400" spc="-80" dirty="0">
                <a:latin typeface="Verdana"/>
                <a:cs typeface="Verdana"/>
              </a:rPr>
              <a:t>lowest</a:t>
            </a:r>
            <a:r>
              <a:rPr sz="2400" spc="-150" dirty="0">
                <a:latin typeface="Verdana"/>
                <a:cs typeface="Verdana"/>
              </a:rPr>
              <a:t> </a:t>
            </a:r>
            <a:r>
              <a:rPr sz="2400" spc="-80" dirty="0">
                <a:latin typeface="Verdana"/>
                <a:cs typeface="Verdana"/>
              </a:rPr>
              <a:t>values!)</a:t>
            </a:r>
            <a:endParaRPr sz="2400">
              <a:latin typeface="Verdana"/>
              <a:cs typeface="Verdan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734814" y="223519"/>
            <a:ext cx="3303904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60" dirty="0">
                <a:solidFill>
                  <a:srgbClr val="FFFFFF"/>
                </a:solidFill>
                <a:latin typeface="Verdana"/>
                <a:cs typeface="Verdana"/>
              </a:rPr>
              <a:t>Bahria</a:t>
            </a:r>
            <a:r>
              <a:rPr sz="1600" spc="-8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110" dirty="0">
                <a:solidFill>
                  <a:srgbClr val="FFFFFF"/>
                </a:solidFill>
                <a:latin typeface="Verdana"/>
                <a:cs typeface="Verdana"/>
              </a:rPr>
              <a:t>University</a:t>
            </a:r>
            <a:r>
              <a:rPr sz="1600" spc="-6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30" dirty="0">
                <a:solidFill>
                  <a:srgbClr val="FFFFFF"/>
                </a:solidFill>
                <a:latin typeface="Verdana"/>
                <a:cs typeface="Verdana"/>
              </a:rPr>
              <a:t>Karachi</a:t>
            </a:r>
            <a:r>
              <a:rPr sz="1600" spc="-85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10" dirty="0">
                <a:solidFill>
                  <a:srgbClr val="FFFFFF"/>
                </a:solidFill>
                <a:latin typeface="Verdana"/>
                <a:cs typeface="Verdana"/>
              </a:rPr>
              <a:t>Campus</a:t>
            </a:r>
            <a:endParaRPr sz="160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010919">
              <a:lnSpc>
                <a:spcPct val="100000"/>
              </a:lnSpc>
              <a:spcBef>
                <a:spcPts val="105"/>
              </a:spcBef>
            </a:pPr>
            <a:r>
              <a:rPr sz="4400" spc="-560" dirty="0"/>
              <a:t>THE</a:t>
            </a:r>
            <a:r>
              <a:rPr sz="4400" spc="-70" dirty="0"/>
              <a:t> </a:t>
            </a:r>
            <a:r>
              <a:rPr sz="4400" spc="-280" dirty="0"/>
              <a:t>ALGORITHM</a:t>
            </a:r>
            <a:r>
              <a:rPr sz="4400" spc="-215" dirty="0"/>
              <a:t> </a:t>
            </a:r>
            <a:r>
              <a:rPr sz="4400" spc="-365" dirty="0"/>
              <a:t>(2)</a:t>
            </a:r>
            <a:endParaRPr sz="4400"/>
          </a:p>
        </p:txBody>
      </p:sp>
      <p:sp>
        <p:nvSpPr>
          <p:cNvPr id="3" name="object 3"/>
          <p:cNvSpPr txBox="1"/>
          <p:nvPr/>
        </p:nvSpPr>
        <p:spPr>
          <a:xfrm>
            <a:off x="534111" y="1621358"/>
            <a:ext cx="6905625" cy="43097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00"/>
              </a:spcBef>
              <a:buClr>
                <a:srgbClr val="5BB9F6"/>
              </a:buClr>
              <a:buFont typeface="Wingdings"/>
              <a:buChar char=""/>
              <a:tabLst>
                <a:tab pos="355600" algn="l"/>
              </a:tabLst>
            </a:pPr>
            <a:r>
              <a:rPr sz="2400" dirty="0">
                <a:latin typeface="Verdana"/>
                <a:cs typeface="Verdana"/>
              </a:rPr>
              <a:t>We</a:t>
            </a:r>
            <a:r>
              <a:rPr sz="2400" spc="-130" dirty="0">
                <a:latin typeface="Verdana"/>
                <a:cs typeface="Verdana"/>
              </a:rPr>
              <a:t> </a:t>
            </a:r>
            <a:r>
              <a:rPr sz="2400" spc="65" dirty="0">
                <a:latin typeface="Verdana"/>
                <a:cs typeface="Verdana"/>
              </a:rPr>
              <a:t>compare</a:t>
            </a:r>
            <a:r>
              <a:rPr sz="2400" spc="-160" dirty="0">
                <a:latin typeface="Verdana"/>
                <a:cs typeface="Verdana"/>
              </a:rPr>
              <a:t> </a:t>
            </a:r>
            <a:r>
              <a:rPr sz="2400" spc="-60" dirty="0">
                <a:latin typeface="Verdana"/>
                <a:cs typeface="Verdana"/>
              </a:rPr>
              <a:t>these</a:t>
            </a:r>
            <a:r>
              <a:rPr sz="2400" spc="-204" dirty="0">
                <a:latin typeface="Verdana"/>
                <a:cs typeface="Verdana"/>
              </a:rPr>
              <a:t> </a:t>
            </a:r>
            <a:r>
              <a:rPr sz="2400" spc="-65" dirty="0">
                <a:latin typeface="Verdana"/>
                <a:cs typeface="Verdana"/>
              </a:rPr>
              <a:t>values</a:t>
            </a:r>
            <a:r>
              <a:rPr sz="2400" spc="-204" dirty="0">
                <a:latin typeface="Verdana"/>
                <a:cs typeface="Verdana"/>
              </a:rPr>
              <a:t> </a:t>
            </a:r>
            <a:r>
              <a:rPr sz="2400" spc="-215" dirty="0">
                <a:latin typeface="Verdana"/>
                <a:cs typeface="Verdana"/>
              </a:rPr>
              <a:t>(2</a:t>
            </a:r>
            <a:r>
              <a:rPr sz="2400" spc="-165" dirty="0">
                <a:latin typeface="Verdana"/>
                <a:cs typeface="Verdana"/>
              </a:rPr>
              <a:t> </a:t>
            </a:r>
            <a:r>
              <a:rPr sz="2400" spc="85" dirty="0">
                <a:latin typeface="Verdana"/>
                <a:cs typeface="Verdana"/>
              </a:rPr>
              <a:t>and</a:t>
            </a:r>
            <a:r>
              <a:rPr sz="2400" spc="-190" dirty="0">
                <a:latin typeface="Verdana"/>
                <a:cs typeface="Verdana"/>
              </a:rPr>
              <a:t> </a:t>
            </a:r>
            <a:r>
              <a:rPr sz="2400" spc="-215" dirty="0">
                <a:latin typeface="Verdana"/>
                <a:cs typeface="Verdana"/>
              </a:rPr>
              <a:t>6)</a:t>
            </a:r>
            <a:r>
              <a:rPr sz="2400" spc="-180" dirty="0">
                <a:latin typeface="Verdana"/>
                <a:cs typeface="Verdana"/>
              </a:rPr>
              <a:t> </a:t>
            </a:r>
            <a:r>
              <a:rPr sz="2400" spc="-100" dirty="0">
                <a:latin typeface="Verdana"/>
                <a:cs typeface="Verdana"/>
              </a:rPr>
              <a:t>with</a:t>
            </a:r>
            <a:r>
              <a:rPr sz="2400" spc="-204" dirty="0">
                <a:latin typeface="Verdana"/>
                <a:cs typeface="Verdana"/>
              </a:rPr>
              <a:t> </a:t>
            </a:r>
            <a:r>
              <a:rPr sz="2400" spc="-25" dirty="0">
                <a:latin typeface="Verdana"/>
                <a:cs typeface="Verdana"/>
              </a:rPr>
              <a:t>the</a:t>
            </a:r>
            <a:endParaRPr sz="2400">
              <a:latin typeface="Verdana"/>
              <a:cs typeface="Verdana"/>
            </a:endParaRPr>
          </a:p>
          <a:p>
            <a:pPr marL="355600">
              <a:lnSpc>
                <a:spcPct val="100000"/>
              </a:lnSpc>
              <a:spcBef>
                <a:spcPts val="125"/>
              </a:spcBef>
            </a:pPr>
            <a:r>
              <a:rPr sz="2400" spc="-65" dirty="0">
                <a:latin typeface="Verdana"/>
                <a:cs typeface="Verdana"/>
              </a:rPr>
              <a:t>values</a:t>
            </a:r>
            <a:r>
              <a:rPr sz="2400" spc="-210" dirty="0">
                <a:latin typeface="Verdana"/>
                <a:cs typeface="Verdana"/>
              </a:rPr>
              <a:t> </a:t>
            </a:r>
            <a:r>
              <a:rPr sz="2400" dirty="0">
                <a:latin typeface="Verdana"/>
                <a:cs typeface="Verdana"/>
              </a:rPr>
              <a:t>of</a:t>
            </a:r>
            <a:r>
              <a:rPr sz="2400" spc="-180" dirty="0">
                <a:latin typeface="Verdana"/>
                <a:cs typeface="Verdana"/>
              </a:rPr>
              <a:t> </a:t>
            </a:r>
            <a:r>
              <a:rPr sz="2400" spc="-30" dirty="0">
                <a:latin typeface="Verdana"/>
                <a:cs typeface="Verdana"/>
              </a:rPr>
              <a:t>the</a:t>
            </a:r>
            <a:r>
              <a:rPr sz="2400" spc="-180" dirty="0">
                <a:latin typeface="Verdana"/>
                <a:cs typeface="Verdana"/>
              </a:rPr>
              <a:t> </a:t>
            </a:r>
            <a:r>
              <a:rPr sz="2400" spc="-110" dirty="0">
                <a:latin typeface="Verdana"/>
                <a:cs typeface="Verdana"/>
              </a:rPr>
              <a:t>next</a:t>
            </a:r>
            <a:r>
              <a:rPr sz="2400" spc="-180" dirty="0">
                <a:latin typeface="Verdana"/>
                <a:cs typeface="Verdana"/>
              </a:rPr>
              <a:t> </a:t>
            </a:r>
            <a:r>
              <a:rPr sz="2400" spc="-50" dirty="0">
                <a:latin typeface="Verdana"/>
                <a:cs typeface="Verdana"/>
              </a:rPr>
              <a:t>pair</a:t>
            </a:r>
            <a:r>
              <a:rPr sz="2400" spc="-200" dirty="0">
                <a:latin typeface="Verdana"/>
                <a:cs typeface="Verdana"/>
              </a:rPr>
              <a:t> </a:t>
            </a:r>
            <a:r>
              <a:rPr sz="2400" spc="-220" dirty="0">
                <a:latin typeface="Verdana"/>
                <a:cs typeface="Verdana"/>
              </a:rPr>
              <a:t>(3</a:t>
            </a:r>
            <a:r>
              <a:rPr sz="2400" spc="-180" dirty="0">
                <a:latin typeface="Verdana"/>
                <a:cs typeface="Verdana"/>
              </a:rPr>
              <a:t> </a:t>
            </a:r>
            <a:r>
              <a:rPr sz="2400" spc="85" dirty="0">
                <a:latin typeface="Verdana"/>
                <a:cs typeface="Verdana"/>
              </a:rPr>
              <a:t>and</a:t>
            </a:r>
            <a:r>
              <a:rPr sz="2400" spc="-165" dirty="0">
                <a:latin typeface="Verdana"/>
                <a:cs typeface="Verdana"/>
              </a:rPr>
              <a:t> </a:t>
            </a:r>
            <a:r>
              <a:rPr sz="2400" spc="-25" dirty="0">
                <a:latin typeface="Verdana"/>
                <a:cs typeface="Verdana"/>
              </a:rPr>
              <a:t>7)</a:t>
            </a:r>
            <a:endParaRPr sz="2400">
              <a:latin typeface="Verdana"/>
              <a:cs typeface="Verdana"/>
            </a:endParaRPr>
          </a:p>
          <a:p>
            <a:pPr marL="2132965">
              <a:lnSpc>
                <a:spcPct val="100000"/>
              </a:lnSpc>
              <a:spcBef>
                <a:spcPts val="1025"/>
              </a:spcBef>
              <a:tabLst>
                <a:tab pos="2534920" algn="l"/>
                <a:tab pos="2934335" algn="l"/>
                <a:tab pos="3338195" algn="l"/>
                <a:tab pos="3740785" algn="l"/>
                <a:tab pos="4149090" algn="l"/>
                <a:tab pos="4519930" algn="l"/>
                <a:tab pos="4928235" algn="l"/>
                <a:tab pos="5363845" algn="l"/>
                <a:tab pos="5763260" algn="l"/>
              </a:tabLst>
            </a:pPr>
            <a:r>
              <a:rPr sz="1600" spc="-50" dirty="0">
                <a:solidFill>
                  <a:srgbClr val="333399"/>
                </a:solidFill>
                <a:latin typeface="Verdana"/>
                <a:cs typeface="Verdana"/>
              </a:rPr>
              <a:t>2</a:t>
            </a:r>
            <a:r>
              <a:rPr sz="1600" dirty="0">
                <a:solidFill>
                  <a:srgbClr val="333399"/>
                </a:solidFill>
                <a:latin typeface="Verdana"/>
                <a:cs typeface="Verdana"/>
              </a:rPr>
              <a:t>	</a:t>
            </a:r>
            <a:r>
              <a:rPr sz="1600" spc="-50" dirty="0">
                <a:solidFill>
                  <a:srgbClr val="333399"/>
                </a:solidFill>
                <a:latin typeface="Verdana"/>
                <a:cs typeface="Verdana"/>
              </a:rPr>
              <a:t>6</a:t>
            </a:r>
            <a:r>
              <a:rPr sz="1600" dirty="0">
                <a:solidFill>
                  <a:srgbClr val="333399"/>
                </a:solidFill>
                <a:latin typeface="Verdana"/>
                <a:cs typeface="Verdana"/>
              </a:rPr>
              <a:t>	</a:t>
            </a:r>
            <a:r>
              <a:rPr sz="1600" spc="-50" dirty="0">
                <a:latin typeface="Verdana"/>
                <a:cs typeface="Verdana"/>
              </a:rPr>
              <a:t>3</a:t>
            </a:r>
            <a:r>
              <a:rPr sz="1600" dirty="0">
                <a:latin typeface="Verdana"/>
                <a:cs typeface="Verdana"/>
              </a:rPr>
              <a:t>	</a:t>
            </a:r>
            <a:r>
              <a:rPr sz="1600" spc="-50" dirty="0">
                <a:latin typeface="Verdana"/>
                <a:cs typeface="Verdana"/>
              </a:rPr>
              <a:t>7</a:t>
            </a:r>
            <a:r>
              <a:rPr sz="1600" dirty="0">
                <a:latin typeface="Verdana"/>
                <a:cs typeface="Verdana"/>
              </a:rPr>
              <a:t>	</a:t>
            </a:r>
            <a:r>
              <a:rPr sz="1600" spc="-50" dirty="0">
                <a:solidFill>
                  <a:srgbClr val="333399"/>
                </a:solidFill>
                <a:latin typeface="Verdana"/>
                <a:cs typeface="Verdana"/>
              </a:rPr>
              <a:t>5</a:t>
            </a:r>
            <a:r>
              <a:rPr sz="1600" dirty="0">
                <a:solidFill>
                  <a:srgbClr val="333399"/>
                </a:solidFill>
                <a:latin typeface="Verdana"/>
                <a:cs typeface="Verdana"/>
              </a:rPr>
              <a:t>	</a:t>
            </a:r>
            <a:r>
              <a:rPr sz="1600" spc="-50" dirty="0">
                <a:solidFill>
                  <a:srgbClr val="333399"/>
                </a:solidFill>
                <a:latin typeface="Verdana"/>
                <a:cs typeface="Verdana"/>
              </a:rPr>
              <a:t>6</a:t>
            </a:r>
            <a:r>
              <a:rPr sz="1600" dirty="0">
                <a:solidFill>
                  <a:srgbClr val="333399"/>
                </a:solidFill>
                <a:latin typeface="Verdana"/>
                <a:cs typeface="Verdana"/>
              </a:rPr>
              <a:t>	</a:t>
            </a:r>
            <a:r>
              <a:rPr sz="1600" spc="-50" dirty="0">
                <a:latin typeface="Verdana"/>
                <a:cs typeface="Verdana"/>
              </a:rPr>
              <a:t>2</a:t>
            </a:r>
            <a:r>
              <a:rPr sz="1600" dirty="0">
                <a:latin typeface="Verdana"/>
                <a:cs typeface="Verdana"/>
              </a:rPr>
              <a:t>	</a:t>
            </a:r>
            <a:r>
              <a:rPr sz="1600" spc="-50" dirty="0">
                <a:latin typeface="Verdana"/>
                <a:cs typeface="Verdana"/>
              </a:rPr>
              <a:t>9</a:t>
            </a:r>
            <a:r>
              <a:rPr sz="1600" dirty="0">
                <a:latin typeface="Verdana"/>
                <a:cs typeface="Verdana"/>
              </a:rPr>
              <a:t>	</a:t>
            </a:r>
            <a:r>
              <a:rPr sz="1600" spc="-50" dirty="0">
                <a:solidFill>
                  <a:srgbClr val="333399"/>
                </a:solidFill>
                <a:latin typeface="Verdana"/>
                <a:cs typeface="Verdana"/>
              </a:rPr>
              <a:t>1</a:t>
            </a:r>
            <a:r>
              <a:rPr sz="1600" dirty="0">
                <a:solidFill>
                  <a:srgbClr val="333399"/>
                </a:solidFill>
                <a:latin typeface="Verdana"/>
                <a:cs typeface="Verdana"/>
              </a:rPr>
              <a:t>	</a:t>
            </a:r>
            <a:r>
              <a:rPr sz="1600" spc="-50" dirty="0">
                <a:solidFill>
                  <a:srgbClr val="333399"/>
                </a:solidFill>
                <a:latin typeface="Verdana"/>
                <a:cs typeface="Verdana"/>
              </a:rPr>
              <a:t>4</a:t>
            </a:r>
            <a:endParaRPr sz="1600">
              <a:latin typeface="Verdana"/>
              <a:cs typeface="Verdana"/>
            </a:endParaRPr>
          </a:p>
          <a:p>
            <a:pPr>
              <a:lnSpc>
                <a:spcPct val="100000"/>
              </a:lnSpc>
            </a:pPr>
            <a:endParaRPr sz="160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sz="1600">
              <a:latin typeface="Verdana"/>
              <a:cs typeface="Verdana"/>
            </a:endParaRPr>
          </a:p>
          <a:p>
            <a:pPr marL="469900">
              <a:lnSpc>
                <a:spcPct val="100000"/>
              </a:lnSpc>
            </a:pPr>
            <a:r>
              <a:rPr sz="2000" spc="-65" dirty="0">
                <a:latin typeface="Verdana"/>
                <a:cs typeface="Verdana"/>
              </a:rPr>
              <a:t>Lowest</a:t>
            </a:r>
            <a:r>
              <a:rPr sz="2000" spc="-135" dirty="0">
                <a:latin typeface="Verdana"/>
                <a:cs typeface="Verdana"/>
              </a:rPr>
              <a:t> </a:t>
            </a:r>
            <a:r>
              <a:rPr sz="2000" spc="-25" dirty="0">
                <a:solidFill>
                  <a:srgbClr val="333399"/>
                </a:solidFill>
                <a:latin typeface="Verdana"/>
                <a:cs typeface="Verdana"/>
              </a:rPr>
              <a:t>2,3</a:t>
            </a:r>
            <a:endParaRPr sz="2000">
              <a:latin typeface="Verdana"/>
              <a:cs typeface="Verdana"/>
            </a:endParaRPr>
          </a:p>
          <a:p>
            <a:pPr marL="355600" indent="-342900">
              <a:lnSpc>
                <a:spcPct val="100000"/>
              </a:lnSpc>
              <a:spcBef>
                <a:spcPts val="395"/>
              </a:spcBef>
              <a:buClr>
                <a:srgbClr val="5BB9F6"/>
              </a:buClr>
              <a:buFont typeface="Wingdings"/>
              <a:buChar char=""/>
              <a:tabLst>
                <a:tab pos="355600" algn="l"/>
              </a:tabLst>
            </a:pPr>
            <a:r>
              <a:rPr sz="2400" spc="-160" dirty="0">
                <a:latin typeface="Verdana"/>
                <a:cs typeface="Verdana"/>
              </a:rPr>
              <a:t>The</a:t>
            </a:r>
            <a:r>
              <a:rPr sz="2400" spc="-185" dirty="0">
                <a:latin typeface="Verdana"/>
                <a:cs typeface="Verdana"/>
              </a:rPr>
              <a:t> </a:t>
            </a:r>
            <a:r>
              <a:rPr sz="2400" spc="-105" dirty="0">
                <a:latin typeface="Verdana"/>
                <a:cs typeface="Verdana"/>
              </a:rPr>
              <a:t>next</a:t>
            </a:r>
            <a:r>
              <a:rPr sz="2400" spc="-180" dirty="0">
                <a:latin typeface="Verdana"/>
                <a:cs typeface="Verdana"/>
              </a:rPr>
              <a:t> </a:t>
            </a:r>
            <a:r>
              <a:rPr sz="2400" spc="55" dirty="0">
                <a:latin typeface="Verdana"/>
                <a:cs typeface="Verdana"/>
              </a:rPr>
              <a:t>one</a:t>
            </a:r>
            <a:r>
              <a:rPr sz="2400" spc="-180" dirty="0">
                <a:latin typeface="Verdana"/>
                <a:cs typeface="Verdana"/>
              </a:rPr>
              <a:t> </a:t>
            </a:r>
            <a:r>
              <a:rPr sz="2400" spc="-215" dirty="0">
                <a:latin typeface="Verdana"/>
                <a:cs typeface="Verdana"/>
              </a:rPr>
              <a:t>(5</a:t>
            </a:r>
            <a:r>
              <a:rPr sz="2400" spc="-170" dirty="0">
                <a:latin typeface="Verdana"/>
                <a:cs typeface="Verdana"/>
              </a:rPr>
              <a:t> </a:t>
            </a:r>
            <a:r>
              <a:rPr sz="2400" spc="85" dirty="0">
                <a:latin typeface="Verdana"/>
                <a:cs typeface="Verdana"/>
              </a:rPr>
              <a:t>and</a:t>
            </a:r>
            <a:r>
              <a:rPr sz="2400" spc="-190" dirty="0">
                <a:latin typeface="Verdana"/>
                <a:cs typeface="Verdana"/>
              </a:rPr>
              <a:t> </a:t>
            </a:r>
            <a:r>
              <a:rPr sz="2400" spc="-25" dirty="0">
                <a:latin typeface="Verdana"/>
                <a:cs typeface="Verdana"/>
              </a:rPr>
              <a:t>6)</a:t>
            </a:r>
            <a:endParaRPr sz="2400">
              <a:latin typeface="Verdana"/>
              <a:cs typeface="Verdana"/>
            </a:endParaRPr>
          </a:p>
          <a:p>
            <a:pPr marL="469900">
              <a:lnSpc>
                <a:spcPct val="100000"/>
              </a:lnSpc>
              <a:spcBef>
                <a:spcPts val="300"/>
              </a:spcBef>
            </a:pPr>
            <a:r>
              <a:rPr sz="2000" spc="-65" dirty="0">
                <a:latin typeface="Verdana"/>
                <a:cs typeface="Verdana"/>
              </a:rPr>
              <a:t>Lowest</a:t>
            </a:r>
            <a:r>
              <a:rPr sz="2000" spc="-135" dirty="0">
                <a:latin typeface="Verdana"/>
                <a:cs typeface="Verdana"/>
              </a:rPr>
              <a:t> </a:t>
            </a:r>
            <a:r>
              <a:rPr sz="2000" spc="-25" dirty="0">
                <a:solidFill>
                  <a:srgbClr val="333399"/>
                </a:solidFill>
                <a:latin typeface="Verdana"/>
                <a:cs typeface="Verdana"/>
              </a:rPr>
              <a:t>2,3</a:t>
            </a:r>
            <a:endParaRPr sz="2000">
              <a:latin typeface="Verdana"/>
              <a:cs typeface="Verdana"/>
            </a:endParaRPr>
          </a:p>
          <a:p>
            <a:pPr marL="355600" indent="-342900">
              <a:lnSpc>
                <a:spcPct val="100000"/>
              </a:lnSpc>
              <a:spcBef>
                <a:spcPts val="395"/>
              </a:spcBef>
              <a:buClr>
                <a:srgbClr val="5BB9F6"/>
              </a:buClr>
              <a:buFont typeface="Wingdings"/>
              <a:buChar char=""/>
              <a:tabLst>
                <a:tab pos="355600" algn="l"/>
              </a:tabLst>
            </a:pPr>
            <a:r>
              <a:rPr sz="2400" spc="-145" dirty="0">
                <a:latin typeface="Verdana"/>
                <a:cs typeface="Verdana"/>
              </a:rPr>
              <a:t>The</a:t>
            </a:r>
            <a:r>
              <a:rPr sz="2400" spc="-190" dirty="0">
                <a:latin typeface="Verdana"/>
                <a:cs typeface="Verdana"/>
              </a:rPr>
              <a:t> </a:t>
            </a:r>
            <a:r>
              <a:rPr sz="2400" spc="-105" dirty="0">
                <a:latin typeface="Verdana"/>
                <a:cs typeface="Verdana"/>
              </a:rPr>
              <a:t>next</a:t>
            </a:r>
            <a:r>
              <a:rPr sz="2400" spc="-190" dirty="0">
                <a:latin typeface="Verdana"/>
                <a:cs typeface="Verdana"/>
              </a:rPr>
              <a:t> </a:t>
            </a:r>
            <a:r>
              <a:rPr sz="2400" spc="55" dirty="0">
                <a:latin typeface="Verdana"/>
                <a:cs typeface="Verdana"/>
              </a:rPr>
              <a:t>one</a:t>
            </a:r>
            <a:r>
              <a:rPr sz="2400" spc="-190" dirty="0">
                <a:latin typeface="Verdana"/>
                <a:cs typeface="Verdana"/>
              </a:rPr>
              <a:t> </a:t>
            </a:r>
            <a:r>
              <a:rPr sz="2400" spc="-215" dirty="0">
                <a:latin typeface="Verdana"/>
                <a:cs typeface="Verdana"/>
              </a:rPr>
              <a:t>(2</a:t>
            </a:r>
            <a:r>
              <a:rPr sz="2400" spc="-180" dirty="0">
                <a:latin typeface="Verdana"/>
                <a:cs typeface="Verdana"/>
              </a:rPr>
              <a:t> </a:t>
            </a:r>
            <a:r>
              <a:rPr sz="2400" spc="85" dirty="0">
                <a:latin typeface="Verdana"/>
                <a:cs typeface="Verdana"/>
              </a:rPr>
              <a:t>and</a:t>
            </a:r>
            <a:r>
              <a:rPr sz="2400" spc="-204" dirty="0">
                <a:latin typeface="Verdana"/>
                <a:cs typeface="Verdana"/>
              </a:rPr>
              <a:t> </a:t>
            </a:r>
            <a:r>
              <a:rPr sz="2400" spc="-25" dirty="0">
                <a:latin typeface="Verdana"/>
                <a:cs typeface="Verdana"/>
              </a:rPr>
              <a:t>9)</a:t>
            </a:r>
            <a:endParaRPr sz="2400">
              <a:latin typeface="Verdana"/>
              <a:cs typeface="Verdana"/>
            </a:endParaRPr>
          </a:p>
          <a:p>
            <a:pPr marL="469900">
              <a:lnSpc>
                <a:spcPct val="100000"/>
              </a:lnSpc>
              <a:spcBef>
                <a:spcPts val="305"/>
              </a:spcBef>
            </a:pPr>
            <a:r>
              <a:rPr sz="2000" spc="-65" dirty="0">
                <a:latin typeface="Verdana"/>
                <a:cs typeface="Verdana"/>
              </a:rPr>
              <a:t>Lowest</a:t>
            </a:r>
            <a:r>
              <a:rPr sz="2000" spc="-135" dirty="0">
                <a:latin typeface="Verdana"/>
                <a:cs typeface="Verdana"/>
              </a:rPr>
              <a:t> </a:t>
            </a:r>
            <a:r>
              <a:rPr sz="2000" spc="-25" dirty="0">
                <a:solidFill>
                  <a:srgbClr val="333399"/>
                </a:solidFill>
                <a:latin typeface="Verdana"/>
                <a:cs typeface="Verdana"/>
              </a:rPr>
              <a:t>2,2</a:t>
            </a:r>
            <a:endParaRPr sz="2000">
              <a:latin typeface="Verdana"/>
              <a:cs typeface="Verdana"/>
            </a:endParaRPr>
          </a:p>
          <a:p>
            <a:pPr marL="355600" indent="-342900">
              <a:lnSpc>
                <a:spcPct val="100000"/>
              </a:lnSpc>
              <a:spcBef>
                <a:spcPts val="390"/>
              </a:spcBef>
              <a:buClr>
                <a:srgbClr val="5BB9F6"/>
              </a:buClr>
              <a:buFont typeface="Wingdings"/>
              <a:buChar char=""/>
              <a:tabLst>
                <a:tab pos="355600" algn="l"/>
              </a:tabLst>
            </a:pPr>
            <a:r>
              <a:rPr sz="2400" spc="-160" dirty="0">
                <a:latin typeface="Verdana"/>
                <a:cs typeface="Verdana"/>
              </a:rPr>
              <a:t>The</a:t>
            </a:r>
            <a:r>
              <a:rPr sz="2400" spc="-185" dirty="0">
                <a:latin typeface="Verdana"/>
                <a:cs typeface="Verdana"/>
              </a:rPr>
              <a:t> </a:t>
            </a:r>
            <a:r>
              <a:rPr sz="2400" spc="-105" dirty="0">
                <a:latin typeface="Verdana"/>
                <a:cs typeface="Verdana"/>
              </a:rPr>
              <a:t>next</a:t>
            </a:r>
            <a:r>
              <a:rPr sz="2400" spc="-180" dirty="0">
                <a:latin typeface="Verdana"/>
                <a:cs typeface="Verdana"/>
              </a:rPr>
              <a:t> </a:t>
            </a:r>
            <a:r>
              <a:rPr sz="2400" spc="55" dirty="0">
                <a:latin typeface="Verdana"/>
                <a:cs typeface="Verdana"/>
              </a:rPr>
              <a:t>one</a:t>
            </a:r>
            <a:r>
              <a:rPr sz="2400" spc="-180" dirty="0">
                <a:latin typeface="Verdana"/>
                <a:cs typeface="Verdana"/>
              </a:rPr>
              <a:t> </a:t>
            </a:r>
            <a:r>
              <a:rPr sz="2400" spc="-215" dirty="0">
                <a:latin typeface="Verdana"/>
                <a:cs typeface="Verdana"/>
              </a:rPr>
              <a:t>(1</a:t>
            </a:r>
            <a:r>
              <a:rPr sz="2400" spc="-170" dirty="0">
                <a:latin typeface="Verdana"/>
                <a:cs typeface="Verdana"/>
              </a:rPr>
              <a:t> </a:t>
            </a:r>
            <a:r>
              <a:rPr sz="2400" spc="85" dirty="0">
                <a:latin typeface="Verdana"/>
                <a:cs typeface="Verdana"/>
              </a:rPr>
              <a:t>and</a:t>
            </a:r>
            <a:r>
              <a:rPr sz="2400" spc="-190" dirty="0">
                <a:latin typeface="Verdana"/>
                <a:cs typeface="Verdana"/>
              </a:rPr>
              <a:t> </a:t>
            </a:r>
            <a:r>
              <a:rPr sz="2400" spc="-25" dirty="0">
                <a:latin typeface="Verdana"/>
                <a:cs typeface="Verdana"/>
              </a:rPr>
              <a:t>4)</a:t>
            </a:r>
            <a:endParaRPr sz="2400">
              <a:latin typeface="Verdana"/>
              <a:cs typeface="Verdana"/>
            </a:endParaRPr>
          </a:p>
          <a:p>
            <a:pPr marL="469900">
              <a:lnSpc>
                <a:spcPct val="100000"/>
              </a:lnSpc>
              <a:spcBef>
                <a:spcPts val="320"/>
              </a:spcBef>
            </a:pPr>
            <a:r>
              <a:rPr sz="2000" spc="-65" dirty="0">
                <a:latin typeface="Verdana"/>
                <a:cs typeface="Verdana"/>
              </a:rPr>
              <a:t>Lowest</a:t>
            </a:r>
            <a:r>
              <a:rPr sz="2000" spc="-135" dirty="0">
                <a:latin typeface="Verdana"/>
                <a:cs typeface="Verdana"/>
              </a:rPr>
              <a:t> </a:t>
            </a:r>
            <a:r>
              <a:rPr sz="2000" spc="-25" dirty="0">
                <a:solidFill>
                  <a:srgbClr val="333399"/>
                </a:solidFill>
                <a:latin typeface="Verdana"/>
                <a:cs typeface="Verdana"/>
              </a:rPr>
              <a:t>1,2</a:t>
            </a:r>
            <a:endParaRPr sz="2000">
              <a:latin typeface="Verdana"/>
              <a:cs typeface="Verdan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734814" y="223519"/>
            <a:ext cx="3303904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60" dirty="0">
                <a:solidFill>
                  <a:srgbClr val="FFFFFF"/>
                </a:solidFill>
                <a:latin typeface="Verdana"/>
                <a:cs typeface="Verdana"/>
              </a:rPr>
              <a:t>Bahria</a:t>
            </a:r>
            <a:r>
              <a:rPr sz="1600" spc="-8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110" dirty="0">
                <a:solidFill>
                  <a:srgbClr val="FFFFFF"/>
                </a:solidFill>
                <a:latin typeface="Verdana"/>
                <a:cs typeface="Verdana"/>
              </a:rPr>
              <a:t>University</a:t>
            </a:r>
            <a:r>
              <a:rPr sz="1600" spc="-6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30" dirty="0">
                <a:solidFill>
                  <a:srgbClr val="FFFFFF"/>
                </a:solidFill>
                <a:latin typeface="Verdana"/>
                <a:cs typeface="Verdana"/>
              </a:rPr>
              <a:t>Karachi</a:t>
            </a:r>
            <a:r>
              <a:rPr sz="1600" spc="-85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10" dirty="0">
                <a:solidFill>
                  <a:srgbClr val="FFFFFF"/>
                </a:solidFill>
                <a:latin typeface="Verdana"/>
                <a:cs typeface="Verdana"/>
              </a:rPr>
              <a:t>Campus</a:t>
            </a:r>
            <a:endParaRPr sz="160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739010" y="753313"/>
            <a:ext cx="5109845" cy="1123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53820" marR="5080" indent="-1341755">
              <a:lnSpc>
                <a:spcPct val="100000"/>
              </a:lnSpc>
              <a:spcBef>
                <a:spcPts val="100"/>
              </a:spcBef>
            </a:pPr>
            <a:r>
              <a:rPr sz="3600" spc="-325" dirty="0"/>
              <a:t>DIVIDE</a:t>
            </a:r>
            <a:r>
              <a:rPr sz="3600" spc="-155" dirty="0"/>
              <a:t> </a:t>
            </a:r>
            <a:r>
              <a:rPr sz="3600" dirty="0"/>
              <a:t>AND</a:t>
            </a:r>
            <a:r>
              <a:rPr sz="3600" spc="-145" dirty="0"/>
              <a:t> </a:t>
            </a:r>
            <a:r>
              <a:rPr sz="3600" spc="-10" dirty="0"/>
              <a:t>CONQUER EXAMPLES</a:t>
            </a:r>
            <a:endParaRPr sz="3600"/>
          </a:p>
        </p:txBody>
      </p:sp>
      <p:sp>
        <p:nvSpPr>
          <p:cNvPr id="3" name="object 3"/>
          <p:cNvSpPr txBox="1"/>
          <p:nvPr/>
        </p:nvSpPr>
        <p:spPr>
          <a:xfrm>
            <a:off x="880363" y="2338577"/>
            <a:ext cx="2273300" cy="24028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95"/>
              </a:spcBef>
              <a:buClr>
                <a:srgbClr val="5BB9F6"/>
              </a:buClr>
              <a:buFont typeface="Wingdings"/>
              <a:buChar char=""/>
              <a:tabLst>
                <a:tab pos="354965" algn="l"/>
              </a:tabLst>
            </a:pPr>
            <a:r>
              <a:rPr sz="2800" spc="-95" dirty="0">
                <a:latin typeface="Times New Roman"/>
                <a:cs typeface="Times New Roman"/>
              </a:rPr>
              <a:t>Merge</a:t>
            </a:r>
            <a:r>
              <a:rPr sz="2800" spc="-265" dirty="0">
                <a:latin typeface="Times New Roman"/>
                <a:cs typeface="Times New Roman"/>
              </a:rPr>
              <a:t> </a:t>
            </a:r>
            <a:r>
              <a:rPr sz="2800" spc="-20" dirty="0">
                <a:latin typeface="Times New Roman"/>
                <a:cs typeface="Times New Roman"/>
              </a:rPr>
              <a:t>sort</a:t>
            </a:r>
            <a:endParaRPr sz="28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100"/>
              </a:spcBef>
              <a:buClr>
                <a:srgbClr val="5BB9F6"/>
              </a:buClr>
              <a:buFont typeface="Wingdings"/>
              <a:buChar char=""/>
            </a:pPr>
            <a:endParaRPr sz="2800">
              <a:latin typeface="Times New Roman"/>
              <a:cs typeface="Times New Roman"/>
            </a:endParaRPr>
          </a:p>
          <a:p>
            <a:pPr marL="354965" indent="-342265">
              <a:lnSpc>
                <a:spcPct val="100000"/>
              </a:lnSpc>
              <a:buClr>
                <a:srgbClr val="5BB9F6"/>
              </a:buClr>
              <a:buFont typeface="Wingdings"/>
              <a:buChar char=""/>
              <a:tabLst>
                <a:tab pos="354965" algn="l"/>
              </a:tabLst>
            </a:pPr>
            <a:r>
              <a:rPr sz="2800" spc="-50" dirty="0">
                <a:latin typeface="Times New Roman"/>
                <a:cs typeface="Times New Roman"/>
              </a:rPr>
              <a:t>Quick</a:t>
            </a:r>
            <a:r>
              <a:rPr sz="2800" spc="-215" dirty="0">
                <a:latin typeface="Times New Roman"/>
                <a:cs typeface="Times New Roman"/>
              </a:rPr>
              <a:t> </a:t>
            </a:r>
            <a:r>
              <a:rPr sz="2800" spc="-20" dirty="0">
                <a:latin typeface="Times New Roman"/>
                <a:cs typeface="Times New Roman"/>
              </a:rPr>
              <a:t>sort</a:t>
            </a:r>
            <a:endParaRPr sz="28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105"/>
              </a:spcBef>
              <a:buClr>
                <a:srgbClr val="5BB9F6"/>
              </a:buClr>
              <a:buFont typeface="Wingdings"/>
              <a:buChar char=""/>
            </a:pPr>
            <a:endParaRPr sz="2800">
              <a:latin typeface="Times New Roman"/>
              <a:cs typeface="Times New Roman"/>
            </a:endParaRPr>
          </a:p>
          <a:p>
            <a:pPr marL="354965" indent="-342265">
              <a:lnSpc>
                <a:spcPct val="100000"/>
              </a:lnSpc>
              <a:buClr>
                <a:srgbClr val="5BB9F6"/>
              </a:buClr>
              <a:buFont typeface="Wingdings"/>
              <a:buChar char=""/>
              <a:tabLst>
                <a:tab pos="354965" algn="l"/>
              </a:tabLst>
            </a:pPr>
            <a:r>
              <a:rPr sz="2800" spc="-20" dirty="0">
                <a:latin typeface="Times New Roman"/>
                <a:cs typeface="Times New Roman"/>
              </a:rPr>
              <a:t>Binary</a:t>
            </a:r>
            <a:r>
              <a:rPr sz="2800" spc="-295" dirty="0">
                <a:latin typeface="Times New Roman"/>
                <a:cs typeface="Times New Roman"/>
              </a:rPr>
              <a:t> </a:t>
            </a:r>
            <a:r>
              <a:rPr sz="2800" spc="-85" dirty="0">
                <a:latin typeface="Times New Roman"/>
                <a:cs typeface="Times New Roman"/>
              </a:rPr>
              <a:t>Search</a:t>
            </a:r>
            <a:endParaRPr sz="28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734814" y="223519"/>
            <a:ext cx="3303904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60" dirty="0">
                <a:solidFill>
                  <a:srgbClr val="FFFFFF"/>
                </a:solidFill>
                <a:latin typeface="Verdana"/>
                <a:cs typeface="Verdana"/>
              </a:rPr>
              <a:t>Bahria</a:t>
            </a:r>
            <a:r>
              <a:rPr sz="1600" spc="-8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110" dirty="0">
                <a:solidFill>
                  <a:srgbClr val="FFFFFF"/>
                </a:solidFill>
                <a:latin typeface="Verdana"/>
                <a:cs typeface="Verdana"/>
              </a:rPr>
              <a:t>University</a:t>
            </a:r>
            <a:r>
              <a:rPr sz="1600" spc="-6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30" dirty="0">
                <a:solidFill>
                  <a:srgbClr val="FFFFFF"/>
                </a:solidFill>
                <a:latin typeface="Verdana"/>
                <a:cs typeface="Verdana"/>
              </a:rPr>
              <a:t>Karachi</a:t>
            </a:r>
            <a:r>
              <a:rPr sz="1600" spc="-85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10" dirty="0">
                <a:solidFill>
                  <a:srgbClr val="FFFFFF"/>
                </a:solidFill>
                <a:latin typeface="Verdana"/>
                <a:cs typeface="Verdana"/>
              </a:rPr>
              <a:t>Campus</a:t>
            </a:r>
            <a:endParaRPr sz="160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02386" y="633729"/>
            <a:ext cx="7954009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245" dirty="0"/>
              <a:t>EXAMPLE:</a:t>
            </a:r>
            <a:r>
              <a:rPr spc="-50" dirty="0"/>
              <a:t> </a:t>
            </a:r>
            <a:r>
              <a:rPr spc="-409" dirty="0"/>
              <a:t>DIVIDE</a:t>
            </a:r>
            <a:r>
              <a:rPr spc="-525" dirty="0"/>
              <a:t> </a:t>
            </a:r>
            <a:r>
              <a:rPr spc="-10" dirty="0"/>
              <a:t>AND</a:t>
            </a:r>
            <a:r>
              <a:rPr spc="-240" dirty="0"/>
              <a:t> </a:t>
            </a:r>
            <a:r>
              <a:rPr spc="-50" dirty="0"/>
              <a:t>CONQUER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4111" y="1237640"/>
            <a:ext cx="4190365" cy="4916805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469900" indent="-457200">
              <a:lnSpc>
                <a:spcPct val="100000"/>
              </a:lnSpc>
              <a:spcBef>
                <a:spcPts val="505"/>
              </a:spcBef>
              <a:buClr>
                <a:srgbClr val="0A86D5"/>
              </a:buClr>
              <a:buFont typeface="Wingdings"/>
              <a:buChar char=""/>
              <a:tabLst>
                <a:tab pos="469900" algn="l"/>
              </a:tabLst>
            </a:pPr>
            <a:r>
              <a:rPr sz="2800" dirty="0">
                <a:latin typeface="Times New Roman"/>
                <a:cs typeface="Times New Roman"/>
              </a:rPr>
              <a:t>Binary</a:t>
            </a:r>
            <a:r>
              <a:rPr sz="2800" spc="-125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Search</a:t>
            </a:r>
            <a:endParaRPr sz="2800">
              <a:latin typeface="Times New Roman"/>
              <a:cs typeface="Times New Roman"/>
            </a:endParaRPr>
          </a:p>
          <a:p>
            <a:pPr marL="469900" indent="-457200">
              <a:lnSpc>
                <a:spcPct val="100000"/>
              </a:lnSpc>
              <a:spcBef>
                <a:spcPts val="409"/>
              </a:spcBef>
              <a:buClr>
                <a:srgbClr val="0A86D5"/>
              </a:buClr>
              <a:buFont typeface="Wingdings"/>
              <a:buChar char=""/>
              <a:tabLst>
                <a:tab pos="469900" algn="l"/>
              </a:tabLst>
            </a:pPr>
            <a:r>
              <a:rPr sz="2800" dirty="0">
                <a:latin typeface="Times New Roman"/>
                <a:cs typeface="Times New Roman"/>
              </a:rPr>
              <a:t>Heap</a:t>
            </a:r>
            <a:r>
              <a:rPr sz="2800" spc="-30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Construction</a:t>
            </a:r>
            <a:endParaRPr sz="2800">
              <a:latin typeface="Times New Roman"/>
              <a:cs typeface="Times New Roman"/>
            </a:endParaRPr>
          </a:p>
          <a:p>
            <a:pPr marL="469900" indent="-457200">
              <a:lnSpc>
                <a:spcPct val="100000"/>
              </a:lnSpc>
              <a:spcBef>
                <a:spcPts val="795"/>
              </a:spcBef>
              <a:buClr>
                <a:srgbClr val="0A86D5"/>
              </a:buClr>
              <a:buFont typeface="Wingdings"/>
              <a:buChar char=""/>
              <a:tabLst>
                <a:tab pos="469900" algn="l"/>
              </a:tabLst>
            </a:pPr>
            <a:r>
              <a:rPr sz="2800" spc="-30" dirty="0">
                <a:latin typeface="Times New Roman"/>
                <a:cs typeface="Times New Roman"/>
              </a:rPr>
              <a:t>Tower</a:t>
            </a:r>
            <a:r>
              <a:rPr sz="2800" spc="-9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of</a:t>
            </a:r>
            <a:r>
              <a:rPr sz="2800" spc="-95" dirty="0">
                <a:latin typeface="Times New Roman"/>
                <a:cs typeface="Times New Roman"/>
              </a:rPr>
              <a:t> </a:t>
            </a:r>
            <a:r>
              <a:rPr sz="2800" spc="-20" dirty="0">
                <a:latin typeface="Times New Roman"/>
                <a:cs typeface="Times New Roman"/>
              </a:rPr>
              <a:t>Hanoi</a:t>
            </a:r>
            <a:endParaRPr sz="2800">
              <a:latin typeface="Times New Roman"/>
              <a:cs typeface="Times New Roman"/>
            </a:endParaRPr>
          </a:p>
          <a:p>
            <a:pPr marL="469900" indent="-457200">
              <a:lnSpc>
                <a:spcPct val="100000"/>
              </a:lnSpc>
              <a:spcBef>
                <a:spcPts val="204"/>
              </a:spcBef>
              <a:buClr>
                <a:srgbClr val="0A86D5"/>
              </a:buClr>
              <a:buFont typeface="Wingdings"/>
              <a:buChar char=""/>
              <a:tabLst>
                <a:tab pos="469900" algn="l"/>
              </a:tabLst>
            </a:pPr>
            <a:r>
              <a:rPr sz="2800" spc="-10" dirty="0">
                <a:latin typeface="Times New Roman"/>
                <a:cs typeface="Times New Roman"/>
              </a:rPr>
              <a:t>Exponentiation</a:t>
            </a:r>
            <a:endParaRPr sz="2800">
              <a:latin typeface="Times New Roman"/>
              <a:cs typeface="Times New Roman"/>
            </a:endParaRPr>
          </a:p>
          <a:p>
            <a:pPr marL="1041400" lvl="1" indent="-571500">
              <a:lnSpc>
                <a:spcPct val="100000"/>
              </a:lnSpc>
              <a:spcBef>
                <a:spcPts val="695"/>
              </a:spcBef>
              <a:buClr>
                <a:srgbClr val="0A86D5"/>
              </a:buClr>
              <a:buFont typeface="Wingdings"/>
              <a:buChar char=""/>
              <a:tabLst>
                <a:tab pos="1041400" algn="l"/>
              </a:tabLst>
            </a:pPr>
            <a:r>
              <a:rPr sz="2800" spc="-10" dirty="0">
                <a:latin typeface="Times New Roman"/>
                <a:cs typeface="Times New Roman"/>
              </a:rPr>
              <a:t>Fibonnacci</a:t>
            </a:r>
            <a:r>
              <a:rPr sz="2800" spc="-295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Sequence</a:t>
            </a:r>
            <a:endParaRPr sz="2800">
              <a:latin typeface="Times New Roman"/>
              <a:cs typeface="Times New Roman"/>
            </a:endParaRPr>
          </a:p>
          <a:p>
            <a:pPr marL="469900" indent="-457200">
              <a:lnSpc>
                <a:spcPct val="100000"/>
              </a:lnSpc>
              <a:spcBef>
                <a:spcPts val="805"/>
              </a:spcBef>
              <a:buClr>
                <a:srgbClr val="0A86D5"/>
              </a:buClr>
              <a:buFont typeface="Wingdings"/>
              <a:buChar char=""/>
              <a:tabLst>
                <a:tab pos="469900" algn="l"/>
              </a:tabLst>
            </a:pPr>
            <a:r>
              <a:rPr sz="2800" dirty="0">
                <a:latin typeface="Times New Roman"/>
                <a:cs typeface="Times New Roman"/>
              </a:rPr>
              <a:t>Quick</a:t>
            </a:r>
            <a:r>
              <a:rPr sz="2800" spc="-105" dirty="0">
                <a:latin typeface="Times New Roman"/>
                <a:cs typeface="Times New Roman"/>
              </a:rPr>
              <a:t> </a:t>
            </a:r>
            <a:r>
              <a:rPr sz="2800" spc="-20" dirty="0">
                <a:latin typeface="Times New Roman"/>
                <a:cs typeface="Times New Roman"/>
              </a:rPr>
              <a:t>Sort</a:t>
            </a:r>
            <a:endParaRPr sz="2800">
              <a:latin typeface="Times New Roman"/>
              <a:cs typeface="Times New Roman"/>
            </a:endParaRPr>
          </a:p>
          <a:p>
            <a:pPr marL="469900" indent="-457200">
              <a:lnSpc>
                <a:spcPct val="100000"/>
              </a:lnSpc>
              <a:spcBef>
                <a:spcPts val="805"/>
              </a:spcBef>
              <a:buClr>
                <a:srgbClr val="0A86D5"/>
              </a:buClr>
              <a:buFont typeface="Wingdings"/>
              <a:buChar char=""/>
              <a:tabLst>
                <a:tab pos="469900" algn="l"/>
              </a:tabLst>
            </a:pPr>
            <a:r>
              <a:rPr sz="2800" dirty="0">
                <a:latin typeface="Times New Roman"/>
                <a:cs typeface="Times New Roman"/>
              </a:rPr>
              <a:t>Merge</a:t>
            </a:r>
            <a:r>
              <a:rPr sz="2800" spc="-110" dirty="0">
                <a:latin typeface="Times New Roman"/>
                <a:cs typeface="Times New Roman"/>
              </a:rPr>
              <a:t> </a:t>
            </a:r>
            <a:r>
              <a:rPr sz="2800" spc="-20" dirty="0">
                <a:latin typeface="Times New Roman"/>
                <a:cs typeface="Times New Roman"/>
              </a:rPr>
              <a:t>Sort</a:t>
            </a:r>
            <a:endParaRPr sz="2800">
              <a:latin typeface="Times New Roman"/>
              <a:cs typeface="Times New Roman"/>
            </a:endParaRPr>
          </a:p>
          <a:p>
            <a:pPr marL="469900" indent="-457200">
              <a:lnSpc>
                <a:spcPct val="100000"/>
              </a:lnSpc>
              <a:spcBef>
                <a:spcPts val="395"/>
              </a:spcBef>
              <a:buClr>
                <a:srgbClr val="0A86D5"/>
              </a:buClr>
              <a:buFont typeface="Wingdings"/>
              <a:buChar char=""/>
              <a:tabLst>
                <a:tab pos="469900" algn="l"/>
              </a:tabLst>
            </a:pPr>
            <a:r>
              <a:rPr sz="2800" dirty="0">
                <a:latin typeface="Times New Roman"/>
                <a:cs typeface="Times New Roman"/>
              </a:rPr>
              <a:t>Multiplying</a:t>
            </a:r>
            <a:r>
              <a:rPr sz="2800" spc="-10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large</a:t>
            </a:r>
            <a:r>
              <a:rPr sz="2800" spc="-130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Integers</a:t>
            </a:r>
            <a:endParaRPr sz="2800">
              <a:latin typeface="Times New Roman"/>
              <a:cs typeface="Times New Roman"/>
            </a:endParaRPr>
          </a:p>
          <a:p>
            <a:pPr marL="469900" indent="-457200">
              <a:lnSpc>
                <a:spcPct val="100000"/>
              </a:lnSpc>
              <a:spcBef>
                <a:spcPts val="204"/>
              </a:spcBef>
              <a:buClr>
                <a:srgbClr val="0A86D5"/>
              </a:buClr>
              <a:buFont typeface="Wingdings"/>
              <a:buChar char=""/>
              <a:tabLst>
                <a:tab pos="469900" algn="l"/>
              </a:tabLst>
            </a:pPr>
            <a:r>
              <a:rPr sz="2800" dirty="0">
                <a:latin typeface="Times New Roman"/>
                <a:cs typeface="Times New Roman"/>
              </a:rPr>
              <a:t>Matrix</a:t>
            </a:r>
            <a:r>
              <a:rPr sz="2800" spc="-135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Multiplications</a:t>
            </a:r>
            <a:endParaRPr sz="2800">
              <a:latin typeface="Times New Roman"/>
              <a:cs typeface="Times New Roman"/>
            </a:endParaRPr>
          </a:p>
          <a:p>
            <a:pPr marL="469900" indent="-457200">
              <a:lnSpc>
                <a:spcPct val="100000"/>
              </a:lnSpc>
              <a:spcBef>
                <a:spcPts val="195"/>
              </a:spcBef>
              <a:buClr>
                <a:srgbClr val="0A86D5"/>
              </a:buClr>
              <a:buFont typeface="Wingdings"/>
              <a:buChar char=""/>
              <a:tabLst>
                <a:tab pos="469900" algn="l"/>
              </a:tabLst>
            </a:pPr>
            <a:r>
              <a:rPr sz="2800" dirty="0">
                <a:latin typeface="Times New Roman"/>
                <a:cs typeface="Times New Roman"/>
              </a:rPr>
              <a:t>Closest</a:t>
            </a:r>
            <a:r>
              <a:rPr sz="2800" spc="-20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Pairs</a:t>
            </a:r>
            <a:endParaRPr sz="28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734814" y="223519"/>
            <a:ext cx="3303904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60" dirty="0">
                <a:solidFill>
                  <a:srgbClr val="FFFFFF"/>
                </a:solidFill>
                <a:latin typeface="Verdana"/>
                <a:cs typeface="Verdana"/>
              </a:rPr>
              <a:t>Bahria</a:t>
            </a:r>
            <a:r>
              <a:rPr sz="1600" spc="-8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110" dirty="0">
                <a:solidFill>
                  <a:srgbClr val="FFFFFF"/>
                </a:solidFill>
                <a:latin typeface="Verdana"/>
                <a:cs typeface="Verdana"/>
              </a:rPr>
              <a:t>University</a:t>
            </a:r>
            <a:r>
              <a:rPr sz="1600" spc="-6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30" dirty="0">
                <a:solidFill>
                  <a:srgbClr val="FFFFFF"/>
                </a:solidFill>
                <a:latin typeface="Verdana"/>
                <a:cs typeface="Verdana"/>
              </a:rPr>
              <a:t>Karachi</a:t>
            </a:r>
            <a:r>
              <a:rPr sz="1600" spc="-85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10" dirty="0">
                <a:solidFill>
                  <a:srgbClr val="FFFFFF"/>
                </a:solidFill>
                <a:latin typeface="Verdana"/>
                <a:cs typeface="Verdana"/>
              </a:rPr>
              <a:t>Campus</a:t>
            </a:r>
            <a:endParaRPr sz="160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03758" rIns="0" bIns="0" rtlCol="0">
            <a:spAutoFit/>
          </a:bodyPr>
          <a:lstStyle/>
          <a:p>
            <a:pPr marL="1830070">
              <a:lnSpc>
                <a:spcPct val="100000"/>
              </a:lnSpc>
              <a:spcBef>
                <a:spcPts val="95"/>
              </a:spcBef>
            </a:pPr>
            <a:r>
              <a:rPr spc="-60" dirty="0"/>
              <a:t>MERGE</a:t>
            </a:r>
            <a:r>
              <a:rPr spc="-204" dirty="0"/>
              <a:t> </a:t>
            </a:r>
            <a:r>
              <a:rPr spc="-405" dirty="0"/>
              <a:t>SORT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70712" y="2159635"/>
            <a:ext cx="7233920" cy="375348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4965" marR="208915" indent="-342900">
              <a:lnSpc>
                <a:spcPct val="100000"/>
              </a:lnSpc>
              <a:spcBef>
                <a:spcPts val="105"/>
              </a:spcBef>
              <a:buClr>
                <a:srgbClr val="5BB9F6"/>
              </a:buClr>
              <a:buFont typeface="Wingdings"/>
              <a:buChar char=""/>
              <a:tabLst>
                <a:tab pos="354965" algn="l"/>
              </a:tabLst>
            </a:pPr>
            <a:r>
              <a:rPr sz="3200" spc="-229" dirty="0">
                <a:latin typeface="Verdana"/>
                <a:cs typeface="Verdana"/>
              </a:rPr>
              <a:t>The</a:t>
            </a:r>
            <a:r>
              <a:rPr sz="3200" spc="-350" dirty="0">
                <a:latin typeface="Verdana"/>
                <a:cs typeface="Verdana"/>
              </a:rPr>
              <a:t> </a:t>
            </a:r>
            <a:r>
              <a:rPr sz="3200" spc="-160" dirty="0">
                <a:latin typeface="Verdana"/>
                <a:cs typeface="Verdana"/>
              </a:rPr>
              <a:t>merge</a:t>
            </a:r>
            <a:r>
              <a:rPr sz="3200" spc="-595" dirty="0">
                <a:latin typeface="Verdana"/>
                <a:cs typeface="Verdana"/>
              </a:rPr>
              <a:t> </a:t>
            </a:r>
            <a:r>
              <a:rPr sz="3200" spc="-295" dirty="0">
                <a:latin typeface="Verdana"/>
                <a:cs typeface="Verdana"/>
              </a:rPr>
              <a:t>sort</a:t>
            </a:r>
            <a:r>
              <a:rPr sz="3200" spc="-405" dirty="0">
                <a:latin typeface="Verdana"/>
                <a:cs typeface="Verdana"/>
              </a:rPr>
              <a:t> </a:t>
            </a:r>
            <a:r>
              <a:rPr sz="3200" spc="-155" dirty="0">
                <a:latin typeface="Verdana"/>
                <a:cs typeface="Verdana"/>
              </a:rPr>
              <a:t>algorithm</a:t>
            </a:r>
            <a:r>
              <a:rPr sz="3200" spc="-390" dirty="0">
                <a:latin typeface="Verdana"/>
                <a:cs typeface="Verdana"/>
              </a:rPr>
              <a:t> </a:t>
            </a:r>
            <a:r>
              <a:rPr sz="3200" spc="-275" dirty="0">
                <a:latin typeface="Verdana"/>
                <a:cs typeface="Verdana"/>
              </a:rPr>
              <a:t>works</a:t>
            </a:r>
            <a:r>
              <a:rPr sz="3200" spc="-370" dirty="0">
                <a:latin typeface="Verdana"/>
                <a:cs typeface="Verdana"/>
              </a:rPr>
              <a:t> </a:t>
            </a:r>
            <a:r>
              <a:rPr sz="3200" spc="-130" dirty="0">
                <a:latin typeface="Verdana"/>
                <a:cs typeface="Verdana"/>
              </a:rPr>
              <a:t>from </a:t>
            </a:r>
            <a:r>
              <a:rPr sz="3200" dirty="0">
                <a:latin typeface="Verdana"/>
                <a:cs typeface="Verdana"/>
              </a:rPr>
              <a:t>“the</a:t>
            </a:r>
            <a:r>
              <a:rPr sz="3200" spc="-65" dirty="0">
                <a:latin typeface="Verdana"/>
                <a:cs typeface="Verdana"/>
              </a:rPr>
              <a:t> </a:t>
            </a:r>
            <a:r>
              <a:rPr sz="3200" spc="-140" dirty="0">
                <a:latin typeface="Verdana"/>
                <a:cs typeface="Verdana"/>
              </a:rPr>
              <a:t>bottom</a:t>
            </a:r>
            <a:r>
              <a:rPr sz="3200" spc="-555" dirty="0">
                <a:latin typeface="Verdana"/>
                <a:cs typeface="Verdana"/>
              </a:rPr>
              <a:t> </a:t>
            </a:r>
            <a:r>
              <a:rPr sz="3200" spc="-25" dirty="0">
                <a:latin typeface="Verdana"/>
                <a:cs typeface="Verdana"/>
              </a:rPr>
              <a:t>up”</a:t>
            </a:r>
            <a:endParaRPr sz="3200">
              <a:latin typeface="Verdana"/>
              <a:cs typeface="Verdana"/>
            </a:endParaRPr>
          </a:p>
          <a:p>
            <a:pPr marL="767080" marR="5080" lvl="1" indent="-342900">
              <a:lnSpc>
                <a:spcPct val="100000"/>
              </a:lnSpc>
              <a:spcBef>
                <a:spcPts val="505"/>
              </a:spcBef>
              <a:buClr>
                <a:srgbClr val="5BB9F6"/>
              </a:buClr>
              <a:buSzPct val="78571"/>
              <a:buFont typeface="Wingdings"/>
              <a:buChar char=""/>
              <a:tabLst>
                <a:tab pos="767080" algn="l"/>
              </a:tabLst>
            </a:pPr>
            <a:r>
              <a:rPr sz="2800" spc="-150" dirty="0">
                <a:latin typeface="Verdana"/>
                <a:cs typeface="Verdana"/>
              </a:rPr>
              <a:t>startby</a:t>
            </a:r>
            <a:r>
              <a:rPr sz="2800" spc="-445" dirty="0">
                <a:latin typeface="Verdana"/>
                <a:cs typeface="Verdana"/>
              </a:rPr>
              <a:t> </a:t>
            </a:r>
            <a:r>
              <a:rPr sz="2800" spc="-185" dirty="0">
                <a:latin typeface="Verdana"/>
                <a:cs typeface="Verdana"/>
              </a:rPr>
              <a:t>solving</a:t>
            </a:r>
            <a:r>
              <a:rPr sz="2800" spc="-290" dirty="0">
                <a:latin typeface="Verdana"/>
                <a:cs typeface="Verdana"/>
              </a:rPr>
              <a:t> </a:t>
            </a:r>
            <a:r>
              <a:rPr sz="2800" spc="-90" dirty="0">
                <a:latin typeface="Verdana"/>
                <a:cs typeface="Verdana"/>
              </a:rPr>
              <a:t>the</a:t>
            </a:r>
            <a:r>
              <a:rPr sz="2800" spc="-350" dirty="0">
                <a:latin typeface="Verdana"/>
                <a:cs typeface="Verdana"/>
              </a:rPr>
              <a:t> </a:t>
            </a:r>
            <a:r>
              <a:rPr sz="2800" spc="-204" dirty="0">
                <a:latin typeface="Verdana"/>
                <a:cs typeface="Verdana"/>
              </a:rPr>
              <a:t>smallest</a:t>
            </a:r>
            <a:r>
              <a:rPr sz="2800" spc="-305" dirty="0">
                <a:latin typeface="Verdana"/>
                <a:cs typeface="Verdana"/>
              </a:rPr>
              <a:t> </a:t>
            </a:r>
            <a:r>
              <a:rPr sz="2800" spc="-75" dirty="0">
                <a:latin typeface="Verdana"/>
                <a:cs typeface="Verdana"/>
              </a:rPr>
              <a:t>pieces</a:t>
            </a:r>
            <a:r>
              <a:rPr sz="2800" spc="-395" dirty="0">
                <a:latin typeface="Verdana"/>
                <a:cs typeface="Verdana"/>
              </a:rPr>
              <a:t> </a:t>
            </a:r>
            <a:r>
              <a:rPr sz="2800" spc="-70" dirty="0">
                <a:latin typeface="Verdana"/>
                <a:cs typeface="Verdana"/>
              </a:rPr>
              <a:t>of</a:t>
            </a:r>
            <a:r>
              <a:rPr sz="2800" spc="-459" dirty="0">
                <a:latin typeface="Verdana"/>
                <a:cs typeface="Verdana"/>
              </a:rPr>
              <a:t> </a:t>
            </a:r>
            <a:r>
              <a:rPr sz="2800" spc="-25" dirty="0">
                <a:latin typeface="Verdana"/>
                <a:cs typeface="Verdana"/>
              </a:rPr>
              <a:t>the </a:t>
            </a:r>
            <a:r>
              <a:rPr sz="2800" dirty="0">
                <a:latin typeface="Verdana"/>
                <a:cs typeface="Verdana"/>
              </a:rPr>
              <a:t>main</a:t>
            </a:r>
            <a:r>
              <a:rPr sz="2800" spc="20" dirty="0">
                <a:latin typeface="Verdana"/>
                <a:cs typeface="Verdana"/>
              </a:rPr>
              <a:t> </a:t>
            </a:r>
            <a:r>
              <a:rPr sz="2800" spc="-10" dirty="0">
                <a:latin typeface="Verdana"/>
                <a:cs typeface="Verdana"/>
              </a:rPr>
              <a:t>problem</a:t>
            </a:r>
            <a:endParaRPr sz="2800">
              <a:latin typeface="Verdana"/>
              <a:cs typeface="Verdana"/>
            </a:endParaRPr>
          </a:p>
          <a:p>
            <a:pPr marL="767080" marR="174625" lvl="1" indent="-342900">
              <a:lnSpc>
                <a:spcPct val="100000"/>
              </a:lnSpc>
              <a:spcBef>
                <a:spcPts val="509"/>
              </a:spcBef>
              <a:buClr>
                <a:srgbClr val="5BB9F6"/>
              </a:buClr>
              <a:buSzPct val="78571"/>
              <a:buFont typeface="Wingdings"/>
              <a:buChar char=""/>
              <a:tabLst>
                <a:tab pos="767080" algn="l"/>
              </a:tabLst>
            </a:pPr>
            <a:r>
              <a:rPr sz="2800" spc="-70" dirty="0">
                <a:latin typeface="Verdana"/>
                <a:cs typeface="Verdana"/>
              </a:rPr>
              <a:t>keep</a:t>
            </a:r>
            <a:r>
              <a:rPr sz="2800" spc="-395" dirty="0">
                <a:latin typeface="Verdana"/>
                <a:cs typeface="Verdana"/>
              </a:rPr>
              <a:t> </a:t>
            </a:r>
            <a:r>
              <a:rPr sz="2800" spc="-85" dirty="0">
                <a:latin typeface="Verdana"/>
                <a:cs typeface="Verdana"/>
              </a:rPr>
              <a:t>combining</a:t>
            </a:r>
            <a:r>
              <a:rPr sz="2800" spc="-350" dirty="0">
                <a:latin typeface="Verdana"/>
                <a:cs typeface="Verdana"/>
              </a:rPr>
              <a:t> </a:t>
            </a:r>
            <a:r>
              <a:rPr sz="2800" spc="-155" dirty="0">
                <a:latin typeface="Verdana"/>
                <a:cs typeface="Verdana"/>
              </a:rPr>
              <a:t>their</a:t>
            </a:r>
            <a:r>
              <a:rPr sz="2800" spc="-250" dirty="0">
                <a:latin typeface="Verdana"/>
                <a:cs typeface="Verdana"/>
              </a:rPr>
              <a:t> </a:t>
            </a:r>
            <a:r>
              <a:rPr sz="2800" spc="-260" dirty="0">
                <a:latin typeface="Verdana"/>
                <a:cs typeface="Verdana"/>
              </a:rPr>
              <a:t>results</a:t>
            </a:r>
            <a:r>
              <a:rPr sz="2800" spc="-275" dirty="0">
                <a:latin typeface="Verdana"/>
                <a:cs typeface="Verdana"/>
              </a:rPr>
              <a:t> </a:t>
            </a:r>
            <a:r>
              <a:rPr sz="2800" spc="-130" dirty="0">
                <a:latin typeface="Verdana"/>
                <a:cs typeface="Verdana"/>
              </a:rPr>
              <a:t>into</a:t>
            </a:r>
            <a:r>
              <a:rPr sz="2800" spc="-250" dirty="0">
                <a:latin typeface="Verdana"/>
                <a:cs typeface="Verdana"/>
              </a:rPr>
              <a:t> </a:t>
            </a:r>
            <a:r>
              <a:rPr sz="2800" spc="-100" dirty="0">
                <a:latin typeface="Verdana"/>
                <a:cs typeface="Verdana"/>
              </a:rPr>
              <a:t>larger solutions</a:t>
            </a:r>
            <a:endParaRPr sz="2800">
              <a:latin typeface="Verdana"/>
              <a:cs typeface="Verdana"/>
            </a:endParaRPr>
          </a:p>
          <a:p>
            <a:pPr marL="767080" marR="262255" lvl="1" indent="-342900">
              <a:lnSpc>
                <a:spcPct val="100000"/>
              </a:lnSpc>
              <a:spcBef>
                <a:spcPts val="490"/>
              </a:spcBef>
              <a:buClr>
                <a:srgbClr val="5BB9F6"/>
              </a:buClr>
              <a:buSzPct val="78571"/>
              <a:buFont typeface="Wingdings"/>
              <a:buChar char=""/>
              <a:tabLst>
                <a:tab pos="767080" algn="l"/>
              </a:tabLst>
            </a:pPr>
            <a:r>
              <a:rPr sz="2800" spc="-125" dirty="0">
                <a:latin typeface="Verdana"/>
                <a:cs typeface="Verdana"/>
              </a:rPr>
              <a:t>eventually</a:t>
            </a:r>
            <a:r>
              <a:rPr sz="2800" spc="-250" dirty="0">
                <a:latin typeface="Verdana"/>
                <a:cs typeface="Verdana"/>
              </a:rPr>
              <a:t> </a:t>
            </a:r>
            <a:r>
              <a:rPr sz="2800" spc="-90" dirty="0">
                <a:latin typeface="Verdana"/>
                <a:cs typeface="Verdana"/>
              </a:rPr>
              <a:t>the</a:t>
            </a:r>
            <a:r>
              <a:rPr sz="2800" spc="-335" dirty="0">
                <a:latin typeface="Verdana"/>
                <a:cs typeface="Verdana"/>
              </a:rPr>
              <a:t> </a:t>
            </a:r>
            <a:r>
              <a:rPr sz="2800" spc="-110" dirty="0">
                <a:latin typeface="Verdana"/>
                <a:cs typeface="Verdana"/>
              </a:rPr>
              <a:t>original</a:t>
            </a:r>
            <a:r>
              <a:rPr sz="2800" spc="-235" dirty="0">
                <a:latin typeface="Verdana"/>
                <a:cs typeface="Verdana"/>
              </a:rPr>
              <a:t> </a:t>
            </a:r>
            <a:r>
              <a:rPr sz="2800" spc="-114" dirty="0">
                <a:latin typeface="Verdana"/>
                <a:cs typeface="Verdana"/>
              </a:rPr>
              <a:t>problem</a:t>
            </a:r>
            <a:r>
              <a:rPr sz="2800" spc="-335" dirty="0">
                <a:latin typeface="Verdana"/>
                <a:cs typeface="Verdana"/>
              </a:rPr>
              <a:t> </a:t>
            </a:r>
            <a:r>
              <a:rPr sz="2800" spc="-125" dirty="0">
                <a:latin typeface="Verdana"/>
                <a:cs typeface="Verdana"/>
              </a:rPr>
              <a:t>will</a:t>
            </a:r>
            <a:r>
              <a:rPr sz="2800" spc="-640" dirty="0">
                <a:latin typeface="Verdana"/>
                <a:cs typeface="Verdana"/>
              </a:rPr>
              <a:t> </a:t>
            </a:r>
            <a:r>
              <a:rPr sz="2800" spc="35" dirty="0">
                <a:latin typeface="Verdana"/>
                <a:cs typeface="Verdana"/>
              </a:rPr>
              <a:t>be </a:t>
            </a:r>
            <a:r>
              <a:rPr sz="2800" spc="-10" dirty="0">
                <a:latin typeface="Verdana"/>
                <a:cs typeface="Verdana"/>
              </a:rPr>
              <a:t>solved</a:t>
            </a:r>
            <a:endParaRPr sz="2800">
              <a:latin typeface="Verdana"/>
              <a:cs typeface="Verdan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734814" y="223519"/>
            <a:ext cx="3303904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60" dirty="0">
                <a:solidFill>
                  <a:srgbClr val="FFFFFF"/>
                </a:solidFill>
                <a:latin typeface="Verdana"/>
                <a:cs typeface="Verdana"/>
              </a:rPr>
              <a:t>Bahria</a:t>
            </a:r>
            <a:r>
              <a:rPr sz="1600" spc="-8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110" dirty="0">
                <a:solidFill>
                  <a:srgbClr val="FFFFFF"/>
                </a:solidFill>
                <a:latin typeface="Verdana"/>
                <a:cs typeface="Verdana"/>
              </a:rPr>
              <a:t>University</a:t>
            </a:r>
            <a:r>
              <a:rPr sz="1600" spc="-6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30" dirty="0">
                <a:solidFill>
                  <a:srgbClr val="FFFFFF"/>
                </a:solidFill>
                <a:latin typeface="Verdana"/>
                <a:cs typeface="Verdana"/>
              </a:rPr>
              <a:t>Karachi</a:t>
            </a:r>
            <a:r>
              <a:rPr sz="1600" spc="-85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10" dirty="0">
                <a:solidFill>
                  <a:srgbClr val="FFFFFF"/>
                </a:solidFill>
                <a:latin typeface="Verdana"/>
                <a:cs typeface="Verdana"/>
              </a:rPr>
              <a:t>Campus</a:t>
            </a:r>
            <a:endParaRPr sz="160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721610" y="825246"/>
            <a:ext cx="3147060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60" dirty="0"/>
              <a:t>MERGE</a:t>
            </a:r>
            <a:r>
              <a:rPr spc="-204" dirty="0"/>
              <a:t> </a:t>
            </a:r>
            <a:r>
              <a:rPr spc="-405" dirty="0"/>
              <a:t>SORT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20700" y="1487551"/>
            <a:ext cx="5558790" cy="1108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100"/>
              </a:spcBef>
              <a:buClr>
                <a:srgbClr val="5BB9F6"/>
              </a:buClr>
              <a:buFont typeface="Wingdings"/>
              <a:buChar char=""/>
              <a:tabLst>
                <a:tab pos="354965" algn="l"/>
              </a:tabLst>
            </a:pPr>
            <a:r>
              <a:rPr sz="2400" spc="-275" dirty="0">
                <a:latin typeface="Verdana"/>
                <a:cs typeface="Verdana"/>
              </a:rPr>
              <a:t>Sort</a:t>
            </a:r>
            <a:r>
              <a:rPr sz="2400" spc="-320" dirty="0">
                <a:latin typeface="Verdana"/>
                <a:cs typeface="Verdana"/>
              </a:rPr>
              <a:t> </a:t>
            </a:r>
            <a:r>
              <a:rPr sz="2400" spc="-125" dirty="0">
                <a:latin typeface="Verdana"/>
                <a:cs typeface="Verdana"/>
              </a:rPr>
              <a:t>into</a:t>
            </a:r>
            <a:r>
              <a:rPr sz="2400" spc="-305" dirty="0">
                <a:latin typeface="Verdana"/>
                <a:cs typeface="Verdana"/>
              </a:rPr>
              <a:t> </a:t>
            </a:r>
            <a:r>
              <a:rPr sz="2400" spc="-55" dirty="0">
                <a:latin typeface="Verdana"/>
                <a:cs typeface="Verdana"/>
              </a:rPr>
              <a:t>nondecreasingorder</a:t>
            </a:r>
            <a:endParaRPr sz="2400">
              <a:latin typeface="Verdana"/>
              <a:cs typeface="Verdana"/>
            </a:endParaRPr>
          </a:p>
          <a:p>
            <a:pPr marL="1068705">
              <a:lnSpc>
                <a:spcPct val="100000"/>
              </a:lnSpc>
              <a:spcBef>
                <a:spcPts val="2760"/>
              </a:spcBef>
              <a:tabLst>
                <a:tab pos="1765300" algn="l"/>
                <a:tab pos="2640330" algn="l"/>
                <a:tab pos="3515360" algn="l"/>
                <a:tab pos="4219575" algn="l"/>
                <a:tab pos="5008880" algn="l"/>
              </a:tabLst>
            </a:pPr>
            <a:r>
              <a:rPr sz="2400" b="1" spc="-285" dirty="0">
                <a:latin typeface="Tahoma"/>
                <a:cs typeface="Tahoma"/>
              </a:rPr>
              <a:t>[25]</a:t>
            </a:r>
            <a:r>
              <a:rPr sz="2400" b="1" dirty="0">
                <a:latin typeface="Tahoma"/>
                <a:cs typeface="Tahoma"/>
              </a:rPr>
              <a:t>	</a:t>
            </a:r>
            <a:r>
              <a:rPr sz="2400" b="1" spc="-285" dirty="0">
                <a:latin typeface="Tahoma"/>
                <a:cs typeface="Tahoma"/>
              </a:rPr>
              <a:t>[57]</a:t>
            </a:r>
            <a:r>
              <a:rPr sz="2400" b="1" dirty="0">
                <a:latin typeface="Tahoma"/>
                <a:cs typeface="Tahoma"/>
              </a:rPr>
              <a:t>	</a:t>
            </a:r>
            <a:r>
              <a:rPr sz="2400" b="1" spc="-285" dirty="0">
                <a:latin typeface="Tahoma"/>
                <a:cs typeface="Tahoma"/>
              </a:rPr>
              <a:t>[48]</a:t>
            </a:r>
            <a:r>
              <a:rPr sz="2400" b="1" dirty="0">
                <a:latin typeface="Tahoma"/>
                <a:cs typeface="Tahoma"/>
              </a:rPr>
              <a:t>	</a:t>
            </a:r>
            <a:r>
              <a:rPr sz="2400" b="1" spc="-285" dirty="0">
                <a:latin typeface="Tahoma"/>
                <a:cs typeface="Tahoma"/>
              </a:rPr>
              <a:t>[37]</a:t>
            </a:r>
            <a:r>
              <a:rPr sz="2400" b="1" dirty="0">
                <a:latin typeface="Tahoma"/>
                <a:cs typeface="Tahoma"/>
              </a:rPr>
              <a:t>	</a:t>
            </a:r>
            <a:r>
              <a:rPr sz="2400" b="1" spc="-285" dirty="0">
                <a:latin typeface="Tahoma"/>
                <a:cs typeface="Tahoma"/>
              </a:rPr>
              <a:t>[12]</a:t>
            </a:r>
            <a:r>
              <a:rPr sz="2400" b="1" dirty="0">
                <a:latin typeface="Tahoma"/>
                <a:cs typeface="Tahoma"/>
              </a:rPr>
              <a:t>	</a:t>
            </a:r>
            <a:r>
              <a:rPr sz="2400" b="1" spc="-285" dirty="0">
                <a:latin typeface="Tahoma"/>
                <a:cs typeface="Tahoma"/>
              </a:rPr>
              <a:t>[92]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305169" y="2204084"/>
            <a:ext cx="126809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718185" algn="l"/>
              </a:tabLst>
            </a:pPr>
            <a:r>
              <a:rPr sz="2400" b="1" spc="-285" dirty="0">
                <a:latin typeface="Tahoma"/>
                <a:cs typeface="Tahoma"/>
              </a:rPr>
              <a:t>[86]</a:t>
            </a:r>
            <a:r>
              <a:rPr sz="2400" b="1" dirty="0">
                <a:latin typeface="Tahoma"/>
                <a:cs typeface="Tahoma"/>
              </a:rPr>
              <a:t>	</a:t>
            </a:r>
            <a:r>
              <a:rPr sz="2400" b="1" spc="-285" dirty="0">
                <a:latin typeface="Tahoma"/>
                <a:cs typeface="Tahoma"/>
              </a:rPr>
              <a:t>[33]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94968" y="2582036"/>
            <a:ext cx="947419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-20" dirty="0">
                <a:latin typeface="Tahoma"/>
                <a:cs typeface="Tahoma"/>
              </a:rPr>
              <a:t>pass</a:t>
            </a:r>
            <a:r>
              <a:rPr sz="2400" b="1" spc="-155" dirty="0">
                <a:latin typeface="Tahoma"/>
                <a:cs typeface="Tahoma"/>
              </a:rPr>
              <a:t> </a:t>
            </a:r>
            <a:r>
              <a:rPr sz="2400" b="1" spc="-114" dirty="0">
                <a:latin typeface="Tahoma"/>
                <a:cs typeface="Tahoma"/>
              </a:rPr>
              <a:t>1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994968" y="3255340"/>
            <a:ext cx="94805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-25" dirty="0">
                <a:latin typeface="Tahoma"/>
                <a:cs typeface="Tahoma"/>
              </a:rPr>
              <a:t>pass</a:t>
            </a:r>
            <a:r>
              <a:rPr sz="2400" b="1" spc="-150" dirty="0">
                <a:latin typeface="Tahoma"/>
                <a:cs typeface="Tahoma"/>
              </a:rPr>
              <a:t> </a:t>
            </a:r>
            <a:r>
              <a:rPr sz="2400" b="1" spc="-95" dirty="0">
                <a:latin typeface="Tahoma"/>
                <a:cs typeface="Tahoma"/>
              </a:rPr>
              <a:t>2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577086" y="3598926"/>
            <a:ext cx="201358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926465" algn="l"/>
                <a:tab pos="1658620" algn="l"/>
              </a:tabLst>
            </a:pPr>
            <a:r>
              <a:rPr sz="2400" b="1" spc="-25" dirty="0">
                <a:latin typeface="Tahoma"/>
                <a:cs typeface="Tahoma"/>
              </a:rPr>
              <a:t>[25</a:t>
            </a:r>
            <a:r>
              <a:rPr sz="2400" b="1" dirty="0">
                <a:latin typeface="Tahoma"/>
                <a:cs typeface="Tahoma"/>
              </a:rPr>
              <a:t>	</a:t>
            </a:r>
            <a:r>
              <a:rPr sz="2400" b="1" spc="-25" dirty="0">
                <a:latin typeface="Tahoma"/>
                <a:cs typeface="Tahoma"/>
              </a:rPr>
              <a:t>37</a:t>
            </a:r>
            <a:r>
              <a:rPr sz="2400" b="1" dirty="0">
                <a:latin typeface="Tahoma"/>
                <a:cs typeface="Tahoma"/>
              </a:rPr>
              <a:t>	</a:t>
            </a:r>
            <a:r>
              <a:rPr sz="2400" b="1" spc="-160" dirty="0">
                <a:latin typeface="Tahoma"/>
                <a:cs typeface="Tahoma"/>
              </a:rPr>
              <a:t>48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577086" y="2924936"/>
            <a:ext cx="5769610" cy="10655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5080" algn="r">
              <a:lnSpc>
                <a:spcPct val="100000"/>
              </a:lnSpc>
              <a:spcBef>
                <a:spcPts val="100"/>
              </a:spcBef>
              <a:tabLst>
                <a:tab pos="913765" algn="l"/>
                <a:tab pos="2377440" algn="l"/>
                <a:tab pos="3840479" algn="l"/>
                <a:tab pos="5304155" algn="l"/>
              </a:tabLst>
            </a:pPr>
            <a:r>
              <a:rPr sz="2400" b="1" spc="-25" dirty="0">
                <a:latin typeface="Tahoma"/>
                <a:cs typeface="Tahoma"/>
              </a:rPr>
              <a:t>[25</a:t>
            </a:r>
            <a:r>
              <a:rPr sz="2400" b="1" dirty="0">
                <a:latin typeface="Tahoma"/>
                <a:cs typeface="Tahoma"/>
              </a:rPr>
              <a:t>	</a:t>
            </a:r>
            <a:r>
              <a:rPr sz="2400" b="1" spc="-10" dirty="0">
                <a:latin typeface="Tahoma"/>
                <a:cs typeface="Tahoma"/>
              </a:rPr>
              <a:t>57][37</a:t>
            </a:r>
            <a:r>
              <a:rPr sz="2400" b="1" dirty="0">
                <a:latin typeface="Tahoma"/>
                <a:cs typeface="Tahoma"/>
              </a:rPr>
              <a:t>	</a:t>
            </a:r>
            <a:r>
              <a:rPr sz="2400" b="1" spc="-10" dirty="0">
                <a:latin typeface="Tahoma"/>
                <a:cs typeface="Tahoma"/>
              </a:rPr>
              <a:t>48][12</a:t>
            </a:r>
            <a:r>
              <a:rPr sz="2400" b="1" dirty="0">
                <a:latin typeface="Tahoma"/>
                <a:cs typeface="Tahoma"/>
              </a:rPr>
              <a:t>	</a:t>
            </a:r>
            <a:r>
              <a:rPr sz="2400" b="1" spc="-10" dirty="0">
                <a:latin typeface="Tahoma"/>
                <a:cs typeface="Tahoma"/>
              </a:rPr>
              <a:t>92][33</a:t>
            </a:r>
            <a:r>
              <a:rPr sz="2400" b="1" dirty="0">
                <a:latin typeface="Tahoma"/>
                <a:cs typeface="Tahoma"/>
              </a:rPr>
              <a:t>	</a:t>
            </a:r>
            <a:r>
              <a:rPr sz="2400" b="1" spc="-210" dirty="0">
                <a:latin typeface="Tahoma"/>
                <a:cs typeface="Tahoma"/>
              </a:rPr>
              <a:t>86]</a:t>
            </a:r>
            <a:endParaRPr sz="2400">
              <a:latin typeface="Tahoma"/>
              <a:cs typeface="Tahoma"/>
            </a:endParaRPr>
          </a:p>
          <a:p>
            <a:pPr marR="5080" algn="r">
              <a:lnSpc>
                <a:spcPct val="100000"/>
              </a:lnSpc>
              <a:spcBef>
                <a:spcPts val="2425"/>
              </a:spcBef>
              <a:tabLst>
                <a:tab pos="1463040" algn="l"/>
                <a:tab pos="2194560" algn="l"/>
                <a:tab pos="2926080" algn="l"/>
              </a:tabLst>
            </a:pPr>
            <a:r>
              <a:rPr sz="2400" b="1" spc="-10" dirty="0">
                <a:latin typeface="Tahoma"/>
                <a:cs typeface="Tahoma"/>
              </a:rPr>
              <a:t>57][12</a:t>
            </a:r>
            <a:r>
              <a:rPr sz="2400" b="1" dirty="0">
                <a:latin typeface="Tahoma"/>
                <a:cs typeface="Tahoma"/>
              </a:rPr>
              <a:t>	</a:t>
            </a:r>
            <a:r>
              <a:rPr sz="2400" b="1" spc="-25" dirty="0">
                <a:latin typeface="Tahoma"/>
                <a:cs typeface="Tahoma"/>
              </a:rPr>
              <a:t>33</a:t>
            </a:r>
            <a:r>
              <a:rPr sz="2400" b="1" dirty="0">
                <a:latin typeface="Tahoma"/>
                <a:cs typeface="Tahoma"/>
              </a:rPr>
              <a:t>	</a:t>
            </a:r>
            <a:r>
              <a:rPr sz="2400" b="1" spc="-25" dirty="0">
                <a:latin typeface="Tahoma"/>
                <a:cs typeface="Tahoma"/>
              </a:rPr>
              <a:t>86</a:t>
            </a:r>
            <a:r>
              <a:rPr sz="2400" b="1" dirty="0">
                <a:latin typeface="Tahoma"/>
                <a:cs typeface="Tahoma"/>
              </a:rPr>
              <a:t>	</a:t>
            </a:r>
            <a:r>
              <a:rPr sz="2400" b="1" spc="-25" dirty="0">
                <a:latin typeface="Tahoma"/>
                <a:cs typeface="Tahoma"/>
              </a:rPr>
              <a:t>92]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78204" y="3928109"/>
            <a:ext cx="947419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-20" dirty="0">
                <a:latin typeface="Tahoma"/>
                <a:cs typeface="Tahoma"/>
              </a:rPr>
              <a:t>pass</a:t>
            </a:r>
            <a:r>
              <a:rPr sz="2400" b="1" spc="-155" dirty="0">
                <a:latin typeface="Tahoma"/>
                <a:cs typeface="Tahoma"/>
              </a:rPr>
              <a:t> </a:t>
            </a:r>
            <a:r>
              <a:rPr sz="2400" b="1" spc="-114" dirty="0">
                <a:latin typeface="Tahoma"/>
                <a:cs typeface="Tahoma"/>
              </a:rPr>
              <a:t>3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686680" y="4307585"/>
            <a:ext cx="266001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743585" algn="l"/>
                <a:tab pos="1475105" algn="l"/>
                <a:tab pos="2207260" algn="l"/>
              </a:tabLst>
            </a:pPr>
            <a:r>
              <a:rPr sz="2400" b="1" spc="-25" dirty="0">
                <a:latin typeface="Tahoma"/>
                <a:cs typeface="Tahoma"/>
              </a:rPr>
              <a:t>48</a:t>
            </a:r>
            <a:r>
              <a:rPr sz="2400" b="1" dirty="0">
                <a:latin typeface="Tahoma"/>
                <a:cs typeface="Tahoma"/>
              </a:rPr>
              <a:t>	</a:t>
            </a:r>
            <a:r>
              <a:rPr sz="2400" b="1" spc="-25" dirty="0">
                <a:latin typeface="Tahoma"/>
                <a:cs typeface="Tahoma"/>
              </a:rPr>
              <a:t>57</a:t>
            </a:r>
            <a:r>
              <a:rPr sz="2400" b="1" dirty="0">
                <a:latin typeface="Tahoma"/>
                <a:cs typeface="Tahoma"/>
              </a:rPr>
              <a:t>	</a:t>
            </a:r>
            <a:r>
              <a:rPr sz="2400" b="1" spc="-25" dirty="0">
                <a:latin typeface="Tahoma"/>
                <a:cs typeface="Tahoma"/>
              </a:rPr>
              <a:t>86</a:t>
            </a:r>
            <a:r>
              <a:rPr sz="2400" b="1" dirty="0">
                <a:latin typeface="Tahoma"/>
                <a:cs typeface="Tahoma"/>
              </a:rPr>
              <a:t>	</a:t>
            </a:r>
            <a:r>
              <a:rPr sz="2400" b="1" spc="-215" dirty="0">
                <a:latin typeface="Tahoma"/>
                <a:cs typeface="Tahoma"/>
              </a:rPr>
              <a:t>92]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482600" y="4307585"/>
            <a:ext cx="3877310" cy="14662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106805">
              <a:lnSpc>
                <a:spcPct val="100000"/>
              </a:lnSpc>
              <a:spcBef>
                <a:spcPts val="100"/>
              </a:spcBef>
              <a:tabLst>
                <a:tab pos="2021205" algn="l"/>
                <a:tab pos="2753360" algn="l"/>
                <a:tab pos="3484879" algn="l"/>
              </a:tabLst>
            </a:pPr>
            <a:r>
              <a:rPr sz="2400" b="1" spc="-25" dirty="0">
                <a:latin typeface="Tahoma"/>
                <a:cs typeface="Tahoma"/>
              </a:rPr>
              <a:t>[12</a:t>
            </a:r>
            <a:r>
              <a:rPr sz="2400" b="1" dirty="0">
                <a:latin typeface="Tahoma"/>
                <a:cs typeface="Tahoma"/>
              </a:rPr>
              <a:t>	</a:t>
            </a:r>
            <a:r>
              <a:rPr sz="2400" b="1" spc="-25" dirty="0">
                <a:latin typeface="Tahoma"/>
                <a:cs typeface="Tahoma"/>
              </a:rPr>
              <a:t>25</a:t>
            </a:r>
            <a:r>
              <a:rPr sz="2400" b="1" dirty="0">
                <a:latin typeface="Tahoma"/>
                <a:cs typeface="Tahoma"/>
              </a:rPr>
              <a:t>	</a:t>
            </a:r>
            <a:r>
              <a:rPr sz="2400" b="1" spc="-25" dirty="0">
                <a:latin typeface="Tahoma"/>
                <a:cs typeface="Tahoma"/>
              </a:rPr>
              <a:t>33</a:t>
            </a:r>
            <a:r>
              <a:rPr sz="2400" b="1" dirty="0">
                <a:latin typeface="Tahoma"/>
                <a:cs typeface="Tahoma"/>
              </a:rPr>
              <a:t>	</a:t>
            </a:r>
            <a:r>
              <a:rPr sz="2400" b="1" spc="-25" dirty="0">
                <a:latin typeface="Tahoma"/>
                <a:cs typeface="Tahoma"/>
              </a:rPr>
              <a:t>37</a:t>
            </a:r>
            <a:endParaRPr sz="2400">
              <a:latin typeface="Tahoma"/>
              <a:cs typeface="Tahoma"/>
            </a:endParaRPr>
          </a:p>
          <a:p>
            <a:pPr marL="393065" indent="-342265">
              <a:lnSpc>
                <a:spcPct val="100000"/>
              </a:lnSpc>
              <a:spcBef>
                <a:spcPts val="1995"/>
              </a:spcBef>
              <a:buClr>
                <a:srgbClr val="5BB9F6"/>
              </a:buClr>
              <a:buFont typeface="Wingdings"/>
              <a:buChar char=""/>
              <a:tabLst>
                <a:tab pos="393065" algn="l"/>
              </a:tabLst>
            </a:pPr>
            <a:r>
              <a:rPr sz="2400" spc="-185" dirty="0">
                <a:latin typeface="Verdana"/>
                <a:cs typeface="Verdana"/>
              </a:rPr>
              <a:t>log</a:t>
            </a:r>
            <a:r>
              <a:rPr sz="2100" spc="-277" baseline="-19841" dirty="0">
                <a:latin typeface="Verdana"/>
                <a:cs typeface="Verdana"/>
              </a:rPr>
              <a:t>2</a:t>
            </a:r>
            <a:r>
              <a:rPr sz="2400" spc="-185" dirty="0">
                <a:latin typeface="Verdana"/>
                <a:cs typeface="Verdana"/>
              </a:rPr>
              <a:t>n</a:t>
            </a:r>
            <a:r>
              <a:rPr sz="2400" spc="-509" dirty="0">
                <a:latin typeface="Verdana"/>
                <a:cs typeface="Verdana"/>
              </a:rPr>
              <a:t> </a:t>
            </a:r>
            <a:r>
              <a:rPr sz="2400" spc="-225" dirty="0">
                <a:latin typeface="Verdana"/>
                <a:cs typeface="Verdana"/>
              </a:rPr>
              <a:t>passes</a:t>
            </a:r>
            <a:r>
              <a:rPr sz="2400" spc="-395" dirty="0">
                <a:latin typeface="Verdana"/>
                <a:cs typeface="Verdana"/>
              </a:rPr>
              <a:t> </a:t>
            </a:r>
            <a:r>
              <a:rPr sz="2400" spc="-70" dirty="0">
                <a:latin typeface="Verdana"/>
                <a:cs typeface="Verdana"/>
              </a:rPr>
              <a:t>are</a:t>
            </a:r>
            <a:r>
              <a:rPr sz="2400" spc="-500" dirty="0">
                <a:latin typeface="Verdana"/>
                <a:cs typeface="Verdana"/>
              </a:rPr>
              <a:t> </a:t>
            </a:r>
            <a:r>
              <a:rPr sz="2400" spc="-40" dirty="0">
                <a:latin typeface="Verdana"/>
                <a:cs typeface="Verdana"/>
              </a:rPr>
              <a:t>required.</a:t>
            </a:r>
            <a:endParaRPr sz="2400">
              <a:latin typeface="Verdana"/>
              <a:cs typeface="Verdana"/>
            </a:endParaRPr>
          </a:p>
          <a:p>
            <a:pPr marL="393065" indent="-342265">
              <a:lnSpc>
                <a:spcPct val="100000"/>
              </a:lnSpc>
              <a:spcBef>
                <a:spcPts val="705"/>
              </a:spcBef>
              <a:buClr>
                <a:srgbClr val="5BB9F6"/>
              </a:buClr>
              <a:buFont typeface="Wingdings"/>
              <a:buChar char=""/>
              <a:tabLst>
                <a:tab pos="393065" algn="l"/>
              </a:tabLst>
            </a:pPr>
            <a:r>
              <a:rPr sz="2400" spc="-145" dirty="0">
                <a:latin typeface="Verdana"/>
                <a:cs typeface="Verdana"/>
              </a:rPr>
              <a:t>time</a:t>
            </a:r>
            <a:r>
              <a:rPr sz="2400" spc="-315" dirty="0">
                <a:latin typeface="Verdana"/>
                <a:cs typeface="Verdana"/>
              </a:rPr>
              <a:t> </a:t>
            </a:r>
            <a:r>
              <a:rPr sz="2400" spc="-210" dirty="0">
                <a:latin typeface="Verdana"/>
                <a:cs typeface="Verdana"/>
              </a:rPr>
              <a:t>complexity:</a:t>
            </a:r>
            <a:r>
              <a:rPr sz="2400" spc="-585" dirty="0">
                <a:latin typeface="Verdana"/>
                <a:cs typeface="Verdana"/>
              </a:rPr>
              <a:t> </a:t>
            </a:r>
            <a:r>
              <a:rPr sz="2400" spc="-110" dirty="0">
                <a:latin typeface="Verdana"/>
                <a:cs typeface="Verdana"/>
              </a:rPr>
              <a:t>O(nlogn)</a:t>
            </a:r>
            <a:endParaRPr sz="2400">
              <a:latin typeface="Verdana"/>
              <a:cs typeface="Verdana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2188464" y="2694432"/>
            <a:ext cx="315595" cy="390525"/>
            <a:chOff x="2188464" y="2694432"/>
            <a:chExt cx="315595" cy="390525"/>
          </a:xfrm>
        </p:grpSpPr>
        <p:sp>
          <p:nvSpPr>
            <p:cNvPr id="13" name="object 13"/>
            <p:cNvSpPr/>
            <p:nvPr/>
          </p:nvSpPr>
          <p:spPr>
            <a:xfrm>
              <a:off x="2193036" y="2699004"/>
              <a:ext cx="306705" cy="381000"/>
            </a:xfrm>
            <a:custGeom>
              <a:avLst/>
              <a:gdLst/>
              <a:ahLst/>
              <a:cxnLst/>
              <a:rect l="l" t="t" r="r" b="b"/>
              <a:pathLst>
                <a:path w="306705" h="381000">
                  <a:moveTo>
                    <a:pt x="76326" y="0"/>
                  </a:moveTo>
                  <a:lnTo>
                    <a:pt x="76326" y="285750"/>
                  </a:lnTo>
                  <a:lnTo>
                    <a:pt x="0" y="285750"/>
                  </a:lnTo>
                  <a:lnTo>
                    <a:pt x="152526" y="381000"/>
                  </a:lnTo>
                  <a:lnTo>
                    <a:pt x="306324" y="285750"/>
                  </a:lnTo>
                  <a:lnTo>
                    <a:pt x="228726" y="285750"/>
                  </a:lnTo>
                  <a:lnTo>
                    <a:pt x="228726" y="0"/>
                  </a:lnTo>
                  <a:lnTo>
                    <a:pt x="76326" y="0"/>
                  </a:lnTo>
                  <a:close/>
                </a:path>
              </a:pathLst>
            </a:custGeom>
            <a:ln w="91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2188464" y="2694431"/>
              <a:ext cx="315595" cy="390525"/>
            </a:xfrm>
            <a:custGeom>
              <a:avLst/>
              <a:gdLst/>
              <a:ahLst/>
              <a:cxnLst/>
              <a:rect l="l" t="t" r="r" b="b"/>
              <a:pathLst>
                <a:path w="315594" h="390525">
                  <a:moveTo>
                    <a:pt x="9144" y="4572"/>
                  </a:moveTo>
                  <a:lnTo>
                    <a:pt x="7797" y="1346"/>
                  </a:lnTo>
                  <a:lnTo>
                    <a:pt x="4572" y="0"/>
                  </a:lnTo>
                  <a:lnTo>
                    <a:pt x="1333" y="1346"/>
                  </a:lnTo>
                  <a:lnTo>
                    <a:pt x="0" y="4572"/>
                  </a:lnTo>
                  <a:lnTo>
                    <a:pt x="1333" y="7810"/>
                  </a:lnTo>
                  <a:lnTo>
                    <a:pt x="4572" y="9144"/>
                  </a:lnTo>
                  <a:lnTo>
                    <a:pt x="7797" y="7810"/>
                  </a:lnTo>
                  <a:lnTo>
                    <a:pt x="9144" y="4572"/>
                  </a:lnTo>
                  <a:close/>
                </a:path>
                <a:path w="315594" h="390525">
                  <a:moveTo>
                    <a:pt x="315468" y="385572"/>
                  </a:moveTo>
                  <a:lnTo>
                    <a:pt x="314121" y="382346"/>
                  </a:lnTo>
                  <a:lnTo>
                    <a:pt x="310896" y="381000"/>
                  </a:lnTo>
                  <a:lnTo>
                    <a:pt x="307657" y="382346"/>
                  </a:lnTo>
                  <a:lnTo>
                    <a:pt x="306324" y="385572"/>
                  </a:lnTo>
                  <a:lnTo>
                    <a:pt x="307657" y="388810"/>
                  </a:lnTo>
                  <a:lnTo>
                    <a:pt x="310896" y="390144"/>
                  </a:lnTo>
                  <a:lnTo>
                    <a:pt x="314121" y="388810"/>
                  </a:lnTo>
                  <a:lnTo>
                    <a:pt x="315468" y="38557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5" name="object 15"/>
          <p:cNvGrpSpPr/>
          <p:nvPr/>
        </p:nvGrpSpPr>
        <p:grpSpPr>
          <a:xfrm>
            <a:off x="2891027" y="3424428"/>
            <a:ext cx="314325" cy="390525"/>
            <a:chOff x="2891027" y="3424428"/>
            <a:chExt cx="314325" cy="390525"/>
          </a:xfrm>
        </p:grpSpPr>
        <p:sp>
          <p:nvSpPr>
            <p:cNvPr id="16" name="object 16"/>
            <p:cNvSpPr/>
            <p:nvPr/>
          </p:nvSpPr>
          <p:spPr>
            <a:xfrm>
              <a:off x="2895599" y="3429000"/>
              <a:ext cx="304800" cy="381000"/>
            </a:xfrm>
            <a:custGeom>
              <a:avLst/>
              <a:gdLst/>
              <a:ahLst/>
              <a:cxnLst/>
              <a:rect l="l" t="t" r="r" b="b"/>
              <a:pathLst>
                <a:path w="304800" h="381000">
                  <a:moveTo>
                    <a:pt x="76200" y="0"/>
                  </a:moveTo>
                  <a:lnTo>
                    <a:pt x="76200" y="285750"/>
                  </a:lnTo>
                  <a:lnTo>
                    <a:pt x="0" y="285750"/>
                  </a:lnTo>
                  <a:lnTo>
                    <a:pt x="152400" y="381000"/>
                  </a:lnTo>
                  <a:lnTo>
                    <a:pt x="304800" y="285750"/>
                  </a:lnTo>
                  <a:lnTo>
                    <a:pt x="228600" y="285750"/>
                  </a:lnTo>
                  <a:lnTo>
                    <a:pt x="228600" y="0"/>
                  </a:lnTo>
                  <a:lnTo>
                    <a:pt x="76200" y="0"/>
                  </a:lnTo>
                  <a:close/>
                </a:path>
              </a:pathLst>
            </a:custGeom>
            <a:ln w="91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2891028" y="3424428"/>
              <a:ext cx="314325" cy="390525"/>
            </a:xfrm>
            <a:custGeom>
              <a:avLst/>
              <a:gdLst/>
              <a:ahLst/>
              <a:cxnLst/>
              <a:rect l="l" t="t" r="r" b="b"/>
              <a:pathLst>
                <a:path w="314325" h="390525">
                  <a:moveTo>
                    <a:pt x="9144" y="4572"/>
                  </a:moveTo>
                  <a:lnTo>
                    <a:pt x="7797" y="1346"/>
                  </a:lnTo>
                  <a:lnTo>
                    <a:pt x="4572" y="0"/>
                  </a:lnTo>
                  <a:lnTo>
                    <a:pt x="1333" y="1346"/>
                  </a:lnTo>
                  <a:lnTo>
                    <a:pt x="0" y="4572"/>
                  </a:lnTo>
                  <a:lnTo>
                    <a:pt x="1333" y="7810"/>
                  </a:lnTo>
                  <a:lnTo>
                    <a:pt x="4572" y="9144"/>
                  </a:lnTo>
                  <a:lnTo>
                    <a:pt x="7797" y="7810"/>
                  </a:lnTo>
                  <a:lnTo>
                    <a:pt x="9144" y="4572"/>
                  </a:lnTo>
                  <a:close/>
                </a:path>
                <a:path w="314325" h="390525">
                  <a:moveTo>
                    <a:pt x="313944" y="385572"/>
                  </a:moveTo>
                  <a:lnTo>
                    <a:pt x="312597" y="382346"/>
                  </a:lnTo>
                  <a:lnTo>
                    <a:pt x="309372" y="381000"/>
                  </a:lnTo>
                  <a:lnTo>
                    <a:pt x="306133" y="382346"/>
                  </a:lnTo>
                  <a:lnTo>
                    <a:pt x="304800" y="385572"/>
                  </a:lnTo>
                  <a:lnTo>
                    <a:pt x="306133" y="388810"/>
                  </a:lnTo>
                  <a:lnTo>
                    <a:pt x="309372" y="390144"/>
                  </a:lnTo>
                  <a:lnTo>
                    <a:pt x="312597" y="388810"/>
                  </a:lnTo>
                  <a:lnTo>
                    <a:pt x="313944" y="38557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4354067" y="4155947"/>
            <a:ext cx="315595" cy="390525"/>
            <a:chOff x="4354067" y="4155947"/>
            <a:chExt cx="315595" cy="390525"/>
          </a:xfrm>
        </p:grpSpPr>
        <p:sp>
          <p:nvSpPr>
            <p:cNvPr id="19" name="object 19"/>
            <p:cNvSpPr/>
            <p:nvPr/>
          </p:nvSpPr>
          <p:spPr>
            <a:xfrm>
              <a:off x="4358639" y="4160519"/>
              <a:ext cx="306705" cy="381000"/>
            </a:xfrm>
            <a:custGeom>
              <a:avLst/>
              <a:gdLst/>
              <a:ahLst/>
              <a:cxnLst/>
              <a:rect l="l" t="t" r="r" b="b"/>
              <a:pathLst>
                <a:path w="306704" h="381000">
                  <a:moveTo>
                    <a:pt x="76200" y="0"/>
                  </a:moveTo>
                  <a:lnTo>
                    <a:pt x="76200" y="285749"/>
                  </a:lnTo>
                  <a:lnTo>
                    <a:pt x="0" y="285749"/>
                  </a:lnTo>
                  <a:lnTo>
                    <a:pt x="152526" y="380999"/>
                  </a:lnTo>
                  <a:lnTo>
                    <a:pt x="306324" y="285749"/>
                  </a:lnTo>
                  <a:lnTo>
                    <a:pt x="228726" y="285749"/>
                  </a:lnTo>
                  <a:lnTo>
                    <a:pt x="228726" y="0"/>
                  </a:lnTo>
                  <a:lnTo>
                    <a:pt x="76200" y="0"/>
                  </a:lnTo>
                  <a:close/>
                </a:path>
              </a:pathLst>
            </a:custGeom>
            <a:ln w="91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4354068" y="4155947"/>
              <a:ext cx="315595" cy="390525"/>
            </a:xfrm>
            <a:custGeom>
              <a:avLst/>
              <a:gdLst/>
              <a:ahLst/>
              <a:cxnLst/>
              <a:rect l="l" t="t" r="r" b="b"/>
              <a:pathLst>
                <a:path w="315595" h="390525">
                  <a:moveTo>
                    <a:pt x="9144" y="4572"/>
                  </a:moveTo>
                  <a:lnTo>
                    <a:pt x="7797" y="1346"/>
                  </a:lnTo>
                  <a:lnTo>
                    <a:pt x="4572" y="0"/>
                  </a:lnTo>
                  <a:lnTo>
                    <a:pt x="1333" y="1346"/>
                  </a:lnTo>
                  <a:lnTo>
                    <a:pt x="0" y="4572"/>
                  </a:lnTo>
                  <a:lnTo>
                    <a:pt x="1333" y="7810"/>
                  </a:lnTo>
                  <a:lnTo>
                    <a:pt x="4572" y="9144"/>
                  </a:lnTo>
                  <a:lnTo>
                    <a:pt x="7797" y="7810"/>
                  </a:lnTo>
                  <a:lnTo>
                    <a:pt x="9144" y="4572"/>
                  </a:lnTo>
                  <a:close/>
                </a:path>
                <a:path w="315595" h="390525">
                  <a:moveTo>
                    <a:pt x="315468" y="385572"/>
                  </a:moveTo>
                  <a:lnTo>
                    <a:pt x="314121" y="382346"/>
                  </a:lnTo>
                  <a:lnTo>
                    <a:pt x="310896" y="381000"/>
                  </a:lnTo>
                  <a:lnTo>
                    <a:pt x="307657" y="382346"/>
                  </a:lnTo>
                  <a:lnTo>
                    <a:pt x="306324" y="385572"/>
                  </a:lnTo>
                  <a:lnTo>
                    <a:pt x="307657" y="388810"/>
                  </a:lnTo>
                  <a:lnTo>
                    <a:pt x="310896" y="390144"/>
                  </a:lnTo>
                  <a:lnTo>
                    <a:pt x="314121" y="388810"/>
                  </a:lnTo>
                  <a:lnTo>
                    <a:pt x="315468" y="38557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1" name="object 21"/>
          <p:cNvGrpSpPr/>
          <p:nvPr/>
        </p:nvGrpSpPr>
        <p:grpSpPr>
          <a:xfrm>
            <a:off x="5786628" y="3424428"/>
            <a:ext cx="314325" cy="390525"/>
            <a:chOff x="5786628" y="3424428"/>
            <a:chExt cx="314325" cy="390525"/>
          </a:xfrm>
        </p:grpSpPr>
        <p:sp>
          <p:nvSpPr>
            <p:cNvPr id="22" name="object 22"/>
            <p:cNvSpPr/>
            <p:nvPr/>
          </p:nvSpPr>
          <p:spPr>
            <a:xfrm>
              <a:off x="5791200" y="3429000"/>
              <a:ext cx="304800" cy="381000"/>
            </a:xfrm>
            <a:custGeom>
              <a:avLst/>
              <a:gdLst/>
              <a:ahLst/>
              <a:cxnLst/>
              <a:rect l="l" t="t" r="r" b="b"/>
              <a:pathLst>
                <a:path w="304800" h="381000">
                  <a:moveTo>
                    <a:pt x="76200" y="0"/>
                  </a:moveTo>
                  <a:lnTo>
                    <a:pt x="76200" y="285750"/>
                  </a:lnTo>
                  <a:lnTo>
                    <a:pt x="0" y="285750"/>
                  </a:lnTo>
                  <a:lnTo>
                    <a:pt x="152400" y="381000"/>
                  </a:lnTo>
                  <a:lnTo>
                    <a:pt x="304800" y="285750"/>
                  </a:lnTo>
                  <a:lnTo>
                    <a:pt x="228600" y="285750"/>
                  </a:lnTo>
                  <a:lnTo>
                    <a:pt x="228600" y="0"/>
                  </a:lnTo>
                  <a:lnTo>
                    <a:pt x="76200" y="0"/>
                  </a:lnTo>
                  <a:close/>
                </a:path>
              </a:pathLst>
            </a:custGeom>
            <a:ln w="91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5786628" y="3424428"/>
              <a:ext cx="314325" cy="390525"/>
            </a:xfrm>
            <a:custGeom>
              <a:avLst/>
              <a:gdLst/>
              <a:ahLst/>
              <a:cxnLst/>
              <a:rect l="l" t="t" r="r" b="b"/>
              <a:pathLst>
                <a:path w="314325" h="390525">
                  <a:moveTo>
                    <a:pt x="9144" y="4572"/>
                  </a:moveTo>
                  <a:lnTo>
                    <a:pt x="7797" y="1346"/>
                  </a:lnTo>
                  <a:lnTo>
                    <a:pt x="4572" y="0"/>
                  </a:lnTo>
                  <a:lnTo>
                    <a:pt x="1333" y="1346"/>
                  </a:lnTo>
                  <a:lnTo>
                    <a:pt x="0" y="4572"/>
                  </a:lnTo>
                  <a:lnTo>
                    <a:pt x="1333" y="7810"/>
                  </a:lnTo>
                  <a:lnTo>
                    <a:pt x="4572" y="9144"/>
                  </a:lnTo>
                  <a:lnTo>
                    <a:pt x="7797" y="7810"/>
                  </a:lnTo>
                  <a:lnTo>
                    <a:pt x="9144" y="4572"/>
                  </a:lnTo>
                  <a:close/>
                </a:path>
                <a:path w="314325" h="390525">
                  <a:moveTo>
                    <a:pt x="313944" y="385572"/>
                  </a:moveTo>
                  <a:lnTo>
                    <a:pt x="312597" y="382346"/>
                  </a:lnTo>
                  <a:lnTo>
                    <a:pt x="309372" y="381000"/>
                  </a:lnTo>
                  <a:lnTo>
                    <a:pt x="306133" y="382346"/>
                  </a:lnTo>
                  <a:lnTo>
                    <a:pt x="304800" y="385572"/>
                  </a:lnTo>
                  <a:lnTo>
                    <a:pt x="306133" y="388810"/>
                  </a:lnTo>
                  <a:lnTo>
                    <a:pt x="309372" y="390144"/>
                  </a:lnTo>
                  <a:lnTo>
                    <a:pt x="312597" y="388810"/>
                  </a:lnTo>
                  <a:lnTo>
                    <a:pt x="313944" y="38557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4" name="object 24"/>
          <p:cNvGrpSpPr/>
          <p:nvPr/>
        </p:nvGrpSpPr>
        <p:grpSpPr>
          <a:xfrm>
            <a:off x="6531864" y="2694432"/>
            <a:ext cx="315595" cy="390525"/>
            <a:chOff x="6531864" y="2694432"/>
            <a:chExt cx="315595" cy="390525"/>
          </a:xfrm>
        </p:grpSpPr>
        <p:sp>
          <p:nvSpPr>
            <p:cNvPr id="25" name="object 25"/>
            <p:cNvSpPr/>
            <p:nvPr/>
          </p:nvSpPr>
          <p:spPr>
            <a:xfrm>
              <a:off x="6536436" y="2699004"/>
              <a:ext cx="306705" cy="381000"/>
            </a:xfrm>
            <a:custGeom>
              <a:avLst/>
              <a:gdLst/>
              <a:ahLst/>
              <a:cxnLst/>
              <a:rect l="l" t="t" r="r" b="b"/>
              <a:pathLst>
                <a:path w="306704" h="381000">
                  <a:moveTo>
                    <a:pt x="76200" y="0"/>
                  </a:moveTo>
                  <a:lnTo>
                    <a:pt x="76200" y="285750"/>
                  </a:lnTo>
                  <a:lnTo>
                    <a:pt x="0" y="285750"/>
                  </a:lnTo>
                  <a:lnTo>
                    <a:pt x="152527" y="381000"/>
                  </a:lnTo>
                  <a:lnTo>
                    <a:pt x="306324" y="285750"/>
                  </a:lnTo>
                  <a:lnTo>
                    <a:pt x="228727" y="285750"/>
                  </a:lnTo>
                  <a:lnTo>
                    <a:pt x="228727" y="0"/>
                  </a:lnTo>
                  <a:lnTo>
                    <a:pt x="76200" y="0"/>
                  </a:lnTo>
                  <a:close/>
                </a:path>
              </a:pathLst>
            </a:custGeom>
            <a:ln w="91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6531851" y="2694431"/>
              <a:ext cx="315595" cy="390525"/>
            </a:xfrm>
            <a:custGeom>
              <a:avLst/>
              <a:gdLst/>
              <a:ahLst/>
              <a:cxnLst/>
              <a:rect l="l" t="t" r="r" b="b"/>
              <a:pathLst>
                <a:path w="315595" h="390525">
                  <a:moveTo>
                    <a:pt x="9144" y="4572"/>
                  </a:moveTo>
                  <a:lnTo>
                    <a:pt x="7810" y="1346"/>
                  </a:lnTo>
                  <a:lnTo>
                    <a:pt x="4572" y="0"/>
                  </a:lnTo>
                  <a:lnTo>
                    <a:pt x="1346" y="1346"/>
                  </a:lnTo>
                  <a:lnTo>
                    <a:pt x="0" y="4572"/>
                  </a:lnTo>
                  <a:lnTo>
                    <a:pt x="1346" y="7810"/>
                  </a:lnTo>
                  <a:lnTo>
                    <a:pt x="4572" y="9144"/>
                  </a:lnTo>
                  <a:lnTo>
                    <a:pt x="7810" y="7810"/>
                  </a:lnTo>
                  <a:lnTo>
                    <a:pt x="9144" y="4572"/>
                  </a:lnTo>
                  <a:close/>
                </a:path>
                <a:path w="315595" h="390525">
                  <a:moveTo>
                    <a:pt x="315480" y="385572"/>
                  </a:moveTo>
                  <a:lnTo>
                    <a:pt x="314134" y="382346"/>
                  </a:lnTo>
                  <a:lnTo>
                    <a:pt x="310908" y="381000"/>
                  </a:lnTo>
                  <a:lnTo>
                    <a:pt x="307670" y="382346"/>
                  </a:lnTo>
                  <a:lnTo>
                    <a:pt x="306324" y="385572"/>
                  </a:lnTo>
                  <a:lnTo>
                    <a:pt x="307670" y="388810"/>
                  </a:lnTo>
                  <a:lnTo>
                    <a:pt x="310908" y="390144"/>
                  </a:lnTo>
                  <a:lnTo>
                    <a:pt x="314134" y="388810"/>
                  </a:lnTo>
                  <a:lnTo>
                    <a:pt x="315480" y="38557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7" name="object 27"/>
          <p:cNvGrpSpPr/>
          <p:nvPr/>
        </p:nvGrpSpPr>
        <p:grpSpPr>
          <a:xfrm>
            <a:off x="5084064" y="2694432"/>
            <a:ext cx="314325" cy="390525"/>
            <a:chOff x="5084064" y="2694432"/>
            <a:chExt cx="314325" cy="390525"/>
          </a:xfrm>
        </p:grpSpPr>
        <p:sp>
          <p:nvSpPr>
            <p:cNvPr id="28" name="object 28"/>
            <p:cNvSpPr/>
            <p:nvPr/>
          </p:nvSpPr>
          <p:spPr>
            <a:xfrm>
              <a:off x="5088636" y="2699004"/>
              <a:ext cx="304800" cy="381000"/>
            </a:xfrm>
            <a:custGeom>
              <a:avLst/>
              <a:gdLst/>
              <a:ahLst/>
              <a:cxnLst/>
              <a:rect l="l" t="t" r="r" b="b"/>
              <a:pathLst>
                <a:path w="304800" h="381000">
                  <a:moveTo>
                    <a:pt x="76200" y="0"/>
                  </a:moveTo>
                  <a:lnTo>
                    <a:pt x="76200" y="285750"/>
                  </a:lnTo>
                  <a:lnTo>
                    <a:pt x="0" y="285750"/>
                  </a:lnTo>
                  <a:lnTo>
                    <a:pt x="152400" y="381000"/>
                  </a:lnTo>
                  <a:lnTo>
                    <a:pt x="304800" y="285750"/>
                  </a:lnTo>
                  <a:lnTo>
                    <a:pt x="228600" y="285750"/>
                  </a:lnTo>
                  <a:lnTo>
                    <a:pt x="228600" y="0"/>
                  </a:lnTo>
                  <a:lnTo>
                    <a:pt x="76200" y="0"/>
                  </a:lnTo>
                  <a:close/>
                </a:path>
              </a:pathLst>
            </a:custGeom>
            <a:ln w="91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5084064" y="2694431"/>
              <a:ext cx="314325" cy="390525"/>
            </a:xfrm>
            <a:custGeom>
              <a:avLst/>
              <a:gdLst/>
              <a:ahLst/>
              <a:cxnLst/>
              <a:rect l="l" t="t" r="r" b="b"/>
              <a:pathLst>
                <a:path w="314325" h="390525">
                  <a:moveTo>
                    <a:pt x="9144" y="4572"/>
                  </a:moveTo>
                  <a:lnTo>
                    <a:pt x="7797" y="1346"/>
                  </a:lnTo>
                  <a:lnTo>
                    <a:pt x="4572" y="0"/>
                  </a:lnTo>
                  <a:lnTo>
                    <a:pt x="1333" y="1346"/>
                  </a:lnTo>
                  <a:lnTo>
                    <a:pt x="0" y="4572"/>
                  </a:lnTo>
                  <a:lnTo>
                    <a:pt x="1333" y="7810"/>
                  </a:lnTo>
                  <a:lnTo>
                    <a:pt x="4572" y="9144"/>
                  </a:lnTo>
                  <a:lnTo>
                    <a:pt x="7797" y="7810"/>
                  </a:lnTo>
                  <a:lnTo>
                    <a:pt x="9144" y="4572"/>
                  </a:lnTo>
                  <a:close/>
                </a:path>
                <a:path w="314325" h="390525">
                  <a:moveTo>
                    <a:pt x="313944" y="385572"/>
                  </a:moveTo>
                  <a:lnTo>
                    <a:pt x="312597" y="382346"/>
                  </a:lnTo>
                  <a:lnTo>
                    <a:pt x="309372" y="381000"/>
                  </a:lnTo>
                  <a:lnTo>
                    <a:pt x="306133" y="382346"/>
                  </a:lnTo>
                  <a:lnTo>
                    <a:pt x="304800" y="385572"/>
                  </a:lnTo>
                  <a:lnTo>
                    <a:pt x="306133" y="388810"/>
                  </a:lnTo>
                  <a:lnTo>
                    <a:pt x="309372" y="390144"/>
                  </a:lnTo>
                  <a:lnTo>
                    <a:pt x="312597" y="388810"/>
                  </a:lnTo>
                  <a:lnTo>
                    <a:pt x="313944" y="38557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0" name="object 30"/>
          <p:cNvGrpSpPr/>
          <p:nvPr/>
        </p:nvGrpSpPr>
        <p:grpSpPr>
          <a:xfrm>
            <a:off x="3637788" y="2694432"/>
            <a:ext cx="314325" cy="390525"/>
            <a:chOff x="3637788" y="2694432"/>
            <a:chExt cx="314325" cy="390525"/>
          </a:xfrm>
        </p:grpSpPr>
        <p:sp>
          <p:nvSpPr>
            <p:cNvPr id="31" name="object 31"/>
            <p:cNvSpPr/>
            <p:nvPr/>
          </p:nvSpPr>
          <p:spPr>
            <a:xfrm>
              <a:off x="3642360" y="2699004"/>
              <a:ext cx="304800" cy="381000"/>
            </a:xfrm>
            <a:custGeom>
              <a:avLst/>
              <a:gdLst/>
              <a:ahLst/>
              <a:cxnLst/>
              <a:rect l="l" t="t" r="r" b="b"/>
              <a:pathLst>
                <a:path w="304800" h="381000">
                  <a:moveTo>
                    <a:pt x="74929" y="0"/>
                  </a:moveTo>
                  <a:lnTo>
                    <a:pt x="74929" y="285750"/>
                  </a:lnTo>
                  <a:lnTo>
                    <a:pt x="0" y="285750"/>
                  </a:lnTo>
                  <a:lnTo>
                    <a:pt x="151129" y="381000"/>
                  </a:lnTo>
                  <a:lnTo>
                    <a:pt x="304800" y="285750"/>
                  </a:lnTo>
                  <a:lnTo>
                    <a:pt x="228600" y="285750"/>
                  </a:lnTo>
                  <a:lnTo>
                    <a:pt x="228600" y="0"/>
                  </a:lnTo>
                  <a:lnTo>
                    <a:pt x="74929" y="0"/>
                  </a:lnTo>
                  <a:close/>
                </a:path>
              </a:pathLst>
            </a:custGeom>
            <a:ln w="91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3637788" y="2694431"/>
              <a:ext cx="314325" cy="390525"/>
            </a:xfrm>
            <a:custGeom>
              <a:avLst/>
              <a:gdLst/>
              <a:ahLst/>
              <a:cxnLst/>
              <a:rect l="l" t="t" r="r" b="b"/>
              <a:pathLst>
                <a:path w="314325" h="390525">
                  <a:moveTo>
                    <a:pt x="9144" y="4572"/>
                  </a:moveTo>
                  <a:lnTo>
                    <a:pt x="7797" y="1346"/>
                  </a:lnTo>
                  <a:lnTo>
                    <a:pt x="4572" y="0"/>
                  </a:lnTo>
                  <a:lnTo>
                    <a:pt x="1333" y="1346"/>
                  </a:lnTo>
                  <a:lnTo>
                    <a:pt x="0" y="4572"/>
                  </a:lnTo>
                  <a:lnTo>
                    <a:pt x="1333" y="7810"/>
                  </a:lnTo>
                  <a:lnTo>
                    <a:pt x="4572" y="9144"/>
                  </a:lnTo>
                  <a:lnTo>
                    <a:pt x="7797" y="7810"/>
                  </a:lnTo>
                  <a:lnTo>
                    <a:pt x="9144" y="4572"/>
                  </a:lnTo>
                  <a:close/>
                </a:path>
                <a:path w="314325" h="390525">
                  <a:moveTo>
                    <a:pt x="313944" y="385572"/>
                  </a:moveTo>
                  <a:lnTo>
                    <a:pt x="312597" y="382346"/>
                  </a:lnTo>
                  <a:lnTo>
                    <a:pt x="309372" y="381000"/>
                  </a:lnTo>
                  <a:lnTo>
                    <a:pt x="306133" y="382346"/>
                  </a:lnTo>
                  <a:lnTo>
                    <a:pt x="304800" y="385572"/>
                  </a:lnTo>
                  <a:lnTo>
                    <a:pt x="306133" y="388810"/>
                  </a:lnTo>
                  <a:lnTo>
                    <a:pt x="309372" y="390144"/>
                  </a:lnTo>
                  <a:lnTo>
                    <a:pt x="312597" y="388810"/>
                  </a:lnTo>
                  <a:lnTo>
                    <a:pt x="313944" y="38557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3" name="object 33"/>
          <p:cNvSpPr txBox="1"/>
          <p:nvPr/>
        </p:nvSpPr>
        <p:spPr>
          <a:xfrm>
            <a:off x="4734814" y="223519"/>
            <a:ext cx="3303904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60" dirty="0">
                <a:solidFill>
                  <a:srgbClr val="FFFFFF"/>
                </a:solidFill>
                <a:latin typeface="Verdana"/>
                <a:cs typeface="Verdana"/>
              </a:rPr>
              <a:t>Bahria</a:t>
            </a:r>
            <a:r>
              <a:rPr sz="1600" spc="-8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110" dirty="0">
                <a:solidFill>
                  <a:srgbClr val="FFFFFF"/>
                </a:solidFill>
                <a:latin typeface="Verdana"/>
                <a:cs typeface="Verdana"/>
              </a:rPr>
              <a:t>University</a:t>
            </a:r>
            <a:r>
              <a:rPr sz="1600" spc="-6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30" dirty="0">
                <a:solidFill>
                  <a:srgbClr val="FFFFFF"/>
                </a:solidFill>
                <a:latin typeface="Verdana"/>
                <a:cs typeface="Verdana"/>
              </a:rPr>
              <a:t>Karachi</a:t>
            </a:r>
            <a:r>
              <a:rPr sz="1600" spc="-85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10" dirty="0">
                <a:solidFill>
                  <a:srgbClr val="FFFFFF"/>
                </a:solidFill>
                <a:latin typeface="Verdana"/>
                <a:cs typeface="Verdana"/>
              </a:rPr>
              <a:t>Campus</a:t>
            </a:r>
            <a:endParaRPr sz="160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2831" rIns="0" bIns="0" rtlCol="0">
            <a:spAutoFit/>
          </a:bodyPr>
          <a:lstStyle/>
          <a:p>
            <a:pPr marL="1689735">
              <a:lnSpc>
                <a:spcPct val="100000"/>
              </a:lnSpc>
              <a:spcBef>
                <a:spcPts val="95"/>
              </a:spcBef>
            </a:pPr>
            <a:r>
              <a:rPr dirty="0"/>
              <a:t>QUICK</a:t>
            </a:r>
            <a:r>
              <a:rPr spc="45" dirty="0"/>
              <a:t> </a:t>
            </a:r>
            <a:r>
              <a:rPr spc="-290" dirty="0"/>
              <a:t>SORT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marR="567055" indent="-342900">
              <a:lnSpc>
                <a:spcPct val="100000"/>
              </a:lnSpc>
              <a:spcBef>
                <a:spcPts val="105"/>
              </a:spcBef>
              <a:buFont typeface="Wingdings"/>
              <a:buChar char=""/>
              <a:tabLst>
                <a:tab pos="355600" algn="l"/>
                <a:tab pos="391795" algn="l"/>
                <a:tab pos="1038225" algn="l"/>
              </a:tabLst>
            </a:pPr>
            <a:r>
              <a:rPr sz="2400" dirty="0">
                <a:solidFill>
                  <a:srgbClr val="5BB9F6"/>
                </a:solidFill>
                <a:latin typeface="Times New Roman"/>
                <a:cs typeface="Times New Roman"/>
              </a:rPr>
              <a:t>	</a:t>
            </a:r>
            <a:r>
              <a:rPr spc="75" dirty="0"/>
              <a:t>Select</a:t>
            </a:r>
            <a:r>
              <a:rPr spc="25" dirty="0"/>
              <a:t> </a:t>
            </a:r>
            <a:r>
              <a:rPr spc="165" dirty="0"/>
              <a:t>a</a:t>
            </a:r>
            <a:r>
              <a:rPr spc="180" dirty="0"/>
              <a:t> </a:t>
            </a:r>
            <a:r>
              <a:rPr i="1" dirty="0">
                <a:latin typeface="Verdana"/>
                <a:cs typeface="Verdana"/>
              </a:rPr>
              <a:t>pivot</a:t>
            </a:r>
            <a:r>
              <a:rPr i="1" spc="95" dirty="0">
                <a:latin typeface="Verdana"/>
                <a:cs typeface="Verdana"/>
              </a:rPr>
              <a:t> </a:t>
            </a:r>
            <a:r>
              <a:rPr spc="90" dirty="0"/>
              <a:t>whose</a:t>
            </a:r>
            <a:r>
              <a:rPr spc="105" dirty="0"/>
              <a:t> </a:t>
            </a:r>
            <a:r>
              <a:rPr spc="125" dirty="0"/>
              <a:t>value</a:t>
            </a:r>
            <a:r>
              <a:rPr spc="140" dirty="0"/>
              <a:t> </a:t>
            </a:r>
            <a:r>
              <a:rPr spc="125" dirty="0"/>
              <a:t>we</a:t>
            </a:r>
            <a:r>
              <a:rPr spc="85" dirty="0"/>
              <a:t> </a:t>
            </a:r>
            <a:r>
              <a:rPr spc="145" dirty="0"/>
              <a:t>are</a:t>
            </a:r>
            <a:r>
              <a:rPr spc="-290" dirty="0"/>
              <a:t> </a:t>
            </a:r>
            <a:r>
              <a:rPr spc="85" dirty="0"/>
              <a:t>going</a:t>
            </a:r>
            <a:r>
              <a:rPr spc="75" dirty="0"/>
              <a:t> </a:t>
            </a:r>
            <a:r>
              <a:rPr spc="65" dirty="0"/>
              <a:t>to</a:t>
            </a:r>
            <a:r>
              <a:rPr spc="75" dirty="0"/>
              <a:t> divide </a:t>
            </a:r>
            <a:r>
              <a:rPr spc="105" dirty="0"/>
              <a:t>the</a:t>
            </a:r>
            <a:r>
              <a:rPr dirty="0"/>
              <a:t>	sublist.</a:t>
            </a:r>
            <a:r>
              <a:rPr spc="50" dirty="0"/>
              <a:t> </a:t>
            </a:r>
            <a:r>
              <a:rPr spc="-10" dirty="0"/>
              <a:t>(e.g.,</a:t>
            </a:r>
            <a:r>
              <a:rPr spc="-5" dirty="0"/>
              <a:t> </a:t>
            </a:r>
            <a:r>
              <a:rPr spc="110" dirty="0"/>
              <a:t>p</a:t>
            </a:r>
            <a:r>
              <a:rPr spc="145" dirty="0"/>
              <a:t> </a:t>
            </a:r>
            <a:r>
              <a:rPr spc="-430" dirty="0"/>
              <a:t>=</a:t>
            </a:r>
            <a:r>
              <a:rPr spc="-204" dirty="0"/>
              <a:t> </a:t>
            </a:r>
            <a:r>
              <a:rPr spc="-20" dirty="0"/>
              <a:t>A[l])</a:t>
            </a:r>
            <a:endParaRPr sz="2400">
              <a:latin typeface="Verdana"/>
              <a:cs typeface="Verdana"/>
            </a:endParaRPr>
          </a:p>
          <a:p>
            <a:pPr marL="355600" marR="5080" indent="-342900">
              <a:lnSpc>
                <a:spcPct val="100000"/>
              </a:lnSpc>
              <a:spcBef>
                <a:spcPts val="600"/>
              </a:spcBef>
              <a:buFont typeface="Wingdings"/>
              <a:buChar char=""/>
              <a:tabLst>
                <a:tab pos="355600" algn="l"/>
                <a:tab pos="391795" algn="l"/>
                <a:tab pos="2306320" algn="l"/>
                <a:tab pos="4157979" algn="l"/>
                <a:tab pos="6789420" algn="l"/>
              </a:tabLst>
            </a:pPr>
            <a:r>
              <a:rPr sz="2400" dirty="0">
                <a:solidFill>
                  <a:srgbClr val="5BB9F6"/>
                </a:solidFill>
                <a:latin typeface="Times New Roman"/>
                <a:cs typeface="Times New Roman"/>
              </a:rPr>
              <a:t>	</a:t>
            </a:r>
            <a:r>
              <a:rPr spc="150" dirty="0"/>
              <a:t>Rearrange </a:t>
            </a:r>
            <a:r>
              <a:rPr spc="130" dirty="0"/>
              <a:t>the</a:t>
            </a:r>
            <a:r>
              <a:rPr spc="190" dirty="0"/>
              <a:t> </a:t>
            </a:r>
            <a:r>
              <a:rPr dirty="0"/>
              <a:t>list</a:t>
            </a:r>
            <a:r>
              <a:rPr spc="65" dirty="0"/>
              <a:t> </a:t>
            </a:r>
            <a:r>
              <a:rPr dirty="0"/>
              <a:t>so</a:t>
            </a:r>
            <a:r>
              <a:rPr spc="-30" dirty="0"/>
              <a:t> </a:t>
            </a:r>
            <a:r>
              <a:rPr spc="-120" dirty="0"/>
              <a:t>t</a:t>
            </a:r>
            <a:r>
              <a:rPr spc="-425" dirty="0"/>
              <a:t> </a:t>
            </a:r>
            <a:r>
              <a:rPr spc="-60" dirty="0"/>
              <a:t>h</a:t>
            </a:r>
            <a:r>
              <a:rPr spc="-440" dirty="0"/>
              <a:t> </a:t>
            </a:r>
            <a:r>
              <a:rPr spc="125" dirty="0"/>
              <a:t>at</a:t>
            </a:r>
            <a:r>
              <a:rPr dirty="0"/>
              <a:t>	it</a:t>
            </a:r>
            <a:r>
              <a:rPr spc="160" dirty="0"/>
              <a:t> </a:t>
            </a:r>
            <a:r>
              <a:rPr spc="-270" dirty="0"/>
              <a:t>s</a:t>
            </a:r>
            <a:r>
              <a:rPr spc="-475" dirty="0"/>
              <a:t> </a:t>
            </a:r>
            <a:r>
              <a:rPr spc="65" dirty="0"/>
              <a:t>tarts</a:t>
            </a:r>
            <a:r>
              <a:rPr spc="245" dirty="0"/>
              <a:t> </a:t>
            </a:r>
            <a:r>
              <a:rPr spc="60" dirty="0"/>
              <a:t>with</a:t>
            </a:r>
            <a:r>
              <a:rPr spc="195" dirty="0"/>
              <a:t> </a:t>
            </a:r>
            <a:r>
              <a:rPr spc="130" dirty="0"/>
              <a:t>the</a:t>
            </a:r>
            <a:r>
              <a:rPr spc="225" dirty="0"/>
              <a:t> </a:t>
            </a:r>
            <a:r>
              <a:rPr spc="55" dirty="0"/>
              <a:t>pivot </a:t>
            </a:r>
            <a:r>
              <a:rPr spc="65" dirty="0"/>
              <a:t>followed</a:t>
            </a:r>
            <a:r>
              <a:rPr spc="60" dirty="0"/>
              <a:t> </a:t>
            </a:r>
            <a:r>
              <a:rPr dirty="0"/>
              <a:t>by</a:t>
            </a:r>
            <a:r>
              <a:rPr spc="95" dirty="0"/>
              <a:t> </a:t>
            </a:r>
            <a:r>
              <a:rPr spc="114" dirty="0"/>
              <a:t>a</a:t>
            </a:r>
            <a:r>
              <a:rPr dirty="0"/>
              <a:t>	</a:t>
            </a:r>
            <a:r>
              <a:rPr spc="-545" dirty="0"/>
              <a:t>≤</a:t>
            </a:r>
            <a:r>
              <a:rPr spc="-125" dirty="0"/>
              <a:t> </a:t>
            </a:r>
            <a:r>
              <a:rPr dirty="0"/>
              <a:t>sublist</a:t>
            </a:r>
            <a:r>
              <a:rPr spc="225" dirty="0"/>
              <a:t> </a:t>
            </a:r>
            <a:r>
              <a:rPr dirty="0"/>
              <a:t>(a</a:t>
            </a:r>
            <a:r>
              <a:rPr spc="210" dirty="0"/>
              <a:t> </a:t>
            </a:r>
            <a:r>
              <a:rPr dirty="0"/>
              <a:t>sublist</a:t>
            </a:r>
            <a:r>
              <a:rPr spc="220" dirty="0"/>
              <a:t> </a:t>
            </a:r>
            <a:r>
              <a:rPr spc="90" dirty="0"/>
              <a:t>whose</a:t>
            </a:r>
            <a:r>
              <a:rPr spc="175" dirty="0"/>
              <a:t> </a:t>
            </a:r>
            <a:r>
              <a:rPr spc="110" dirty="0"/>
              <a:t>elements</a:t>
            </a:r>
            <a:r>
              <a:rPr spc="240" dirty="0"/>
              <a:t> </a:t>
            </a:r>
            <a:r>
              <a:rPr spc="120" dirty="0"/>
              <a:t>are </a:t>
            </a:r>
            <a:r>
              <a:rPr dirty="0"/>
              <a:t>all</a:t>
            </a:r>
            <a:r>
              <a:rPr spc="155" dirty="0"/>
              <a:t> </a:t>
            </a:r>
            <a:r>
              <a:rPr spc="60" dirty="0"/>
              <a:t>smaller</a:t>
            </a:r>
            <a:r>
              <a:rPr spc="225" dirty="0"/>
              <a:t> </a:t>
            </a:r>
            <a:r>
              <a:rPr spc="-120" dirty="0"/>
              <a:t>t</a:t>
            </a:r>
            <a:r>
              <a:rPr spc="-415" dirty="0"/>
              <a:t> </a:t>
            </a:r>
            <a:r>
              <a:rPr spc="-60" dirty="0"/>
              <a:t>h</a:t>
            </a:r>
            <a:r>
              <a:rPr spc="-425" dirty="0"/>
              <a:t> </a:t>
            </a:r>
            <a:r>
              <a:rPr spc="180" dirty="0"/>
              <a:t>an</a:t>
            </a:r>
            <a:r>
              <a:rPr spc="385" dirty="0"/>
              <a:t> </a:t>
            </a:r>
            <a:r>
              <a:rPr dirty="0"/>
              <a:t>or</a:t>
            </a:r>
            <a:r>
              <a:rPr spc="135" dirty="0"/>
              <a:t> </a:t>
            </a:r>
            <a:r>
              <a:rPr spc="165" dirty="0"/>
              <a:t>equal</a:t>
            </a:r>
            <a:r>
              <a:rPr spc="215" dirty="0"/>
              <a:t> </a:t>
            </a:r>
            <a:r>
              <a:rPr spc="65" dirty="0"/>
              <a:t>to</a:t>
            </a:r>
            <a:r>
              <a:rPr spc="114" dirty="0"/>
              <a:t> </a:t>
            </a:r>
            <a:r>
              <a:rPr spc="130" dirty="0"/>
              <a:t>the</a:t>
            </a:r>
            <a:r>
              <a:rPr spc="295" dirty="0"/>
              <a:t> </a:t>
            </a:r>
            <a:r>
              <a:rPr dirty="0"/>
              <a:t>pivot)</a:t>
            </a:r>
            <a:r>
              <a:rPr spc="75" dirty="0"/>
              <a:t> </a:t>
            </a:r>
            <a:r>
              <a:rPr spc="225" dirty="0"/>
              <a:t>and</a:t>
            </a:r>
            <a:r>
              <a:rPr spc="340" dirty="0"/>
              <a:t> </a:t>
            </a:r>
            <a:r>
              <a:rPr spc="114" dirty="0"/>
              <a:t>a</a:t>
            </a:r>
            <a:r>
              <a:rPr dirty="0"/>
              <a:t>	</a:t>
            </a:r>
            <a:r>
              <a:rPr spc="-545" dirty="0"/>
              <a:t>≥</a:t>
            </a:r>
            <a:r>
              <a:rPr spc="-160" dirty="0"/>
              <a:t> </a:t>
            </a:r>
            <a:r>
              <a:rPr spc="-10" dirty="0"/>
              <a:t>sublist </a:t>
            </a:r>
            <a:r>
              <a:rPr dirty="0"/>
              <a:t>(a</a:t>
            </a:r>
            <a:r>
              <a:rPr spc="114" dirty="0"/>
              <a:t> </a:t>
            </a:r>
            <a:r>
              <a:rPr dirty="0"/>
              <a:t>sublist</a:t>
            </a:r>
            <a:r>
              <a:rPr spc="100" dirty="0"/>
              <a:t> </a:t>
            </a:r>
            <a:r>
              <a:rPr spc="90" dirty="0"/>
              <a:t>whose</a:t>
            </a:r>
            <a:r>
              <a:rPr spc="80" dirty="0"/>
              <a:t> </a:t>
            </a:r>
            <a:r>
              <a:rPr spc="110" dirty="0"/>
              <a:t>elements </a:t>
            </a:r>
            <a:r>
              <a:rPr spc="145" dirty="0"/>
              <a:t>are</a:t>
            </a:r>
            <a:r>
              <a:rPr spc="190" dirty="0"/>
              <a:t> </a:t>
            </a:r>
            <a:r>
              <a:rPr dirty="0"/>
              <a:t>all</a:t>
            </a:r>
            <a:r>
              <a:rPr spc="70" dirty="0"/>
              <a:t> </a:t>
            </a:r>
            <a:r>
              <a:rPr spc="145" dirty="0"/>
              <a:t>greater</a:t>
            </a:r>
            <a:r>
              <a:rPr spc="130" dirty="0"/>
              <a:t> </a:t>
            </a:r>
            <a:r>
              <a:rPr spc="-120" dirty="0"/>
              <a:t>t</a:t>
            </a:r>
            <a:r>
              <a:rPr spc="-409" dirty="0"/>
              <a:t> </a:t>
            </a:r>
            <a:r>
              <a:rPr spc="-60" dirty="0"/>
              <a:t>h</a:t>
            </a:r>
            <a:r>
              <a:rPr spc="-425" dirty="0"/>
              <a:t> </a:t>
            </a:r>
            <a:r>
              <a:rPr spc="185" dirty="0"/>
              <a:t>an</a:t>
            </a:r>
            <a:r>
              <a:rPr spc="190" dirty="0"/>
              <a:t> </a:t>
            </a:r>
            <a:r>
              <a:rPr spc="-25" dirty="0"/>
              <a:t>or</a:t>
            </a:r>
            <a:endParaRPr sz="2400">
              <a:latin typeface="Times New Roman"/>
              <a:cs typeface="Times New Roman"/>
            </a:endParaRPr>
          </a:p>
          <a:p>
            <a:pPr marL="355600">
              <a:lnSpc>
                <a:spcPct val="100000"/>
              </a:lnSpc>
              <a:tabLst>
                <a:tab pos="1367155" algn="l"/>
              </a:tabLst>
            </a:pPr>
            <a:r>
              <a:rPr spc="165" dirty="0"/>
              <a:t>equal</a:t>
            </a:r>
            <a:r>
              <a:rPr dirty="0"/>
              <a:t>	</a:t>
            </a:r>
            <a:r>
              <a:rPr spc="65" dirty="0"/>
              <a:t>to</a:t>
            </a:r>
            <a:r>
              <a:rPr dirty="0"/>
              <a:t> </a:t>
            </a:r>
            <a:r>
              <a:rPr spc="130" dirty="0"/>
              <a:t>the</a:t>
            </a:r>
            <a:r>
              <a:rPr spc="220" dirty="0"/>
              <a:t> </a:t>
            </a:r>
            <a:r>
              <a:rPr spc="65" dirty="0"/>
              <a:t>pivot</a:t>
            </a:r>
            <a:r>
              <a:rPr spc="35" dirty="0"/>
              <a:t> </a:t>
            </a:r>
            <a:r>
              <a:rPr spc="-180" dirty="0"/>
              <a:t>)</a:t>
            </a:r>
            <a:r>
              <a:rPr spc="-160" dirty="0"/>
              <a:t> </a:t>
            </a:r>
            <a:r>
              <a:rPr dirty="0"/>
              <a:t>(See</a:t>
            </a:r>
            <a:r>
              <a:rPr spc="-100" dirty="0"/>
              <a:t> </a:t>
            </a:r>
            <a:r>
              <a:rPr spc="95" dirty="0"/>
              <a:t>algorithm</a:t>
            </a:r>
            <a:r>
              <a:rPr spc="105" dirty="0"/>
              <a:t> </a:t>
            </a:r>
            <a:r>
              <a:rPr i="1" spc="-30" dirty="0">
                <a:latin typeface="Verdana"/>
                <a:cs typeface="Verdana"/>
              </a:rPr>
              <a:t>Partition</a:t>
            </a:r>
            <a:r>
              <a:rPr spc="-30" dirty="0"/>
              <a:t>in</a:t>
            </a:r>
            <a:r>
              <a:rPr spc="160" dirty="0"/>
              <a:t> </a:t>
            </a:r>
            <a:r>
              <a:rPr spc="80" dirty="0"/>
              <a:t>section</a:t>
            </a:r>
          </a:p>
          <a:p>
            <a:pPr marL="355600">
              <a:lnSpc>
                <a:spcPct val="100000"/>
              </a:lnSpc>
            </a:pPr>
            <a:r>
              <a:rPr spc="-20" dirty="0"/>
              <a:t>4.2)</a:t>
            </a:r>
          </a:p>
          <a:p>
            <a:pPr marL="355600" marR="199390" indent="-342900">
              <a:lnSpc>
                <a:spcPct val="100000"/>
              </a:lnSpc>
              <a:spcBef>
                <a:spcPts val="605"/>
              </a:spcBef>
              <a:buClr>
                <a:srgbClr val="5BB9F6"/>
              </a:buClr>
              <a:buFont typeface="Wingdings"/>
              <a:buChar char=""/>
              <a:tabLst>
                <a:tab pos="355600" algn="l"/>
              </a:tabLst>
            </a:pPr>
            <a:r>
              <a:rPr spc="155" dirty="0"/>
              <a:t>Exchange</a:t>
            </a:r>
            <a:r>
              <a:rPr spc="60" dirty="0"/>
              <a:t> </a:t>
            </a:r>
            <a:r>
              <a:rPr spc="130" dirty="0"/>
              <a:t>the</a:t>
            </a:r>
            <a:r>
              <a:rPr spc="105" dirty="0"/>
              <a:t> </a:t>
            </a:r>
            <a:r>
              <a:rPr spc="65" dirty="0"/>
              <a:t>pivot</a:t>
            </a:r>
            <a:r>
              <a:rPr spc="30" dirty="0"/>
              <a:t> </a:t>
            </a:r>
            <a:r>
              <a:rPr spc="60" dirty="0"/>
              <a:t>with</a:t>
            </a:r>
            <a:r>
              <a:rPr spc="110" dirty="0"/>
              <a:t> </a:t>
            </a:r>
            <a:r>
              <a:rPr spc="130" dirty="0"/>
              <a:t>the</a:t>
            </a:r>
            <a:r>
              <a:rPr spc="105" dirty="0"/>
              <a:t> </a:t>
            </a:r>
            <a:r>
              <a:rPr spc="50" dirty="0"/>
              <a:t>last</a:t>
            </a:r>
            <a:r>
              <a:rPr spc="100" dirty="0"/>
              <a:t> </a:t>
            </a:r>
            <a:r>
              <a:rPr spc="140" dirty="0"/>
              <a:t>element</a:t>
            </a:r>
            <a:r>
              <a:rPr spc="75" dirty="0"/>
              <a:t> </a:t>
            </a:r>
            <a:r>
              <a:rPr dirty="0"/>
              <a:t>in</a:t>
            </a:r>
            <a:r>
              <a:rPr spc="90" dirty="0"/>
              <a:t> </a:t>
            </a:r>
            <a:r>
              <a:rPr spc="130" dirty="0"/>
              <a:t>the</a:t>
            </a:r>
            <a:r>
              <a:rPr spc="105" dirty="0"/>
              <a:t> </a:t>
            </a:r>
            <a:r>
              <a:rPr spc="-10" dirty="0"/>
              <a:t>first sublist(i.e.,</a:t>
            </a:r>
            <a:r>
              <a:rPr spc="-80" dirty="0"/>
              <a:t> </a:t>
            </a:r>
            <a:r>
              <a:rPr spc="-545" dirty="0"/>
              <a:t>≤</a:t>
            </a:r>
            <a:r>
              <a:rPr spc="-150" dirty="0"/>
              <a:t> </a:t>
            </a:r>
            <a:r>
              <a:rPr dirty="0"/>
              <a:t>sublist)</a:t>
            </a:r>
            <a:r>
              <a:rPr spc="30" dirty="0"/>
              <a:t> </a:t>
            </a:r>
            <a:r>
              <a:rPr spc="-285" dirty="0"/>
              <a:t>–</a:t>
            </a:r>
            <a:r>
              <a:rPr spc="105" dirty="0"/>
              <a:t> </a:t>
            </a:r>
            <a:r>
              <a:rPr spc="130" dirty="0"/>
              <a:t>the</a:t>
            </a:r>
            <a:r>
              <a:rPr spc="160" dirty="0"/>
              <a:t> </a:t>
            </a:r>
            <a:r>
              <a:rPr spc="65" dirty="0"/>
              <a:t>pivot</a:t>
            </a:r>
            <a:r>
              <a:rPr spc="-20" dirty="0"/>
              <a:t> is</a:t>
            </a:r>
            <a:r>
              <a:rPr spc="40" dirty="0"/>
              <a:t> </a:t>
            </a:r>
            <a:r>
              <a:rPr spc="95" dirty="0"/>
              <a:t>now</a:t>
            </a:r>
            <a:r>
              <a:rPr spc="30" dirty="0"/>
              <a:t> </a:t>
            </a:r>
            <a:r>
              <a:rPr dirty="0"/>
              <a:t>in</a:t>
            </a:r>
            <a:r>
              <a:rPr spc="105" dirty="0"/>
              <a:t> </a:t>
            </a:r>
            <a:r>
              <a:rPr dirty="0"/>
              <a:t>its</a:t>
            </a:r>
            <a:r>
              <a:rPr spc="105" dirty="0"/>
              <a:t> </a:t>
            </a:r>
            <a:r>
              <a:rPr spc="-10" dirty="0"/>
              <a:t>final </a:t>
            </a:r>
            <a:r>
              <a:rPr spc="45" dirty="0"/>
              <a:t>position</a:t>
            </a:r>
          </a:p>
          <a:p>
            <a:pPr marL="354965" indent="-342265">
              <a:lnSpc>
                <a:spcPct val="100000"/>
              </a:lnSpc>
              <a:spcBef>
                <a:spcPts val="600"/>
              </a:spcBef>
              <a:buClr>
                <a:srgbClr val="5BB9F6"/>
              </a:buClr>
              <a:buFont typeface="Wingdings"/>
              <a:buChar char=""/>
              <a:tabLst>
                <a:tab pos="354965" algn="l"/>
              </a:tabLst>
            </a:pPr>
            <a:r>
              <a:rPr dirty="0"/>
              <a:t>Sort</a:t>
            </a:r>
            <a:r>
              <a:rPr spc="175" dirty="0"/>
              <a:t> </a:t>
            </a:r>
            <a:r>
              <a:rPr spc="130" dirty="0"/>
              <a:t>the</a:t>
            </a:r>
            <a:r>
              <a:rPr spc="240" dirty="0"/>
              <a:t> </a:t>
            </a:r>
            <a:r>
              <a:rPr spc="90" dirty="0"/>
              <a:t>two</a:t>
            </a:r>
            <a:r>
              <a:rPr spc="60" dirty="0"/>
              <a:t> </a:t>
            </a:r>
            <a:r>
              <a:rPr dirty="0"/>
              <a:t>sublists</a:t>
            </a:r>
            <a:r>
              <a:rPr spc="140" dirty="0"/>
              <a:t> </a:t>
            </a:r>
            <a:r>
              <a:rPr u="heavy" spc="45" dirty="0">
                <a:uFill>
                  <a:solidFill>
                    <a:srgbClr val="000000"/>
                  </a:solidFill>
                </a:uFill>
              </a:rPr>
              <a:t>recursively</a:t>
            </a:r>
            <a:r>
              <a:rPr spc="85" dirty="0"/>
              <a:t> </a:t>
            </a:r>
            <a:r>
              <a:rPr spc="50" dirty="0"/>
              <a:t>using</a:t>
            </a:r>
            <a:r>
              <a:rPr spc="-50" dirty="0"/>
              <a:t> </a:t>
            </a:r>
            <a:r>
              <a:rPr spc="40" dirty="0"/>
              <a:t>quicksort.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4734814" y="223519"/>
            <a:ext cx="3303904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60" dirty="0">
                <a:solidFill>
                  <a:srgbClr val="FFFFFF"/>
                </a:solidFill>
                <a:latin typeface="Verdana"/>
                <a:cs typeface="Verdana"/>
              </a:rPr>
              <a:t>Bahria</a:t>
            </a:r>
            <a:r>
              <a:rPr sz="1600" spc="-8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110" dirty="0">
                <a:solidFill>
                  <a:srgbClr val="FFFFFF"/>
                </a:solidFill>
                <a:latin typeface="Verdana"/>
                <a:cs typeface="Verdana"/>
              </a:rPr>
              <a:t>University</a:t>
            </a:r>
            <a:r>
              <a:rPr sz="1600" spc="-6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30" dirty="0">
                <a:solidFill>
                  <a:srgbClr val="FFFFFF"/>
                </a:solidFill>
                <a:latin typeface="Verdana"/>
                <a:cs typeface="Verdana"/>
              </a:rPr>
              <a:t>Karachi</a:t>
            </a:r>
            <a:r>
              <a:rPr sz="1600" spc="-85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10" dirty="0">
                <a:solidFill>
                  <a:srgbClr val="FFFFFF"/>
                </a:solidFill>
                <a:latin typeface="Verdana"/>
                <a:cs typeface="Verdana"/>
              </a:rPr>
              <a:t>Campus</a:t>
            </a:r>
            <a:endParaRPr sz="160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>
            <a:graphicFrameLocks noGrp="1"/>
          </p:cNvGraphicFramePr>
          <p:nvPr/>
        </p:nvGraphicFramePr>
        <p:xfrm>
          <a:off x="1060450" y="2889250"/>
          <a:ext cx="7010400" cy="5334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04800"/>
                <a:gridCol w="2514600"/>
                <a:gridCol w="304800"/>
                <a:gridCol w="3886200"/>
              </a:tblGrid>
              <a:tr h="533400">
                <a:tc>
                  <a:txBody>
                    <a:bodyPr/>
                    <a:lstStyle/>
                    <a:p>
                      <a:pPr marL="88265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2400" i="1" spc="-50" dirty="0">
                          <a:solidFill>
                            <a:srgbClr val="FFF19C"/>
                          </a:solidFill>
                          <a:latin typeface="Times New Roman"/>
                          <a:cs typeface="Times New Roman"/>
                        </a:rPr>
                        <a:t>p</a:t>
                      </a: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36830" marB="0">
                    <a:lnL w="12700">
                      <a:solidFill>
                        <a:srgbClr val="FF0000"/>
                      </a:solidFill>
                      <a:prstDash val="solid"/>
                    </a:lnL>
                    <a:lnR w="12700">
                      <a:solidFill>
                        <a:srgbClr val="FF0000"/>
                      </a:solidFill>
                      <a:prstDash val="solid"/>
                    </a:lnR>
                    <a:lnT w="12700">
                      <a:solidFill>
                        <a:srgbClr val="FF0000"/>
                      </a:solidFill>
                      <a:prstDash val="solid"/>
                    </a:lnT>
                    <a:lnB w="12700">
                      <a:solidFill>
                        <a:srgbClr val="FF0000"/>
                      </a:solidFill>
                      <a:prstDash val="solid"/>
                    </a:lnB>
                    <a:solidFill>
                      <a:srgbClr val="FC85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FF0000"/>
                      </a:solidFill>
                      <a:prstDash val="solid"/>
                    </a:lnL>
                    <a:lnR w="12700">
                      <a:solidFill>
                        <a:srgbClr val="FF0000"/>
                      </a:solidFill>
                      <a:prstDash val="solid"/>
                    </a:lnR>
                    <a:lnT w="12700">
                      <a:solidFill>
                        <a:srgbClr val="FF0000"/>
                      </a:solidFill>
                      <a:prstDash val="solid"/>
                    </a:lnT>
                    <a:lnB w="12700">
                      <a:solidFill>
                        <a:srgbClr val="FF0000"/>
                      </a:solidFill>
                      <a:prstDash val="solid"/>
                    </a:lnB>
                    <a:solidFill>
                      <a:srgbClr val="FC85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FF0000"/>
                      </a:solidFill>
                      <a:prstDash val="solid"/>
                    </a:lnL>
                    <a:lnR w="12700">
                      <a:solidFill>
                        <a:srgbClr val="FF0000"/>
                      </a:solidFill>
                      <a:prstDash val="solid"/>
                    </a:lnR>
                    <a:lnT w="12700">
                      <a:solidFill>
                        <a:srgbClr val="FF0000"/>
                      </a:solidFill>
                      <a:prstDash val="solid"/>
                    </a:lnT>
                    <a:lnB w="12700">
                      <a:solidFill>
                        <a:srgbClr val="FF0000"/>
                      </a:solidFill>
                      <a:prstDash val="solid"/>
                    </a:lnB>
                    <a:solidFill>
                      <a:srgbClr val="FC85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FF0000"/>
                      </a:solidFill>
                      <a:prstDash val="solid"/>
                    </a:lnL>
                    <a:lnR w="12700">
                      <a:solidFill>
                        <a:srgbClr val="FF0000"/>
                      </a:solidFill>
                      <a:prstDash val="solid"/>
                    </a:lnR>
                    <a:lnT w="12700">
                      <a:solidFill>
                        <a:srgbClr val="FF0000"/>
                      </a:solidFill>
                      <a:prstDash val="solid"/>
                    </a:lnT>
                    <a:lnB w="12700">
                      <a:solidFill>
                        <a:srgbClr val="FF0000"/>
                      </a:solidFill>
                      <a:prstDash val="solid"/>
                    </a:lnB>
                    <a:solidFill>
                      <a:srgbClr val="FC8536"/>
                    </a:solidFill>
                  </a:tcPr>
                </a:tc>
              </a:tr>
            </a:tbl>
          </a:graphicData>
        </a:graphic>
      </p:graphicFrame>
      <p:grpSp>
        <p:nvGrpSpPr>
          <p:cNvPr id="3" name="object 3"/>
          <p:cNvGrpSpPr/>
          <p:nvPr/>
        </p:nvGrpSpPr>
        <p:grpSpPr>
          <a:xfrm>
            <a:off x="1371600" y="3505200"/>
            <a:ext cx="2767965" cy="469900"/>
            <a:chOff x="1371600" y="3505200"/>
            <a:chExt cx="2767965" cy="469900"/>
          </a:xfrm>
        </p:grpSpPr>
        <p:sp>
          <p:nvSpPr>
            <p:cNvPr id="4" name="object 4"/>
            <p:cNvSpPr/>
            <p:nvPr/>
          </p:nvSpPr>
          <p:spPr>
            <a:xfrm>
              <a:off x="1377695" y="3511295"/>
              <a:ext cx="2737485" cy="457200"/>
            </a:xfrm>
            <a:custGeom>
              <a:avLst/>
              <a:gdLst/>
              <a:ahLst/>
              <a:cxnLst/>
              <a:rect l="l" t="t" r="r" b="b"/>
              <a:pathLst>
                <a:path w="2737485" h="457200">
                  <a:moveTo>
                    <a:pt x="0" y="0"/>
                  </a:moveTo>
                  <a:lnTo>
                    <a:pt x="5079" y="42671"/>
                  </a:lnTo>
                  <a:lnTo>
                    <a:pt x="19684" y="83946"/>
                  </a:lnTo>
                  <a:lnTo>
                    <a:pt x="42163" y="122554"/>
                  </a:lnTo>
                  <a:lnTo>
                    <a:pt x="71500" y="157098"/>
                  </a:lnTo>
                  <a:lnTo>
                    <a:pt x="106044" y="186435"/>
                  </a:lnTo>
                  <a:lnTo>
                    <a:pt x="144653" y="208914"/>
                  </a:lnTo>
                  <a:lnTo>
                    <a:pt x="185928" y="223519"/>
                  </a:lnTo>
                  <a:lnTo>
                    <a:pt x="228600" y="228599"/>
                  </a:lnTo>
                  <a:lnTo>
                    <a:pt x="1143127" y="228599"/>
                  </a:lnTo>
                  <a:lnTo>
                    <a:pt x="1185798" y="233679"/>
                  </a:lnTo>
                  <a:lnTo>
                    <a:pt x="1227073" y="248284"/>
                  </a:lnTo>
                  <a:lnTo>
                    <a:pt x="1265681" y="270763"/>
                  </a:lnTo>
                  <a:lnTo>
                    <a:pt x="1300226" y="299973"/>
                  </a:lnTo>
                  <a:lnTo>
                    <a:pt x="1329562" y="334644"/>
                  </a:lnTo>
                  <a:lnTo>
                    <a:pt x="1352042" y="373252"/>
                  </a:lnTo>
                  <a:lnTo>
                    <a:pt x="1366647" y="414527"/>
                  </a:lnTo>
                  <a:lnTo>
                    <a:pt x="1371727" y="457199"/>
                  </a:lnTo>
                  <a:lnTo>
                    <a:pt x="1376806" y="414527"/>
                  </a:lnTo>
                  <a:lnTo>
                    <a:pt x="1391411" y="373252"/>
                  </a:lnTo>
                  <a:lnTo>
                    <a:pt x="1413891" y="334644"/>
                  </a:lnTo>
                  <a:lnTo>
                    <a:pt x="1443228" y="299973"/>
                  </a:lnTo>
                  <a:lnTo>
                    <a:pt x="1477772" y="270763"/>
                  </a:lnTo>
                  <a:lnTo>
                    <a:pt x="1516380" y="248284"/>
                  </a:lnTo>
                  <a:lnTo>
                    <a:pt x="1557655" y="233679"/>
                  </a:lnTo>
                  <a:lnTo>
                    <a:pt x="1600327" y="228599"/>
                  </a:lnTo>
                  <a:lnTo>
                    <a:pt x="2514854" y="228599"/>
                  </a:lnTo>
                  <a:lnTo>
                    <a:pt x="2561843" y="223519"/>
                  </a:lnTo>
                  <a:lnTo>
                    <a:pt x="2604642" y="209168"/>
                  </a:lnTo>
                  <a:lnTo>
                    <a:pt x="2642742" y="187070"/>
                  </a:lnTo>
                  <a:lnTo>
                    <a:pt x="2675508" y="158241"/>
                  </a:lnTo>
                  <a:lnTo>
                    <a:pt x="2702432" y="124205"/>
                  </a:lnTo>
                  <a:lnTo>
                    <a:pt x="2723133" y="86232"/>
                  </a:lnTo>
                  <a:lnTo>
                    <a:pt x="2737104" y="45719"/>
                  </a:lnTo>
                </a:path>
              </a:pathLst>
            </a:custGeom>
            <a:ln w="1219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4088892" y="3511295"/>
              <a:ext cx="50800" cy="53340"/>
            </a:xfrm>
            <a:custGeom>
              <a:avLst/>
              <a:gdLst/>
              <a:ahLst/>
              <a:cxnLst/>
              <a:rect l="l" t="t" r="r" b="b"/>
              <a:pathLst>
                <a:path w="50800" h="53339">
                  <a:moveTo>
                    <a:pt x="32258" y="0"/>
                  </a:moveTo>
                  <a:lnTo>
                    <a:pt x="0" y="45719"/>
                  </a:lnTo>
                  <a:lnTo>
                    <a:pt x="50292" y="53339"/>
                  </a:lnTo>
                  <a:lnTo>
                    <a:pt x="32258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4244340" y="3500628"/>
            <a:ext cx="3832860" cy="469900"/>
            <a:chOff x="4244340" y="3500628"/>
            <a:chExt cx="3832860" cy="469900"/>
          </a:xfrm>
        </p:grpSpPr>
        <p:sp>
          <p:nvSpPr>
            <p:cNvPr id="7" name="object 7"/>
            <p:cNvSpPr/>
            <p:nvPr/>
          </p:nvSpPr>
          <p:spPr>
            <a:xfrm>
              <a:off x="4250436" y="3506724"/>
              <a:ext cx="3802379" cy="457200"/>
            </a:xfrm>
            <a:custGeom>
              <a:avLst/>
              <a:gdLst/>
              <a:ahLst/>
              <a:cxnLst/>
              <a:rect l="l" t="t" r="r" b="b"/>
              <a:pathLst>
                <a:path w="3802379" h="457200">
                  <a:moveTo>
                    <a:pt x="0" y="0"/>
                  </a:moveTo>
                  <a:lnTo>
                    <a:pt x="5714" y="37973"/>
                  </a:lnTo>
                  <a:lnTo>
                    <a:pt x="21716" y="74929"/>
                  </a:lnTo>
                  <a:lnTo>
                    <a:pt x="46989" y="110108"/>
                  </a:lnTo>
                  <a:lnTo>
                    <a:pt x="80137" y="142367"/>
                  </a:lnTo>
                  <a:lnTo>
                    <a:pt x="119761" y="170942"/>
                  </a:lnTo>
                  <a:lnTo>
                    <a:pt x="164591" y="194690"/>
                  </a:lnTo>
                  <a:lnTo>
                    <a:pt x="213360" y="212978"/>
                  </a:lnTo>
                  <a:lnTo>
                    <a:pt x="264794" y="224536"/>
                  </a:lnTo>
                  <a:lnTo>
                    <a:pt x="317500" y="228600"/>
                  </a:lnTo>
                  <a:lnTo>
                    <a:pt x="1587500" y="228600"/>
                  </a:lnTo>
                  <a:lnTo>
                    <a:pt x="1640204" y="232663"/>
                  </a:lnTo>
                  <a:lnTo>
                    <a:pt x="1691639" y="244220"/>
                  </a:lnTo>
                  <a:lnTo>
                    <a:pt x="1740408" y="262508"/>
                  </a:lnTo>
                  <a:lnTo>
                    <a:pt x="1785239" y="286257"/>
                  </a:lnTo>
                  <a:lnTo>
                    <a:pt x="1824863" y="314832"/>
                  </a:lnTo>
                  <a:lnTo>
                    <a:pt x="1858010" y="347090"/>
                  </a:lnTo>
                  <a:lnTo>
                    <a:pt x="1883283" y="382269"/>
                  </a:lnTo>
                  <a:lnTo>
                    <a:pt x="1899285" y="419226"/>
                  </a:lnTo>
                  <a:lnTo>
                    <a:pt x="1905000" y="457200"/>
                  </a:lnTo>
                  <a:lnTo>
                    <a:pt x="1910714" y="419226"/>
                  </a:lnTo>
                  <a:lnTo>
                    <a:pt x="1926716" y="382269"/>
                  </a:lnTo>
                  <a:lnTo>
                    <a:pt x="1951989" y="347090"/>
                  </a:lnTo>
                  <a:lnTo>
                    <a:pt x="1985137" y="314832"/>
                  </a:lnTo>
                  <a:lnTo>
                    <a:pt x="2024761" y="286257"/>
                  </a:lnTo>
                  <a:lnTo>
                    <a:pt x="2069591" y="262508"/>
                  </a:lnTo>
                  <a:lnTo>
                    <a:pt x="2118360" y="244220"/>
                  </a:lnTo>
                  <a:lnTo>
                    <a:pt x="2169794" y="232663"/>
                  </a:lnTo>
                  <a:lnTo>
                    <a:pt x="2222500" y="228600"/>
                  </a:lnTo>
                  <a:lnTo>
                    <a:pt x="3492499" y="228600"/>
                  </a:lnTo>
                  <a:lnTo>
                    <a:pt x="3550031" y="224662"/>
                  </a:lnTo>
                  <a:lnTo>
                    <a:pt x="3603116" y="213613"/>
                  </a:lnTo>
                  <a:lnTo>
                    <a:pt x="3651249" y="196214"/>
                  </a:lnTo>
                  <a:lnTo>
                    <a:pt x="3694048" y="173355"/>
                  </a:lnTo>
                  <a:lnTo>
                    <a:pt x="3731133" y="146050"/>
                  </a:lnTo>
                  <a:lnTo>
                    <a:pt x="3761866" y="115062"/>
                  </a:lnTo>
                  <a:lnTo>
                    <a:pt x="3785742" y="81279"/>
                  </a:lnTo>
                  <a:lnTo>
                    <a:pt x="3802380" y="45720"/>
                  </a:lnTo>
                </a:path>
              </a:pathLst>
            </a:custGeom>
            <a:ln w="12192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8026908" y="3506724"/>
              <a:ext cx="50800" cy="53340"/>
            </a:xfrm>
            <a:custGeom>
              <a:avLst/>
              <a:gdLst/>
              <a:ahLst/>
              <a:cxnLst/>
              <a:rect l="l" t="t" r="r" b="b"/>
              <a:pathLst>
                <a:path w="50800" h="53339">
                  <a:moveTo>
                    <a:pt x="33909" y="0"/>
                  </a:moveTo>
                  <a:lnTo>
                    <a:pt x="0" y="44450"/>
                  </a:lnTo>
                  <a:lnTo>
                    <a:pt x="50292" y="53339"/>
                  </a:lnTo>
                  <a:lnTo>
                    <a:pt x="33909" y="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2326385" y="3881069"/>
            <a:ext cx="848994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10" dirty="0">
                <a:latin typeface="Times New Roman"/>
                <a:cs typeface="Times New Roman"/>
              </a:rPr>
              <a:t>A[</a:t>
            </a:r>
            <a:r>
              <a:rPr sz="2400" i="1" spc="-10" dirty="0">
                <a:latin typeface="Times New Roman"/>
                <a:cs typeface="Times New Roman"/>
              </a:rPr>
              <a:t>i</a:t>
            </a:r>
            <a:r>
              <a:rPr sz="2400" spc="-10" dirty="0">
                <a:latin typeface="Times New Roman"/>
                <a:cs typeface="Times New Roman"/>
              </a:rPr>
              <a:t>]≤</a:t>
            </a:r>
            <a:r>
              <a:rPr sz="2400" i="1" spc="-10" dirty="0">
                <a:latin typeface="Times New Roman"/>
                <a:cs typeface="Times New Roman"/>
              </a:rPr>
              <a:t>p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642864" y="3910710"/>
            <a:ext cx="9994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Times New Roman"/>
                <a:cs typeface="Times New Roman"/>
              </a:rPr>
              <a:t>A[</a:t>
            </a:r>
            <a:r>
              <a:rPr sz="2400" i="1" dirty="0">
                <a:latin typeface="Times New Roman"/>
                <a:cs typeface="Times New Roman"/>
              </a:rPr>
              <a:t>i</a:t>
            </a:r>
            <a:r>
              <a:rPr sz="2400" dirty="0">
                <a:latin typeface="Times New Roman"/>
                <a:cs typeface="Times New Roman"/>
              </a:rPr>
              <a:t>]</a:t>
            </a:r>
            <a:r>
              <a:rPr sz="2400" spc="-4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≥</a:t>
            </a:r>
            <a:r>
              <a:rPr sz="2400" spc="-45" dirty="0">
                <a:latin typeface="Times New Roman"/>
                <a:cs typeface="Times New Roman"/>
              </a:rPr>
              <a:t> </a:t>
            </a:r>
            <a:r>
              <a:rPr sz="2400" i="1" spc="-50" dirty="0">
                <a:latin typeface="Times New Roman"/>
                <a:cs typeface="Times New Roman"/>
              </a:rPr>
              <a:t>p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4734814" y="223519"/>
            <a:ext cx="3303904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60" dirty="0">
                <a:solidFill>
                  <a:srgbClr val="FFFFFF"/>
                </a:solidFill>
                <a:latin typeface="Verdana"/>
                <a:cs typeface="Verdana"/>
              </a:rPr>
              <a:t>Bahria</a:t>
            </a:r>
            <a:r>
              <a:rPr sz="1600" spc="-8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110" dirty="0">
                <a:solidFill>
                  <a:srgbClr val="FFFFFF"/>
                </a:solidFill>
                <a:latin typeface="Verdana"/>
                <a:cs typeface="Verdana"/>
              </a:rPr>
              <a:t>University</a:t>
            </a:r>
            <a:r>
              <a:rPr sz="1600" spc="-6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30" dirty="0">
                <a:solidFill>
                  <a:srgbClr val="FFFFFF"/>
                </a:solidFill>
                <a:latin typeface="Verdana"/>
                <a:cs typeface="Verdana"/>
              </a:rPr>
              <a:t>Karachi</a:t>
            </a:r>
            <a:r>
              <a:rPr sz="1600" spc="-85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10" dirty="0">
                <a:solidFill>
                  <a:srgbClr val="FFFFFF"/>
                </a:solidFill>
                <a:latin typeface="Verdana"/>
                <a:cs typeface="Verdana"/>
              </a:rPr>
              <a:t>Campus</a:t>
            </a:r>
            <a:endParaRPr sz="160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03758" rIns="0" bIns="0" rtlCol="0">
            <a:spAutoFit/>
          </a:bodyPr>
          <a:lstStyle/>
          <a:p>
            <a:pPr marL="1962150">
              <a:lnSpc>
                <a:spcPct val="100000"/>
              </a:lnSpc>
              <a:spcBef>
                <a:spcPts val="95"/>
              </a:spcBef>
            </a:pPr>
            <a:r>
              <a:rPr dirty="0"/>
              <a:t>QUICK</a:t>
            </a:r>
            <a:r>
              <a:rPr spc="45" dirty="0"/>
              <a:t> </a:t>
            </a:r>
            <a:r>
              <a:rPr spc="-290" dirty="0"/>
              <a:t>SORT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871342" y="1970608"/>
            <a:ext cx="3145790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436245" algn="l"/>
                <a:tab pos="859790" algn="l"/>
                <a:tab pos="1283335" algn="l"/>
                <a:tab pos="1708785" algn="l"/>
                <a:tab pos="2132330" algn="l"/>
                <a:tab pos="2555875" algn="l"/>
                <a:tab pos="2980055" algn="l"/>
              </a:tabLst>
            </a:pPr>
            <a:r>
              <a:rPr sz="2400" spc="-50" dirty="0">
                <a:latin typeface="Times New Roman"/>
                <a:cs typeface="Times New Roman"/>
              </a:rPr>
              <a:t>5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50" dirty="0">
                <a:latin typeface="Times New Roman"/>
                <a:cs typeface="Times New Roman"/>
              </a:rPr>
              <a:t>3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50" dirty="0">
                <a:latin typeface="Times New Roman"/>
                <a:cs typeface="Times New Roman"/>
              </a:rPr>
              <a:t>1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50" dirty="0">
                <a:latin typeface="Times New Roman"/>
                <a:cs typeface="Times New Roman"/>
              </a:rPr>
              <a:t>9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50" dirty="0">
                <a:latin typeface="Times New Roman"/>
                <a:cs typeface="Times New Roman"/>
              </a:rPr>
              <a:t>8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50" dirty="0">
                <a:latin typeface="Times New Roman"/>
                <a:cs typeface="Times New Roman"/>
              </a:rPr>
              <a:t>2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50" dirty="0">
                <a:latin typeface="Times New Roman"/>
                <a:cs typeface="Times New Roman"/>
              </a:rPr>
              <a:t>4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50" dirty="0">
                <a:latin typeface="Times New Roman"/>
                <a:cs typeface="Times New Roman"/>
              </a:rPr>
              <a:t>7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871342" y="2779014"/>
            <a:ext cx="234950" cy="2799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-50" dirty="0">
                <a:solidFill>
                  <a:srgbClr val="5BB9F6"/>
                </a:solidFill>
                <a:latin typeface="Wingdings"/>
                <a:cs typeface="Wingdings"/>
              </a:rPr>
              <a:t></a:t>
            </a:r>
            <a:endParaRPr sz="3600">
              <a:latin typeface="Wingdings"/>
              <a:cs typeface="Wingdings"/>
            </a:endParaRPr>
          </a:p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3600" spc="-50" dirty="0">
                <a:solidFill>
                  <a:srgbClr val="5BB9F6"/>
                </a:solidFill>
                <a:latin typeface="Wingdings"/>
                <a:cs typeface="Wingdings"/>
              </a:rPr>
              <a:t></a:t>
            </a:r>
            <a:endParaRPr sz="3600">
              <a:latin typeface="Wingdings"/>
              <a:cs typeface="Wingdings"/>
            </a:endParaRPr>
          </a:p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3600" spc="-50" dirty="0">
                <a:solidFill>
                  <a:srgbClr val="5BB9F6"/>
                </a:solidFill>
                <a:latin typeface="Wingdings"/>
                <a:cs typeface="Wingdings"/>
              </a:rPr>
              <a:t></a:t>
            </a:r>
            <a:endParaRPr sz="3600">
              <a:latin typeface="Wingdings"/>
              <a:cs typeface="Wingdings"/>
            </a:endParaRPr>
          </a:p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3600" spc="-50" dirty="0">
                <a:solidFill>
                  <a:srgbClr val="5BB9F6"/>
                </a:solidFill>
                <a:latin typeface="Wingdings"/>
                <a:cs typeface="Wingdings"/>
              </a:rPr>
              <a:t></a:t>
            </a:r>
            <a:endParaRPr sz="3600">
              <a:latin typeface="Wingdings"/>
              <a:cs typeface="Wingdings"/>
            </a:endParaRPr>
          </a:p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3600" spc="-50" dirty="0">
                <a:solidFill>
                  <a:srgbClr val="5BB9F6"/>
                </a:solidFill>
                <a:latin typeface="Wingdings"/>
                <a:cs typeface="Wingdings"/>
              </a:rPr>
              <a:t></a:t>
            </a:r>
            <a:endParaRPr sz="3600">
              <a:latin typeface="Wingdings"/>
              <a:cs typeface="Wingdings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442842" y="2784855"/>
            <a:ext cx="178435" cy="2807970"/>
          </a:xfrm>
          <a:prstGeom prst="rect">
            <a:avLst/>
          </a:prstGeom>
        </p:spPr>
        <p:txBody>
          <a:bodyPr vert="horz" wrap="square" lIns="0" tIns="2032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600"/>
              </a:spcBef>
            </a:pPr>
            <a:r>
              <a:rPr sz="2400" spc="-50" dirty="0">
                <a:latin typeface="Times New Roman"/>
                <a:cs typeface="Times New Roman"/>
              </a:rPr>
              <a:t>2</a:t>
            </a:r>
            <a:endParaRPr sz="24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505"/>
              </a:spcBef>
            </a:pPr>
            <a:r>
              <a:rPr sz="2400" spc="-50" dirty="0">
                <a:latin typeface="Times New Roman"/>
                <a:cs typeface="Times New Roman"/>
              </a:rPr>
              <a:t>1</a:t>
            </a:r>
            <a:endParaRPr sz="24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500"/>
              </a:spcBef>
            </a:pPr>
            <a:r>
              <a:rPr sz="2400" spc="-50" dirty="0">
                <a:solidFill>
                  <a:srgbClr val="FF9933"/>
                </a:solidFill>
                <a:latin typeface="Times New Roman"/>
                <a:cs typeface="Times New Roman"/>
              </a:rPr>
              <a:t>1</a:t>
            </a:r>
            <a:endParaRPr sz="24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500"/>
              </a:spcBef>
            </a:pPr>
            <a:r>
              <a:rPr sz="2400" spc="-50" dirty="0">
                <a:solidFill>
                  <a:srgbClr val="ABC0E7"/>
                </a:solidFill>
                <a:latin typeface="Times New Roman"/>
                <a:cs typeface="Times New Roman"/>
              </a:rPr>
              <a:t>1</a:t>
            </a:r>
            <a:endParaRPr sz="24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500"/>
              </a:spcBef>
            </a:pPr>
            <a:r>
              <a:rPr sz="2400" spc="-50" dirty="0">
                <a:solidFill>
                  <a:srgbClr val="ABC0E7"/>
                </a:solidFill>
                <a:latin typeface="Times New Roman"/>
                <a:cs typeface="Times New Roman"/>
              </a:rPr>
              <a:t>1</a:t>
            </a:r>
            <a:endParaRPr sz="2400">
              <a:latin typeface="Times New Roman"/>
              <a:cs typeface="Times New Roman"/>
            </a:endParaRPr>
          </a:p>
        </p:txBody>
      </p:sp>
      <p:graphicFrame>
        <p:nvGraphicFramePr>
          <p:cNvPr id="6" name="object 6"/>
          <p:cNvGraphicFramePr>
            <a:graphicFrameLocks noGrp="1"/>
          </p:cNvGraphicFramePr>
          <p:nvPr/>
        </p:nvGraphicFramePr>
        <p:xfrm>
          <a:off x="3851402" y="3001669"/>
          <a:ext cx="2279648" cy="25558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1940"/>
                <a:gridCol w="344804"/>
                <a:gridCol w="338455"/>
                <a:gridCol w="340359"/>
                <a:gridCol w="339090"/>
                <a:gridCol w="346075"/>
                <a:gridCol w="288925"/>
              </a:tblGrid>
              <a:tr h="449580">
                <a:tc>
                  <a:txBody>
                    <a:bodyPr/>
                    <a:lstStyle/>
                    <a:p>
                      <a:pPr marL="31750">
                        <a:lnSpc>
                          <a:spcPts val="2620"/>
                        </a:lnSpc>
                      </a:pPr>
                      <a:r>
                        <a:rPr sz="2400" spc="-50" dirty="0">
                          <a:latin typeface="Times New Roman"/>
                          <a:cs typeface="Times New Roman"/>
                        </a:rPr>
                        <a:t>3</a:t>
                      </a: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ts val="2620"/>
                        </a:lnSpc>
                      </a:pPr>
                      <a:r>
                        <a:rPr sz="2400" spc="-50" dirty="0">
                          <a:latin typeface="Times New Roman"/>
                          <a:cs typeface="Times New Roman"/>
                        </a:rPr>
                        <a:t>1</a:t>
                      </a: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20"/>
                        </a:lnSpc>
                      </a:pPr>
                      <a:r>
                        <a:rPr sz="2400" spc="-50" dirty="0">
                          <a:latin typeface="Times New Roman"/>
                          <a:cs typeface="Times New Roman"/>
                        </a:rPr>
                        <a:t>4</a:t>
                      </a: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ts val="2620"/>
                        </a:lnSpc>
                      </a:pPr>
                      <a:r>
                        <a:rPr sz="2400" spc="-50" dirty="0">
                          <a:solidFill>
                            <a:srgbClr val="FF9933"/>
                          </a:solidFill>
                          <a:latin typeface="Times New Roman"/>
                          <a:cs typeface="Times New Roman"/>
                        </a:rPr>
                        <a:t>5</a:t>
                      </a: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20"/>
                        </a:lnSpc>
                      </a:pPr>
                      <a:r>
                        <a:rPr sz="2400" spc="-50" dirty="0">
                          <a:latin typeface="Times New Roman"/>
                          <a:cs typeface="Times New Roman"/>
                        </a:rPr>
                        <a:t>8</a:t>
                      </a: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20"/>
                        </a:lnSpc>
                      </a:pPr>
                      <a:r>
                        <a:rPr sz="2400" spc="-50" dirty="0">
                          <a:latin typeface="Times New Roman"/>
                          <a:cs typeface="Times New Roman"/>
                        </a:rPr>
                        <a:t>9</a:t>
                      </a: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6675" algn="ctr">
                        <a:lnSpc>
                          <a:spcPts val="2620"/>
                        </a:lnSpc>
                      </a:pPr>
                      <a:r>
                        <a:rPr sz="2400" spc="-50" dirty="0">
                          <a:latin typeface="Times New Roman"/>
                          <a:cs typeface="Times New Roman"/>
                        </a:rPr>
                        <a:t>7</a:t>
                      </a: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FFFFFF"/>
                    </a:solidFill>
                  </a:tcPr>
                </a:tc>
              </a:tr>
              <a:tr h="558165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615"/>
                        </a:spcBef>
                      </a:pPr>
                      <a:r>
                        <a:rPr sz="2400" spc="-50" dirty="0">
                          <a:solidFill>
                            <a:srgbClr val="FF9933"/>
                          </a:solidFill>
                          <a:latin typeface="Times New Roman"/>
                          <a:cs typeface="Times New Roman"/>
                        </a:rPr>
                        <a:t>2</a:t>
                      </a: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78105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5715" algn="ctr">
                        <a:lnSpc>
                          <a:spcPct val="100000"/>
                        </a:lnSpc>
                        <a:spcBef>
                          <a:spcPts val="615"/>
                        </a:spcBef>
                      </a:pPr>
                      <a:r>
                        <a:rPr sz="2400" spc="-50" dirty="0">
                          <a:latin typeface="Times New Roman"/>
                          <a:cs typeface="Times New Roman"/>
                        </a:rPr>
                        <a:t>3</a:t>
                      </a: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78105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15"/>
                        </a:spcBef>
                      </a:pPr>
                      <a:r>
                        <a:rPr sz="2400" spc="-50" dirty="0">
                          <a:latin typeface="Times New Roman"/>
                          <a:cs typeface="Times New Roman"/>
                        </a:rPr>
                        <a:t>4</a:t>
                      </a: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78105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615"/>
                        </a:spcBef>
                      </a:pPr>
                      <a:r>
                        <a:rPr sz="2400" spc="-50" dirty="0">
                          <a:solidFill>
                            <a:srgbClr val="ABC0E7"/>
                          </a:solidFill>
                          <a:latin typeface="Times New Roman"/>
                          <a:cs typeface="Times New Roman"/>
                        </a:rPr>
                        <a:t>5</a:t>
                      </a: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78105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15"/>
                        </a:spcBef>
                      </a:pPr>
                      <a:r>
                        <a:rPr sz="2400" spc="-50" dirty="0">
                          <a:latin typeface="Times New Roman"/>
                          <a:cs typeface="Times New Roman"/>
                        </a:rPr>
                        <a:t>7</a:t>
                      </a: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78105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15"/>
                        </a:spcBef>
                      </a:pPr>
                      <a:r>
                        <a:rPr sz="2400" spc="-50" dirty="0">
                          <a:solidFill>
                            <a:srgbClr val="FF9933"/>
                          </a:solidFill>
                          <a:latin typeface="Times New Roman"/>
                          <a:cs typeface="Times New Roman"/>
                        </a:rPr>
                        <a:t>8</a:t>
                      </a: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78105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9850" algn="ctr">
                        <a:lnSpc>
                          <a:spcPct val="100000"/>
                        </a:lnSpc>
                        <a:spcBef>
                          <a:spcPts val="615"/>
                        </a:spcBef>
                      </a:pPr>
                      <a:r>
                        <a:rPr sz="2400" spc="-50" dirty="0">
                          <a:latin typeface="Times New Roman"/>
                          <a:cs typeface="Times New Roman"/>
                        </a:rPr>
                        <a:t>9</a:t>
                      </a: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78105" marB="0"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600"/>
                        </a:spcBef>
                      </a:pPr>
                      <a:r>
                        <a:rPr sz="2400" spc="-50" dirty="0">
                          <a:solidFill>
                            <a:srgbClr val="ABC0E7"/>
                          </a:solidFill>
                          <a:latin typeface="Times New Roman"/>
                          <a:cs typeface="Times New Roman"/>
                        </a:rPr>
                        <a:t>2</a:t>
                      </a: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7620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5715" algn="ctr">
                        <a:lnSpc>
                          <a:spcPct val="100000"/>
                        </a:lnSpc>
                        <a:spcBef>
                          <a:spcPts val="600"/>
                        </a:spcBef>
                      </a:pPr>
                      <a:r>
                        <a:rPr sz="2400" spc="-50" dirty="0">
                          <a:solidFill>
                            <a:srgbClr val="FF9933"/>
                          </a:solidFill>
                          <a:latin typeface="Times New Roman"/>
                          <a:cs typeface="Times New Roman"/>
                        </a:rPr>
                        <a:t>3</a:t>
                      </a: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7620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</a:pPr>
                      <a:r>
                        <a:rPr sz="2400" spc="-50" dirty="0">
                          <a:latin typeface="Times New Roman"/>
                          <a:cs typeface="Times New Roman"/>
                        </a:rPr>
                        <a:t>4</a:t>
                      </a: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7620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600"/>
                        </a:spcBef>
                      </a:pPr>
                      <a:r>
                        <a:rPr sz="2400" spc="-50" dirty="0">
                          <a:solidFill>
                            <a:srgbClr val="ABC0E7"/>
                          </a:solidFill>
                          <a:latin typeface="Times New Roman"/>
                          <a:cs typeface="Times New Roman"/>
                        </a:rPr>
                        <a:t>5</a:t>
                      </a: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7620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600"/>
                        </a:spcBef>
                      </a:pPr>
                      <a:r>
                        <a:rPr sz="2400" spc="-50" dirty="0">
                          <a:solidFill>
                            <a:srgbClr val="FF9933"/>
                          </a:solidFill>
                          <a:latin typeface="Times New Roman"/>
                          <a:cs typeface="Times New Roman"/>
                        </a:rPr>
                        <a:t>7</a:t>
                      </a: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7620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</a:pPr>
                      <a:r>
                        <a:rPr sz="2400" spc="-50" dirty="0">
                          <a:solidFill>
                            <a:srgbClr val="ABC0E7"/>
                          </a:solidFill>
                          <a:latin typeface="Times New Roman"/>
                          <a:cs typeface="Times New Roman"/>
                        </a:rPr>
                        <a:t>8</a:t>
                      </a: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7620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73025" algn="ctr">
                        <a:lnSpc>
                          <a:spcPct val="100000"/>
                        </a:lnSpc>
                        <a:spcBef>
                          <a:spcPts val="600"/>
                        </a:spcBef>
                      </a:pPr>
                      <a:r>
                        <a:rPr sz="2400" spc="-50" dirty="0">
                          <a:solidFill>
                            <a:srgbClr val="FF9933"/>
                          </a:solidFill>
                          <a:latin typeface="Times New Roman"/>
                          <a:cs typeface="Times New Roman"/>
                        </a:rPr>
                        <a:t>9</a:t>
                      </a: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76200" marB="0">
                    <a:solidFill>
                      <a:srgbClr val="FFFFFF"/>
                    </a:solidFill>
                  </a:tcPr>
                </a:tc>
              </a:tr>
              <a:tr h="550545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600"/>
                        </a:spcBef>
                      </a:pPr>
                      <a:r>
                        <a:rPr sz="2400" spc="-50" dirty="0">
                          <a:solidFill>
                            <a:srgbClr val="ABC0E7"/>
                          </a:solidFill>
                          <a:latin typeface="Times New Roman"/>
                          <a:cs typeface="Times New Roman"/>
                        </a:rPr>
                        <a:t>2</a:t>
                      </a: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7620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600"/>
                        </a:spcBef>
                      </a:pPr>
                      <a:r>
                        <a:rPr sz="2400" spc="-50" dirty="0">
                          <a:solidFill>
                            <a:srgbClr val="ABC0E7"/>
                          </a:solidFill>
                          <a:latin typeface="Times New Roman"/>
                          <a:cs typeface="Times New Roman"/>
                        </a:rPr>
                        <a:t>3</a:t>
                      </a: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7620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</a:pPr>
                      <a:r>
                        <a:rPr sz="2400" spc="-50" dirty="0">
                          <a:solidFill>
                            <a:srgbClr val="FF9933"/>
                          </a:solidFill>
                          <a:latin typeface="Times New Roman"/>
                          <a:cs typeface="Times New Roman"/>
                        </a:rPr>
                        <a:t>4</a:t>
                      </a: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7620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600"/>
                        </a:spcBef>
                      </a:pPr>
                      <a:r>
                        <a:rPr sz="2400" spc="-50" dirty="0">
                          <a:solidFill>
                            <a:srgbClr val="ABC0E7"/>
                          </a:solidFill>
                          <a:latin typeface="Times New Roman"/>
                          <a:cs typeface="Times New Roman"/>
                        </a:rPr>
                        <a:t>5</a:t>
                      </a: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7620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</a:pPr>
                      <a:r>
                        <a:rPr sz="2400" spc="-50" dirty="0">
                          <a:solidFill>
                            <a:srgbClr val="ABC0E7"/>
                          </a:solidFill>
                          <a:latin typeface="Times New Roman"/>
                          <a:cs typeface="Times New Roman"/>
                        </a:rPr>
                        <a:t>7</a:t>
                      </a: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7620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00"/>
                        </a:spcBef>
                      </a:pPr>
                      <a:r>
                        <a:rPr sz="2400" spc="-50" dirty="0">
                          <a:solidFill>
                            <a:srgbClr val="ABC0E7"/>
                          </a:solidFill>
                          <a:latin typeface="Times New Roman"/>
                          <a:cs typeface="Times New Roman"/>
                        </a:rPr>
                        <a:t>8</a:t>
                      </a: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7620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6675" algn="ctr">
                        <a:lnSpc>
                          <a:spcPct val="100000"/>
                        </a:lnSpc>
                        <a:spcBef>
                          <a:spcPts val="600"/>
                        </a:spcBef>
                      </a:pPr>
                      <a:r>
                        <a:rPr sz="2400" spc="-50" dirty="0">
                          <a:solidFill>
                            <a:srgbClr val="ABC0E7"/>
                          </a:solidFill>
                          <a:latin typeface="Times New Roman"/>
                          <a:cs typeface="Times New Roman"/>
                        </a:rPr>
                        <a:t>9</a:t>
                      </a: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76200" marB="0">
                    <a:solidFill>
                      <a:srgbClr val="FFFFFF"/>
                    </a:solidFill>
                  </a:tcPr>
                </a:tc>
              </a:tr>
              <a:tr h="441325">
                <a:tc>
                  <a:txBody>
                    <a:bodyPr/>
                    <a:lstStyle/>
                    <a:p>
                      <a:pPr marL="31750">
                        <a:lnSpc>
                          <a:spcPts val="2820"/>
                        </a:lnSpc>
                        <a:spcBef>
                          <a:spcPts val="555"/>
                        </a:spcBef>
                      </a:pPr>
                      <a:r>
                        <a:rPr sz="2400" spc="-50" dirty="0">
                          <a:solidFill>
                            <a:srgbClr val="ABC0E7"/>
                          </a:solidFill>
                          <a:latin typeface="Times New Roman"/>
                          <a:cs typeface="Times New Roman"/>
                        </a:rPr>
                        <a:t>2</a:t>
                      </a: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70485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ts val="2820"/>
                        </a:lnSpc>
                        <a:spcBef>
                          <a:spcPts val="555"/>
                        </a:spcBef>
                      </a:pPr>
                      <a:r>
                        <a:rPr sz="2400" spc="-50" dirty="0">
                          <a:solidFill>
                            <a:srgbClr val="ABC0E7"/>
                          </a:solidFill>
                          <a:latin typeface="Times New Roman"/>
                          <a:cs typeface="Times New Roman"/>
                        </a:rPr>
                        <a:t>3</a:t>
                      </a: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70485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20"/>
                        </a:lnSpc>
                        <a:spcBef>
                          <a:spcPts val="555"/>
                        </a:spcBef>
                      </a:pPr>
                      <a:r>
                        <a:rPr sz="2400" spc="-50" dirty="0">
                          <a:solidFill>
                            <a:srgbClr val="ABC0E7"/>
                          </a:solidFill>
                          <a:latin typeface="Times New Roman"/>
                          <a:cs typeface="Times New Roman"/>
                        </a:rPr>
                        <a:t>4</a:t>
                      </a: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70485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20"/>
                        </a:lnSpc>
                        <a:spcBef>
                          <a:spcPts val="555"/>
                        </a:spcBef>
                      </a:pPr>
                      <a:r>
                        <a:rPr sz="2400" spc="-50" dirty="0">
                          <a:solidFill>
                            <a:srgbClr val="ABC0E7"/>
                          </a:solidFill>
                          <a:latin typeface="Times New Roman"/>
                          <a:cs typeface="Times New Roman"/>
                        </a:rPr>
                        <a:t>5</a:t>
                      </a: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70485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20"/>
                        </a:lnSpc>
                        <a:spcBef>
                          <a:spcPts val="555"/>
                        </a:spcBef>
                      </a:pPr>
                      <a:r>
                        <a:rPr sz="2400" spc="-50" dirty="0">
                          <a:solidFill>
                            <a:srgbClr val="ABC0E7"/>
                          </a:solidFill>
                          <a:latin typeface="Times New Roman"/>
                          <a:cs typeface="Times New Roman"/>
                        </a:rPr>
                        <a:t>7</a:t>
                      </a: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70485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R="2540" algn="ctr">
                        <a:lnSpc>
                          <a:spcPts val="2820"/>
                        </a:lnSpc>
                        <a:spcBef>
                          <a:spcPts val="555"/>
                        </a:spcBef>
                      </a:pPr>
                      <a:r>
                        <a:rPr sz="2400" spc="-50" dirty="0">
                          <a:solidFill>
                            <a:srgbClr val="ABC0E7"/>
                          </a:solidFill>
                          <a:latin typeface="Times New Roman"/>
                          <a:cs typeface="Times New Roman"/>
                        </a:rPr>
                        <a:t>8</a:t>
                      </a: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70485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60960" algn="ctr">
                        <a:lnSpc>
                          <a:spcPts val="2820"/>
                        </a:lnSpc>
                        <a:spcBef>
                          <a:spcPts val="555"/>
                        </a:spcBef>
                      </a:pPr>
                      <a:r>
                        <a:rPr sz="2400" spc="-50" dirty="0">
                          <a:solidFill>
                            <a:srgbClr val="ABC0E7"/>
                          </a:solidFill>
                          <a:latin typeface="Times New Roman"/>
                          <a:cs typeface="Times New Roman"/>
                        </a:rPr>
                        <a:t>9</a:t>
                      </a: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70485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object 7"/>
          <p:cNvSpPr txBox="1"/>
          <p:nvPr/>
        </p:nvSpPr>
        <p:spPr>
          <a:xfrm>
            <a:off x="4734814" y="223519"/>
            <a:ext cx="3303904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60" dirty="0">
                <a:solidFill>
                  <a:srgbClr val="FFFFFF"/>
                </a:solidFill>
                <a:latin typeface="Verdana"/>
                <a:cs typeface="Verdana"/>
              </a:rPr>
              <a:t>Bahria</a:t>
            </a:r>
            <a:r>
              <a:rPr sz="1600" spc="-8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110" dirty="0">
                <a:solidFill>
                  <a:srgbClr val="FFFFFF"/>
                </a:solidFill>
                <a:latin typeface="Verdana"/>
                <a:cs typeface="Verdana"/>
              </a:rPr>
              <a:t>University</a:t>
            </a:r>
            <a:r>
              <a:rPr sz="1600" spc="-6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30" dirty="0">
                <a:solidFill>
                  <a:srgbClr val="FFFFFF"/>
                </a:solidFill>
                <a:latin typeface="Verdana"/>
                <a:cs typeface="Verdana"/>
              </a:rPr>
              <a:t>Karachi</a:t>
            </a:r>
            <a:r>
              <a:rPr sz="1600" spc="-85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10" dirty="0">
                <a:solidFill>
                  <a:srgbClr val="FFFFFF"/>
                </a:solidFill>
                <a:latin typeface="Verdana"/>
                <a:cs typeface="Verdana"/>
              </a:rPr>
              <a:t>Campus</a:t>
            </a:r>
            <a:endParaRPr sz="160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734814" y="223519"/>
            <a:ext cx="3303904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60" dirty="0">
                <a:solidFill>
                  <a:srgbClr val="FFFFFF"/>
                </a:solidFill>
                <a:latin typeface="Verdana"/>
                <a:cs typeface="Verdana"/>
              </a:rPr>
              <a:t>Bahria</a:t>
            </a:r>
            <a:r>
              <a:rPr sz="1600" spc="-8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110" dirty="0">
                <a:solidFill>
                  <a:srgbClr val="FFFFFF"/>
                </a:solidFill>
                <a:latin typeface="Verdana"/>
                <a:cs typeface="Verdana"/>
              </a:rPr>
              <a:t>University</a:t>
            </a:r>
            <a:r>
              <a:rPr sz="1600" spc="-6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30" dirty="0">
                <a:solidFill>
                  <a:srgbClr val="FFFFFF"/>
                </a:solidFill>
                <a:latin typeface="Verdana"/>
                <a:cs typeface="Verdana"/>
              </a:rPr>
              <a:t>Karachi</a:t>
            </a:r>
            <a:r>
              <a:rPr sz="1600" spc="-85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1600" spc="-10" dirty="0">
                <a:solidFill>
                  <a:srgbClr val="FFFFFF"/>
                </a:solidFill>
                <a:latin typeface="Verdana"/>
                <a:cs typeface="Verdana"/>
              </a:rPr>
              <a:t>Campus</a:t>
            </a:r>
            <a:endParaRPr sz="1600">
              <a:latin typeface="Verdana"/>
              <a:cs typeface="Verdana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447800" y="1447800"/>
            <a:ext cx="6172200" cy="450646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8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521</Words>
  <Application>Microsoft Office PowerPoint</Application>
  <PresentationFormat>On-screen Show (4:3)</PresentationFormat>
  <Paragraphs>208</Paragraphs>
  <Slides>19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0" baseType="lpstr">
      <vt:lpstr>Office Theme</vt:lpstr>
      <vt:lpstr>CSC- 321 DESIGN AND ANALYSIS OF ALGORITHMS</vt:lpstr>
      <vt:lpstr>LECTURE 7</vt:lpstr>
      <vt:lpstr>DIVIDE &amp; CONQUER</vt:lpstr>
      <vt:lpstr>DIVIDE-AND-CONQUER</vt:lpstr>
      <vt:lpstr>DIVIDE AND CONQUER</vt:lpstr>
      <vt:lpstr>DIVIDE-AND-CONQUER TECHNIQUE</vt:lpstr>
      <vt:lpstr>DIVIDE AND CONQUER ALGORITHMS</vt:lpstr>
      <vt:lpstr>D-A-C</vt:lpstr>
      <vt:lpstr>ALGORITHM FOR GENERAL DIVIDE AND CONQUER SORTING</vt:lpstr>
      <vt:lpstr>THE ALGORITHM</vt:lpstr>
      <vt:lpstr>THE ALGORITHM (2)</vt:lpstr>
      <vt:lpstr>DIVIDE AND CONQUER EXAMPLES</vt:lpstr>
      <vt:lpstr>EXAMPLE: DIVIDE AND CONQUER</vt:lpstr>
      <vt:lpstr>MERGE SORT</vt:lpstr>
      <vt:lpstr>MERGE SORT</vt:lpstr>
      <vt:lpstr>QUICK SORT</vt:lpstr>
      <vt:lpstr>PowerPoint Presentation</vt:lpstr>
      <vt:lpstr>QUICK SORT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DIVIDE &amp; CONQUER</dc:title>
  <dc:creator>Bahria</dc:creator>
  <cp:lastModifiedBy>PC</cp:lastModifiedBy>
  <cp:revision>1</cp:revision>
  <dcterms:created xsi:type="dcterms:W3CDTF">2024-02-18T07:48:04Z</dcterms:created>
  <dcterms:modified xsi:type="dcterms:W3CDTF">2024-03-21T07:35:14Z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2021-09-03T00:00:00Z</vt:filetime>
  </property>
  <property fmtid="{D5CDD505-2E9C-101B-9397-08002B2CF9AE}" pid="3" name="Creator">
    <vt:lpwstr>Microsoft® PowerPoint® 2013</vt:lpwstr>
  </property>
  <property fmtid="{D5CDD505-2E9C-101B-9397-08002B2CF9AE}" pid="4" name="LastSaved">
    <vt:filetime>2024-02-18T00:00:00Z</vt:filetime>
  </property>
  <property fmtid="{D5CDD505-2E9C-101B-9397-08002B2CF9AE}" pid="5" name="Producer">
    <vt:lpwstr>Microsoft® PowerPoint® 2013</vt:lpwstr>
  </property>
</Properties>
</file>