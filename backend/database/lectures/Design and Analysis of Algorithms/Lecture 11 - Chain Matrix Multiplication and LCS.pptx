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1" r:id="rId3"/>
    <p:sldId id="292" r:id="rId4"/>
    <p:sldId id="293" r:id="rId5"/>
    <p:sldId id="294" r:id="rId6"/>
    <p:sldId id="301" r:id="rId7"/>
    <p:sldId id="295" r:id="rId8"/>
    <p:sldId id="296" r:id="rId9"/>
    <p:sldId id="297" r:id="rId10"/>
    <p:sldId id="298" r:id="rId11"/>
    <p:sldId id="299" r:id="rId12"/>
    <p:sldId id="300" r:id="rId13"/>
    <p:sldId id="304" r:id="rId14"/>
    <p:sldId id="302" r:id="rId15"/>
    <p:sldId id="303" r:id="rId16"/>
    <p:sldId id="258" r:id="rId17"/>
    <p:sldId id="259" r:id="rId18"/>
    <p:sldId id="260" r:id="rId19"/>
    <p:sldId id="261" r:id="rId20"/>
    <p:sldId id="262" r:id="rId21"/>
    <p:sldId id="263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80" r:id="rId31"/>
    <p:sldId id="281" r:id="rId32"/>
    <p:sldId id="282" r:id="rId33"/>
    <p:sldId id="305" r:id="rId34"/>
    <p:sldId id="306" r:id="rId35"/>
    <p:sldId id="307" r:id="rId36"/>
    <p:sldId id="308" r:id="rId37"/>
    <p:sldId id="309" r:id="rId38"/>
    <p:sldId id="310" r:id="rId39"/>
    <p:sldId id="311" r:id="rId40"/>
    <p:sldId id="312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E4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8.e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F5D4D-E466-431A-8DEF-26A348384A75}" type="datetimeFigureOut">
              <a:rPr lang="en-US" smtClean="0"/>
              <a:t>6/4/2024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EA271-06EC-4C44-99D4-74F7D1C67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5146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F5D4D-E466-431A-8DEF-26A348384A75}" type="datetimeFigureOut">
              <a:rPr lang="en-US" smtClean="0"/>
              <a:t>6/4/2024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EA271-06EC-4C44-99D4-74F7D1C67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9685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F5D4D-E466-431A-8DEF-26A348384A75}" type="datetimeFigureOut">
              <a:rPr lang="en-US" smtClean="0"/>
              <a:t>6/4/2024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EA271-06EC-4C44-99D4-74F7D1C67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420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F5D4D-E466-431A-8DEF-26A348384A75}" type="datetimeFigureOut">
              <a:rPr lang="en-US" smtClean="0"/>
              <a:t>6/4/2024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EA271-06EC-4C44-99D4-74F7D1C67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19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F5D4D-E466-431A-8DEF-26A348384A75}" type="datetimeFigureOut">
              <a:rPr lang="en-US" smtClean="0"/>
              <a:t>6/4/2024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EA271-06EC-4C44-99D4-74F7D1C67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8226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F5D4D-E466-431A-8DEF-26A348384A75}" type="datetimeFigureOut">
              <a:rPr lang="en-US" smtClean="0"/>
              <a:t>6/4/2024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EA271-06EC-4C44-99D4-74F7D1C67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590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F5D4D-E466-431A-8DEF-26A348384A75}" type="datetimeFigureOut">
              <a:rPr lang="en-US" smtClean="0"/>
              <a:t>6/4/2024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EA271-06EC-4C44-99D4-74F7D1C67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379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F5D4D-E466-431A-8DEF-26A348384A75}" type="datetimeFigureOut">
              <a:rPr lang="en-US" smtClean="0"/>
              <a:t>6/4/2024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EA271-06EC-4C44-99D4-74F7D1C67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470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F5D4D-E466-431A-8DEF-26A348384A75}" type="datetimeFigureOut">
              <a:rPr lang="en-US" smtClean="0"/>
              <a:t>6/4/2024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EA271-06EC-4C44-99D4-74F7D1C67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700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F5D4D-E466-431A-8DEF-26A348384A75}" type="datetimeFigureOut">
              <a:rPr lang="en-US" smtClean="0"/>
              <a:t>6/4/2024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EA271-06EC-4C44-99D4-74F7D1C67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187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F5D4D-E466-431A-8DEF-26A348384A75}" type="datetimeFigureOut">
              <a:rPr lang="en-US" smtClean="0"/>
              <a:t>6/4/2024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EA271-06EC-4C44-99D4-74F7D1C67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545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bg1">
                <a:lumMod val="95000"/>
              </a:schemeClr>
            </a:gs>
            <a:gs pos="83000">
              <a:schemeClr val="bg1">
                <a:lumMod val="85000"/>
              </a:schemeClr>
            </a:gs>
            <a:gs pos="100000">
              <a:schemeClr val="bg1">
                <a:lumMod val="75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4F5D4D-E466-431A-8DEF-26A348384A75}" type="datetimeFigureOut">
              <a:rPr lang="en-US" smtClean="0"/>
              <a:t>6/4/2024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DEA271-06EC-4C44-99D4-74F7D1C67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8312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2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6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3.emf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6.xml"/><Relationship Id="rId1" Type="http://schemas.openxmlformats.org/officeDocument/2006/relationships/vmlDrawing" Target="../drawings/vmlDrawing3.vml"/><Relationship Id="rId4" Type="http://schemas.openxmlformats.org/officeDocument/2006/relationships/image" Target="../media/image18.e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>
              <a:lnSpc>
                <a:spcPct val="95000"/>
              </a:lnSpc>
              <a:defRPr/>
            </a:pPr>
            <a:r>
              <a:rPr lang="en-US" b="1" dirty="0">
                <a:solidFill>
                  <a:schemeClr val="tx2"/>
                </a:solidFill>
              </a:rPr>
              <a:t>Lecture # </a:t>
            </a:r>
            <a:r>
              <a:rPr lang="en-US" b="1" dirty="0" smtClean="0">
                <a:solidFill>
                  <a:schemeClr val="tx2"/>
                </a:solidFill>
              </a:rPr>
              <a:t>14 </a:t>
            </a:r>
            <a:r>
              <a:rPr lang="en-US" b="1" dirty="0">
                <a:solidFill>
                  <a:schemeClr val="tx2"/>
                </a:solidFill>
              </a:rPr>
              <a:t>– Pattern Matching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Boyer-Moore &amp; KMP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19941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Overview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90800" y="1981200"/>
            <a:ext cx="7162800" cy="3276600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altLang="en-US" dirty="0"/>
              <a:t>1.  What is Pattern Matching?</a:t>
            </a:r>
          </a:p>
          <a:p>
            <a:pPr>
              <a:buFont typeface="Monotype Sorts" pitchFamily="2" charset="2"/>
              <a:buNone/>
            </a:pPr>
            <a:r>
              <a:rPr lang="en-US" altLang="en-US" dirty="0"/>
              <a:t>2.  The Brute Force Algorithm</a:t>
            </a:r>
          </a:p>
          <a:p>
            <a:pPr>
              <a:buFont typeface="Monotype Sorts" pitchFamily="2" charset="2"/>
              <a:buNone/>
            </a:pPr>
            <a:r>
              <a:rPr lang="en-US" altLang="en-US" dirty="0"/>
              <a:t>3.  The Boyer-Moore Algorithm</a:t>
            </a:r>
          </a:p>
          <a:p>
            <a:pPr>
              <a:buFont typeface="Monotype Sorts" pitchFamily="2" charset="2"/>
              <a:buNone/>
            </a:pPr>
            <a:r>
              <a:rPr lang="en-US" altLang="en-US" dirty="0"/>
              <a:t>4.  The Knuth-Morris-Pratt Algorithm</a:t>
            </a:r>
          </a:p>
          <a:p>
            <a:pPr>
              <a:buFont typeface="Monotype Sorts" pitchFamily="2" charset="2"/>
              <a:buNone/>
            </a:pPr>
            <a:r>
              <a:rPr lang="en-US" altLang="en-US" dirty="0"/>
              <a:t>5.  More Information</a:t>
            </a:r>
          </a:p>
        </p:txBody>
      </p:sp>
    </p:spTree>
    <p:extLst>
      <p:ext uri="{BB962C8B-B14F-4D97-AF65-F5344CB8AC3E}">
        <p14:creationId xmlns:p14="http://schemas.microsoft.com/office/powerpoint/2010/main" val="9841482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th-TH" altLang="en-US"/>
              <a:t>1.  What is Pattern Matching?</a:t>
            </a:r>
          </a:p>
        </p:txBody>
      </p:sp>
      <p:sp>
        <p:nvSpPr>
          <p:cNvPr id="1802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362200" y="1752600"/>
            <a:ext cx="7772400" cy="4114800"/>
          </a:xfrm>
        </p:spPr>
        <p:txBody>
          <a:bodyPr/>
          <a:lstStyle/>
          <a:p>
            <a:r>
              <a:rPr lang="th-TH" altLang="en-US"/>
              <a:t>Definition:</a:t>
            </a:r>
          </a:p>
          <a:p>
            <a:pPr lvl="1"/>
            <a:r>
              <a:rPr lang="th-TH" altLang="en-US"/>
              <a:t>given a text string T and a pattern string P, find the pattern inside the text</a:t>
            </a:r>
          </a:p>
          <a:p>
            <a:pPr lvl="2"/>
            <a:r>
              <a:rPr lang="th-TH" altLang="en-US"/>
              <a:t>T:  “the rain in spain stays mainly on the plain”</a:t>
            </a:r>
          </a:p>
          <a:p>
            <a:pPr lvl="2"/>
            <a:r>
              <a:rPr lang="th-TH" altLang="en-US"/>
              <a:t>P: “n th”</a:t>
            </a:r>
          </a:p>
          <a:p>
            <a:pPr lvl="2"/>
            <a:endParaRPr lang="th-TH" altLang="en-US"/>
          </a:p>
          <a:p>
            <a:r>
              <a:rPr lang="th-TH" altLang="en-US"/>
              <a:t>Applications:</a:t>
            </a:r>
          </a:p>
          <a:p>
            <a:pPr lvl="1"/>
            <a:r>
              <a:rPr lang="th-TH" altLang="en-US"/>
              <a:t>text editors, Web search engines (e.g. Google), image analysis</a:t>
            </a:r>
          </a:p>
        </p:txBody>
      </p:sp>
    </p:spTree>
    <p:extLst>
      <p:ext uri="{BB962C8B-B14F-4D97-AF65-F5344CB8AC3E}">
        <p14:creationId xmlns:p14="http://schemas.microsoft.com/office/powerpoint/2010/main" val="787149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th-TH" altLang="en-US"/>
              <a:t>String Concepts</a:t>
            </a:r>
          </a:p>
        </p:txBody>
      </p:sp>
      <p:sp>
        <p:nvSpPr>
          <p:cNvPr id="1812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362200" y="1676400"/>
            <a:ext cx="7772400" cy="4114800"/>
          </a:xfrm>
        </p:spPr>
        <p:txBody>
          <a:bodyPr/>
          <a:lstStyle/>
          <a:p>
            <a:r>
              <a:rPr lang="th-TH" altLang="en-US" dirty="0"/>
              <a:t>Assume S is a string of size m.</a:t>
            </a:r>
          </a:p>
          <a:p>
            <a:endParaRPr lang="th-TH" altLang="en-US" dirty="0"/>
          </a:p>
          <a:p>
            <a:pPr>
              <a:lnSpc>
                <a:spcPct val="90000"/>
              </a:lnSpc>
            </a:pPr>
            <a:r>
              <a:rPr lang="en-US" altLang="en-US" dirty="0"/>
              <a:t>A </a:t>
            </a:r>
            <a:r>
              <a:rPr lang="en-US" altLang="en-US" i="1" dirty="0">
                <a:solidFill>
                  <a:schemeClr val="accent1"/>
                </a:solidFill>
              </a:rPr>
              <a:t>substring</a:t>
            </a:r>
            <a:r>
              <a:rPr lang="en-US" altLang="en-US" dirty="0"/>
              <a:t> S[</a:t>
            </a:r>
            <a:r>
              <a:rPr lang="en-US" altLang="en-US" dirty="0" err="1"/>
              <a:t>i</a:t>
            </a:r>
            <a:r>
              <a:rPr lang="en-US" altLang="en-US" dirty="0"/>
              <a:t> .. j] of S is the string fragment between indexes </a:t>
            </a:r>
            <a:r>
              <a:rPr lang="en-US" altLang="en-US" dirty="0" err="1"/>
              <a:t>i</a:t>
            </a:r>
            <a:r>
              <a:rPr lang="en-US" altLang="en-US" dirty="0"/>
              <a:t> and j.</a:t>
            </a:r>
          </a:p>
          <a:p>
            <a:pPr>
              <a:lnSpc>
                <a:spcPct val="90000"/>
              </a:lnSpc>
            </a:pPr>
            <a:endParaRPr lang="en-US" altLang="en-US" dirty="0"/>
          </a:p>
          <a:p>
            <a:pPr>
              <a:lnSpc>
                <a:spcPct val="90000"/>
              </a:lnSpc>
            </a:pPr>
            <a:r>
              <a:rPr lang="en-US" altLang="en-US" dirty="0"/>
              <a:t>A </a:t>
            </a:r>
            <a:r>
              <a:rPr lang="en-US" altLang="en-US" i="1" dirty="0">
                <a:solidFill>
                  <a:schemeClr val="accent1"/>
                </a:solidFill>
              </a:rPr>
              <a:t>prefix</a:t>
            </a:r>
            <a:r>
              <a:rPr lang="en-US" altLang="en-US" dirty="0"/>
              <a:t> of S is a substring S[0 .. </a:t>
            </a:r>
            <a:r>
              <a:rPr lang="en-US" altLang="en-US" dirty="0" err="1"/>
              <a:t>i</a:t>
            </a:r>
            <a:r>
              <a:rPr lang="en-US" altLang="en-US" dirty="0"/>
              <a:t>]</a:t>
            </a:r>
          </a:p>
          <a:p>
            <a:pPr>
              <a:lnSpc>
                <a:spcPct val="90000"/>
              </a:lnSpc>
            </a:pPr>
            <a:r>
              <a:rPr lang="en-US" altLang="en-US" dirty="0"/>
              <a:t>A </a:t>
            </a:r>
            <a:r>
              <a:rPr lang="en-US" altLang="en-US" i="1" dirty="0">
                <a:solidFill>
                  <a:schemeClr val="accent1"/>
                </a:solidFill>
              </a:rPr>
              <a:t>suffix</a:t>
            </a:r>
            <a:r>
              <a:rPr lang="en-US" altLang="en-US" dirty="0"/>
              <a:t> of S is a substring S[</a:t>
            </a:r>
            <a:r>
              <a:rPr lang="en-US" altLang="en-US" dirty="0" err="1"/>
              <a:t>i</a:t>
            </a:r>
            <a:r>
              <a:rPr lang="en-US" altLang="en-US" dirty="0"/>
              <a:t> .. m-1]</a:t>
            </a:r>
          </a:p>
          <a:p>
            <a:pPr lvl="1">
              <a:lnSpc>
                <a:spcPct val="90000"/>
              </a:lnSpc>
            </a:pPr>
            <a:r>
              <a:rPr lang="en-US" altLang="en-US" dirty="0" err="1"/>
              <a:t>i</a:t>
            </a:r>
            <a:r>
              <a:rPr lang="en-US" altLang="en-US" dirty="0"/>
              <a:t> is any index between 0 and m-1 </a:t>
            </a:r>
          </a:p>
          <a:p>
            <a:endParaRPr lang="th-TH" altLang="en-US" dirty="0"/>
          </a:p>
        </p:txBody>
      </p:sp>
    </p:spTree>
    <p:extLst>
      <p:ext uri="{BB962C8B-B14F-4D97-AF65-F5344CB8AC3E}">
        <p14:creationId xmlns:p14="http://schemas.microsoft.com/office/powerpoint/2010/main" val="16412162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274" name="Rectangle 2"/>
          <p:cNvSpPr>
            <a:spLocks noGrp="1" noChangeArrowheads="1"/>
          </p:cNvSpPr>
          <p:nvPr>
            <p:ph type="title"/>
          </p:nvPr>
        </p:nvSpPr>
        <p:spPr>
          <a:xfrm>
            <a:off x="2362200" y="419100"/>
            <a:ext cx="2590800" cy="1104900"/>
          </a:xfrm>
        </p:spPr>
        <p:txBody>
          <a:bodyPr/>
          <a:lstStyle/>
          <a:p>
            <a:r>
              <a:rPr lang="th-TH" altLang="en-US"/>
              <a:t>Examples</a:t>
            </a:r>
          </a:p>
        </p:txBody>
      </p:sp>
      <p:sp>
        <p:nvSpPr>
          <p:cNvPr id="1822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altLang="en-US"/>
              <a:t>Substring S[1..3] == "ndr"</a:t>
            </a:r>
          </a:p>
          <a:p>
            <a:endParaRPr lang="th-TH" altLang="en-US"/>
          </a:p>
          <a:p>
            <a:r>
              <a:rPr lang="th-TH" altLang="en-US"/>
              <a:t>All possible prefixes of S:</a:t>
            </a:r>
          </a:p>
          <a:p>
            <a:pPr lvl="1"/>
            <a:r>
              <a:rPr lang="th-TH" altLang="en-US"/>
              <a:t>"andrew", "andre", "andr", "and", "an”, "a"</a:t>
            </a:r>
          </a:p>
          <a:p>
            <a:pPr lvl="1"/>
            <a:endParaRPr lang="th-TH" altLang="en-US"/>
          </a:p>
          <a:p>
            <a:r>
              <a:rPr lang="th-TH" altLang="en-US"/>
              <a:t>All possible suffixes of S:</a:t>
            </a:r>
          </a:p>
          <a:p>
            <a:pPr lvl="1"/>
            <a:r>
              <a:rPr lang="th-TH" altLang="en-US"/>
              <a:t>"andrew", "ndrew", "drew", "rew", "ew", "w"</a:t>
            </a:r>
          </a:p>
        </p:txBody>
      </p:sp>
      <p:grpSp>
        <p:nvGrpSpPr>
          <p:cNvPr id="182282" name="Group 10"/>
          <p:cNvGrpSpPr>
            <a:grpSpLocks/>
          </p:cNvGrpSpPr>
          <p:nvPr/>
        </p:nvGrpSpPr>
        <p:grpSpPr bwMode="auto">
          <a:xfrm>
            <a:off x="7239000" y="914400"/>
            <a:ext cx="2743200" cy="685800"/>
            <a:chOff x="3264" y="624"/>
            <a:chExt cx="1728" cy="432"/>
          </a:xfrm>
        </p:grpSpPr>
        <p:sp>
          <p:nvSpPr>
            <p:cNvPr id="182276" name="Rectangle 4"/>
            <p:cNvSpPr>
              <a:spLocks noChangeArrowheads="1"/>
            </p:cNvSpPr>
            <p:nvPr/>
          </p:nvSpPr>
          <p:spPr bwMode="auto">
            <a:xfrm>
              <a:off x="3264" y="624"/>
              <a:ext cx="1728" cy="432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2277" name="Line 5"/>
            <p:cNvSpPr>
              <a:spLocks noChangeShapeType="1"/>
            </p:cNvSpPr>
            <p:nvPr/>
          </p:nvSpPr>
          <p:spPr bwMode="auto">
            <a:xfrm>
              <a:off x="3552" y="624"/>
              <a:ext cx="0" cy="43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2278" name="Line 6"/>
            <p:cNvSpPr>
              <a:spLocks noChangeShapeType="1"/>
            </p:cNvSpPr>
            <p:nvPr/>
          </p:nvSpPr>
          <p:spPr bwMode="auto">
            <a:xfrm>
              <a:off x="3840" y="624"/>
              <a:ext cx="0" cy="43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2279" name="Line 7"/>
            <p:cNvSpPr>
              <a:spLocks noChangeShapeType="1"/>
            </p:cNvSpPr>
            <p:nvPr/>
          </p:nvSpPr>
          <p:spPr bwMode="auto">
            <a:xfrm>
              <a:off x="4128" y="624"/>
              <a:ext cx="0" cy="43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2280" name="Line 8"/>
            <p:cNvSpPr>
              <a:spLocks noChangeShapeType="1"/>
            </p:cNvSpPr>
            <p:nvPr/>
          </p:nvSpPr>
          <p:spPr bwMode="auto">
            <a:xfrm>
              <a:off x="4416" y="624"/>
              <a:ext cx="0" cy="43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2281" name="Line 9"/>
            <p:cNvSpPr>
              <a:spLocks noChangeShapeType="1"/>
            </p:cNvSpPr>
            <p:nvPr/>
          </p:nvSpPr>
          <p:spPr bwMode="auto">
            <a:xfrm>
              <a:off x="4704" y="624"/>
              <a:ext cx="0" cy="43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2283" name="Text Box 11"/>
          <p:cNvSpPr txBox="1">
            <a:spLocks noChangeArrowheads="1"/>
          </p:cNvSpPr>
          <p:nvPr/>
        </p:nvSpPr>
        <p:spPr bwMode="auto">
          <a:xfrm>
            <a:off x="7315200" y="911911"/>
            <a:ext cx="40588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a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2284" name="Text Box 12"/>
          <p:cNvSpPr txBox="1">
            <a:spLocks noChangeArrowheads="1"/>
          </p:cNvSpPr>
          <p:nvPr/>
        </p:nvSpPr>
        <p:spPr bwMode="auto">
          <a:xfrm>
            <a:off x="7753350" y="911911"/>
            <a:ext cx="42672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n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2285" name="Text Box 13"/>
          <p:cNvSpPr txBox="1">
            <a:spLocks noChangeArrowheads="1"/>
          </p:cNvSpPr>
          <p:nvPr/>
        </p:nvSpPr>
        <p:spPr bwMode="auto">
          <a:xfrm>
            <a:off x="8204200" y="911911"/>
            <a:ext cx="42672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d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2286" name="Text Box 14"/>
          <p:cNvSpPr txBox="1">
            <a:spLocks noChangeArrowheads="1"/>
          </p:cNvSpPr>
          <p:nvPr/>
        </p:nvSpPr>
        <p:spPr bwMode="auto">
          <a:xfrm>
            <a:off x="8693150" y="911911"/>
            <a:ext cx="34496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r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2287" name="Text Box 15"/>
          <p:cNvSpPr txBox="1">
            <a:spLocks noChangeArrowheads="1"/>
          </p:cNvSpPr>
          <p:nvPr/>
        </p:nvSpPr>
        <p:spPr bwMode="auto">
          <a:xfrm>
            <a:off x="9118600" y="911911"/>
            <a:ext cx="41389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e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2288" name="Text Box 16"/>
          <p:cNvSpPr txBox="1">
            <a:spLocks noChangeArrowheads="1"/>
          </p:cNvSpPr>
          <p:nvPr/>
        </p:nvSpPr>
        <p:spPr bwMode="auto">
          <a:xfrm>
            <a:off x="9505950" y="914400"/>
            <a:ext cx="5143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w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2289" name="Text Box 17"/>
          <p:cNvSpPr txBox="1">
            <a:spLocks noChangeArrowheads="1"/>
          </p:cNvSpPr>
          <p:nvPr/>
        </p:nvSpPr>
        <p:spPr bwMode="auto">
          <a:xfrm>
            <a:off x="6680200" y="607111"/>
            <a:ext cx="39626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S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2290" name="Text Box 18"/>
          <p:cNvSpPr txBox="1">
            <a:spLocks noChangeArrowheads="1"/>
          </p:cNvSpPr>
          <p:nvPr/>
        </p:nvSpPr>
        <p:spPr bwMode="auto">
          <a:xfrm>
            <a:off x="7353300" y="1598583"/>
            <a:ext cx="32733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2000"/>
              <a:t>0</a:t>
            </a:r>
            <a:endParaRPr lang="th-TH" altLang="en-US" sz="2000">
              <a:latin typeface="Tahoma" panose="020B0604030504040204" pitchFamily="34" charset="0"/>
            </a:endParaRPr>
          </a:p>
        </p:txBody>
      </p:sp>
      <p:sp>
        <p:nvSpPr>
          <p:cNvPr id="182291" name="Text Box 19"/>
          <p:cNvSpPr txBox="1">
            <a:spLocks noChangeArrowheads="1"/>
          </p:cNvSpPr>
          <p:nvPr/>
        </p:nvSpPr>
        <p:spPr bwMode="auto">
          <a:xfrm>
            <a:off x="9601200" y="1598583"/>
            <a:ext cx="32733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2000"/>
              <a:t>5</a:t>
            </a:r>
            <a:endParaRPr lang="th-TH" altLang="en-US" sz="200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31498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6BF6FBF-4EA1-FE44-BAF6-81974AFA3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Brute-Force Matching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CFA522C-C03D-9245-96CB-6BF901270C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5000" y="1729409"/>
            <a:ext cx="8460581" cy="4701208"/>
          </a:xfrm>
        </p:spPr>
        <p:txBody>
          <a:bodyPr/>
          <a:lstStyle/>
          <a:p>
            <a:r>
              <a:rPr lang="en-US" dirty="0"/>
              <a:t>Trying every possible position for a match: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DEDAAF23-86E6-3446-870C-1704750E9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0345" y="2312569"/>
            <a:ext cx="6699907" cy="4440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676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th-TH" altLang="en-US"/>
              <a:t>2.  The Brute Force Algorithm</a:t>
            </a:r>
          </a:p>
        </p:txBody>
      </p:sp>
      <p:sp>
        <p:nvSpPr>
          <p:cNvPr id="1832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362200" y="1797050"/>
            <a:ext cx="7772400" cy="1143000"/>
          </a:xfrm>
        </p:spPr>
        <p:txBody>
          <a:bodyPr/>
          <a:lstStyle/>
          <a:p>
            <a:r>
              <a:rPr lang="th-TH" altLang="en-US"/>
              <a:t>Check each position in the text T to see if the pattern P starts in that position</a:t>
            </a:r>
          </a:p>
        </p:txBody>
      </p:sp>
      <p:grpSp>
        <p:nvGrpSpPr>
          <p:cNvPr id="183300" name="Group 4"/>
          <p:cNvGrpSpPr>
            <a:grpSpLocks/>
          </p:cNvGrpSpPr>
          <p:nvPr/>
        </p:nvGrpSpPr>
        <p:grpSpPr bwMode="auto">
          <a:xfrm>
            <a:off x="2540000" y="3457575"/>
            <a:ext cx="2743200" cy="685800"/>
            <a:chOff x="3264" y="624"/>
            <a:chExt cx="1728" cy="432"/>
          </a:xfrm>
        </p:grpSpPr>
        <p:sp>
          <p:nvSpPr>
            <p:cNvPr id="183301" name="Rectangle 5"/>
            <p:cNvSpPr>
              <a:spLocks noChangeArrowheads="1"/>
            </p:cNvSpPr>
            <p:nvPr/>
          </p:nvSpPr>
          <p:spPr bwMode="auto">
            <a:xfrm>
              <a:off x="3264" y="624"/>
              <a:ext cx="1728" cy="432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3302" name="Line 6"/>
            <p:cNvSpPr>
              <a:spLocks noChangeShapeType="1"/>
            </p:cNvSpPr>
            <p:nvPr/>
          </p:nvSpPr>
          <p:spPr bwMode="auto">
            <a:xfrm>
              <a:off x="3552" y="624"/>
              <a:ext cx="0" cy="43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3303" name="Line 7"/>
            <p:cNvSpPr>
              <a:spLocks noChangeShapeType="1"/>
            </p:cNvSpPr>
            <p:nvPr/>
          </p:nvSpPr>
          <p:spPr bwMode="auto">
            <a:xfrm>
              <a:off x="3840" y="624"/>
              <a:ext cx="0" cy="43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3304" name="Line 8"/>
            <p:cNvSpPr>
              <a:spLocks noChangeShapeType="1"/>
            </p:cNvSpPr>
            <p:nvPr/>
          </p:nvSpPr>
          <p:spPr bwMode="auto">
            <a:xfrm>
              <a:off x="4128" y="624"/>
              <a:ext cx="0" cy="43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3305" name="Line 9"/>
            <p:cNvSpPr>
              <a:spLocks noChangeShapeType="1"/>
            </p:cNvSpPr>
            <p:nvPr/>
          </p:nvSpPr>
          <p:spPr bwMode="auto">
            <a:xfrm>
              <a:off x="4416" y="624"/>
              <a:ext cx="0" cy="43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3306" name="Line 10"/>
            <p:cNvSpPr>
              <a:spLocks noChangeShapeType="1"/>
            </p:cNvSpPr>
            <p:nvPr/>
          </p:nvSpPr>
          <p:spPr bwMode="auto">
            <a:xfrm>
              <a:off x="4704" y="624"/>
              <a:ext cx="0" cy="43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3307" name="Text Box 11"/>
          <p:cNvSpPr txBox="1">
            <a:spLocks noChangeArrowheads="1"/>
          </p:cNvSpPr>
          <p:nvPr/>
        </p:nvSpPr>
        <p:spPr bwMode="auto">
          <a:xfrm>
            <a:off x="2616200" y="3455086"/>
            <a:ext cx="40588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a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3308" name="Text Box 12"/>
          <p:cNvSpPr txBox="1">
            <a:spLocks noChangeArrowheads="1"/>
          </p:cNvSpPr>
          <p:nvPr/>
        </p:nvSpPr>
        <p:spPr bwMode="auto">
          <a:xfrm>
            <a:off x="3054350" y="3455086"/>
            <a:ext cx="42672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n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3309" name="Text Box 13"/>
          <p:cNvSpPr txBox="1">
            <a:spLocks noChangeArrowheads="1"/>
          </p:cNvSpPr>
          <p:nvPr/>
        </p:nvSpPr>
        <p:spPr bwMode="auto">
          <a:xfrm>
            <a:off x="3505200" y="3455086"/>
            <a:ext cx="42672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d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3310" name="Text Box 14"/>
          <p:cNvSpPr txBox="1">
            <a:spLocks noChangeArrowheads="1"/>
          </p:cNvSpPr>
          <p:nvPr/>
        </p:nvSpPr>
        <p:spPr bwMode="auto">
          <a:xfrm>
            <a:off x="3994150" y="3455086"/>
            <a:ext cx="34496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r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3311" name="Text Box 15"/>
          <p:cNvSpPr txBox="1">
            <a:spLocks noChangeArrowheads="1"/>
          </p:cNvSpPr>
          <p:nvPr/>
        </p:nvSpPr>
        <p:spPr bwMode="auto">
          <a:xfrm>
            <a:off x="4419600" y="3455086"/>
            <a:ext cx="41389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e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3312" name="Text Box 16"/>
          <p:cNvSpPr txBox="1">
            <a:spLocks noChangeArrowheads="1"/>
          </p:cNvSpPr>
          <p:nvPr/>
        </p:nvSpPr>
        <p:spPr bwMode="auto">
          <a:xfrm>
            <a:off x="4806950" y="3457575"/>
            <a:ext cx="5143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w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3313" name="Text Box 17"/>
          <p:cNvSpPr txBox="1">
            <a:spLocks noChangeArrowheads="1"/>
          </p:cNvSpPr>
          <p:nvPr/>
        </p:nvSpPr>
        <p:spPr bwMode="auto">
          <a:xfrm>
            <a:off x="1828801" y="3439211"/>
            <a:ext cx="50231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T: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3317" name="Rectangle 21"/>
          <p:cNvSpPr>
            <a:spLocks noChangeArrowheads="1"/>
          </p:cNvSpPr>
          <p:nvPr/>
        </p:nvSpPr>
        <p:spPr bwMode="auto">
          <a:xfrm>
            <a:off x="2476500" y="4464050"/>
            <a:ext cx="1371600" cy="6858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83321" name="Line 25"/>
          <p:cNvSpPr>
            <a:spLocks noChangeShapeType="1"/>
          </p:cNvSpPr>
          <p:nvPr/>
        </p:nvSpPr>
        <p:spPr bwMode="auto">
          <a:xfrm>
            <a:off x="2933700" y="4464050"/>
            <a:ext cx="0" cy="68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83322" name="Line 26"/>
          <p:cNvSpPr>
            <a:spLocks noChangeShapeType="1"/>
          </p:cNvSpPr>
          <p:nvPr/>
        </p:nvSpPr>
        <p:spPr bwMode="auto">
          <a:xfrm>
            <a:off x="3390900" y="4464050"/>
            <a:ext cx="0" cy="68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83326" name="Text Box 30"/>
          <p:cNvSpPr txBox="1">
            <a:spLocks noChangeArrowheads="1"/>
          </p:cNvSpPr>
          <p:nvPr/>
        </p:nvSpPr>
        <p:spPr bwMode="auto">
          <a:xfrm>
            <a:off x="2559050" y="4461561"/>
            <a:ext cx="34496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r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3327" name="Text Box 31"/>
          <p:cNvSpPr txBox="1">
            <a:spLocks noChangeArrowheads="1"/>
          </p:cNvSpPr>
          <p:nvPr/>
        </p:nvSpPr>
        <p:spPr bwMode="auto">
          <a:xfrm>
            <a:off x="2984500" y="4461561"/>
            <a:ext cx="41389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e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3328" name="Text Box 32"/>
          <p:cNvSpPr txBox="1">
            <a:spLocks noChangeArrowheads="1"/>
          </p:cNvSpPr>
          <p:nvPr/>
        </p:nvSpPr>
        <p:spPr bwMode="auto">
          <a:xfrm>
            <a:off x="3371850" y="4464050"/>
            <a:ext cx="5143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w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3329" name="Line 33"/>
          <p:cNvSpPr>
            <a:spLocks noChangeShapeType="1"/>
          </p:cNvSpPr>
          <p:nvPr/>
        </p:nvSpPr>
        <p:spPr bwMode="auto">
          <a:xfrm>
            <a:off x="2743200" y="4159250"/>
            <a:ext cx="0" cy="304800"/>
          </a:xfrm>
          <a:prstGeom prst="line">
            <a:avLst/>
          </a:prstGeom>
          <a:noFill/>
          <a:ln w="57150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83331" name="Text Box 35"/>
          <p:cNvSpPr txBox="1">
            <a:spLocks noChangeArrowheads="1"/>
          </p:cNvSpPr>
          <p:nvPr/>
        </p:nvSpPr>
        <p:spPr bwMode="auto">
          <a:xfrm>
            <a:off x="1873250" y="4464050"/>
            <a:ext cx="5651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P: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3332" name="Line 36"/>
          <p:cNvSpPr>
            <a:spLocks noChangeShapeType="1"/>
          </p:cNvSpPr>
          <p:nvPr/>
        </p:nvSpPr>
        <p:spPr bwMode="auto">
          <a:xfrm>
            <a:off x="5484813" y="4386263"/>
            <a:ext cx="989012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83333" name="Group 37"/>
          <p:cNvGrpSpPr>
            <a:grpSpLocks/>
          </p:cNvGrpSpPr>
          <p:nvPr/>
        </p:nvGrpSpPr>
        <p:grpSpPr bwMode="auto">
          <a:xfrm>
            <a:off x="7429500" y="3489325"/>
            <a:ext cx="2743200" cy="685800"/>
            <a:chOff x="3264" y="624"/>
            <a:chExt cx="1728" cy="432"/>
          </a:xfrm>
        </p:grpSpPr>
        <p:sp>
          <p:nvSpPr>
            <p:cNvPr id="183334" name="Rectangle 38"/>
            <p:cNvSpPr>
              <a:spLocks noChangeArrowheads="1"/>
            </p:cNvSpPr>
            <p:nvPr/>
          </p:nvSpPr>
          <p:spPr bwMode="auto">
            <a:xfrm>
              <a:off x="3264" y="624"/>
              <a:ext cx="1728" cy="432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3335" name="Line 39"/>
            <p:cNvSpPr>
              <a:spLocks noChangeShapeType="1"/>
            </p:cNvSpPr>
            <p:nvPr/>
          </p:nvSpPr>
          <p:spPr bwMode="auto">
            <a:xfrm>
              <a:off x="3552" y="624"/>
              <a:ext cx="0" cy="43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3336" name="Line 40"/>
            <p:cNvSpPr>
              <a:spLocks noChangeShapeType="1"/>
            </p:cNvSpPr>
            <p:nvPr/>
          </p:nvSpPr>
          <p:spPr bwMode="auto">
            <a:xfrm>
              <a:off x="3840" y="624"/>
              <a:ext cx="0" cy="43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3337" name="Line 41"/>
            <p:cNvSpPr>
              <a:spLocks noChangeShapeType="1"/>
            </p:cNvSpPr>
            <p:nvPr/>
          </p:nvSpPr>
          <p:spPr bwMode="auto">
            <a:xfrm>
              <a:off x="4128" y="624"/>
              <a:ext cx="0" cy="43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3338" name="Line 42"/>
            <p:cNvSpPr>
              <a:spLocks noChangeShapeType="1"/>
            </p:cNvSpPr>
            <p:nvPr/>
          </p:nvSpPr>
          <p:spPr bwMode="auto">
            <a:xfrm>
              <a:off x="4416" y="624"/>
              <a:ext cx="0" cy="43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3339" name="Line 43"/>
            <p:cNvSpPr>
              <a:spLocks noChangeShapeType="1"/>
            </p:cNvSpPr>
            <p:nvPr/>
          </p:nvSpPr>
          <p:spPr bwMode="auto">
            <a:xfrm>
              <a:off x="4704" y="624"/>
              <a:ext cx="0" cy="43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3340" name="Text Box 44"/>
          <p:cNvSpPr txBox="1">
            <a:spLocks noChangeArrowheads="1"/>
          </p:cNvSpPr>
          <p:nvPr/>
        </p:nvSpPr>
        <p:spPr bwMode="auto">
          <a:xfrm>
            <a:off x="7505700" y="3486836"/>
            <a:ext cx="40588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a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3341" name="Text Box 45"/>
          <p:cNvSpPr txBox="1">
            <a:spLocks noChangeArrowheads="1"/>
          </p:cNvSpPr>
          <p:nvPr/>
        </p:nvSpPr>
        <p:spPr bwMode="auto">
          <a:xfrm>
            <a:off x="7943850" y="3486836"/>
            <a:ext cx="42672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n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3342" name="Text Box 46"/>
          <p:cNvSpPr txBox="1">
            <a:spLocks noChangeArrowheads="1"/>
          </p:cNvSpPr>
          <p:nvPr/>
        </p:nvSpPr>
        <p:spPr bwMode="auto">
          <a:xfrm>
            <a:off x="8394700" y="3486836"/>
            <a:ext cx="42672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d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3343" name="Text Box 47"/>
          <p:cNvSpPr txBox="1">
            <a:spLocks noChangeArrowheads="1"/>
          </p:cNvSpPr>
          <p:nvPr/>
        </p:nvSpPr>
        <p:spPr bwMode="auto">
          <a:xfrm>
            <a:off x="8883650" y="3486836"/>
            <a:ext cx="34496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r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3344" name="Text Box 48"/>
          <p:cNvSpPr txBox="1">
            <a:spLocks noChangeArrowheads="1"/>
          </p:cNvSpPr>
          <p:nvPr/>
        </p:nvSpPr>
        <p:spPr bwMode="auto">
          <a:xfrm>
            <a:off x="9309100" y="3486836"/>
            <a:ext cx="41389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e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3345" name="Text Box 49"/>
          <p:cNvSpPr txBox="1">
            <a:spLocks noChangeArrowheads="1"/>
          </p:cNvSpPr>
          <p:nvPr/>
        </p:nvSpPr>
        <p:spPr bwMode="auto">
          <a:xfrm>
            <a:off x="9696450" y="3489325"/>
            <a:ext cx="5143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w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3346" name="Text Box 50"/>
          <p:cNvSpPr txBox="1">
            <a:spLocks noChangeArrowheads="1"/>
          </p:cNvSpPr>
          <p:nvPr/>
        </p:nvSpPr>
        <p:spPr bwMode="auto">
          <a:xfrm>
            <a:off x="6718301" y="3470961"/>
            <a:ext cx="50231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T: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3347" name="Rectangle 51"/>
          <p:cNvSpPr>
            <a:spLocks noChangeArrowheads="1"/>
          </p:cNvSpPr>
          <p:nvPr/>
        </p:nvSpPr>
        <p:spPr bwMode="auto">
          <a:xfrm>
            <a:off x="7886700" y="4495800"/>
            <a:ext cx="1371600" cy="6858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83348" name="Line 52"/>
          <p:cNvSpPr>
            <a:spLocks noChangeShapeType="1"/>
          </p:cNvSpPr>
          <p:nvPr/>
        </p:nvSpPr>
        <p:spPr bwMode="auto">
          <a:xfrm>
            <a:off x="8343900" y="4495800"/>
            <a:ext cx="0" cy="68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83349" name="Line 53"/>
          <p:cNvSpPr>
            <a:spLocks noChangeShapeType="1"/>
          </p:cNvSpPr>
          <p:nvPr/>
        </p:nvSpPr>
        <p:spPr bwMode="auto">
          <a:xfrm>
            <a:off x="8801100" y="4495800"/>
            <a:ext cx="0" cy="68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83350" name="Text Box 54"/>
          <p:cNvSpPr txBox="1">
            <a:spLocks noChangeArrowheads="1"/>
          </p:cNvSpPr>
          <p:nvPr/>
        </p:nvSpPr>
        <p:spPr bwMode="auto">
          <a:xfrm>
            <a:off x="7969250" y="4493311"/>
            <a:ext cx="34496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r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3351" name="Text Box 55"/>
          <p:cNvSpPr txBox="1">
            <a:spLocks noChangeArrowheads="1"/>
          </p:cNvSpPr>
          <p:nvPr/>
        </p:nvSpPr>
        <p:spPr bwMode="auto">
          <a:xfrm>
            <a:off x="8394700" y="4493311"/>
            <a:ext cx="41389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e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3352" name="Text Box 56"/>
          <p:cNvSpPr txBox="1">
            <a:spLocks noChangeArrowheads="1"/>
          </p:cNvSpPr>
          <p:nvPr/>
        </p:nvSpPr>
        <p:spPr bwMode="auto">
          <a:xfrm>
            <a:off x="8782050" y="4495800"/>
            <a:ext cx="5143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w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3353" name="Line 57"/>
          <p:cNvSpPr>
            <a:spLocks noChangeShapeType="1"/>
          </p:cNvSpPr>
          <p:nvPr/>
        </p:nvSpPr>
        <p:spPr bwMode="auto">
          <a:xfrm>
            <a:off x="8153400" y="4191000"/>
            <a:ext cx="0" cy="304800"/>
          </a:xfrm>
          <a:prstGeom prst="line">
            <a:avLst/>
          </a:prstGeom>
          <a:noFill/>
          <a:ln w="57150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83355" name="Text Box 59"/>
          <p:cNvSpPr txBox="1">
            <a:spLocks noChangeArrowheads="1"/>
          </p:cNvSpPr>
          <p:nvPr/>
        </p:nvSpPr>
        <p:spPr bwMode="auto">
          <a:xfrm>
            <a:off x="7283450" y="4495800"/>
            <a:ext cx="5651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3600"/>
              <a:t>P:</a:t>
            </a:r>
            <a:endParaRPr lang="th-TH" altLang="en-US" sz="2800">
              <a:latin typeface="Tahoma" panose="020B0604030504040204" pitchFamily="34" charset="0"/>
            </a:endParaRPr>
          </a:p>
        </p:txBody>
      </p:sp>
      <p:sp>
        <p:nvSpPr>
          <p:cNvPr id="183380" name="Line 84"/>
          <p:cNvSpPr>
            <a:spLocks noChangeShapeType="1"/>
          </p:cNvSpPr>
          <p:nvPr/>
        </p:nvSpPr>
        <p:spPr bwMode="auto">
          <a:xfrm>
            <a:off x="5540376" y="6096000"/>
            <a:ext cx="9890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83381" name="Text Box 85"/>
          <p:cNvSpPr txBox="1">
            <a:spLocks noChangeArrowheads="1"/>
          </p:cNvSpPr>
          <p:nvPr/>
        </p:nvSpPr>
        <p:spPr bwMode="auto">
          <a:xfrm>
            <a:off x="6813551" y="5911384"/>
            <a:ext cx="880369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2800"/>
              <a:t>. . . .</a:t>
            </a:r>
          </a:p>
        </p:txBody>
      </p:sp>
      <p:sp>
        <p:nvSpPr>
          <p:cNvPr id="183382" name="Text Box 86"/>
          <p:cNvSpPr txBox="1">
            <a:spLocks noChangeArrowheads="1"/>
          </p:cNvSpPr>
          <p:nvPr/>
        </p:nvSpPr>
        <p:spPr bwMode="auto">
          <a:xfrm>
            <a:off x="4071938" y="5606534"/>
            <a:ext cx="345370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/>
              <a:t>P moves 1 char at a time through T</a:t>
            </a:r>
          </a:p>
        </p:txBody>
      </p:sp>
    </p:spTree>
    <p:extLst>
      <p:ext uri="{BB962C8B-B14F-4D97-AF65-F5344CB8AC3E}">
        <p14:creationId xmlns:p14="http://schemas.microsoft.com/office/powerpoint/2010/main" val="702588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Rectangle 2050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th-TH" altLang="en-US"/>
              <a:t>Brute Force in Java</a:t>
            </a:r>
          </a:p>
        </p:txBody>
      </p:sp>
      <p:sp>
        <p:nvSpPr>
          <p:cNvPr id="184323" name="Rectangle 2051"/>
          <p:cNvSpPr>
            <a:spLocks noGrp="1" noChangeArrowheads="1"/>
          </p:cNvSpPr>
          <p:nvPr>
            <p:ph type="body" idx="1"/>
          </p:nvPr>
        </p:nvSpPr>
        <p:spPr>
          <a:xfrm>
            <a:off x="1828800" y="1752600"/>
            <a:ext cx="8839200" cy="4114800"/>
          </a:xfrm>
        </p:spPr>
        <p:txBody>
          <a:bodyPr>
            <a:normAutofit lnSpcReduction="10000"/>
          </a:bodyPr>
          <a:lstStyle/>
          <a:p>
            <a:pPr>
              <a:buFont typeface="Monotype Sorts" pitchFamily="2" charset="2"/>
              <a:buNone/>
            </a:pPr>
            <a: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  <a:t>	public static int </a:t>
            </a:r>
            <a:r>
              <a:rPr lang="th-TH" alt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rdia New" pitchFamily="34" charset="-34"/>
              </a:rPr>
              <a:t>brute</a:t>
            </a:r>
            <a: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  <a:t>(String text,String pattern) </a:t>
            </a:r>
            <a:b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  <a:t>{ int n = text.length();    </a:t>
            </a:r>
            <a:r>
              <a:rPr lang="th-TH" altLang="en-US" sz="2000" b="1" dirty="0">
                <a:latin typeface="Courier New" panose="02070309020205020404" pitchFamily="49" charset="0"/>
                <a:cs typeface="Cordia New" pitchFamily="34" charset="-34"/>
              </a:rPr>
              <a:t>// n is length of text</a:t>
            </a:r>
            <a: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  <a:t/>
            </a:r>
            <a:b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  <a:t>  int m = pattern.length(); </a:t>
            </a:r>
            <a:r>
              <a:rPr lang="th-TH" altLang="en-US" sz="2000" b="1" dirty="0">
                <a:latin typeface="Courier New" panose="02070309020205020404" pitchFamily="49" charset="0"/>
                <a:cs typeface="Cordia New" pitchFamily="34" charset="-34"/>
              </a:rPr>
              <a:t>// m is length of pattern</a:t>
            </a:r>
            <a: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  <a:t/>
            </a:r>
            <a:b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  <a:t>  int j;</a:t>
            </a:r>
            <a:b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  <a:t>  for(int i=0; i &lt;= (n-m); i++) {</a:t>
            </a:r>
            <a:b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  <a:t>    j = 0;</a:t>
            </a:r>
            <a:b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  <a:t>    while ((j &lt; m) &amp;&amp; </a:t>
            </a:r>
            <a:b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  <a:t>          (text.charAt(i+j) == pattern.charAt(j)) )</a:t>
            </a:r>
            <a:b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  <a:t>      j++;</a:t>
            </a:r>
            <a:b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  <a:t>    if (j == m)</a:t>
            </a:r>
            <a:b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  <a:t>      return i;   // match at i</a:t>
            </a:r>
            <a:b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  <a:t>  }</a:t>
            </a:r>
            <a:b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  <a:t>  return -1;   // no match</a:t>
            </a:r>
            <a:b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  <a:t>} // end of brute()</a:t>
            </a:r>
            <a:br>
              <a:rPr lang="th-TH" altLang="en-US" sz="2000" dirty="0">
                <a:latin typeface="Courier New" panose="02070309020205020404" pitchFamily="49" charset="0"/>
                <a:cs typeface="Cordia New" pitchFamily="34" charset="-34"/>
              </a:rPr>
            </a:br>
            <a:endParaRPr lang="th-TH" altLang="en-US" sz="2000" dirty="0">
              <a:latin typeface="Courier New" panose="02070309020205020404" pitchFamily="49" charset="0"/>
              <a:cs typeface="Cordia New" pitchFamily="34" charset="-34"/>
            </a:endParaRPr>
          </a:p>
        </p:txBody>
      </p:sp>
      <p:sp>
        <p:nvSpPr>
          <p:cNvPr id="184324" name="Text Box 2052"/>
          <p:cNvSpPr txBox="1">
            <a:spLocks noChangeArrowheads="1"/>
          </p:cNvSpPr>
          <p:nvPr/>
        </p:nvSpPr>
        <p:spPr bwMode="auto">
          <a:xfrm>
            <a:off x="7467601" y="377023"/>
            <a:ext cx="3128613" cy="954107"/>
          </a:xfrm>
          <a:prstGeom prst="rect">
            <a:avLst/>
          </a:prstGeom>
          <a:solidFill>
            <a:schemeClr val="folHlink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pPr algn="l"/>
            <a:r>
              <a:rPr lang="th-TH" altLang="en-US" sz="2800"/>
              <a:t>Return index where </a:t>
            </a:r>
          </a:p>
          <a:p>
            <a:pPr algn="l"/>
            <a:r>
              <a:rPr lang="th-TH" altLang="en-US" sz="2800"/>
              <a:t>pattern starts, or -1</a:t>
            </a:r>
          </a:p>
        </p:txBody>
      </p:sp>
    </p:spTree>
    <p:extLst>
      <p:ext uri="{BB962C8B-B14F-4D97-AF65-F5344CB8AC3E}">
        <p14:creationId xmlns:p14="http://schemas.microsoft.com/office/powerpoint/2010/main" val="9263703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th-TH" altLang="en-US"/>
              <a:t>Usage</a:t>
            </a:r>
          </a:p>
        </p:txBody>
      </p:sp>
      <p:sp>
        <p:nvSpPr>
          <p:cNvPr id="1853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057400" y="1600200"/>
            <a:ext cx="8077200" cy="4114800"/>
          </a:xfrm>
        </p:spPr>
        <p:txBody>
          <a:bodyPr>
            <a:normAutofit lnSpcReduction="10000"/>
          </a:bodyPr>
          <a:lstStyle/>
          <a:p>
            <a:pPr>
              <a:buFont typeface="Monotype Sorts" pitchFamily="2" charset="2"/>
              <a:buNone/>
            </a:pPr>
            <a: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  <a:t>	public static void main(String args[])</a:t>
            </a:r>
            <a:b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  <a:t>{ if (args.length != 2) {</a:t>
            </a:r>
            <a:b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  <a:t>    System.out.println("Usage: java BruteSearch </a:t>
            </a:r>
            <a:b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  <a:t>                              &lt;text&gt; &lt;pattern&gt;");</a:t>
            </a:r>
            <a:b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  <a:t>    System.exit(0);</a:t>
            </a:r>
            <a:b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  <a:t>  }</a:t>
            </a:r>
            <a:b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  <a:t>  System.out.println("Text: " + args[0]);</a:t>
            </a:r>
            <a:b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  <a:t>  System.out.println("Pattern: " + args[1]);</a:t>
            </a:r>
            <a:b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  <a:t/>
            </a:r>
            <a:b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  <a:t>  int posn = </a:t>
            </a:r>
            <a:r>
              <a:rPr lang="th-TH" altLang="en-US" sz="2000" b="1">
                <a:solidFill>
                  <a:schemeClr val="tx2"/>
                </a:solidFill>
                <a:latin typeface="Courier New" panose="02070309020205020404" pitchFamily="49" charset="0"/>
                <a:cs typeface="Cordia New" pitchFamily="34" charset="-34"/>
              </a:rPr>
              <a:t>brute</a:t>
            </a:r>
            <a: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  <a:t>(args[0], args[1]);</a:t>
            </a:r>
            <a:b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  <a:t>  if (posn == -1)</a:t>
            </a:r>
            <a:b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  <a:t>    System.out.println("Pattern not found");</a:t>
            </a:r>
            <a:b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  <a:t>  else </a:t>
            </a:r>
            <a:b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  <a:t>    System.out.println("Pattern starts at posn " </a:t>
            </a:r>
            <a:b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  <a:t>						+ posn);</a:t>
            </a:r>
            <a:b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</a:br>
            <a:r>
              <a:rPr lang="th-TH" altLang="en-US" sz="2000">
                <a:latin typeface="Courier New" panose="02070309020205020404" pitchFamily="49" charset="0"/>
                <a:cs typeface="Cordia New" pitchFamily="34" charset="-34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726495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th-TH" altLang="en-US"/>
              <a:t>Analysis</a:t>
            </a:r>
          </a:p>
        </p:txBody>
      </p:sp>
      <p:sp>
        <p:nvSpPr>
          <p:cNvPr id="1863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362200" y="1981200"/>
            <a:ext cx="7467600" cy="4114800"/>
          </a:xfrm>
        </p:spPr>
        <p:txBody>
          <a:bodyPr/>
          <a:lstStyle/>
          <a:p>
            <a:r>
              <a:rPr lang="th-TH" altLang="en-US"/>
              <a:t>Brute force pattern matching runs in time O(mn) in the worst case.</a:t>
            </a:r>
          </a:p>
          <a:p>
            <a:endParaRPr lang="th-TH" altLang="en-US"/>
          </a:p>
          <a:p>
            <a:r>
              <a:rPr lang="th-TH" altLang="en-US"/>
              <a:t>But most searches of ordinary text take </a:t>
            </a:r>
            <a:br>
              <a:rPr lang="th-TH" altLang="en-US"/>
            </a:br>
            <a:r>
              <a:rPr lang="th-TH" altLang="en-US"/>
              <a:t>O(m+n), which is very quick.  </a:t>
            </a:r>
          </a:p>
        </p:txBody>
      </p:sp>
      <p:sp>
        <p:nvSpPr>
          <p:cNvPr id="186372" name="Text Box 4"/>
          <p:cNvSpPr txBox="1">
            <a:spLocks noChangeArrowheads="1"/>
          </p:cNvSpPr>
          <p:nvPr/>
        </p:nvSpPr>
        <p:spPr bwMode="auto">
          <a:xfrm>
            <a:off x="9026526" y="6354733"/>
            <a:ext cx="1212383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2000" i="1">
                <a:solidFill>
                  <a:schemeClr val="tx2"/>
                </a:solidFill>
              </a:rPr>
              <a:t>continued</a:t>
            </a:r>
            <a:endParaRPr lang="th-TH" altLang="en-US" sz="2800"/>
          </a:p>
        </p:txBody>
      </p:sp>
    </p:spTree>
    <p:extLst>
      <p:ext uri="{BB962C8B-B14F-4D97-AF65-F5344CB8AC3E}">
        <p14:creationId xmlns:p14="http://schemas.microsoft.com/office/powerpoint/2010/main" val="3224743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altLang="en-US" dirty="0"/>
              <a:t>The brute force algorithm is fast when the alphabet of the text is large </a:t>
            </a:r>
          </a:p>
          <a:p>
            <a:pPr lvl="1"/>
            <a:r>
              <a:rPr lang="th-TH" altLang="en-US" dirty="0"/>
              <a:t>e.g.  A..Z, a..z, 1..9, etc.</a:t>
            </a:r>
          </a:p>
          <a:p>
            <a:pPr lvl="1"/>
            <a:endParaRPr lang="th-TH" altLang="en-US" dirty="0"/>
          </a:p>
          <a:p>
            <a:r>
              <a:rPr lang="th-TH" altLang="en-US" dirty="0"/>
              <a:t>It is slower when the alphabet is small</a:t>
            </a:r>
          </a:p>
          <a:p>
            <a:pPr lvl="1"/>
            <a:r>
              <a:rPr lang="th-TH" altLang="en-US" dirty="0"/>
              <a:t>e.g. 0, 1 (as in binary files, image files, etc.)</a:t>
            </a:r>
          </a:p>
        </p:txBody>
      </p:sp>
      <p:sp>
        <p:nvSpPr>
          <p:cNvPr id="187396" name="Text Box 4"/>
          <p:cNvSpPr txBox="1">
            <a:spLocks noChangeArrowheads="1"/>
          </p:cNvSpPr>
          <p:nvPr/>
        </p:nvSpPr>
        <p:spPr bwMode="auto">
          <a:xfrm>
            <a:off x="9026526" y="6354733"/>
            <a:ext cx="1212383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th-TH" altLang="en-US" sz="2000" i="1">
                <a:solidFill>
                  <a:schemeClr val="tx2"/>
                </a:solidFill>
              </a:rPr>
              <a:t>continued</a:t>
            </a:r>
            <a:endParaRPr lang="th-TH" altLang="en-US" sz="2800"/>
          </a:p>
        </p:txBody>
      </p:sp>
    </p:spTree>
    <p:extLst>
      <p:ext uri="{BB962C8B-B14F-4D97-AF65-F5344CB8AC3E}">
        <p14:creationId xmlns:p14="http://schemas.microsoft.com/office/powerpoint/2010/main" val="29129529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altLang="en-US" dirty="0"/>
              <a:t>Example of a worst case:</a:t>
            </a:r>
          </a:p>
          <a:p>
            <a:pPr lvl="1"/>
            <a:r>
              <a:rPr lang="th-TH" altLang="en-US" dirty="0"/>
              <a:t>T: "aaaaaaaaaaaaaaaaaaaaaaaaaah"</a:t>
            </a:r>
          </a:p>
          <a:p>
            <a:pPr lvl="1"/>
            <a:r>
              <a:rPr lang="th-TH" altLang="en-US" dirty="0"/>
              <a:t>P: "aaah"</a:t>
            </a:r>
            <a:br>
              <a:rPr lang="th-TH" altLang="en-US" dirty="0"/>
            </a:br>
            <a:endParaRPr lang="th-TH" altLang="en-US" dirty="0"/>
          </a:p>
          <a:p>
            <a:r>
              <a:rPr lang="th-TH" altLang="en-US" dirty="0"/>
              <a:t>Example of a more average case:</a:t>
            </a:r>
          </a:p>
          <a:p>
            <a:pPr lvl="1"/>
            <a:r>
              <a:rPr lang="th-TH" altLang="en-US" dirty="0"/>
              <a:t>T: "a string searching example is standard"</a:t>
            </a:r>
          </a:p>
          <a:p>
            <a:pPr lvl="1"/>
            <a:r>
              <a:rPr lang="th-TH" altLang="en-US" dirty="0"/>
              <a:t>P: "store"</a:t>
            </a:r>
          </a:p>
        </p:txBody>
      </p:sp>
    </p:spTree>
    <p:extLst>
      <p:ext uri="{BB962C8B-B14F-4D97-AF65-F5344CB8AC3E}">
        <p14:creationId xmlns:p14="http://schemas.microsoft.com/office/powerpoint/2010/main" val="40362410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Pattern Matching Algorithms</a:t>
            </a:r>
            <a:endParaRPr lang="en-NZ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825752" y="1527048"/>
            <a:ext cx="8485090" cy="447372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400" dirty="0" smtClean="0"/>
              <a:t>If you want to search a piece of text for a target substring instead of a pattern, there are faster approaches.</a:t>
            </a:r>
          </a:p>
          <a:p>
            <a:pPr lvl="1">
              <a:spcBef>
                <a:spcPts val="0"/>
              </a:spcBef>
            </a:pPr>
            <a:endParaRPr lang="en-US" sz="200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600" dirty="0"/>
              <a:t>Brute-force Approach</a:t>
            </a:r>
          </a:p>
          <a:p>
            <a:pPr lvl="1">
              <a:spcBef>
                <a:spcPts val="0"/>
              </a:spcBef>
            </a:pPr>
            <a:r>
              <a:rPr lang="en-US" dirty="0" smtClean="0"/>
              <a:t>The most obvious strategy is to loop over all the characters in the text and see if the target is at each position. </a:t>
            </a:r>
          </a:p>
          <a:p>
            <a:pPr lvl="1">
              <a:spcBef>
                <a:spcPts val="0"/>
              </a:spcBef>
            </a:pPr>
            <a:r>
              <a:rPr lang="en-US" dirty="0" smtClean="0"/>
              <a:t>The pseudo-code in next slide shows this brute-force approach:</a:t>
            </a:r>
          </a:p>
          <a:p>
            <a:pPr lvl="1">
              <a:spcBef>
                <a:spcPts val="0"/>
              </a:spcBef>
            </a:pPr>
            <a:r>
              <a:rPr lang="en-US" dirty="0"/>
              <a:t>In this algorithm, variable i loops over the length of the text. </a:t>
            </a:r>
          </a:p>
          <a:p>
            <a:pPr lvl="1">
              <a:spcBef>
                <a:spcPts val="0"/>
              </a:spcBef>
            </a:pPr>
            <a:r>
              <a:rPr lang="en-US" dirty="0"/>
              <a:t>For each value of i, the variable j loops over the length of the target. </a:t>
            </a:r>
          </a:p>
          <a:p>
            <a:pPr lvl="1">
              <a:spcBef>
                <a:spcPts val="0"/>
              </a:spcBef>
            </a:pPr>
            <a:r>
              <a:rPr lang="en-US" dirty="0"/>
              <a:t>If the text has length N and the target has length M, the total run time is O(N × M). </a:t>
            </a:r>
          </a:p>
          <a:p>
            <a:pPr lvl="1">
              <a:spcBef>
                <a:spcPts val="0"/>
              </a:spcBef>
            </a:pPr>
            <a:r>
              <a:rPr lang="en-US" dirty="0"/>
              <a:t>This is simpler than using an NFA, but it’s still not very efficient.</a:t>
            </a:r>
          </a:p>
          <a:p>
            <a:pPr lvl="1">
              <a:spcBef>
                <a:spcPts val="0"/>
              </a:spcBef>
            </a:pPr>
            <a:endParaRPr lang="en-US" sz="20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B1FF6-39B9-40F5-8B67-33C6354A3D4F}" type="slidenum">
              <a:rPr kumimoji="0" lang="en-US" smtClean="0"/>
              <a:pPr/>
              <a:t>13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7122149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CSC401: Analysis of Algorithms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en-US"/>
              <a:t>9-</a:t>
            </a:r>
            <a:fld id="{C72975B2-D878-4D0D-A776-29FF76B8A315}" type="slidenum">
              <a:rPr lang="en-US" altLang="en-US"/>
              <a:pPr/>
              <a:t>14</a:t>
            </a:fld>
            <a:endParaRPr lang="en-US" altLang="en-US"/>
          </a:p>
        </p:txBody>
      </p:sp>
      <p:sp>
        <p:nvSpPr>
          <p:cNvPr id="390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158750"/>
            <a:ext cx="8229600" cy="679450"/>
          </a:xfrm>
        </p:spPr>
        <p:txBody>
          <a:bodyPr/>
          <a:lstStyle/>
          <a:p>
            <a:r>
              <a:rPr lang="en-US" altLang="en-US" sz="4000"/>
              <a:t>Boyer-Moore Heuristics</a:t>
            </a:r>
          </a:p>
        </p:txBody>
      </p:sp>
      <p:sp>
        <p:nvSpPr>
          <p:cNvPr id="390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28800" y="762000"/>
            <a:ext cx="8534400" cy="3429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chemeClr val="folHlink"/>
                </a:solidFill>
              </a14:hiddenFill>
            </a:ext>
          </a:extLst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400"/>
              <a:t>The Boyer-Moore’s pattern matching algorithm is based on two heuristics</a:t>
            </a:r>
          </a:p>
          <a:p>
            <a:pPr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en-US" sz="2400">
                <a:solidFill>
                  <a:schemeClr val="tx2"/>
                </a:solidFill>
              </a:rPr>
              <a:t>	Looking-glass heuristic:</a:t>
            </a:r>
            <a:r>
              <a:rPr lang="en-US" altLang="en-US" sz="2400"/>
              <a:t> Compare </a:t>
            </a:r>
            <a:r>
              <a:rPr lang="en-US" altLang="en-US" sz="2400" b="1" i="1">
                <a:latin typeface="Times New Roman" panose="02020603050405020304" pitchFamily="18" charset="0"/>
              </a:rPr>
              <a:t>P</a:t>
            </a:r>
            <a:r>
              <a:rPr lang="en-US" altLang="en-US" sz="2400"/>
              <a:t> with a subsequence of </a:t>
            </a:r>
            <a:r>
              <a:rPr lang="en-US" altLang="en-US" sz="2400" b="1" i="1">
                <a:latin typeface="Times New Roman" panose="02020603050405020304" pitchFamily="18" charset="0"/>
              </a:rPr>
              <a:t>T</a:t>
            </a:r>
            <a:r>
              <a:rPr lang="en-US" altLang="en-US" sz="2400"/>
              <a:t> moving backwards</a:t>
            </a:r>
          </a:p>
          <a:p>
            <a:pPr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en-US" sz="2400">
                <a:solidFill>
                  <a:schemeClr val="tx2"/>
                </a:solidFill>
              </a:rPr>
              <a:t>	Character-jump heuristic:</a:t>
            </a:r>
            <a:r>
              <a:rPr lang="en-US" altLang="en-US" sz="2400"/>
              <a:t> When a mismatch occurs at </a:t>
            </a:r>
            <a:r>
              <a:rPr lang="en-US" altLang="en-US" sz="2400" b="1" i="1">
                <a:latin typeface="Times New Roman" panose="02020603050405020304" pitchFamily="18" charset="0"/>
              </a:rPr>
              <a:t>T</a:t>
            </a:r>
            <a:r>
              <a:rPr lang="en-US" altLang="en-US" sz="2400">
                <a:latin typeface="Times New Roman" panose="02020603050405020304" pitchFamily="18" charset="0"/>
              </a:rPr>
              <a:t>[</a:t>
            </a:r>
            <a:r>
              <a:rPr lang="en-US" altLang="en-US" sz="2400" b="1" i="1">
                <a:latin typeface="Times New Roman" panose="02020603050405020304" pitchFamily="18" charset="0"/>
              </a:rPr>
              <a:t>i</a:t>
            </a:r>
            <a:r>
              <a:rPr lang="en-US" altLang="en-US" sz="2400">
                <a:latin typeface="Times New Roman" panose="02020603050405020304" pitchFamily="18" charset="0"/>
              </a:rPr>
              <a:t>] </a:t>
            </a:r>
            <a:r>
              <a:rPr lang="en-US" altLang="en-US" sz="2400">
                <a:latin typeface="Symbol" panose="05050102010706020507" pitchFamily="18" charset="2"/>
              </a:rPr>
              <a:t>=</a:t>
            </a:r>
            <a:r>
              <a:rPr lang="en-US" altLang="en-US" sz="2400" b="1" i="1">
                <a:latin typeface="Times New Roman" panose="02020603050405020304" pitchFamily="18" charset="0"/>
              </a:rPr>
              <a:t> c</a:t>
            </a:r>
            <a:r>
              <a:rPr lang="en-US" altLang="en-US" sz="2400"/>
              <a:t> </a:t>
            </a:r>
            <a:endParaRPr lang="en-US" altLang="en-US" sz="2400" b="1" i="1">
              <a:latin typeface="Times New Roman" panose="02020603050405020304" pitchFamily="18" charset="0"/>
            </a:endParaRPr>
          </a:p>
          <a:p>
            <a:pPr lvl="1">
              <a:lnSpc>
                <a:spcPct val="90000"/>
              </a:lnSpc>
            </a:pPr>
            <a:r>
              <a:rPr lang="en-US" altLang="en-US" sz="2000"/>
              <a:t>If </a:t>
            </a:r>
            <a:r>
              <a:rPr lang="en-US" altLang="en-US" sz="2000" b="1" i="1">
                <a:latin typeface="Times New Roman" panose="02020603050405020304" pitchFamily="18" charset="0"/>
              </a:rPr>
              <a:t>P </a:t>
            </a:r>
            <a:r>
              <a:rPr lang="en-US" altLang="en-US" sz="2000"/>
              <a:t>contains </a:t>
            </a:r>
            <a:r>
              <a:rPr lang="en-US" altLang="en-US" sz="2000" b="1" i="1">
                <a:latin typeface="Times New Roman" panose="02020603050405020304" pitchFamily="18" charset="0"/>
              </a:rPr>
              <a:t>c</a:t>
            </a:r>
            <a:r>
              <a:rPr lang="en-US" altLang="en-US" sz="2000"/>
              <a:t>, shift </a:t>
            </a:r>
            <a:r>
              <a:rPr lang="en-US" altLang="en-US" sz="2000" b="1" i="1">
                <a:latin typeface="Times New Roman" panose="02020603050405020304" pitchFamily="18" charset="0"/>
              </a:rPr>
              <a:t>P</a:t>
            </a:r>
            <a:r>
              <a:rPr lang="en-US" altLang="en-US" sz="2000"/>
              <a:t> to align the last occurrence of </a:t>
            </a:r>
            <a:r>
              <a:rPr lang="en-US" altLang="en-US" sz="2000" b="1" i="1">
                <a:latin typeface="Times New Roman" panose="02020603050405020304" pitchFamily="18" charset="0"/>
              </a:rPr>
              <a:t>c </a:t>
            </a:r>
            <a:r>
              <a:rPr lang="en-US" altLang="en-US" sz="2000"/>
              <a:t>in </a:t>
            </a:r>
            <a:r>
              <a:rPr lang="en-US" altLang="en-US" sz="2000" b="1" i="1">
                <a:latin typeface="Times New Roman" panose="02020603050405020304" pitchFamily="18" charset="0"/>
              </a:rPr>
              <a:t>P </a:t>
            </a:r>
            <a:r>
              <a:rPr lang="en-US" altLang="en-US" sz="2000"/>
              <a:t>with </a:t>
            </a:r>
            <a:r>
              <a:rPr lang="en-US" altLang="en-US" sz="2000" b="1" i="1">
                <a:latin typeface="Times New Roman" panose="02020603050405020304" pitchFamily="18" charset="0"/>
              </a:rPr>
              <a:t>T</a:t>
            </a:r>
            <a:r>
              <a:rPr lang="en-US" altLang="en-US" sz="2000">
                <a:latin typeface="Times New Roman" panose="02020603050405020304" pitchFamily="18" charset="0"/>
              </a:rPr>
              <a:t>[</a:t>
            </a:r>
            <a:r>
              <a:rPr lang="en-US" altLang="en-US" sz="2000" b="1" i="1">
                <a:latin typeface="Times New Roman" panose="02020603050405020304" pitchFamily="18" charset="0"/>
              </a:rPr>
              <a:t>i</a:t>
            </a:r>
            <a:r>
              <a:rPr lang="en-US" altLang="en-US" sz="2000">
                <a:latin typeface="Times New Roman" panose="02020603050405020304" pitchFamily="18" charset="0"/>
              </a:rPr>
              <a:t>] </a:t>
            </a:r>
            <a:endParaRPr lang="en-US" altLang="en-US" sz="2000" b="1" i="1">
              <a:latin typeface="Times New Roman" panose="02020603050405020304" pitchFamily="18" charset="0"/>
            </a:endParaRPr>
          </a:p>
          <a:p>
            <a:pPr lvl="1">
              <a:lnSpc>
                <a:spcPct val="90000"/>
              </a:lnSpc>
            </a:pPr>
            <a:r>
              <a:rPr lang="en-US" altLang="en-US" sz="2000"/>
              <a:t>Else, shift </a:t>
            </a:r>
            <a:r>
              <a:rPr lang="en-US" altLang="en-US" sz="2000" b="1" i="1">
                <a:latin typeface="Times New Roman" panose="02020603050405020304" pitchFamily="18" charset="0"/>
              </a:rPr>
              <a:t>P</a:t>
            </a:r>
            <a:r>
              <a:rPr lang="en-US" altLang="en-US" sz="2000"/>
              <a:t> to align </a:t>
            </a:r>
            <a:r>
              <a:rPr lang="en-US" altLang="en-US" sz="2000" b="1" i="1">
                <a:latin typeface="Times New Roman" panose="02020603050405020304" pitchFamily="18" charset="0"/>
              </a:rPr>
              <a:t>P</a:t>
            </a:r>
            <a:r>
              <a:rPr lang="en-US" altLang="en-US" sz="2000">
                <a:latin typeface="Times New Roman" panose="02020603050405020304" pitchFamily="18" charset="0"/>
              </a:rPr>
              <a:t>[0]</a:t>
            </a:r>
            <a:r>
              <a:rPr lang="en-US" altLang="en-US" sz="2000"/>
              <a:t> with </a:t>
            </a:r>
            <a:r>
              <a:rPr lang="en-US" altLang="en-US" sz="2000" b="1" i="1">
                <a:latin typeface="Times New Roman" panose="02020603050405020304" pitchFamily="18" charset="0"/>
              </a:rPr>
              <a:t>T</a:t>
            </a:r>
            <a:r>
              <a:rPr lang="en-US" altLang="en-US" sz="2000">
                <a:latin typeface="Times New Roman" panose="02020603050405020304" pitchFamily="18" charset="0"/>
              </a:rPr>
              <a:t>[</a:t>
            </a:r>
            <a:r>
              <a:rPr lang="en-US" altLang="en-US" sz="2000" b="1" i="1">
                <a:latin typeface="Times New Roman" panose="02020603050405020304" pitchFamily="18" charset="0"/>
              </a:rPr>
              <a:t>i </a:t>
            </a:r>
            <a:r>
              <a:rPr lang="en-US" altLang="en-US" sz="2000">
                <a:latin typeface="Symbol" panose="05050102010706020507" pitchFamily="18" charset="2"/>
              </a:rPr>
              <a:t>+</a:t>
            </a:r>
            <a:r>
              <a:rPr lang="en-US" altLang="en-US" sz="2000">
                <a:latin typeface="Times New Roman" panose="02020603050405020304" pitchFamily="18" charset="0"/>
              </a:rPr>
              <a:t> 1]</a:t>
            </a:r>
          </a:p>
          <a:p>
            <a:pPr>
              <a:lnSpc>
                <a:spcPct val="90000"/>
              </a:lnSpc>
            </a:pPr>
            <a:r>
              <a:rPr lang="en-US" altLang="en-US" sz="2400"/>
              <a:t>Example </a:t>
            </a:r>
          </a:p>
        </p:txBody>
      </p:sp>
      <p:graphicFrame>
        <p:nvGraphicFramePr>
          <p:cNvPr id="390148" name="Object 4"/>
          <p:cNvGraphicFramePr>
            <a:graphicFrameLocks noChangeAspect="1"/>
          </p:cNvGraphicFramePr>
          <p:nvPr/>
        </p:nvGraphicFramePr>
        <p:xfrm>
          <a:off x="2362201" y="4191000"/>
          <a:ext cx="8029575" cy="2362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3" name="VISIO" r:id="rId3" imgW="6447960" imgH="1835280" progId="Visio.Drawing.6">
                  <p:embed/>
                </p:oleObj>
              </mc:Choice>
              <mc:Fallback>
                <p:oleObj name="VISIO" r:id="rId3" imgW="6447960" imgH="1835280" progId="Visio.Drawing.6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1" y="4191000"/>
                        <a:ext cx="8029575" cy="2362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9050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567234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CSC401: Analysis of Algorithms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en-US"/>
              <a:t>9-</a:t>
            </a:r>
            <a:fld id="{29B50495-D9AF-4C68-A02B-0F2F47C30896}" type="slidenum">
              <a:rPr lang="en-US" altLang="en-US"/>
              <a:pPr/>
              <a:t>15</a:t>
            </a:fld>
            <a:endParaRPr lang="en-US" altLang="en-US"/>
          </a:p>
        </p:txBody>
      </p:sp>
      <p:sp>
        <p:nvSpPr>
          <p:cNvPr id="393218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158750"/>
            <a:ext cx="8229600" cy="831850"/>
          </a:xfrm>
        </p:spPr>
        <p:txBody>
          <a:bodyPr/>
          <a:lstStyle/>
          <a:p>
            <a:r>
              <a:rPr lang="en-US" altLang="en-US"/>
              <a:t>Example</a:t>
            </a:r>
          </a:p>
        </p:txBody>
      </p:sp>
      <p:graphicFrame>
        <p:nvGraphicFramePr>
          <p:cNvPr id="393219" name="Object 3"/>
          <p:cNvGraphicFramePr>
            <a:graphicFrameLocks noChangeAspect="1"/>
          </p:cNvGraphicFramePr>
          <p:nvPr/>
        </p:nvGraphicFramePr>
        <p:xfrm>
          <a:off x="2286000" y="1219200"/>
          <a:ext cx="8153400" cy="449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7" name="VISIO" r:id="rId3" imgW="4800240" imgH="2266560" progId="Visio.Drawing.6">
                  <p:embed/>
                </p:oleObj>
              </mc:Choice>
              <mc:Fallback>
                <p:oleObj name="VISIO" r:id="rId3" imgW="4800240" imgH="2266560" progId="Visio.Drawing.6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86000" y="1219200"/>
                        <a:ext cx="8153400" cy="449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9050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1309619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599" y="566296"/>
            <a:ext cx="7746075" cy="4329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8337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826" y="716447"/>
            <a:ext cx="7949431" cy="3063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673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951" y="729924"/>
            <a:ext cx="7578380" cy="306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5753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231" y="744952"/>
            <a:ext cx="7561082" cy="3969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6740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892" y="674614"/>
            <a:ext cx="7231190" cy="3958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228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892" y="730885"/>
            <a:ext cx="7881395" cy="5347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6451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757" y="725205"/>
            <a:ext cx="7884000" cy="2594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025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685" y="812043"/>
            <a:ext cx="7884000" cy="2621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373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689" y="792333"/>
            <a:ext cx="8461358" cy="279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6480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689" y="808527"/>
            <a:ext cx="8857561" cy="3594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0937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689" y="783174"/>
            <a:ext cx="8924779" cy="4132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0236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200" y="731154"/>
            <a:ext cx="9687600" cy="5345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9467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622" y="721628"/>
            <a:ext cx="9687538" cy="5341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0998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015" y="540654"/>
            <a:ext cx="9733969" cy="6183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8980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Pattern Matching Algorithms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B1FF6-39B9-40F5-8B67-33C6354A3D4F}" type="slidenum">
              <a:rPr kumimoji="0" lang="en-US" smtClean="0"/>
              <a:pPr/>
              <a:t>30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1825752" y="1527048"/>
            <a:ext cx="8485090" cy="440228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600" dirty="0"/>
              <a:t>Boyer-Moore Algorithm (contd.)</a:t>
            </a:r>
          </a:p>
          <a:p>
            <a:pPr lvl="1">
              <a:spcBef>
                <a:spcPts val="0"/>
              </a:spcBef>
            </a:pPr>
            <a:r>
              <a:rPr lang="en-US" dirty="0" smtClean="0"/>
              <a:t>The following steps describe the basic Boyer-Moore algorithm at a high level:</a:t>
            </a:r>
          </a:p>
          <a:p>
            <a:pPr lvl="2" indent="-274320">
              <a:spcBef>
                <a:spcPts val="0"/>
              </a:spcBef>
              <a:buFont typeface="+mj-lt"/>
              <a:buAutoNum type="arabicPeriod"/>
            </a:pPr>
            <a:endParaRPr lang="en-US" dirty="0" smtClean="0"/>
          </a:p>
          <a:p>
            <a:pPr lvl="2" indent="-274320">
              <a:spcBef>
                <a:spcPts val="0"/>
              </a:spcBef>
              <a:buFont typeface="+mj-lt"/>
              <a:buAutoNum type="arabicPeriod"/>
            </a:pPr>
            <a:r>
              <a:rPr lang="en-US" dirty="0" smtClean="0"/>
              <a:t>Align the target and text on the left.</a:t>
            </a:r>
          </a:p>
          <a:p>
            <a:pPr lvl="2" indent="-274320">
              <a:spcBef>
                <a:spcPts val="0"/>
              </a:spcBef>
              <a:buFont typeface="+mj-lt"/>
              <a:buAutoNum type="arabicPeriod"/>
            </a:pPr>
            <a:endParaRPr lang="en-US" dirty="0" smtClean="0"/>
          </a:p>
          <a:p>
            <a:pPr lvl="2" indent="-274320">
              <a:spcBef>
                <a:spcPts val="0"/>
              </a:spcBef>
              <a:buFont typeface="+mj-lt"/>
              <a:buAutoNum type="arabicPeriod"/>
            </a:pPr>
            <a:r>
              <a:rPr lang="en-US" dirty="0" smtClean="0"/>
              <a:t>Repeat until the target’s last character is aligned beyond the end of the text:</a:t>
            </a:r>
          </a:p>
          <a:p>
            <a:pPr marL="1165860" lvl="3" indent="-342900">
              <a:spcBef>
                <a:spcPts val="0"/>
              </a:spcBef>
              <a:buFont typeface="+mj-lt"/>
              <a:buAutoNum type="alphaLcParenR"/>
            </a:pPr>
            <a:r>
              <a:rPr lang="en-US" sz="1600" dirty="0"/>
              <a:t>Compare the characters in the target with the corresponding characters in the text, starting from the end of the target and moving backwards toward the beginning.</a:t>
            </a:r>
          </a:p>
          <a:p>
            <a:pPr marL="1165860" lvl="3" indent="-342900">
              <a:spcBef>
                <a:spcPts val="0"/>
              </a:spcBef>
              <a:buFont typeface="+mj-lt"/>
              <a:buAutoNum type="alphaLcParenR"/>
            </a:pPr>
            <a:r>
              <a:rPr lang="en-US" sz="1600" dirty="0"/>
              <a:t>If all the characters match, you’ve found a match.</a:t>
            </a:r>
          </a:p>
          <a:p>
            <a:pPr marL="1165860" lvl="3" indent="-342900">
              <a:spcBef>
                <a:spcPts val="0"/>
              </a:spcBef>
              <a:buFont typeface="+mj-lt"/>
              <a:buAutoNum type="alphaLcParenR"/>
            </a:pPr>
            <a:r>
              <a:rPr lang="en-US" sz="1600" dirty="0"/>
              <a:t>Suppose character X in the text doesn’t match the corresponding character in the target. Slide the target to the right until the X aligns with the next character with the same value X in the target to the left of the current position. If no such character X exists to the left of the position in the target, slide the target to the right by its full length.</a:t>
            </a:r>
          </a:p>
        </p:txBody>
      </p:sp>
    </p:spTree>
    <p:extLst>
      <p:ext uri="{BB962C8B-B14F-4D97-AF65-F5344CB8AC3E}">
        <p14:creationId xmlns:p14="http://schemas.microsoft.com/office/powerpoint/2010/main" val="2314023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Time Complexity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Worst-case performance	Θ(m) preprocessing + O(</a:t>
            </a:r>
            <a:r>
              <a:rPr lang="en-US" dirty="0" err="1"/>
              <a:t>mn</a:t>
            </a:r>
            <a:r>
              <a:rPr lang="en-US" dirty="0"/>
              <a:t>) </a:t>
            </a:r>
            <a:r>
              <a:rPr lang="en-US" dirty="0" smtClean="0"/>
              <a:t>matching </a:t>
            </a:r>
            <a:endParaRPr lang="en-US" dirty="0"/>
          </a:p>
          <a:p>
            <a:r>
              <a:rPr lang="en-US" dirty="0"/>
              <a:t>Best-case performance	</a:t>
            </a:r>
            <a:r>
              <a:rPr lang="en-US" dirty="0" smtClean="0"/>
              <a:t>	Θ(m</a:t>
            </a:r>
            <a:r>
              <a:rPr lang="en-US" dirty="0"/>
              <a:t>) preprocessing + Ω(n/m) </a:t>
            </a:r>
            <a:r>
              <a:rPr lang="en-US" dirty="0" smtClean="0"/>
              <a:t>matching</a:t>
            </a:r>
          </a:p>
          <a:p>
            <a:pPr marL="0" indent="0">
              <a:buNone/>
            </a:pPr>
            <a:endParaRPr lang="en-US" dirty="0" smtClean="0"/>
          </a:p>
          <a:p>
            <a:r>
              <a:rPr lang="en-US" dirty="0"/>
              <a:t>When the pattern does occur in the text, running time of the original algorithm is </a:t>
            </a:r>
            <a:r>
              <a:rPr lang="en-US" dirty="0" smtClean="0"/>
              <a:t>O(nm</a:t>
            </a:r>
            <a:r>
              <a:rPr lang="en-US" dirty="0"/>
              <a:t>) in the worst case</a:t>
            </a:r>
          </a:p>
        </p:txBody>
      </p:sp>
    </p:spTree>
    <p:extLst>
      <p:ext uri="{BB962C8B-B14F-4D97-AF65-F5344CB8AC3E}">
        <p14:creationId xmlns:p14="http://schemas.microsoft.com/office/powerpoint/2010/main" val="20774768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Pattern Matching Algorithms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825752" y="1527048"/>
            <a:ext cx="8485090" cy="440228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600" dirty="0"/>
              <a:t>Knuth-Morris-</a:t>
            </a:r>
            <a:r>
              <a:rPr lang="en-US" sz="2600" dirty="0" err="1"/>
              <a:t>Prat</a:t>
            </a:r>
            <a:r>
              <a:rPr lang="en-US" sz="2600" dirty="0"/>
              <a:t> Algorithm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US" dirty="0" smtClean="0"/>
              <a:t>When the finite automata for a pattern P is constructed, it is easy to put in the arrows that correspond to a successful match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US" dirty="0" smtClean="0"/>
              <a:t>For Example: the first step to draw for the pattern P = AABC is given as shown in Figure below:</a:t>
            </a:r>
            <a:endParaRPr lang="en-US" sz="1400" dirty="0"/>
          </a:p>
          <a:p>
            <a:pPr marL="27432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dirty="0"/>
              <a:t> Start                                   A                        </a:t>
            </a:r>
            <a:r>
              <a:rPr lang="en-US" sz="1400" dirty="0" err="1"/>
              <a:t>A</a:t>
            </a:r>
            <a:r>
              <a:rPr lang="en-US" sz="1400" dirty="0"/>
              <a:t>                          B         </a:t>
            </a:r>
            <a:r>
              <a:rPr lang="en-US" sz="1400" dirty="0" smtClean="0"/>
              <a:t>                  </a:t>
            </a:r>
            <a:r>
              <a:rPr lang="en-US" sz="1400" dirty="0"/>
              <a:t>C                 </a:t>
            </a:r>
          </a:p>
          <a:p>
            <a:pPr marL="274320" lvl="1" indent="0">
              <a:spcBef>
                <a:spcPts val="0"/>
              </a:spcBef>
              <a:spcAft>
                <a:spcPts val="600"/>
              </a:spcAft>
              <a:buNone/>
            </a:pPr>
            <a:endParaRPr lang="en-US" sz="1400" dirty="0"/>
          </a:p>
          <a:p>
            <a:pPr marL="27432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000" dirty="0"/>
              <a:t> </a:t>
            </a:r>
            <a:r>
              <a:rPr lang="en-US" dirty="0" smtClean="0"/>
              <a:t>                     Figure: State transition diagram that accepts AABC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US" dirty="0" smtClean="0"/>
              <a:t>The difficult part is to insert other arrows. The Knuth-Morris-</a:t>
            </a:r>
            <a:r>
              <a:rPr lang="en-US" dirty="0" err="1" smtClean="0"/>
              <a:t>Prat</a:t>
            </a:r>
            <a:r>
              <a:rPr lang="en-US" dirty="0" smtClean="0"/>
              <a:t> (KMP) algorithm constructs the flowchart that can be used to scan the text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B1FF6-39B9-40F5-8B67-33C6354A3D4F}" type="slidenum">
              <a:rPr kumimoji="0" lang="en-US" smtClean="0"/>
              <a:pPr/>
              <a:t>32</a:t>
            </a:fld>
            <a:endParaRPr kumimoji="0" lang="en-US" dirty="0"/>
          </a:p>
        </p:txBody>
      </p:sp>
      <p:sp>
        <p:nvSpPr>
          <p:cNvPr id="5" name="Oval 4"/>
          <p:cNvSpPr/>
          <p:nvPr/>
        </p:nvSpPr>
        <p:spPr>
          <a:xfrm>
            <a:off x="3122425" y="4004091"/>
            <a:ext cx="720080" cy="36004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4346561" y="4004091"/>
            <a:ext cx="720080" cy="36004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Oval 6"/>
          <p:cNvSpPr/>
          <p:nvPr/>
        </p:nvSpPr>
        <p:spPr>
          <a:xfrm>
            <a:off x="5574641" y="4012847"/>
            <a:ext cx="720080" cy="36004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" name="Oval 7"/>
          <p:cNvSpPr/>
          <p:nvPr/>
        </p:nvSpPr>
        <p:spPr>
          <a:xfrm>
            <a:off x="6798777" y="4004091"/>
            <a:ext cx="720080" cy="36004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8027477" y="4004091"/>
            <a:ext cx="720080" cy="360040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*</a:t>
            </a:r>
          </a:p>
        </p:txBody>
      </p:sp>
      <p:cxnSp>
        <p:nvCxnSpPr>
          <p:cNvPr id="11" name="Straight Arrow Connector 10"/>
          <p:cNvCxnSpPr>
            <a:stCxn id="5" idx="6"/>
            <a:endCxn id="6" idx="2"/>
          </p:cNvCxnSpPr>
          <p:nvPr/>
        </p:nvCxnSpPr>
        <p:spPr>
          <a:xfrm>
            <a:off x="3842505" y="4184111"/>
            <a:ext cx="50405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5066641" y="4184111"/>
            <a:ext cx="50405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6294721" y="4203843"/>
            <a:ext cx="50405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518857" y="4203843"/>
            <a:ext cx="50405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2618369" y="4192867"/>
            <a:ext cx="50405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3248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>
                <a:latin typeface="Tahoma" charset="0"/>
              </a:rPr>
              <a:t>Example</a:t>
            </a:r>
          </a:p>
        </p:txBody>
      </p:sp>
      <p:graphicFrame>
        <p:nvGraphicFramePr>
          <p:cNvPr id="29700" name="Object 3"/>
          <p:cNvGraphicFramePr>
            <a:graphicFrameLocks noChangeAspect="1"/>
          </p:cNvGraphicFramePr>
          <p:nvPr/>
        </p:nvGraphicFramePr>
        <p:xfrm>
          <a:off x="1422400" y="1752601"/>
          <a:ext cx="10363200" cy="4156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8" name="VISIO" r:id="rId3" imgW="4787900" imgH="2565400" progId="Visio.Drawing.6">
                  <p:embed/>
                </p:oleObj>
              </mc:Choice>
              <mc:Fallback>
                <p:oleObj name="VISIO" r:id="rId3" imgW="4787900" imgH="2565400" progId="Visio.Drawing.6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2400" y="1752601"/>
                        <a:ext cx="10363200" cy="4156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9050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5108" name="Group 4"/>
          <p:cNvGraphicFramePr>
            <a:graphicFrameLocks noGrp="1"/>
          </p:cNvGraphicFramePr>
          <p:nvPr/>
        </p:nvGraphicFramePr>
        <p:xfrm>
          <a:off x="914400" y="4953001"/>
          <a:ext cx="4673598" cy="1128713"/>
        </p:xfrm>
        <a:graphic>
          <a:graphicData uri="http://schemas.openxmlformats.org/drawingml/2006/table">
            <a:tbl>
              <a:tblPr/>
              <a:tblGrid>
                <a:gridCol w="84243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637117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639233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639233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639233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637116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  <a:gridCol w="639233">
                  <a:extLst>
                    <a:ext uri="{9D8B030D-6E8A-4147-A177-3AD203B41FA5}">
                      <a16:colId xmlns="" xmlns:a16="http://schemas.microsoft.com/office/drawing/2014/main" val="20006"/>
                    </a:ext>
                  </a:extLst>
                </a:gridCol>
              </a:tblGrid>
              <a:tr h="3658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</a:p>
                  </a:txBody>
                  <a:tcPr marL="121920" marR="121920" marT="45733" marB="4573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0</a:t>
                      </a:r>
                    </a:p>
                  </a:txBody>
                  <a:tcPr marL="121920" marR="121920" marT="45733" marB="4573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</a:p>
                  </a:txBody>
                  <a:tcPr marL="121920" marR="121920" marT="45733" marB="4573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2</a:t>
                      </a:r>
                    </a:p>
                  </a:txBody>
                  <a:tcPr marL="121920" marR="121920" marT="45733" marB="4573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3</a:t>
                      </a:r>
                    </a:p>
                  </a:txBody>
                  <a:tcPr marL="121920" marR="121920" marT="45733" marB="4573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4</a:t>
                      </a:r>
                    </a:p>
                  </a:txBody>
                  <a:tcPr marL="121920" marR="121920" marT="45733" marB="4573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ymbol" pitchFamily="18" charset="2"/>
                        </a:rPr>
                        <a:t>5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121920" marR="121920" marT="45733" marB="4573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658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P</a:t>
                      </a: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[</a:t>
                      </a:r>
                      <a:r>
                        <a:rPr kumimoji="0" lang="en-US" sz="18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]</a:t>
                      </a:r>
                    </a:p>
                  </a:txBody>
                  <a:tcPr marL="121920" marR="121920" marT="45733" marB="4573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a</a:t>
                      </a:r>
                    </a:p>
                  </a:txBody>
                  <a:tcPr marL="121920" marR="121920" marT="45733" marB="4573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b</a:t>
                      </a:r>
                    </a:p>
                  </a:txBody>
                  <a:tcPr marL="121920" marR="121920" marT="45733" marB="4573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a</a:t>
                      </a:r>
                    </a:p>
                  </a:txBody>
                  <a:tcPr marL="121920" marR="121920" marT="45733" marB="4573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c</a:t>
                      </a:r>
                    </a:p>
                  </a:txBody>
                  <a:tcPr marL="121920" marR="121920" marT="45733" marB="4573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a</a:t>
                      </a:r>
                    </a:p>
                  </a:txBody>
                  <a:tcPr marL="121920" marR="121920" marT="45733" marB="4573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b</a:t>
                      </a:r>
                    </a:p>
                  </a:txBody>
                  <a:tcPr marL="121920" marR="121920" marT="45733" marB="4573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9698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F</a:t>
                      </a: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(</a:t>
                      </a:r>
                      <a:r>
                        <a:rPr kumimoji="0" lang="en-US" sz="18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)</a:t>
                      </a:r>
                    </a:p>
                  </a:txBody>
                  <a:tcPr marL="121920" marR="121920" marT="45733" marB="4573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0</a:t>
                      </a:r>
                    </a:p>
                  </a:txBody>
                  <a:tcPr marL="121920" marR="121920" marT="45733" marB="4573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0</a:t>
                      </a:r>
                    </a:p>
                  </a:txBody>
                  <a:tcPr marL="121920" marR="121920" marT="45733" marB="4573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</a:p>
                  </a:txBody>
                  <a:tcPr marL="121920" marR="121920" marT="45733" marB="4573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0</a:t>
                      </a:r>
                    </a:p>
                  </a:txBody>
                  <a:tcPr marL="121920" marR="121920" marT="45733" marB="4573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</a:p>
                  </a:txBody>
                  <a:tcPr marL="121920" marR="121920" marT="45733" marB="4573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ymbol" pitchFamily="18" charset="2"/>
                        </a:rPr>
                        <a:t>2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121920" marR="121920" marT="45733" marB="4573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01438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297" y="778811"/>
            <a:ext cx="8735644" cy="133368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290297" y="137613"/>
            <a:ext cx="4301370" cy="4524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28600"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600" dirty="0">
                <a:solidFill>
                  <a:prstClr val="black"/>
                </a:solidFill>
              </a:rPr>
              <a:t>Knuth-Morris-</a:t>
            </a:r>
            <a:r>
              <a:rPr lang="en-US" sz="2600" dirty="0" err="1">
                <a:solidFill>
                  <a:prstClr val="black"/>
                </a:solidFill>
              </a:rPr>
              <a:t>Prat</a:t>
            </a:r>
            <a:r>
              <a:rPr lang="en-US" sz="2600" dirty="0">
                <a:solidFill>
                  <a:prstClr val="black"/>
                </a:solidFill>
              </a:rPr>
              <a:t> Algorithm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560" y="2391692"/>
            <a:ext cx="8640381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8562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290297" y="137613"/>
            <a:ext cx="4301370" cy="4524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28600"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600" dirty="0">
                <a:solidFill>
                  <a:prstClr val="black"/>
                </a:solidFill>
              </a:rPr>
              <a:t>Knuth-Morris-</a:t>
            </a:r>
            <a:r>
              <a:rPr lang="en-US" sz="2600" dirty="0" err="1">
                <a:solidFill>
                  <a:prstClr val="black"/>
                </a:solidFill>
              </a:rPr>
              <a:t>Prat</a:t>
            </a:r>
            <a:r>
              <a:rPr lang="en-US" sz="2600" dirty="0">
                <a:solidFill>
                  <a:prstClr val="black"/>
                </a:solidFill>
              </a:rPr>
              <a:t> Algorithm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86" y="829704"/>
            <a:ext cx="7144747" cy="447737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1669" y="3010437"/>
            <a:ext cx="5620331" cy="3847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4160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290297" y="137613"/>
            <a:ext cx="4301370" cy="4524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28600"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600" dirty="0">
                <a:solidFill>
                  <a:prstClr val="black"/>
                </a:solidFill>
              </a:rPr>
              <a:t>Knuth-Morris-</a:t>
            </a:r>
            <a:r>
              <a:rPr lang="en-US" sz="2600" dirty="0" err="1">
                <a:solidFill>
                  <a:prstClr val="black"/>
                </a:solidFill>
              </a:rPr>
              <a:t>Prat</a:t>
            </a:r>
            <a:r>
              <a:rPr lang="en-US" sz="2600" dirty="0">
                <a:solidFill>
                  <a:prstClr val="black"/>
                </a:solidFill>
              </a:rPr>
              <a:t> Algorithm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1" y="718594"/>
            <a:ext cx="8316486" cy="5858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4573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290297" y="137613"/>
            <a:ext cx="4301370" cy="4524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28600"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600" dirty="0">
                <a:solidFill>
                  <a:prstClr val="black"/>
                </a:solidFill>
              </a:rPr>
              <a:t>Knuth-Morris-</a:t>
            </a:r>
            <a:r>
              <a:rPr lang="en-US" sz="2600" dirty="0" err="1">
                <a:solidFill>
                  <a:prstClr val="black"/>
                </a:solidFill>
              </a:rPr>
              <a:t>Prat</a:t>
            </a:r>
            <a:r>
              <a:rPr lang="en-US" sz="2600" dirty="0">
                <a:solidFill>
                  <a:prstClr val="black"/>
                </a:solidFill>
              </a:rPr>
              <a:t> Algorithm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696" y="811494"/>
            <a:ext cx="8145012" cy="3019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5532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290297" y="137613"/>
            <a:ext cx="4301370" cy="4524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28600"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600" dirty="0">
                <a:solidFill>
                  <a:prstClr val="black"/>
                </a:solidFill>
              </a:rPr>
              <a:t>Knuth-Morris-</a:t>
            </a:r>
            <a:r>
              <a:rPr lang="en-US" sz="2600" dirty="0" err="1">
                <a:solidFill>
                  <a:prstClr val="black"/>
                </a:solidFill>
              </a:rPr>
              <a:t>Prat</a:t>
            </a:r>
            <a:r>
              <a:rPr lang="en-US" sz="2600" dirty="0">
                <a:solidFill>
                  <a:prstClr val="black"/>
                </a:solidFill>
              </a:rPr>
              <a:t> Algorithm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283" y="756864"/>
            <a:ext cx="8659433" cy="5344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6947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290297" y="137613"/>
            <a:ext cx="4301370" cy="4524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28600"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600" dirty="0">
                <a:solidFill>
                  <a:prstClr val="black"/>
                </a:solidFill>
              </a:rPr>
              <a:t>Knuth-Morris-</a:t>
            </a:r>
            <a:r>
              <a:rPr lang="en-US" sz="2600" dirty="0" err="1">
                <a:solidFill>
                  <a:prstClr val="black"/>
                </a:solidFill>
              </a:rPr>
              <a:t>Prat</a:t>
            </a:r>
            <a:r>
              <a:rPr lang="en-US" sz="2600" dirty="0">
                <a:solidFill>
                  <a:prstClr val="black"/>
                </a:solidFill>
              </a:rPr>
              <a:t> Algorithm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297" y="682065"/>
            <a:ext cx="8830907" cy="5468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876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290297" y="137613"/>
            <a:ext cx="4301370" cy="4524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28600"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600" dirty="0">
                <a:solidFill>
                  <a:prstClr val="black"/>
                </a:solidFill>
              </a:rPr>
              <a:t>Knuth-Morris-</a:t>
            </a:r>
            <a:r>
              <a:rPr lang="en-US" sz="2600" dirty="0" err="1">
                <a:solidFill>
                  <a:prstClr val="black"/>
                </a:solidFill>
              </a:rPr>
              <a:t>Prat</a:t>
            </a:r>
            <a:r>
              <a:rPr lang="en-US" sz="2600" dirty="0">
                <a:solidFill>
                  <a:prstClr val="black"/>
                </a:solidFill>
              </a:rPr>
              <a:t> Algorithm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866" y="1022722"/>
            <a:ext cx="8535591" cy="4915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0095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</TotalTime>
  <Words>858</Words>
  <Application>Microsoft Office PowerPoint</Application>
  <PresentationFormat>Widescreen</PresentationFormat>
  <Paragraphs>174</Paragraphs>
  <Slides>40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53" baseType="lpstr">
      <vt:lpstr>Angsana New</vt:lpstr>
      <vt:lpstr>Arial</vt:lpstr>
      <vt:lpstr>Calibri</vt:lpstr>
      <vt:lpstr>Calibri Light</vt:lpstr>
      <vt:lpstr>Cordia New</vt:lpstr>
      <vt:lpstr>Courier New</vt:lpstr>
      <vt:lpstr>Monotype Sorts</vt:lpstr>
      <vt:lpstr>Symbol</vt:lpstr>
      <vt:lpstr>Tahoma</vt:lpstr>
      <vt:lpstr>Times New Roman</vt:lpstr>
      <vt:lpstr>Wingdings</vt:lpstr>
      <vt:lpstr>Office Theme</vt:lpstr>
      <vt:lpstr>VISIO</vt:lpstr>
      <vt:lpstr>Lecture # 14 – Pattern Matching</vt:lpstr>
      <vt:lpstr>Overview</vt:lpstr>
      <vt:lpstr>1.  What is Pattern Matching?</vt:lpstr>
      <vt:lpstr>String Concepts</vt:lpstr>
      <vt:lpstr>Examples</vt:lpstr>
      <vt:lpstr>Brute-Force Matching Example</vt:lpstr>
      <vt:lpstr>2.  The Brute Force Algorithm</vt:lpstr>
      <vt:lpstr>Brute Force in Java</vt:lpstr>
      <vt:lpstr>Usage</vt:lpstr>
      <vt:lpstr>Analysis</vt:lpstr>
      <vt:lpstr>PowerPoint Presentation</vt:lpstr>
      <vt:lpstr>PowerPoint Presentation</vt:lpstr>
      <vt:lpstr>Pattern Matching Algorithms</vt:lpstr>
      <vt:lpstr>Boyer-Moore Heuristics</vt:lpstr>
      <vt:lpstr>Example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Pattern Matching Algorithms</vt:lpstr>
      <vt:lpstr>Time Complexity </vt:lpstr>
      <vt:lpstr>Pattern Matching Algorithms</vt:lpstr>
      <vt:lpstr>Example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Bushra Fazal BUKC</dc:creator>
  <cp:lastModifiedBy>BUKC</cp:lastModifiedBy>
  <cp:revision>26</cp:revision>
  <cp:lastPrinted>2022-07-05T06:04:55Z</cp:lastPrinted>
  <dcterms:created xsi:type="dcterms:W3CDTF">2022-06-01T04:50:52Z</dcterms:created>
  <dcterms:modified xsi:type="dcterms:W3CDTF">2024-06-04T04:36:58Z</dcterms:modified>
</cp:coreProperties>
</file>