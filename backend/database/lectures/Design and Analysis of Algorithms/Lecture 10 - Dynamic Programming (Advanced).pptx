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rels" ContentType="application/vnd.openxmlformats-package.relationships+xml"/>
  <Default Extension="xml" ContentType="application/xml"/>
  <Default Extension="wav" ContentType="audio/wav"/>
  <Default Extension="vml" ContentType="application/vnd.openxmlformats-officedocument.vmlDrawing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1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90" r:id="rId1"/>
  </p:sldMasterIdLst>
  <p:notesMasterIdLst>
    <p:notesMasterId r:id="rId42"/>
  </p:notesMasterIdLst>
  <p:sldIdLst>
    <p:sldId id="256" r:id="rId2"/>
    <p:sldId id="342" r:id="rId3"/>
    <p:sldId id="343" r:id="rId4"/>
    <p:sldId id="344" r:id="rId5"/>
    <p:sldId id="364" r:id="rId6"/>
    <p:sldId id="346" r:id="rId7"/>
    <p:sldId id="365" r:id="rId8"/>
    <p:sldId id="348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366" r:id="rId22"/>
    <p:sldId id="367" r:id="rId23"/>
    <p:sldId id="368" r:id="rId24"/>
    <p:sldId id="369" r:id="rId25"/>
    <p:sldId id="370" r:id="rId26"/>
    <p:sldId id="371" r:id="rId27"/>
    <p:sldId id="372" r:id="rId28"/>
    <p:sldId id="373" r:id="rId29"/>
    <p:sldId id="374" r:id="rId30"/>
    <p:sldId id="375" r:id="rId31"/>
    <p:sldId id="376" r:id="rId32"/>
    <p:sldId id="377" r:id="rId33"/>
    <p:sldId id="378" r:id="rId34"/>
    <p:sldId id="379" r:id="rId35"/>
    <p:sldId id="380" r:id="rId36"/>
    <p:sldId id="381" r:id="rId37"/>
    <p:sldId id="382" r:id="rId38"/>
    <p:sldId id="383" r:id="rId39"/>
    <p:sldId id="384" r:id="rId40"/>
    <p:sldId id="279" r:id="rId41"/>
  </p:sldIdLst>
  <p:sldSz cx="9144000" cy="6858000" type="screen4x3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500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71" d="100"/>
          <a:sy n="71" d="100"/>
        </p:scale>
        <p:origin x="-1320" y="-4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png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.wmf"/><Relationship Id="rId1" Type="http://schemas.openxmlformats.org/officeDocument/2006/relationships/image" Target="../media/image16.png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9.wmf"/><Relationship Id="rId1" Type="http://schemas.openxmlformats.org/officeDocument/2006/relationships/image" Target="../media/image18.png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21.wmf"/><Relationship Id="rId1" Type="http://schemas.openxmlformats.org/officeDocument/2006/relationships/image" Target="../media/image20.png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23.wmf"/><Relationship Id="rId1" Type="http://schemas.openxmlformats.org/officeDocument/2006/relationships/image" Target="../media/image22.png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25.wmf"/><Relationship Id="rId1" Type="http://schemas.openxmlformats.org/officeDocument/2006/relationships/image" Target="../media/image24.png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2" Type="http://schemas.openxmlformats.org/officeDocument/2006/relationships/image" Target="../media/image27.wmf"/><Relationship Id="rId1" Type="http://schemas.openxmlformats.org/officeDocument/2006/relationships/image" Target="../media/image26.png"/><Relationship Id="rId4" Type="http://schemas.openxmlformats.org/officeDocument/2006/relationships/image" Target="../media/image29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903425-15B7-4B85-BA8F-CCE5CB99CE00}" type="datetimeFigureOut">
              <a:rPr lang="en-GB" smtClean="0"/>
              <a:t>22/05/2024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A416AE-6428-4C60-ADF8-987FEC12224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47762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xmlns="" id="{C3EB4431-808F-4986-94DC-92DB104ED29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65B4608-3C33-4E6B-93C2-871A035FE7DC}" type="slidenum">
              <a:rPr lang="en-US" altLang="en-US"/>
              <a:pPr/>
              <a:t>5</a:t>
            </a:fld>
            <a:endParaRPr lang="en-US" altLang="en-US"/>
          </a:p>
        </p:txBody>
      </p:sp>
      <p:sp>
        <p:nvSpPr>
          <p:cNvPr id="407554" name="Rectangle 2">
            <a:extLst>
              <a:ext uri="{FF2B5EF4-FFF2-40B4-BE49-F238E27FC236}">
                <a16:creationId xmlns:a16="http://schemas.microsoft.com/office/drawing/2014/main" xmlns="" id="{1C9B77CE-3638-492D-8E16-A40B90BC3E0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7388"/>
            <a:ext cx="4570412" cy="3427412"/>
          </a:xfrm>
          <a:ln/>
        </p:spPr>
      </p:sp>
      <p:sp>
        <p:nvSpPr>
          <p:cNvPr id="407555" name="Rectangle 3">
            <a:extLst>
              <a:ext uri="{FF2B5EF4-FFF2-40B4-BE49-F238E27FC236}">
                <a16:creationId xmlns:a16="http://schemas.microsoft.com/office/drawing/2014/main" xmlns="" id="{B9BCEAAD-B6C4-41D3-B7DF-8048E7DFBC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3213"/>
          </a:xfrm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8972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23308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46975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85196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6370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68256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436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09439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95233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98107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07288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0938" y="617538"/>
            <a:ext cx="7793037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>
          <a:xfrm>
            <a:off x="6781800" y="63246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C96B34AA-617B-4BE0-996F-D97E517750BC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8632237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5/22/2024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06218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4" Type="http://schemas.openxmlformats.org/officeDocument/2006/relationships/notesSlide" Target="../notesSlides/notesSlid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.xml"/><Relationship Id="rId1" Type="http://schemas.openxmlformats.org/officeDocument/2006/relationships/tags" Target="../tags/tag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2.xml"/><Relationship Id="rId1" Type="http://schemas.openxmlformats.org/officeDocument/2006/relationships/tags" Target="../tags/tag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4.xml"/><Relationship Id="rId1" Type="http://schemas.openxmlformats.org/officeDocument/2006/relationships/tags" Target="../tags/tag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2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13.wmf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1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7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1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9.w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1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1.w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2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23.wmf"/><Relationship Id="rId5" Type="http://schemas.openxmlformats.org/officeDocument/2006/relationships/oleObject" Target="../embeddings/oleObject11.bin"/><Relationship Id="rId4" Type="http://schemas.openxmlformats.org/officeDocument/2006/relationships/image" Target="../media/image2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25.wmf"/><Relationship Id="rId5" Type="http://schemas.openxmlformats.org/officeDocument/2006/relationships/oleObject" Target="../embeddings/oleObject13.bin"/><Relationship Id="rId4" Type="http://schemas.openxmlformats.org/officeDocument/2006/relationships/image" Target="../media/image24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.bin"/><Relationship Id="rId3" Type="http://schemas.openxmlformats.org/officeDocument/2006/relationships/audio" Target="../media/audio1.wav"/><Relationship Id="rId7" Type="http://schemas.openxmlformats.org/officeDocument/2006/relationships/image" Target="../media/image2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15.bin"/><Relationship Id="rId11" Type="http://schemas.openxmlformats.org/officeDocument/2006/relationships/image" Target="../media/image29.wmf"/><Relationship Id="rId5" Type="http://schemas.openxmlformats.org/officeDocument/2006/relationships/image" Target="../media/image26.png"/><Relationship Id="rId10" Type="http://schemas.openxmlformats.org/officeDocument/2006/relationships/oleObject" Target="../embeddings/oleObject17.bin"/><Relationship Id="rId4" Type="http://schemas.openxmlformats.org/officeDocument/2006/relationships/oleObject" Target="../embeddings/oleObject14.bin"/><Relationship Id="rId9" Type="http://schemas.openxmlformats.org/officeDocument/2006/relationships/image" Target="../media/image28.wmf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28650" y="2210118"/>
            <a:ext cx="7886700" cy="14773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dirty="0"/>
              <a:t>Branch-and-Bound</a:t>
            </a:r>
          </a:p>
          <a:p>
            <a:pPr algn="ctr"/>
            <a:r>
              <a:rPr dirty="0"/>
              <a:t>Traveling Salesperson Problem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978" name="AutoShape 2">
            <a:extLst>
              <a:ext uri="{FF2B5EF4-FFF2-40B4-BE49-F238E27FC236}">
                <a16:creationId xmlns:a16="http://schemas.microsoft.com/office/drawing/2014/main" xmlns="" id="{74678B7F-12C4-4529-A340-3D5D0235059E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pPr algn="ctr"/>
            <a:r>
              <a:rPr lang="en-US" altLang="en-US" dirty="0"/>
              <a:t>Introduction</a:t>
            </a:r>
          </a:p>
        </p:txBody>
      </p:sp>
      <p:sp>
        <p:nvSpPr>
          <p:cNvPr id="382979" name="Rectangle 3">
            <a:extLst>
              <a:ext uri="{FF2B5EF4-FFF2-40B4-BE49-F238E27FC236}">
                <a16:creationId xmlns:a16="http://schemas.microsoft.com/office/drawing/2014/main" xmlns="" id="{130F8C31-C784-411C-A084-C2D499138FFD}"/>
              </a:ext>
            </a:extLst>
          </p:cNvPr>
          <p:cNvSpPr>
            <a:spLocks noGrp="1" noChangeArrowheads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685800" y="2362200"/>
            <a:ext cx="8229600" cy="4495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400"/>
              <a:t>The </a:t>
            </a:r>
            <a:r>
              <a:rPr lang="en-US" altLang="en-US" sz="2400">
                <a:solidFill>
                  <a:srgbClr val="A50021"/>
                </a:solidFill>
              </a:rPr>
              <a:t>branch-and-bound</a:t>
            </a:r>
            <a:r>
              <a:rPr lang="en-US" altLang="en-US" sz="2400"/>
              <a:t> design strategy is very similar to backtracking in that a state space tree is used to solve a problem.</a:t>
            </a:r>
          </a:p>
          <a:p>
            <a:pPr>
              <a:lnSpc>
                <a:spcPct val="90000"/>
              </a:lnSpc>
            </a:pPr>
            <a:r>
              <a:rPr lang="en-US" altLang="en-US" sz="2400"/>
              <a:t>The differences are that the branch-and-bound method 1) does not limit us to any particular way of traversing the tree, and 2) is used only for optimization problems.</a:t>
            </a:r>
          </a:p>
          <a:p>
            <a:pPr>
              <a:lnSpc>
                <a:spcPct val="90000"/>
              </a:lnSpc>
            </a:pPr>
            <a:r>
              <a:rPr lang="en-US" altLang="en-US" sz="2400"/>
              <a:t>A branch-and-bound algorithm computes a number (</a:t>
            </a:r>
            <a:r>
              <a:rPr lang="en-US" altLang="en-US" sz="2400">
                <a:solidFill>
                  <a:srgbClr val="A50021"/>
                </a:solidFill>
              </a:rPr>
              <a:t>bound</a:t>
            </a:r>
            <a:r>
              <a:rPr lang="en-US" altLang="en-US" sz="2400"/>
              <a:t>) at a node to determine whether the node is promising.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002" name="AutoShape 2">
            <a:extLst>
              <a:ext uri="{FF2B5EF4-FFF2-40B4-BE49-F238E27FC236}">
                <a16:creationId xmlns:a16="http://schemas.microsoft.com/office/drawing/2014/main" xmlns="" id="{1C8C59E5-0E55-45BE-9CB7-C7F43ADEDFA1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pPr algn="ctr"/>
            <a:r>
              <a:rPr lang="en-US" altLang="en-US"/>
              <a:t>Introduction …</a:t>
            </a:r>
          </a:p>
        </p:txBody>
      </p:sp>
      <p:sp>
        <p:nvSpPr>
          <p:cNvPr id="384003" name="Rectangle 3">
            <a:extLst>
              <a:ext uri="{FF2B5EF4-FFF2-40B4-BE49-F238E27FC236}">
                <a16:creationId xmlns:a16="http://schemas.microsoft.com/office/drawing/2014/main" xmlns="" id="{776C3412-06C2-4C1C-8B21-486ED303CB87}"/>
              </a:ext>
            </a:extLst>
          </p:cNvPr>
          <p:cNvSpPr>
            <a:spLocks noGrp="1" noChangeArrowheads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914400" y="2362200"/>
            <a:ext cx="7543800" cy="39624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400"/>
              <a:t>The number is a bound on the value of the solution that could be obtained by expanding beyond the node.</a:t>
            </a:r>
          </a:p>
          <a:p>
            <a:pPr>
              <a:lnSpc>
                <a:spcPct val="90000"/>
              </a:lnSpc>
            </a:pPr>
            <a:r>
              <a:rPr lang="en-US" altLang="en-US" sz="2400"/>
              <a:t>If that bound is no better than the value of the best solution found so far, the node is </a:t>
            </a:r>
            <a:r>
              <a:rPr lang="en-US" altLang="en-US" sz="2400">
                <a:solidFill>
                  <a:srgbClr val="A50021"/>
                </a:solidFill>
              </a:rPr>
              <a:t>nonpromising</a:t>
            </a:r>
            <a:r>
              <a:rPr lang="en-US" altLang="en-US" sz="2400"/>
              <a:t>.  Otherwise, it is </a:t>
            </a:r>
            <a:r>
              <a:rPr lang="en-US" altLang="en-US" sz="2400">
                <a:solidFill>
                  <a:srgbClr val="A50021"/>
                </a:solidFill>
              </a:rPr>
              <a:t>promising</a:t>
            </a:r>
            <a:r>
              <a:rPr lang="en-US" altLang="en-US" sz="2400"/>
              <a:t>.</a:t>
            </a:r>
          </a:p>
          <a:p>
            <a:pPr>
              <a:lnSpc>
                <a:spcPct val="90000"/>
              </a:lnSpc>
            </a:pPr>
            <a:r>
              <a:rPr lang="en-US" altLang="en-US" sz="2400"/>
              <a:t>The backtracking algorithm for the 0-1 Knapsack problem is actually a branch-and-bound algorithm.</a:t>
            </a:r>
          </a:p>
          <a:p>
            <a:pPr>
              <a:lnSpc>
                <a:spcPct val="90000"/>
              </a:lnSpc>
            </a:pPr>
            <a:r>
              <a:rPr lang="en-US" altLang="en-US" sz="2400">
                <a:solidFill>
                  <a:schemeClr val="accent2"/>
                </a:solidFill>
              </a:rPr>
              <a:t>A backtracking algorithm, however, does not exploit the real advantage of using branch-and-bound</a:t>
            </a:r>
            <a:r>
              <a:rPr lang="en-US" altLang="en-US" sz="240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026" name="AutoShape 2">
            <a:extLst>
              <a:ext uri="{FF2B5EF4-FFF2-40B4-BE49-F238E27FC236}">
                <a16:creationId xmlns:a16="http://schemas.microsoft.com/office/drawing/2014/main" xmlns="" id="{600C729C-CB94-4949-A6F9-D2ECEA11EFDF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pPr algn="ctr"/>
            <a:r>
              <a:rPr lang="en-US" altLang="en-US"/>
              <a:t>Introduction …</a:t>
            </a:r>
          </a:p>
        </p:txBody>
      </p:sp>
      <p:sp>
        <p:nvSpPr>
          <p:cNvPr id="385027" name="Rectangle 3">
            <a:extLst>
              <a:ext uri="{FF2B5EF4-FFF2-40B4-BE49-F238E27FC236}">
                <a16:creationId xmlns:a16="http://schemas.microsoft.com/office/drawing/2014/main" xmlns="" id="{3CD13BBC-0143-41C5-AFE1-8BBC7F522F2B}"/>
              </a:ext>
            </a:extLst>
          </p:cNvPr>
          <p:cNvSpPr>
            <a:spLocks noGrp="1" noChangeArrowheads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914400" y="2438400"/>
            <a:ext cx="7543800" cy="38862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400" dirty="0"/>
              <a:t>Besides using the bound to determine whether a node is promising, we can compare the bounds of promising nodes and visit the children of the one with the best bound.</a:t>
            </a:r>
          </a:p>
          <a:p>
            <a:pPr>
              <a:lnSpc>
                <a:spcPct val="90000"/>
              </a:lnSpc>
            </a:pPr>
            <a:r>
              <a:rPr lang="en-US" altLang="en-US" sz="2400" dirty="0"/>
              <a:t>This approach is called </a:t>
            </a:r>
            <a:r>
              <a:rPr lang="en-US" altLang="en-US" sz="2400" dirty="0">
                <a:solidFill>
                  <a:srgbClr val="A50021"/>
                </a:solidFill>
              </a:rPr>
              <a:t>best-first search with branch-and-bound pruning</a:t>
            </a:r>
            <a:r>
              <a:rPr lang="en-US" altLang="en-US" sz="2400" dirty="0"/>
              <a:t>.  The implementation of this approach is a modification of the </a:t>
            </a:r>
            <a:r>
              <a:rPr lang="en-US" altLang="en-US" sz="2400" dirty="0">
                <a:solidFill>
                  <a:srgbClr val="A50021"/>
                </a:solidFill>
              </a:rPr>
              <a:t>breadth-first search with</a:t>
            </a:r>
            <a:r>
              <a:rPr lang="en-US" altLang="en-US" sz="2400" dirty="0"/>
              <a:t> </a:t>
            </a:r>
            <a:r>
              <a:rPr lang="en-US" altLang="en-US" sz="2400" dirty="0">
                <a:solidFill>
                  <a:srgbClr val="A50021"/>
                </a:solidFill>
              </a:rPr>
              <a:t>branch-and-bound pruning.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530" name="AutoShape 2">
            <a:extLst>
              <a:ext uri="{FF2B5EF4-FFF2-40B4-BE49-F238E27FC236}">
                <a16:creationId xmlns:a16="http://schemas.microsoft.com/office/drawing/2014/main" xmlns="" id="{584C92F1-D5B6-4D04-8BED-E3592B558F98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altLang="en-US"/>
              <a:t>Branch and Bound</a:t>
            </a:r>
          </a:p>
        </p:txBody>
      </p:sp>
      <p:sp>
        <p:nvSpPr>
          <p:cNvPr id="406531" name="Rectangle 3">
            <a:extLst>
              <a:ext uri="{FF2B5EF4-FFF2-40B4-BE49-F238E27FC236}">
                <a16:creationId xmlns:a16="http://schemas.microsoft.com/office/drawing/2014/main" xmlns="" id="{380BCDEA-0A8D-4861-B195-D300AED4ADE8}"/>
              </a:ext>
            </a:extLst>
          </p:cNvPr>
          <p:cNvSpPr>
            <a:spLocks noGrp="1" noChangeArrowheads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838200" y="2362200"/>
            <a:ext cx="7620000" cy="3733800"/>
          </a:xfrm>
        </p:spPr>
        <p:txBody>
          <a:bodyPr/>
          <a:lstStyle/>
          <a:p>
            <a:r>
              <a:rPr lang="en-US" altLang="en-US"/>
              <a:t>An enhancement of backtracking</a:t>
            </a:r>
          </a:p>
          <a:p>
            <a:r>
              <a:rPr lang="en-US" altLang="en-US"/>
              <a:t>Applicable to optimization problems</a:t>
            </a:r>
          </a:p>
          <a:p>
            <a:r>
              <a:rPr lang="en-US" altLang="en-US"/>
              <a:t>Uses a lower bound for the value of the objective function for each node (partial solution) so as to:</a:t>
            </a:r>
          </a:p>
          <a:p>
            <a:pPr lvl="1"/>
            <a:r>
              <a:rPr lang="en-US" altLang="en-US" sz="2800"/>
              <a:t> guide the search through state-space</a:t>
            </a:r>
          </a:p>
          <a:p>
            <a:pPr lvl="1"/>
            <a:r>
              <a:rPr lang="en-US" altLang="en-US" sz="2800"/>
              <a:t> rule out certain branches as “unpromising”</a:t>
            </a:r>
            <a:endParaRPr lang="en-US" altLang="en-US"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074" name="AutoShape 2">
            <a:extLst>
              <a:ext uri="{FF2B5EF4-FFF2-40B4-BE49-F238E27FC236}">
                <a16:creationId xmlns:a16="http://schemas.microsoft.com/office/drawing/2014/main" xmlns="" id="{1B711305-16D6-42C1-BFD9-015F792D4DA2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altLang="en-US"/>
              <a:t>Breadth-first Search</a:t>
            </a:r>
          </a:p>
        </p:txBody>
      </p:sp>
      <p:sp>
        <p:nvSpPr>
          <p:cNvPr id="387075" name="Rectangle 3">
            <a:extLst>
              <a:ext uri="{FF2B5EF4-FFF2-40B4-BE49-F238E27FC236}">
                <a16:creationId xmlns:a16="http://schemas.microsoft.com/office/drawing/2014/main" xmlns="" id="{C7884798-7FC7-4A37-8A00-BC3DFBDEF77C}"/>
              </a:ext>
            </a:extLst>
          </p:cNvPr>
          <p:cNvSpPr>
            <a:spLocks noGrp="1" noChangeArrowheads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838200" y="2362200"/>
            <a:ext cx="7543800" cy="3505200"/>
          </a:xfrm>
        </p:spPr>
        <p:txBody>
          <a:bodyPr/>
          <a:lstStyle/>
          <a:p>
            <a:r>
              <a:rPr lang="en-US" altLang="en-US" sz="2400"/>
              <a:t>We can implement this search using a queue.</a:t>
            </a:r>
          </a:p>
          <a:p>
            <a:r>
              <a:rPr lang="en-US" altLang="en-US" sz="2400"/>
              <a:t>All child nodes are placed in the queue for later processing if they are promising.  </a:t>
            </a:r>
          </a:p>
          <a:p>
            <a:r>
              <a:rPr lang="en-US" altLang="en-US" sz="2400"/>
              <a:t>Calculate an integer value for each node that represents the maximum possible profit if we pick that node.</a:t>
            </a:r>
          </a:p>
          <a:p>
            <a:r>
              <a:rPr lang="en-US" altLang="en-US" sz="2400"/>
              <a:t>If the maximum possible profit is not greater than the best total so far, don’t expand the branch.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578" name="AutoShape 2">
            <a:extLst>
              <a:ext uri="{FF2B5EF4-FFF2-40B4-BE49-F238E27FC236}">
                <a16:creationId xmlns:a16="http://schemas.microsoft.com/office/drawing/2014/main" xmlns="" id="{9FBEC888-A218-44CB-ACC2-2A54F88562FC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altLang="en-US" dirty="0"/>
              <a:t>Breadth-first Search</a:t>
            </a:r>
          </a:p>
        </p:txBody>
      </p:sp>
      <p:sp>
        <p:nvSpPr>
          <p:cNvPr id="408579" name="Rectangle 3">
            <a:extLst>
              <a:ext uri="{FF2B5EF4-FFF2-40B4-BE49-F238E27FC236}">
                <a16:creationId xmlns:a16="http://schemas.microsoft.com/office/drawing/2014/main" xmlns="" id="{1B748598-DB25-487E-91DF-2CC59A44E0FB}"/>
              </a:ext>
            </a:extLst>
          </p:cNvPr>
          <p:cNvSpPr>
            <a:spLocks noGrp="1" noChangeArrowheads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838200" y="2362200"/>
            <a:ext cx="7543800" cy="3505200"/>
          </a:xfrm>
        </p:spPr>
        <p:txBody>
          <a:bodyPr/>
          <a:lstStyle/>
          <a:p>
            <a:r>
              <a:rPr lang="en-US" altLang="en-US" sz="2400"/>
              <a:t>The breadth-first search strategy has no advantage over a depth-first search (backtracking).</a:t>
            </a:r>
          </a:p>
          <a:p>
            <a:r>
              <a:rPr lang="en-US" altLang="en-US" sz="2400"/>
              <a:t>However, we can improve our search by using our bound to do more than just determine whether a node is promising.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22" name="AutoShape 2">
            <a:extLst>
              <a:ext uri="{FF2B5EF4-FFF2-40B4-BE49-F238E27FC236}">
                <a16:creationId xmlns:a16="http://schemas.microsoft.com/office/drawing/2014/main" xmlns="" id="{06F448CF-31CA-4E07-B5A3-FE7284A7D0C0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altLang="en-US"/>
              <a:t>Best-first Search</a:t>
            </a:r>
          </a:p>
        </p:txBody>
      </p:sp>
      <p:sp>
        <p:nvSpPr>
          <p:cNvPr id="389123" name="Rectangle 3">
            <a:extLst>
              <a:ext uri="{FF2B5EF4-FFF2-40B4-BE49-F238E27FC236}">
                <a16:creationId xmlns:a16="http://schemas.microsoft.com/office/drawing/2014/main" xmlns="" id="{CCCC144F-FC90-4AE6-8FE2-1E704723775A}"/>
              </a:ext>
            </a:extLst>
          </p:cNvPr>
          <p:cNvSpPr>
            <a:spLocks noGrp="1" noChangeArrowheads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914400" y="2438400"/>
            <a:ext cx="7848600" cy="34290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/>
              <a:t>Best-first search expands the node with the best bounds next.</a:t>
            </a:r>
          </a:p>
          <a:p>
            <a:pPr>
              <a:lnSpc>
                <a:spcPct val="90000"/>
              </a:lnSpc>
            </a:pPr>
            <a:r>
              <a:rPr lang="en-US" altLang="en-US"/>
              <a:t>How would you implement a best-first search?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Depth-first is a stack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Breadth-first is a queue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Best-first is a ???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09600" y="372584"/>
            <a:ext cx="70866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Types</a:t>
            </a:r>
            <a:r>
              <a:rPr sz="1800" b="1" i="1" spc="-190" dirty="0">
                <a:solidFill>
                  <a:srgbClr val="A50021"/>
                </a:solidFill>
                <a:latin typeface="Arial"/>
                <a:cs typeface="Arial"/>
              </a:rPr>
              <a:t> </a:t>
            </a:r>
            <a:r>
              <a:rPr dirty="0"/>
              <a:t>of Traversal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09600" y="1600200"/>
            <a:ext cx="8292465" cy="38658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6350" algn="just">
              <a:lnSpc>
                <a:spcPct val="100000"/>
              </a:lnSpc>
              <a:spcBef>
                <a:spcPts val="100"/>
              </a:spcBef>
            </a:pPr>
            <a:r>
              <a:rPr sz="1800" spc="-85" dirty="0">
                <a:latin typeface="Arial"/>
                <a:cs typeface="Arial"/>
              </a:rPr>
              <a:t>When </a:t>
            </a:r>
            <a:r>
              <a:rPr sz="1800" spc="-50" dirty="0">
                <a:latin typeface="Arial"/>
                <a:cs typeface="Arial"/>
              </a:rPr>
              <a:t>implementing </a:t>
            </a:r>
            <a:r>
              <a:rPr sz="1800" spc="-25" dirty="0">
                <a:latin typeface="Arial"/>
                <a:cs typeface="Arial"/>
              </a:rPr>
              <a:t>the </a:t>
            </a:r>
            <a:r>
              <a:rPr sz="1800" spc="-70" dirty="0">
                <a:latin typeface="Arial"/>
                <a:cs typeface="Arial"/>
              </a:rPr>
              <a:t>branch-and-bound </a:t>
            </a:r>
            <a:r>
              <a:rPr sz="1800" spc="-80" dirty="0">
                <a:latin typeface="Arial"/>
                <a:cs typeface="Arial"/>
              </a:rPr>
              <a:t>approach </a:t>
            </a:r>
            <a:r>
              <a:rPr sz="1800" spc="-35" dirty="0">
                <a:latin typeface="Arial"/>
                <a:cs typeface="Arial"/>
              </a:rPr>
              <a:t>there </a:t>
            </a:r>
            <a:r>
              <a:rPr sz="1800" spc="-95" dirty="0">
                <a:latin typeface="Arial"/>
                <a:cs typeface="Arial"/>
              </a:rPr>
              <a:t>is </a:t>
            </a:r>
            <a:r>
              <a:rPr sz="1800" spc="-55" dirty="0">
                <a:latin typeface="Arial"/>
                <a:cs typeface="Arial"/>
              </a:rPr>
              <a:t>no </a:t>
            </a:r>
            <a:r>
              <a:rPr sz="1800" spc="-30" dirty="0">
                <a:latin typeface="Arial"/>
                <a:cs typeface="Arial"/>
              </a:rPr>
              <a:t>restriction </a:t>
            </a:r>
            <a:r>
              <a:rPr sz="1800" spc="-60" dirty="0">
                <a:latin typeface="Arial"/>
                <a:cs typeface="Arial"/>
              </a:rPr>
              <a:t>on </a:t>
            </a:r>
            <a:r>
              <a:rPr sz="1800" spc="-25" dirty="0">
                <a:latin typeface="Arial"/>
                <a:cs typeface="Arial"/>
              </a:rPr>
              <a:t>the </a:t>
            </a:r>
            <a:r>
              <a:rPr sz="1800" spc="-40" dirty="0">
                <a:latin typeface="Arial"/>
                <a:cs typeface="Arial"/>
              </a:rPr>
              <a:t>type  </a:t>
            </a:r>
            <a:r>
              <a:rPr sz="1800" spc="-10" dirty="0">
                <a:latin typeface="Arial"/>
                <a:cs typeface="Arial"/>
              </a:rPr>
              <a:t>of </a:t>
            </a:r>
            <a:r>
              <a:rPr sz="1800" spc="-90" dirty="0">
                <a:latin typeface="Arial"/>
                <a:cs typeface="Arial"/>
              </a:rPr>
              <a:t>state-space </a:t>
            </a:r>
            <a:r>
              <a:rPr sz="1800" spc="-25" dirty="0">
                <a:latin typeface="Arial"/>
                <a:cs typeface="Arial"/>
              </a:rPr>
              <a:t>tree </a:t>
            </a:r>
            <a:r>
              <a:rPr sz="1800" spc="-60" dirty="0">
                <a:latin typeface="Arial"/>
                <a:cs typeface="Arial"/>
              </a:rPr>
              <a:t>traversal </a:t>
            </a:r>
            <a:r>
              <a:rPr sz="1800" spc="-95" dirty="0">
                <a:latin typeface="Arial"/>
                <a:cs typeface="Arial"/>
              </a:rPr>
              <a:t>used. </a:t>
            </a:r>
            <a:r>
              <a:rPr sz="1800" spc="-90" dirty="0">
                <a:latin typeface="Arial"/>
                <a:cs typeface="Arial"/>
              </a:rPr>
              <a:t>Backtracking, </a:t>
            </a:r>
            <a:r>
              <a:rPr sz="1800" spc="5" dirty="0">
                <a:latin typeface="Arial"/>
                <a:cs typeface="Arial"/>
              </a:rPr>
              <a:t>for </a:t>
            </a:r>
            <a:r>
              <a:rPr sz="1800" spc="-80" dirty="0">
                <a:latin typeface="Arial"/>
                <a:cs typeface="Arial"/>
              </a:rPr>
              <a:t>example, </a:t>
            </a:r>
            <a:r>
              <a:rPr sz="1800" spc="-95" dirty="0">
                <a:latin typeface="Arial"/>
                <a:cs typeface="Arial"/>
              </a:rPr>
              <a:t>is </a:t>
            </a:r>
            <a:r>
              <a:rPr sz="1800" spc="-140" dirty="0">
                <a:latin typeface="Arial"/>
                <a:cs typeface="Arial"/>
              </a:rPr>
              <a:t>a </a:t>
            </a:r>
            <a:r>
              <a:rPr sz="1800" spc="-70" dirty="0">
                <a:latin typeface="Arial"/>
                <a:cs typeface="Arial"/>
              </a:rPr>
              <a:t>simple </a:t>
            </a:r>
            <a:r>
              <a:rPr sz="1800" spc="-40" dirty="0">
                <a:latin typeface="Arial"/>
                <a:cs typeface="Arial"/>
              </a:rPr>
              <a:t>type </a:t>
            </a:r>
            <a:r>
              <a:rPr sz="1800" spc="-5" dirty="0">
                <a:latin typeface="Arial"/>
                <a:cs typeface="Arial"/>
              </a:rPr>
              <a:t>of </a:t>
            </a:r>
            <a:r>
              <a:rPr sz="1800" spc="-145" dirty="0">
                <a:latin typeface="Arial"/>
                <a:cs typeface="Arial"/>
              </a:rPr>
              <a:t>B&amp;B  </a:t>
            </a:r>
            <a:r>
              <a:rPr sz="1800" dirty="0">
                <a:latin typeface="Arial"/>
                <a:cs typeface="Arial"/>
              </a:rPr>
              <a:t>that </a:t>
            </a:r>
            <a:r>
              <a:rPr sz="1800" spc="-145" dirty="0">
                <a:latin typeface="Arial"/>
                <a:cs typeface="Arial"/>
              </a:rPr>
              <a:t>uses </a:t>
            </a:r>
            <a:r>
              <a:rPr sz="1800" spc="-25" dirty="0">
                <a:latin typeface="Arial"/>
                <a:cs typeface="Arial"/>
              </a:rPr>
              <a:t>depth-first</a:t>
            </a:r>
            <a:r>
              <a:rPr sz="1800" spc="-150" dirty="0">
                <a:latin typeface="Arial"/>
                <a:cs typeface="Arial"/>
              </a:rPr>
              <a:t> </a:t>
            </a:r>
            <a:r>
              <a:rPr sz="1800" spc="-95" dirty="0">
                <a:latin typeface="Arial"/>
                <a:cs typeface="Arial"/>
              </a:rPr>
              <a:t>search.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850" dirty="0">
              <a:latin typeface="Arial"/>
              <a:cs typeface="Arial"/>
            </a:endParaRPr>
          </a:p>
          <a:p>
            <a:pPr marL="12700" marR="6350" algn="just">
              <a:lnSpc>
                <a:spcPct val="100000"/>
              </a:lnSpc>
            </a:pPr>
            <a:r>
              <a:rPr sz="1800" spc="-160" dirty="0">
                <a:latin typeface="Arial"/>
                <a:cs typeface="Arial"/>
              </a:rPr>
              <a:t>A </a:t>
            </a:r>
            <a:r>
              <a:rPr sz="1800" spc="-10" dirty="0">
                <a:latin typeface="Arial"/>
                <a:cs typeface="Arial"/>
              </a:rPr>
              <a:t>better </a:t>
            </a:r>
            <a:r>
              <a:rPr sz="1800" spc="-80" dirty="0">
                <a:latin typeface="Arial"/>
                <a:cs typeface="Arial"/>
              </a:rPr>
              <a:t>approach </a:t>
            </a:r>
            <a:r>
              <a:rPr sz="1800" spc="-95" dirty="0">
                <a:latin typeface="Arial"/>
                <a:cs typeface="Arial"/>
              </a:rPr>
              <a:t>is </a:t>
            </a:r>
            <a:r>
              <a:rPr sz="1800" spc="20" dirty="0">
                <a:latin typeface="Arial"/>
                <a:cs typeface="Arial"/>
              </a:rPr>
              <a:t>to </a:t>
            </a:r>
            <a:r>
              <a:rPr sz="1800" spc="-110" dirty="0">
                <a:latin typeface="Arial"/>
                <a:cs typeface="Arial"/>
              </a:rPr>
              <a:t>check </a:t>
            </a:r>
            <a:r>
              <a:rPr sz="1800" spc="-45" dirty="0">
                <a:latin typeface="Arial"/>
                <a:cs typeface="Arial"/>
              </a:rPr>
              <a:t>all </a:t>
            </a:r>
            <a:r>
              <a:rPr sz="1800" spc="-25" dirty="0">
                <a:latin typeface="Arial"/>
                <a:cs typeface="Arial"/>
              </a:rPr>
              <a:t>the </a:t>
            </a:r>
            <a:r>
              <a:rPr sz="1800" spc="-95" dirty="0">
                <a:latin typeface="Arial"/>
                <a:cs typeface="Arial"/>
              </a:rPr>
              <a:t>nodes </a:t>
            </a:r>
            <a:r>
              <a:rPr sz="1800" spc="-85" dirty="0">
                <a:latin typeface="Arial"/>
                <a:cs typeface="Arial"/>
              </a:rPr>
              <a:t>reachable </a:t>
            </a:r>
            <a:r>
              <a:rPr sz="1800" spc="-15" dirty="0">
                <a:latin typeface="Arial"/>
                <a:cs typeface="Arial"/>
              </a:rPr>
              <a:t>from </a:t>
            </a:r>
            <a:r>
              <a:rPr sz="1800" spc="-25" dirty="0">
                <a:latin typeface="Arial"/>
                <a:cs typeface="Arial"/>
              </a:rPr>
              <a:t>the </a:t>
            </a:r>
            <a:r>
              <a:rPr sz="1800" spc="-35" dirty="0">
                <a:latin typeface="Arial"/>
                <a:cs typeface="Arial"/>
              </a:rPr>
              <a:t>currently </a:t>
            </a:r>
            <a:r>
              <a:rPr sz="1800" spc="-65" dirty="0">
                <a:latin typeface="Arial"/>
                <a:cs typeface="Arial"/>
              </a:rPr>
              <a:t>active </a:t>
            </a:r>
            <a:r>
              <a:rPr sz="1800" spc="-75" dirty="0">
                <a:latin typeface="Arial"/>
                <a:cs typeface="Arial"/>
              </a:rPr>
              <a:t>node  </a:t>
            </a:r>
            <a:r>
              <a:rPr sz="1800" spc="-35" dirty="0">
                <a:latin typeface="Arial"/>
                <a:cs typeface="Arial"/>
              </a:rPr>
              <a:t>(breadth-first)</a:t>
            </a:r>
            <a:r>
              <a:rPr sz="1800" spc="-100" dirty="0">
                <a:latin typeface="Arial"/>
                <a:cs typeface="Arial"/>
              </a:rPr>
              <a:t> </a:t>
            </a:r>
            <a:r>
              <a:rPr sz="1800" spc="-85" dirty="0">
                <a:latin typeface="Arial"/>
                <a:cs typeface="Arial"/>
              </a:rPr>
              <a:t>and </a:t>
            </a:r>
            <a:r>
              <a:rPr sz="1800" spc="-30" dirty="0">
                <a:latin typeface="Arial"/>
                <a:cs typeface="Arial"/>
              </a:rPr>
              <a:t>then</a:t>
            </a:r>
            <a:r>
              <a:rPr sz="1800" spc="-95" dirty="0">
                <a:latin typeface="Arial"/>
                <a:cs typeface="Arial"/>
              </a:rPr>
              <a:t> </a:t>
            </a:r>
            <a:r>
              <a:rPr sz="1800" spc="20" dirty="0">
                <a:latin typeface="Arial"/>
                <a:cs typeface="Arial"/>
              </a:rPr>
              <a:t>to</a:t>
            </a:r>
            <a:r>
              <a:rPr sz="1800" spc="-95" dirty="0">
                <a:latin typeface="Arial"/>
                <a:cs typeface="Arial"/>
              </a:rPr>
              <a:t> </a:t>
            </a:r>
            <a:r>
              <a:rPr sz="1800" spc="-105" dirty="0">
                <a:latin typeface="Arial"/>
                <a:cs typeface="Arial"/>
              </a:rPr>
              <a:t>choose</a:t>
            </a:r>
            <a:r>
              <a:rPr sz="1800" spc="-95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the</a:t>
            </a:r>
            <a:r>
              <a:rPr sz="1800" spc="-85" dirty="0">
                <a:latin typeface="Arial"/>
                <a:cs typeface="Arial"/>
              </a:rPr>
              <a:t> </a:t>
            </a:r>
            <a:r>
              <a:rPr sz="1800" spc="-55" dirty="0">
                <a:latin typeface="Arial"/>
                <a:cs typeface="Arial"/>
              </a:rPr>
              <a:t>most</a:t>
            </a:r>
            <a:r>
              <a:rPr sz="1800" spc="-105" dirty="0">
                <a:latin typeface="Arial"/>
                <a:cs typeface="Arial"/>
              </a:rPr>
              <a:t> </a:t>
            </a:r>
            <a:r>
              <a:rPr sz="1800" spc="-60" dirty="0">
                <a:latin typeface="Arial"/>
                <a:cs typeface="Arial"/>
              </a:rPr>
              <a:t>promising</a:t>
            </a:r>
            <a:r>
              <a:rPr sz="1800" spc="-90" dirty="0">
                <a:latin typeface="Arial"/>
                <a:cs typeface="Arial"/>
              </a:rPr>
              <a:t> </a:t>
            </a:r>
            <a:r>
              <a:rPr sz="1800" spc="-75" dirty="0">
                <a:latin typeface="Arial"/>
                <a:cs typeface="Arial"/>
              </a:rPr>
              <a:t>node</a:t>
            </a:r>
            <a:r>
              <a:rPr sz="1800" spc="-85" dirty="0">
                <a:latin typeface="Arial"/>
                <a:cs typeface="Arial"/>
              </a:rPr>
              <a:t> </a:t>
            </a:r>
            <a:r>
              <a:rPr sz="1800" spc="-40" dirty="0">
                <a:latin typeface="Arial"/>
                <a:cs typeface="Arial"/>
              </a:rPr>
              <a:t>(best-first)</a:t>
            </a:r>
            <a:r>
              <a:rPr sz="1800" spc="-95" dirty="0">
                <a:latin typeface="Arial"/>
                <a:cs typeface="Arial"/>
              </a:rPr>
              <a:t> </a:t>
            </a:r>
            <a:r>
              <a:rPr sz="1800" spc="20" dirty="0">
                <a:latin typeface="Arial"/>
                <a:cs typeface="Arial"/>
              </a:rPr>
              <a:t>to</a:t>
            </a:r>
            <a:r>
              <a:rPr sz="1800" spc="-105" dirty="0">
                <a:latin typeface="Arial"/>
                <a:cs typeface="Arial"/>
              </a:rPr>
              <a:t> </a:t>
            </a:r>
            <a:r>
              <a:rPr sz="1800" spc="-95" dirty="0">
                <a:latin typeface="Arial"/>
                <a:cs typeface="Arial"/>
              </a:rPr>
              <a:t>expand</a:t>
            </a:r>
            <a:r>
              <a:rPr sz="1800" spc="-85" dirty="0">
                <a:latin typeface="Arial"/>
                <a:cs typeface="Arial"/>
              </a:rPr>
              <a:t> </a:t>
            </a:r>
            <a:r>
              <a:rPr sz="1800" spc="-50" dirty="0">
                <a:latin typeface="Arial"/>
                <a:cs typeface="Arial"/>
              </a:rPr>
              <a:t>next.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850" dirty="0">
              <a:latin typeface="Arial"/>
              <a:cs typeface="Arial"/>
            </a:endParaRPr>
          </a:p>
          <a:p>
            <a:pPr marL="12700" marR="7620" algn="just">
              <a:lnSpc>
                <a:spcPct val="100000"/>
              </a:lnSpc>
            </a:pPr>
            <a:r>
              <a:rPr sz="1800" spc="-110" dirty="0">
                <a:latin typeface="Arial"/>
                <a:cs typeface="Arial"/>
              </a:rPr>
              <a:t>An </a:t>
            </a:r>
            <a:r>
              <a:rPr sz="1800" spc="-80" dirty="0">
                <a:latin typeface="Arial"/>
                <a:cs typeface="Arial"/>
              </a:rPr>
              <a:t>essential </a:t>
            </a:r>
            <a:r>
              <a:rPr sz="1800" spc="-50" dirty="0">
                <a:latin typeface="Arial"/>
                <a:cs typeface="Arial"/>
              </a:rPr>
              <a:t>element </a:t>
            </a:r>
            <a:r>
              <a:rPr sz="1800" spc="-5" dirty="0">
                <a:latin typeface="Arial"/>
                <a:cs typeface="Arial"/>
              </a:rPr>
              <a:t>of </a:t>
            </a:r>
            <a:r>
              <a:rPr sz="1800" spc="-145" dirty="0">
                <a:latin typeface="Arial"/>
                <a:cs typeface="Arial"/>
              </a:rPr>
              <a:t>B&amp;B </a:t>
            </a:r>
            <a:r>
              <a:rPr sz="1800" spc="-95" dirty="0">
                <a:latin typeface="Arial"/>
                <a:cs typeface="Arial"/>
              </a:rPr>
              <a:t>is </a:t>
            </a:r>
            <a:r>
              <a:rPr sz="1800" spc="-140" dirty="0">
                <a:latin typeface="Arial"/>
                <a:cs typeface="Arial"/>
              </a:rPr>
              <a:t>a </a:t>
            </a:r>
            <a:r>
              <a:rPr sz="1800" spc="-85" dirty="0">
                <a:latin typeface="Arial"/>
                <a:cs typeface="Arial"/>
              </a:rPr>
              <a:t>greedy way </a:t>
            </a:r>
            <a:r>
              <a:rPr sz="1800" spc="20" dirty="0">
                <a:latin typeface="Arial"/>
                <a:cs typeface="Arial"/>
              </a:rPr>
              <a:t>to </a:t>
            </a:r>
            <a:r>
              <a:rPr sz="1800" spc="-55" dirty="0">
                <a:latin typeface="Arial"/>
                <a:cs typeface="Arial"/>
              </a:rPr>
              <a:t>estimate </a:t>
            </a:r>
            <a:r>
              <a:rPr sz="1800" spc="-25" dirty="0">
                <a:latin typeface="Arial"/>
                <a:cs typeface="Arial"/>
              </a:rPr>
              <a:t>the </a:t>
            </a:r>
            <a:r>
              <a:rPr sz="1800" spc="-80" dirty="0">
                <a:latin typeface="Arial"/>
                <a:cs typeface="Arial"/>
              </a:rPr>
              <a:t>value </a:t>
            </a:r>
            <a:r>
              <a:rPr sz="1800" spc="-5" dirty="0">
                <a:latin typeface="Arial"/>
                <a:cs typeface="Arial"/>
              </a:rPr>
              <a:t>of </a:t>
            </a:r>
            <a:r>
              <a:rPr sz="1800" spc="-90" dirty="0">
                <a:latin typeface="Arial"/>
                <a:cs typeface="Arial"/>
              </a:rPr>
              <a:t>choosing </a:t>
            </a:r>
            <a:r>
              <a:rPr sz="1800" spc="-75" dirty="0">
                <a:latin typeface="Arial"/>
                <a:cs typeface="Arial"/>
              </a:rPr>
              <a:t>one </a:t>
            </a:r>
            <a:r>
              <a:rPr sz="1800" spc="-70" dirty="0">
                <a:latin typeface="Arial"/>
                <a:cs typeface="Arial"/>
              </a:rPr>
              <a:t>node  </a:t>
            </a:r>
            <a:r>
              <a:rPr sz="1800" spc="-60" dirty="0">
                <a:latin typeface="Arial"/>
                <a:cs typeface="Arial"/>
              </a:rPr>
              <a:t>over </a:t>
            </a:r>
            <a:r>
              <a:rPr sz="1800" spc="-45" dirty="0">
                <a:latin typeface="Arial"/>
                <a:cs typeface="Arial"/>
              </a:rPr>
              <a:t>another. </a:t>
            </a:r>
            <a:r>
              <a:rPr sz="1800" spc="-120" dirty="0">
                <a:latin typeface="Arial"/>
                <a:cs typeface="Arial"/>
              </a:rPr>
              <a:t>This </a:t>
            </a:r>
            <a:r>
              <a:rPr sz="1800" spc="-95" dirty="0">
                <a:latin typeface="Arial"/>
                <a:cs typeface="Arial"/>
              </a:rPr>
              <a:t>is </a:t>
            </a:r>
            <a:r>
              <a:rPr sz="1800" spc="-75" dirty="0">
                <a:latin typeface="Arial"/>
                <a:cs typeface="Arial"/>
              </a:rPr>
              <a:t>called </a:t>
            </a:r>
            <a:r>
              <a:rPr sz="1800" spc="-25" dirty="0">
                <a:latin typeface="Arial"/>
                <a:cs typeface="Arial"/>
              </a:rPr>
              <a:t>the </a:t>
            </a:r>
            <a:r>
              <a:rPr sz="1800" spc="-60" dirty="0">
                <a:latin typeface="Arial"/>
                <a:cs typeface="Arial"/>
              </a:rPr>
              <a:t>bound </a:t>
            </a:r>
            <a:r>
              <a:rPr sz="1800" spc="-20" dirty="0">
                <a:latin typeface="Arial"/>
                <a:cs typeface="Arial"/>
              </a:rPr>
              <a:t>or </a:t>
            </a:r>
            <a:r>
              <a:rPr sz="1800" spc="-65" dirty="0">
                <a:latin typeface="Arial"/>
                <a:cs typeface="Arial"/>
              </a:rPr>
              <a:t>bounding </a:t>
            </a:r>
            <a:r>
              <a:rPr sz="1800" spc="-50" dirty="0">
                <a:latin typeface="Arial"/>
                <a:cs typeface="Arial"/>
              </a:rPr>
              <a:t>heuristic. </a:t>
            </a:r>
            <a:r>
              <a:rPr sz="1800" spc="30" dirty="0">
                <a:latin typeface="Arial"/>
                <a:cs typeface="Arial"/>
              </a:rPr>
              <a:t>It </a:t>
            </a:r>
            <a:r>
              <a:rPr sz="1800" spc="-100" dirty="0">
                <a:latin typeface="Arial"/>
                <a:cs typeface="Arial"/>
              </a:rPr>
              <a:t>is </a:t>
            </a:r>
            <a:r>
              <a:rPr sz="1800" spc="-95" dirty="0">
                <a:latin typeface="Arial"/>
                <a:cs typeface="Arial"/>
              </a:rPr>
              <a:t>an </a:t>
            </a:r>
            <a:r>
              <a:rPr sz="1800" spc="-55" dirty="0">
                <a:latin typeface="Arial"/>
                <a:cs typeface="Arial"/>
              </a:rPr>
              <a:t>underestimate </a:t>
            </a:r>
            <a:r>
              <a:rPr sz="1800" spc="5" dirty="0">
                <a:latin typeface="Arial"/>
                <a:cs typeface="Arial"/>
              </a:rPr>
              <a:t>for </a:t>
            </a:r>
            <a:r>
              <a:rPr sz="1800" spc="-140" dirty="0">
                <a:latin typeface="Arial"/>
                <a:cs typeface="Arial"/>
              </a:rPr>
              <a:t>a  </a:t>
            </a:r>
            <a:r>
              <a:rPr sz="1800" spc="-45" dirty="0">
                <a:latin typeface="Arial"/>
                <a:cs typeface="Arial"/>
              </a:rPr>
              <a:t>minimal </a:t>
            </a:r>
            <a:r>
              <a:rPr sz="1800" spc="-105" dirty="0">
                <a:latin typeface="Arial"/>
                <a:cs typeface="Arial"/>
              </a:rPr>
              <a:t>search </a:t>
            </a:r>
            <a:r>
              <a:rPr sz="1800" spc="-85" dirty="0">
                <a:latin typeface="Arial"/>
                <a:cs typeface="Arial"/>
              </a:rPr>
              <a:t>and </a:t>
            </a:r>
            <a:r>
              <a:rPr sz="1800" spc="-100" dirty="0">
                <a:latin typeface="Arial"/>
                <a:cs typeface="Arial"/>
              </a:rPr>
              <a:t>an </a:t>
            </a:r>
            <a:r>
              <a:rPr sz="1800" spc="-55" dirty="0">
                <a:latin typeface="Arial"/>
                <a:cs typeface="Arial"/>
              </a:rPr>
              <a:t>overestimate </a:t>
            </a:r>
            <a:r>
              <a:rPr sz="1800" spc="5" dirty="0">
                <a:latin typeface="Arial"/>
                <a:cs typeface="Arial"/>
              </a:rPr>
              <a:t>for </a:t>
            </a:r>
            <a:r>
              <a:rPr sz="1800" spc="-140" dirty="0">
                <a:latin typeface="Arial"/>
                <a:cs typeface="Arial"/>
              </a:rPr>
              <a:t>a </a:t>
            </a:r>
            <a:r>
              <a:rPr sz="1800" spc="-75" dirty="0">
                <a:latin typeface="Arial"/>
                <a:cs typeface="Arial"/>
              </a:rPr>
              <a:t>maximal</a:t>
            </a:r>
            <a:r>
              <a:rPr sz="1800" spc="-220" dirty="0">
                <a:latin typeface="Arial"/>
                <a:cs typeface="Arial"/>
              </a:rPr>
              <a:t> </a:t>
            </a:r>
            <a:r>
              <a:rPr sz="1800" spc="-100" dirty="0">
                <a:latin typeface="Arial"/>
                <a:cs typeface="Arial"/>
              </a:rPr>
              <a:t>search.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850" dirty="0">
              <a:latin typeface="Arial"/>
              <a:cs typeface="Arial"/>
            </a:endParaRPr>
          </a:p>
          <a:p>
            <a:pPr marL="12700" marR="5080" algn="just">
              <a:lnSpc>
                <a:spcPct val="100000"/>
              </a:lnSpc>
            </a:pPr>
            <a:r>
              <a:rPr sz="1800" spc="-85" dirty="0">
                <a:latin typeface="Arial"/>
                <a:cs typeface="Arial"/>
              </a:rPr>
              <a:t>When </a:t>
            </a:r>
            <a:r>
              <a:rPr sz="1800" spc="-40" dirty="0">
                <a:latin typeface="Arial"/>
                <a:cs typeface="Arial"/>
              </a:rPr>
              <a:t>performing </a:t>
            </a:r>
            <a:r>
              <a:rPr sz="1800" spc="-140" dirty="0">
                <a:latin typeface="Arial"/>
                <a:cs typeface="Arial"/>
              </a:rPr>
              <a:t>a </a:t>
            </a:r>
            <a:r>
              <a:rPr sz="1800" spc="-30" dirty="0">
                <a:latin typeface="Arial"/>
                <a:cs typeface="Arial"/>
              </a:rPr>
              <a:t>breadth-first </a:t>
            </a:r>
            <a:r>
              <a:rPr sz="1800" spc="-60" dirty="0">
                <a:latin typeface="Arial"/>
                <a:cs typeface="Arial"/>
              </a:rPr>
              <a:t>traversal, </a:t>
            </a:r>
            <a:r>
              <a:rPr sz="1800" spc="-25" dirty="0">
                <a:latin typeface="Arial"/>
                <a:cs typeface="Arial"/>
              </a:rPr>
              <a:t>the </a:t>
            </a:r>
            <a:r>
              <a:rPr sz="1800" spc="-60" dirty="0">
                <a:latin typeface="Arial"/>
                <a:cs typeface="Arial"/>
              </a:rPr>
              <a:t>bound </a:t>
            </a:r>
            <a:r>
              <a:rPr sz="1800" spc="-95" dirty="0">
                <a:latin typeface="Arial"/>
                <a:cs typeface="Arial"/>
              </a:rPr>
              <a:t>is </a:t>
            </a:r>
            <a:r>
              <a:rPr sz="1800" spc="-105" dirty="0">
                <a:latin typeface="Arial"/>
                <a:cs typeface="Arial"/>
              </a:rPr>
              <a:t>used </a:t>
            </a:r>
            <a:r>
              <a:rPr sz="1800" spc="-50" dirty="0">
                <a:latin typeface="Arial"/>
                <a:cs typeface="Arial"/>
              </a:rPr>
              <a:t>only </a:t>
            </a:r>
            <a:r>
              <a:rPr sz="1800" spc="20" dirty="0">
                <a:latin typeface="Arial"/>
                <a:cs typeface="Arial"/>
              </a:rPr>
              <a:t>to </a:t>
            </a:r>
            <a:r>
              <a:rPr sz="1800" spc="-55" dirty="0">
                <a:latin typeface="Arial"/>
                <a:cs typeface="Arial"/>
              </a:rPr>
              <a:t>prune </a:t>
            </a:r>
            <a:r>
              <a:rPr sz="1800" spc="-25" dirty="0">
                <a:latin typeface="Arial"/>
                <a:cs typeface="Arial"/>
              </a:rPr>
              <a:t>the  </a:t>
            </a:r>
            <a:r>
              <a:rPr sz="1800" spc="-65" dirty="0">
                <a:latin typeface="Arial"/>
                <a:cs typeface="Arial"/>
              </a:rPr>
              <a:t>unpromising </a:t>
            </a:r>
            <a:r>
              <a:rPr sz="1800" spc="-95" dirty="0">
                <a:latin typeface="Arial"/>
                <a:cs typeface="Arial"/>
              </a:rPr>
              <a:t>nodes </a:t>
            </a:r>
            <a:r>
              <a:rPr sz="1800" spc="-15" dirty="0">
                <a:latin typeface="Arial"/>
                <a:cs typeface="Arial"/>
              </a:rPr>
              <a:t>from </a:t>
            </a:r>
            <a:r>
              <a:rPr sz="1800" spc="-25" dirty="0">
                <a:latin typeface="Arial"/>
                <a:cs typeface="Arial"/>
              </a:rPr>
              <a:t>the </a:t>
            </a:r>
            <a:r>
              <a:rPr sz="1800" spc="-90" dirty="0">
                <a:latin typeface="Arial"/>
                <a:cs typeface="Arial"/>
              </a:rPr>
              <a:t>state-space </a:t>
            </a:r>
            <a:r>
              <a:rPr sz="1800" spc="-30" dirty="0">
                <a:latin typeface="Arial"/>
                <a:cs typeface="Arial"/>
              </a:rPr>
              <a:t>tree. </a:t>
            </a:r>
            <a:r>
              <a:rPr sz="1800" spc="-50" dirty="0">
                <a:latin typeface="Arial"/>
                <a:cs typeface="Arial"/>
              </a:rPr>
              <a:t>In </a:t>
            </a:r>
            <a:r>
              <a:rPr sz="1800" spc="-140" dirty="0">
                <a:latin typeface="Arial"/>
                <a:cs typeface="Arial"/>
              </a:rPr>
              <a:t>a </a:t>
            </a:r>
            <a:r>
              <a:rPr sz="1800" spc="-35" dirty="0">
                <a:latin typeface="Arial"/>
                <a:cs typeface="Arial"/>
              </a:rPr>
              <a:t>best-first </a:t>
            </a:r>
            <a:r>
              <a:rPr sz="1800" spc="-60" dirty="0">
                <a:latin typeface="Arial"/>
                <a:cs typeface="Arial"/>
              </a:rPr>
              <a:t>traversal </a:t>
            </a:r>
            <a:r>
              <a:rPr sz="1800" spc="-25" dirty="0">
                <a:latin typeface="Arial"/>
                <a:cs typeface="Arial"/>
              </a:rPr>
              <a:t>the </a:t>
            </a:r>
            <a:r>
              <a:rPr sz="1800" spc="-60" dirty="0">
                <a:latin typeface="Arial"/>
                <a:cs typeface="Arial"/>
              </a:rPr>
              <a:t>bound </a:t>
            </a:r>
            <a:r>
              <a:rPr sz="1800" spc="-114" dirty="0">
                <a:latin typeface="Arial"/>
                <a:cs typeface="Arial"/>
              </a:rPr>
              <a:t>cab  </a:t>
            </a:r>
            <a:r>
              <a:rPr sz="1800" spc="-100" dirty="0">
                <a:latin typeface="Arial"/>
                <a:cs typeface="Arial"/>
              </a:rPr>
              <a:t>also </a:t>
            </a:r>
            <a:r>
              <a:rPr sz="1800" spc="-105" dirty="0">
                <a:latin typeface="Arial"/>
                <a:cs typeface="Arial"/>
              </a:rPr>
              <a:t>used </a:t>
            </a:r>
            <a:r>
              <a:rPr sz="1800" spc="25" dirty="0">
                <a:latin typeface="Arial"/>
                <a:cs typeface="Arial"/>
              </a:rPr>
              <a:t>to</a:t>
            </a:r>
            <a:r>
              <a:rPr sz="1800" spc="-385" dirty="0">
                <a:latin typeface="Arial"/>
                <a:cs typeface="Arial"/>
              </a:rPr>
              <a:t> </a:t>
            </a:r>
            <a:r>
              <a:rPr sz="1800" spc="-35" dirty="0">
                <a:latin typeface="Arial"/>
                <a:cs typeface="Arial"/>
              </a:rPr>
              <a:t>order </a:t>
            </a:r>
            <a:r>
              <a:rPr sz="1800" spc="-25" dirty="0">
                <a:latin typeface="Arial"/>
                <a:cs typeface="Arial"/>
              </a:rPr>
              <a:t>the </a:t>
            </a:r>
            <a:r>
              <a:rPr sz="1800" spc="-65" dirty="0">
                <a:latin typeface="Arial"/>
                <a:cs typeface="Arial"/>
              </a:rPr>
              <a:t>promising </a:t>
            </a:r>
            <a:r>
              <a:rPr sz="1800" spc="-100" dirty="0">
                <a:latin typeface="Arial"/>
                <a:cs typeface="Arial"/>
              </a:rPr>
              <a:t>nodes </a:t>
            </a:r>
            <a:r>
              <a:rPr sz="1800" spc="-60" dirty="0">
                <a:latin typeface="Arial"/>
                <a:cs typeface="Arial"/>
              </a:rPr>
              <a:t>on </a:t>
            </a:r>
            <a:r>
              <a:rPr sz="1800" spc="-25" dirty="0">
                <a:latin typeface="Arial"/>
                <a:cs typeface="Arial"/>
              </a:rPr>
              <a:t>the </a:t>
            </a:r>
            <a:r>
              <a:rPr sz="1800" spc="-60" dirty="0">
                <a:latin typeface="Arial"/>
                <a:cs typeface="Arial"/>
              </a:rPr>
              <a:t>live-node </a:t>
            </a:r>
            <a:r>
              <a:rPr sz="1800" spc="-30" dirty="0">
                <a:latin typeface="Arial"/>
                <a:cs typeface="Arial"/>
              </a:rPr>
              <a:t>list.</a:t>
            </a:r>
            <a:endParaRPr sz="1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34557" y="272727"/>
            <a:ext cx="8991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Traveling Salesperson B&amp;B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10869" y="962659"/>
            <a:ext cx="798830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Arial"/>
                <a:cs typeface="Arial"/>
              </a:rPr>
              <a:t>In </a:t>
            </a:r>
            <a:r>
              <a:rPr sz="1800" spc="-25" dirty="0">
                <a:latin typeface="Arial"/>
                <a:cs typeface="Arial"/>
              </a:rPr>
              <a:t>the </a:t>
            </a:r>
            <a:r>
              <a:rPr sz="1800" spc="-55" dirty="0">
                <a:latin typeface="Arial"/>
                <a:cs typeface="Arial"/>
              </a:rPr>
              <a:t>most </a:t>
            </a:r>
            <a:r>
              <a:rPr sz="1800" spc="-75" dirty="0">
                <a:latin typeface="Arial"/>
                <a:cs typeface="Arial"/>
              </a:rPr>
              <a:t>general </a:t>
            </a:r>
            <a:r>
              <a:rPr sz="1800" spc="-150" dirty="0">
                <a:latin typeface="Arial"/>
                <a:cs typeface="Arial"/>
              </a:rPr>
              <a:t>case </a:t>
            </a:r>
            <a:r>
              <a:rPr sz="1800" spc="-25" dirty="0">
                <a:latin typeface="Arial"/>
                <a:cs typeface="Arial"/>
              </a:rPr>
              <a:t>the </a:t>
            </a:r>
            <a:r>
              <a:rPr sz="1800" spc="-90" dirty="0">
                <a:latin typeface="Arial"/>
                <a:cs typeface="Arial"/>
              </a:rPr>
              <a:t>distances </a:t>
            </a:r>
            <a:r>
              <a:rPr sz="1800" spc="-55" dirty="0">
                <a:latin typeface="Arial"/>
                <a:cs typeface="Arial"/>
              </a:rPr>
              <a:t>between </a:t>
            </a:r>
            <a:r>
              <a:rPr sz="1800" spc="-114" dirty="0">
                <a:latin typeface="Arial"/>
                <a:cs typeface="Arial"/>
              </a:rPr>
              <a:t>each </a:t>
            </a:r>
            <a:r>
              <a:rPr sz="1800" spc="-45" dirty="0">
                <a:latin typeface="Arial"/>
                <a:cs typeface="Arial"/>
              </a:rPr>
              <a:t>pair </a:t>
            </a:r>
            <a:r>
              <a:rPr sz="1800" spc="-5" dirty="0">
                <a:latin typeface="Arial"/>
                <a:cs typeface="Arial"/>
              </a:rPr>
              <a:t>of </a:t>
            </a:r>
            <a:r>
              <a:rPr sz="1800" spc="-60" dirty="0">
                <a:latin typeface="Arial"/>
                <a:cs typeface="Arial"/>
              </a:rPr>
              <a:t>cities </a:t>
            </a:r>
            <a:r>
              <a:rPr sz="1800" spc="-95" dirty="0">
                <a:latin typeface="Arial"/>
                <a:cs typeface="Arial"/>
              </a:rPr>
              <a:t>is </a:t>
            </a:r>
            <a:r>
              <a:rPr sz="1800" spc="-140" dirty="0">
                <a:latin typeface="Arial"/>
                <a:cs typeface="Arial"/>
              </a:rPr>
              <a:t>a </a:t>
            </a:r>
            <a:r>
              <a:rPr sz="1800" spc="-50" dirty="0">
                <a:latin typeface="Arial"/>
                <a:cs typeface="Arial"/>
              </a:rPr>
              <a:t>positive </a:t>
            </a:r>
            <a:r>
              <a:rPr sz="1800" spc="-80" dirty="0">
                <a:latin typeface="Arial"/>
                <a:cs typeface="Arial"/>
              </a:rPr>
              <a:t>value  </a:t>
            </a:r>
            <a:r>
              <a:rPr sz="1800" spc="5" dirty="0">
                <a:latin typeface="Arial"/>
                <a:cs typeface="Arial"/>
              </a:rPr>
              <a:t>with </a:t>
            </a:r>
            <a:r>
              <a:rPr sz="1800" spc="-80" dirty="0">
                <a:latin typeface="Arial"/>
                <a:cs typeface="Arial"/>
              </a:rPr>
              <a:t>dist(A,B) </a:t>
            </a:r>
            <a:r>
              <a:rPr sz="1800" spc="15" dirty="0">
                <a:latin typeface="Arial"/>
                <a:cs typeface="Arial"/>
              </a:rPr>
              <a:t>/= </a:t>
            </a:r>
            <a:r>
              <a:rPr sz="1800" spc="-80" dirty="0">
                <a:latin typeface="Arial"/>
                <a:cs typeface="Arial"/>
              </a:rPr>
              <a:t>dist(B,A). </a:t>
            </a:r>
            <a:r>
              <a:rPr sz="1800" spc="-50" dirty="0">
                <a:latin typeface="Arial"/>
                <a:cs typeface="Arial"/>
              </a:rPr>
              <a:t>In </a:t>
            </a:r>
            <a:r>
              <a:rPr sz="1800" spc="-25" dirty="0">
                <a:latin typeface="Arial"/>
                <a:cs typeface="Arial"/>
              </a:rPr>
              <a:t>the </a:t>
            </a:r>
            <a:r>
              <a:rPr sz="1800" spc="-35" dirty="0">
                <a:latin typeface="Arial"/>
                <a:cs typeface="Arial"/>
              </a:rPr>
              <a:t>matrix </a:t>
            </a:r>
            <a:r>
              <a:rPr sz="1800" spc="-50" dirty="0">
                <a:latin typeface="Arial"/>
                <a:cs typeface="Arial"/>
              </a:rPr>
              <a:t>representation, </a:t>
            </a:r>
            <a:r>
              <a:rPr sz="1800" spc="-25" dirty="0">
                <a:latin typeface="Arial"/>
                <a:cs typeface="Arial"/>
              </a:rPr>
              <a:t>the </a:t>
            </a:r>
            <a:r>
              <a:rPr sz="1800" spc="-65" dirty="0">
                <a:latin typeface="Arial"/>
                <a:cs typeface="Arial"/>
              </a:rPr>
              <a:t>main </a:t>
            </a:r>
            <a:r>
              <a:rPr sz="1800" spc="-75" dirty="0">
                <a:latin typeface="Arial"/>
                <a:cs typeface="Arial"/>
              </a:rPr>
              <a:t>diagonal </a:t>
            </a:r>
            <a:r>
              <a:rPr sz="1800" spc="-100" dirty="0">
                <a:latin typeface="Arial"/>
                <a:cs typeface="Arial"/>
              </a:rPr>
              <a:t>values </a:t>
            </a:r>
            <a:r>
              <a:rPr sz="1800" spc="-75" dirty="0">
                <a:latin typeface="Arial"/>
                <a:cs typeface="Arial"/>
              </a:rPr>
              <a:t>are  </a:t>
            </a:r>
            <a:r>
              <a:rPr sz="1800" spc="-15" dirty="0">
                <a:latin typeface="Arial"/>
                <a:cs typeface="Arial"/>
              </a:rPr>
              <a:t>omitted </a:t>
            </a:r>
            <a:r>
              <a:rPr sz="1800" spc="-55" dirty="0">
                <a:latin typeface="Arial"/>
                <a:cs typeface="Arial"/>
              </a:rPr>
              <a:t>(i.e. </a:t>
            </a:r>
            <a:r>
              <a:rPr sz="1800" spc="-75" dirty="0">
                <a:latin typeface="Arial"/>
                <a:cs typeface="Arial"/>
              </a:rPr>
              <a:t>dist(A,A) </a:t>
            </a:r>
            <a:r>
              <a:rPr sz="1800" spc="-155" dirty="0">
                <a:latin typeface="Arial"/>
                <a:cs typeface="Arial"/>
              </a:rPr>
              <a:t>=</a:t>
            </a:r>
            <a:r>
              <a:rPr sz="1800" spc="-250" dirty="0">
                <a:latin typeface="Arial"/>
                <a:cs typeface="Arial"/>
              </a:rPr>
              <a:t> </a:t>
            </a:r>
            <a:r>
              <a:rPr sz="1800" spc="-70" dirty="0">
                <a:latin typeface="Arial"/>
                <a:cs typeface="Arial"/>
              </a:rPr>
              <a:t>0).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438400" y="2589529"/>
            <a:ext cx="6125209" cy="28676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200" y="2819400"/>
            <a:ext cx="2734310" cy="2819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85800" y="491490"/>
            <a:ext cx="7843520" cy="580415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438150">
              <a:lnSpc>
                <a:spcPct val="100000"/>
              </a:lnSpc>
              <a:spcBef>
                <a:spcPts val="100"/>
              </a:spcBef>
            </a:pPr>
            <a:r>
              <a:rPr sz="1800" b="1" i="1" spc="-110" dirty="0">
                <a:solidFill>
                  <a:srgbClr val="A50021"/>
                </a:solidFill>
                <a:latin typeface="Arial"/>
                <a:cs typeface="Arial"/>
              </a:rPr>
              <a:t>Obtaining an </a:t>
            </a:r>
            <a:r>
              <a:rPr sz="1800" b="1" i="1" spc="-60" dirty="0">
                <a:solidFill>
                  <a:srgbClr val="A50021"/>
                </a:solidFill>
                <a:latin typeface="Arial"/>
                <a:cs typeface="Arial"/>
              </a:rPr>
              <a:t>Initial </a:t>
            </a:r>
            <a:r>
              <a:rPr sz="1800" b="1" i="1" spc="-150" dirty="0">
                <a:solidFill>
                  <a:srgbClr val="A50021"/>
                </a:solidFill>
                <a:latin typeface="Arial"/>
                <a:cs typeface="Arial"/>
              </a:rPr>
              <a:t>Tour </a:t>
            </a:r>
            <a:r>
              <a:rPr sz="1800" spc="-155" dirty="0">
                <a:latin typeface="Arial"/>
                <a:cs typeface="Arial"/>
              </a:rPr>
              <a:t>Use </a:t>
            </a:r>
            <a:r>
              <a:rPr sz="1800" spc="-25" dirty="0">
                <a:latin typeface="Arial"/>
                <a:cs typeface="Arial"/>
              </a:rPr>
              <a:t>the </a:t>
            </a:r>
            <a:r>
              <a:rPr sz="1800" spc="-85" dirty="0">
                <a:latin typeface="Arial"/>
                <a:cs typeface="Arial"/>
              </a:rPr>
              <a:t>greedy </a:t>
            </a:r>
            <a:r>
              <a:rPr sz="1800" spc="-45" dirty="0">
                <a:latin typeface="Arial"/>
                <a:cs typeface="Arial"/>
              </a:rPr>
              <a:t>method </a:t>
            </a:r>
            <a:r>
              <a:rPr sz="1800" spc="20" dirty="0">
                <a:latin typeface="Arial"/>
                <a:cs typeface="Arial"/>
              </a:rPr>
              <a:t>to </a:t>
            </a:r>
            <a:r>
              <a:rPr sz="1800" spc="-15" dirty="0">
                <a:latin typeface="Arial"/>
                <a:cs typeface="Arial"/>
              </a:rPr>
              <a:t>find </a:t>
            </a:r>
            <a:r>
              <a:rPr sz="1800" spc="-100" dirty="0">
                <a:latin typeface="Arial"/>
                <a:cs typeface="Arial"/>
              </a:rPr>
              <a:t>an </a:t>
            </a:r>
            <a:r>
              <a:rPr sz="1800" spc="-10" dirty="0">
                <a:latin typeface="Arial"/>
                <a:cs typeface="Arial"/>
              </a:rPr>
              <a:t>initial </a:t>
            </a:r>
            <a:r>
              <a:rPr sz="1800" spc="-70" dirty="0">
                <a:latin typeface="Arial"/>
                <a:cs typeface="Arial"/>
              </a:rPr>
              <a:t>candidate  </a:t>
            </a:r>
            <a:r>
              <a:rPr sz="1800" spc="-10" dirty="0">
                <a:latin typeface="Arial"/>
                <a:cs typeface="Arial"/>
              </a:rPr>
              <a:t>tour. </a:t>
            </a:r>
            <a:r>
              <a:rPr sz="1800" spc="-110" dirty="0">
                <a:latin typeface="Arial"/>
                <a:cs typeface="Arial"/>
              </a:rPr>
              <a:t>We </a:t>
            </a:r>
            <a:r>
              <a:rPr sz="1800" spc="-25" dirty="0">
                <a:latin typeface="Arial"/>
                <a:cs typeface="Arial"/>
              </a:rPr>
              <a:t>start </a:t>
            </a:r>
            <a:r>
              <a:rPr sz="1800" spc="5" dirty="0">
                <a:latin typeface="Arial"/>
                <a:cs typeface="Arial"/>
              </a:rPr>
              <a:t>with </a:t>
            </a:r>
            <a:r>
              <a:rPr sz="1800" spc="-35" dirty="0">
                <a:latin typeface="Arial"/>
                <a:cs typeface="Arial"/>
              </a:rPr>
              <a:t>city </a:t>
            </a:r>
            <a:r>
              <a:rPr sz="1800" spc="-160" dirty="0">
                <a:latin typeface="Arial"/>
                <a:cs typeface="Arial"/>
              </a:rPr>
              <a:t>A </a:t>
            </a:r>
            <a:r>
              <a:rPr sz="1800" spc="-35" dirty="0">
                <a:latin typeface="Arial"/>
                <a:cs typeface="Arial"/>
              </a:rPr>
              <a:t>(arbitrary) </a:t>
            </a:r>
            <a:r>
              <a:rPr sz="1800" spc="-85" dirty="0">
                <a:latin typeface="Arial"/>
                <a:cs typeface="Arial"/>
              </a:rPr>
              <a:t>and </a:t>
            </a:r>
            <a:r>
              <a:rPr sz="1800" spc="-105" dirty="0">
                <a:latin typeface="Arial"/>
                <a:cs typeface="Arial"/>
              </a:rPr>
              <a:t>choose </a:t>
            </a:r>
            <a:r>
              <a:rPr sz="1800" spc="-25" dirty="0">
                <a:latin typeface="Arial"/>
                <a:cs typeface="Arial"/>
              </a:rPr>
              <a:t>the </a:t>
            </a:r>
            <a:r>
              <a:rPr sz="1800" spc="-85" dirty="0">
                <a:latin typeface="Arial"/>
                <a:cs typeface="Arial"/>
              </a:rPr>
              <a:t>closest </a:t>
            </a:r>
            <a:r>
              <a:rPr sz="1800" spc="-35" dirty="0">
                <a:latin typeface="Arial"/>
                <a:cs typeface="Arial"/>
              </a:rPr>
              <a:t>city </a:t>
            </a:r>
            <a:r>
              <a:rPr sz="1800" spc="-40" dirty="0">
                <a:latin typeface="Arial"/>
                <a:cs typeface="Arial"/>
              </a:rPr>
              <a:t>(in this </a:t>
            </a:r>
            <a:r>
              <a:rPr sz="1800" spc="-150" dirty="0">
                <a:latin typeface="Arial"/>
                <a:cs typeface="Arial"/>
              </a:rPr>
              <a:t>case </a:t>
            </a:r>
            <a:r>
              <a:rPr sz="1800" spc="-145" dirty="0">
                <a:latin typeface="Arial"/>
                <a:cs typeface="Arial"/>
              </a:rPr>
              <a:t>E).  </a:t>
            </a:r>
            <a:r>
              <a:rPr sz="1800" spc="-55" dirty="0">
                <a:latin typeface="Arial"/>
                <a:cs typeface="Arial"/>
              </a:rPr>
              <a:t>Moving</a:t>
            </a:r>
            <a:r>
              <a:rPr sz="1800" spc="-95" dirty="0">
                <a:latin typeface="Arial"/>
                <a:cs typeface="Arial"/>
              </a:rPr>
              <a:t> </a:t>
            </a:r>
            <a:r>
              <a:rPr sz="1800" spc="20" dirty="0">
                <a:latin typeface="Arial"/>
                <a:cs typeface="Arial"/>
              </a:rPr>
              <a:t>to</a:t>
            </a:r>
            <a:r>
              <a:rPr sz="1800" spc="-90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the</a:t>
            </a:r>
            <a:r>
              <a:rPr sz="1800" spc="-85" dirty="0">
                <a:latin typeface="Arial"/>
                <a:cs typeface="Arial"/>
              </a:rPr>
              <a:t> </a:t>
            </a:r>
            <a:r>
              <a:rPr sz="1800" spc="-55" dirty="0">
                <a:latin typeface="Arial"/>
                <a:cs typeface="Arial"/>
              </a:rPr>
              <a:t>newly</a:t>
            </a:r>
            <a:r>
              <a:rPr sz="1800" spc="-85" dirty="0">
                <a:latin typeface="Arial"/>
                <a:cs typeface="Arial"/>
              </a:rPr>
              <a:t> </a:t>
            </a:r>
            <a:r>
              <a:rPr sz="1800" spc="-105" dirty="0">
                <a:latin typeface="Arial"/>
                <a:cs typeface="Arial"/>
              </a:rPr>
              <a:t>chosen</a:t>
            </a:r>
            <a:r>
              <a:rPr sz="1800" spc="-95" dirty="0">
                <a:latin typeface="Arial"/>
                <a:cs typeface="Arial"/>
              </a:rPr>
              <a:t> </a:t>
            </a:r>
            <a:r>
              <a:rPr sz="1800" spc="-40" dirty="0">
                <a:latin typeface="Arial"/>
                <a:cs typeface="Arial"/>
              </a:rPr>
              <a:t>city,</a:t>
            </a:r>
            <a:r>
              <a:rPr sz="1800" spc="-100" dirty="0">
                <a:latin typeface="Arial"/>
                <a:cs typeface="Arial"/>
              </a:rPr>
              <a:t> </a:t>
            </a:r>
            <a:r>
              <a:rPr sz="1800" spc="-60" dirty="0">
                <a:latin typeface="Arial"/>
                <a:cs typeface="Arial"/>
              </a:rPr>
              <a:t>we</a:t>
            </a:r>
            <a:r>
              <a:rPr sz="1800" spc="-90" dirty="0">
                <a:latin typeface="Arial"/>
                <a:cs typeface="Arial"/>
              </a:rPr>
              <a:t> </a:t>
            </a:r>
            <a:r>
              <a:rPr sz="1800" spc="-100" dirty="0">
                <a:latin typeface="Arial"/>
                <a:cs typeface="Arial"/>
              </a:rPr>
              <a:t>always</a:t>
            </a:r>
            <a:r>
              <a:rPr sz="1800" spc="-85" dirty="0">
                <a:latin typeface="Arial"/>
                <a:cs typeface="Arial"/>
              </a:rPr>
              <a:t> </a:t>
            </a:r>
            <a:r>
              <a:rPr sz="1800" spc="-105" dirty="0">
                <a:latin typeface="Arial"/>
                <a:cs typeface="Arial"/>
              </a:rPr>
              <a:t>choose</a:t>
            </a:r>
            <a:r>
              <a:rPr sz="1800" spc="-85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the</a:t>
            </a:r>
            <a:r>
              <a:rPr sz="1800" spc="-85" dirty="0">
                <a:latin typeface="Arial"/>
                <a:cs typeface="Arial"/>
              </a:rPr>
              <a:t> </a:t>
            </a:r>
            <a:r>
              <a:rPr sz="1800" spc="-90" dirty="0">
                <a:latin typeface="Arial"/>
                <a:cs typeface="Arial"/>
              </a:rPr>
              <a:t>closest </a:t>
            </a:r>
            <a:r>
              <a:rPr sz="1800" spc="-35" dirty="0">
                <a:latin typeface="Arial"/>
                <a:cs typeface="Arial"/>
              </a:rPr>
              <a:t>city</a:t>
            </a:r>
            <a:r>
              <a:rPr sz="1800" spc="-9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that</a:t>
            </a:r>
            <a:r>
              <a:rPr sz="1800" spc="-90" dirty="0">
                <a:latin typeface="Arial"/>
                <a:cs typeface="Arial"/>
              </a:rPr>
              <a:t> </a:t>
            </a:r>
            <a:r>
              <a:rPr sz="1800" spc="-135" dirty="0">
                <a:latin typeface="Arial"/>
                <a:cs typeface="Arial"/>
              </a:rPr>
              <a:t>has</a:t>
            </a:r>
            <a:r>
              <a:rPr sz="1800" spc="-10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not  </a:t>
            </a:r>
            <a:r>
              <a:rPr sz="1800" spc="-30" dirty="0">
                <a:latin typeface="Arial"/>
                <a:cs typeface="Arial"/>
              </a:rPr>
              <a:t>yet </a:t>
            </a:r>
            <a:r>
              <a:rPr sz="1800" spc="-85" dirty="0">
                <a:latin typeface="Arial"/>
                <a:cs typeface="Arial"/>
              </a:rPr>
              <a:t>been </a:t>
            </a:r>
            <a:r>
              <a:rPr sz="1800" spc="-105" dirty="0">
                <a:latin typeface="Arial"/>
                <a:cs typeface="Arial"/>
              </a:rPr>
              <a:t>chosen </a:t>
            </a:r>
            <a:r>
              <a:rPr sz="1800" spc="-5" dirty="0">
                <a:latin typeface="Arial"/>
                <a:cs typeface="Arial"/>
              </a:rPr>
              <a:t>until </a:t>
            </a:r>
            <a:r>
              <a:rPr sz="1800" spc="-65" dirty="0">
                <a:latin typeface="Arial"/>
                <a:cs typeface="Arial"/>
              </a:rPr>
              <a:t>we </a:t>
            </a:r>
            <a:r>
              <a:rPr sz="1800" spc="-15" dirty="0">
                <a:latin typeface="Arial"/>
                <a:cs typeface="Arial"/>
              </a:rPr>
              <a:t>return </a:t>
            </a:r>
            <a:r>
              <a:rPr sz="1800" spc="20" dirty="0">
                <a:latin typeface="Arial"/>
                <a:cs typeface="Arial"/>
              </a:rPr>
              <a:t>to</a:t>
            </a:r>
            <a:r>
              <a:rPr sz="1800" spc="-365" dirty="0">
                <a:latin typeface="Arial"/>
                <a:cs typeface="Arial"/>
              </a:rPr>
              <a:t> </a:t>
            </a:r>
            <a:r>
              <a:rPr sz="1800" spc="-110" dirty="0">
                <a:latin typeface="Arial"/>
                <a:cs typeface="Arial"/>
              </a:rPr>
              <a:t>A.</a:t>
            </a:r>
            <a:endParaRPr sz="1800" dirty="0">
              <a:latin typeface="Arial"/>
              <a:cs typeface="Arial"/>
            </a:endParaRPr>
          </a:p>
          <a:p>
            <a:pPr marL="3442970" algn="just">
              <a:lnSpc>
                <a:spcPct val="100000"/>
              </a:lnSpc>
              <a:spcBef>
                <a:spcPts val="1550"/>
              </a:spcBef>
            </a:pPr>
            <a:r>
              <a:rPr sz="1800" spc="-85" dirty="0">
                <a:latin typeface="Arial"/>
                <a:cs typeface="Arial"/>
              </a:rPr>
              <a:t>Our </a:t>
            </a:r>
            <a:r>
              <a:rPr sz="1800" spc="-70" dirty="0">
                <a:latin typeface="Arial"/>
                <a:cs typeface="Arial"/>
              </a:rPr>
              <a:t>candidate </a:t>
            </a:r>
            <a:r>
              <a:rPr sz="1800" dirty="0">
                <a:latin typeface="Arial"/>
                <a:cs typeface="Arial"/>
              </a:rPr>
              <a:t>tour</a:t>
            </a:r>
            <a:r>
              <a:rPr sz="1800" spc="-140" dirty="0">
                <a:latin typeface="Arial"/>
                <a:cs typeface="Arial"/>
              </a:rPr>
              <a:t> </a:t>
            </a:r>
            <a:r>
              <a:rPr sz="1800" spc="-95" dirty="0">
                <a:latin typeface="Arial"/>
                <a:cs typeface="Arial"/>
              </a:rPr>
              <a:t>is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850" dirty="0">
              <a:latin typeface="Arial"/>
              <a:cs typeface="Arial"/>
            </a:endParaRPr>
          </a:p>
          <a:p>
            <a:pPr marL="4754880">
              <a:lnSpc>
                <a:spcPct val="100000"/>
              </a:lnSpc>
            </a:pPr>
            <a:r>
              <a:rPr sz="1800" spc="-150" dirty="0">
                <a:latin typeface="Arial"/>
                <a:cs typeface="Arial"/>
              </a:rPr>
              <a:t>A-E-C-G-F-D-B-H-A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850" dirty="0">
              <a:latin typeface="Arial"/>
              <a:cs typeface="Arial"/>
            </a:endParaRPr>
          </a:p>
          <a:p>
            <a:pPr marL="3442970" marR="5715" algn="just">
              <a:lnSpc>
                <a:spcPct val="100000"/>
              </a:lnSpc>
            </a:pPr>
            <a:r>
              <a:rPr sz="1800" spc="5" dirty="0">
                <a:latin typeface="Arial"/>
                <a:cs typeface="Arial"/>
              </a:rPr>
              <a:t>with </a:t>
            </a:r>
            <a:r>
              <a:rPr sz="1800" spc="-140" dirty="0">
                <a:latin typeface="Arial"/>
                <a:cs typeface="Arial"/>
              </a:rPr>
              <a:t>a </a:t>
            </a:r>
            <a:r>
              <a:rPr sz="1800" dirty="0">
                <a:latin typeface="Arial"/>
                <a:cs typeface="Arial"/>
              </a:rPr>
              <a:t>tour </a:t>
            </a:r>
            <a:r>
              <a:rPr sz="1800" spc="-45" dirty="0">
                <a:latin typeface="Arial"/>
                <a:cs typeface="Arial"/>
              </a:rPr>
              <a:t>length </a:t>
            </a:r>
            <a:r>
              <a:rPr sz="1800" spc="-10" dirty="0">
                <a:latin typeface="Arial"/>
                <a:cs typeface="Arial"/>
              </a:rPr>
              <a:t>of </a:t>
            </a:r>
            <a:r>
              <a:rPr sz="1800" spc="-75" dirty="0">
                <a:latin typeface="Arial"/>
                <a:cs typeface="Arial"/>
              </a:rPr>
              <a:t>28. </a:t>
            </a:r>
            <a:r>
              <a:rPr sz="1800" spc="-105" dirty="0">
                <a:latin typeface="Arial"/>
                <a:cs typeface="Arial"/>
              </a:rPr>
              <a:t>We </a:t>
            </a:r>
            <a:r>
              <a:rPr sz="1800" spc="-55" dirty="0">
                <a:latin typeface="Arial"/>
                <a:cs typeface="Arial"/>
              </a:rPr>
              <a:t>know </a:t>
            </a:r>
            <a:r>
              <a:rPr sz="1800" dirty="0">
                <a:latin typeface="Arial"/>
                <a:cs typeface="Arial"/>
              </a:rPr>
              <a:t>that </a:t>
            </a:r>
            <a:r>
              <a:rPr sz="1800" spc="-140" dirty="0">
                <a:latin typeface="Arial"/>
                <a:cs typeface="Arial"/>
              </a:rPr>
              <a:t>a  </a:t>
            </a:r>
            <a:r>
              <a:rPr sz="1800" spc="-45" dirty="0">
                <a:latin typeface="Arial"/>
                <a:cs typeface="Arial"/>
              </a:rPr>
              <a:t>minimal</a:t>
            </a:r>
            <a:r>
              <a:rPr sz="1800" spc="-1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tour</a:t>
            </a:r>
            <a:r>
              <a:rPr sz="1800" spc="-10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will</a:t>
            </a:r>
            <a:r>
              <a:rPr sz="1800" spc="-105" dirty="0">
                <a:latin typeface="Arial"/>
                <a:cs typeface="Arial"/>
              </a:rPr>
              <a:t> </a:t>
            </a:r>
            <a:r>
              <a:rPr sz="1800" spc="-85" dirty="0">
                <a:latin typeface="Arial"/>
                <a:cs typeface="Arial"/>
              </a:rPr>
              <a:t>be</a:t>
            </a:r>
            <a:r>
              <a:rPr sz="1800" spc="-90" dirty="0">
                <a:latin typeface="Arial"/>
                <a:cs typeface="Arial"/>
              </a:rPr>
              <a:t> </a:t>
            </a:r>
            <a:r>
              <a:rPr sz="1800" spc="-55" dirty="0">
                <a:latin typeface="Arial"/>
                <a:cs typeface="Arial"/>
              </a:rPr>
              <a:t>no</a:t>
            </a:r>
            <a:r>
              <a:rPr sz="1800" spc="-95" dirty="0">
                <a:latin typeface="Arial"/>
                <a:cs typeface="Arial"/>
              </a:rPr>
              <a:t> </a:t>
            </a:r>
            <a:r>
              <a:rPr sz="1800" spc="-55" dirty="0">
                <a:latin typeface="Arial"/>
                <a:cs typeface="Arial"/>
              </a:rPr>
              <a:t>greater</a:t>
            </a:r>
            <a:r>
              <a:rPr sz="1800" spc="-100" dirty="0">
                <a:latin typeface="Arial"/>
                <a:cs typeface="Arial"/>
              </a:rPr>
              <a:t> </a:t>
            </a:r>
            <a:r>
              <a:rPr sz="1800" spc="-40" dirty="0">
                <a:latin typeface="Arial"/>
                <a:cs typeface="Arial"/>
              </a:rPr>
              <a:t>than</a:t>
            </a:r>
            <a:r>
              <a:rPr sz="1800" spc="-100" dirty="0">
                <a:latin typeface="Arial"/>
                <a:cs typeface="Arial"/>
              </a:rPr>
              <a:t> </a:t>
            </a:r>
            <a:r>
              <a:rPr sz="1800" spc="-40" dirty="0">
                <a:latin typeface="Arial"/>
                <a:cs typeface="Arial"/>
              </a:rPr>
              <a:t>this.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850" dirty="0">
              <a:latin typeface="Arial"/>
              <a:cs typeface="Arial"/>
            </a:endParaRPr>
          </a:p>
          <a:p>
            <a:pPr marL="3442970" marR="5080" algn="just">
              <a:lnSpc>
                <a:spcPct val="100000"/>
              </a:lnSpc>
            </a:pPr>
            <a:r>
              <a:rPr sz="1800" spc="25" dirty="0">
                <a:latin typeface="Arial"/>
                <a:cs typeface="Arial"/>
              </a:rPr>
              <a:t>It </a:t>
            </a:r>
            <a:r>
              <a:rPr sz="1800" spc="-100" dirty="0">
                <a:latin typeface="Arial"/>
                <a:cs typeface="Arial"/>
              </a:rPr>
              <a:t>is </a:t>
            </a:r>
            <a:r>
              <a:rPr sz="1800" spc="-20" dirty="0">
                <a:latin typeface="Arial"/>
                <a:cs typeface="Arial"/>
              </a:rPr>
              <a:t>important </a:t>
            </a:r>
            <a:r>
              <a:rPr sz="1800" spc="20" dirty="0">
                <a:latin typeface="Arial"/>
                <a:cs typeface="Arial"/>
              </a:rPr>
              <a:t>to </a:t>
            </a:r>
            <a:r>
              <a:rPr sz="1800" spc="-65" dirty="0">
                <a:latin typeface="Arial"/>
                <a:cs typeface="Arial"/>
              </a:rPr>
              <a:t>understand </a:t>
            </a:r>
            <a:r>
              <a:rPr sz="1800" dirty="0">
                <a:latin typeface="Arial"/>
                <a:cs typeface="Arial"/>
              </a:rPr>
              <a:t>that </a:t>
            </a:r>
            <a:r>
              <a:rPr sz="1800" spc="-25" dirty="0">
                <a:latin typeface="Arial"/>
                <a:cs typeface="Arial"/>
              </a:rPr>
              <a:t>the </a:t>
            </a:r>
            <a:r>
              <a:rPr sz="1800" spc="-10" dirty="0">
                <a:latin typeface="Arial"/>
                <a:cs typeface="Arial"/>
              </a:rPr>
              <a:t>initial  </a:t>
            </a:r>
            <a:r>
              <a:rPr sz="1800" spc="-70" dirty="0">
                <a:latin typeface="Arial"/>
                <a:cs typeface="Arial"/>
              </a:rPr>
              <a:t>candidate </a:t>
            </a:r>
            <a:r>
              <a:rPr sz="1800" dirty="0">
                <a:latin typeface="Arial"/>
                <a:cs typeface="Arial"/>
              </a:rPr>
              <a:t>tour </a:t>
            </a:r>
            <a:r>
              <a:rPr sz="1800" spc="-100" dirty="0">
                <a:latin typeface="Arial"/>
                <a:cs typeface="Arial"/>
              </a:rPr>
              <a:t>is </a:t>
            </a:r>
            <a:r>
              <a:rPr sz="1800" spc="-5" dirty="0">
                <a:latin typeface="Arial"/>
                <a:cs typeface="Arial"/>
              </a:rPr>
              <a:t>not </a:t>
            </a:r>
            <a:r>
              <a:rPr sz="1800" spc="-95" dirty="0">
                <a:latin typeface="Arial"/>
                <a:cs typeface="Arial"/>
              </a:rPr>
              <a:t>necessarily </a:t>
            </a:r>
            <a:r>
              <a:rPr sz="1800" spc="-140" dirty="0">
                <a:latin typeface="Arial"/>
                <a:cs typeface="Arial"/>
              </a:rPr>
              <a:t>a </a:t>
            </a:r>
            <a:r>
              <a:rPr sz="1800" spc="-45" dirty="0">
                <a:latin typeface="Arial"/>
                <a:cs typeface="Arial"/>
              </a:rPr>
              <a:t>minimal  </a:t>
            </a:r>
            <a:r>
              <a:rPr sz="1800" dirty="0">
                <a:latin typeface="Arial"/>
                <a:cs typeface="Arial"/>
              </a:rPr>
              <a:t>tour </a:t>
            </a:r>
            <a:r>
              <a:rPr sz="1800" spc="-35" dirty="0">
                <a:latin typeface="Arial"/>
                <a:cs typeface="Arial"/>
              </a:rPr>
              <a:t>nor </a:t>
            </a:r>
            <a:r>
              <a:rPr sz="1800" spc="-100" dirty="0">
                <a:latin typeface="Arial"/>
                <a:cs typeface="Arial"/>
              </a:rPr>
              <a:t>is </a:t>
            </a:r>
            <a:r>
              <a:rPr sz="1800" spc="55" dirty="0">
                <a:latin typeface="Arial"/>
                <a:cs typeface="Arial"/>
              </a:rPr>
              <a:t>it</a:t>
            </a:r>
            <a:r>
              <a:rPr sz="1800" spc="-260" dirty="0">
                <a:latin typeface="Arial"/>
                <a:cs typeface="Arial"/>
              </a:rPr>
              <a:t> </a:t>
            </a:r>
            <a:r>
              <a:rPr sz="1800" spc="-55" dirty="0">
                <a:latin typeface="Arial"/>
                <a:cs typeface="Arial"/>
              </a:rPr>
              <a:t>unique.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850" dirty="0">
              <a:latin typeface="Arial"/>
              <a:cs typeface="Arial"/>
            </a:endParaRPr>
          </a:p>
          <a:p>
            <a:pPr marL="3442970" algn="just">
              <a:lnSpc>
                <a:spcPct val="100000"/>
              </a:lnSpc>
            </a:pPr>
            <a:r>
              <a:rPr sz="1800" spc="-5" dirty="0">
                <a:latin typeface="Arial"/>
                <a:cs typeface="Arial"/>
              </a:rPr>
              <a:t>If</a:t>
            </a:r>
            <a:r>
              <a:rPr sz="1800" spc="-90" dirty="0">
                <a:latin typeface="Arial"/>
                <a:cs typeface="Arial"/>
              </a:rPr>
              <a:t> </a:t>
            </a:r>
            <a:r>
              <a:rPr sz="1800" spc="-65" dirty="0">
                <a:latin typeface="Arial"/>
                <a:cs typeface="Arial"/>
              </a:rPr>
              <a:t>we</a:t>
            </a:r>
            <a:r>
              <a:rPr sz="1800" spc="-95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start</a:t>
            </a:r>
            <a:r>
              <a:rPr sz="1800" spc="-95" dirty="0">
                <a:latin typeface="Arial"/>
                <a:cs typeface="Arial"/>
              </a:rPr>
              <a:t> </a:t>
            </a:r>
            <a:r>
              <a:rPr sz="1800" spc="5" dirty="0">
                <a:latin typeface="Arial"/>
                <a:cs typeface="Arial"/>
              </a:rPr>
              <a:t>with</a:t>
            </a:r>
            <a:r>
              <a:rPr sz="1800" spc="-95" dirty="0">
                <a:latin typeface="Arial"/>
                <a:cs typeface="Arial"/>
              </a:rPr>
              <a:t> </a:t>
            </a:r>
            <a:r>
              <a:rPr sz="1800" spc="-35" dirty="0">
                <a:latin typeface="Arial"/>
                <a:cs typeface="Arial"/>
              </a:rPr>
              <a:t>city</a:t>
            </a:r>
            <a:r>
              <a:rPr sz="1800" spc="-95" dirty="0">
                <a:latin typeface="Arial"/>
                <a:cs typeface="Arial"/>
              </a:rPr>
              <a:t> </a:t>
            </a:r>
            <a:r>
              <a:rPr sz="1800" spc="-325" dirty="0">
                <a:latin typeface="Arial"/>
                <a:cs typeface="Arial"/>
              </a:rPr>
              <a:t>E</a:t>
            </a:r>
            <a:r>
              <a:rPr sz="1800" spc="-280" dirty="0">
                <a:latin typeface="Arial"/>
                <a:cs typeface="Arial"/>
              </a:rPr>
              <a:t> </a:t>
            </a:r>
            <a:r>
              <a:rPr sz="1800" spc="5" dirty="0">
                <a:latin typeface="Arial"/>
                <a:cs typeface="Arial"/>
              </a:rPr>
              <a:t>for</a:t>
            </a:r>
            <a:r>
              <a:rPr sz="1800" spc="-105" dirty="0">
                <a:latin typeface="Arial"/>
                <a:cs typeface="Arial"/>
              </a:rPr>
              <a:t> </a:t>
            </a:r>
            <a:r>
              <a:rPr sz="1800" spc="-80" dirty="0">
                <a:latin typeface="Arial"/>
                <a:cs typeface="Arial"/>
              </a:rPr>
              <a:t>example,</a:t>
            </a:r>
            <a:r>
              <a:rPr sz="1800" spc="-110" dirty="0">
                <a:latin typeface="Arial"/>
                <a:cs typeface="Arial"/>
              </a:rPr>
              <a:t> </a:t>
            </a:r>
            <a:r>
              <a:rPr sz="1800" spc="-60" dirty="0">
                <a:latin typeface="Arial"/>
                <a:cs typeface="Arial"/>
              </a:rPr>
              <a:t>we</a:t>
            </a:r>
            <a:r>
              <a:rPr sz="1800" spc="-100" dirty="0">
                <a:latin typeface="Arial"/>
                <a:cs typeface="Arial"/>
              </a:rPr>
              <a:t> </a:t>
            </a:r>
            <a:r>
              <a:rPr sz="1800" spc="-90" dirty="0">
                <a:latin typeface="Arial"/>
                <a:cs typeface="Arial"/>
              </a:rPr>
              <a:t>have,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850" dirty="0">
              <a:latin typeface="Arial"/>
              <a:cs typeface="Arial"/>
            </a:endParaRPr>
          </a:p>
          <a:p>
            <a:pPr marL="4766310">
              <a:lnSpc>
                <a:spcPct val="100000"/>
              </a:lnSpc>
            </a:pPr>
            <a:r>
              <a:rPr sz="1800" spc="-165" dirty="0">
                <a:latin typeface="Arial"/>
                <a:cs typeface="Arial"/>
              </a:rPr>
              <a:t>E-A-B-H-C-G-F-D-E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850" dirty="0">
              <a:latin typeface="Arial"/>
              <a:cs typeface="Arial"/>
            </a:endParaRPr>
          </a:p>
          <a:p>
            <a:pPr marL="3442970" algn="just">
              <a:lnSpc>
                <a:spcPct val="100000"/>
              </a:lnSpc>
            </a:pPr>
            <a:r>
              <a:rPr sz="1800" spc="5" dirty="0">
                <a:latin typeface="Arial"/>
                <a:cs typeface="Arial"/>
              </a:rPr>
              <a:t>with </a:t>
            </a:r>
            <a:r>
              <a:rPr sz="1800" spc="-140" dirty="0">
                <a:latin typeface="Arial"/>
                <a:cs typeface="Arial"/>
              </a:rPr>
              <a:t>a </a:t>
            </a:r>
            <a:r>
              <a:rPr sz="1800" spc="-45" dirty="0">
                <a:latin typeface="Arial"/>
                <a:cs typeface="Arial"/>
              </a:rPr>
              <a:t>length </a:t>
            </a:r>
            <a:r>
              <a:rPr sz="1800" spc="-5" dirty="0">
                <a:latin typeface="Arial"/>
                <a:cs typeface="Arial"/>
              </a:rPr>
              <a:t>of</a:t>
            </a:r>
            <a:r>
              <a:rPr sz="1800" spc="-210" dirty="0">
                <a:latin typeface="Arial"/>
                <a:cs typeface="Arial"/>
              </a:rPr>
              <a:t> </a:t>
            </a:r>
            <a:r>
              <a:rPr sz="1800" spc="-95" dirty="0">
                <a:latin typeface="Arial"/>
                <a:cs typeface="Arial"/>
              </a:rPr>
              <a:t>30</a:t>
            </a:r>
            <a:endParaRPr sz="1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4800" y="218915"/>
            <a:ext cx="87630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Defining a Bounding Heuristic</a:t>
            </a:r>
          </a:p>
        </p:txBody>
      </p:sp>
      <p:sp>
        <p:nvSpPr>
          <p:cNvPr id="4" name="object 4"/>
          <p:cNvSpPr/>
          <p:nvPr/>
        </p:nvSpPr>
        <p:spPr>
          <a:xfrm>
            <a:off x="304800" y="1522730"/>
            <a:ext cx="3429000" cy="34772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116070" y="1557020"/>
            <a:ext cx="4565650" cy="441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spc="-75" dirty="0">
                <a:latin typeface="Arial"/>
                <a:cs typeface="Arial"/>
              </a:rPr>
              <a:t>Now </a:t>
            </a:r>
            <a:r>
              <a:rPr sz="1800" spc="-60" dirty="0">
                <a:latin typeface="Arial"/>
                <a:cs typeface="Arial"/>
              </a:rPr>
              <a:t>we </a:t>
            </a:r>
            <a:r>
              <a:rPr sz="1800" spc="-55" dirty="0">
                <a:latin typeface="Arial"/>
                <a:cs typeface="Arial"/>
              </a:rPr>
              <a:t>must </a:t>
            </a:r>
            <a:r>
              <a:rPr sz="1800" spc="-50" dirty="0">
                <a:latin typeface="Arial"/>
                <a:cs typeface="Arial"/>
              </a:rPr>
              <a:t>define </a:t>
            </a:r>
            <a:r>
              <a:rPr sz="1800" spc="-140" dirty="0">
                <a:latin typeface="Arial"/>
                <a:cs typeface="Arial"/>
              </a:rPr>
              <a:t>a </a:t>
            </a:r>
            <a:r>
              <a:rPr sz="1800" spc="-65" dirty="0">
                <a:latin typeface="Arial"/>
                <a:cs typeface="Arial"/>
              </a:rPr>
              <a:t>bounding </a:t>
            </a:r>
            <a:r>
              <a:rPr sz="1800" spc="-50" dirty="0">
                <a:latin typeface="Arial"/>
                <a:cs typeface="Arial"/>
              </a:rPr>
              <a:t>heuristic </a:t>
            </a:r>
            <a:r>
              <a:rPr sz="1800" dirty="0">
                <a:latin typeface="Arial"/>
                <a:cs typeface="Arial"/>
              </a:rPr>
              <a:t>that  </a:t>
            </a:r>
            <a:r>
              <a:rPr sz="1800" spc="-70" dirty="0">
                <a:latin typeface="Arial"/>
                <a:cs typeface="Arial"/>
              </a:rPr>
              <a:t>provides </a:t>
            </a:r>
            <a:r>
              <a:rPr sz="1800" spc="-95" dirty="0">
                <a:latin typeface="Arial"/>
                <a:cs typeface="Arial"/>
              </a:rPr>
              <a:t>an </a:t>
            </a:r>
            <a:r>
              <a:rPr sz="1800" spc="-55" dirty="0">
                <a:latin typeface="Arial"/>
                <a:cs typeface="Arial"/>
              </a:rPr>
              <a:t>underestimate </a:t>
            </a:r>
            <a:r>
              <a:rPr sz="1800" spc="-5" dirty="0">
                <a:latin typeface="Arial"/>
                <a:cs typeface="Arial"/>
              </a:rPr>
              <a:t>of </a:t>
            </a:r>
            <a:r>
              <a:rPr sz="1800" spc="-25" dirty="0">
                <a:latin typeface="Arial"/>
                <a:cs typeface="Arial"/>
              </a:rPr>
              <a:t>the </a:t>
            </a:r>
            <a:r>
              <a:rPr sz="1800" spc="-80" dirty="0">
                <a:latin typeface="Arial"/>
                <a:cs typeface="Arial"/>
              </a:rPr>
              <a:t>cost </a:t>
            </a:r>
            <a:r>
              <a:rPr sz="1800" spc="25" dirty="0">
                <a:latin typeface="Arial"/>
                <a:cs typeface="Arial"/>
              </a:rPr>
              <a:t>to  </a:t>
            </a:r>
            <a:r>
              <a:rPr sz="1800" spc="-55" dirty="0">
                <a:latin typeface="Arial"/>
                <a:cs typeface="Arial"/>
              </a:rPr>
              <a:t>complete </a:t>
            </a:r>
            <a:r>
              <a:rPr sz="1800" spc="-140" dirty="0">
                <a:latin typeface="Arial"/>
                <a:cs typeface="Arial"/>
              </a:rPr>
              <a:t>a </a:t>
            </a:r>
            <a:r>
              <a:rPr sz="1800" dirty="0">
                <a:latin typeface="Arial"/>
                <a:cs typeface="Arial"/>
              </a:rPr>
              <a:t>tour </a:t>
            </a:r>
            <a:r>
              <a:rPr sz="1800" spc="-15" dirty="0">
                <a:latin typeface="Arial"/>
                <a:cs typeface="Arial"/>
              </a:rPr>
              <a:t>from </a:t>
            </a:r>
            <a:r>
              <a:rPr sz="1800" spc="-95" dirty="0">
                <a:latin typeface="Arial"/>
                <a:cs typeface="Arial"/>
              </a:rPr>
              <a:t>any </a:t>
            </a:r>
            <a:r>
              <a:rPr sz="1800" spc="-75" dirty="0">
                <a:latin typeface="Arial"/>
                <a:cs typeface="Arial"/>
              </a:rPr>
              <a:t>node </a:t>
            </a:r>
            <a:r>
              <a:rPr sz="1800" spc="-95" dirty="0">
                <a:latin typeface="Arial"/>
                <a:cs typeface="Arial"/>
              </a:rPr>
              <a:t>using </a:t>
            </a:r>
            <a:r>
              <a:rPr sz="1800" spc="-65" dirty="0">
                <a:latin typeface="Arial"/>
                <a:cs typeface="Arial"/>
              </a:rPr>
              <a:t>local  </a:t>
            </a:r>
            <a:r>
              <a:rPr sz="1800" spc="-25" dirty="0">
                <a:latin typeface="Arial"/>
                <a:cs typeface="Arial"/>
              </a:rPr>
              <a:t>information. </a:t>
            </a:r>
            <a:r>
              <a:rPr sz="1800" spc="-55" dirty="0">
                <a:latin typeface="Arial"/>
                <a:cs typeface="Arial"/>
              </a:rPr>
              <a:t>In </a:t>
            </a:r>
            <a:r>
              <a:rPr sz="1800" spc="-40" dirty="0">
                <a:latin typeface="Arial"/>
                <a:cs typeface="Arial"/>
              </a:rPr>
              <a:t>this </a:t>
            </a:r>
            <a:r>
              <a:rPr sz="1800" spc="-85" dirty="0">
                <a:latin typeface="Arial"/>
                <a:cs typeface="Arial"/>
              </a:rPr>
              <a:t>example </a:t>
            </a:r>
            <a:r>
              <a:rPr sz="1800" spc="-60" dirty="0">
                <a:latin typeface="Arial"/>
                <a:cs typeface="Arial"/>
              </a:rPr>
              <a:t>we </a:t>
            </a:r>
            <a:r>
              <a:rPr sz="1800" spc="-105" dirty="0">
                <a:latin typeface="Arial"/>
                <a:cs typeface="Arial"/>
              </a:rPr>
              <a:t>choose </a:t>
            </a:r>
            <a:r>
              <a:rPr sz="1800" spc="20" dirty="0">
                <a:latin typeface="Arial"/>
                <a:cs typeface="Arial"/>
              </a:rPr>
              <a:t>to </a:t>
            </a:r>
            <a:r>
              <a:rPr sz="1800" spc="-120" dirty="0">
                <a:latin typeface="Arial"/>
                <a:cs typeface="Arial"/>
              </a:rPr>
              <a:t>use  </a:t>
            </a:r>
            <a:r>
              <a:rPr sz="1800" spc="-25" dirty="0">
                <a:latin typeface="Arial"/>
                <a:cs typeface="Arial"/>
              </a:rPr>
              <a:t>the </a:t>
            </a:r>
            <a:r>
              <a:rPr sz="1800" spc="-65" dirty="0">
                <a:latin typeface="Arial"/>
                <a:cs typeface="Arial"/>
              </a:rPr>
              <a:t>actual </a:t>
            </a:r>
            <a:r>
              <a:rPr sz="1800" spc="-80" dirty="0">
                <a:latin typeface="Arial"/>
                <a:cs typeface="Arial"/>
              </a:rPr>
              <a:t>cost </a:t>
            </a:r>
            <a:r>
              <a:rPr sz="1800" spc="25" dirty="0">
                <a:latin typeface="Arial"/>
                <a:cs typeface="Arial"/>
              </a:rPr>
              <a:t>to </a:t>
            </a:r>
            <a:r>
              <a:rPr sz="1800" spc="-90" dirty="0">
                <a:latin typeface="Arial"/>
                <a:cs typeface="Arial"/>
              </a:rPr>
              <a:t>reach </a:t>
            </a:r>
            <a:r>
              <a:rPr sz="1800" spc="-140" dirty="0">
                <a:latin typeface="Arial"/>
                <a:cs typeface="Arial"/>
              </a:rPr>
              <a:t>a </a:t>
            </a:r>
            <a:r>
              <a:rPr sz="1800" spc="-70" dirty="0">
                <a:latin typeface="Arial"/>
                <a:cs typeface="Arial"/>
              </a:rPr>
              <a:t>node </a:t>
            </a:r>
            <a:r>
              <a:rPr sz="1800" spc="-75" dirty="0">
                <a:latin typeface="Arial"/>
                <a:cs typeface="Arial"/>
              </a:rPr>
              <a:t>plus </a:t>
            </a:r>
            <a:r>
              <a:rPr sz="1800" spc="-25" dirty="0">
                <a:latin typeface="Arial"/>
                <a:cs typeface="Arial"/>
              </a:rPr>
              <a:t>the  </a:t>
            </a:r>
            <a:r>
              <a:rPr sz="1800" spc="-45" dirty="0">
                <a:latin typeface="Arial"/>
                <a:cs typeface="Arial"/>
              </a:rPr>
              <a:t>minimum </a:t>
            </a:r>
            <a:r>
              <a:rPr sz="1800" spc="-75" dirty="0">
                <a:latin typeface="Arial"/>
                <a:cs typeface="Arial"/>
              </a:rPr>
              <a:t>cost </a:t>
            </a:r>
            <a:r>
              <a:rPr sz="1800" spc="-15" dirty="0">
                <a:latin typeface="Arial"/>
                <a:cs typeface="Arial"/>
              </a:rPr>
              <a:t>from </a:t>
            </a:r>
            <a:r>
              <a:rPr sz="1800" spc="-75" dirty="0">
                <a:latin typeface="Arial"/>
                <a:cs typeface="Arial"/>
              </a:rPr>
              <a:t>every </a:t>
            </a:r>
            <a:r>
              <a:rPr sz="1800" spc="-65" dirty="0">
                <a:latin typeface="Arial"/>
                <a:cs typeface="Arial"/>
              </a:rPr>
              <a:t>remaining </a:t>
            </a:r>
            <a:r>
              <a:rPr sz="1800" spc="-70" dirty="0">
                <a:latin typeface="Arial"/>
                <a:cs typeface="Arial"/>
              </a:rPr>
              <a:t>node </a:t>
            </a:r>
            <a:r>
              <a:rPr sz="1800" spc="-170" dirty="0">
                <a:latin typeface="Arial"/>
                <a:cs typeface="Arial"/>
              </a:rPr>
              <a:t>as</a:t>
            </a:r>
            <a:r>
              <a:rPr sz="1800" spc="-285" dirty="0">
                <a:latin typeface="Arial"/>
                <a:cs typeface="Arial"/>
              </a:rPr>
              <a:t> </a:t>
            </a:r>
            <a:r>
              <a:rPr sz="1800" spc="-30" dirty="0">
                <a:latin typeface="Arial"/>
                <a:cs typeface="Arial"/>
              </a:rPr>
              <a:t>our  </a:t>
            </a:r>
            <a:r>
              <a:rPr sz="1800" spc="-65" dirty="0">
                <a:latin typeface="Arial"/>
                <a:cs typeface="Arial"/>
              </a:rPr>
              <a:t>bounding</a:t>
            </a:r>
            <a:r>
              <a:rPr sz="1800" spc="-105" dirty="0">
                <a:latin typeface="Arial"/>
                <a:cs typeface="Arial"/>
              </a:rPr>
              <a:t> </a:t>
            </a:r>
            <a:r>
              <a:rPr sz="1800" spc="-50" dirty="0">
                <a:latin typeface="Arial"/>
                <a:cs typeface="Arial"/>
              </a:rPr>
              <a:t>heuristic.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850">
              <a:latin typeface="Arial"/>
              <a:cs typeface="Arial"/>
            </a:endParaRPr>
          </a:p>
          <a:p>
            <a:pPr marR="39370" algn="ctr">
              <a:lnSpc>
                <a:spcPct val="100000"/>
              </a:lnSpc>
            </a:pPr>
            <a:r>
              <a:rPr sz="1800" i="1" spc="-10" dirty="0">
                <a:latin typeface="Carlito"/>
                <a:cs typeface="Carlito"/>
              </a:rPr>
              <a:t>h(x) </a:t>
            </a:r>
            <a:r>
              <a:rPr sz="1800" i="1" dirty="0">
                <a:latin typeface="Carlito"/>
                <a:cs typeface="Carlito"/>
              </a:rPr>
              <a:t>= </a:t>
            </a:r>
            <a:r>
              <a:rPr sz="1800" i="1" spc="-10" dirty="0">
                <a:latin typeface="Carlito"/>
                <a:cs typeface="Carlito"/>
              </a:rPr>
              <a:t>a(x) </a:t>
            </a:r>
            <a:r>
              <a:rPr sz="1800" i="1" dirty="0">
                <a:latin typeface="Carlito"/>
                <a:cs typeface="Carlito"/>
              </a:rPr>
              <a:t>+ </a:t>
            </a:r>
            <a:r>
              <a:rPr sz="1800" i="1" spc="-10" dirty="0">
                <a:latin typeface="Carlito"/>
                <a:cs typeface="Carlito"/>
              </a:rPr>
              <a:t>g(x)</a:t>
            </a:r>
            <a:endParaRPr sz="18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750">
              <a:latin typeface="Carlito"/>
              <a:cs typeface="Carlito"/>
            </a:endParaRPr>
          </a:p>
          <a:p>
            <a:pPr marL="737235">
              <a:lnSpc>
                <a:spcPct val="100000"/>
              </a:lnSpc>
            </a:pPr>
            <a:r>
              <a:rPr sz="1800" spc="-100" dirty="0">
                <a:latin typeface="Arial"/>
                <a:cs typeface="Arial"/>
              </a:rPr>
              <a:t>a(x) </a:t>
            </a:r>
            <a:r>
              <a:rPr sz="1800" spc="-50" dirty="0">
                <a:latin typeface="Arial"/>
                <a:cs typeface="Arial"/>
              </a:rPr>
              <a:t>- </a:t>
            </a:r>
            <a:r>
              <a:rPr sz="1800" spc="-65" dirty="0">
                <a:latin typeface="Arial"/>
                <a:cs typeface="Arial"/>
              </a:rPr>
              <a:t>actual </a:t>
            </a:r>
            <a:r>
              <a:rPr sz="1800" spc="-80" dirty="0">
                <a:latin typeface="Arial"/>
                <a:cs typeface="Arial"/>
              </a:rPr>
              <a:t>cost </a:t>
            </a:r>
            <a:r>
              <a:rPr sz="1800" spc="20" dirty="0">
                <a:latin typeface="Arial"/>
                <a:cs typeface="Arial"/>
              </a:rPr>
              <a:t>to </a:t>
            </a:r>
            <a:r>
              <a:rPr sz="1800" spc="-70" dirty="0">
                <a:latin typeface="Arial"/>
                <a:cs typeface="Arial"/>
              </a:rPr>
              <a:t>node</a:t>
            </a:r>
            <a:r>
              <a:rPr sz="1800" spc="-315" dirty="0">
                <a:latin typeface="Arial"/>
                <a:cs typeface="Arial"/>
              </a:rPr>
              <a:t> </a:t>
            </a:r>
            <a:r>
              <a:rPr sz="1800" spc="-125" dirty="0">
                <a:latin typeface="Arial"/>
                <a:cs typeface="Arial"/>
              </a:rPr>
              <a:t>x</a:t>
            </a:r>
            <a:endParaRPr sz="1800">
              <a:latin typeface="Arial"/>
              <a:cs typeface="Arial"/>
            </a:endParaRPr>
          </a:p>
          <a:p>
            <a:pPr marL="737235">
              <a:lnSpc>
                <a:spcPct val="100000"/>
              </a:lnSpc>
            </a:pPr>
            <a:r>
              <a:rPr sz="1800" spc="-100" dirty="0">
                <a:latin typeface="Arial"/>
                <a:cs typeface="Arial"/>
              </a:rPr>
              <a:t>g(x) </a:t>
            </a:r>
            <a:r>
              <a:rPr sz="1800" spc="-50" dirty="0">
                <a:latin typeface="Arial"/>
                <a:cs typeface="Arial"/>
              </a:rPr>
              <a:t>- </a:t>
            </a:r>
            <a:r>
              <a:rPr sz="1800" spc="-45" dirty="0">
                <a:latin typeface="Arial"/>
                <a:cs typeface="Arial"/>
              </a:rPr>
              <a:t>minimum </a:t>
            </a:r>
            <a:r>
              <a:rPr sz="1800" spc="-80" dirty="0">
                <a:latin typeface="Arial"/>
                <a:cs typeface="Arial"/>
              </a:rPr>
              <a:t>cost </a:t>
            </a:r>
            <a:r>
              <a:rPr sz="1800" spc="20" dirty="0">
                <a:latin typeface="Arial"/>
                <a:cs typeface="Arial"/>
              </a:rPr>
              <a:t>to</a:t>
            </a:r>
            <a:r>
              <a:rPr sz="1800" spc="-210" dirty="0">
                <a:latin typeface="Arial"/>
                <a:cs typeface="Arial"/>
              </a:rPr>
              <a:t> </a:t>
            </a:r>
            <a:r>
              <a:rPr sz="1800" spc="-60" dirty="0">
                <a:latin typeface="Arial"/>
                <a:cs typeface="Arial"/>
              </a:rPr>
              <a:t>complete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850">
              <a:latin typeface="Arial"/>
              <a:cs typeface="Arial"/>
            </a:endParaRPr>
          </a:p>
          <a:p>
            <a:pPr marL="12700" marR="5080" algn="just">
              <a:lnSpc>
                <a:spcPct val="100000"/>
              </a:lnSpc>
              <a:spcBef>
                <a:spcPts val="5"/>
              </a:spcBef>
            </a:pPr>
            <a:r>
              <a:rPr sz="1800" spc="-140" dirty="0">
                <a:latin typeface="Arial"/>
                <a:cs typeface="Arial"/>
              </a:rPr>
              <a:t>Since </a:t>
            </a:r>
            <a:r>
              <a:rPr sz="1800" spc="-60" dirty="0">
                <a:latin typeface="Arial"/>
                <a:cs typeface="Arial"/>
              </a:rPr>
              <a:t>we </a:t>
            </a:r>
            <a:r>
              <a:rPr sz="1800" spc="-55" dirty="0">
                <a:latin typeface="Arial"/>
                <a:cs typeface="Arial"/>
              </a:rPr>
              <a:t>know </a:t>
            </a:r>
            <a:r>
              <a:rPr sz="1800" spc="-25" dirty="0">
                <a:latin typeface="Arial"/>
                <a:cs typeface="Arial"/>
              </a:rPr>
              <a:t>the </a:t>
            </a:r>
            <a:r>
              <a:rPr sz="1800" spc="-45" dirty="0">
                <a:latin typeface="Arial"/>
                <a:cs typeface="Arial"/>
              </a:rPr>
              <a:t>minimum </a:t>
            </a:r>
            <a:r>
              <a:rPr sz="1800" spc="-80" dirty="0">
                <a:latin typeface="Arial"/>
                <a:cs typeface="Arial"/>
              </a:rPr>
              <a:t>cost </a:t>
            </a:r>
            <a:r>
              <a:rPr sz="1800" spc="-15" dirty="0">
                <a:latin typeface="Arial"/>
                <a:cs typeface="Arial"/>
              </a:rPr>
              <a:t>from </a:t>
            </a:r>
            <a:r>
              <a:rPr sz="1800" spc="-114" dirty="0">
                <a:latin typeface="Arial"/>
                <a:cs typeface="Arial"/>
              </a:rPr>
              <a:t>each  </a:t>
            </a:r>
            <a:r>
              <a:rPr sz="1800" spc="-75" dirty="0">
                <a:latin typeface="Arial"/>
                <a:cs typeface="Arial"/>
              </a:rPr>
              <a:t>node </a:t>
            </a:r>
            <a:r>
              <a:rPr sz="1800" spc="20" dirty="0">
                <a:latin typeface="Arial"/>
                <a:cs typeface="Arial"/>
              </a:rPr>
              <a:t>to </a:t>
            </a:r>
            <a:r>
              <a:rPr sz="1800" spc="-70" dirty="0">
                <a:latin typeface="Arial"/>
                <a:cs typeface="Arial"/>
              </a:rPr>
              <a:t>anywhere </a:t>
            </a:r>
            <a:r>
              <a:rPr sz="1800" spc="-65" dirty="0">
                <a:latin typeface="Arial"/>
                <a:cs typeface="Arial"/>
              </a:rPr>
              <a:t>we </a:t>
            </a:r>
            <a:r>
              <a:rPr sz="1800" spc="-55" dirty="0">
                <a:latin typeface="Arial"/>
                <a:cs typeface="Arial"/>
              </a:rPr>
              <a:t>know </a:t>
            </a:r>
            <a:r>
              <a:rPr sz="1800" dirty="0">
                <a:latin typeface="Arial"/>
                <a:cs typeface="Arial"/>
              </a:rPr>
              <a:t>that </a:t>
            </a:r>
            <a:r>
              <a:rPr sz="1800" spc="-25" dirty="0">
                <a:latin typeface="Arial"/>
                <a:cs typeface="Arial"/>
              </a:rPr>
              <a:t>the </a:t>
            </a:r>
            <a:r>
              <a:rPr sz="1800" spc="-45" dirty="0">
                <a:latin typeface="Arial"/>
                <a:cs typeface="Arial"/>
              </a:rPr>
              <a:t>minimal  </a:t>
            </a:r>
            <a:r>
              <a:rPr sz="1800" dirty="0">
                <a:latin typeface="Arial"/>
                <a:cs typeface="Arial"/>
              </a:rPr>
              <a:t>tour </a:t>
            </a:r>
            <a:r>
              <a:rPr sz="1800" spc="-65" dirty="0">
                <a:latin typeface="Arial"/>
                <a:cs typeface="Arial"/>
              </a:rPr>
              <a:t>cannot </a:t>
            </a:r>
            <a:r>
              <a:rPr sz="1800" spc="-90" dirty="0">
                <a:latin typeface="Arial"/>
                <a:cs typeface="Arial"/>
              </a:rPr>
              <a:t>be </a:t>
            </a:r>
            <a:r>
              <a:rPr sz="1800" spc="-125" dirty="0">
                <a:latin typeface="Arial"/>
                <a:cs typeface="Arial"/>
              </a:rPr>
              <a:t>less </a:t>
            </a:r>
            <a:r>
              <a:rPr sz="1800" spc="-40" dirty="0">
                <a:latin typeface="Arial"/>
                <a:cs typeface="Arial"/>
              </a:rPr>
              <a:t>than</a:t>
            </a:r>
            <a:r>
              <a:rPr sz="1800" spc="-200" dirty="0">
                <a:latin typeface="Arial"/>
                <a:cs typeface="Arial"/>
              </a:rPr>
              <a:t> </a:t>
            </a:r>
            <a:r>
              <a:rPr sz="1800" spc="-80" dirty="0">
                <a:latin typeface="Arial"/>
                <a:cs typeface="Arial"/>
              </a:rPr>
              <a:t>25.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85800" y="296384"/>
            <a:ext cx="7542531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Finding the Minimal Tour</a:t>
            </a:r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15669" y="1040129"/>
            <a:ext cx="7680959" cy="1671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8125" indent="-226060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238760" algn="l"/>
              </a:tabLst>
            </a:pPr>
            <a:r>
              <a:rPr sz="1800" spc="-65" dirty="0">
                <a:latin typeface="Arial"/>
                <a:cs typeface="Arial"/>
              </a:rPr>
              <a:t>Starting</a:t>
            </a:r>
            <a:r>
              <a:rPr sz="1800" spc="-85" dirty="0">
                <a:latin typeface="Arial"/>
                <a:cs typeface="Arial"/>
              </a:rPr>
              <a:t> </a:t>
            </a:r>
            <a:r>
              <a:rPr sz="1800" spc="5" dirty="0">
                <a:latin typeface="Arial"/>
                <a:cs typeface="Arial"/>
              </a:rPr>
              <a:t>with</a:t>
            </a:r>
            <a:r>
              <a:rPr sz="1800" spc="-100" dirty="0">
                <a:latin typeface="Arial"/>
                <a:cs typeface="Arial"/>
              </a:rPr>
              <a:t> </a:t>
            </a:r>
            <a:r>
              <a:rPr sz="1800" spc="-70" dirty="0">
                <a:latin typeface="Arial"/>
                <a:cs typeface="Arial"/>
              </a:rPr>
              <a:t>node</a:t>
            </a:r>
            <a:r>
              <a:rPr sz="1800" spc="-95" dirty="0">
                <a:latin typeface="Arial"/>
                <a:cs typeface="Arial"/>
              </a:rPr>
              <a:t> </a:t>
            </a:r>
            <a:r>
              <a:rPr sz="1800" spc="-160" dirty="0">
                <a:latin typeface="Arial"/>
                <a:cs typeface="Arial"/>
              </a:rPr>
              <a:t>A</a:t>
            </a:r>
            <a:r>
              <a:rPr sz="1800" spc="-90" dirty="0">
                <a:latin typeface="Arial"/>
                <a:cs typeface="Arial"/>
              </a:rPr>
              <a:t> </a:t>
            </a:r>
            <a:r>
              <a:rPr sz="1800" spc="-45" dirty="0">
                <a:latin typeface="Arial"/>
                <a:cs typeface="Arial"/>
              </a:rPr>
              <a:t>determine</a:t>
            </a:r>
            <a:r>
              <a:rPr sz="1800" spc="-85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the</a:t>
            </a:r>
            <a:r>
              <a:rPr sz="1800" spc="-90" dirty="0">
                <a:latin typeface="Arial"/>
                <a:cs typeface="Arial"/>
              </a:rPr>
              <a:t> </a:t>
            </a:r>
            <a:r>
              <a:rPr sz="1800" spc="-65" dirty="0">
                <a:latin typeface="Arial"/>
                <a:cs typeface="Arial"/>
              </a:rPr>
              <a:t>actual</a:t>
            </a:r>
            <a:r>
              <a:rPr sz="1800" spc="-90" dirty="0">
                <a:latin typeface="Arial"/>
                <a:cs typeface="Arial"/>
              </a:rPr>
              <a:t> </a:t>
            </a:r>
            <a:r>
              <a:rPr sz="1800" spc="-80" dirty="0">
                <a:latin typeface="Arial"/>
                <a:cs typeface="Arial"/>
              </a:rPr>
              <a:t>cost</a:t>
            </a:r>
            <a:r>
              <a:rPr sz="1800" spc="-95" dirty="0">
                <a:latin typeface="Arial"/>
                <a:cs typeface="Arial"/>
              </a:rPr>
              <a:t> </a:t>
            </a:r>
            <a:r>
              <a:rPr sz="1800" spc="20" dirty="0">
                <a:latin typeface="Arial"/>
                <a:cs typeface="Arial"/>
              </a:rPr>
              <a:t>to</a:t>
            </a:r>
            <a:r>
              <a:rPr sz="1800" spc="-100" dirty="0">
                <a:latin typeface="Arial"/>
                <a:cs typeface="Arial"/>
              </a:rPr>
              <a:t> </a:t>
            </a:r>
            <a:r>
              <a:rPr sz="1800" spc="-114" dirty="0">
                <a:latin typeface="Arial"/>
                <a:cs typeface="Arial"/>
              </a:rPr>
              <a:t>each</a:t>
            </a:r>
            <a:r>
              <a:rPr sz="1800" spc="-9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of</a:t>
            </a:r>
            <a:r>
              <a:rPr sz="1800" spc="-95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the</a:t>
            </a:r>
            <a:r>
              <a:rPr sz="1800" spc="-95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other</a:t>
            </a:r>
            <a:r>
              <a:rPr sz="1800" spc="-100" dirty="0">
                <a:latin typeface="Arial"/>
                <a:cs typeface="Arial"/>
              </a:rPr>
              <a:t> </a:t>
            </a:r>
            <a:r>
              <a:rPr sz="1800" spc="-90" dirty="0">
                <a:latin typeface="Arial"/>
                <a:cs typeface="Arial"/>
              </a:rPr>
              <a:t>nodes.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Arial"/>
              <a:buAutoNum type="arabicPeriod"/>
            </a:pPr>
            <a:endParaRPr sz="1850">
              <a:latin typeface="Arial"/>
              <a:cs typeface="Arial"/>
            </a:endParaRPr>
          </a:p>
          <a:p>
            <a:pPr marL="238125" indent="-226060">
              <a:lnSpc>
                <a:spcPct val="100000"/>
              </a:lnSpc>
              <a:buAutoNum type="arabicPeriod"/>
              <a:tabLst>
                <a:tab pos="238760" algn="l"/>
              </a:tabLst>
            </a:pPr>
            <a:r>
              <a:rPr sz="1800" spc="-75" dirty="0">
                <a:latin typeface="Arial"/>
                <a:cs typeface="Arial"/>
              </a:rPr>
              <a:t>Now</a:t>
            </a:r>
            <a:r>
              <a:rPr sz="1800" spc="-100" dirty="0">
                <a:latin typeface="Arial"/>
                <a:cs typeface="Arial"/>
              </a:rPr>
              <a:t> </a:t>
            </a:r>
            <a:r>
              <a:rPr sz="1800" spc="-60" dirty="0">
                <a:latin typeface="Arial"/>
                <a:cs typeface="Arial"/>
              </a:rPr>
              <a:t>compute</a:t>
            </a:r>
            <a:r>
              <a:rPr sz="1800" spc="-90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the</a:t>
            </a:r>
            <a:r>
              <a:rPr sz="1800" spc="-90" dirty="0">
                <a:latin typeface="Arial"/>
                <a:cs typeface="Arial"/>
              </a:rPr>
              <a:t> </a:t>
            </a:r>
            <a:r>
              <a:rPr sz="1800" spc="-45" dirty="0">
                <a:latin typeface="Arial"/>
                <a:cs typeface="Arial"/>
              </a:rPr>
              <a:t>minimum</a:t>
            </a:r>
            <a:r>
              <a:rPr sz="1800" spc="-90" dirty="0">
                <a:latin typeface="Arial"/>
                <a:cs typeface="Arial"/>
              </a:rPr>
              <a:t> </a:t>
            </a:r>
            <a:r>
              <a:rPr sz="1800" spc="-80" dirty="0">
                <a:latin typeface="Arial"/>
                <a:cs typeface="Arial"/>
              </a:rPr>
              <a:t>cost</a:t>
            </a:r>
            <a:r>
              <a:rPr sz="1800" spc="-95" dirty="0">
                <a:latin typeface="Arial"/>
                <a:cs typeface="Arial"/>
              </a:rPr>
              <a:t> </a:t>
            </a:r>
            <a:r>
              <a:rPr sz="1800" spc="-15" dirty="0">
                <a:latin typeface="Arial"/>
                <a:cs typeface="Arial"/>
              </a:rPr>
              <a:t>from</a:t>
            </a:r>
            <a:r>
              <a:rPr sz="1800" spc="-95" dirty="0">
                <a:latin typeface="Arial"/>
                <a:cs typeface="Arial"/>
              </a:rPr>
              <a:t> </a:t>
            </a:r>
            <a:r>
              <a:rPr sz="1800" spc="-75" dirty="0">
                <a:latin typeface="Arial"/>
                <a:cs typeface="Arial"/>
              </a:rPr>
              <a:t>every</a:t>
            </a:r>
            <a:r>
              <a:rPr sz="1800" spc="-100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other</a:t>
            </a:r>
            <a:r>
              <a:rPr sz="1800" spc="-95" dirty="0">
                <a:latin typeface="Arial"/>
                <a:cs typeface="Arial"/>
              </a:rPr>
              <a:t> </a:t>
            </a:r>
            <a:r>
              <a:rPr sz="1800" spc="-70" dirty="0">
                <a:latin typeface="Arial"/>
                <a:cs typeface="Arial"/>
              </a:rPr>
              <a:t>node</a:t>
            </a:r>
            <a:r>
              <a:rPr sz="1800" spc="-90" dirty="0">
                <a:latin typeface="Arial"/>
                <a:cs typeface="Arial"/>
              </a:rPr>
              <a:t> 25-4=21.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Arial"/>
              <a:buAutoNum type="arabicPeriod"/>
            </a:pPr>
            <a:endParaRPr sz="185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buAutoNum type="arabicPeriod"/>
              <a:tabLst>
                <a:tab pos="248920" algn="l"/>
              </a:tabLst>
            </a:pPr>
            <a:r>
              <a:rPr sz="1800" spc="-95" dirty="0">
                <a:latin typeface="Arial"/>
                <a:cs typeface="Arial"/>
              </a:rPr>
              <a:t>Add </a:t>
            </a:r>
            <a:r>
              <a:rPr sz="1800" spc="-25" dirty="0">
                <a:latin typeface="Arial"/>
                <a:cs typeface="Arial"/>
              </a:rPr>
              <a:t>the </a:t>
            </a:r>
            <a:r>
              <a:rPr sz="1800" spc="-65" dirty="0">
                <a:latin typeface="Arial"/>
                <a:cs typeface="Arial"/>
              </a:rPr>
              <a:t>actual </a:t>
            </a:r>
            <a:r>
              <a:rPr sz="1800" spc="-75" dirty="0">
                <a:latin typeface="Arial"/>
                <a:cs typeface="Arial"/>
              </a:rPr>
              <a:t>cost </a:t>
            </a:r>
            <a:r>
              <a:rPr sz="1800" spc="20" dirty="0">
                <a:latin typeface="Arial"/>
                <a:cs typeface="Arial"/>
              </a:rPr>
              <a:t>to </a:t>
            </a:r>
            <a:r>
              <a:rPr sz="1800" spc="-140" dirty="0">
                <a:latin typeface="Arial"/>
                <a:cs typeface="Arial"/>
              </a:rPr>
              <a:t>a </a:t>
            </a:r>
            <a:r>
              <a:rPr sz="1800" spc="-75" dirty="0">
                <a:latin typeface="Arial"/>
                <a:cs typeface="Arial"/>
              </a:rPr>
              <a:t>node </a:t>
            </a:r>
            <a:r>
              <a:rPr sz="1800" spc="-95" dirty="0">
                <a:latin typeface="Arial"/>
                <a:cs typeface="Arial"/>
              </a:rPr>
              <a:t>a(x) </a:t>
            </a:r>
            <a:r>
              <a:rPr sz="1800" spc="20" dirty="0">
                <a:latin typeface="Arial"/>
                <a:cs typeface="Arial"/>
              </a:rPr>
              <a:t>to </a:t>
            </a:r>
            <a:r>
              <a:rPr sz="1800" spc="-25" dirty="0">
                <a:latin typeface="Arial"/>
                <a:cs typeface="Arial"/>
              </a:rPr>
              <a:t>the </a:t>
            </a:r>
            <a:r>
              <a:rPr sz="1800" spc="-45" dirty="0">
                <a:latin typeface="Arial"/>
                <a:cs typeface="Arial"/>
              </a:rPr>
              <a:t>minimum </a:t>
            </a:r>
            <a:r>
              <a:rPr sz="1800" spc="-80" dirty="0">
                <a:latin typeface="Arial"/>
                <a:cs typeface="Arial"/>
              </a:rPr>
              <a:t>cost </a:t>
            </a:r>
            <a:r>
              <a:rPr sz="1800" spc="-15" dirty="0">
                <a:latin typeface="Arial"/>
                <a:cs typeface="Arial"/>
              </a:rPr>
              <a:t>from </a:t>
            </a:r>
            <a:r>
              <a:rPr sz="1800" spc="-75" dirty="0">
                <a:latin typeface="Arial"/>
                <a:cs typeface="Arial"/>
              </a:rPr>
              <a:t>every </a:t>
            </a:r>
            <a:r>
              <a:rPr sz="1800" spc="-20" dirty="0">
                <a:latin typeface="Arial"/>
                <a:cs typeface="Arial"/>
              </a:rPr>
              <a:t>other </a:t>
            </a:r>
            <a:r>
              <a:rPr sz="1800" spc="-70" dirty="0">
                <a:latin typeface="Arial"/>
                <a:cs typeface="Arial"/>
              </a:rPr>
              <a:t>node  </a:t>
            </a:r>
            <a:r>
              <a:rPr sz="1800" spc="20" dirty="0">
                <a:latin typeface="Arial"/>
                <a:cs typeface="Arial"/>
              </a:rPr>
              <a:t>to</a:t>
            </a:r>
            <a:r>
              <a:rPr sz="1800" spc="-105" dirty="0">
                <a:latin typeface="Arial"/>
                <a:cs typeface="Arial"/>
              </a:rPr>
              <a:t> </a:t>
            </a:r>
            <a:r>
              <a:rPr sz="1800" spc="-45" dirty="0">
                <a:latin typeface="Arial"/>
                <a:cs typeface="Arial"/>
              </a:rPr>
              <a:t>determine</a:t>
            </a:r>
            <a:r>
              <a:rPr sz="1800" spc="-90" dirty="0">
                <a:latin typeface="Arial"/>
                <a:cs typeface="Arial"/>
              </a:rPr>
              <a:t> </a:t>
            </a:r>
            <a:r>
              <a:rPr sz="1800" spc="-140" dirty="0">
                <a:latin typeface="Arial"/>
                <a:cs typeface="Arial"/>
              </a:rPr>
              <a:t>a</a:t>
            </a:r>
            <a:r>
              <a:rPr sz="1800" spc="-95" dirty="0">
                <a:latin typeface="Arial"/>
                <a:cs typeface="Arial"/>
              </a:rPr>
              <a:t> </a:t>
            </a:r>
            <a:r>
              <a:rPr sz="1800" spc="-30" dirty="0">
                <a:latin typeface="Arial"/>
                <a:cs typeface="Arial"/>
              </a:rPr>
              <a:t>lower</a:t>
            </a:r>
            <a:r>
              <a:rPr sz="1800" spc="-100" dirty="0">
                <a:latin typeface="Arial"/>
                <a:cs typeface="Arial"/>
              </a:rPr>
              <a:t> </a:t>
            </a:r>
            <a:r>
              <a:rPr sz="1800" spc="-60" dirty="0">
                <a:latin typeface="Arial"/>
                <a:cs typeface="Arial"/>
              </a:rPr>
              <a:t>bound</a:t>
            </a:r>
            <a:r>
              <a:rPr sz="1800" spc="-90" dirty="0">
                <a:latin typeface="Arial"/>
                <a:cs typeface="Arial"/>
              </a:rPr>
              <a:t> </a:t>
            </a:r>
            <a:r>
              <a:rPr sz="1800" spc="5" dirty="0">
                <a:latin typeface="Arial"/>
                <a:cs typeface="Arial"/>
              </a:rPr>
              <a:t>for</a:t>
            </a:r>
            <a:r>
              <a:rPr sz="1800" spc="-100" dirty="0">
                <a:latin typeface="Arial"/>
                <a:cs typeface="Arial"/>
              </a:rPr>
              <a:t> </a:t>
            </a:r>
            <a:r>
              <a:rPr sz="1800" spc="-40" dirty="0">
                <a:latin typeface="Arial"/>
                <a:cs typeface="Arial"/>
              </a:rPr>
              <a:t>tours</a:t>
            </a:r>
            <a:r>
              <a:rPr sz="1800" spc="-90" dirty="0">
                <a:latin typeface="Arial"/>
                <a:cs typeface="Arial"/>
              </a:rPr>
              <a:t> </a:t>
            </a:r>
            <a:r>
              <a:rPr sz="1800" spc="-15" dirty="0">
                <a:latin typeface="Arial"/>
                <a:cs typeface="Arial"/>
              </a:rPr>
              <a:t>from</a:t>
            </a:r>
            <a:r>
              <a:rPr sz="1800" spc="-90" dirty="0">
                <a:latin typeface="Arial"/>
                <a:cs typeface="Arial"/>
              </a:rPr>
              <a:t> </a:t>
            </a:r>
            <a:r>
              <a:rPr sz="1800" spc="-160" dirty="0">
                <a:latin typeface="Arial"/>
                <a:cs typeface="Arial"/>
              </a:rPr>
              <a:t>A</a:t>
            </a:r>
            <a:r>
              <a:rPr sz="1800" spc="-95" dirty="0">
                <a:latin typeface="Arial"/>
                <a:cs typeface="Arial"/>
              </a:rPr>
              <a:t> </a:t>
            </a:r>
            <a:r>
              <a:rPr sz="1800" spc="-40" dirty="0">
                <a:latin typeface="Arial"/>
                <a:cs typeface="Arial"/>
              </a:rPr>
              <a:t>through</a:t>
            </a:r>
            <a:r>
              <a:rPr sz="1800" spc="-100" dirty="0">
                <a:latin typeface="Arial"/>
                <a:cs typeface="Arial"/>
              </a:rPr>
              <a:t> </a:t>
            </a:r>
            <a:r>
              <a:rPr sz="1800" spc="-150" dirty="0">
                <a:latin typeface="Arial"/>
                <a:cs typeface="Arial"/>
              </a:rPr>
              <a:t>B,C,.</a:t>
            </a:r>
            <a:r>
              <a:rPr sz="1800" spc="-90" dirty="0">
                <a:latin typeface="Arial"/>
                <a:cs typeface="Arial"/>
              </a:rPr>
              <a:t> </a:t>
            </a:r>
            <a:r>
              <a:rPr sz="1800" spc="-50" dirty="0">
                <a:latin typeface="Arial"/>
                <a:cs typeface="Arial"/>
              </a:rPr>
              <a:t>.</a:t>
            </a:r>
            <a:r>
              <a:rPr sz="1800" spc="-100" dirty="0">
                <a:latin typeface="Arial"/>
                <a:cs typeface="Arial"/>
              </a:rPr>
              <a:t> </a:t>
            </a:r>
            <a:r>
              <a:rPr sz="1800" spc="-55" dirty="0">
                <a:latin typeface="Arial"/>
                <a:cs typeface="Arial"/>
              </a:rPr>
              <a:t>.,</a:t>
            </a:r>
            <a:r>
              <a:rPr sz="1800" spc="-95" dirty="0">
                <a:latin typeface="Arial"/>
                <a:cs typeface="Arial"/>
              </a:rPr>
              <a:t> </a:t>
            </a:r>
            <a:r>
              <a:rPr sz="1800" spc="-120" dirty="0">
                <a:latin typeface="Arial"/>
                <a:cs typeface="Arial"/>
              </a:rPr>
              <a:t>H.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5669" y="4880609"/>
            <a:ext cx="768350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spc="-70" dirty="0">
                <a:latin typeface="Arial"/>
                <a:cs typeface="Arial"/>
              </a:rPr>
              <a:t>4. </a:t>
            </a:r>
            <a:r>
              <a:rPr sz="1800" spc="-140" dirty="0">
                <a:latin typeface="Arial"/>
                <a:cs typeface="Arial"/>
              </a:rPr>
              <a:t>Since </a:t>
            </a:r>
            <a:r>
              <a:rPr sz="1800" spc="-65" dirty="0">
                <a:latin typeface="Arial"/>
                <a:cs typeface="Arial"/>
              </a:rPr>
              <a:t>we </a:t>
            </a:r>
            <a:r>
              <a:rPr sz="1800" spc="-75" dirty="0">
                <a:latin typeface="Arial"/>
                <a:cs typeface="Arial"/>
              </a:rPr>
              <a:t>already </a:t>
            </a:r>
            <a:r>
              <a:rPr sz="1800" spc="-100" dirty="0">
                <a:latin typeface="Arial"/>
                <a:cs typeface="Arial"/>
              </a:rPr>
              <a:t>have </a:t>
            </a:r>
            <a:r>
              <a:rPr sz="1800" spc="-140" dirty="0">
                <a:latin typeface="Arial"/>
                <a:cs typeface="Arial"/>
              </a:rPr>
              <a:t>a </a:t>
            </a:r>
            <a:r>
              <a:rPr sz="1800" spc="-70" dirty="0">
                <a:latin typeface="Arial"/>
                <a:cs typeface="Arial"/>
              </a:rPr>
              <a:t>candidate </a:t>
            </a:r>
            <a:r>
              <a:rPr sz="1800" dirty="0">
                <a:latin typeface="Arial"/>
                <a:cs typeface="Arial"/>
              </a:rPr>
              <a:t>tour </a:t>
            </a:r>
            <a:r>
              <a:rPr sz="1800" spc="-5" dirty="0">
                <a:latin typeface="Arial"/>
                <a:cs typeface="Arial"/>
              </a:rPr>
              <a:t>of </a:t>
            </a:r>
            <a:r>
              <a:rPr sz="1800" spc="-95" dirty="0">
                <a:latin typeface="Arial"/>
                <a:cs typeface="Arial"/>
              </a:rPr>
              <a:t>28 </a:t>
            </a:r>
            <a:r>
              <a:rPr sz="1800" spc="-60" dirty="0">
                <a:latin typeface="Arial"/>
                <a:cs typeface="Arial"/>
              </a:rPr>
              <a:t>we </a:t>
            </a:r>
            <a:r>
              <a:rPr sz="1800" spc="-114" dirty="0">
                <a:latin typeface="Arial"/>
                <a:cs typeface="Arial"/>
              </a:rPr>
              <a:t>can </a:t>
            </a:r>
            <a:r>
              <a:rPr sz="1800" spc="-55" dirty="0">
                <a:latin typeface="Arial"/>
                <a:cs typeface="Arial"/>
              </a:rPr>
              <a:t>prune </a:t>
            </a:r>
            <a:r>
              <a:rPr sz="1800" spc="-40" dirty="0">
                <a:latin typeface="Arial"/>
                <a:cs typeface="Arial"/>
              </a:rPr>
              <a:t>all </a:t>
            </a:r>
            <a:r>
              <a:rPr sz="1800" spc="-95" dirty="0">
                <a:latin typeface="Arial"/>
                <a:cs typeface="Arial"/>
              </a:rPr>
              <a:t>branches </a:t>
            </a:r>
            <a:r>
              <a:rPr sz="1800" spc="5" dirty="0">
                <a:latin typeface="Arial"/>
                <a:cs typeface="Arial"/>
              </a:rPr>
              <a:t>with </a:t>
            </a:r>
            <a:r>
              <a:rPr sz="1800" spc="-140" dirty="0">
                <a:latin typeface="Arial"/>
                <a:cs typeface="Arial"/>
              </a:rPr>
              <a:t>a  </a:t>
            </a:r>
            <a:r>
              <a:rPr sz="1800" spc="-50" dirty="0">
                <a:latin typeface="Arial"/>
                <a:cs typeface="Arial"/>
              </a:rPr>
              <a:t>lower-bound </a:t>
            </a:r>
            <a:r>
              <a:rPr sz="1800" dirty="0">
                <a:latin typeface="Arial"/>
                <a:cs typeface="Arial"/>
              </a:rPr>
              <a:t>that </a:t>
            </a:r>
            <a:r>
              <a:rPr sz="1800" spc="-100" dirty="0">
                <a:latin typeface="Arial"/>
                <a:cs typeface="Arial"/>
              </a:rPr>
              <a:t>is </a:t>
            </a:r>
            <a:r>
              <a:rPr sz="1800" spc="-170" dirty="0">
                <a:latin typeface="Arial"/>
                <a:cs typeface="Arial"/>
              </a:rPr>
              <a:t>? </a:t>
            </a:r>
            <a:r>
              <a:rPr sz="1800" spc="-75" dirty="0">
                <a:latin typeface="Arial"/>
                <a:cs typeface="Arial"/>
              </a:rPr>
              <a:t>28. </a:t>
            </a:r>
            <a:r>
              <a:rPr sz="1800" spc="-120" dirty="0">
                <a:latin typeface="Arial"/>
                <a:cs typeface="Arial"/>
              </a:rPr>
              <a:t>This </a:t>
            </a:r>
            <a:r>
              <a:rPr sz="1800" spc="-105" dirty="0">
                <a:latin typeface="Arial"/>
                <a:cs typeface="Arial"/>
              </a:rPr>
              <a:t>leaves </a:t>
            </a:r>
            <a:r>
              <a:rPr sz="1800" spc="-135" dirty="0">
                <a:latin typeface="Arial"/>
                <a:cs typeface="Arial"/>
              </a:rPr>
              <a:t>B, </a:t>
            </a:r>
            <a:r>
              <a:rPr sz="1800" spc="-195" dirty="0">
                <a:latin typeface="Arial"/>
                <a:cs typeface="Arial"/>
              </a:rPr>
              <a:t>D </a:t>
            </a:r>
            <a:r>
              <a:rPr sz="1800" spc="-85" dirty="0">
                <a:latin typeface="Arial"/>
                <a:cs typeface="Arial"/>
              </a:rPr>
              <a:t>and </a:t>
            </a:r>
            <a:r>
              <a:rPr sz="1800" spc="-325" dirty="0">
                <a:latin typeface="Arial"/>
                <a:cs typeface="Arial"/>
              </a:rPr>
              <a:t>E </a:t>
            </a:r>
            <a:r>
              <a:rPr sz="1800" spc="-170" dirty="0">
                <a:latin typeface="Arial"/>
                <a:cs typeface="Arial"/>
              </a:rPr>
              <a:t>as </a:t>
            </a:r>
            <a:r>
              <a:rPr sz="1800" spc="-25" dirty="0">
                <a:latin typeface="Arial"/>
                <a:cs typeface="Arial"/>
              </a:rPr>
              <a:t>the </a:t>
            </a:r>
            <a:r>
              <a:rPr sz="1800" spc="-50" dirty="0">
                <a:latin typeface="Arial"/>
                <a:cs typeface="Arial"/>
              </a:rPr>
              <a:t>only </a:t>
            </a:r>
            <a:r>
              <a:rPr sz="1800" spc="-65" dirty="0">
                <a:latin typeface="Arial"/>
                <a:cs typeface="Arial"/>
              </a:rPr>
              <a:t>promising </a:t>
            </a:r>
            <a:r>
              <a:rPr sz="1800" spc="-90" dirty="0">
                <a:latin typeface="Arial"/>
                <a:cs typeface="Arial"/>
              </a:rPr>
              <a:t>nodes. </a:t>
            </a:r>
            <a:r>
              <a:rPr sz="1800" spc="-75" dirty="0">
                <a:latin typeface="Arial"/>
                <a:cs typeface="Arial"/>
              </a:rPr>
              <a:t>5.  </a:t>
            </a:r>
            <a:r>
              <a:rPr sz="1800" spc="-110" dirty="0">
                <a:latin typeface="Arial"/>
                <a:cs typeface="Arial"/>
              </a:rPr>
              <a:t>We </a:t>
            </a:r>
            <a:r>
              <a:rPr sz="1800" spc="-50" dirty="0">
                <a:latin typeface="Arial"/>
                <a:cs typeface="Arial"/>
              </a:rPr>
              <a:t>continue </a:t>
            </a:r>
            <a:r>
              <a:rPr sz="1800" spc="20" dirty="0">
                <a:latin typeface="Arial"/>
                <a:cs typeface="Arial"/>
              </a:rPr>
              <a:t>to </a:t>
            </a:r>
            <a:r>
              <a:rPr sz="1800" spc="-95" dirty="0">
                <a:latin typeface="Arial"/>
                <a:cs typeface="Arial"/>
              </a:rPr>
              <a:t>expand </a:t>
            </a:r>
            <a:r>
              <a:rPr sz="1800" spc="-25" dirty="0">
                <a:latin typeface="Arial"/>
                <a:cs typeface="Arial"/>
              </a:rPr>
              <a:t>the </a:t>
            </a:r>
            <a:r>
              <a:rPr sz="1800" spc="-65" dirty="0">
                <a:latin typeface="Arial"/>
                <a:cs typeface="Arial"/>
              </a:rPr>
              <a:t>promising </a:t>
            </a:r>
            <a:r>
              <a:rPr sz="1800" spc="-100" dirty="0">
                <a:latin typeface="Arial"/>
                <a:cs typeface="Arial"/>
              </a:rPr>
              <a:t>nodes </a:t>
            </a:r>
            <a:r>
              <a:rPr sz="1800" spc="-25" dirty="0">
                <a:latin typeface="Arial"/>
                <a:cs typeface="Arial"/>
              </a:rPr>
              <a:t>in </a:t>
            </a:r>
            <a:r>
              <a:rPr sz="1800" spc="-140" dirty="0">
                <a:latin typeface="Arial"/>
                <a:cs typeface="Arial"/>
              </a:rPr>
              <a:t>a </a:t>
            </a:r>
            <a:r>
              <a:rPr sz="1800" spc="-35" dirty="0">
                <a:latin typeface="Arial"/>
                <a:cs typeface="Arial"/>
              </a:rPr>
              <a:t>best-first order</a:t>
            </a:r>
            <a:r>
              <a:rPr sz="1800" spc="-365" dirty="0">
                <a:latin typeface="Arial"/>
                <a:cs typeface="Arial"/>
              </a:rPr>
              <a:t> </a:t>
            </a:r>
            <a:r>
              <a:rPr sz="1800" spc="-120" dirty="0">
                <a:latin typeface="Arial"/>
                <a:cs typeface="Arial"/>
              </a:rPr>
              <a:t>(E1,B1,,D1).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514600" y="3124200"/>
            <a:ext cx="5943600" cy="13144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514600" y="1828800"/>
            <a:ext cx="5819140" cy="31051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10869" y="491490"/>
            <a:ext cx="73520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70" dirty="0">
                <a:latin typeface="Arial"/>
                <a:cs typeface="Arial"/>
              </a:rPr>
              <a:t>5. </a:t>
            </a:r>
            <a:r>
              <a:rPr sz="1800" spc="-110" dirty="0">
                <a:latin typeface="Arial"/>
                <a:cs typeface="Arial"/>
              </a:rPr>
              <a:t>We </a:t>
            </a:r>
            <a:r>
              <a:rPr sz="1800" spc="-50" dirty="0">
                <a:latin typeface="Arial"/>
                <a:cs typeface="Arial"/>
              </a:rPr>
              <a:t>continue </a:t>
            </a:r>
            <a:r>
              <a:rPr sz="1800" spc="20" dirty="0">
                <a:latin typeface="Arial"/>
                <a:cs typeface="Arial"/>
              </a:rPr>
              <a:t>to </a:t>
            </a:r>
            <a:r>
              <a:rPr sz="1800" spc="-95" dirty="0">
                <a:latin typeface="Arial"/>
                <a:cs typeface="Arial"/>
              </a:rPr>
              <a:t>expand </a:t>
            </a:r>
            <a:r>
              <a:rPr sz="1800" spc="-25" dirty="0">
                <a:latin typeface="Arial"/>
                <a:cs typeface="Arial"/>
              </a:rPr>
              <a:t>the </a:t>
            </a:r>
            <a:r>
              <a:rPr sz="1800" spc="-65" dirty="0">
                <a:latin typeface="Arial"/>
                <a:cs typeface="Arial"/>
              </a:rPr>
              <a:t>promising </a:t>
            </a:r>
            <a:r>
              <a:rPr sz="1800" spc="-95" dirty="0">
                <a:latin typeface="Arial"/>
                <a:cs typeface="Arial"/>
              </a:rPr>
              <a:t>nodes </a:t>
            </a:r>
            <a:r>
              <a:rPr sz="1800" spc="-25" dirty="0">
                <a:latin typeface="Arial"/>
                <a:cs typeface="Arial"/>
              </a:rPr>
              <a:t>in </a:t>
            </a:r>
            <a:r>
              <a:rPr sz="1800" spc="-140" dirty="0">
                <a:latin typeface="Arial"/>
                <a:cs typeface="Arial"/>
              </a:rPr>
              <a:t>a </a:t>
            </a:r>
            <a:r>
              <a:rPr sz="1800" spc="-35" dirty="0">
                <a:latin typeface="Arial"/>
                <a:cs typeface="Arial"/>
              </a:rPr>
              <a:t>best-first order</a:t>
            </a:r>
            <a:r>
              <a:rPr sz="1800" spc="-365" dirty="0">
                <a:latin typeface="Arial"/>
                <a:cs typeface="Arial"/>
              </a:rPr>
              <a:t> </a:t>
            </a:r>
            <a:r>
              <a:rPr sz="1800" spc="-120" dirty="0">
                <a:latin typeface="Arial"/>
                <a:cs typeface="Arial"/>
              </a:rPr>
              <a:t>(E1,B1,,D1).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0869" y="491490"/>
            <a:ext cx="783590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spc="-70" dirty="0">
                <a:latin typeface="Arial"/>
                <a:cs typeface="Arial"/>
              </a:rPr>
              <a:t>6. </a:t>
            </a:r>
            <a:r>
              <a:rPr sz="1800" spc="-105" dirty="0">
                <a:latin typeface="Arial"/>
                <a:cs typeface="Arial"/>
              </a:rPr>
              <a:t>We </a:t>
            </a:r>
            <a:r>
              <a:rPr sz="1800" spc="-100" dirty="0">
                <a:latin typeface="Arial"/>
                <a:cs typeface="Arial"/>
              </a:rPr>
              <a:t>have </a:t>
            </a:r>
            <a:r>
              <a:rPr sz="1800" spc="-20" dirty="0">
                <a:latin typeface="Arial"/>
                <a:cs typeface="Arial"/>
              </a:rPr>
              <a:t>fully </a:t>
            </a:r>
            <a:r>
              <a:rPr sz="1800" spc="-90" dirty="0">
                <a:latin typeface="Arial"/>
                <a:cs typeface="Arial"/>
              </a:rPr>
              <a:t>expanded </a:t>
            </a:r>
            <a:r>
              <a:rPr sz="1800" spc="-70" dirty="0">
                <a:latin typeface="Arial"/>
                <a:cs typeface="Arial"/>
              </a:rPr>
              <a:t>node </a:t>
            </a:r>
            <a:r>
              <a:rPr sz="1800" spc="-325" dirty="0">
                <a:latin typeface="Arial"/>
                <a:cs typeface="Arial"/>
              </a:rPr>
              <a:t>E </a:t>
            </a:r>
            <a:r>
              <a:rPr sz="1800" spc="-130" dirty="0">
                <a:latin typeface="Arial"/>
                <a:cs typeface="Arial"/>
              </a:rPr>
              <a:t>so </a:t>
            </a:r>
            <a:r>
              <a:rPr sz="1800" spc="50" dirty="0">
                <a:latin typeface="Arial"/>
                <a:cs typeface="Arial"/>
              </a:rPr>
              <a:t>it </a:t>
            </a:r>
            <a:r>
              <a:rPr sz="1800" spc="-95" dirty="0">
                <a:latin typeface="Arial"/>
                <a:cs typeface="Arial"/>
              </a:rPr>
              <a:t>is </a:t>
            </a:r>
            <a:r>
              <a:rPr sz="1800" spc="-65" dirty="0">
                <a:latin typeface="Arial"/>
                <a:cs typeface="Arial"/>
              </a:rPr>
              <a:t>removed </a:t>
            </a:r>
            <a:r>
              <a:rPr sz="1800" spc="-15" dirty="0">
                <a:latin typeface="Arial"/>
                <a:cs typeface="Arial"/>
              </a:rPr>
              <a:t>from </a:t>
            </a:r>
            <a:r>
              <a:rPr sz="1800" spc="-30" dirty="0">
                <a:latin typeface="Arial"/>
                <a:cs typeface="Arial"/>
              </a:rPr>
              <a:t>our </a:t>
            </a:r>
            <a:r>
              <a:rPr sz="1800" spc="-60" dirty="0">
                <a:latin typeface="Arial"/>
                <a:cs typeface="Arial"/>
              </a:rPr>
              <a:t>live-node </a:t>
            </a:r>
            <a:r>
              <a:rPr sz="1800" spc="-25" dirty="0">
                <a:latin typeface="Arial"/>
                <a:cs typeface="Arial"/>
              </a:rPr>
              <a:t>list </a:t>
            </a:r>
            <a:r>
              <a:rPr sz="1800" spc="-85" dirty="0">
                <a:latin typeface="Arial"/>
                <a:cs typeface="Arial"/>
              </a:rPr>
              <a:t>and </a:t>
            </a:r>
            <a:r>
              <a:rPr sz="1800" spc="-65" dirty="0">
                <a:latin typeface="Arial"/>
                <a:cs typeface="Arial"/>
              </a:rPr>
              <a:t>we  </a:t>
            </a:r>
            <a:r>
              <a:rPr sz="1800" spc="-100" dirty="0">
                <a:latin typeface="Arial"/>
                <a:cs typeface="Arial"/>
              </a:rPr>
              <a:t>have </a:t>
            </a:r>
            <a:r>
              <a:rPr sz="1800" spc="5" dirty="0">
                <a:latin typeface="Arial"/>
                <a:cs typeface="Arial"/>
              </a:rPr>
              <a:t>two </a:t>
            </a:r>
            <a:r>
              <a:rPr sz="1800" spc="-65" dirty="0">
                <a:latin typeface="Arial"/>
                <a:cs typeface="Arial"/>
              </a:rPr>
              <a:t>new </a:t>
            </a:r>
            <a:r>
              <a:rPr sz="1800" spc="-95" dirty="0">
                <a:latin typeface="Arial"/>
                <a:cs typeface="Arial"/>
              </a:rPr>
              <a:t>nodes </a:t>
            </a:r>
            <a:r>
              <a:rPr sz="1800" spc="20" dirty="0">
                <a:latin typeface="Arial"/>
                <a:cs typeface="Arial"/>
              </a:rPr>
              <a:t>to </a:t>
            </a:r>
            <a:r>
              <a:rPr sz="1800" spc="-85" dirty="0">
                <a:latin typeface="Arial"/>
                <a:cs typeface="Arial"/>
              </a:rPr>
              <a:t>add </a:t>
            </a:r>
            <a:r>
              <a:rPr sz="1800" spc="20" dirty="0">
                <a:latin typeface="Arial"/>
                <a:cs typeface="Arial"/>
              </a:rPr>
              <a:t>to </a:t>
            </a:r>
            <a:r>
              <a:rPr sz="1800" spc="-25" dirty="0">
                <a:latin typeface="Arial"/>
                <a:cs typeface="Arial"/>
              </a:rPr>
              <a:t>the </a:t>
            </a:r>
            <a:r>
              <a:rPr sz="1800" spc="-30" dirty="0">
                <a:latin typeface="Arial"/>
                <a:cs typeface="Arial"/>
              </a:rPr>
              <a:t>list. </a:t>
            </a:r>
            <a:r>
              <a:rPr sz="1800" spc="-80" dirty="0">
                <a:latin typeface="Arial"/>
                <a:cs typeface="Arial"/>
              </a:rPr>
              <a:t>When </a:t>
            </a:r>
            <a:r>
              <a:rPr sz="1800" spc="5" dirty="0">
                <a:latin typeface="Arial"/>
                <a:cs typeface="Arial"/>
              </a:rPr>
              <a:t>two </a:t>
            </a:r>
            <a:r>
              <a:rPr sz="1800" spc="-100" dirty="0">
                <a:latin typeface="Arial"/>
                <a:cs typeface="Arial"/>
              </a:rPr>
              <a:t>nodes have </a:t>
            </a:r>
            <a:r>
              <a:rPr sz="1800" spc="-25" dirty="0">
                <a:latin typeface="Arial"/>
                <a:cs typeface="Arial"/>
              </a:rPr>
              <a:t>the </a:t>
            </a:r>
            <a:r>
              <a:rPr sz="1800" spc="-125" dirty="0">
                <a:latin typeface="Arial"/>
                <a:cs typeface="Arial"/>
              </a:rPr>
              <a:t>same </a:t>
            </a:r>
            <a:r>
              <a:rPr sz="1800" spc="-65" dirty="0">
                <a:latin typeface="Arial"/>
                <a:cs typeface="Arial"/>
              </a:rPr>
              <a:t>bounding  </a:t>
            </a:r>
            <a:r>
              <a:rPr sz="1800" spc="-100" dirty="0">
                <a:latin typeface="Arial"/>
                <a:cs typeface="Arial"/>
              </a:rPr>
              <a:t>values </a:t>
            </a:r>
            <a:r>
              <a:rPr sz="1800" spc="-60" dirty="0">
                <a:latin typeface="Arial"/>
                <a:cs typeface="Arial"/>
              </a:rPr>
              <a:t>we </a:t>
            </a:r>
            <a:r>
              <a:rPr sz="1800" dirty="0">
                <a:latin typeface="Arial"/>
                <a:cs typeface="Arial"/>
              </a:rPr>
              <a:t>will </a:t>
            </a:r>
            <a:r>
              <a:rPr sz="1800" spc="-105" dirty="0">
                <a:latin typeface="Arial"/>
                <a:cs typeface="Arial"/>
              </a:rPr>
              <a:t>choose </a:t>
            </a:r>
            <a:r>
              <a:rPr sz="1800" spc="-25" dirty="0">
                <a:latin typeface="Arial"/>
                <a:cs typeface="Arial"/>
              </a:rPr>
              <a:t>the </a:t>
            </a:r>
            <a:r>
              <a:rPr sz="1800" spc="-75" dirty="0">
                <a:latin typeface="Arial"/>
                <a:cs typeface="Arial"/>
              </a:rPr>
              <a:t>one </a:t>
            </a:r>
            <a:r>
              <a:rPr sz="1800" dirty="0">
                <a:latin typeface="Arial"/>
                <a:cs typeface="Arial"/>
              </a:rPr>
              <a:t>that </a:t>
            </a:r>
            <a:r>
              <a:rPr sz="1800" spc="-95" dirty="0">
                <a:latin typeface="Arial"/>
                <a:cs typeface="Arial"/>
              </a:rPr>
              <a:t>is </a:t>
            </a:r>
            <a:r>
              <a:rPr sz="1800" spc="-80" dirty="0">
                <a:latin typeface="Arial"/>
                <a:cs typeface="Arial"/>
              </a:rPr>
              <a:t>closer </a:t>
            </a:r>
            <a:r>
              <a:rPr sz="1800" spc="25" dirty="0">
                <a:latin typeface="Arial"/>
                <a:cs typeface="Arial"/>
              </a:rPr>
              <a:t>to </a:t>
            </a:r>
            <a:r>
              <a:rPr sz="1800" spc="-25" dirty="0">
                <a:latin typeface="Arial"/>
                <a:cs typeface="Arial"/>
              </a:rPr>
              <a:t>the </a:t>
            </a:r>
            <a:r>
              <a:rPr sz="1800" spc="-45" dirty="0">
                <a:latin typeface="Arial"/>
                <a:cs typeface="Arial"/>
              </a:rPr>
              <a:t>solution. </a:t>
            </a:r>
            <a:r>
              <a:rPr sz="1800" spc="-215" dirty="0">
                <a:latin typeface="Arial"/>
                <a:cs typeface="Arial"/>
              </a:rPr>
              <a:t>So </a:t>
            </a:r>
            <a:r>
              <a:rPr sz="1800" spc="-25" dirty="0">
                <a:latin typeface="Arial"/>
                <a:cs typeface="Arial"/>
              </a:rPr>
              <a:t>the </a:t>
            </a:r>
            <a:r>
              <a:rPr sz="1800" spc="-35" dirty="0">
                <a:latin typeface="Arial"/>
                <a:cs typeface="Arial"/>
              </a:rPr>
              <a:t>order </a:t>
            </a:r>
            <a:r>
              <a:rPr sz="1800" spc="-10" dirty="0">
                <a:latin typeface="Arial"/>
                <a:cs typeface="Arial"/>
              </a:rPr>
              <a:t>of </a:t>
            </a:r>
            <a:r>
              <a:rPr sz="1800" spc="-100" dirty="0">
                <a:latin typeface="Arial"/>
                <a:cs typeface="Arial"/>
              </a:rPr>
              <a:t>nodes </a:t>
            </a:r>
            <a:r>
              <a:rPr sz="1800" spc="-25" dirty="0">
                <a:latin typeface="Arial"/>
                <a:cs typeface="Arial"/>
              </a:rPr>
              <a:t>in  </a:t>
            </a:r>
            <a:r>
              <a:rPr sz="1800" spc="-30" dirty="0">
                <a:latin typeface="Arial"/>
                <a:cs typeface="Arial"/>
              </a:rPr>
              <a:t>our </a:t>
            </a:r>
            <a:r>
              <a:rPr sz="1800" spc="-60" dirty="0">
                <a:latin typeface="Arial"/>
                <a:cs typeface="Arial"/>
              </a:rPr>
              <a:t>live-node </a:t>
            </a:r>
            <a:r>
              <a:rPr sz="1800" spc="-25" dirty="0">
                <a:latin typeface="Arial"/>
                <a:cs typeface="Arial"/>
              </a:rPr>
              <a:t>list </a:t>
            </a:r>
            <a:r>
              <a:rPr sz="1800" spc="-95" dirty="0">
                <a:latin typeface="Arial"/>
                <a:cs typeface="Arial"/>
              </a:rPr>
              <a:t>is</a:t>
            </a:r>
            <a:r>
              <a:rPr sz="1800" spc="-265" dirty="0">
                <a:latin typeface="Arial"/>
                <a:cs typeface="Arial"/>
              </a:rPr>
              <a:t> </a:t>
            </a:r>
            <a:r>
              <a:rPr sz="1800" spc="-125" dirty="0">
                <a:latin typeface="Arial"/>
                <a:cs typeface="Arial"/>
              </a:rPr>
              <a:t>(C2,B1,B2,D1).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62200" y="2133600"/>
            <a:ext cx="5819140" cy="34480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69" y="567690"/>
            <a:ext cx="71100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70" dirty="0">
                <a:latin typeface="Arial"/>
                <a:cs typeface="Arial"/>
              </a:rPr>
              <a:t>7. </a:t>
            </a:r>
            <a:r>
              <a:rPr sz="1800" spc="-110" dirty="0">
                <a:latin typeface="Arial"/>
                <a:cs typeface="Arial"/>
              </a:rPr>
              <a:t>We </a:t>
            </a:r>
            <a:r>
              <a:rPr sz="1800" spc="-70" dirty="0">
                <a:latin typeface="Arial"/>
                <a:cs typeface="Arial"/>
              </a:rPr>
              <a:t>remove node </a:t>
            </a:r>
            <a:r>
              <a:rPr sz="1800" spc="-220" dirty="0">
                <a:latin typeface="Arial"/>
                <a:cs typeface="Arial"/>
              </a:rPr>
              <a:t>C2 </a:t>
            </a:r>
            <a:r>
              <a:rPr sz="1800" spc="-85" dirty="0">
                <a:latin typeface="Arial"/>
                <a:cs typeface="Arial"/>
              </a:rPr>
              <a:t>and add </a:t>
            </a:r>
            <a:r>
              <a:rPr sz="1800" spc="-70" dirty="0">
                <a:latin typeface="Arial"/>
                <a:cs typeface="Arial"/>
              </a:rPr>
              <a:t>node </a:t>
            </a:r>
            <a:r>
              <a:rPr sz="1800" spc="-175" dirty="0">
                <a:latin typeface="Arial"/>
                <a:cs typeface="Arial"/>
              </a:rPr>
              <a:t>G3 </a:t>
            </a:r>
            <a:r>
              <a:rPr sz="1800" spc="25" dirty="0">
                <a:latin typeface="Arial"/>
                <a:cs typeface="Arial"/>
              </a:rPr>
              <a:t>to </a:t>
            </a:r>
            <a:r>
              <a:rPr sz="1800" spc="-25" dirty="0">
                <a:latin typeface="Arial"/>
                <a:cs typeface="Arial"/>
              </a:rPr>
              <a:t>the </a:t>
            </a:r>
            <a:r>
              <a:rPr sz="1800" spc="-60" dirty="0">
                <a:latin typeface="Arial"/>
                <a:cs typeface="Arial"/>
              </a:rPr>
              <a:t>live-node </a:t>
            </a:r>
            <a:r>
              <a:rPr sz="1800" spc="-30" dirty="0">
                <a:latin typeface="Arial"/>
                <a:cs typeface="Arial"/>
              </a:rPr>
              <a:t>list.</a:t>
            </a:r>
            <a:r>
              <a:rPr sz="1800" spc="-170" dirty="0">
                <a:latin typeface="Arial"/>
                <a:cs typeface="Arial"/>
              </a:rPr>
              <a:t> </a:t>
            </a:r>
            <a:r>
              <a:rPr sz="1800" spc="-120" dirty="0">
                <a:latin typeface="Arial"/>
                <a:cs typeface="Arial"/>
              </a:rPr>
              <a:t>(G3,B1,B2,D1).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200400" y="2743200"/>
            <a:ext cx="3295650" cy="14757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2270" y="414020"/>
            <a:ext cx="82911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70" dirty="0">
                <a:latin typeface="Arial"/>
                <a:cs typeface="Arial"/>
              </a:rPr>
              <a:t>8. </a:t>
            </a:r>
            <a:r>
              <a:rPr sz="1800" spc="-110" dirty="0">
                <a:latin typeface="Arial"/>
                <a:cs typeface="Arial"/>
              </a:rPr>
              <a:t>Expanding </a:t>
            </a:r>
            <a:r>
              <a:rPr sz="1800" spc="-75" dirty="0">
                <a:latin typeface="Arial"/>
                <a:cs typeface="Arial"/>
              </a:rPr>
              <a:t>node </a:t>
            </a:r>
            <a:r>
              <a:rPr sz="1800" spc="-265" dirty="0">
                <a:latin typeface="Arial"/>
                <a:cs typeface="Arial"/>
              </a:rPr>
              <a:t>G </a:t>
            </a:r>
            <a:r>
              <a:rPr sz="1800" spc="-110" dirty="0">
                <a:latin typeface="Arial"/>
                <a:cs typeface="Arial"/>
              </a:rPr>
              <a:t>gives </a:t>
            </a:r>
            <a:r>
              <a:rPr sz="1800" spc="-130" dirty="0">
                <a:latin typeface="Arial"/>
                <a:cs typeface="Arial"/>
              </a:rPr>
              <a:t>us </a:t>
            </a:r>
            <a:r>
              <a:rPr sz="1800" spc="10" dirty="0">
                <a:latin typeface="Arial"/>
                <a:cs typeface="Arial"/>
              </a:rPr>
              <a:t>two </a:t>
            </a:r>
            <a:r>
              <a:rPr sz="1800" spc="-55" dirty="0">
                <a:latin typeface="Arial"/>
                <a:cs typeface="Arial"/>
              </a:rPr>
              <a:t>more </a:t>
            </a:r>
            <a:r>
              <a:rPr sz="1800" spc="-65" dirty="0">
                <a:latin typeface="Arial"/>
                <a:cs typeface="Arial"/>
              </a:rPr>
              <a:t>promising </a:t>
            </a:r>
            <a:r>
              <a:rPr sz="1800" spc="-100" dirty="0">
                <a:latin typeface="Arial"/>
                <a:cs typeface="Arial"/>
              </a:rPr>
              <a:t>nodes </a:t>
            </a:r>
            <a:r>
              <a:rPr sz="1800" spc="-185" dirty="0">
                <a:latin typeface="Arial"/>
                <a:cs typeface="Arial"/>
              </a:rPr>
              <a:t>F4 </a:t>
            </a:r>
            <a:r>
              <a:rPr sz="1800" spc="-85" dirty="0">
                <a:latin typeface="Arial"/>
                <a:cs typeface="Arial"/>
              </a:rPr>
              <a:t>and </a:t>
            </a:r>
            <a:r>
              <a:rPr sz="1800" spc="-110" dirty="0">
                <a:latin typeface="Arial"/>
                <a:cs typeface="Arial"/>
              </a:rPr>
              <a:t>H4. </a:t>
            </a:r>
            <a:r>
              <a:rPr sz="1800" spc="-85" dirty="0">
                <a:latin typeface="Arial"/>
                <a:cs typeface="Arial"/>
              </a:rPr>
              <a:t>Our </a:t>
            </a:r>
            <a:r>
              <a:rPr sz="1800" spc="-60" dirty="0">
                <a:latin typeface="Arial"/>
                <a:cs typeface="Arial"/>
              </a:rPr>
              <a:t>live-node </a:t>
            </a:r>
            <a:r>
              <a:rPr sz="1800" spc="-25" dirty="0">
                <a:latin typeface="Arial"/>
                <a:cs typeface="Arial"/>
              </a:rPr>
              <a:t>list </a:t>
            </a:r>
            <a:r>
              <a:rPr sz="1800" spc="-100" dirty="0">
                <a:latin typeface="Arial"/>
                <a:cs typeface="Arial"/>
              </a:rPr>
              <a:t>is  </a:t>
            </a:r>
            <a:r>
              <a:rPr sz="1800" spc="-50" dirty="0">
                <a:latin typeface="Arial"/>
                <a:cs typeface="Arial"/>
              </a:rPr>
              <a:t>now</a:t>
            </a:r>
            <a:r>
              <a:rPr sz="1800" spc="-95" dirty="0">
                <a:latin typeface="Arial"/>
                <a:cs typeface="Arial"/>
              </a:rPr>
              <a:t> </a:t>
            </a:r>
            <a:r>
              <a:rPr sz="1800" spc="-120" dirty="0">
                <a:latin typeface="Arial"/>
                <a:cs typeface="Arial"/>
              </a:rPr>
              <a:t>(F4,B1,H4,B2,D1).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38200" y="1294130"/>
            <a:ext cx="6477000" cy="44627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0" y="1676400"/>
            <a:ext cx="4019550" cy="42951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34669" y="414020"/>
            <a:ext cx="7486015" cy="1442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70" dirty="0">
                <a:latin typeface="Arial"/>
                <a:cs typeface="Arial"/>
              </a:rPr>
              <a:t>9.</a:t>
            </a:r>
            <a:r>
              <a:rPr sz="1800" spc="-95" dirty="0">
                <a:latin typeface="Arial"/>
                <a:cs typeface="Arial"/>
              </a:rPr>
              <a:t> </a:t>
            </a:r>
            <a:r>
              <a:rPr sz="1800" spc="-160" dirty="0">
                <a:latin typeface="Arial"/>
                <a:cs typeface="Arial"/>
              </a:rPr>
              <a:t>A</a:t>
            </a:r>
            <a:r>
              <a:rPr sz="1800" spc="-85" dirty="0">
                <a:latin typeface="Arial"/>
                <a:cs typeface="Arial"/>
              </a:rPr>
              <a:t> </a:t>
            </a:r>
            <a:r>
              <a:rPr sz="1800" spc="-65" dirty="0">
                <a:latin typeface="Arial"/>
                <a:cs typeface="Arial"/>
              </a:rPr>
              <a:t>1st</a:t>
            </a:r>
            <a:r>
              <a:rPr sz="1800" spc="-90" dirty="0">
                <a:latin typeface="Arial"/>
                <a:cs typeface="Arial"/>
              </a:rPr>
              <a:t> </a:t>
            </a:r>
            <a:r>
              <a:rPr sz="1800" spc="-55" dirty="0">
                <a:latin typeface="Arial"/>
                <a:cs typeface="Arial"/>
              </a:rPr>
              <a:t>level</a:t>
            </a:r>
            <a:r>
              <a:rPr sz="1800" spc="-95" dirty="0">
                <a:latin typeface="Arial"/>
                <a:cs typeface="Arial"/>
              </a:rPr>
              <a:t> </a:t>
            </a:r>
            <a:r>
              <a:rPr sz="1800" spc="-70" dirty="0">
                <a:latin typeface="Arial"/>
                <a:cs typeface="Arial"/>
              </a:rPr>
              <a:t>node</a:t>
            </a:r>
            <a:r>
              <a:rPr sz="1800" spc="-95" dirty="0">
                <a:latin typeface="Arial"/>
                <a:cs typeface="Arial"/>
              </a:rPr>
              <a:t> </a:t>
            </a:r>
            <a:r>
              <a:rPr sz="1800" spc="-130" dirty="0">
                <a:latin typeface="Arial"/>
                <a:cs typeface="Arial"/>
              </a:rPr>
              <a:t>has</a:t>
            </a:r>
            <a:r>
              <a:rPr sz="1800" spc="-90" dirty="0">
                <a:latin typeface="Arial"/>
                <a:cs typeface="Arial"/>
              </a:rPr>
              <a:t> </a:t>
            </a:r>
            <a:r>
              <a:rPr sz="1800" spc="-75" dirty="0">
                <a:latin typeface="Arial"/>
                <a:cs typeface="Arial"/>
              </a:rPr>
              <a:t>moved</a:t>
            </a:r>
            <a:r>
              <a:rPr sz="1800" spc="-95" dirty="0">
                <a:latin typeface="Arial"/>
                <a:cs typeface="Arial"/>
              </a:rPr>
              <a:t> </a:t>
            </a:r>
            <a:r>
              <a:rPr sz="1800" spc="20" dirty="0">
                <a:latin typeface="Arial"/>
                <a:cs typeface="Arial"/>
              </a:rPr>
              <a:t>to</a:t>
            </a:r>
            <a:r>
              <a:rPr sz="1800" spc="-85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the</a:t>
            </a:r>
            <a:r>
              <a:rPr sz="1800" spc="-95" dirty="0">
                <a:latin typeface="Arial"/>
                <a:cs typeface="Arial"/>
              </a:rPr>
              <a:t> </a:t>
            </a:r>
            <a:r>
              <a:rPr sz="1800" spc="10" dirty="0">
                <a:latin typeface="Arial"/>
                <a:cs typeface="Arial"/>
              </a:rPr>
              <a:t>front</a:t>
            </a:r>
            <a:r>
              <a:rPr sz="1800" spc="-9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of</a:t>
            </a:r>
            <a:r>
              <a:rPr sz="1800" spc="-90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the</a:t>
            </a:r>
            <a:r>
              <a:rPr sz="1800" spc="-80" dirty="0">
                <a:latin typeface="Arial"/>
                <a:cs typeface="Arial"/>
              </a:rPr>
              <a:t> </a:t>
            </a:r>
            <a:r>
              <a:rPr sz="1800" spc="-60" dirty="0">
                <a:latin typeface="Arial"/>
                <a:cs typeface="Arial"/>
              </a:rPr>
              <a:t>live-node</a:t>
            </a:r>
            <a:r>
              <a:rPr sz="1800" spc="-95" dirty="0">
                <a:latin typeface="Arial"/>
                <a:cs typeface="Arial"/>
              </a:rPr>
              <a:t> </a:t>
            </a:r>
            <a:r>
              <a:rPr sz="1800" spc="-30" dirty="0">
                <a:latin typeface="Arial"/>
                <a:cs typeface="Arial"/>
              </a:rPr>
              <a:t>list.</a:t>
            </a:r>
            <a:r>
              <a:rPr sz="1800" spc="-90" dirty="0">
                <a:latin typeface="Arial"/>
                <a:cs typeface="Arial"/>
              </a:rPr>
              <a:t> </a:t>
            </a:r>
            <a:r>
              <a:rPr sz="1800" spc="-120" dirty="0">
                <a:latin typeface="Arial"/>
                <a:cs typeface="Arial"/>
              </a:rPr>
              <a:t>(B1,D5,H4,B2,D1)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8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spc="-80" dirty="0">
                <a:latin typeface="Arial"/>
                <a:cs typeface="Arial"/>
              </a:rPr>
              <a:t>10.</a:t>
            </a:r>
            <a:r>
              <a:rPr sz="1800" spc="-105" dirty="0">
                <a:latin typeface="Arial"/>
                <a:cs typeface="Arial"/>
              </a:rPr>
              <a:t> </a:t>
            </a:r>
            <a:r>
              <a:rPr sz="1800" spc="-114" dirty="0">
                <a:latin typeface="Arial"/>
                <a:cs typeface="Arial"/>
              </a:rPr>
              <a:t>(H2,D5,H4,B2,D1)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150">
              <a:latin typeface="Arial"/>
              <a:cs typeface="Arial"/>
            </a:endParaRPr>
          </a:p>
          <a:p>
            <a:pPr marR="626745" algn="r">
              <a:lnSpc>
                <a:spcPct val="100000"/>
              </a:lnSpc>
            </a:pPr>
            <a:r>
              <a:rPr sz="1800" spc="-75" dirty="0">
                <a:latin typeface="Arial"/>
                <a:cs typeface="Arial"/>
              </a:rPr>
              <a:t>11.</a:t>
            </a:r>
            <a:r>
              <a:rPr sz="1800" spc="-185" dirty="0">
                <a:latin typeface="Arial"/>
                <a:cs typeface="Arial"/>
              </a:rPr>
              <a:t> </a:t>
            </a:r>
            <a:r>
              <a:rPr sz="1800" spc="-114" dirty="0">
                <a:latin typeface="Arial"/>
                <a:cs typeface="Arial"/>
              </a:rPr>
              <a:t>(D5,H4,B2,D1)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715000" y="2928620"/>
            <a:ext cx="13716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75" dirty="0">
                <a:latin typeface="Arial"/>
                <a:cs typeface="Arial"/>
              </a:rPr>
              <a:t>12.</a:t>
            </a:r>
            <a:r>
              <a:rPr sz="1800" spc="-160" dirty="0">
                <a:latin typeface="Arial"/>
                <a:cs typeface="Arial"/>
              </a:rPr>
              <a:t> </a:t>
            </a:r>
            <a:r>
              <a:rPr sz="1800" spc="-114" dirty="0">
                <a:latin typeface="Arial"/>
                <a:cs typeface="Arial"/>
              </a:rPr>
              <a:t>(H4,B2,D1)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15000" y="4574540"/>
            <a:ext cx="10579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75" dirty="0">
                <a:latin typeface="Arial"/>
                <a:cs typeface="Arial"/>
              </a:rPr>
              <a:t>13.</a:t>
            </a:r>
            <a:r>
              <a:rPr sz="1800" spc="-160" dirty="0">
                <a:latin typeface="Arial"/>
                <a:cs typeface="Arial"/>
              </a:rPr>
              <a:t> </a:t>
            </a:r>
            <a:r>
              <a:rPr sz="1800" spc="-114" dirty="0">
                <a:latin typeface="Arial"/>
                <a:cs typeface="Arial"/>
              </a:rPr>
              <a:t>(B2,D1)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15000" y="5671820"/>
            <a:ext cx="10744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75" dirty="0">
                <a:latin typeface="Arial"/>
                <a:cs typeface="Arial"/>
              </a:rPr>
              <a:t>14.</a:t>
            </a:r>
            <a:r>
              <a:rPr sz="1800" spc="-165" dirty="0">
                <a:latin typeface="Arial"/>
                <a:cs typeface="Arial"/>
              </a:rPr>
              <a:t> </a:t>
            </a:r>
            <a:r>
              <a:rPr sz="1800" spc="-110" dirty="0">
                <a:latin typeface="Arial"/>
                <a:cs typeface="Arial"/>
              </a:rPr>
              <a:t>(H3,D1)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43000" y="836930"/>
            <a:ext cx="5715000" cy="448691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42290" y="491490"/>
            <a:ext cx="7600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80" dirty="0">
                <a:latin typeface="Arial"/>
                <a:cs typeface="Arial"/>
              </a:rPr>
              <a:t>15.</a:t>
            </a:r>
            <a:r>
              <a:rPr sz="1800" spc="-165" dirty="0">
                <a:latin typeface="Arial"/>
                <a:cs typeface="Arial"/>
              </a:rPr>
              <a:t> </a:t>
            </a:r>
            <a:r>
              <a:rPr sz="1800" spc="-105" dirty="0">
                <a:latin typeface="Arial"/>
                <a:cs typeface="Arial"/>
              </a:rPr>
              <a:t>(D1)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43000" y="989330"/>
            <a:ext cx="6238240" cy="33248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10869" y="4757420"/>
            <a:ext cx="806577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spc="-95" dirty="0">
                <a:latin typeface="Arial"/>
                <a:cs typeface="Arial"/>
              </a:rPr>
              <a:t>16.We </a:t>
            </a:r>
            <a:r>
              <a:rPr sz="1800" spc="-100" dirty="0">
                <a:latin typeface="Arial"/>
                <a:cs typeface="Arial"/>
              </a:rPr>
              <a:t>have </a:t>
            </a:r>
            <a:r>
              <a:rPr sz="1800" spc="-35" dirty="0">
                <a:latin typeface="Arial"/>
                <a:cs typeface="Arial"/>
              </a:rPr>
              <a:t>verified </a:t>
            </a:r>
            <a:r>
              <a:rPr sz="1800" dirty="0">
                <a:latin typeface="Arial"/>
                <a:cs typeface="Arial"/>
              </a:rPr>
              <a:t>that </a:t>
            </a:r>
            <a:r>
              <a:rPr sz="1800" spc="-140" dirty="0">
                <a:latin typeface="Arial"/>
                <a:cs typeface="Arial"/>
              </a:rPr>
              <a:t>a </a:t>
            </a:r>
            <a:r>
              <a:rPr sz="1800" spc="-45" dirty="0">
                <a:latin typeface="Arial"/>
                <a:cs typeface="Arial"/>
              </a:rPr>
              <a:t>minimal </a:t>
            </a:r>
            <a:r>
              <a:rPr sz="1800" dirty="0">
                <a:latin typeface="Arial"/>
                <a:cs typeface="Arial"/>
              </a:rPr>
              <a:t>tour </a:t>
            </a:r>
            <a:r>
              <a:rPr sz="1800" spc="-135" dirty="0">
                <a:latin typeface="Arial"/>
                <a:cs typeface="Arial"/>
              </a:rPr>
              <a:t>has </a:t>
            </a:r>
            <a:r>
              <a:rPr sz="1800" spc="-50" dirty="0">
                <a:latin typeface="Arial"/>
                <a:cs typeface="Arial"/>
              </a:rPr>
              <a:t>length </a:t>
            </a:r>
            <a:r>
              <a:rPr sz="1800" spc="-155" dirty="0">
                <a:latin typeface="Arial"/>
                <a:cs typeface="Arial"/>
              </a:rPr>
              <a:t>&gt;= </a:t>
            </a:r>
            <a:r>
              <a:rPr sz="1800" spc="-75" dirty="0">
                <a:latin typeface="Arial"/>
                <a:cs typeface="Arial"/>
              </a:rPr>
              <a:t>28. </a:t>
            </a:r>
            <a:r>
              <a:rPr sz="1800" spc="-140" dirty="0">
                <a:latin typeface="Arial"/>
                <a:cs typeface="Arial"/>
              </a:rPr>
              <a:t>Since </a:t>
            </a:r>
            <a:r>
              <a:rPr sz="1800" spc="-35" dirty="0">
                <a:latin typeface="Arial"/>
                <a:cs typeface="Arial"/>
              </a:rPr>
              <a:t>our </a:t>
            </a:r>
            <a:r>
              <a:rPr sz="1800" spc="-70" dirty="0">
                <a:latin typeface="Arial"/>
                <a:cs typeface="Arial"/>
              </a:rPr>
              <a:t>candidate </a:t>
            </a:r>
            <a:r>
              <a:rPr sz="1800" dirty="0">
                <a:latin typeface="Arial"/>
                <a:cs typeface="Arial"/>
              </a:rPr>
              <a:t>tour  </a:t>
            </a:r>
            <a:r>
              <a:rPr sz="1800" spc="-135" dirty="0">
                <a:latin typeface="Arial"/>
                <a:cs typeface="Arial"/>
              </a:rPr>
              <a:t>has</a:t>
            </a:r>
            <a:r>
              <a:rPr sz="1800" spc="-80" dirty="0">
                <a:latin typeface="Arial"/>
                <a:cs typeface="Arial"/>
              </a:rPr>
              <a:t> </a:t>
            </a:r>
            <a:r>
              <a:rPr sz="1800" spc="-140" dirty="0">
                <a:latin typeface="Arial"/>
                <a:cs typeface="Arial"/>
              </a:rPr>
              <a:t>a</a:t>
            </a:r>
            <a:r>
              <a:rPr sz="1800" spc="-85" dirty="0">
                <a:latin typeface="Arial"/>
                <a:cs typeface="Arial"/>
              </a:rPr>
              <a:t> </a:t>
            </a:r>
            <a:r>
              <a:rPr sz="1800" spc="-45" dirty="0">
                <a:latin typeface="Arial"/>
                <a:cs typeface="Arial"/>
              </a:rPr>
              <a:t>length</a:t>
            </a:r>
            <a:r>
              <a:rPr sz="1800" spc="-8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of</a:t>
            </a:r>
            <a:r>
              <a:rPr sz="1800" spc="-80" dirty="0">
                <a:latin typeface="Arial"/>
                <a:cs typeface="Arial"/>
              </a:rPr>
              <a:t> </a:t>
            </a:r>
            <a:r>
              <a:rPr sz="1800" spc="-95" dirty="0">
                <a:latin typeface="Arial"/>
                <a:cs typeface="Arial"/>
              </a:rPr>
              <a:t>28</a:t>
            </a:r>
            <a:r>
              <a:rPr sz="1800" spc="-90" dirty="0">
                <a:latin typeface="Arial"/>
                <a:cs typeface="Arial"/>
              </a:rPr>
              <a:t> </a:t>
            </a:r>
            <a:r>
              <a:rPr sz="1800" spc="-60" dirty="0">
                <a:latin typeface="Arial"/>
                <a:cs typeface="Arial"/>
              </a:rPr>
              <a:t>we</a:t>
            </a:r>
            <a:r>
              <a:rPr sz="1800" spc="-90" dirty="0">
                <a:latin typeface="Arial"/>
                <a:cs typeface="Arial"/>
              </a:rPr>
              <a:t> </a:t>
            </a:r>
            <a:r>
              <a:rPr sz="1800" spc="-45" dirty="0">
                <a:latin typeface="Arial"/>
                <a:cs typeface="Arial"/>
              </a:rPr>
              <a:t>now</a:t>
            </a:r>
            <a:r>
              <a:rPr sz="1800" spc="-90" dirty="0">
                <a:latin typeface="Arial"/>
                <a:cs typeface="Arial"/>
              </a:rPr>
              <a:t> </a:t>
            </a:r>
            <a:r>
              <a:rPr sz="1800" spc="-55" dirty="0">
                <a:latin typeface="Arial"/>
                <a:cs typeface="Arial"/>
              </a:rPr>
              <a:t>know</a:t>
            </a:r>
            <a:r>
              <a:rPr sz="1800" spc="-10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that</a:t>
            </a:r>
            <a:r>
              <a:rPr sz="1800" spc="-90" dirty="0">
                <a:latin typeface="Arial"/>
                <a:cs typeface="Arial"/>
              </a:rPr>
              <a:t> </a:t>
            </a:r>
            <a:r>
              <a:rPr sz="1800" spc="55" dirty="0">
                <a:latin typeface="Arial"/>
                <a:cs typeface="Arial"/>
              </a:rPr>
              <a:t>it</a:t>
            </a:r>
            <a:r>
              <a:rPr sz="1800" spc="-90" dirty="0">
                <a:latin typeface="Arial"/>
                <a:cs typeface="Arial"/>
              </a:rPr>
              <a:t> </a:t>
            </a:r>
            <a:r>
              <a:rPr sz="1800" spc="-95" dirty="0">
                <a:latin typeface="Arial"/>
                <a:cs typeface="Arial"/>
              </a:rPr>
              <a:t>is</a:t>
            </a:r>
            <a:r>
              <a:rPr sz="1800" spc="-90" dirty="0">
                <a:latin typeface="Arial"/>
                <a:cs typeface="Arial"/>
              </a:rPr>
              <a:t> </a:t>
            </a:r>
            <a:r>
              <a:rPr sz="1800" spc="-140" dirty="0">
                <a:latin typeface="Arial"/>
                <a:cs typeface="Arial"/>
              </a:rPr>
              <a:t>a</a:t>
            </a:r>
            <a:r>
              <a:rPr sz="1800" spc="-90" dirty="0">
                <a:latin typeface="Arial"/>
                <a:cs typeface="Arial"/>
              </a:rPr>
              <a:t> </a:t>
            </a:r>
            <a:r>
              <a:rPr sz="1800" spc="-45" dirty="0">
                <a:latin typeface="Arial"/>
                <a:cs typeface="Arial"/>
              </a:rPr>
              <a:t>minimal</a:t>
            </a:r>
            <a:r>
              <a:rPr sz="1800" spc="-9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tour,</a:t>
            </a:r>
            <a:r>
              <a:rPr sz="1800" spc="-95" dirty="0">
                <a:latin typeface="Arial"/>
                <a:cs typeface="Arial"/>
              </a:rPr>
              <a:t> </a:t>
            </a:r>
            <a:r>
              <a:rPr sz="1800" spc="-60" dirty="0">
                <a:latin typeface="Arial"/>
                <a:cs typeface="Arial"/>
              </a:rPr>
              <a:t>we</a:t>
            </a:r>
            <a:r>
              <a:rPr sz="1800" spc="-90" dirty="0">
                <a:latin typeface="Arial"/>
                <a:cs typeface="Arial"/>
              </a:rPr>
              <a:t> </a:t>
            </a:r>
            <a:r>
              <a:rPr sz="1800" spc="-114" dirty="0">
                <a:latin typeface="Arial"/>
                <a:cs typeface="Arial"/>
              </a:rPr>
              <a:t>can</a:t>
            </a:r>
            <a:r>
              <a:rPr sz="1800" spc="-90" dirty="0">
                <a:latin typeface="Arial"/>
                <a:cs typeface="Arial"/>
              </a:rPr>
              <a:t> </a:t>
            </a:r>
            <a:r>
              <a:rPr sz="1800" spc="-120" dirty="0">
                <a:latin typeface="Arial"/>
                <a:cs typeface="Arial"/>
              </a:rPr>
              <a:t>use</a:t>
            </a:r>
            <a:r>
              <a:rPr sz="1800" spc="-85" dirty="0">
                <a:latin typeface="Arial"/>
                <a:cs typeface="Arial"/>
              </a:rPr>
              <a:t> </a:t>
            </a:r>
            <a:r>
              <a:rPr sz="1800" spc="55" dirty="0">
                <a:latin typeface="Arial"/>
                <a:cs typeface="Arial"/>
              </a:rPr>
              <a:t>it</a:t>
            </a:r>
            <a:r>
              <a:rPr sz="1800" spc="-9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without</a:t>
            </a:r>
            <a:r>
              <a:rPr sz="1800" spc="-9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further  </a:t>
            </a:r>
            <a:r>
              <a:rPr sz="1800" spc="-95" dirty="0">
                <a:latin typeface="Arial"/>
                <a:cs typeface="Arial"/>
              </a:rPr>
              <a:t>searching </a:t>
            </a:r>
            <a:r>
              <a:rPr sz="1800" spc="-10" dirty="0">
                <a:latin typeface="Arial"/>
                <a:cs typeface="Arial"/>
              </a:rPr>
              <a:t>of </a:t>
            </a:r>
            <a:r>
              <a:rPr sz="1800" spc="-25" dirty="0">
                <a:latin typeface="Arial"/>
                <a:cs typeface="Arial"/>
              </a:rPr>
              <a:t>the </a:t>
            </a:r>
            <a:r>
              <a:rPr sz="1800" spc="-90" dirty="0">
                <a:latin typeface="Arial"/>
                <a:cs typeface="Arial"/>
              </a:rPr>
              <a:t>state-space</a:t>
            </a:r>
            <a:r>
              <a:rPr sz="1800" spc="-245" dirty="0">
                <a:latin typeface="Arial"/>
                <a:cs typeface="Arial"/>
              </a:rPr>
              <a:t> </a:t>
            </a:r>
            <a:r>
              <a:rPr sz="1800" spc="-30" dirty="0">
                <a:latin typeface="Arial"/>
                <a:cs typeface="Arial"/>
              </a:rPr>
              <a:t>tree.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BD6522-C923-471B-8B5B-6AA753FC92A9}" type="slidenum">
              <a:rPr lang="en-US" altLang="zh-TW"/>
              <a:pPr/>
              <a:t>21</a:t>
            </a:fld>
            <a:endParaRPr lang="en-US" altLang="zh-TW"/>
          </a:p>
        </p:txBody>
      </p:sp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/>
              <a:t>The 0/1 knapsack problem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2017713"/>
            <a:ext cx="7772400" cy="4611687"/>
          </a:xfrm>
        </p:spPr>
        <p:txBody>
          <a:bodyPr>
            <a:normAutofit lnSpcReduction="10000"/>
          </a:bodyPr>
          <a:lstStyle/>
          <a:p>
            <a:pPr algn="ctr"/>
            <a:endParaRPr lang="en-US" altLang="zh-TW" sz="2000"/>
          </a:p>
          <a:p>
            <a:pPr algn="ctr"/>
            <a:endParaRPr lang="en-US" altLang="zh-TW" sz="2000"/>
          </a:p>
          <a:p>
            <a:pPr algn="ctr"/>
            <a:endParaRPr lang="en-US" altLang="zh-TW" sz="2000"/>
          </a:p>
          <a:p>
            <a:pPr algn="ctr"/>
            <a:endParaRPr lang="en-US" altLang="zh-TW" sz="2000"/>
          </a:p>
          <a:p>
            <a:pPr algn="ctr"/>
            <a:endParaRPr lang="en-US" altLang="zh-TW" sz="2000"/>
          </a:p>
          <a:p>
            <a:pPr algn="ctr"/>
            <a:endParaRPr lang="en-US" altLang="zh-TW" sz="2000"/>
          </a:p>
          <a:p>
            <a:pPr algn="ctr"/>
            <a:endParaRPr lang="en-US" altLang="zh-TW" sz="2000"/>
          </a:p>
          <a:p>
            <a:pPr algn="ctr"/>
            <a:endParaRPr lang="en-US" altLang="zh-TW" sz="2000"/>
          </a:p>
          <a:p>
            <a:pPr algn="ctr"/>
            <a:endParaRPr lang="en-US" altLang="zh-TW" sz="2000"/>
          </a:p>
          <a:p>
            <a:pPr algn="ctr"/>
            <a:endParaRPr lang="en-US" altLang="zh-TW" sz="2000"/>
          </a:p>
          <a:p>
            <a:pPr algn="ctr">
              <a:buFont typeface="Wingdings" pitchFamily="2" charset="2"/>
              <a:buNone/>
            </a:pPr>
            <a:r>
              <a:rPr lang="en-US" altLang="zh-TW" sz="2000"/>
              <a:t>	Fig. 6-27 The Branching Mechanism in the Branch-and-Bound Strategy to Solve 0/1 Knapsack Problem.</a:t>
            </a:r>
          </a:p>
          <a:p>
            <a:endParaRPr lang="en-US" altLang="zh-TW" sz="2000"/>
          </a:p>
        </p:txBody>
      </p:sp>
      <p:sp>
        <p:nvSpPr>
          <p:cNvPr id="34821" name="Rectangle 5"/>
          <p:cNvSpPr>
            <a:spLocks noChangeArrowheads="1"/>
          </p:cNvSpPr>
          <p:nvPr/>
        </p:nvSpPr>
        <p:spPr bwMode="auto">
          <a:xfrm>
            <a:off x="2519363" y="26336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graphicFrame>
        <p:nvGraphicFramePr>
          <p:cNvPr id="34820" name="Object 4"/>
          <p:cNvGraphicFramePr>
            <a:graphicFrameLocks noChangeAspect="1"/>
          </p:cNvGraphicFramePr>
          <p:nvPr/>
        </p:nvGraphicFramePr>
        <p:xfrm>
          <a:off x="2057400" y="2895600"/>
          <a:ext cx="5943600" cy="2303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r:id="rId3" imgW="4655238" imgH="1805714" progId="PI3.Image">
                  <p:embed/>
                </p:oleObj>
              </mc:Choice>
              <mc:Fallback>
                <p:oleObj r:id="rId3" imgW="4655238" imgH="1805714" progId="PI3.Imag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2895600"/>
                        <a:ext cx="5943600" cy="23034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13327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7986CD-231E-48CB-A8D6-2B4F200DE4DF}" type="slidenum">
              <a:rPr lang="en-US" altLang="zh-TW"/>
              <a:pPr/>
              <a:t>22</a:t>
            </a:fld>
            <a:endParaRPr lang="en-US" altLang="zh-TW"/>
          </a:p>
        </p:txBody>
      </p:sp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How to find the upper bound?</a:t>
            </a:r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/>
              <a:t>Ans: by quickly finding a feasible solution: starting from the smallest available i, scanning towards the largest i</a:t>
            </a:r>
            <a:r>
              <a:rPr lang="en-US" altLang="zh-TW">
                <a:latin typeface="Times New Roman"/>
              </a:rPr>
              <a:t>’</a:t>
            </a:r>
            <a:r>
              <a:rPr lang="en-US" altLang="zh-TW"/>
              <a:t>s until M is exceeded. The upper bound can be calculated.</a:t>
            </a:r>
          </a:p>
        </p:txBody>
      </p:sp>
    </p:spTree>
    <p:extLst>
      <p:ext uri="{BB962C8B-B14F-4D97-AF65-F5344CB8AC3E}">
        <p14:creationId xmlns:p14="http://schemas.microsoft.com/office/powerpoint/2010/main" val="2508989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7EA970-1229-460C-ACFA-0E19427C4B1B}" type="slidenum">
              <a:rPr lang="en-US" altLang="zh-TW"/>
              <a:pPr/>
              <a:t>23</a:t>
            </a:fld>
            <a:endParaRPr lang="en-US" altLang="zh-TW"/>
          </a:p>
        </p:txBody>
      </p:sp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/>
              <a:t>The 0/1 knapsack problem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2017713"/>
            <a:ext cx="7772400" cy="4840287"/>
          </a:xfrm>
        </p:spPr>
        <p:txBody>
          <a:bodyPr>
            <a:normAutofit lnSpcReduction="10000"/>
          </a:bodyPr>
          <a:lstStyle/>
          <a:p>
            <a:r>
              <a:rPr lang="en-US" altLang="zh-TW" sz="2000"/>
              <a:t>E.g. n = 6, M = 34</a:t>
            </a:r>
          </a:p>
          <a:p>
            <a:endParaRPr lang="en-US" altLang="zh-TW" sz="2000"/>
          </a:p>
          <a:p>
            <a:endParaRPr lang="en-US" altLang="zh-TW" sz="2000"/>
          </a:p>
          <a:p>
            <a:endParaRPr lang="en-US" altLang="zh-TW" sz="2000"/>
          </a:p>
          <a:p>
            <a:endParaRPr lang="en-US" altLang="zh-TW" sz="2000"/>
          </a:p>
          <a:p>
            <a:endParaRPr lang="en-US" altLang="zh-TW" sz="2000"/>
          </a:p>
          <a:p>
            <a:endParaRPr lang="en-US" altLang="zh-TW" sz="2000"/>
          </a:p>
          <a:p>
            <a:endParaRPr lang="en-US" altLang="zh-TW" sz="2000"/>
          </a:p>
          <a:p>
            <a:pPr algn="just"/>
            <a:r>
              <a:rPr lang="en-US" altLang="zh-TW" sz="2000"/>
              <a:t>A feasible solution: 	X</a:t>
            </a:r>
            <a:r>
              <a:rPr lang="en-US" altLang="zh-TW" sz="2000" baseline="-30000"/>
              <a:t>1</a:t>
            </a:r>
            <a:r>
              <a:rPr lang="en-US" altLang="zh-TW" sz="2000"/>
              <a:t> = 1, X</a:t>
            </a:r>
            <a:r>
              <a:rPr lang="en-US" altLang="zh-TW" sz="2000" baseline="-30000"/>
              <a:t>2</a:t>
            </a:r>
            <a:r>
              <a:rPr lang="en-US" altLang="zh-TW" sz="2000"/>
              <a:t> = 1, X</a:t>
            </a:r>
            <a:r>
              <a:rPr lang="en-US" altLang="zh-TW" sz="2000" baseline="-30000"/>
              <a:t>3</a:t>
            </a:r>
            <a:r>
              <a:rPr lang="en-US" altLang="zh-TW" sz="2000"/>
              <a:t> = 0, X</a:t>
            </a:r>
            <a:r>
              <a:rPr lang="en-US" altLang="zh-TW" sz="2000" baseline="-30000"/>
              <a:t>4</a:t>
            </a:r>
            <a:r>
              <a:rPr lang="en-US" altLang="zh-TW" sz="2000"/>
              <a:t> = 0, </a:t>
            </a:r>
          </a:p>
          <a:p>
            <a:pPr algn="just">
              <a:buFont typeface="Wingdings" pitchFamily="2" charset="2"/>
              <a:buNone/>
            </a:pPr>
            <a:r>
              <a:rPr lang="en-US" altLang="zh-TW" sz="2000"/>
              <a:t>	X</a:t>
            </a:r>
            <a:r>
              <a:rPr lang="en-US" altLang="zh-TW" sz="2000" baseline="-30000"/>
              <a:t>5</a:t>
            </a:r>
            <a:r>
              <a:rPr lang="en-US" altLang="zh-TW" sz="2000"/>
              <a:t> = 0, X</a:t>
            </a:r>
            <a:r>
              <a:rPr lang="en-US" altLang="zh-TW" sz="2000" baseline="-30000"/>
              <a:t>6</a:t>
            </a:r>
            <a:r>
              <a:rPr lang="en-US" altLang="zh-TW" sz="2000"/>
              <a:t> = 0</a:t>
            </a:r>
          </a:p>
          <a:p>
            <a:pPr algn="just">
              <a:buFont typeface="Wingdings" pitchFamily="2" charset="2"/>
              <a:buNone/>
            </a:pPr>
            <a:r>
              <a:rPr lang="en-US" altLang="zh-TW" sz="2000"/>
              <a:t>	-(P</a:t>
            </a:r>
            <a:r>
              <a:rPr lang="en-US" altLang="zh-TW" sz="2000" baseline="-30000"/>
              <a:t>1</a:t>
            </a:r>
            <a:r>
              <a:rPr lang="en-US" altLang="zh-TW" sz="2000"/>
              <a:t>+P</a:t>
            </a:r>
            <a:r>
              <a:rPr lang="en-US" altLang="zh-TW" sz="2000" baseline="-30000"/>
              <a:t>2</a:t>
            </a:r>
            <a:r>
              <a:rPr lang="en-US" altLang="zh-TW" sz="2000"/>
              <a:t>) = -16 (</a:t>
            </a:r>
            <a:r>
              <a:rPr lang="en-US" altLang="zh-TW" sz="2000">
                <a:solidFill>
                  <a:schemeClr val="hlink"/>
                </a:solidFill>
              </a:rPr>
              <a:t>upper bound</a:t>
            </a:r>
            <a:r>
              <a:rPr lang="en-US" altLang="zh-TW" sz="2000"/>
              <a:t>)</a:t>
            </a:r>
          </a:p>
          <a:p>
            <a:pPr algn="just">
              <a:buFont typeface="Wingdings" pitchFamily="2" charset="2"/>
              <a:buNone/>
            </a:pPr>
            <a:r>
              <a:rPr lang="en-US" altLang="zh-TW" sz="2000"/>
              <a:t>	Any solution higher than -16 can not be an optimal solution.</a:t>
            </a:r>
          </a:p>
          <a:p>
            <a:pPr>
              <a:buFont typeface="Wingdings" pitchFamily="2" charset="2"/>
              <a:buNone/>
            </a:pPr>
            <a:r>
              <a:rPr lang="en-US" altLang="zh-TW" sz="2000"/>
              <a:t> </a:t>
            </a:r>
          </a:p>
        </p:txBody>
      </p:sp>
      <p:grpSp>
        <p:nvGrpSpPr>
          <p:cNvPr id="35912" name="Group 72"/>
          <p:cNvGrpSpPr>
            <a:grpSpLocks/>
          </p:cNvGrpSpPr>
          <p:nvPr/>
        </p:nvGrpSpPr>
        <p:grpSpPr bwMode="auto">
          <a:xfrm>
            <a:off x="1752600" y="2590800"/>
            <a:ext cx="5565775" cy="2184400"/>
            <a:chOff x="-3" y="-3"/>
            <a:chExt cx="3506" cy="1888"/>
          </a:xfrm>
        </p:grpSpPr>
        <p:grpSp>
          <p:nvGrpSpPr>
            <p:cNvPr id="35910" name="Group 70"/>
            <p:cNvGrpSpPr>
              <a:grpSpLocks/>
            </p:cNvGrpSpPr>
            <p:nvPr/>
          </p:nvGrpSpPr>
          <p:grpSpPr bwMode="auto">
            <a:xfrm>
              <a:off x="0" y="0"/>
              <a:ext cx="3500" cy="1882"/>
              <a:chOff x="0" y="0"/>
              <a:chExt cx="3500" cy="1882"/>
            </a:xfrm>
          </p:grpSpPr>
          <p:grpSp>
            <p:nvGrpSpPr>
              <p:cNvPr id="35867" name="Group 27"/>
              <p:cNvGrpSpPr>
                <a:grpSpLocks/>
              </p:cNvGrpSpPr>
              <p:nvPr/>
            </p:nvGrpSpPr>
            <p:grpSpPr bwMode="auto">
              <a:xfrm>
                <a:off x="0" y="0"/>
                <a:ext cx="500" cy="480"/>
                <a:chOff x="0" y="0"/>
                <a:chExt cx="500" cy="480"/>
              </a:xfrm>
            </p:grpSpPr>
            <p:sp>
              <p:nvSpPr>
                <p:cNvPr id="35844" name="Rectangle 4"/>
                <p:cNvSpPr>
                  <a:spLocks noChangeArrowheads="1"/>
                </p:cNvSpPr>
                <p:nvPr/>
              </p:nvSpPr>
              <p:spPr bwMode="auto">
                <a:xfrm>
                  <a:off x="11" y="0"/>
                  <a:ext cx="478" cy="4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ctr"/>
                  <a:r>
                    <a:rPr lang="en-US" altLang="zh-TW" sz="2000">
                      <a:latin typeface="Times New Roman" pitchFamily="18" charset="0"/>
                    </a:rPr>
                    <a:t>i</a:t>
                  </a:r>
                  <a:endParaRPr lang="en-US" altLang="zh-TW" sz="1200">
                    <a:latin typeface="Times New Roman" pitchFamily="18" charset="0"/>
                  </a:endParaRPr>
                </a:p>
                <a:p>
                  <a:pPr algn="ctr" eaLnBrk="0" hangingPunct="0"/>
                  <a:endParaRPr lang="en-US" altLang="zh-TW">
                    <a:latin typeface="Times New Roman" pitchFamily="18" charset="0"/>
                  </a:endParaRPr>
                </a:p>
              </p:txBody>
            </p:sp>
            <p:sp>
              <p:nvSpPr>
                <p:cNvPr id="35866" name="Rectangle 26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500" cy="4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7">
                      <a:solidFill>
                        <a:srgbClr val="A0A0A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</p:grpSp>
          <p:grpSp>
            <p:nvGrpSpPr>
              <p:cNvPr id="35869" name="Group 29"/>
              <p:cNvGrpSpPr>
                <a:grpSpLocks/>
              </p:cNvGrpSpPr>
              <p:nvPr/>
            </p:nvGrpSpPr>
            <p:grpSpPr bwMode="auto">
              <a:xfrm>
                <a:off x="500" y="0"/>
                <a:ext cx="500" cy="480"/>
                <a:chOff x="500" y="0"/>
                <a:chExt cx="500" cy="480"/>
              </a:xfrm>
            </p:grpSpPr>
            <p:sp>
              <p:nvSpPr>
                <p:cNvPr id="35845" name="Rectangle 5"/>
                <p:cNvSpPr>
                  <a:spLocks noChangeArrowheads="1"/>
                </p:cNvSpPr>
                <p:nvPr/>
              </p:nvSpPr>
              <p:spPr bwMode="auto">
                <a:xfrm>
                  <a:off x="511" y="0"/>
                  <a:ext cx="478" cy="4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ctr"/>
                  <a:r>
                    <a:rPr lang="en-US" altLang="zh-TW" sz="2000">
                      <a:latin typeface="Times New Roman" pitchFamily="18" charset="0"/>
                    </a:rPr>
                    <a:t>1</a:t>
                  </a:r>
                  <a:endParaRPr lang="en-US" altLang="zh-TW" sz="1200">
                    <a:latin typeface="Times New Roman" pitchFamily="18" charset="0"/>
                  </a:endParaRPr>
                </a:p>
                <a:p>
                  <a:pPr algn="ctr" eaLnBrk="0" hangingPunct="0"/>
                  <a:endParaRPr lang="en-US" altLang="zh-TW">
                    <a:latin typeface="Times New Roman" pitchFamily="18" charset="0"/>
                  </a:endParaRPr>
                </a:p>
              </p:txBody>
            </p:sp>
            <p:sp>
              <p:nvSpPr>
                <p:cNvPr id="35868" name="Rectangle 28"/>
                <p:cNvSpPr>
                  <a:spLocks noChangeArrowheads="1"/>
                </p:cNvSpPr>
                <p:nvPr/>
              </p:nvSpPr>
              <p:spPr bwMode="auto">
                <a:xfrm>
                  <a:off x="500" y="0"/>
                  <a:ext cx="500" cy="4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7">
                      <a:solidFill>
                        <a:srgbClr val="A0A0A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</p:grpSp>
          <p:grpSp>
            <p:nvGrpSpPr>
              <p:cNvPr id="35871" name="Group 31"/>
              <p:cNvGrpSpPr>
                <a:grpSpLocks/>
              </p:cNvGrpSpPr>
              <p:nvPr/>
            </p:nvGrpSpPr>
            <p:grpSpPr bwMode="auto">
              <a:xfrm>
                <a:off x="1000" y="0"/>
                <a:ext cx="500" cy="480"/>
                <a:chOff x="1000" y="0"/>
                <a:chExt cx="500" cy="480"/>
              </a:xfrm>
            </p:grpSpPr>
            <p:sp>
              <p:nvSpPr>
                <p:cNvPr id="35846" name="Rectangle 6"/>
                <p:cNvSpPr>
                  <a:spLocks noChangeArrowheads="1"/>
                </p:cNvSpPr>
                <p:nvPr/>
              </p:nvSpPr>
              <p:spPr bwMode="auto">
                <a:xfrm>
                  <a:off x="1011" y="0"/>
                  <a:ext cx="478" cy="4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ctr"/>
                  <a:r>
                    <a:rPr lang="en-US" altLang="zh-TW" sz="2000">
                      <a:latin typeface="Times New Roman" pitchFamily="18" charset="0"/>
                    </a:rPr>
                    <a:t>2</a:t>
                  </a:r>
                  <a:endParaRPr lang="en-US" altLang="zh-TW" sz="1200">
                    <a:latin typeface="Times New Roman" pitchFamily="18" charset="0"/>
                  </a:endParaRPr>
                </a:p>
                <a:p>
                  <a:pPr algn="ctr" eaLnBrk="0" hangingPunct="0"/>
                  <a:endParaRPr lang="en-US" altLang="zh-TW">
                    <a:latin typeface="Times New Roman" pitchFamily="18" charset="0"/>
                  </a:endParaRPr>
                </a:p>
              </p:txBody>
            </p:sp>
            <p:sp>
              <p:nvSpPr>
                <p:cNvPr id="35870" name="Rectangle 30"/>
                <p:cNvSpPr>
                  <a:spLocks noChangeArrowheads="1"/>
                </p:cNvSpPr>
                <p:nvPr/>
              </p:nvSpPr>
              <p:spPr bwMode="auto">
                <a:xfrm>
                  <a:off x="1000" y="0"/>
                  <a:ext cx="500" cy="4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7">
                      <a:solidFill>
                        <a:srgbClr val="A0A0A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</p:grpSp>
          <p:grpSp>
            <p:nvGrpSpPr>
              <p:cNvPr id="35873" name="Group 33"/>
              <p:cNvGrpSpPr>
                <a:grpSpLocks/>
              </p:cNvGrpSpPr>
              <p:nvPr/>
            </p:nvGrpSpPr>
            <p:grpSpPr bwMode="auto">
              <a:xfrm>
                <a:off x="1500" y="0"/>
                <a:ext cx="500" cy="480"/>
                <a:chOff x="1500" y="0"/>
                <a:chExt cx="500" cy="480"/>
              </a:xfrm>
            </p:grpSpPr>
            <p:sp>
              <p:nvSpPr>
                <p:cNvPr id="35847" name="Rectangle 7"/>
                <p:cNvSpPr>
                  <a:spLocks noChangeArrowheads="1"/>
                </p:cNvSpPr>
                <p:nvPr/>
              </p:nvSpPr>
              <p:spPr bwMode="auto">
                <a:xfrm>
                  <a:off x="1511" y="0"/>
                  <a:ext cx="478" cy="4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ctr"/>
                  <a:r>
                    <a:rPr lang="en-US" altLang="zh-TW" sz="2000">
                      <a:latin typeface="Times New Roman" pitchFamily="18" charset="0"/>
                    </a:rPr>
                    <a:t>3</a:t>
                  </a:r>
                  <a:endParaRPr lang="en-US" altLang="zh-TW" sz="1200">
                    <a:latin typeface="Times New Roman" pitchFamily="18" charset="0"/>
                  </a:endParaRPr>
                </a:p>
                <a:p>
                  <a:pPr algn="ctr" eaLnBrk="0" hangingPunct="0"/>
                  <a:endParaRPr lang="en-US" altLang="zh-TW">
                    <a:latin typeface="Times New Roman" pitchFamily="18" charset="0"/>
                  </a:endParaRPr>
                </a:p>
              </p:txBody>
            </p:sp>
            <p:sp>
              <p:nvSpPr>
                <p:cNvPr id="35872" name="Rectangle 32"/>
                <p:cNvSpPr>
                  <a:spLocks noChangeArrowheads="1"/>
                </p:cNvSpPr>
                <p:nvPr/>
              </p:nvSpPr>
              <p:spPr bwMode="auto">
                <a:xfrm>
                  <a:off x="1500" y="0"/>
                  <a:ext cx="500" cy="4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7">
                      <a:solidFill>
                        <a:srgbClr val="A0A0A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</p:grpSp>
          <p:grpSp>
            <p:nvGrpSpPr>
              <p:cNvPr id="35875" name="Group 35"/>
              <p:cNvGrpSpPr>
                <a:grpSpLocks/>
              </p:cNvGrpSpPr>
              <p:nvPr/>
            </p:nvGrpSpPr>
            <p:grpSpPr bwMode="auto">
              <a:xfrm>
                <a:off x="2000" y="0"/>
                <a:ext cx="500" cy="480"/>
                <a:chOff x="2000" y="0"/>
                <a:chExt cx="500" cy="480"/>
              </a:xfrm>
            </p:grpSpPr>
            <p:sp>
              <p:nvSpPr>
                <p:cNvPr id="35848" name="Rectangle 8"/>
                <p:cNvSpPr>
                  <a:spLocks noChangeArrowheads="1"/>
                </p:cNvSpPr>
                <p:nvPr/>
              </p:nvSpPr>
              <p:spPr bwMode="auto">
                <a:xfrm>
                  <a:off x="2011" y="0"/>
                  <a:ext cx="478" cy="4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ctr"/>
                  <a:r>
                    <a:rPr lang="en-US" altLang="zh-TW" sz="2000">
                      <a:latin typeface="Times New Roman" pitchFamily="18" charset="0"/>
                    </a:rPr>
                    <a:t>4</a:t>
                  </a:r>
                  <a:endParaRPr lang="en-US" altLang="zh-TW" sz="1200">
                    <a:latin typeface="Times New Roman" pitchFamily="18" charset="0"/>
                  </a:endParaRPr>
                </a:p>
                <a:p>
                  <a:pPr algn="ctr" eaLnBrk="0" hangingPunct="0"/>
                  <a:endParaRPr lang="en-US" altLang="zh-TW">
                    <a:latin typeface="Times New Roman" pitchFamily="18" charset="0"/>
                  </a:endParaRPr>
                </a:p>
              </p:txBody>
            </p:sp>
            <p:sp>
              <p:nvSpPr>
                <p:cNvPr id="35874" name="Rectangle 34"/>
                <p:cNvSpPr>
                  <a:spLocks noChangeArrowheads="1"/>
                </p:cNvSpPr>
                <p:nvPr/>
              </p:nvSpPr>
              <p:spPr bwMode="auto">
                <a:xfrm>
                  <a:off x="2000" y="0"/>
                  <a:ext cx="500" cy="4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7">
                      <a:solidFill>
                        <a:srgbClr val="A0A0A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</p:grpSp>
          <p:grpSp>
            <p:nvGrpSpPr>
              <p:cNvPr id="35877" name="Group 37"/>
              <p:cNvGrpSpPr>
                <a:grpSpLocks/>
              </p:cNvGrpSpPr>
              <p:nvPr/>
            </p:nvGrpSpPr>
            <p:grpSpPr bwMode="auto">
              <a:xfrm>
                <a:off x="2500" y="0"/>
                <a:ext cx="500" cy="480"/>
                <a:chOff x="2500" y="0"/>
                <a:chExt cx="500" cy="480"/>
              </a:xfrm>
            </p:grpSpPr>
            <p:sp>
              <p:nvSpPr>
                <p:cNvPr id="35849" name="Rectangle 9"/>
                <p:cNvSpPr>
                  <a:spLocks noChangeArrowheads="1"/>
                </p:cNvSpPr>
                <p:nvPr/>
              </p:nvSpPr>
              <p:spPr bwMode="auto">
                <a:xfrm>
                  <a:off x="2511" y="0"/>
                  <a:ext cx="478" cy="4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ctr"/>
                  <a:r>
                    <a:rPr lang="en-US" altLang="zh-TW" sz="2000">
                      <a:latin typeface="Times New Roman" pitchFamily="18" charset="0"/>
                    </a:rPr>
                    <a:t>5</a:t>
                  </a:r>
                  <a:endParaRPr lang="en-US" altLang="zh-TW" sz="1200">
                    <a:latin typeface="Times New Roman" pitchFamily="18" charset="0"/>
                  </a:endParaRPr>
                </a:p>
                <a:p>
                  <a:pPr algn="ctr" eaLnBrk="0" hangingPunct="0"/>
                  <a:endParaRPr lang="en-US" altLang="zh-TW">
                    <a:latin typeface="Times New Roman" pitchFamily="18" charset="0"/>
                  </a:endParaRPr>
                </a:p>
              </p:txBody>
            </p:sp>
            <p:sp>
              <p:nvSpPr>
                <p:cNvPr id="35876" name="Rectangle 36"/>
                <p:cNvSpPr>
                  <a:spLocks noChangeArrowheads="1"/>
                </p:cNvSpPr>
                <p:nvPr/>
              </p:nvSpPr>
              <p:spPr bwMode="auto">
                <a:xfrm>
                  <a:off x="2500" y="0"/>
                  <a:ext cx="500" cy="4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7">
                      <a:solidFill>
                        <a:srgbClr val="A0A0A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</p:grpSp>
          <p:grpSp>
            <p:nvGrpSpPr>
              <p:cNvPr id="35879" name="Group 39"/>
              <p:cNvGrpSpPr>
                <a:grpSpLocks/>
              </p:cNvGrpSpPr>
              <p:nvPr/>
            </p:nvGrpSpPr>
            <p:grpSpPr bwMode="auto">
              <a:xfrm>
                <a:off x="3000" y="0"/>
                <a:ext cx="500" cy="480"/>
                <a:chOff x="3000" y="0"/>
                <a:chExt cx="500" cy="480"/>
              </a:xfrm>
            </p:grpSpPr>
            <p:sp>
              <p:nvSpPr>
                <p:cNvPr id="35850" name="Rectangle 10"/>
                <p:cNvSpPr>
                  <a:spLocks noChangeArrowheads="1"/>
                </p:cNvSpPr>
                <p:nvPr/>
              </p:nvSpPr>
              <p:spPr bwMode="auto">
                <a:xfrm>
                  <a:off x="3011" y="0"/>
                  <a:ext cx="478" cy="4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ctr"/>
                  <a:r>
                    <a:rPr lang="en-US" altLang="zh-TW" sz="2000">
                      <a:latin typeface="Times New Roman" pitchFamily="18" charset="0"/>
                    </a:rPr>
                    <a:t>6</a:t>
                  </a:r>
                  <a:endParaRPr lang="en-US" altLang="zh-TW" sz="1200">
                    <a:latin typeface="Times New Roman" pitchFamily="18" charset="0"/>
                  </a:endParaRPr>
                </a:p>
                <a:p>
                  <a:pPr algn="ctr" eaLnBrk="0" hangingPunct="0"/>
                  <a:endParaRPr lang="en-US" altLang="zh-TW">
                    <a:latin typeface="Times New Roman" pitchFamily="18" charset="0"/>
                  </a:endParaRPr>
                </a:p>
              </p:txBody>
            </p:sp>
            <p:sp>
              <p:nvSpPr>
                <p:cNvPr id="35878" name="Rectangle 38"/>
                <p:cNvSpPr>
                  <a:spLocks noChangeArrowheads="1"/>
                </p:cNvSpPr>
                <p:nvPr/>
              </p:nvSpPr>
              <p:spPr bwMode="auto">
                <a:xfrm>
                  <a:off x="3000" y="0"/>
                  <a:ext cx="500" cy="4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7">
                      <a:solidFill>
                        <a:srgbClr val="A0A0A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</p:grpSp>
          <p:grpSp>
            <p:nvGrpSpPr>
              <p:cNvPr id="35881" name="Group 41"/>
              <p:cNvGrpSpPr>
                <a:grpSpLocks/>
              </p:cNvGrpSpPr>
              <p:nvPr/>
            </p:nvGrpSpPr>
            <p:grpSpPr bwMode="auto">
              <a:xfrm>
                <a:off x="0" y="480"/>
                <a:ext cx="500" cy="480"/>
                <a:chOff x="0" y="480"/>
                <a:chExt cx="500" cy="480"/>
              </a:xfrm>
            </p:grpSpPr>
            <p:sp>
              <p:nvSpPr>
                <p:cNvPr id="35851" name="Rectangle 11"/>
                <p:cNvSpPr>
                  <a:spLocks noChangeArrowheads="1"/>
                </p:cNvSpPr>
                <p:nvPr/>
              </p:nvSpPr>
              <p:spPr bwMode="auto">
                <a:xfrm>
                  <a:off x="11" y="480"/>
                  <a:ext cx="478" cy="4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ctr"/>
                  <a:r>
                    <a:rPr lang="en-US" altLang="zh-TW" sz="2000">
                      <a:latin typeface="Times New Roman" pitchFamily="18" charset="0"/>
                    </a:rPr>
                    <a:t>P</a:t>
                  </a:r>
                  <a:r>
                    <a:rPr lang="en-US" altLang="zh-TW" sz="2000" baseline="-30000">
                      <a:latin typeface="Times New Roman" pitchFamily="18" charset="0"/>
                    </a:rPr>
                    <a:t>i</a:t>
                  </a:r>
                  <a:endParaRPr lang="en-US" altLang="zh-TW" sz="1200">
                    <a:latin typeface="Times New Roman" pitchFamily="18" charset="0"/>
                  </a:endParaRPr>
                </a:p>
                <a:p>
                  <a:pPr algn="ctr" eaLnBrk="0" hangingPunct="0"/>
                  <a:endParaRPr lang="en-US" altLang="zh-TW">
                    <a:latin typeface="Times New Roman" pitchFamily="18" charset="0"/>
                  </a:endParaRPr>
                </a:p>
              </p:txBody>
            </p:sp>
            <p:sp>
              <p:nvSpPr>
                <p:cNvPr id="35880" name="Rectangle 40"/>
                <p:cNvSpPr>
                  <a:spLocks noChangeArrowheads="1"/>
                </p:cNvSpPr>
                <p:nvPr/>
              </p:nvSpPr>
              <p:spPr bwMode="auto">
                <a:xfrm>
                  <a:off x="0" y="480"/>
                  <a:ext cx="500" cy="4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7">
                      <a:solidFill>
                        <a:srgbClr val="A0A0A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</p:grpSp>
          <p:grpSp>
            <p:nvGrpSpPr>
              <p:cNvPr id="35883" name="Group 43"/>
              <p:cNvGrpSpPr>
                <a:grpSpLocks/>
              </p:cNvGrpSpPr>
              <p:nvPr/>
            </p:nvGrpSpPr>
            <p:grpSpPr bwMode="auto">
              <a:xfrm>
                <a:off x="500" y="480"/>
                <a:ext cx="500" cy="480"/>
                <a:chOff x="500" y="480"/>
                <a:chExt cx="500" cy="480"/>
              </a:xfrm>
            </p:grpSpPr>
            <p:sp>
              <p:nvSpPr>
                <p:cNvPr id="35852" name="Rectangle 12"/>
                <p:cNvSpPr>
                  <a:spLocks noChangeArrowheads="1"/>
                </p:cNvSpPr>
                <p:nvPr/>
              </p:nvSpPr>
              <p:spPr bwMode="auto">
                <a:xfrm>
                  <a:off x="511" y="480"/>
                  <a:ext cx="478" cy="4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ctr"/>
                  <a:r>
                    <a:rPr lang="en-US" altLang="zh-TW" sz="2000">
                      <a:latin typeface="Times New Roman" pitchFamily="18" charset="0"/>
                    </a:rPr>
                    <a:t>6</a:t>
                  </a:r>
                  <a:endParaRPr lang="en-US" altLang="zh-TW" sz="1200">
                    <a:latin typeface="Times New Roman" pitchFamily="18" charset="0"/>
                  </a:endParaRPr>
                </a:p>
                <a:p>
                  <a:pPr algn="ctr" eaLnBrk="0" hangingPunct="0"/>
                  <a:endParaRPr lang="en-US" altLang="zh-TW">
                    <a:latin typeface="Times New Roman" pitchFamily="18" charset="0"/>
                  </a:endParaRPr>
                </a:p>
              </p:txBody>
            </p:sp>
            <p:sp>
              <p:nvSpPr>
                <p:cNvPr id="35882" name="Rectangle 42"/>
                <p:cNvSpPr>
                  <a:spLocks noChangeArrowheads="1"/>
                </p:cNvSpPr>
                <p:nvPr/>
              </p:nvSpPr>
              <p:spPr bwMode="auto">
                <a:xfrm>
                  <a:off x="500" y="480"/>
                  <a:ext cx="500" cy="4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7">
                      <a:solidFill>
                        <a:srgbClr val="A0A0A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</p:grpSp>
          <p:grpSp>
            <p:nvGrpSpPr>
              <p:cNvPr id="35885" name="Group 45"/>
              <p:cNvGrpSpPr>
                <a:grpSpLocks/>
              </p:cNvGrpSpPr>
              <p:nvPr/>
            </p:nvGrpSpPr>
            <p:grpSpPr bwMode="auto">
              <a:xfrm>
                <a:off x="1000" y="480"/>
                <a:ext cx="500" cy="480"/>
                <a:chOff x="1000" y="480"/>
                <a:chExt cx="500" cy="480"/>
              </a:xfrm>
            </p:grpSpPr>
            <p:sp>
              <p:nvSpPr>
                <p:cNvPr id="35853" name="Rectangle 13"/>
                <p:cNvSpPr>
                  <a:spLocks noChangeArrowheads="1"/>
                </p:cNvSpPr>
                <p:nvPr/>
              </p:nvSpPr>
              <p:spPr bwMode="auto">
                <a:xfrm>
                  <a:off x="1011" y="480"/>
                  <a:ext cx="478" cy="4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ctr"/>
                  <a:r>
                    <a:rPr lang="en-US" altLang="zh-TW" sz="2000">
                      <a:latin typeface="Times New Roman" pitchFamily="18" charset="0"/>
                    </a:rPr>
                    <a:t>10</a:t>
                  </a:r>
                  <a:endParaRPr lang="en-US" altLang="zh-TW" sz="1200">
                    <a:latin typeface="Times New Roman" pitchFamily="18" charset="0"/>
                  </a:endParaRPr>
                </a:p>
                <a:p>
                  <a:pPr algn="ctr" eaLnBrk="0" hangingPunct="0"/>
                  <a:endParaRPr lang="en-US" altLang="zh-TW">
                    <a:latin typeface="Times New Roman" pitchFamily="18" charset="0"/>
                  </a:endParaRPr>
                </a:p>
              </p:txBody>
            </p:sp>
            <p:sp>
              <p:nvSpPr>
                <p:cNvPr id="35884" name="Rectangle 44"/>
                <p:cNvSpPr>
                  <a:spLocks noChangeArrowheads="1"/>
                </p:cNvSpPr>
                <p:nvPr/>
              </p:nvSpPr>
              <p:spPr bwMode="auto">
                <a:xfrm>
                  <a:off x="1000" y="480"/>
                  <a:ext cx="500" cy="4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7">
                      <a:solidFill>
                        <a:srgbClr val="A0A0A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</p:grpSp>
          <p:grpSp>
            <p:nvGrpSpPr>
              <p:cNvPr id="35887" name="Group 47"/>
              <p:cNvGrpSpPr>
                <a:grpSpLocks/>
              </p:cNvGrpSpPr>
              <p:nvPr/>
            </p:nvGrpSpPr>
            <p:grpSpPr bwMode="auto">
              <a:xfrm>
                <a:off x="1500" y="480"/>
                <a:ext cx="500" cy="480"/>
                <a:chOff x="1500" y="480"/>
                <a:chExt cx="500" cy="480"/>
              </a:xfrm>
            </p:grpSpPr>
            <p:sp>
              <p:nvSpPr>
                <p:cNvPr id="35854" name="Rectangle 14"/>
                <p:cNvSpPr>
                  <a:spLocks noChangeArrowheads="1"/>
                </p:cNvSpPr>
                <p:nvPr/>
              </p:nvSpPr>
              <p:spPr bwMode="auto">
                <a:xfrm>
                  <a:off x="1511" y="480"/>
                  <a:ext cx="478" cy="4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ctr"/>
                  <a:r>
                    <a:rPr lang="en-US" altLang="zh-TW" sz="2000">
                      <a:latin typeface="Times New Roman" pitchFamily="18" charset="0"/>
                    </a:rPr>
                    <a:t>4</a:t>
                  </a:r>
                  <a:endParaRPr lang="en-US" altLang="zh-TW" sz="1200">
                    <a:latin typeface="Times New Roman" pitchFamily="18" charset="0"/>
                  </a:endParaRPr>
                </a:p>
                <a:p>
                  <a:pPr algn="ctr" eaLnBrk="0" hangingPunct="0"/>
                  <a:endParaRPr lang="en-US" altLang="zh-TW">
                    <a:latin typeface="Times New Roman" pitchFamily="18" charset="0"/>
                  </a:endParaRPr>
                </a:p>
              </p:txBody>
            </p:sp>
            <p:sp>
              <p:nvSpPr>
                <p:cNvPr id="35886" name="Rectangle 46"/>
                <p:cNvSpPr>
                  <a:spLocks noChangeArrowheads="1"/>
                </p:cNvSpPr>
                <p:nvPr/>
              </p:nvSpPr>
              <p:spPr bwMode="auto">
                <a:xfrm>
                  <a:off x="1500" y="480"/>
                  <a:ext cx="500" cy="4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7">
                      <a:solidFill>
                        <a:srgbClr val="A0A0A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</p:grpSp>
          <p:grpSp>
            <p:nvGrpSpPr>
              <p:cNvPr id="35889" name="Group 49"/>
              <p:cNvGrpSpPr>
                <a:grpSpLocks/>
              </p:cNvGrpSpPr>
              <p:nvPr/>
            </p:nvGrpSpPr>
            <p:grpSpPr bwMode="auto">
              <a:xfrm>
                <a:off x="2000" y="480"/>
                <a:ext cx="500" cy="480"/>
                <a:chOff x="2000" y="480"/>
                <a:chExt cx="500" cy="480"/>
              </a:xfrm>
            </p:grpSpPr>
            <p:sp>
              <p:nvSpPr>
                <p:cNvPr id="35855" name="Rectangle 15"/>
                <p:cNvSpPr>
                  <a:spLocks noChangeArrowheads="1"/>
                </p:cNvSpPr>
                <p:nvPr/>
              </p:nvSpPr>
              <p:spPr bwMode="auto">
                <a:xfrm>
                  <a:off x="2011" y="480"/>
                  <a:ext cx="478" cy="4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ctr"/>
                  <a:r>
                    <a:rPr lang="en-US" altLang="zh-TW" sz="2000">
                      <a:latin typeface="Times New Roman" pitchFamily="18" charset="0"/>
                    </a:rPr>
                    <a:t>5</a:t>
                  </a:r>
                  <a:endParaRPr lang="en-US" altLang="zh-TW" sz="1200">
                    <a:latin typeface="Times New Roman" pitchFamily="18" charset="0"/>
                  </a:endParaRPr>
                </a:p>
                <a:p>
                  <a:pPr algn="ctr" eaLnBrk="0" hangingPunct="0"/>
                  <a:endParaRPr lang="en-US" altLang="zh-TW">
                    <a:latin typeface="Times New Roman" pitchFamily="18" charset="0"/>
                  </a:endParaRPr>
                </a:p>
              </p:txBody>
            </p:sp>
            <p:sp>
              <p:nvSpPr>
                <p:cNvPr id="35888" name="Rectangle 48"/>
                <p:cNvSpPr>
                  <a:spLocks noChangeArrowheads="1"/>
                </p:cNvSpPr>
                <p:nvPr/>
              </p:nvSpPr>
              <p:spPr bwMode="auto">
                <a:xfrm>
                  <a:off x="2000" y="480"/>
                  <a:ext cx="500" cy="4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7">
                      <a:solidFill>
                        <a:srgbClr val="A0A0A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</p:grpSp>
          <p:grpSp>
            <p:nvGrpSpPr>
              <p:cNvPr id="35891" name="Group 51"/>
              <p:cNvGrpSpPr>
                <a:grpSpLocks/>
              </p:cNvGrpSpPr>
              <p:nvPr/>
            </p:nvGrpSpPr>
            <p:grpSpPr bwMode="auto">
              <a:xfrm>
                <a:off x="2500" y="480"/>
                <a:ext cx="500" cy="480"/>
                <a:chOff x="2500" y="480"/>
                <a:chExt cx="500" cy="480"/>
              </a:xfrm>
            </p:grpSpPr>
            <p:sp>
              <p:nvSpPr>
                <p:cNvPr id="35856" name="Rectangle 16"/>
                <p:cNvSpPr>
                  <a:spLocks noChangeArrowheads="1"/>
                </p:cNvSpPr>
                <p:nvPr/>
              </p:nvSpPr>
              <p:spPr bwMode="auto">
                <a:xfrm>
                  <a:off x="2511" y="480"/>
                  <a:ext cx="478" cy="4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ctr"/>
                  <a:r>
                    <a:rPr lang="en-US" altLang="zh-TW" sz="2000">
                      <a:latin typeface="Times New Roman" pitchFamily="18" charset="0"/>
                    </a:rPr>
                    <a:t>6</a:t>
                  </a:r>
                  <a:endParaRPr lang="en-US" altLang="zh-TW" sz="1200">
                    <a:latin typeface="Times New Roman" pitchFamily="18" charset="0"/>
                  </a:endParaRPr>
                </a:p>
                <a:p>
                  <a:pPr algn="ctr" eaLnBrk="0" hangingPunct="0"/>
                  <a:endParaRPr lang="en-US" altLang="zh-TW">
                    <a:latin typeface="Times New Roman" pitchFamily="18" charset="0"/>
                  </a:endParaRPr>
                </a:p>
              </p:txBody>
            </p:sp>
            <p:sp>
              <p:nvSpPr>
                <p:cNvPr id="35890" name="Rectangle 50"/>
                <p:cNvSpPr>
                  <a:spLocks noChangeArrowheads="1"/>
                </p:cNvSpPr>
                <p:nvPr/>
              </p:nvSpPr>
              <p:spPr bwMode="auto">
                <a:xfrm>
                  <a:off x="2500" y="480"/>
                  <a:ext cx="500" cy="4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7">
                      <a:solidFill>
                        <a:srgbClr val="A0A0A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</p:grpSp>
          <p:grpSp>
            <p:nvGrpSpPr>
              <p:cNvPr id="35893" name="Group 53"/>
              <p:cNvGrpSpPr>
                <a:grpSpLocks/>
              </p:cNvGrpSpPr>
              <p:nvPr/>
            </p:nvGrpSpPr>
            <p:grpSpPr bwMode="auto">
              <a:xfrm>
                <a:off x="3000" y="480"/>
                <a:ext cx="500" cy="480"/>
                <a:chOff x="3000" y="480"/>
                <a:chExt cx="500" cy="480"/>
              </a:xfrm>
            </p:grpSpPr>
            <p:sp>
              <p:nvSpPr>
                <p:cNvPr id="35857" name="Rectangle 17"/>
                <p:cNvSpPr>
                  <a:spLocks noChangeArrowheads="1"/>
                </p:cNvSpPr>
                <p:nvPr/>
              </p:nvSpPr>
              <p:spPr bwMode="auto">
                <a:xfrm>
                  <a:off x="3011" y="480"/>
                  <a:ext cx="478" cy="4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ctr"/>
                  <a:r>
                    <a:rPr lang="en-US" altLang="zh-TW" sz="2000">
                      <a:latin typeface="Times New Roman" pitchFamily="18" charset="0"/>
                    </a:rPr>
                    <a:t>4</a:t>
                  </a:r>
                  <a:endParaRPr lang="en-US" altLang="zh-TW" sz="1200">
                    <a:latin typeface="Times New Roman" pitchFamily="18" charset="0"/>
                  </a:endParaRPr>
                </a:p>
                <a:p>
                  <a:pPr algn="ctr" eaLnBrk="0" hangingPunct="0"/>
                  <a:endParaRPr lang="en-US" altLang="zh-TW">
                    <a:latin typeface="Times New Roman" pitchFamily="18" charset="0"/>
                  </a:endParaRPr>
                </a:p>
              </p:txBody>
            </p:sp>
            <p:sp>
              <p:nvSpPr>
                <p:cNvPr id="35892" name="Rectangle 52"/>
                <p:cNvSpPr>
                  <a:spLocks noChangeArrowheads="1"/>
                </p:cNvSpPr>
                <p:nvPr/>
              </p:nvSpPr>
              <p:spPr bwMode="auto">
                <a:xfrm>
                  <a:off x="3000" y="480"/>
                  <a:ext cx="500" cy="4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7">
                      <a:solidFill>
                        <a:srgbClr val="A0A0A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</p:grpSp>
          <p:grpSp>
            <p:nvGrpSpPr>
              <p:cNvPr id="35895" name="Group 55"/>
              <p:cNvGrpSpPr>
                <a:grpSpLocks/>
              </p:cNvGrpSpPr>
              <p:nvPr/>
            </p:nvGrpSpPr>
            <p:grpSpPr bwMode="auto">
              <a:xfrm>
                <a:off x="0" y="960"/>
                <a:ext cx="500" cy="480"/>
                <a:chOff x="0" y="960"/>
                <a:chExt cx="500" cy="480"/>
              </a:xfrm>
            </p:grpSpPr>
            <p:sp>
              <p:nvSpPr>
                <p:cNvPr id="35858" name="Rectangle 18"/>
                <p:cNvSpPr>
                  <a:spLocks noChangeArrowheads="1"/>
                </p:cNvSpPr>
                <p:nvPr/>
              </p:nvSpPr>
              <p:spPr bwMode="auto">
                <a:xfrm>
                  <a:off x="11" y="960"/>
                  <a:ext cx="478" cy="4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ctr"/>
                  <a:r>
                    <a:rPr lang="en-US" altLang="zh-TW" sz="2000">
                      <a:latin typeface="Times New Roman" pitchFamily="18" charset="0"/>
                    </a:rPr>
                    <a:t>W</a:t>
                  </a:r>
                  <a:r>
                    <a:rPr lang="en-US" altLang="zh-TW" sz="2000" baseline="-30000">
                      <a:latin typeface="Times New Roman" pitchFamily="18" charset="0"/>
                    </a:rPr>
                    <a:t>i</a:t>
                  </a:r>
                  <a:endParaRPr lang="en-US" altLang="zh-TW" sz="1200">
                    <a:latin typeface="Times New Roman" pitchFamily="18" charset="0"/>
                  </a:endParaRPr>
                </a:p>
                <a:p>
                  <a:pPr algn="ctr" eaLnBrk="0" hangingPunct="0"/>
                  <a:endParaRPr lang="en-US" altLang="zh-TW">
                    <a:latin typeface="Times New Roman" pitchFamily="18" charset="0"/>
                  </a:endParaRPr>
                </a:p>
              </p:txBody>
            </p:sp>
            <p:sp>
              <p:nvSpPr>
                <p:cNvPr id="35894" name="Rectangle 54"/>
                <p:cNvSpPr>
                  <a:spLocks noChangeArrowheads="1"/>
                </p:cNvSpPr>
                <p:nvPr/>
              </p:nvSpPr>
              <p:spPr bwMode="auto">
                <a:xfrm>
                  <a:off x="0" y="960"/>
                  <a:ext cx="500" cy="4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7">
                      <a:solidFill>
                        <a:srgbClr val="A0A0A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</p:grpSp>
          <p:grpSp>
            <p:nvGrpSpPr>
              <p:cNvPr id="35897" name="Group 57"/>
              <p:cNvGrpSpPr>
                <a:grpSpLocks/>
              </p:cNvGrpSpPr>
              <p:nvPr/>
            </p:nvGrpSpPr>
            <p:grpSpPr bwMode="auto">
              <a:xfrm>
                <a:off x="500" y="960"/>
                <a:ext cx="500" cy="480"/>
                <a:chOff x="500" y="960"/>
                <a:chExt cx="500" cy="480"/>
              </a:xfrm>
            </p:grpSpPr>
            <p:sp>
              <p:nvSpPr>
                <p:cNvPr id="35859" name="Rectangle 19"/>
                <p:cNvSpPr>
                  <a:spLocks noChangeArrowheads="1"/>
                </p:cNvSpPr>
                <p:nvPr/>
              </p:nvSpPr>
              <p:spPr bwMode="auto">
                <a:xfrm>
                  <a:off x="511" y="960"/>
                  <a:ext cx="478" cy="4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ctr"/>
                  <a:r>
                    <a:rPr lang="en-US" altLang="zh-TW" sz="2000">
                      <a:latin typeface="Times New Roman" pitchFamily="18" charset="0"/>
                    </a:rPr>
                    <a:t>10</a:t>
                  </a:r>
                  <a:endParaRPr lang="en-US" altLang="zh-TW" sz="1200">
                    <a:latin typeface="Times New Roman" pitchFamily="18" charset="0"/>
                  </a:endParaRPr>
                </a:p>
                <a:p>
                  <a:pPr algn="ctr" eaLnBrk="0" hangingPunct="0"/>
                  <a:endParaRPr lang="en-US" altLang="zh-TW">
                    <a:latin typeface="Times New Roman" pitchFamily="18" charset="0"/>
                  </a:endParaRPr>
                </a:p>
              </p:txBody>
            </p:sp>
            <p:sp>
              <p:nvSpPr>
                <p:cNvPr id="35896" name="Rectangle 56"/>
                <p:cNvSpPr>
                  <a:spLocks noChangeArrowheads="1"/>
                </p:cNvSpPr>
                <p:nvPr/>
              </p:nvSpPr>
              <p:spPr bwMode="auto">
                <a:xfrm>
                  <a:off x="500" y="960"/>
                  <a:ext cx="500" cy="4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7">
                      <a:solidFill>
                        <a:srgbClr val="A0A0A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</p:grpSp>
          <p:grpSp>
            <p:nvGrpSpPr>
              <p:cNvPr id="35899" name="Group 59"/>
              <p:cNvGrpSpPr>
                <a:grpSpLocks/>
              </p:cNvGrpSpPr>
              <p:nvPr/>
            </p:nvGrpSpPr>
            <p:grpSpPr bwMode="auto">
              <a:xfrm>
                <a:off x="1000" y="960"/>
                <a:ext cx="500" cy="480"/>
                <a:chOff x="1000" y="960"/>
                <a:chExt cx="500" cy="480"/>
              </a:xfrm>
            </p:grpSpPr>
            <p:sp>
              <p:nvSpPr>
                <p:cNvPr id="35860" name="Rectangle 20"/>
                <p:cNvSpPr>
                  <a:spLocks noChangeArrowheads="1"/>
                </p:cNvSpPr>
                <p:nvPr/>
              </p:nvSpPr>
              <p:spPr bwMode="auto">
                <a:xfrm>
                  <a:off x="1011" y="960"/>
                  <a:ext cx="478" cy="4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ctr"/>
                  <a:r>
                    <a:rPr lang="en-US" altLang="zh-TW" sz="2000">
                      <a:latin typeface="Times New Roman" pitchFamily="18" charset="0"/>
                    </a:rPr>
                    <a:t>19</a:t>
                  </a:r>
                  <a:endParaRPr lang="en-US" altLang="zh-TW" sz="1200">
                    <a:latin typeface="Times New Roman" pitchFamily="18" charset="0"/>
                  </a:endParaRPr>
                </a:p>
                <a:p>
                  <a:pPr algn="ctr" eaLnBrk="0" hangingPunct="0"/>
                  <a:endParaRPr lang="en-US" altLang="zh-TW">
                    <a:latin typeface="Times New Roman" pitchFamily="18" charset="0"/>
                  </a:endParaRPr>
                </a:p>
              </p:txBody>
            </p:sp>
            <p:sp>
              <p:nvSpPr>
                <p:cNvPr id="35898" name="Rectangle 58"/>
                <p:cNvSpPr>
                  <a:spLocks noChangeArrowheads="1"/>
                </p:cNvSpPr>
                <p:nvPr/>
              </p:nvSpPr>
              <p:spPr bwMode="auto">
                <a:xfrm>
                  <a:off x="1000" y="960"/>
                  <a:ext cx="500" cy="4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7">
                      <a:solidFill>
                        <a:srgbClr val="A0A0A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</p:grpSp>
          <p:grpSp>
            <p:nvGrpSpPr>
              <p:cNvPr id="35901" name="Group 61"/>
              <p:cNvGrpSpPr>
                <a:grpSpLocks/>
              </p:cNvGrpSpPr>
              <p:nvPr/>
            </p:nvGrpSpPr>
            <p:grpSpPr bwMode="auto">
              <a:xfrm>
                <a:off x="1500" y="960"/>
                <a:ext cx="500" cy="480"/>
                <a:chOff x="1500" y="960"/>
                <a:chExt cx="500" cy="480"/>
              </a:xfrm>
            </p:grpSpPr>
            <p:sp>
              <p:nvSpPr>
                <p:cNvPr id="35861" name="Rectangle 21"/>
                <p:cNvSpPr>
                  <a:spLocks noChangeArrowheads="1"/>
                </p:cNvSpPr>
                <p:nvPr/>
              </p:nvSpPr>
              <p:spPr bwMode="auto">
                <a:xfrm>
                  <a:off x="1511" y="960"/>
                  <a:ext cx="478" cy="4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ctr"/>
                  <a:r>
                    <a:rPr lang="en-US" altLang="zh-TW" sz="2000">
                      <a:latin typeface="Times New Roman" pitchFamily="18" charset="0"/>
                    </a:rPr>
                    <a:t>8</a:t>
                  </a:r>
                  <a:endParaRPr lang="en-US" altLang="zh-TW" sz="1200">
                    <a:latin typeface="Times New Roman" pitchFamily="18" charset="0"/>
                  </a:endParaRPr>
                </a:p>
                <a:p>
                  <a:pPr algn="ctr" eaLnBrk="0" hangingPunct="0"/>
                  <a:endParaRPr lang="en-US" altLang="zh-TW">
                    <a:latin typeface="Times New Roman" pitchFamily="18" charset="0"/>
                  </a:endParaRPr>
                </a:p>
              </p:txBody>
            </p:sp>
            <p:sp>
              <p:nvSpPr>
                <p:cNvPr id="35900" name="Rectangle 60"/>
                <p:cNvSpPr>
                  <a:spLocks noChangeArrowheads="1"/>
                </p:cNvSpPr>
                <p:nvPr/>
              </p:nvSpPr>
              <p:spPr bwMode="auto">
                <a:xfrm>
                  <a:off x="1500" y="960"/>
                  <a:ext cx="500" cy="4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7">
                      <a:solidFill>
                        <a:srgbClr val="A0A0A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</p:grpSp>
          <p:grpSp>
            <p:nvGrpSpPr>
              <p:cNvPr id="35903" name="Group 63"/>
              <p:cNvGrpSpPr>
                <a:grpSpLocks/>
              </p:cNvGrpSpPr>
              <p:nvPr/>
            </p:nvGrpSpPr>
            <p:grpSpPr bwMode="auto">
              <a:xfrm>
                <a:off x="2000" y="960"/>
                <a:ext cx="500" cy="480"/>
                <a:chOff x="2000" y="960"/>
                <a:chExt cx="500" cy="480"/>
              </a:xfrm>
            </p:grpSpPr>
            <p:sp>
              <p:nvSpPr>
                <p:cNvPr id="35862" name="Rectangle 22"/>
                <p:cNvSpPr>
                  <a:spLocks noChangeArrowheads="1"/>
                </p:cNvSpPr>
                <p:nvPr/>
              </p:nvSpPr>
              <p:spPr bwMode="auto">
                <a:xfrm>
                  <a:off x="2011" y="960"/>
                  <a:ext cx="478" cy="4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ctr"/>
                  <a:r>
                    <a:rPr lang="en-US" altLang="zh-TW" sz="2000">
                      <a:latin typeface="Times New Roman" pitchFamily="18" charset="0"/>
                    </a:rPr>
                    <a:t>10</a:t>
                  </a:r>
                  <a:endParaRPr lang="en-US" altLang="zh-TW" sz="1200">
                    <a:latin typeface="Times New Roman" pitchFamily="18" charset="0"/>
                  </a:endParaRPr>
                </a:p>
                <a:p>
                  <a:pPr algn="ctr" eaLnBrk="0" hangingPunct="0"/>
                  <a:endParaRPr lang="en-US" altLang="zh-TW">
                    <a:latin typeface="Times New Roman" pitchFamily="18" charset="0"/>
                  </a:endParaRPr>
                </a:p>
              </p:txBody>
            </p:sp>
            <p:sp>
              <p:nvSpPr>
                <p:cNvPr id="35902" name="Rectangle 62"/>
                <p:cNvSpPr>
                  <a:spLocks noChangeArrowheads="1"/>
                </p:cNvSpPr>
                <p:nvPr/>
              </p:nvSpPr>
              <p:spPr bwMode="auto">
                <a:xfrm>
                  <a:off x="2000" y="960"/>
                  <a:ext cx="500" cy="4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7">
                      <a:solidFill>
                        <a:srgbClr val="A0A0A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</p:grpSp>
          <p:grpSp>
            <p:nvGrpSpPr>
              <p:cNvPr id="35905" name="Group 65"/>
              <p:cNvGrpSpPr>
                <a:grpSpLocks/>
              </p:cNvGrpSpPr>
              <p:nvPr/>
            </p:nvGrpSpPr>
            <p:grpSpPr bwMode="auto">
              <a:xfrm>
                <a:off x="2500" y="960"/>
                <a:ext cx="500" cy="480"/>
                <a:chOff x="2500" y="960"/>
                <a:chExt cx="500" cy="480"/>
              </a:xfrm>
            </p:grpSpPr>
            <p:sp>
              <p:nvSpPr>
                <p:cNvPr id="35863" name="Rectangle 23"/>
                <p:cNvSpPr>
                  <a:spLocks noChangeArrowheads="1"/>
                </p:cNvSpPr>
                <p:nvPr/>
              </p:nvSpPr>
              <p:spPr bwMode="auto">
                <a:xfrm>
                  <a:off x="2511" y="960"/>
                  <a:ext cx="478" cy="4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ctr"/>
                  <a:r>
                    <a:rPr lang="en-US" altLang="zh-TW" sz="2000">
                      <a:latin typeface="Times New Roman" pitchFamily="18" charset="0"/>
                    </a:rPr>
                    <a:t>12</a:t>
                  </a:r>
                  <a:endParaRPr lang="en-US" altLang="zh-TW" sz="1200">
                    <a:latin typeface="Times New Roman" pitchFamily="18" charset="0"/>
                  </a:endParaRPr>
                </a:p>
                <a:p>
                  <a:pPr algn="ctr" eaLnBrk="0" hangingPunct="0"/>
                  <a:endParaRPr lang="en-US" altLang="zh-TW">
                    <a:latin typeface="Times New Roman" pitchFamily="18" charset="0"/>
                  </a:endParaRPr>
                </a:p>
              </p:txBody>
            </p:sp>
            <p:sp>
              <p:nvSpPr>
                <p:cNvPr id="35904" name="Rectangle 64"/>
                <p:cNvSpPr>
                  <a:spLocks noChangeArrowheads="1"/>
                </p:cNvSpPr>
                <p:nvPr/>
              </p:nvSpPr>
              <p:spPr bwMode="auto">
                <a:xfrm>
                  <a:off x="2500" y="960"/>
                  <a:ext cx="500" cy="4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7">
                      <a:solidFill>
                        <a:srgbClr val="A0A0A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</p:grpSp>
          <p:grpSp>
            <p:nvGrpSpPr>
              <p:cNvPr id="35907" name="Group 67"/>
              <p:cNvGrpSpPr>
                <a:grpSpLocks/>
              </p:cNvGrpSpPr>
              <p:nvPr/>
            </p:nvGrpSpPr>
            <p:grpSpPr bwMode="auto">
              <a:xfrm>
                <a:off x="3000" y="960"/>
                <a:ext cx="500" cy="480"/>
                <a:chOff x="3000" y="960"/>
                <a:chExt cx="500" cy="480"/>
              </a:xfrm>
            </p:grpSpPr>
            <p:sp>
              <p:nvSpPr>
                <p:cNvPr id="35864" name="Rectangle 24"/>
                <p:cNvSpPr>
                  <a:spLocks noChangeArrowheads="1"/>
                </p:cNvSpPr>
                <p:nvPr/>
              </p:nvSpPr>
              <p:spPr bwMode="auto">
                <a:xfrm>
                  <a:off x="3011" y="960"/>
                  <a:ext cx="478" cy="4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ctr"/>
                  <a:r>
                    <a:rPr lang="en-US" altLang="zh-TW" sz="2000">
                      <a:latin typeface="Times New Roman" pitchFamily="18" charset="0"/>
                    </a:rPr>
                    <a:t>8</a:t>
                  </a:r>
                  <a:endParaRPr lang="en-US" altLang="zh-TW" sz="1200">
                    <a:latin typeface="Times New Roman" pitchFamily="18" charset="0"/>
                  </a:endParaRPr>
                </a:p>
                <a:p>
                  <a:pPr algn="ctr" eaLnBrk="0" hangingPunct="0"/>
                  <a:endParaRPr lang="en-US" altLang="zh-TW">
                    <a:latin typeface="Times New Roman" pitchFamily="18" charset="0"/>
                  </a:endParaRPr>
                </a:p>
              </p:txBody>
            </p:sp>
            <p:sp>
              <p:nvSpPr>
                <p:cNvPr id="35906" name="Rectangle 66"/>
                <p:cNvSpPr>
                  <a:spLocks noChangeArrowheads="1"/>
                </p:cNvSpPr>
                <p:nvPr/>
              </p:nvSpPr>
              <p:spPr bwMode="auto">
                <a:xfrm>
                  <a:off x="3000" y="960"/>
                  <a:ext cx="500" cy="4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7">
                      <a:solidFill>
                        <a:srgbClr val="A0A0A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</p:grpSp>
          <p:grpSp>
            <p:nvGrpSpPr>
              <p:cNvPr id="35909" name="Group 69"/>
              <p:cNvGrpSpPr>
                <a:grpSpLocks/>
              </p:cNvGrpSpPr>
              <p:nvPr/>
            </p:nvGrpSpPr>
            <p:grpSpPr bwMode="auto">
              <a:xfrm>
                <a:off x="0" y="1440"/>
                <a:ext cx="3500" cy="442"/>
                <a:chOff x="0" y="1440"/>
                <a:chExt cx="3500" cy="442"/>
              </a:xfrm>
            </p:grpSpPr>
            <p:sp>
              <p:nvSpPr>
                <p:cNvPr id="35865" name="Rectangle 25"/>
                <p:cNvSpPr>
                  <a:spLocks noChangeArrowheads="1"/>
                </p:cNvSpPr>
                <p:nvPr/>
              </p:nvSpPr>
              <p:spPr bwMode="auto">
                <a:xfrm>
                  <a:off x="11" y="1440"/>
                  <a:ext cx="3478" cy="44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ctr"/>
                  <a:r>
                    <a:rPr lang="en-US" altLang="zh-TW" sz="2000">
                      <a:latin typeface="Times New Roman" pitchFamily="18" charset="0"/>
                    </a:rPr>
                    <a:t>(P</a:t>
                  </a:r>
                  <a:r>
                    <a:rPr lang="en-US" altLang="zh-TW" sz="2000" baseline="-30000">
                      <a:latin typeface="Times New Roman" pitchFamily="18" charset="0"/>
                    </a:rPr>
                    <a:t>i</a:t>
                  </a:r>
                  <a:r>
                    <a:rPr lang="en-US" altLang="zh-TW" sz="2000">
                      <a:latin typeface="Times New Roman" pitchFamily="18" charset="0"/>
                    </a:rPr>
                    <a:t>/W</a:t>
                  </a:r>
                  <a:r>
                    <a:rPr lang="en-US" altLang="zh-TW" sz="2000" baseline="-30000">
                      <a:latin typeface="Times New Roman" pitchFamily="18" charset="0"/>
                    </a:rPr>
                    <a:t>i</a:t>
                  </a:r>
                  <a:r>
                    <a:rPr lang="en-US" altLang="zh-TW" sz="2000">
                      <a:latin typeface="Times New Roman" pitchFamily="18" charset="0"/>
                    </a:rPr>
                    <a:t> </a:t>
                  </a:r>
                  <a:r>
                    <a:rPr lang="en-US" altLang="zh-TW" sz="2000">
                      <a:latin typeface="Times New Roman" pitchFamily="18" charset="0"/>
                      <a:sym typeface="Symbol" pitchFamily="18" charset="2"/>
                    </a:rPr>
                    <a:t></a:t>
                  </a:r>
                  <a:r>
                    <a:rPr lang="en-US" altLang="zh-TW" sz="2000"/>
                    <a:t> P</a:t>
                  </a:r>
                  <a:r>
                    <a:rPr lang="en-US" altLang="zh-TW" sz="2000" baseline="-30000">
                      <a:latin typeface="Times New Roman" pitchFamily="18" charset="0"/>
                      <a:sym typeface="Symbol" pitchFamily="18" charset="2"/>
                    </a:rPr>
                    <a:t>i+1</a:t>
                  </a:r>
                  <a:r>
                    <a:rPr lang="en-US" altLang="zh-TW" sz="2000">
                      <a:latin typeface="Times New Roman" pitchFamily="18" charset="0"/>
                      <a:sym typeface="Symbol" pitchFamily="18" charset="2"/>
                    </a:rPr>
                    <a:t>/W</a:t>
                  </a:r>
                  <a:r>
                    <a:rPr lang="en-US" altLang="zh-TW" sz="2000" baseline="-30000">
                      <a:latin typeface="Times New Roman" pitchFamily="18" charset="0"/>
                      <a:sym typeface="Symbol" pitchFamily="18" charset="2"/>
                    </a:rPr>
                    <a:t>i+1</a:t>
                  </a:r>
                  <a:r>
                    <a:rPr lang="en-US" altLang="zh-TW" sz="2000">
                      <a:latin typeface="Times New Roman" pitchFamily="18" charset="0"/>
                      <a:sym typeface="Symbol" pitchFamily="18" charset="2"/>
                    </a:rPr>
                    <a:t>)</a:t>
                  </a:r>
                  <a:endParaRPr lang="en-US" altLang="zh-TW" sz="1200">
                    <a:latin typeface="Times New Roman" pitchFamily="18" charset="0"/>
                    <a:sym typeface="Symbol" pitchFamily="18" charset="2"/>
                  </a:endParaRPr>
                </a:p>
                <a:p>
                  <a:pPr algn="ctr" eaLnBrk="0" hangingPunct="0"/>
                  <a:endParaRPr lang="en-US" altLang="zh-TW" sz="2000">
                    <a:latin typeface="Times New Roman" pitchFamily="18" charset="0"/>
                    <a:sym typeface="Symbol" pitchFamily="18" charset="2"/>
                  </a:endParaRPr>
                </a:p>
              </p:txBody>
            </p:sp>
            <p:sp>
              <p:nvSpPr>
                <p:cNvPr id="35908" name="Rectangle 68"/>
                <p:cNvSpPr>
                  <a:spLocks noChangeArrowheads="1"/>
                </p:cNvSpPr>
                <p:nvPr/>
              </p:nvSpPr>
              <p:spPr bwMode="auto">
                <a:xfrm>
                  <a:off x="0" y="1440"/>
                  <a:ext cx="3500" cy="44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7">
                      <a:solidFill>
                        <a:srgbClr val="A0A0A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</p:grpSp>
        </p:grpSp>
        <p:sp>
          <p:nvSpPr>
            <p:cNvPr id="35911" name="Rectangle 71"/>
            <p:cNvSpPr>
              <a:spLocks noChangeArrowheads="1"/>
            </p:cNvSpPr>
            <p:nvPr/>
          </p:nvSpPr>
          <p:spPr bwMode="auto">
            <a:xfrm>
              <a:off x="-3" y="-3"/>
              <a:ext cx="3506" cy="18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A0A0A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301721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73B609-D41A-400B-8030-1216B31B74E2}" type="slidenum">
              <a:rPr lang="en-US" altLang="zh-TW"/>
              <a:pPr/>
              <a:t>24</a:t>
            </a:fld>
            <a:endParaRPr lang="en-US" altLang="zh-TW"/>
          </a:p>
        </p:txBody>
      </p:sp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How to find the lower bound?</a:t>
            </a:r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182688" y="2017713"/>
            <a:ext cx="7277100" cy="1266825"/>
          </a:xfrm>
        </p:spPr>
        <p:txBody>
          <a:bodyPr/>
          <a:lstStyle/>
          <a:p>
            <a:r>
              <a:rPr lang="en-US" altLang="zh-TW" sz="2400"/>
              <a:t>Ans: by relaxing our restriction from X</a:t>
            </a:r>
            <a:r>
              <a:rPr lang="en-US" altLang="zh-TW" sz="2400" baseline="-30000"/>
              <a:t>i</a:t>
            </a:r>
            <a:r>
              <a:rPr lang="en-US" altLang="zh-TW" sz="2400"/>
              <a:t> = 0 or 1 to 0 </a:t>
            </a:r>
            <a:r>
              <a:rPr lang="en-US" altLang="zh-TW" sz="2400">
                <a:latin typeface="Times New Roman" pitchFamily="18" charset="0"/>
                <a:sym typeface="Symbol" pitchFamily="18" charset="2"/>
              </a:rPr>
              <a:t></a:t>
            </a:r>
            <a:r>
              <a:rPr lang="en-US" altLang="zh-TW" sz="2400"/>
              <a:t> X</a:t>
            </a:r>
            <a:r>
              <a:rPr lang="en-US" altLang="zh-TW" sz="2400" baseline="-30000"/>
              <a:t>i</a:t>
            </a:r>
            <a:r>
              <a:rPr lang="en-US" altLang="zh-TW" sz="2400"/>
              <a:t> </a:t>
            </a:r>
            <a:r>
              <a:rPr lang="en-US" altLang="zh-TW" sz="2400">
                <a:latin typeface="Times New Roman" pitchFamily="18" charset="0"/>
                <a:sym typeface="Symbol" pitchFamily="18" charset="2"/>
              </a:rPr>
              <a:t></a:t>
            </a:r>
            <a:r>
              <a:rPr lang="en-US" altLang="zh-TW" sz="2400"/>
              <a:t> 1 (knapsack problem)</a:t>
            </a:r>
          </a:p>
        </p:txBody>
      </p:sp>
      <p:graphicFrame>
        <p:nvGraphicFramePr>
          <p:cNvPr id="62468" name="Object 4"/>
          <p:cNvGraphicFramePr>
            <a:graphicFrameLocks noChangeAspect="1"/>
          </p:cNvGraphicFramePr>
          <p:nvPr>
            <p:ph sz="half" idx="2"/>
          </p:nvPr>
        </p:nvGraphicFramePr>
        <p:xfrm>
          <a:off x="1619250" y="2781300"/>
          <a:ext cx="6769100" cy="3989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" name="文件" r:id="rId3" imgW="5486400" imgH="3233880" progId="Word.Document.8">
                  <p:embed/>
                </p:oleObj>
              </mc:Choice>
              <mc:Fallback>
                <p:oleObj name="文件" r:id="rId3" imgW="5486400" imgH="323388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2781300"/>
                        <a:ext cx="6769100" cy="3989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57174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398D6E-00A3-4685-BE14-E9B483C7AE67}" type="slidenum">
              <a:rPr lang="en-US" altLang="zh-TW"/>
              <a:pPr/>
              <a:t>25</a:t>
            </a:fld>
            <a:endParaRPr lang="en-US" altLang="zh-TW"/>
          </a:p>
        </p:txBody>
      </p:sp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/>
              <a:t>The knapsack problem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2017713"/>
            <a:ext cx="8559800" cy="4535487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zh-TW" sz="2400" dirty="0"/>
              <a:t>We can use the greedy method to find an optimal solution for knapsack problem.</a:t>
            </a:r>
          </a:p>
          <a:p>
            <a:pPr>
              <a:lnSpc>
                <a:spcPct val="80000"/>
              </a:lnSpc>
            </a:pPr>
            <a:r>
              <a:rPr lang="en-US" altLang="zh-TW" sz="2400" dirty="0"/>
              <a:t>For example, for the state of X</a:t>
            </a:r>
            <a:r>
              <a:rPr lang="en-US" altLang="zh-TW" sz="2400" baseline="-25000" dirty="0"/>
              <a:t>1</a:t>
            </a:r>
            <a:r>
              <a:rPr lang="en-US" altLang="zh-TW" sz="2400" dirty="0"/>
              <a:t>=1 and X</a:t>
            </a:r>
            <a:r>
              <a:rPr lang="en-US" altLang="zh-TW" sz="2400" baseline="-25000" dirty="0"/>
              <a:t>2</a:t>
            </a:r>
            <a:r>
              <a:rPr lang="en-US" altLang="zh-TW" sz="2400" dirty="0"/>
              <a:t>=1, we have</a:t>
            </a:r>
            <a:r>
              <a:rPr lang="en-US" altLang="zh-TW" sz="2400" dirty="0">
                <a:latin typeface="Times New Roman"/>
              </a:rPr>
              <a:t> </a:t>
            </a:r>
            <a:endParaRPr lang="en-US" altLang="zh-TW" sz="2400" dirty="0"/>
          </a:p>
          <a:p>
            <a:pPr algn="just">
              <a:lnSpc>
                <a:spcPct val="80000"/>
              </a:lnSpc>
              <a:buFont typeface="Wingdings" pitchFamily="2" charset="2"/>
              <a:buNone/>
            </a:pPr>
            <a:r>
              <a:rPr lang="en-US" altLang="zh-TW" sz="2400" dirty="0"/>
              <a:t>	X</a:t>
            </a:r>
            <a:r>
              <a:rPr lang="en-US" altLang="zh-TW" sz="2400" baseline="-30000" dirty="0"/>
              <a:t>1</a:t>
            </a:r>
            <a:r>
              <a:rPr lang="en-US" altLang="zh-TW" sz="2400" dirty="0"/>
              <a:t> = 1, X</a:t>
            </a:r>
            <a:r>
              <a:rPr lang="en-US" altLang="zh-TW" sz="2400" baseline="-30000" dirty="0"/>
              <a:t>2</a:t>
            </a:r>
            <a:r>
              <a:rPr lang="en-US" altLang="zh-TW" sz="2400" dirty="0"/>
              <a:t> =1, X</a:t>
            </a:r>
            <a:r>
              <a:rPr lang="en-US" altLang="zh-TW" sz="2400" baseline="-30000" dirty="0"/>
              <a:t>3</a:t>
            </a:r>
            <a:r>
              <a:rPr lang="en-US" altLang="zh-TW" sz="2400" dirty="0"/>
              <a:t> = (</a:t>
            </a:r>
            <a:r>
              <a:rPr lang="en-US" altLang="zh-TW" sz="2400" dirty="0" smtClean="0"/>
              <a:t>34-10-19)/</a:t>
            </a:r>
            <a:r>
              <a:rPr lang="en-US" altLang="zh-TW" sz="2400" dirty="0"/>
              <a:t>8=5/8, X</a:t>
            </a:r>
            <a:r>
              <a:rPr lang="en-US" altLang="zh-TW" sz="2400" baseline="-30000" dirty="0"/>
              <a:t>4</a:t>
            </a:r>
            <a:r>
              <a:rPr lang="en-US" altLang="zh-TW" sz="2400" dirty="0"/>
              <a:t> = 0, X</a:t>
            </a:r>
            <a:r>
              <a:rPr lang="en-US" altLang="zh-TW" sz="2400" baseline="-30000" dirty="0"/>
              <a:t>5</a:t>
            </a:r>
            <a:r>
              <a:rPr lang="en-US" altLang="zh-TW" sz="2400" dirty="0"/>
              <a:t> = 0, X</a:t>
            </a:r>
            <a:r>
              <a:rPr lang="en-US" altLang="zh-TW" sz="2400" baseline="-30000" dirty="0"/>
              <a:t>6</a:t>
            </a:r>
            <a:r>
              <a:rPr lang="en-US" altLang="zh-TW" sz="2400" dirty="0"/>
              <a:t> =0</a:t>
            </a:r>
          </a:p>
          <a:p>
            <a:pPr algn="just">
              <a:lnSpc>
                <a:spcPct val="80000"/>
              </a:lnSpc>
              <a:buFont typeface="Wingdings" pitchFamily="2" charset="2"/>
              <a:buNone/>
            </a:pPr>
            <a:r>
              <a:rPr lang="en-US" altLang="zh-TW" sz="2400" dirty="0"/>
              <a:t>	-(P</a:t>
            </a:r>
            <a:r>
              <a:rPr lang="en-US" altLang="zh-TW" sz="2400" baseline="-30000" dirty="0"/>
              <a:t>1</a:t>
            </a:r>
            <a:r>
              <a:rPr lang="en-US" altLang="zh-TW" sz="2400" dirty="0"/>
              <a:t>+P</a:t>
            </a:r>
            <a:r>
              <a:rPr lang="en-US" altLang="zh-TW" sz="2400" baseline="-30000" dirty="0"/>
              <a:t>2</a:t>
            </a:r>
            <a:r>
              <a:rPr lang="en-US" altLang="zh-TW" sz="2400" dirty="0"/>
              <a:t>+5/8P</a:t>
            </a:r>
            <a:r>
              <a:rPr lang="en-US" altLang="zh-TW" sz="2400" baseline="-30000" dirty="0"/>
              <a:t>3</a:t>
            </a:r>
            <a:r>
              <a:rPr lang="en-US" altLang="zh-TW" sz="2400" dirty="0"/>
              <a:t>) = -18.5 (lower bound)</a:t>
            </a:r>
          </a:p>
          <a:p>
            <a:pPr algn="just">
              <a:lnSpc>
                <a:spcPct val="80000"/>
              </a:lnSpc>
              <a:buFont typeface="Wingdings" pitchFamily="2" charset="2"/>
              <a:buNone/>
            </a:pPr>
            <a:r>
              <a:rPr lang="en-US" altLang="zh-TW" sz="2400" dirty="0"/>
              <a:t>	-18 is our lower bound. (only consider integers)</a:t>
            </a:r>
          </a:p>
          <a:p>
            <a:pPr algn="just">
              <a:lnSpc>
                <a:spcPct val="80000"/>
              </a:lnSpc>
              <a:buFont typeface="Wingdings" pitchFamily="2" charset="2"/>
              <a:buNone/>
            </a:pPr>
            <a:r>
              <a:rPr lang="en-US" altLang="zh-TW" sz="2400" dirty="0">
                <a:latin typeface="Times New Roman"/>
              </a:rPr>
              <a:t> </a:t>
            </a:r>
            <a:endParaRPr lang="en-US" altLang="zh-TW" sz="2400" dirty="0"/>
          </a:p>
          <a:p>
            <a:pPr algn="just">
              <a:lnSpc>
                <a:spcPct val="80000"/>
              </a:lnSpc>
              <a:buFont typeface="Wingdings" pitchFamily="2" charset="2"/>
              <a:buNone/>
            </a:pPr>
            <a:endParaRPr lang="en-US" altLang="zh-TW" sz="2400" dirty="0"/>
          </a:p>
        </p:txBody>
      </p:sp>
    </p:spTree>
    <p:extLst>
      <p:ext uri="{BB962C8B-B14F-4D97-AF65-F5344CB8AC3E}">
        <p14:creationId xmlns:p14="http://schemas.microsoft.com/office/powerpoint/2010/main" val="896041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BDA914-63F7-4733-918B-550515B9E38B}" type="slidenum">
              <a:rPr lang="en-US" altLang="zh-TW"/>
              <a:pPr/>
              <a:t>26</a:t>
            </a:fld>
            <a:endParaRPr lang="en-US" altLang="zh-TW"/>
          </a:p>
        </p:txBody>
      </p:sp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How to expand the tree?</a:t>
            </a:r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/>
              <a:t>By the best-first search scheme</a:t>
            </a:r>
          </a:p>
          <a:p>
            <a:r>
              <a:rPr lang="en-US" altLang="zh-TW"/>
              <a:t>That is, by expanding the node with the best lower bound. If two nodes have the same lower bounds, expand the node with the lower upper bound.</a:t>
            </a:r>
          </a:p>
        </p:txBody>
      </p:sp>
    </p:spTree>
    <p:extLst>
      <p:ext uri="{BB962C8B-B14F-4D97-AF65-F5344CB8AC3E}">
        <p14:creationId xmlns:p14="http://schemas.microsoft.com/office/powerpoint/2010/main" val="1009435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F53217-991F-4876-B3A1-9921E485A81F}" type="slidenum">
              <a:rPr lang="en-US" altLang="zh-TW"/>
              <a:pPr/>
              <a:t>27</a:t>
            </a:fld>
            <a:endParaRPr lang="en-US" altLang="zh-TW"/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2017713"/>
            <a:ext cx="8193088" cy="4840287"/>
          </a:xfrm>
        </p:spPr>
        <p:txBody>
          <a:bodyPr/>
          <a:lstStyle/>
          <a:p>
            <a:pPr algn="ctr">
              <a:buFont typeface="Wingdings" pitchFamily="2" charset="2"/>
              <a:buNone/>
            </a:pPr>
            <a:endParaRPr lang="en-US" altLang="zh-TW" sz="2000"/>
          </a:p>
          <a:p>
            <a:pPr algn="ctr">
              <a:buFont typeface="Wingdings" pitchFamily="2" charset="2"/>
              <a:buNone/>
            </a:pPr>
            <a:endParaRPr lang="en-US" altLang="zh-TW" sz="2000"/>
          </a:p>
          <a:p>
            <a:pPr algn="ctr">
              <a:buFont typeface="Wingdings" pitchFamily="2" charset="2"/>
              <a:buNone/>
            </a:pPr>
            <a:endParaRPr lang="en-US" altLang="zh-TW" sz="2000"/>
          </a:p>
          <a:p>
            <a:pPr algn="ctr">
              <a:buFont typeface="Wingdings" pitchFamily="2" charset="2"/>
              <a:buNone/>
            </a:pPr>
            <a:endParaRPr lang="en-US" altLang="zh-TW" sz="2000"/>
          </a:p>
          <a:p>
            <a:pPr algn="ctr">
              <a:buFont typeface="Wingdings" pitchFamily="2" charset="2"/>
              <a:buNone/>
            </a:pPr>
            <a:endParaRPr lang="en-US" altLang="zh-TW" sz="2000"/>
          </a:p>
          <a:p>
            <a:pPr algn="ctr">
              <a:buFont typeface="Wingdings" pitchFamily="2" charset="2"/>
              <a:buNone/>
            </a:pPr>
            <a:r>
              <a:rPr lang="en-US" altLang="zh-TW" sz="2000"/>
              <a:t>	</a:t>
            </a:r>
          </a:p>
          <a:p>
            <a:pPr algn="ctr">
              <a:buFont typeface="Wingdings" pitchFamily="2" charset="2"/>
              <a:buNone/>
            </a:pPr>
            <a:endParaRPr lang="en-US" altLang="zh-TW" sz="2000"/>
          </a:p>
          <a:p>
            <a:pPr algn="ctr">
              <a:buFont typeface="Wingdings" pitchFamily="2" charset="2"/>
              <a:buNone/>
            </a:pPr>
            <a:endParaRPr lang="en-US" altLang="zh-TW" sz="2000"/>
          </a:p>
          <a:p>
            <a:pPr algn="ctr">
              <a:buFont typeface="Wingdings" pitchFamily="2" charset="2"/>
              <a:buNone/>
            </a:pPr>
            <a:endParaRPr lang="en-US" altLang="zh-TW" sz="2000"/>
          </a:p>
          <a:p>
            <a:pPr algn="ctr">
              <a:buFont typeface="Wingdings" pitchFamily="2" charset="2"/>
              <a:buNone/>
            </a:pPr>
            <a:endParaRPr lang="en-US" altLang="zh-TW" sz="2000"/>
          </a:p>
          <a:p>
            <a:pPr algn="ctr">
              <a:buFont typeface="Wingdings" pitchFamily="2" charset="2"/>
              <a:buNone/>
            </a:pPr>
            <a:endParaRPr lang="en-US" altLang="zh-TW" sz="2000"/>
          </a:p>
          <a:p>
            <a:pPr algn="ctr">
              <a:buFont typeface="Wingdings" pitchFamily="2" charset="2"/>
              <a:buNone/>
            </a:pPr>
            <a:endParaRPr lang="en-US" altLang="zh-TW" sz="2000"/>
          </a:p>
          <a:p>
            <a:pPr algn="ctr">
              <a:buFont typeface="Wingdings" pitchFamily="2" charset="2"/>
              <a:buNone/>
            </a:pPr>
            <a:r>
              <a:rPr lang="en-US" altLang="zh-TW" sz="2000"/>
              <a:t>0/1 Knapsack Problem Solved by Branch-and-Bound Strategy</a:t>
            </a:r>
          </a:p>
          <a:p>
            <a:pPr>
              <a:buFont typeface="Wingdings" pitchFamily="2" charset="2"/>
              <a:buNone/>
            </a:pPr>
            <a:endParaRPr lang="en-US" altLang="zh-TW" sz="2000"/>
          </a:p>
        </p:txBody>
      </p:sp>
      <p:sp>
        <p:nvSpPr>
          <p:cNvPr id="38917" name="Rectangle 5"/>
          <p:cNvSpPr>
            <a:spLocks noChangeArrowheads="1"/>
          </p:cNvSpPr>
          <p:nvPr/>
        </p:nvSpPr>
        <p:spPr bwMode="auto">
          <a:xfrm>
            <a:off x="1981200" y="7429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8919" name="Rectangle 7"/>
          <p:cNvSpPr>
            <a:spLocks noChangeArrowheads="1"/>
          </p:cNvSpPr>
          <p:nvPr/>
        </p:nvSpPr>
        <p:spPr bwMode="auto">
          <a:xfrm>
            <a:off x="2106613" y="12874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pic>
        <p:nvPicPr>
          <p:cNvPr id="38918" name="Picture 6" descr="0628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48" b="5077"/>
          <a:stretch>
            <a:fillRect/>
          </a:stretch>
        </p:blipFill>
        <p:spPr bwMode="auto">
          <a:xfrm>
            <a:off x="1295400" y="325438"/>
            <a:ext cx="7010400" cy="6088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920" name="Line 8"/>
          <p:cNvSpPr>
            <a:spLocks noChangeShapeType="1"/>
          </p:cNvSpPr>
          <p:nvPr/>
        </p:nvSpPr>
        <p:spPr bwMode="auto">
          <a:xfrm>
            <a:off x="7315200" y="1676400"/>
            <a:ext cx="228600" cy="304800"/>
          </a:xfrm>
          <a:prstGeom prst="line">
            <a:avLst/>
          </a:prstGeom>
          <a:noFill/>
          <a:ln w="38100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8921" name="Line 9"/>
          <p:cNvSpPr>
            <a:spLocks noChangeShapeType="1"/>
          </p:cNvSpPr>
          <p:nvPr/>
        </p:nvSpPr>
        <p:spPr bwMode="auto">
          <a:xfrm flipV="1">
            <a:off x="7315200" y="1676400"/>
            <a:ext cx="228600" cy="228600"/>
          </a:xfrm>
          <a:prstGeom prst="line">
            <a:avLst/>
          </a:prstGeom>
          <a:noFill/>
          <a:ln w="38100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8924" name="Oval 12"/>
          <p:cNvSpPr>
            <a:spLocks noChangeArrowheads="1"/>
          </p:cNvSpPr>
          <p:nvPr/>
        </p:nvSpPr>
        <p:spPr bwMode="auto">
          <a:xfrm>
            <a:off x="7696200" y="4267200"/>
            <a:ext cx="685800" cy="381000"/>
          </a:xfrm>
          <a:prstGeom prst="ellipse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925" name="Oval 13"/>
          <p:cNvSpPr>
            <a:spLocks noChangeArrowheads="1"/>
          </p:cNvSpPr>
          <p:nvPr/>
        </p:nvSpPr>
        <p:spPr bwMode="auto">
          <a:xfrm>
            <a:off x="7696200" y="5105400"/>
            <a:ext cx="609600" cy="457200"/>
          </a:xfrm>
          <a:prstGeom prst="ellipse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926" name="Line 14"/>
          <p:cNvSpPr>
            <a:spLocks noChangeShapeType="1"/>
          </p:cNvSpPr>
          <p:nvPr/>
        </p:nvSpPr>
        <p:spPr bwMode="auto">
          <a:xfrm flipH="1">
            <a:off x="7772400" y="6477000"/>
            <a:ext cx="457200" cy="0"/>
          </a:xfrm>
          <a:prstGeom prst="line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6243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F6F4B9-111C-404D-9DD9-BFC0257971E7}" type="slidenum">
              <a:rPr lang="en-US" altLang="zh-TW"/>
              <a:pPr/>
              <a:t>28</a:t>
            </a:fld>
            <a:endParaRPr lang="en-US" altLang="zh-TW"/>
          </a:p>
        </p:txBody>
      </p:sp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/>
              <a:t>Node 2 is terminated because its lower bound is equal to the upper bound of node 14.</a:t>
            </a:r>
          </a:p>
          <a:p>
            <a:r>
              <a:rPr lang="en-US" altLang="zh-TW"/>
              <a:t>Nodes 16, 18 and others are terminated because the local lower bound is equal to the local upper bound. </a:t>
            </a:r>
            <a:br>
              <a:rPr lang="en-US" altLang="zh-TW"/>
            </a:br>
            <a:r>
              <a:rPr lang="en-US" altLang="zh-TW"/>
              <a:t>(lower bound </a:t>
            </a:r>
            <a:r>
              <a:rPr lang="en-US" altLang="zh-TW">
                <a:sym typeface="Symbol" pitchFamily="18" charset="2"/>
              </a:rPr>
              <a:t></a:t>
            </a:r>
            <a:r>
              <a:rPr lang="en-US" altLang="zh-TW"/>
              <a:t> optimal solution </a:t>
            </a:r>
            <a:r>
              <a:rPr lang="en-US" altLang="zh-TW">
                <a:sym typeface="Symbol" pitchFamily="18" charset="2"/>
              </a:rPr>
              <a:t></a:t>
            </a:r>
            <a:r>
              <a:rPr lang="en-US" altLang="zh-TW"/>
              <a:t> upper bound)</a:t>
            </a:r>
          </a:p>
        </p:txBody>
      </p:sp>
    </p:spTree>
    <p:extLst>
      <p:ext uri="{BB962C8B-B14F-4D97-AF65-F5344CB8AC3E}">
        <p14:creationId xmlns:p14="http://schemas.microsoft.com/office/powerpoint/2010/main" val="811180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AA9AAE-EF01-4218-9BAF-8F96D3E3E899}" type="slidenum">
              <a:rPr lang="en-US" altLang="zh-TW"/>
              <a:pPr/>
              <a:t>29</a:t>
            </a:fld>
            <a:endParaRPr lang="en-US" altLang="zh-TW"/>
          </a:p>
        </p:txBody>
      </p:sp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/>
              <a:t>The A</a:t>
            </a:r>
            <a:r>
              <a:rPr lang="en-US" altLang="zh-TW" b="1" baseline="30000"/>
              <a:t>*</a:t>
            </a:r>
            <a:r>
              <a:rPr lang="en-US" altLang="zh-TW" b="1"/>
              <a:t> algorithm</a:t>
            </a:r>
            <a:r>
              <a:rPr lang="en-US" altLang="zh-TW"/>
              <a:t> 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90000"/>
              </a:lnSpc>
            </a:pPr>
            <a:r>
              <a:rPr lang="en-US" altLang="zh-TW" sz="2400"/>
              <a:t>Used to solve optimization problems.</a:t>
            </a:r>
          </a:p>
          <a:p>
            <a:pPr algn="just">
              <a:lnSpc>
                <a:spcPct val="90000"/>
              </a:lnSpc>
            </a:pPr>
            <a:r>
              <a:rPr lang="en-US" altLang="zh-TW" sz="2400"/>
              <a:t>Using the best-first strategy.</a:t>
            </a:r>
          </a:p>
          <a:p>
            <a:pPr algn="just">
              <a:lnSpc>
                <a:spcPct val="90000"/>
              </a:lnSpc>
            </a:pPr>
            <a:r>
              <a:rPr lang="en-US" altLang="zh-TW" sz="2400"/>
              <a:t>If a feasible solution (goal node) is obtained, then it is optimal and we can stop.</a:t>
            </a:r>
          </a:p>
          <a:p>
            <a:pPr algn="just">
              <a:lnSpc>
                <a:spcPct val="90000"/>
              </a:lnSpc>
            </a:pPr>
            <a:r>
              <a:rPr lang="en-US" altLang="zh-TW" sz="2400"/>
              <a:t>Estimated cost function of node n : f(n)</a:t>
            </a:r>
          </a:p>
          <a:p>
            <a:pPr algn="just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400"/>
              <a:t>	f(n) = g(n) + h(n)</a:t>
            </a:r>
          </a:p>
          <a:p>
            <a:pPr algn="just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400"/>
              <a:t>	g(n): cost from root to node n.</a:t>
            </a:r>
          </a:p>
          <a:p>
            <a:pPr algn="just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400"/>
              <a:t>	h(n): estimated cost from node n to a goal node.</a:t>
            </a:r>
          </a:p>
          <a:p>
            <a:pPr algn="just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400"/>
              <a:t>	h</a:t>
            </a:r>
            <a:r>
              <a:rPr lang="en-US" altLang="zh-TW" sz="2400" baseline="30000"/>
              <a:t>*</a:t>
            </a:r>
            <a:r>
              <a:rPr lang="en-US" altLang="zh-TW" sz="2400"/>
              <a:t>(n): </a:t>
            </a:r>
            <a:r>
              <a:rPr lang="en-US" altLang="zh-TW" sz="2400">
                <a:latin typeface="Times New Roman"/>
              </a:rPr>
              <a:t>“</a:t>
            </a:r>
            <a:r>
              <a:rPr lang="en-US" altLang="zh-TW" sz="2400"/>
              <a:t>real</a:t>
            </a:r>
            <a:r>
              <a:rPr lang="en-US" altLang="zh-TW" sz="2400">
                <a:latin typeface="Times New Roman"/>
              </a:rPr>
              <a:t>”</a:t>
            </a:r>
            <a:r>
              <a:rPr lang="en-US" altLang="zh-TW" sz="2400"/>
              <a:t> cost from node n to a goal node.</a:t>
            </a:r>
          </a:p>
          <a:p>
            <a:pPr algn="just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400"/>
              <a:t>    f*(n): </a:t>
            </a:r>
            <a:r>
              <a:rPr lang="en-US" altLang="zh-TW" sz="2400">
                <a:latin typeface="Times New Roman"/>
              </a:rPr>
              <a:t>“</a:t>
            </a:r>
            <a:r>
              <a:rPr lang="en-US" altLang="zh-TW" sz="2400"/>
              <a:t>real</a:t>
            </a:r>
            <a:r>
              <a:rPr lang="en-US" altLang="zh-TW" sz="2400">
                <a:latin typeface="Times New Roman"/>
              </a:rPr>
              <a:t>”</a:t>
            </a:r>
            <a:r>
              <a:rPr lang="en-US" altLang="zh-TW" sz="2400"/>
              <a:t> cost of node n</a:t>
            </a:r>
            <a:r>
              <a:rPr lang="en-US" altLang="zh-TW" sz="2400">
                <a:latin typeface="Times New Roman"/>
              </a:rPr>
              <a:t> </a:t>
            </a:r>
            <a:endParaRPr lang="en-US" altLang="zh-TW" sz="2400"/>
          </a:p>
          <a:p>
            <a:pPr algn="just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400"/>
              <a:t>	h(n) </a:t>
            </a:r>
            <a:r>
              <a:rPr lang="en-US" altLang="zh-TW" sz="2400">
                <a:latin typeface="Times New Roman" pitchFamily="18" charset="0"/>
                <a:sym typeface="Symbol" pitchFamily="18" charset="2"/>
              </a:rPr>
              <a:t></a:t>
            </a:r>
            <a:r>
              <a:rPr lang="en-US" altLang="zh-TW" sz="2400"/>
              <a:t> h*(n)</a:t>
            </a:r>
          </a:p>
          <a:p>
            <a:pPr algn="just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400">
                <a:latin typeface="Times New Roman"/>
              </a:rPr>
              <a:t> </a:t>
            </a:r>
            <a:r>
              <a:rPr lang="en-US" altLang="zh-TW" sz="2400"/>
              <a:t>	</a:t>
            </a:r>
            <a:r>
              <a:rPr lang="en-US" altLang="zh-TW" sz="2400">
                <a:latin typeface="Times New Roman" pitchFamily="18" charset="0"/>
                <a:sym typeface="Symbol" pitchFamily="18" charset="2"/>
              </a:rPr>
              <a:t></a:t>
            </a:r>
            <a:r>
              <a:rPr lang="en-US" altLang="zh-TW" sz="2400"/>
              <a:t> f(n) = g(n) + h(n) </a:t>
            </a:r>
            <a:r>
              <a:rPr lang="en-US" altLang="zh-TW" sz="2400">
                <a:latin typeface="Times New Roman" pitchFamily="18" charset="0"/>
                <a:sym typeface="Symbol" pitchFamily="18" charset="2"/>
              </a:rPr>
              <a:t></a:t>
            </a:r>
            <a:r>
              <a:rPr lang="en-US" altLang="zh-TW" sz="2400"/>
              <a:t> g(n)+h</a:t>
            </a:r>
            <a:r>
              <a:rPr lang="en-US" altLang="zh-TW" sz="2400" baseline="30000"/>
              <a:t>*</a:t>
            </a:r>
            <a:r>
              <a:rPr lang="en-US" altLang="zh-TW" sz="2400"/>
              <a:t>(n) = f</a:t>
            </a:r>
            <a:r>
              <a:rPr lang="en-US" altLang="zh-TW" sz="2400" baseline="30000"/>
              <a:t>*</a:t>
            </a:r>
            <a:r>
              <a:rPr lang="en-US" altLang="zh-TW" sz="2400"/>
              <a:t>(n)</a:t>
            </a:r>
          </a:p>
        </p:txBody>
      </p:sp>
      <p:sp>
        <p:nvSpPr>
          <p:cNvPr id="39940" name="Line 4"/>
          <p:cNvSpPr>
            <a:spLocks noChangeShapeType="1"/>
          </p:cNvSpPr>
          <p:nvPr/>
        </p:nvSpPr>
        <p:spPr bwMode="auto">
          <a:xfrm flipH="1">
            <a:off x="1524000" y="6400800"/>
            <a:ext cx="1752600" cy="0"/>
          </a:xfrm>
          <a:prstGeom prst="line">
            <a:avLst/>
          </a:prstGeom>
          <a:noFill/>
          <a:ln w="28575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257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9804A1-CD84-4692-8FFE-52EFF4D74C8A}" type="slidenum">
              <a:rPr lang="en-US" altLang="zh-TW"/>
              <a:pPr/>
              <a:t>30</a:t>
            </a:fld>
            <a:endParaRPr lang="en-US" altLang="zh-TW"/>
          </a:p>
        </p:txBody>
      </p:sp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Reasoning</a:t>
            </a:r>
          </a:p>
        </p:txBody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/>
              <a:t>Let t be the selected goal node. Let n denote a node already expanded.</a:t>
            </a:r>
          </a:p>
          <a:p>
            <a:r>
              <a:rPr lang="en-US" altLang="zh-TW"/>
              <a:t>f(t)</a:t>
            </a:r>
            <a:r>
              <a:rPr lang="en-US" altLang="zh-TW">
                <a:sym typeface="Symbol" pitchFamily="18" charset="2"/>
              </a:rPr>
              <a:t>f(n)</a:t>
            </a:r>
          </a:p>
          <a:p>
            <a:r>
              <a:rPr lang="en-US" altLang="zh-TW">
                <a:sym typeface="Symbol" pitchFamily="18" charset="2"/>
              </a:rPr>
              <a:t>f(t) f(n) f*(n)</a:t>
            </a:r>
          </a:p>
          <a:p>
            <a:r>
              <a:rPr lang="en-US" altLang="zh-TW">
                <a:sym typeface="Symbol" pitchFamily="18" charset="2"/>
              </a:rPr>
              <a:t>But one of f*(n)</a:t>
            </a:r>
            <a:r>
              <a:rPr lang="en-US" altLang="zh-TW">
                <a:latin typeface="Times New Roman"/>
                <a:sym typeface="Symbol" pitchFamily="18" charset="2"/>
              </a:rPr>
              <a:t>’</a:t>
            </a:r>
            <a:r>
              <a:rPr lang="en-US" altLang="zh-TW">
                <a:sym typeface="Symbol" pitchFamily="18" charset="2"/>
              </a:rPr>
              <a:t>s must be the optimal value (cost). Let f*(s) denote the value.</a:t>
            </a:r>
          </a:p>
          <a:p>
            <a:r>
              <a:rPr lang="en-US" altLang="zh-TW">
                <a:sym typeface="Symbol" pitchFamily="18" charset="2"/>
              </a:rPr>
              <a:t>We have f(t) f*(s) </a:t>
            </a:r>
            <a:r>
              <a:rPr lang="en-US" altLang="zh-TW">
                <a:latin typeface="Times New Roman"/>
                <a:sym typeface="Symbol" pitchFamily="18" charset="2"/>
              </a:rPr>
              <a:t>…………</a:t>
            </a:r>
            <a:r>
              <a:rPr lang="en-US" altLang="zh-TW">
                <a:sym typeface="Symbol" pitchFamily="18" charset="2"/>
              </a:rPr>
              <a:t>(a)</a:t>
            </a:r>
          </a:p>
        </p:txBody>
      </p:sp>
    </p:spTree>
    <p:extLst>
      <p:ext uri="{BB962C8B-B14F-4D97-AF65-F5344CB8AC3E}">
        <p14:creationId xmlns:p14="http://schemas.microsoft.com/office/powerpoint/2010/main" val="1985223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E770ED-5D3E-41B1-8391-80D20D2DCFC3}" type="slidenum">
              <a:rPr lang="en-US" altLang="zh-TW"/>
              <a:pPr/>
              <a:t>31</a:t>
            </a:fld>
            <a:endParaRPr lang="en-US" altLang="zh-TW"/>
          </a:p>
        </p:txBody>
      </p:sp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Reasoning</a:t>
            </a:r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/>
              <a:t>Since t is a goal node, we have h(t)=0. Thus, f(t)=g(t)+h(t)=g(t).</a:t>
            </a:r>
          </a:p>
          <a:p>
            <a:r>
              <a:rPr lang="en-US" altLang="zh-TW"/>
              <a:t>By Eq. (a), we have f(t)=g(t)</a:t>
            </a:r>
            <a:r>
              <a:rPr lang="en-US" altLang="zh-TW">
                <a:sym typeface="Symbol" pitchFamily="18" charset="2"/>
              </a:rPr>
              <a:t>f*(s)</a:t>
            </a:r>
          </a:p>
          <a:p>
            <a:r>
              <a:rPr lang="en-US" altLang="zh-TW">
                <a:sym typeface="Symbol" pitchFamily="18" charset="2"/>
              </a:rPr>
              <a:t>Yet, f(t)=g(t) is the value of a feasible solution. Consequently, g(t) cannot be smaller than f*(s) by definition. This means that g(t)=f*(s).</a:t>
            </a:r>
          </a:p>
        </p:txBody>
      </p:sp>
    </p:spTree>
    <p:extLst>
      <p:ext uri="{BB962C8B-B14F-4D97-AF65-F5344CB8AC3E}">
        <p14:creationId xmlns:p14="http://schemas.microsoft.com/office/powerpoint/2010/main" val="1191796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0AF955-8DDB-4011-8A60-B63312553929}" type="slidenum">
              <a:rPr lang="en-US" altLang="zh-TW"/>
              <a:pPr/>
              <a:t>32</a:t>
            </a:fld>
            <a:endParaRPr lang="en-US" altLang="zh-TW"/>
          </a:p>
        </p:txBody>
      </p:sp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/>
              <a:t>The A</a:t>
            </a:r>
            <a:r>
              <a:rPr lang="en-US" altLang="zh-TW" b="1" baseline="30000"/>
              <a:t>*</a:t>
            </a:r>
            <a:r>
              <a:rPr lang="en-US" altLang="zh-TW" b="1"/>
              <a:t> algorithm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2017713"/>
            <a:ext cx="7772400" cy="4611687"/>
          </a:xfrm>
        </p:spPr>
        <p:txBody>
          <a:bodyPr/>
          <a:lstStyle/>
          <a:p>
            <a:pPr algn="just">
              <a:lnSpc>
                <a:spcPct val="90000"/>
              </a:lnSpc>
            </a:pPr>
            <a:r>
              <a:rPr lang="en-US" altLang="zh-TW" sz="280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Stop iff the selected node is also a goal node</a:t>
            </a:r>
          </a:p>
          <a:p>
            <a:pPr algn="just">
              <a:lnSpc>
                <a:spcPct val="90000"/>
              </a:lnSpc>
            </a:pPr>
            <a:r>
              <a:rPr lang="en-US" altLang="zh-TW" sz="2400"/>
              <a:t>E.g.</a:t>
            </a:r>
          </a:p>
          <a:p>
            <a:pPr algn="ctr">
              <a:lnSpc>
                <a:spcPct val="90000"/>
              </a:lnSpc>
              <a:buFont typeface="Wingdings" pitchFamily="2" charset="2"/>
              <a:buNone/>
            </a:pPr>
            <a:endParaRPr lang="en-US" altLang="zh-TW" sz="2000"/>
          </a:p>
          <a:p>
            <a:pPr algn="ctr">
              <a:lnSpc>
                <a:spcPct val="90000"/>
              </a:lnSpc>
              <a:buFont typeface="Wingdings" pitchFamily="2" charset="2"/>
              <a:buNone/>
            </a:pPr>
            <a:endParaRPr lang="en-US" altLang="zh-TW" sz="2000"/>
          </a:p>
          <a:p>
            <a:pPr algn="ctr">
              <a:lnSpc>
                <a:spcPct val="90000"/>
              </a:lnSpc>
              <a:buFont typeface="Wingdings" pitchFamily="2" charset="2"/>
              <a:buNone/>
            </a:pPr>
            <a:endParaRPr lang="en-US" altLang="zh-TW" sz="2000"/>
          </a:p>
          <a:p>
            <a:pPr algn="ctr">
              <a:lnSpc>
                <a:spcPct val="90000"/>
              </a:lnSpc>
              <a:buFont typeface="Wingdings" pitchFamily="2" charset="2"/>
              <a:buNone/>
            </a:pPr>
            <a:endParaRPr lang="en-US" altLang="zh-TW" sz="2000"/>
          </a:p>
          <a:p>
            <a:pPr algn="ctr">
              <a:lnSpc>
                <a:spcPct val="90000"/>
              </a:lnSpc>
              <a:buFont typeface="Wingdings" pitchFamily="2" charset="2"/>
              <a:buNone/>
            </a:pPr>
            <a:endParaRPr lang="en-US" altLang="zh-TW" sz="2000"/>
          </a:p>
          <a:p>
            <a:pPr algn="ctr">
              <a:lnSpc>
                <a:spcPct val="90000"/>
              </a:lnSpc>
              <a:buFont typeface="Wingdings" pitchFamily="2" charset="2"/>
              <a:buNone/>
            </a:pPr>
            <a:endParaRPr lang="en-US" altLang="zh-TW" sz="2000"/>
          </a:p>
          <a:p>
            <a:pPr algn="ctr">
              <a:lnSpc>
                <a:spcPct val="90000"/>
              </a:lnSpc>
              <a:buFont typeface="Wingdings" pitchFamily="2" charset="2"/>
              <a:buNone/>
            </a:pPr>
            <a:endParaRPr lang="en-US" altLang="zh-TW" sz="2000"/>
          </a:p>
          <a:p>
            <a:pPr algn="ctr">
              <a:lnSpc>
                <a:spcPct val="90000"/>
              </a:lnSpc>
              <a:buFont typeface="Wingdings" pitchFamily="2" charset="2"/>
              <a:buNone/>
            </a:pPr>
            <a:endParaRPr lang="en-US" altLang="zh-TW" sz="2000"/>
          </a:p>
          <a:p>
            <a:pPr algn="ctr">
              <a:lnSpc>
                <a:spcPct val="90000"/>
              </a:lnSpc>
              <a:buFont typeface="Wingdings" pitchFamily="2" charset="2"/>
              <a:buNone/>
            </a:pPr>
            <a:endParaRPr lang="en-US" altLang="zh-TW" sz="2000"/>
          </a:p>
          <a:p>
            <a:pPr algn="ctr">
              <a:lnSpc>
                <a:spcPct val="90000"/>
              </a:lnSpc>
              <a:buFont typeface="Wingdings" pitchFamily="2" charset="2"/>
              <a:buNone/>
            </a:pPr>
            <a:endParaRPr lang="en-US" altLang="zh-TW" sz="2000"/>
          </a:p>
          <a:p>
            <a:pPr algn="ctr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000"/>
              <a:t>Fig. 6-36 A Graph to Illustrate A</a:t>
            </a:r>
            <a:r>
              <a:rPr lang="en-US" altLang="zh-TW" sz="2000" baseline="30000"/>
              <a:t>*</a:t>
            </a:r>
            <a:r>
              <a:rPr lang="en-US" altLang="zh-TW" sz="2000"/>
              <a:t> Algorithm.</a:t>
            </a:r>
          </a:p>
          <a:p>
            <a:pPr>
              <a:lnSpc>
                <a:spcPct val="90000"/>
              </a:lnSpc>
            </a:pPr>
            <a:endParaRPr lang="en-US" altLang="zh-TW" sz="2000"/>
          </a:p>
        </p:txBody>
      </p:sp>
      <p:sp>
        <p:nvSpPr>
          <p:cNvPr id="40965" name="Rectangle 5"/>
          <p:cNvSpPr>
            <a:spLocks noChangeArrowheads="1"/>
          </p:cNvSpPr>
          <p:nvPr/>
        </p:nvSpPr>
        <p:spPr bwMode="auto">
          <a:xfrm>
            <a:off x="2162175" y="21336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graphicFrame>
        <p:nvGraphicFramePr>
          <p:cNvPr id="40964" name="Object 4"/>
          <p:cNvGraphicFramePr>
            <a:graphicFrameLocks noChangeAspect="1"/>
          </p:cNvGraphicFramePr>
          <p:nvPr/>
        </p:nvGraphicFramePr>
        <p:xfrm>
          <a:off x="2057400" y="2667000"/>
          <a:ext cx="6248400" cy="3357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5" r:id="rId3" imgW="4822857" imgH="2590476" progId="PI3.Image">
                  <p:embed/>
                </p:oleObj>
              </mc:Choice>
              <mc:Fallback>
                <p:oleObj r:id="rId3" imgW="4822857" imgH="2590476" progId="PI3.Imag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2667000"/>
                        <a:ext cx="6248400" cy="33575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22491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FBE231-7687-4CC7-959E-20E77F74C5BF}" type="slidenum">
              <a:rPr lang="en-US" altLang="zh-TW"/>
              <a:pPr/>
              <a:t>33</a:t>
            </a:fld>
            <a:endParaRPr lang="en-US" altLang="zh-TW"/>
          </a:p>
        </p:txBody>
      </p:sp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/>
              <a:t>The A</a:t>
            </a:r>
            <a:r>
              <a:rPr lang="en-US" altLang="zh-TW" b="1" baseline="30000"/>
              <a:t>*</a:t>
            </a:r>
            <a:r>
              <a:rPr lang="en-US" altLang="zh-TW" b="1"/>
              <a:t> algorithm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US" altLang="zh-TW" sz="2400" b="1"/>
              <a:t>Step 1.</a:t>
            </a:r>
          </a:p>
          <a:p>
            <a:pPr algn="just"/>
            <a:endParaRPr lang="en-US" altLang="zh-TW" sz="2400" b="1"/>
          </a:p>
          <a:p>
            <a:pPr algn="just"/>
            <a:endParaRPr lang="en-US" altLang="zh-TW" sz="2400" b="1"/>
          </a:p>
          <a:p>
            <a:pPr algn="just"/>
            <a:endParaRPr lang="en-US" altLang="zh-TW" sz="2400" b="1"/>
          </a:p>
          <a:p>
            <a:pPr algn="just"/>
            <a:endParaRPr lang="en-US" altLang="zh-TW" sz="2400" b="1"/>
          </a:p>
          <a:p>
            <a:pPr algn="just"/>
            <a:endParaRPr lang="en-US" altLang="zh-TW" sz="2400" b="1"/>
          </a:p>
          <a:p>
            <a:pPr algn="just"/>
            <a:endParaRPr lang="en-US" altLang="zh-TW" sz="2400"/>
          </a:p>
          <a:p>
            <a:endParaRPr lang="en-US" altLang="zh-TW" sz="2400"/>
          </a:p>
        </p:txBody>
      </p:sp>
      <p:sp>
        <p:nvSpPr>
          <p:cNvPr id="41989" name="Rectangle 5"/>
          <p:cNvSpPr>
            <a:spLocks noChangeArrowheads="1"/>
          </p:cNvSpPr>
          <p:nvPr/>
        </p:nvSpPr>
        <p:spPr bwMode="auto">
          <a:xfrm>
            <a:off x="2871788" y="25765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graphicFrame>
        <p:nvGraphicFramePr>
          <p:cNvPr id="41988" name="Object 4"/>
          <p:cNvGraphicFramePr>
            <a:graphicFrameLocks noChangeAspect="1"/>
          </p:cNvGraphicFramePr>
          <p:nvPr/>
        </p:nvGraphicFramePr>
        <p:xfrm>
          <a:off x="2057400" y="2514600"/>
          <a:ext cx="4953000" cy="2482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0" r:id="rId3" imgW="3398095" imgH="1706667" progId="PI3.Image">
                  <p:embed/>
                </p:oleObj>
              </mc:Choice>
              <mc:Fallback>
                <p:oleObj r:id="rId3" imgW="3398095" imgH="1706667" progId="PI3.Imag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2514600"/>
                        <a:ext cx="4953000" cy="2482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90" name="Object 6"/>
          <p:cNvGraphicFramePr>
            <a:graphicFrameLocks noChangeAspect="1"/>
          </p:cNvGraphicFramePr>
          <p:nvPr/>
        </p:nvGraphicFramePr>
        <p:xfrm>
          <a:off x="1371600" y="5029200"/>
          <a:ext cx="7772400" cy="1349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1" name="文件" r:id="rId5" imgW="5203080" imgH="1127880" progId="Word.Document.8">
                  <p:embed/>
                </p:oleObj>
              </mc:Choice>
              <mc:Fallback>
                <p:oleObj name="文件" r:id="rId5" imgW="5203080" imgH="112788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5029200"/>
                        <a:ext cx="7772400" cy="1349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77840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2D65B7-42C9-46D0-910A-D95D8DE0645B}" type="slidenum">
              <a:rPr lang="en-US" altLang="zh-TW"/>
              <a:pPr/>
              <a:t>34</a:t>
            </a:fld>
            <a:endParaRPr lang="en-US" altLang="zh-TW"/>
          </a:p>
        </p:txBody>
      </p:sp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/>
              <a:t>The A</a:t>
            </a:r>
            <a:r>
              <a:rPr lang="en-US" altLang="zh-TW" b="1" baseline="30000"/>
              <a:t>*</a:t>
            </a:r>
            <a:r>
              <a:rPr lang="en-US" altLang="zh-TW" b="1"/>
              <a:t> algorithm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2017713"/>
            <a:ext cx="7772400" cy="4611687"/>
          </a:xfrm>
        </p:spPr>
        <p:txBody>
          <a:bodyPr/>
          <a:lstStyle/>
          <a:p>
            <a:pPr algn="just"/>
            <a:r>
              <a:rPr lang="en-US" altLang="zh-TW" sz="2400" b="1"/>
              <a:t>Step 2. Expand A</a:t>
            </a:r>
          </a:p>
          <a:p>
            <a:pPr algn="just"/>
            <a:endParaRPr lang="en-US" altLang="zh-TW" sz="2400" b="1"/>
          </a:p>
          <a:p>
            <a:pPr algn="just"/>
            <a:endParaRPr lang="en-US" altLang="zh-TW" sz="2400" b="1"/>
          </a:p>
          <a:p>
            <a:pPr algn="just"/>
            <a:endParaRPr lang="en-US" altLang="zh-TW" sz="2400" b="1"/>
          </a:p>
          <a:p>
            <a:pPr algn="just"/>
            <a:endParaRPr lang="en-US" altLang="zh-TW" sz="2400" b="1"/>
          </a:p>
          <a:p>
            <a:pPr algn="just"/>
            <a:endParaRPr lang="en-US" altLang="zh-TW" sz="2400" b="1"/>
          </a:p>
          <a:p>
            <a:pPr algn="just"/>
            <a:endParaRPr lang="en-US" altLang="zh-TW" sz="2400" b="1"/>
          </a:p>
          <a:p>
            <a:pPr algn="just"/>
            <a:endParaRPr lang="en-US" altLang="zh-TW" sz="2400" b="1"/>
          </a:p>
          <a:p>
            <a:pPr algn="just"/>
            <a:endParaRPr lang="en-US" altLang="zh-TW" sz="2400"/>
          </a:p>
          <a:p>
            <a:endParaRPr lang="en-US" altLang="zh-TW" sz="2400"/>
          </a:p>
        </p:txBody>
      </p:sp>
      <p:sp>
        <p:nvSpPr>
          <p:cNvPr id="43013" name="Rectangle 5"/>
          <p:cNvSpPr>
            <a:spLocks noChangeArrowheads="1"/>
          </p:cNvSpPr>
          <p:nvPr/>
        </p:nvSpPr>
        <p:spPr bwMode="auto">
          <a:xfrm>
            <a:off x="2571750" y="21288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graphicFrame>
        <p:nvGraphicFramePr>
          <p:cNvPr id="43012" name="Object 4"/>
          <p:cNvGraphicFramePr>
            <a:graphicFrameLocks noChangeAspect="1"/>
          </p:cNvGraphicFramePr>
          <p:nvPr/>
        </p:nvGraphicFramePr>
        <p:xfrm>
          <a:off x="1905000" y="2438400"/>
          <a:ext cx="4800600" cy="312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4" r:id="rId3" imgW="4000000" imgH="2598095" progId="PI3.Image">
                  <p:embed/>
                </p:oleObj>
              </mc:Choice>
              <mc:Fallback>
                <p:oleObj r:id="rId3" imgW="4000000" imgH="2598095" progId="PI3.Imag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2438400"/>
                        <a:ext cx="4800600" cy="3121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4" name="Object 6"/>
          <p:cNvGraphicFramePr>
            <a:graphicFrameLocks noChangeAspect="1"/>
          </p:cNvGraphicFramePr>
          <p:nvPr/>
        </p:nvGraphicFramePr>
        <p:xfrm>
          <a:off x="1295400" y="5686425"/>
          <a:ext cx="8458200" cy="942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5" name="文件" r:id="rId5" imgW="5504760" imgH="777240" progId="Word.Document.8">
                  <p:embed/>
                </p:oleObj>
              </mc:Choice>
              <mc:Fallback>
                <p:oleObj name="文件" r:id="rId5" imgW="5504760" imgH="77724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5686425"/>
                        <a:ext cx="8458200" cy="942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0898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EC0734-04C0-4FB1-981B-1261A902A864}" type="slidenum">
              <a:rPr lang="en-US" altLang="zh-TW"/>
              <a:pPr/>
              <a:t>35</a:t>
            </a:fld>
            <a:endParaRPr lang="en-US" altLang="zh-TW"/>
          </a:p>
        </p:txBody>
      </p:sp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/>
              <a:t>The A</a:t>
            </a:r>
            <a:r>
              <a:rPr lang="en-US" altLang="zh-TW" b="1" baseline="30000"/>
              <a:t>*</a:t>
            </a:r>
            <a:r>
              <a:rPr lang="en-US" altLang="zh-TW" b="1"/>
              <a:t> algorithm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2017713"/>
            <a:ext cx="7772400" cy="4840287"/>
          </a:xfrm>
        </p:spPr>
        <p:txBody>
          <a:bodyPr/>
          <a:lstStyle/>
          <a:p>
            <a:r>
              <a:rPr lang="en-US" altLang="zh-TW" sz="2400" b="1"/>
              <a:t>Step 3. Expand C</a:t>
            </a:r>
            <a:r>
              <a:rPr lang="en-US" altLang="zh-TW" sz="2400"/>
              <a:t> </a:t>
            </a:r>
          </a:p>
          <a:p>
            <a:endParaRPr lang="en-US" altLang="zh-TW" sz="2400"/>
          </a:p>
          <a:p>
            <a:endParaRPr lang="en-US" altLang="zh-TW" sz="2400"/>
          </a:p>
          <a:p>
            <a:endParaRPr lang="en-US" altLang="zh-TW" sz="2400"/>
          </a:p>
          <a:p>
            <a:endParaRPr lang="en-US" altLang="zh-TW" sz="2400"/>
          </a:p>
          <a:p>
            <a:endParaRPr lang="en-US" altLang="zh-TW" sz="2400"/>
          </a:p>
          <a:p>
            <a:endParaRPr lang="en-US" altLang="zh-TW" sz="2400"/>
          </a:p>
          <a:p>
            <a:endParaRPr lang="en-US" altLang="zh-TW" sz="2400"/>
          </a:p>
          <a:p>
            <a:endParaRPr lang="en-US" altLang="zh-TW" sz="2400"/>
          </a:p>
          <a:p>
            <a:endParaRPr lang="en-US" altLang="zh-TW" sz="2400"/>
          </a:p>
        </p:txBody>
      </p:sp>
      <p:sp>
        <p:nvSpPr>
          <p:cNvPr id="44037" name="Rectangle 5"/>
          <p:cNvSpPr>
            <a:spLocks noChangeArrowheads="1"/>
          </p:cNvSpPr>
          <p:nvPr/>
        </p:nvSpPr>
        <p:spPr bwMode="auto">
          <a:xfrm>
            <a:off x="2381250" y="20764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graphicFrame>
        <p:nvGraphicFramePr>
          <p:cNvPr id="44036" name="Object 4"/>
          <p:cNvGraphicFramePr>
            <a:graphicFrameLocks noChangeAspect="1"/>
          </p:cNvGraphicFramePr>
          <p:nvPr/>
        </p:nvGraphicFramePr>
        <p:xfrm>
          <a:off x="1676400" y="2438400"/>
          <a:ext cx="5334000" cy="329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8" r:id="rId3" imgW="4380952" imgH="2704762" progId="PI3.Image">
                  <p:embed/>
                </p:oleObj>
              </mc:Choice>
              <mc:Fallback>
                <p:oleObj r:id="rId3" imgW="4380952" imgH="2704762" progId="PI3.Imag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2438400"/>
                        <a:ext cx="5334000" cy="3292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38" name="Object 6"/>
          <p:cNvGraphicFramePr>
            <a:graphicFrameLocks noChangeAspect="1"/>
          </p:cNvGraphicFramePr>
          <p:nvPr/>
        </p:nvGraphicFramePr>
        <p:xfrm>
          <a:off x="1371600" y="5761038"/>
          <a:ext cx="85344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9" name="文件" r:id="rId5" imgW="5536800" imgH="777240" progId="Word.Document.8">
                  <p:embed/>
                </p:oleObj>
              </mc:Choice>
              <mc:Fallback>
                <p:oleObj name="文件" r:id="rId5" imgW="5536800" imgH="77724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5761038"/>
                        <a:ext cx="8534400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19870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389E61-6CEC-4337-B24A-B447B7CB4AC0}" type="slidenum">
              <a:rPr lang="en-US" altLang="zh-TW"/>
              <a:pPr/>
              <a:t>36</a:t>
            </a:fld>
            <a:endParaRPr lang="en-US" altLang="zh-TW"/>
          </a:p>
        </p:txBody>
      </p:sp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/>
              <a:t>The A</a:t>
            </a:r>
            <a:r>
              <a:rPr lang="en-US" altLang="zh-TW" b="1" baseline="30000"/>
              <a:t>*</a:t>
            </a:r>
            <a:r>
              <a:rPr lang="en-US" altLang="zh-TW" b="1"/>
              <a:t> algorithm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752600"/>
            <a:ext cx="7772400" cy="4379913"/>
          </a:xfrm>
        </p:spPr>
        <p:txBody>
          <a:bodyPr/>
          <a:lstStyle/>
          <a:p>
            <a:r>
              <a:rPr lang="en-US" altLang="zh-TW" sz="2400" b="1"/>
              <a:t>Step 4. Expand D</a:t>
            </a:r>
            <a:r>
              <a:rPr lang="en-US" altLang="zh-TW" sz="2400"/>
              <a:t> </a:t>
            </a:r>
          </a:p>
        </p:txBody>
      </p:sp>
      <p:sp>
        <p:nvSpPr>
          <p:cNvPr id="45061" name="Rectangle 5"/>
          <p:cNvSpPr>
            <a:spLocks noChangeArrowheads="1"/>
          </p:cNvSpPr>
          <p:nvPr/>
        </p:nvSpPr>
        <p:spPr bwMode="auto">
          <a:xfrm>
            <a:off x="2219325" y="16097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graphicFrame>
        <p:nvGraphicFramePr>
          <p:cNvPr id="45060" name="Object 4"/>
          <p:cNvGraphicFramePr>
            <a:graphicFrameLocks noChangeAspect="1"/>
          </p:cNvGraphicFramePr>
          <p:nvPr/>
        </p:nvGraphicFramePr>
        <p:xfrm>
          <a:off x="1828800" y="2133600"/>
          <a:ext cx="4705350" cy="3638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2" r:id="rId3" imgW="4700952" imgH="3634286" progId="PI3.Image">
                  <p:embed/>
                </p:oleObj>
              </mc:Choice>
              <mc:Fallback>
                <p:oleObj r:id="rId3" imgW="4700952" imgH="3634286" progId="PI3.Imag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2133600"/>
                        <a:ext cx="4705350" cy="3638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83" name="Object 27"/>
          <p:cNvGraphicFramePr>
            <a:graphicFrameLocks noChangeAspect="1"/>
          </p:cNvGraphicFramePr>
          <p:nvPr/>
        </p:nvGraphicFramePr>
        <p:xfrm>
          <a:off x="914400" y="5715000"/>
          <a:ext cx="8534400" cy="960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3" name="文件" r:id="rId5" imgW="5139000" imgH="777240" progId="Word.Document.8">
                  <p:embed/>
                </p:oleObj>
              </mc:Choice>
              <mc:Fallback>
                <p:oleObj name="文件" r:id="rId5" imgW="5139000" imgH="77724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5715000"/>
                        <a:ext cx="8534400" cy="960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829024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01A933-93B8-4580-9044-B96A17821777}" type="slidenum">
              <a:rPr lang="en-US" altLang="zh-TW"/>
              <a:pPr/>
              <a:t>37</a:t>
            </a:fld>
            <a:endParaRPr lang="en-US" altLang="zh-TW"/>
          </a:p>
        </p:txBody>
      </p:sp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/>
              <a:t>The A</a:t>
            </a:r>
            <a:r>
              <a:rPr lang="en-US" altLang="zh-TW" b="1" baseline="30000"/>
              <a:t>*</a:t>
            </a:r>
            <a:r>
              <a:rPr lang="en-US" altLang="zh-TW" b="1"/>
              <a:t> algorithm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752600"/>
            <a:ext cx="7772400" cy="4379913"/>
          </a:xfrm>
        </p:spPr>
        <p:txBody>
          <a:bodyPr/>
          <a:lstStyle/>
          <a:p>
            <a:r>
              <a:rPr lang="en-US" altLang="zh-TW" sz="2400" b="1"/>
              <a:t>Step 5. Expand B</a:t>
            </a:r>
            <a:r>
              <a:rPr lang="en-US" altLang="zh-TW" sz="2400"/>
              <a:t> </a:t>
            </a:r>
          </a:p>
        </p:txBody>
      </p:sp>
      <p:sp>
        <p:nvSpPr>
          <p:cNvPr id="46085" name="Rectangle 5"/>
          <p:cNvSpPr>
            <a:spLocks noChangeArrowheads="1"/>
          </p:cNvSpPr>
          <p:nvPr/>
        </p:nvSpPr>
        <p:spPr bwMode="auto">
          <a:xfrm>
            <a:off x="2138363" y="16144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graphicFrame>
        <p:nvGraphicFramePr>
          <p:cNvPr id="46084" name="Object 4"/>
          <p:cNvGraphicFramePr>
            <a:graphicFrameLocks noChangeAspect="1"/>
          </p:cNvGraphicFramePr>
          <p:nvPr/>
        </p:nvGraphicFramePr>
        <p:xfrm>
          <a:off x="1676400" y="2133600"/>
          <a:ext cx="5257800" cy="3919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6" r:id="rId3" imgW="4868571" imgH="3763810" progId="PI3.Image">
                  <p:embed/>
                </p:oleObj>
              </mc:Choice>
              <mc:Fallback>
                <p:oleObj r:id="rId3" imgW="4868571" imgH="3763810" progId="PI3.Imag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2133600"/>
                        <a:ext cx="5257800" cy="39195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86" name="Object 6"/>
          <p:cNvGraphicFramePr>
            <a:graphicFrameLocks noChangeAspect="1"/>
          </p:cNvGraphicFramePr>
          <p:nvPr/>
        </p:nvGraphicFramePr>
        <p:xfrm>
          <a:off x="1219200" y="5943600"/>
          <a:ext cx="83058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7" name="文件" r:id="rId5" imgW="5059800" imgH="502920" progId="Word.Document.8">
                  <p:embed/>
                </p:oleObj>
              </mc:Choice>
              <mc:Fallback>
                <p:oleObj name="文件" r:id="rId5" imgW="5059800" imgH="50292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5943600"/>
                        <a:ext cx="8305800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57792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1D1FF2A-CE58-40FC-B46A-77DA33BA89E8}" type="slidenum">
              <a:rPr lang="en-US" altLang="zh-TW"/>
              <a:pPr/>
              <a:t>38</a:t>
            </a:fld>
            <a:endParaRPr lang="en-US" altLang="zh-TW"/>
          </a:p>
        </p:txBody>
      </p:sp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/>
              <a:t>The A</a:t>
            </a:r>
            <a:r>
              <a:rPr lang="en-US" altLang="zh-TW" b="1" baseline="30000"/>
              <a:t>*</a:t>
            </a:r>
            <a:r>
              <a:rPr lang="en-US" altLang="zh-TW" b="1"/>
              <a:t> algorithm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US" altLang="zh-TW" sz="2400" b="1"/>
              <a:t>Step 6. Expand F</a:t>
            </a:r>
            <a:endParaRPr lang="en-US" altLang="zh-TW" sz="2400"/>
          </a:p>
          <a:p>
            <a:endParaRPr lang="en-US" altLang="zh-TW" sz="2400"/>
          </a:p>
        </p:txBody>
      </p:sp>
      <p:sp>
        <p:nvSpPr>
          <p:cNvPr id="47109" name="Rectangle 5"/>
          <p:cNvSpPr>
            <a:spLocks noChangeArrowheads="1"/>
          </p:cNvSpPr>
          <p:nvPr/>
        </p:nvSpPr>
        <p:spPr bwMode="auto">
          <a:xfrm>
            <a:off x="2152650" y="18192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graphicFrame>
        <p:nvGraphicFramePr>
          <p:cNvPr id="47108" name="Object 4"/>
          <p:cNvGraphicFramePr>
            <a:graphicFrameLocks noChangeAspect="1"/>
          </p:cNvGraphicFramePr>
          <p:nvPr/>
        </p:nvGraphicFramePr>
        <p:xfrm>
          <a:off x="533400" y="2438400"/>
          <a:ext cx="5257800" cy="349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2" r:id="rId4" imgW="4838095" imgH="3749365" progId="PI3.Image">
                  <p:embed/>
                </p:oleObj>
              </mc:Choice>
              <mc:Fallback>
                <p:oleObj r:id="rId4" imgW="4838095" imgH="3749365" progId="PI3.Imag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2438400"/>
                        <a:ext cx="5257800" cy="3498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31" name="Object 27"/>
          <p:cNvGraphicFramePr>
            <a:graphicFrameLocks noChangeAspect="1"/>
          </p:cNvGraphicFramePr>
          <p:nvPr/>
        </p:nvGraphicFramePr>
        <p:xfrm>
          <a:off x="609600" y="5905500"/>
          <a:ext cx="87630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3" name="文件" r:id="rId6" imgW="4916520" imgH="777240" progId="Word.Document.8">
                  <p:embed/>
                </p:oleObj>
              </mc:Choice>
              <mc:Fallback>
                <p:oleObj name="文件" r:id="rId6" imgW="4916520" imgH="77724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5905500"/>
                        <a:ext cx="8763000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32" name="Object 28"/>
          <p:cNvGraphicFramePr>
            <a:graphicFrameLocks noChangeAspect="1"/>
          </p:cNvGraphicFramePr>
          <p:nvPr/>
        </p:nvGraphicFramePr>
        <p:xfrm>
          <a:off x="6705600" y="1905000"/>
          <a:ext cx="1905000" cy="1522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4" name="文件" r:id="rId8" imgW="1144440" imgH="914400" progId="Word.Document.8">
                  <p:embed/>
                </p:oleObj>
              </mc:Choice>
              <mc:Fallback>
                <p:oleObj name="文件" r:id="rId8" imgW="1144440" imgH="91440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5600" y="1905000"/>
                        <a:ext cx="1905000" cy="1522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33" name="Object 29"/>
          <p:cNvGraphicFramePr>
            <a:graphicFrameLocks noChangeAspect="1"/>
          </p:cNvGraphicFramePr>
          <p:nvPr/>
        </p:nvGraphicFramePr>
        <p:xfrm>
          <a:off x="6019800" y="4953000"/>
          <a:ext cx="3124200" cy="69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5" name="文件" r:id="rId10" imgW="1788840" imgH="457200" progId="Word.Document.8">
                  <p:embed/>
                </p:oleObj>
              </mc:Choice>
              <mc:Fallback>
                <p:oleObj name="文件" r:id="rId10" imgW="1788840" imgH="45720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0" y="4953000"/>
                        <a:ext cx="3124200" cy="695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05416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4713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395C4B-C69B-42D1-829C-8DFC503AD2F0}" type="slidenum">
              <a:rPr lang="en-US" altLang="zh-TW"/>
              <a:pPr/>
              <a:t>39</a:t>
            </a:fld>
            <a:endParaRPr lang="en-US" altLang="zh-TW"/>
          </a:p>
        </p:txBody>
      </p:sp>
      <p:sp>
        <p:nvSpPr>
          <p:cNvPr id="77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The A* Algorithm</a:t>
            </a:r>
          </a:p>
        </p:txBody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/>
              <a:t>Can be considered as a special type of branch-and-bound algorithm.</a:t>
            </a:r>
          </a:p>
        </p:txBody>
      </p:sp>
    </p:spTree>
    <p:extLst>
      <p:ext uri="{BB962C8B-B14F-4D97-AF65-F5344CB8AC3E}">
        <p14:creationId xmlns:p14="http://schemas.microsoft.com/office/powerpoint/2010/main" val="277552833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420620" y="2548890"/>
            <a:ext cx="314134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044064" algn="l"/>
              </a:tabLst>
            </a:pPr>
            <a:r>
              <a:rPr sz="4800" spc="15" dirty="0">
                <a:solidFill>
                  <a:srgbClr val="000000"/>
                </a:solidFill>
              </a:rPr>
              <a:t>T</a:t>
            </a:r>
            <a:r>
              <a:rPr sz="4800" spc="-5" dirty="0">
                <a:solidFill>
                  <a:srgbClr val="000000"/>
                </a:solidFill>
              </a:rPr>
              <a:t>h</a:t>
            </a:r>
            <a:r>
              <a:rPr sz="4800" spc="-15" dirty="0">
                <a:solidFill>
                  <a:srgbClr val="000000"/>
                </a:solidFill>
              </a:rPr>
              <a:t>a</a:t>
            </a:r>
            <a:r>
              <a:rPr sz="4800" spc="-5" dirty="0">
                <a:solidFill>
                  <a:srgbClr val="000000"/>
                </a:solidFill>
              </a:rPr>
              <a:t>n</a:t>
            </a:r>
            <a:r>
              <a:rPr sz="4800" dirty="0">
                <a:solidFill>
                  <a:srgbClr val="000000"/>
                </a:solidFill>
              </a:rPr>
              <a:t>k	Y</a:t>
            </a:r>
            <a:r>
              <a:rPr sz="4800" spc="-15" dirty="0">
                <a:solidFill>
                  <a:srgbClr val="000000"/>
                </a:solidFill>
              </a:rPr>
              <a:t>o</a:t>
            </a:r>
            <a:r>
              <a:rPr sz="4800" dirty="0">
                <a:solidFill>
                  <a:srgbClr val="000000"/>
                </a:solidFill>
              </a:rPr>
              <a:t>u</a:t>
            </a:r>
            <a:endParaRPr sz="480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69</TotalTime>
  <Words>1695</Words>
  <Application>Microsoft Office PowerPoint</Application>
  <PresentationFormat>On-screen Show (4:3)</PresentationFormat>
  <Paragraphs>255</Paragraphs>
  <Slides>40</Slides>
  <Notes>1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40</vt:i4>
      </vt:variant>
    </vt:vector>
  </HeadingPairs>
  <TitlesOfParts>
    <vt:vector size="43" baseType="lpstr">
      <vt:lpstr>Office Theme</vt:lpstr>
      <vt:lpstr>PI3.Image</vt:lpstr>
      <vt:lpstr>Microsoft Word 文件</vt:lpstr>
      <vt:lpstr>Branch-and-Bound Traveling Salesperson Problem</vt:lpstr>
      <vt:lpstr>Introduction</vt:lpstr>
      <vt:lpstr>Introduction …</vt:lpstr>
      <vt:lpstr>Introduction …</vt:lpstr>
      <vt:lpstr>Branch and Bound</vt:lpstr>
      <vt:lpstr>Breadth-first Search</vt:lpstr>
      <vt:lpstr>Breadth-first Search</vt:lpstr>
      <vt:lpstr>Best-first Search</vt:lpstr>
      <vt:lpstr>Types of Traversal</vt:lpstr>
      <vt:lpstr>Traveling Salesperson B&amp;B</vt:lpstr>
      <vt:lpstr>PowerPoint Presentation</vt:lpstr>
      <vt:lpstr>Defining a Bounding Heuristic</vt:lpstr>
      <vt:lpstr>Finding the Minimal Tour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The 0/1 knapsack problem</vt:lpstr>
      <vt:lpstr>How to find the upper bound?</vt:lpstr>
      <vt:lpstr>The 0/1 knapsack problem</vt:lpstr>
      <vt:lpstr>How to find the lower bound?</vt:lpstr>
      <vt:lpstr>The knapsack problem</vt:lpstr>
      <vt:lpstr>How to expand the tree?</vt:lpstr>
      <vt:lpstr>PowerPoint Presentation</vt:lpstr>
      <vt:lpstr>PowerPoint Presentation</vt:lpstr>
      <vt:lpstr>The A* algorithm </vt:lpstr>
      <vt:lpstr>Reasoning</vt:lpstr>
      <vt:lpstr>Reasoning</vt:lpstr>
      <vt:lpstr>The A* algorithm</vt:lpstr>
      <vt:lpstr>The A* algorithm</vt:lpstr>
      <vt:lpstr>The A* algorithm</vt:lpstr>
      <vt:lpstr>The A* algorithm</vt:lpstr>
      <vt:lpstr>The A* algorithm</vt:lpstr>
      <vt:lpstr>The A* algorithm</vt:lpstr>
      <vt:lpstr>The A* algorithm</vt:lpstr>
      <vt:lpstr>The A* Algorithm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Branch-and-Bound Traveling Salesperson Problem</dc:title>
  <dc:creator>Bushra</dc:creator>
  <cp:lastModifiedBy>PC</cp:lastModifiedBy>
  <cp:revision>4</cp:revision>
  <dcterms:created xsi:type="dcterms:W3CDTF">2020-12-28T05:53:44Z</dcterms:created>
  <dcterms:modified xsi:type="dcterms:W3CDTF">2024-05-22T19:35:56Z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2017-11-08T00:00:00Z</vt:filetime>
  </property>
  <property fmtid="{D5CDD505-2E9C-101B-9397-08002B2CF9AE}" pid="3" name="Creator">
    <vt:lpwstr>pdftk 1.44 - www.pdftk.com</vt:lpwstr>
  </property>
  <property fmtid="{D5CDD505-2E9C-101B-9397-08002B2CF9AE}" pid="4" name="LastSaved">
    <vt:filetime>2020-12-28T00:00:00Z</vt:filetime>
  </property>
</Properties>
</file>