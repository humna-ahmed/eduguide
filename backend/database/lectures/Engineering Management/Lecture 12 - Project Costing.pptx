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69" autoAdjust="0"/>
    <p:restoredTop sz="94660"/>
  </p:normalViewPr>
  <p:slideViewPr>
    <p:cSldViewPr snapToGrid="0">
      <p:cViewPr varScale="1">
        <p:scale>
          <a:sx n="64" d="100"/>
          <a:sy n="64" d="100"/>
        </p:scale>
        <p:origin x="91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A75D95-5E67-4F36-9E27-33E746EB1B18}" type="datetimeFigureOut">
              <a:rPr lang="en-GB" smtClean="0"/>
              <a:t>16/05/2024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85BE9F-441D-4EC6-B193-1815DA69C2A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00652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fld id="{B234C119-9865-462C-959E-7524B728B238}" type="slidenum">
              <a:rPr lang="en-US" sz="1200" smtClean="0">
                <a:latin typeface="Times" pitchFamily="-128" charset="0"/>
              </a:rPr>
              <a:pPr/>
              <a:t>15</a:t>
            </a:fld>
            <a:endParaRPr lang="en-US" sz="1200">
              <a:latin typeface="Times" pitchFamily="-128" charset="0"/>
            </a:endParaRPr>
          </a:p>
        </p:txBody>
      </p:sp>
      <p:sp>
        <p:nvSpPr>
          <p:cNvPr id="768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680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pPr eaLnBrk="1" hangingPunct="1"/>
            <a:r>
              <a:rPr lang="en-US"/>
              <a:t>Dummy tasks always have 0  duration.</a:t>
            </a:r>
          </a:p>
          <a:p>
            <a:pPr eaLnBrk="1" hangingPunct="1"/>
            <a:endParaRPr lang="en-US"/>
          </a:p>
          <a:p>
            <a:pPr eaLnBrk="1" hangingPunct="1"/>
            <a:r>
              <a:rPr lang="en-US"/>
              <a:t>From this, we can calculate ECTs and LCTs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577589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43AEF53-B19D-49DC-0779-FCFCCF65D3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F81DA664-E25C-88C3-6FB9-69C9000EB3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DDC9488-4417-941F-6E29-A276CA8C8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95C21568-BBFF-9740-4463-DA6221969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A0F5FC71-B213-E3F7-E7A4-7F9F427D2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7D447-E6E3-43A7-B563-311C5964263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68419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1C9B38-34D9-18B8-6CCC-FC9A06AA3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10EE0045-8591-EEB2-A3C7-C44EAA18E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2CC44672-5068-1415-CCDD-0464AD4C8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278BB8E2-74DD-36E7-D482-069117CD4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40F38A16-6062-C10E-1701-C7CE7DB7D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7D447-E6E3-43A7-B563-311C5964263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07156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8F01883-B761-AC83-83A7-B049D3D12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601147D9-CB28-786C-2218-A78C91D302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1007FF37-914B-C142-E1DF-46D9C220A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BF7C6EF-4FA2-E3C8-D873-71D5A22AF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2280989-175D-3505-E8FA-432AC7D4C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7D447-E6E3-43A7-B563-311C5964263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27229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744C8D0-B4CC-93ED-E45D-9D29E5B8E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0C5BF59-DA35-DCB0-455D-B219EAC6A8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61D0B5BD-91C7-4416-B138-D454FC2472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2802CBD5-3B62-1169-B159-6856F7E45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AA3600A9-8EB6-3749-D002-9B924B8B2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161E3F90-98DA-6E84-2075-E208DAD15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7D447-E6E3-43A7-B563-311C5964263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21185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F7620C5-68B6-62C5-6A5C-16B12FD24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59F4257E-83F9-1A96-7907-024DA8B8DA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0E6544C3-31BF-17EF-563F-211BF12A8F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C5BDC9FA-3405-53D0-3BDD-6C6C7C796B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D4CD060B-AC00-0CB8-B60F-220A6B8A09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708B8550-D4C2-36F7-5284-BEA06A777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638282E5-2F56-6615-0306-014C41D52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7B57931E-F96B-167E-69F6-2EE0BF637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7D447-E6E3-43A7-B563-311C5964263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88938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C0C3761-A908-1F0A-2FC3-29873E32A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AE0BADAA-F62D-92BB-9533-E2E971B39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BE6161B6-F39C-C8B6-D589-039F6A7D5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31D74963-5FC1-F175-31BB-3E73746CB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7D447-E6E3-43A7-B563-311C5964263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21741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58FC33E9-B8DC-3D67-E266-048D12F5E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C59E4A1D-490D-50C2-503A-787318B85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86B712A-552F-BC40-6E16-E1F274386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7D447-E6E3-43A7-B563-311C5964263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34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EEF945A-79E6-452E-FF27-02D29475F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D339008-37BA-F893-EB53-67D8D5FD02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C461180-23B8-99F4-DB0A-5DB93CD786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719E1390-87A7-5A86-51EE-614DD0D7E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85C6901A-E203-7A08-4C4E-15CE79421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DEB09BB5-F605-2565-26BD-72BCEEFD1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7D447-E6E3-43A7-B563-311C5964263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8680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34635A6-1678-BD57-6A87-DA6BB79B3D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68E07623-D846-1018-52D9-189BA56FC3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FD8B0820-EDC4-75B3-0A86-88F4D64353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B6E6B57-18E2-CBCE-2DFF-90FE963C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9DD99BFF-A517-74E9-5DFA-E194D2E2A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7EFBBCA-8626-9573-BFA8-95BED6635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7D447-E6E3-43A7-B563-311C5964263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719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BB7CBAC-C24B-840C-E40C-30F0BB9DD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A45340BB-F29C-3580-7230-22465E6D9E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1211705-7A12-6A7F-2189-72BCEC57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01768D8-E52A-6C82-ECDF-590B627FB3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D89FE8EE-C559-28B4-854B-47D8E4437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7D447-E6E3-43A7-B563-311C5964263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61078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7EB2B66D-D804-0830-B159-411AC391CC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593A750D-1E6E-7711-991D-DB2AF79BA5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2324ECF-C1E8-CDA0-3F41-BA0B2690B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64C32056-72EF-6D01-E347-411269F7D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68D3B1A2-8A1D-77CC-E78C-5DE265AA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7D447-E6E3-43A7-B563-311C5964263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67280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28600"/>
            <a:ext cx="1097280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422400" y="1371600"/>
            <a:ext cx="10058400" cy="4800600"/>
          </a:xfrm>
        </p:spPr>
        <p:txBody>
          <a:bodyPr/>
          <a:lstStyle/>
          <a:p>
            <a:pPr lvl="0"/>
            <a:endParaRPr lang="en-CA" noProof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314F9FB-39DE-42F3-8926-1BB3B8BA8B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7353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28600"/>
            <a:ext cx="1097280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hart Placeholder 2"/>
          <p:cNvSpPr>
            <a:spLocks noGrp="1"/>
          </p:cNvSpPr>
          <p:nvPr>
            <p:ph type="chart" idx="1"/>
          </p:nvPr>
        </p:nvSpPr>
        <p:spPr>
          <a:xfrm>
            <a:off x="1422400" y="1371600"/>
            <a:ext cx="10058400" cy="4800600"/>
          </a:xfrm>
        </p:spPr>
        <p:txBody>
          <a:bodyPr/>
          <a:lstStyle/>
          <a:p>
            <a:pPr lvl="0"/>
            <a:endParaRPr lang="en-CA" noProof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854A6B1-EB74-4EDA-A3A4-4A575ADBA39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310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4C189148-5D5D-EB6A-49FD-34FB61AEF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D78CB3E5-22F6-17CE-C97A-F7A2488E9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08970185-2FB0-5369-0BFB-9DF3920F0D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101D67D-E837-2A90-AE5B-BBA345847F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0AD77A3A-B72A-21A2-E5D6-98CAAD8DF7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97D447-E6E3-43A7-B563-311C5964263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8990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Project Scheduling and Resource Allocation</a:t>
            </a:r>
          </a:p>
        </p:txBody>
      </p:sp>
      <p:sp>
        <p:nvSpPr>
          <p:cNvPr id="6" name="Subtitle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PERT , GANTT CHARTS and Critical Paths</a:t>
            </a:r>
          </a:p>
        </p:txBody>
      </p:sp>
    </p:spTree>
    <p:extLst>
      <p:ext uri="{BB962C8B-B14F-4D97-AF65-F5344CB8AC3E}">
        <p14:creationId xmlns:p14="http://schemas.microsoft.com/office/powerpoint/2010/main" val="2745171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7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>
                <a:cs typeface="Times" pitchFamily="-128" charset="0"/>
              </a:rPr>
              <a:t> Project Scheduling and Tracking</a:t>
            </a:r>
            <a:r>
              <a:rPr lang="en-US" dirty="0">
                <a:cs typeface="Times" pitchFamily="-128" charset="0"/>
              </a:rPr>
              <a:t> </a:t>
            </a:r>
          </a:p>
        </p:txBody>
      </p:sp>
      <p:sp>
        <p:nvSpPr>
          <p:cNvPr id="3379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GB" i="1">
                <a:cs typeface="Times" pitchFamily="-128" charset="0"/>
              </a:rPr>
              <a:t>Scheduling</a:t>
            </a:r>
            <a:r>
              <a:rPr lang="en-GB">
                <a:cs typeface="Times" pitchFamily="-128" charset="0"/>
              </a:rPr>
              <a:t> is the process of deciding:</a:t>
            </a:r>
          </a:p>
          <a:p>
            <a:pPr lvl="2"/>
            <a:r>
              <a:rPr lang="en-GB">
                <a:cs typeface="Times" pitchFamily="-128" charset="0"/>
              </a:rPr>
              <a:t>In what sequence a set of activities will be performed.</a:t>
            </a:r>
          </a:p>
          <a:p>
            <a:pPr lvl="2"/>
            <a:r>
              <a:rPr lang="en-GB">
                <a:cs typeface="Times" pitchFamily="-128" charset="0"/>
              </a:rPr>
              <a:t>When they should start and be completed. </a:t>
            </a:r>
          </a:p>
          <a:p>
            <a:pPr lvl="1"/>
            <a:r>
              <a:rPr lang="en-GB" i="1">
                <a:cs typeface="Times" pitchFamily="-128" charset="0"/>
              </a:rPr>
              <a:t>Tracking</a:t>
            </a:r>
            <a:r>
              <a:rPr lang="en-GB">
                <a:cs typeface="Times" pitchFamily="-128" charset="0"/>
              </a:rPr>
              <a:t> is the process of determining how well you are sticking to the cost estimate and schedule.</a:t>
            </a:r>
            <a:r>
              <a:rPr lang="en-US">
                <a:cs typeface="Times" pitchFamily="-12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21074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21" name="Rectangle 2"/>
          <p:cNvSpPr>
            <a:spLocks noGrp="1" noChangeArrowheads="1"/>
          </p:cNvSpPr>
          <p:nvPr>
            <p:ph type="title"/>
          </p:nvPr>
        </p:nvSpPr>
        <p:spPr>
          <a:xfrm>
            <a:off x="1905000" y="0"/>
            <a:ext cx="8763000" cy="914400"/>
          </a:xfrm>
        </p:spPr>
        <p:txBody>
          <a:bodyPr>
            <a:normAutofit fontScale="90000"/>
          </a:bodyPr>
          <a:lstStyle/>
          <a:p>
            <a:r>
              <a:rPr lang="en-US"/>
              <a:t>Some Basic Project Management Terminology</a:t>
            </a:r>
          </a:p>
        </p:txBody>
      </p:sp>
      <p:sp>
        <p:nvSpPr>
          <p:cNvPr id="3482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333626" y="876300"/>
            <a:ext cx="7877175" cy="5029200"/>
          </a:xfrm>
        </p:spPr>
        <p:txBody>
          <a:bodyPr>
            <a:normAutofit fontScale="92500" lnSpcReduction="10000"/>
          </a:bodyPr>
          <a:lstStyle/>
          <a:p>
            <a:pPr marL="0" indent="0">
              <a:buFontTx/>
              <a:buChar char="•"/>
            </a:pPr>
            <a:r>
              <a:rPr lang="en-US" sz="2000" i="1"/>
              <a:t>Deliverable:</a:t>
            </a:r>
            <a:r>
              <a:rPr lang="en-US" sz="2000"/>
              <a:t> some concrete thing which is to be delivered, to the client or internally to the development team; e.g.</a:t>
            </a:r>
          </a:p>
          <a:p>
            <a:pPr lvl="1">
              <a:lnSpc>
                <a:spcPct val="90000"/>
              </a:lnSpc>
            </a:pPr>
            <a:r>
              <a:rPr lang="en-US" sz="1800"/>
              <a:t>Specifications reports</a:t>
            </a:r>
          </a:p>
          <a:p>
            <a:pPr lvl="1">
              <a:lnSpc>
                <a:spcPct val="90000"/>
              </a:lnSpc>
            </a:pPr>
            <a:r>
              <a:rPr lang="en-US" sz="1800"/>
              <a:t>Executable program</a:t>
            </a:r>
          </a:p>
          <a:p>
            <a:pPr lvl="1">
              <a:lnSpc>
                <a:spcPct val="90000"/>
              </a:lnSpc>
            </a:pPr>
            <a:r>
              <a:rPr lang="en-US" sz="1800"/>
              <a:t>Source code</a:t>
            </a:r>
          </a:p>
          <a:p>
            <a:pPr marL="0" indent="0">
              <a:buFontTx/>
              <a:buChar char="•"/>
            </a:pPr>
            <a:r>
              <a:rPr lang="en-US" sz="2000" i="1"/>
              <a:t>Task/Activity</a:t>
            </a:r>
            <a:r>
              <a:rPr lang="en-US" sz="2000"/>
              <a:t>: something we have to do during the project; e.g.</a:t>
            </a:r>
          </a:p>
          <a:p>
            <a:pPr lvl="1">
              <a:lnSpc>
                <a:spcPct val="90000"/>
              </a:lnSpc>
            </a:pPr>
            <a:r>
              <a:rPr lang="en-US" sz="1800"/>
              <a:t>Defining user requirements</a:t>
            </a:r>
          </a:p>
          <a:p>
            <a:pPr lvl="1">
              <a:lnSpc>
                <a:spcPct val="90000"/>
              </a:lnSpc>
            </a:pPr>
            <a:r>
              <a:rPr lang="en-US" sz="1800"/>
              <a:t>Coding a module</a:t>
            </a:r>
          </a:p>
          <a:p>
            <a:pPr lvl="1">
              <a:lnSpc>
                <a:spcPct val="90000"/>
              </a:lnSpc>
            </a:pPr>
            <a:r>
              <a:rPr lang="en-US" sz="1800"/>
              <a:t>Doing system testing</a:t>
            </a:r>
          </a:p>
          <a:p>
            <a:pPr marL="0" indent="0">
              <a:buFontTx/>
              <a:buChar char="•"/>
            </a:pPr>
            <a:r>
              <a:rPr lang="en-US" sz="2000"/>
              <a:t>Each task or activity will take some length of time</a:t>
            </a:r>
          </a:p>
          <a:p>
            <a:pPr lvl="1">
              <a:lnSpc>
                <a:spcPct val="90000"/>
              </a:lnSpc>
            </a:pPr>
            <a:r>
              <a:rPr lang="en-US" sz="1800"/>
              <a:t>Referred to as </a:t>
            </a:r>
            <a:r>
              <a:rPr lang="en-US" sz="1800" b="1" i="1"/>
              <a:t>duration</a:t>
            </a:r>
            <a:r>
              <a:rPr lang="en-US" sz="1800"/>
              <a:t> of task</a:t>
            </a:r>
          </a:p>
          <a:p>
            <a:pPr lvl="1">
              <a:lnSpc>
                <a:spcPct val="90000"/>
              </a:lnSpc>
            </a:pPr>
            <a:r>
              <a:rPr lang="en-US" sz="1800"/>
              <a:t>Sometimes measured in days, weeks, etc.</a:t>
            </a:r>
          </a:p>
          <a:p>
            <a:pPr lvl="1">
              <a:lnSpc>
                <a:spcPct val="90000"/>
              </a:lnSpc>
            </a:pPr>
            <a:r>
              <a:rPr lang="en-US" sz="1800"/>
              <a:t>Sometimes measured in person-days, person-weeks, etc.</a:t>
            </a:r>
          </a:p>
          <a:p>
            <a:pPr lvl="1">
              <a:lnSpc>
                <a:spcPct val="90000"/>
              </a:lnSpc>
            </a:pPr>
            <a:r>
              <a:rPr lang="en-US" sz="1800" b="1" i="1"/>
              <a:t>Person-day</a:t>
            </a:r>
            <a:r>
              <a:rPr lang="en-US" sz="1800"/>
              <a:t> = number of people X number of days</a:t>
            </a:r>
          </a:p>
          <a:p>
            <a:pPr lvl="2">
              <a:lnSpc>
                <a:spcPct val="90000"/>
              </a:lnSpc>
            </a:pPr>
            <a:r>
              <a:rPr lang="en-US" sz="1800"/>
              <a:t>Example: 12 person days for writing all code could mean 1 person 12 days or 4 people 3 days</a:t>
            </a:r>
          </a:p>
          <a:p>
            <a:pPr lvl="2">
              <a:lnSpc>
                <a:spcPct val="90000"/>
              </a:lnSpc>
            </a:pPr>
            <a:r>
              <a:rPr lang="en-US" sz="1800" b="1"/>
              <a:t>Note</a:t>
            </a:r>
            <a:r>
              <a:rPr lang="en-US" sz="1800"/>
              <a:t>: not always true that a task that takes 1 programmer 12 days would take 12 programmers 1 day</a:t>
            </a:r>
          </a:p>
        </p:txBody>
      </p:sp>
    </p:spTree>
    <p:extLst>
      <p:ext uri="{BB962C8B-B14F-4D97-AF65-F5344CB8AC3E}">
        <p14:creationId xmlns:p14="http://schemas.microsoft.com/office/powerpoint/2010/main" val="9693996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Dependencies and Milestones</a:t>
            </a:r>
          </a:p>
        </p:txBody>
      </p:sp>
      <p:sp>
        <p:nvSpPr>
          <p:cNvPr id="3584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Char char="•"/>
            </a:pPr>
            <a:r>
              <a:rPr lang="en-US" sz="2000"/>
              <a:t>For a given task or activity, may be impossible to start it without some other task(s) or activity(ies) having been completed; e.g.</a:t>
            </a:r>
          </a:p>
          <a:p>
            <a:pPr lvl="1">
              <a:lnSpc>
                <a:spcPct val="90000"/>
              </a:lnSpc>
            </a:pPr>
            <a:r>
              <a:rPr lang="en-US" sz="2000"/>
              <a:t>Cannot start coding without completing design</a:t>
            </a:r>
          </a:p>
          <a:p>
            <a:pPr lvl="1">
              <a:lnSpc>
                <a:spcPct val="90000"/>
              </a:lnSpc>
            </a:pPr>
            <a:r>
              <a:rPr lang="en-US" sz="2000"/>
              <a:t>Cannot start system testing without completing code integration and test plan</a:t>
            </a:r>
          </a:p>
          <a:p>
            <a:pPr marL="0" indent="0">
              <a:buFontTx/>
              <a:buChar char="•"/>
            </a:pPr>
            <a:r>
              <a:rPr lang="en-US" sz="2000"/>
              <a:t>If task B cannot start without A being completed, we say</a:t>
            </a:r>
          </a:p>
          <a:p>
            <a:pPr lvl="1">
              <a:lnSpc>
                <a:spcPct val="90000"/>
              </a:lnSpc>
            </a:pPr>
            <a:r>
              <a:rPr lang="en-US" sz="2000"/>
              <a:t>B depends on A</a:t>
            </a:r>
          </a:p>
          <a:p>
            <a:pPr lvl="1">
              <a:lnSpc>
                <a:spcPct val="90000"/>
              </a:lnSpc>
            </a:pPr>
            <a:r>
              <a:rPr lang="en-US" sz="2000"/>
              <a:t>There is a dependency between A and B</a:t>
            </a:r>
          </a:p>
          <a:p>
            <a:pPr marL="0" indent="0">
              <a:buFontTx/>
              <a:buChar char="•"/>
            </a:pPr>
            <a:r>
              <a:rPr lang="en-US" sz="2000" i="1"/>
              <a:t>Milestone</a:t>
            </a:r>
            <a:r>
              <a:rPr lang="en-US" sz="2000"/>
              <a:t>: some achievement which must be made during the project; e.g.</a:t>
            </a:r>
          </a:p>
          <a:p>
            <a:pPr lvl="1">
              <a:lnSpc>
                <a:spcPct val="90000"/>
              </a:lnSpc>
            </a:pPr>
            <a:r>
              <a:rPr lang="en-US" sz="2000"/>
              <a:t>Delivering some deliverable</a:t>
            </a:r>
          </a:p>
          <a:p>
            <a:pPr lvl="1">
              <a:lnSpc>
                <a:spcPct val="90000"/>
              </a:lnSpc>
            </a:pPr>
            <a:r>
              <a:rPr lang="en-US" sz="2000"/>
              <a:t>Completing some task</a:t>
            </a:r>
          </a:p>
          <a:p>
            <a:pPr marL="0" indent="0">
              <a:buFontTx/>
              <a:buChar char="•"/>
            </a:pPr>
            <a:r>
              <a:rPr lang="en-US" sz="2000"/>
              <a:t>Note, delivering a deliverable may be a milestone, but not all milestones are associated with deliverables </a:t>
            </a:r>
          </a:p>
        </p:txBody>
      </p:sp>
    </p:spTree>
    <p:extLst>
      <p:ext uri="{BB962C8B-B14F-4D97-AF65-F5344CB8AC3E}">
        <p14:creationId xmlns:p14="http://schemas.microsoft.com/office/powerpoint/2010/main" val="2910363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9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dirty="0"/>
              <a:t>Setting and Making Deadlines</a:t>
            </a:r>
          </a:p>
        </p:txBody>
      </p:sp>
      <p:sp>
        <p:nvSpPr>
          <p:cNvPr id="3687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447925" y="1038225"/>
            <a:ext cx="8153400" cy="5105400"/>
          </a:xfrm>
        </p:spPr>
        <p:txBody>
          <a:bodyPr>
            <a:normAutofit lnSpcReduction="10000"/>
          </a:bodyPr>
          <a:lstStyle/>
          <a:p>
            <a:pPr marL="0" indent="0">
              <a:buFontTx/>
              <a:buChar char="•"/>
            </a:pPr>
            <a:r>
              <a:rPr lang="en-US" sz="2000" i="1"/>
              <a:t>Deadline</a:t>
            </a:r>
            <a:r>
              <a:rPr lang="en-US" sz="2000"/>
              <a:t> time by which milestone has to be met</a:t>
            </a:r>
          </a:p>
          <a:p>
            <a:pPr lvl="1">
              <a:lnSpc>
                <a:spcPct val="90000"/>
              </a:lnSpc>
            </a:pPr>
            <a:r>
              <a:rPr lang="en-US" sz="2000"/>
              <a:t>Some deadlines are set by the client</a:t>
            </a:r>
          </a:p>
          <a:p>
            <a:pPr lvl="1">
              <a:lnSpc>
                <a:spcPct val="90000"/>
              </a:lnSpc>
            </a:pPr>
            <a:r>
              <a:rPr lang="en-US" sz="2000"/>
              <a:t>Others are set by us on project to make sure project stays on track</a:t>
            </a:r>
          </a:p>
          <a:p>
            <a:pPr marL="0" indent="0">
              <a:buFontTx/>
              <a:buChar char="•"/>
            </a:pPr>
            <a:r>
              <a:rPr lang="en-US" sz="2000"/>
              <a:t>To set a deadline for completing task T, we must consider how long it will take to:</a:t>
            </a:r>
          </a:p>
          <a:p>
            <a:pPr lvl="1">
              <a:lnSpc>
                <a:spcPct val="90000"/>
              </a:lnSpc>
            </a:pPr>
            <a:r>
              <a:rPr lang="en-US" sz="2000"/>
              <a:t>Complete the tasks that task T depends on</a:t>
            </a:r>
          </a:p>
          <a:p>
            <a:pPr lvl="1">
              <a:lnSpc>
                <a:spcPct val="90000"/>
              </a:lnSpc>
            </a:pPr>
            <a:r>
              <a:rPr lang="en-US" sz="2000"/>
              <a:t>Complete task T itself</a:t>
            </a:r>
          </a:p>
          <a:p>
            <a:pPr marL="0" indent="0">
              <a:buFontTx/>
              <a:buChar char="•"/>
            </a:pPr>
            <a:r>
              <a:rPr lang="en-US" sz="2000"/>
              <a:t>If we miss a deadline, we say (euphemistically) “the deadline has slipped”</a:t>
            </a:r>
          </a:p>
          <a:p>
            <a:pPr lvl="1">
              <a:lnSpc>
                <a:spcPct val="90000"/>
              </a:lnSpc>
            </a:pPr>
            <a:r>
              <a:rPr lang="en-US" sz="2000"/>
              <a:t>This is virtually inevitable</a:t>
            </a:r>
          </a:p>
          <a:p>
            <a:pPr marL="0" indent="0">
              <a:buFontTx/>
              <a:buChar char="•"/>
            </a:pPr>
            <a:r>
              <a:rPr lang="en-US" sz="2000"/>
              <a:t>Important tasks for project managers</a:t>
            </a:r>
          </a:p>
          <a:p>
            <a:pPr lvl="1">
              <a:lnSpc>
                <a:spcPct val="90000"/>
              </a:lnSpc>
            </a:pPr>
            <a:r>
              <a:rPr lang="en-US" sz="2000"/>
              <a:t>Monitor whether past deadlines have slipped</a:t>
            </a:r>
          </a:p>
          <a:p>
            <a:pPr lvl="1">
              <a:lnSpc>
                <a:spcPct val="90000"/>
              </a:lnSpc>
            </a:pPr>
            <a:r>
              <a:rPr lang="en-US" sz="2000"/>
              <a:t>Monitor whether future deadlines are going to slip</a:t>
            </a:r>
          </a:p>
          <a:p>
            <a:pPr lvl="1">
              <a:lnSpc>
                <a:spcPct val="90000"/>
              </a:lnSpc>
            </a:pPr>
            <a:r>
              <a:rPr lang="en-US" sz="2000"/>
              <a:t>Allocate or reallocate resources to help make deadlines</a:t>
            </a:r>
          </a:p>
          <a:p>
            <a:pPr marL="0" indent="0">
              <a:buFontTx/>
              <a:buChar char="•"/>
            </a:pPr>
            <a:r>
              <a:rPr lang="en-US" sz="2000"/>
              <a:t>PERT chart and Gantt charts help project managers do these things (among others)</a:t>
            </a:r>
          </a:p>
          <a:p>
            <a:pPr marL="0" indent="0"/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26886467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3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-152400"/>
            <a:ext cx="8229600" cy="914400"/>
          </a:xfrm>
        </p:spPr>
        <p:txBody>
          <a:bodyPr/>
          <a:lstStyle/>
          <a:p>
            <a:r>
              <a:rPr lang="en-US"/>
              <a:t>PERT Charts</a:t>
            </a:r>
          </a:p>
        </p:txBody>
      </p:sp>
      <p:sp>
        <p:nvSpPr>
          <p:cNvPr id="3789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438400" y="838200"/>
            <a:ext cx="7924800" cy="5410200"/>
          </a:xfrm>
        </p:spPr>
        <p:txBody>
          <a:bodyPr>
            <a:normAutofit lnSpcReduction="10000"/>
          </a:bodyPr>
          <a:lstStyle/>
          <a:p>
            <a:pPr marL="0" indent="0">
              <a:buFontTx/>
              <a:buChar char="•"/>
            </a:pPr>
            <a:r>
              <a:rPr lang="en-US" sz="2000" dirty="0"/>
              <a:t>PERT = Project Evaluation and Review Technique</a:t>
            </a:r>
          </a:p>
          <a:p>
            <a:pPr marL="0" indent="0">
              <a:buFontTx/>
              <a:buChar char="•"/>
            </a:pPr>
            <a:r>
              <a:rPr lang="en-US" sz="2000" dirty="0"/>
              <a:t>PERT chart =  graphical representation of the scheduling of events in a project</a:t>
            </a:r>
          </a:p>
          <a:p>
            <a:pPr marL="0" indent="0">
              <a:buFontTx/>
              <a:buChar char="•"/>
            </a:pPr>
            <a:r>
              <a:rPr lang="en-US" sz="2000" dirty="0"/>
              <a:t>Sample PERT Chart:</a:t>
            </a:r>
          </a:p>
          <a:p>
            <a:pPr marL="0" indent="0">
              <a:buFontTx/>
              <a:buChar char="•"/>
            </a:pPr>
            <a:endParaRPr lang="en-US" sz="2000" dirty="0"/>
          </a:p>
          <a:p>
            <a:pPr marL="0" indent="0">
              <a:buFontTx/>
              <a:buChar char="•"/>
            </a:pPr>
            <a:endParaRPr lang="en-US" sz="2000" dirty="0"/>
          </a:p>
          <a:p>
            <a:pPr marL="0" indent="0"/>
            <a:endParaRPr lang="en-US" sz="2000" dirty="0"/>
          </a:p>
          <a:p>
            <a:pPr marL="0" indent="0">
              <a:buFontTx/>
              <a:buChar char="•"/>
            </a:pPr>
            <a:endParaRPr lang="en-US" sz="2000" dirty="0"/>
          </a:p>
          <a:p>
            <a:pPr marL="0" indent="0">
              <a:buFontTx/>
              <a:buChar char="•"/>
            </a:pPr>
            <a:r>
              <a:rPr lang="en-US" sz="2000" dirty="0"/>
              <a:t>A PERT chart is a graph</a:t>
            </a:r>
          </a:p>
          <a:p>
            <a:pPr lvl="1">
              <a:lnSpc>
                <a:spcPct val="90000"/>
              </a:lnSpc>
            </a:pPr>
            <a:r>
              <a:rPr lang="en-US" sz="2000" dirty="0"/>
              <a:t>Edges are tasks/activities that need to be done</a:t>
            </a:r>
          </a:p>
          <a:p>
            <a:pPr lvl="1">
              <a:lnSpc>
                <a:spcPct val="90000"/>
              </a:lnSpc>
            </a:pPr>
            <a:r>
              <a:rPr lang="en-US" sz="2000" dirty="0"/>
              <a:t>Nodes are the events or milestones</a:t>
            </a:r>
          </a:p>
          <a:p>
            <a:pPr marL="0" indent="0">
              <a:buFontTx/>
              <a:buChar char="•"/>
            </a:pPr>
            <a:r>
              <a:rPr lang="en-US" sz="2000" dirty="0"/>
              <a:t>Task edge T from event node E1 to event node E2 signifies:</a:t>
            </a:r>
          </a:p>
          <a:p>
            <a:pPr lvl="1">
              <a:lnSpc>
                <a:spcPct val="90000"/>
              </a:lnSpc>
            </a:pPr>
            <a:r>
              <a:rPr lang="en-US" sz="2000" dirty="0"/>
              <a:t>Until event E1 happens, task T cannot be started</a:t>
            </a:r>
          </a:p>
          <a:p>
            <a:pPr lvl="1">
              <a:lnSpc>
                <a:spcPct val="90000"/>
              </a:lnSpc>
            </a:pPr>
            <a:r>
              <a:rPr lang="en-US" sz="2000" dirty="0"/>
              <a:t>Until task T finishes, event E2 cannot happen</a:t>
            </a:r>
          </a:p>
          <a:p>
            <a:pPr marL="0" indent="0">
              <a:buFontTx/>
              <a:buChar char="•"/>
            </a:pPr>
            <a:r>
              <a:rPr lang="en-US" sz="2000" dirty="0"/>
              <a:t>Events often simply represent completion of tasks associated with arrows entering it</a:t>
            </a:r>
          </a:p>
        </p:txBody>
      </p:sp>
      <p:grpSp>
        <p:nvGrpSpPr>
          <p:cNvPr id="37895" name="Group 4"/>
          <p:cNvGrpSpPr>
            <a:grpSpLocks/>
          </p:cNvGrpSpPr>
          <p:nvPr/>
        </p:nvGrpSpPr>
        <p:grpSpPr bwMode="auto">
          <a:xfrm>
            <a:off x="2286000" y="1600200"/>
            <a:ext cx="8001000" cy="2211388"/>
            <a:chOff x="480" y="1055"/>
            <a:chExt cx="5040" cy="1393"/>
          </a:xfrm>
        </p:grpSpPr>
        <p:grpSp>
          <p:nvGrpSpPr>
            <p:cNvPr id="37896" name="Group 5"/>
            <p:cNvGrpSpPr>
              <a:grpSpLocks/>
            </p:cNvGrpSpPr>
            <p:nvPr/>
          </p:nvGrpSpPr>
          <p:grpSpPr bwMode="auto">
            <a:xfrm>
              <a:off x="480" y="1613"/>
              <a:ext cx="663" cy="522"/>
              <a:chOff x="240" y="1344"/>
              <a:chExt cx="720" cy="720"/>
            </a:xfrm>
          </p:grpSpPr>
          <p:sp>
            <p:nvSpPr>
              <p:cNvPr id="37954" name="Oval 6"/>
              <p:cNvSpPr>
                <a:spLocks noChangeArrowheads="1"/>
              </p:cNvSpPr>
              <p:nvPr/>
            </p:nvSpPr>
            <p:spPr bwMode="auto">
              <a:xfrm>
                <a:off x="240" y="1344"/>
                <a:ext cx="720" cy="72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37955" name="Line 7"/>
              <p:cNvSpPr>
                <a:spLocks noChangeShapeType="1"/>
              </p:cNvSpPr>
              <p:nvPr/>
            </p:nvSpPr>
            <p:spPr bwMode="auto">
              <a:xfrm>
                <a:off x="576" y="1344"/>
                <a:ext cx="0" cy="72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7956" name="Line 8"/>
              <p:cNvSpPr>
                <a:spLocks noChangeShapeType="1"/>
              </p:cNvSpPr>
              <p:nvPr/>
            </p:nvSpPr>
            <p:spPr bwMode="auto">
              <a:xfrm>
                <a:off x="576" y="1680"/>
                <a:ext cx="38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37897" name="Text Box 9"/>
            <p:cNvSpPr txBox="1">
              <a:spLocks noChangeArrowheads="1"/>
            </p:cNvSpPr>
            <p:nvPr/>
          </p:nvSpPr>
          <p:spPr bwMode="auto">
            <a:xfrm>
              <a:off x="524" y="1752"/>
              <a:ext cx="177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1</a:t>
              </a:r>
              <a:endParaRPr lang="en-CA"/>
            </a:p>
          </p:txBody>
        </p:sp>
        <p:sp>
          <p:nvSpPr>
            <p:cNvPr id="37898" name="Text Box 10"/>
            <p:cNvSpPr txBox="1">
              <a:spLocks noChangeArrowheads="1"/>
            </p:cNvSpPr>
            <p:nvPr/>
          </p:nvSpPr>
          <p:spPr bwMode="auto">
            <a:xfrm>
              <a:off x="834" y="1864"/>
              <a:ext cx="176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0</a:t>
              </a:r>
              <a:endParaRPr lang="en-CA"/>
            </a:p>
          </p:txBody>
        </p:sp>
        <p:sp>
          <p:nvSpPr>
            <p:cNvPr id="37899" name="Text Box 11"/>
            <p:cNvSpPr txBox="1">
              <a:spLocks noChangeArrowheads="1"/>
            </p:cNvSpPr>
            <p:nvPr/>
          </p:nvSpPr>
          <p:spPr bwMode="auto">
            <a:xfrm>
              <a:off x="834" y="1612"/>
              <a:ext cx="176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0</a:t>
              </a:r>
              <a:endParaRPr lang="en-CA"/>
            </a:p>
          </p:txBody>
        </p:sp>
        <p:grpSp>
          <p:nvGrpSpPr>
            <p:cNvPr id="37900" name="Group 12"/>
            <p:cNvGrpSpPr>
              <a:grpSpLocks/>
            </p:cNvGrpSpPr>
            <p:nvPr/>
          </p:nvGrpSpPr>
          <p:grpSpPr bwMode="auto">
            <a:xfrm>
              <a:off x="1585" y="1613"/>
              <a:ext cx="663" cy="522"/>
              <a:chOff x="240" y="1344"/>
              <a:chExt cx="720" cy="720"/>
            </a:xfrm>
          </p:grpSpPr>
          <p:sp>
            <p:nvSpPr>
              <p:cNvPr id="37951" name="Oval 13"/>
              <p:cNvSpPr>
                <a:spLocks noChangeArrowheads="1"/>
              </p:cNvSpPr>
              <p:nvPr/>
            </p:nvSpPr>
            <p:spPr bwMode="auto">
              <a:xfrm>
                <a:off x="240" y="1344"/>
                <a:ext cx="720" cy="72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37952" name="Line 14"/>
              <p:cNvSpPr>
                <a:spLocks noChangeShapeType="1"/>
              </p:cNvSpPr>
              <p:nvPr/>
            </p:nvSpPr>
            <p:spPr bwMode="auto">
              <a:xfrm>
                <a:off x="576" y="1344"/>
                <a:ext cx="0" cy="72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7953" name="Line 15"/>
              <p:cNvSpPr>
                <a:spLocks noChangeShapeType="1"/>
              </p:cNvSpPr>
              <p:nvPr/>
            </p:nvSpPr>
            <p:spPr bwMode="auto">
              <a:xfrm>
                <a:off x="576" y="1680"/>
                <a:ext cx="38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37901" name="Text Box 16"/>
            <p:cNvSpPr txBox="1">
              <a:spLocks noChangeArrowheads="1"/>
            </p:cNvSpPr>
            <p:nvPr/>
          </p:nvSpPr>
          <p:spPr bwMode="auto">
            <a:xfrm>
              <a:off x="1630" y="1752"/>
              <a:ext cx="176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2</a:t>
              </a:r>
              <a:endParaRPr lang="en-CA"/>
            </a:p>
          </p:txBody>
        </p:sp>
        <p:sp>
          <p:nvSpPr>
            <p:cNvPr id="37902" name="Text Box 17"/>
            <p:cNvSpPr txBox="1">
              <a:spLocks noChangeArrowheads="1"/>
            </p:cNvSpPr>
            <p:nvPr/>
          </p:nvSpPr>
          <p:spPr bwMode="auto">
            <a:xfrm>
              <a:off x="1939" y="1846"/>
              <a:ext cx="17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4</a:t>
              </a:r>
              <a:endParaRPr lang="en-CA"/>
            </a:p>
          </p:txBody>
        </p:sp>
        <p:sp>
          <p:nvSpPr>
            <p:cNvPr id="37903" name="Text Box 18"/>
            <p:cNvSpPr txBox="1">
              <a:spLocks noChangeArrowheads="1"/>
            </p:cNvSpPr>
            <p:nvPr/>
          </p:nvSpPr>
          <p:spPr bwMode="auto">
            <a:xfrm>
              <a:off x="1939" y="1612"/>
              <a:ext cx="17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4</a:t>
              </a:r>
              <a:endParaRPr lang="en-CA"/>
            </a:p>
          </p:txBody>
        </p:sp>
        <p:grpSp>
          <p:nvGrpSpPr>
            <p:cNvPr id="37904" name="Group 19"/>
            <p:cNvGrpSpPr>
              <a:grpSpLocks/>
            </p:cNvGrpSpPr>
            <p:nvPr/>
          </p:nvGrpSpPr>
          <p:grpSpPr bwMode="auto">
            <a:xfrm>
              <a:off x="2735" y="1056"/>
              <a:ext cx="663" cy="522"/>
              <a:chOff x="240" y="1344"/>
              <a:chExt cx="720" cy="720"/>
            </a:xfrm>
          </p:grpSpPr>
          <p:sp>
            <p:nvSpPr>
              <p:cNvPr id="37948" name="Oval 20"/>
              <p:cNvSpPr>
                <a:spLocks noChangeArrowheads="1"/>
              </p:cNvSpPr>
              <p:nvPr/>
            </p:nvSpPr>
            <p:spPr bwMode="auto">
              <a:xfrm>
                <a:off x="240" y="1344"/>
                <a:ext cx="720" cy="72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37949" name="Line 21"/>
              <p:cNvSpPr>
                <a:spLocks noChangeShapeType="1"/>
              </p:cNvSpPr>
              <p:nvPr/>
            </p:nvSpPr>
            <p:spPr bwMode="auto">
              <a:xfrm>
                <a:off x="576" y="1344"/>
                <a:ext cx="0" cy="72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7950" name="Line 22"/>
              <p:cNvSpPr>
                <a:spLocks noChangeShapeType="1"/>
              </p:cNvSpPr>
              <p:nvPr/>
            </p:nvSpPr>
            <p:spPr bwMode="auto">
              <a:xfrm>
                <a:off x="576" y="1680"/>
                <a:ext cx="38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37905" name="Text Box 23"/>
            <p:cNvSpPr txBox="1">
              <a:spLocks noChangeArrowheads="1"/>
            </p:cNvSpPr>
            <p:nvPr/>
          </p:nvSpPr>
          <p:spPr bwMode="auto">
            <a:xfrm>
              <a:off x="2779" y="1195"/>
              <a:ext cx="17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3</a:t>
              </a:r>
              <a:endParaRPr lang="en-CA"/>
            </a:p>
          </p:txBody>
        </p:sp>
        <p:sp>
          <p:nvSpPr>
            <p:cNvPr id="37906" name="Text Box 24"/>
            <p:cNvSpPr txBox="1">
              <a:spLocks noChangeArrowheads="1"/>
            </p:cNvSpPr>
            <p:nvPr/>
          </p:nvSpPr>
          <p:spPr bwMode="auto">
            <a:xfrm>
              <a:off x="3043" y="1280"/>
              <a:ext cx="310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10</a:t>
              </a:r>
              <a:endParaRPr lang="en-CA"/>
            </a:p>
          </p:txBody>
        </p:sp>
        <p:sp>
          <p:nvSpPr>
            <p:cNvPr id="37907" name="Text Box 25"/>
            <p:cNvSpPr txBox="1">
              <a:spLocks noChangeArrowheads="1"/>
            </p:cNvSpPr>
            <p:nvPr/>
          </p:nvSpPr>
          <p:spPr bwMode="auto">
            <a:xfrm>
              <a:off x="3061" y="1055"/>
              <a:ext cx="177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6</a:t>
              </a:r>
              <a:endParaRPr lang="en-CA"/>
            </a:p>
          </p:txBody>
        </p:sp>
        <p:grpSp>
          <p:nvGrpSpPr>
            <p:cNvPr id="37908" name="Group 26"/>
            <p:cNvGrpSpPr>
              <a:grpSpLocks/>
            </p:cNvGrpSpPr>
            <p:nvPr/>
          </p:nvGrpSpPr>
          <p:grpSpPr bwMode="auto">
            <a:xfrm>
              <a:off x="2779" y="1926"/>
              <a:ext cx="663" cy="522"/>
              <a:chOff x="240" y="1344"/>
              <a:chExt cx="720" cy="720"/>
            </a:xfrm>
          </p:grpSpPr>
          <p:sp>
            <p:nvSpPr>
              <p:cNvPr id="37945" name="Oval 27"/>
              <p:cNvSpPr>
                <a:spLocks noChangeArrowheads="1"/>
              </p:cNvSpPr>
              <p:nvPr/>
            </p:nvSpPr>
            <p:spPr bwMode="auto">
              <a:xfrm>
                <a:off x="240" y="1344"/>
                <a:ext cx="720" cy="72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37946" name="Line 28"/>
              <p:cNvSpPr>
                <a:spLocks noChangeShapeType="1"/>
              </p:cNvSpPr>
              <p:nvPr/>
            </p:nvSpPr>
            <p:spPr bwMode="auto">
              <a:xfrm>
                <a:off x="576" y="1344"/>
                <a:ext cx="0" cy="72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7947" name="Line 29"/>
              <p:cNvSpPr>
                <a:spLocks noChangeShapeType="1"/>
              </p:cNvSpPr>
              <p:nvPr/>
            </p:nvSpPr>
            <p:spPr bwMode="auto">
              <a:xfrm>
                <a:off x="576" y="1680"/>
                <a:ext cx="38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37909" name="Text Box 30"/>
            <p:cNvSpPr txBox="1">
              <a:spLocks noChangeArrowheads="1"/>
            </p:cNvSpPr>
            <p:nvPr/>
          </p:nvSpPr>
          <p:spPr bwMode="auto">
            <a:xfrm>
              <a:off x="2824" y="2065"/>
              <a:ext cx="176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4</a:t>
              </a:r>
              <a:endParaRPr lang="en-CA"/>
            </a:p>
          </p:txBody>
        </p:sp>
        <p:sp>
          <p:nvSpPr>
            <p:cNvPr id="37910" name="Text Box 31"/>
            <p:cNvSpPr txBox="1">
              <a:spLocks noChangeArrowheads="1"/>
            </p:cNvSpPr>
            <p:nvPr/>
          </p:nvSpPr>
          <p:spPr bwMode="auto">
            <a:xfrm>
              <a:off x="3133" y="2158"/>
              <a:ext cx="177" cy="2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7</a:t>
              </a:r>
              <a:endParaRPr lang="en-CA"/>
            </a:p>
          </p:txBody>
        </p:sp>
        <p:sp>
          <p:nvSpPr>
            <p:cNvPr id="37911" name="Text Box 32"/>
            <p:cNvSpPr txBox="1">
              <a:spLocks noChangeArrowheads="1"/>
            </p:cNvSpPr>
            <p:nvPr/>
          </p:nvSpPr>
          <p:spPr bwMode="auto">
            <a:xfrm>
              <a:off x="3133" y="1916"/>
              <a:ext cx="177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7</a:t>
              </a:r>
              <a:endParaRPr lang="en-CA"/>
            </a:p>
          </p:txBody>
        </p:sp>
        <p:sp>
          <p:nvSpPr>
            <p:cNvPr id="37912" name="Line 33"/>
            <p:cNvSpPr>
              <a:spLocks noChangeShapeType="1"/>
            </p:cNvSpPr>
            <p:nvPr/>
          </p:nvSpPr>
          <p:spPr bwMode="auto">
            <a:xfrm>
              <a:off x="1143" y="1856"/>
              <a:ext cx="44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7913" name="Text Box 34"/>
            <p:cNvSpPr txBox="1">
              <a:spLocks noChangeArrowheads="1"/>
            </p:cNvSpPr>
            <p:nvPr/>
          </p:nvSpPr>
          <p:spPr bwMode="auto">
            <a:xfrm>
              <a:off x="1232" y="1628"/>
              <a:ext cx="26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A</a:t>
              </a:r>
              <a:endParaRPr lang="en-CA"/>
            </a:p>
          </p:txBody>
        </p:sp>
        <p:sp>
          <p:nvSpPr>
            <p:cNvPr id="37914" name="Text Box 35"/>
            <p:cNvSpPr txBox="1">
              <a:spLocks noChangeArrowheads="1"/>
            </p:cNvSpPr>
            <p:nvPr/>
          </p:nvSpPr>
          <p:spPr bwMode="auto">
            <a:xfrm>
              <a:off x="1187" y="1801"/>
              <a:ext cx="35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dirty="0"/>
                <a:t>4</a:t>
              </a:r>
              <a:endParaRPr lang="en-CA" dirty="0"/>
            </a:p>
          </p:txBody>
        </p:sp>
        <p:sp>
          <p:nvSpPr>
            <p:cNvPr id="37915" name="Line 36"/>
            <p:cNvSpPr>
              <a:spLocks noChangeShapeType="1"/>
            </p:cNvSpPr>
            <p:nvPr/>
          </p:nvSpPr>
          <p:spPr bwMode="auto">
            <a:xfrm flipV="1">
              <a:off x="2204" y="1474"/>
              <a:ext cx="575" cy="27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7916" name="Text Box 37"/>
            <p:cNvSpPr txBox="1">
              <a:spLocks noChangeArrowheads="1"/>
            </p:cNvSpPr>
            <p:nvPr/>
          </p:nvSpPr>
          <p:spPr bwMode="auto">
            <a:xfrm>
              <a:off x="2293" y="1404"/>
              <a:ext cx="353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B</a:t>
              </a:r>
              <a:endParaRPr lang="en-CA"/>
            </a:p>
          </p:txBody>
        </p:sp>
        <p:sp>
          <p:nvSpPr>
            <p:cNvPr id="37917" name="Text Box 38"/>
            <p:cNvSpPr txBox="1">
              <a:spLocks noChangeArrowheads="1"/>
            </p:cNvSpPr>
            <p:nvPr/>
          </p:nvSpPr>
          <p:spPr bwMode="auto">
            <a:xfrm>
              <a:off x="2425" y="1532"/>
              <a:ext cx="310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2</a:t>
              </a:r>
              <a:endParaRPr lang="en-CA"/>
            </a:p>
          </p:txBody>
        </p:sp>
        <p:sp>
          <p:nvSpPr>
            <p:cNvPr id="37918" name="Line 39"/>
            <p:cNvSpPr>
              <a:spLocks noChangeShapeType="1"/>
            </p:cNvSpPr>
            <p:nvPr/>
          </p:nvSpPr>
          <p:spPr bwMode="auto">
            <a:xfrm>
              <a:off x="2248" y="1961"/>
              <a:ext cx="531" cy="20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7919" name="Text Box 40"/>
            <p:cNvSpPr txBox="1">
              <a:spLocks noChangeArrowheads="1"/>
            </p:cNvSpPr>
            <p:nvPr/>
          </p:nvSpPr>
          <p:spPr bwMode="auto">
            <a:xfrm>
              <a:off x="2407" y="1845"/>
              <a:ext cx="35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C</a:t>
              </a:r>
              <a:endParaRPr lang="en-CA"/>
            </a:p>
          </p:txBody>
        </p:sp>
        <p:sp>
          <p:nvSpPr>
            <p:cNvPr id="37920" name="Text Box 41"/>
            <p:cNvSpPr txBox="1">
              <a:spLocks noChangeArrowheads="1"/>
            </p:cNvSpPr>
            <p:nvPr/>
          </p:nvSpPr>
          <p:spPr bwMode="auto">
            <a:xfrm>
              <a:off x="2425" y="2028"/>
              <a:ext cx="265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3</a:t>
              </a:r>
              <a:endParaRPr lang="en-CA"/>
            </a:p>
          </p:txBody>
        </p:sp>
        <p:grpSp>
          <p:nvGrpSpPr>
            <p:cNvPr id="37921" name="Group 42"/>
            <p:cNvGrpSpPr>
              <a:grpSpLocks/>
            </p:cNvGrpSpPr>
            <p:nvPr/>
          </p:nvGrpSpPr>
          <p:grpSpPr bwMode="auto">
            <a:xfrm>
              <a:off x="3884" y="1926"/>
              <a:ext cx="663" cy="522"/>
              <a:chOff x="240" y="1344"/>
              <a:chExt cx="720" cy="720"/>
            </a:xfrm>
          </p:grpSpPr>
          <p:sp>
            <p:nvSpPr>
              <p:cNvPr id="37942" name="Oval 43"/>
              <p:cNvSpPr>
                <a:spLocks noChangeArrowheads="1"/>
              </p:cNvSpPr>
              <p:nvPr/>
            </p:nvSpPr>
            <p:spPr bwMode="auto">
              <a:xfrm>
                <a:off x="240" y="1344"/>
                <a:ext cx="720" cy="72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37943" name="Line 44"/>
              <p:cNvSpPr>
                <a:spLocks noChangeShapeType="1"/>
              </p:cNvSpPr>
              <p:nvPr/>
            </p:nvSpPr>
            <p:spPr bwMode="auto">
              <a:xfrm>
                <a:off x="576" y="1344"/>
                <a:ext cx="0" cy="72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7944" name="Line 45"/>
              <p:cNvSpPr>
                <a:spLocks noChangeShapeType="1"/>
              </p:cNvSpPr>
              <p:nvPr/>
            </p:nvSpPr>
            <p:spPr bwMode="auto">
              <a:xfrm>
                <a:off x="576" y="1680"/>
                <a:ext cx="38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37922" name="Text Box 46"/>
            <p:cNvSpPr txBox="1">
              <a:spLocks noChangeArrowheads="1"/>
            </p:cNvSpPr>
            <p:nvPr/>
          </p:nvSpPr>
          <p:spPr bwMode="auto">
            <a:xfrm>
              <a:off x="3928" y="2065"/>
              <a:ext cx="177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5</a:t>
              </a:r>
              <a:endParaRPr lang="en-CA"/>
            </a:p>
          </p:txBody>
        </p:sp>
        <p:sp>
          <p:nvSpPr>
            <p:cNvPr id="37923" name="Text Box 47"/>
            <p:cNvSpPr txBox="1">
              <a:spLocks noChangeArrowheads="1"/>
            </p:cNvSpPr>
            <p:nvPr/>
          </p:nvSpPr>
          <p:spPr bwMode="auto">
            <a:xfrm>
              <a:off x="4202" y="2149"/>
              <a:ext cx="309" cy="2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10</a:t>
              </a:r>
              <a:endParaRPr lang="en-CA"/>
            </a:p>
          </p:txBody>
        </p:sp>
        <p:sp>
          <p:nvSpPr>
            <p:cNvPr id="37924" name="Text Box 48"/>
            <p:cNvSpPr txBox="1">
              <a:spLocks noChangeArrowheads="1"/>
            </p:cNvSpPr>
            <p:nvPr/>
          </p:nvSpPr>
          <p:spPr bwMode="auto">
            <a:xfrm>
              <a:off x="4175" y="1916"/>
              <a:ext cx="35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10</a:t>
              </a:r>
              <a:endParaRPr lang="en-CA"/>
            </a:p>
          </p:txBody>
        </p:sp>
        <p:sp>
          <p:nvSpPr>
            <p:cNvPr id="37925" name="Line 49"/>
            <p:cNvSpPr>
              <a:spLocks noChangeShapeType="1"/>
            </p:cNvSpPr>
            <p:nvPr/>
          </p:nvSpPr>
          <p:spPr bwMode="auto">
            <a:xfrm>
              <a:off x="3398" y="2169"/>
              <a:ext cx="4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7926" name="Text Box 50"/>
            <p:cNvSpPr txBox="1">
              <a:spLocks noChangeArrowheads="1"/>
            </p:cNvSpPr>
            <p:nvPr/>
          </p:nvSpPr>
          <p:spPr bwMode="auto">
            <a:xfrm>
              <a:off x="3619" y="1961"/>
              <a:ext cx="17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endParaRPr lang="en-CA"/>
            </a:p>
          </p:txBody>
        </p:sp>
        <p:sp>
          <p:nvSpPr>
            <p:cNvPr id="37927" name="Text Box 51"/>
            <p:cNvSpPr txBox="1">
              <a:spLocks noChangeArrowheads="1"/>
            </p:cNvSpPr>
            <p:nvPr/>
          </p:nvSpPr>
          <p:spPr bwMode="auto">
            <a:xfrm>
              <a:off x="3530" y="1926"/>
              <a:ext cx="267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D</a:t>
              </a:r>
              <a:endParaRPr lang="en-CA"/>
            </a:p>
          </p:txBody>
        </p:sp>
        <p:sp>
          <p:nvSpPr>
            <p:cNvPr id="37928" name="Text Box 52"/>
            <p:cNvSpPr txBox="1">
              <a:spLocks noChangeArrowheads="1"/>
            </p:cNvSpPr>
            <p:nvPr/>
          </p:nvSpPr>
          <p:spPr bwMode="auto">
            <a:xfrm>
              <a:off x="3530" y="2107"/>
              <a:ext cx="267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3</a:t>
              </a:r>
              <a:endParaRPr lang="en-CA"/>
            </a:p>
          </p:txBody>
        </p:sp>
        <p:grpSp>
          <p:nvGrpSpPr>
            <p:cNvPr id="37929" name="Group 53"/>
            <p:cNvGrpSpPr>
              <a:grpSpLocks/>
            </p:cNvGrpSpPr>
            <p:nvPr/>
          </p:nvGrpSpPr>
          <p:grpSpPr bwMode="auto">
            <a:xfrm>
              <a:off x="4857" y="1439"/>
              <a:ext cx="663" cy="522"/>
              <a:chOff x="240" y="1344"/>
              <a:chExt cx="720" cy="720"/>
            </a:xfrm>
          </p:grpSpPr>
          <p:sp>
            <p:nvSpPr>
              <p:cNvPr id="37939" name="Oval 54"/>
              <p:cNvSpPr>
                <a:spLocks noChangeArrowheads="1"/>
              </p:cNvSpPr>
              <p:nvPr/>
            </p:nvSpPr>
            <p:spPr bwMode="auto">
              <a:xfrm>
                <a:off x="240" y="1344"/>
                <a:ext cx="720" cy="72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37940" name="Line 55"/>
              <p:cNvSpPr>
                <a:spLocks noChangeShapeType="1"/>
              </p:cNvSpPr>
              <p:nvPr/>
            </p:nvSpPr>
            <p:spPr bwMode="auto">
              <a:xfrm>
                <a:off x="576" y="1344"/>
                <a:ext cx="0" cy="72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7941" name="Line 56"/>
              <p:cNvSpPr>
                <a:spLocks noChangeShapeType="1"/>
              </p:cNvSpPr>
              <p:nvPr/>
            </p:nvSpPr>
            <p:spPr bwMode="auto">
              <a:xfrm>
                <a:off x="576" y="1680"/>
                <a:ext cx="38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37930" name="Text Box 57"/>
            <p:cNvSpPr txBox="1">
              <a:spLocks noChangeArrowheads="1"/>
            </p:cNvSpPr>
            <p:nvPr/>
          </p:nvSpPr>
          <p:spPr bwMode="auto">
            <a:xfrm>
              <a:off x="4901" y="1578"/>
              <a:ext cx="177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6</a:t>
              </a:r>
              <a:endParaRPr lang="en-CA"/>
            </a:p>
          </p:txBody>
        </p:sp>
        <p:sp>
          <p:nvSpPr>
            <p:cNvPr id="37931" name="Text Box 58"/>
            <p:cNvSpPr txBox="1">
              <a:spLocks noChangeArrowheads="1"/>
            </p:cNvSpPr>
            <p:nvPr/>
          </p:nvSpPr>
          <p:spPr bwMode="auto">
            <a:xfrm>
              <a:off x="5174" y="1672"/>
              <a:ext cx="310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13</a:t>
              </a:r>
              <a:endParaRPr lang="en-CA"/>
            </a:p>
          </p:txBody>
        </p:sp>
        <p:sp>
          <p:nvSpPr>
            <p:cNvPr id="37932" name="Text Box 59"/>
            <p:cNvSpPr txBox="1">
              <a:spLocks noChangeArrowheads="1"/>
            </p:cNvSpPr>
            <p:nvPr/>
          </p:nvSpPr>
          <p:spPr bwMode="auto">
            <a:xfrm>
              <a:off x="5183" y="1429"/>
              <a:ext cx="310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13</a:t>
              </a:r>
              <a:endParaRPr lang="en-CA"/>
            </a:p>
          </p:txBody>
        </p:sp>
        <p:sp>
          <p:nvSpPr>
            <p:cNvPr id="37933" name="Line 60"/>
            <p:cNvSpPr>
              <a:spLocks noChangeShapeType="1"/>
            </p:cNvSpPr>
            <p:nvPr/>
          </p:nvSpPr>
          <p:spPr bwMode="auto">
            <a:xfrm>
              <a:off x="3398" y="1334"/>
              <a:ext cx="1459" cy="3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7934" name="Text Box 61"/>
            <p:cNvSpPr txBox="1">
              <a:spLocks noChangeArrowheads="1"/>
            </p:cNvSpPr>
            <p:nvPr/>
          </p:nvSpPr>
          <p:spPr bwMode="auto">
            <a:xfrm>
              <a:off x="3884" y="1264"/>
              <a:ext cx="575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E</a:t>
              </a:r>
              <a:endParaRPr lang="en-CA"/>
            </a:p>
          </p:txBody>
        </p:sp>
        <p:sp>
          <p:nvSpPr>
            <p:cNvPr id="37935" name="Text Box 62"/>
            <p:cNvSpPr txBox="1">
              <a:spLocks noChangeArrowheads="1"/>
            </p:cNvSpPr>
            <p:nvPr/>
          </p:nvSpPr>
          <p:spPr bwMode="auto">
            <a:xfrm>
              <a:off x="3973" y="1463"/>
              <a:ext cx="397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3</a:t>
              </a:r>
              <a:endParaRPr lang="en-CA"/>
            </a:p>
          </p:txBody>
        </p:sp>
        <p:sp>
          <p:nvSpPr>
            <p:cNvPr id="37936" name="Line 63"/>
            <p:cNvSpPr>
              <a:spLocks noChangeShapeType="1"/>
            </p:cNvSpPr>
            <p:nvPr/>
          </p:nvSpPr>
          <p:spPr bwMode="auto">
            <a:xfrm flipV="1">
              <a:off x="4503" y="1891"/>
              <a:ext cx="486" cy="27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7937" name="Text Box 64"/>
            <p:cNvSpPr txBox="1">
              <a:spLocks noChangeArrowheads="1"/>
            </p:cNvSpPr>
            <p:nvPr/>
          </p:nvSpPr>
          <p:spPr bwMode="auto">
            <a:xfrm>
              <a:off x="4601" y="1806"/>
              <a:ext cx="221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F</a:t>
              </a:r>
              <a:endParaRPr lang="en-CA"/>
            </a:p>
          </p:txBody>
        </p:sp>
        <p:sp>
          <p:nvSpPr>
            <p:cNvPr id="37938" name="Text Box 65"/>
            <p:cNvSpPr txBox="1">
              <a:spLocks noChangeArrowheads="1"/>
            </p:cNvSpPr>
            <p:nvPr/>
          </p:nvSpPr>
          <p:spPr bwMode="auto">
            <a:xfrm>
              <a:off x="4706" y="1925"/>
              <a:ext cx="266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3</a:t>
              </a:r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421846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PERT Chart Task Edges</a:t>
            </a:r>
          </a:p>
        </p:txBody>
      </p:sp>
      <p:sp>
        <p:nvSpPr>
          <p:cNvPr id="3891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438400" y="1295400"/>
            <a:ext cx="7924800" cy="4953000"/>
          </a:xfrm>
        </p:spPr>
        <p:txBody>
          <a:bodyPr>
            <a:normAutofit fontScale="92500" lnSpcReduction="10000"/>
          </a:bodyPr>
          <a:lstStyle/>
          <a:p>
            <a:pPr marL="0" indent="0">
              <a:buFontTx/>
              <a:buChar char="•"/>
            </a:pPr>
            <a:r>
              <a:rPr lang="en-US" dirty="0"/>
              <a:t>Parts of a task/activity edge</a:t>
            </a:r>
          </a:p>
          <a:p>
            <a:pPr marL="0" indent="0">
              <a:buFontTx/>
              <a:buChar char="•"/>
            </a:pPr>
            <a:endParaRPr lang="en-US" dirty="0"/>
          </a:p>
          <a:p>
            <a:pPr marL="0" indent="0">
              <a:buFontTx/>
              <a:buChar char="•"/>
            </a:pPr>
            <a:endParaRPr lang="en-US" dirty="0"/>
          </a:p>
          <a:p>
            <a:pPr marL="0" indent="0">
              <a:buFontTx/>
              <a:buChar char="•"/>
            </a:pPr>
            <a:endParaRPr lang="en-US" dirty="0"/>
          </a:p>
          <a:p>
            <a:pPr marL="0" indent="0">
              <a:buFontTx/>
              <a:buChar char="•"/>
            </a:pPr>
            <a:endParaRPr lang="en-US" dirty="0"/>
          </a:p>
          <a:p>
            <a:pPr marL="0" indent="0">
              <a:buFontTx/>
              <a:buChar char="•"/>
            </a:pPr>
            <a:endParaRPr lang="en-US" dirty="0"/>
          </a:p>
          <a:p>
            <a:pPr marL="0" indent="0">
              <a:buFontTx/>
              <a:buChar char="•"/>
            </a:pPr>
            <a:endParaRPr lang="en-US" dirty="0"/>
          </a:p>
          <a:p>
            <a:pPr marL="0" indent="0">
              <a:buFontTx/>
              <a:buChar char="•"/>
            </a:pPr>
            <a:r>
              <a:rPr lang="en-US" dirty="0"/>
              <a:t>Task letter:</a:t>
            </a:r>
          </a:p>
          <a:p>
            <a:pPr lvl="1"/>
            <a:r>
              <a:rPr lang="en-US" dirty="0"/>
              <a:t>Often keyed to a legend to tell which task it represents</a:t>
            </a:r>
          </a:p>
          <a:p>
            <a:pPr marL="0" indent="0">
              <a:buFontTx/>
              <a:buChar char="•"/>
            </a:pPr>
            <a:r>
              <a:rPr lang="en-US" dirty="0"/>
              <a:t>Task duration = how long (e.g. days, hours) task will take</a:t>
            </a:r>
          </a:p>
          <a:p>
            <a:pPr marL="0" indent="0"/>
            <a:endParaRPr lang="en-US" dirty="0"/>
          </a:p>
        </p:txBody>
      </p:sp>
      <p:grpSp>
        <p:nvGrpSpPr>
          <p:cNvPr id="38919" name="Group 4"/>
          <p:cNvGrpSpPr>
            <a:grpSpLocks/>
          </p:cNvGrpSpPr>
          <p:nvPr/>
        </p:nvGrpSpPr>
        <p:grpSpPr bwMode="auto">
          <a:xfrm>
            <a:off x="3886200" y="1752600"/>
            <a:ext cx="5562600" cy="2590800"/>
            <a:chOff x="1392" y="1680"/>
            <a:chExt cx="3504" cy="1632"/>
          </a:xfrm>
        </p:grpSpPr>
        <p:grpSp>
          <p:nvGrpSpPr>
            <p:cNvPr id="38920" name="Group 5"/>
            <p:cNvGrpSpPr>
              <a:grpSpLocks/>
            </p:cNvGrpSpPr>
            <p:nvPr/>
          </p:nvGrpSpPr>
          <p:grpSpPr bwMode="auto">
            <a:xfrm>
              <a:off x="1392" y="1680"/>
              <a:ext cx="720" cy="720"/>
              <a:chOff x="240" y="1344"/>
              <a:chExt cx="720" cy="720"/>
            </a:xfrm>
          </p:grpSpPr>
          <p:sp>
            <p:nvSpPr>
              <p:cNvPr id="38932" name="Oval 6"/>
              <p:cNvSpPr>
                <a:spLocks noChangeArrowheads="1"/>
              </p:cNvSpPr>
              <p:nvPr/>
            </p:nvSpPr>
            <p:spPr bwMode="auto">
              <a:xfrm>
                <a:off x="240" y="1344"/>
                <a:ext cx="720" cy="72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38933" name="Line 7"/>
              <p:cNvSpPr>
                <a:spLocks noChangeShapeType="1"/>
              </p:cNvSpPr>
              <p:nvPr/>
            </p:nvSpPr>
            <p:spPr bwMode="auto">
              <a:xfrm>
                <a:off x="576" y="1344"/>
                <a:ext cx="0" cy="72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8934" name="Line 8"/>
              <p:cNvSpPr>
                <a:spLocks noChangeShapeType="1"/>
              </p:cNvSpPr>
              <p:nvPr/>
            </p:nvSpPr>
            <p:spPr bwMode="auto">
              <a:xfrm>
                <a:off x="576" y="1680"/>
                <a:ext cx="38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grpSp>
          <p:nvGrpSpPr>
            <p:cNvPr id="38921" name="Group 9"/>
            <p:cNvGrpSpPr>
              <a:grpSpLocks/>
            </p:cNvGrpSpPr>
            <p:nvPr/>
          </p:nvGrpSpPr>
          <p:grpSpPr bwMode="auto">
            <a:xfrm>
              <a:off x="3984" y="2400"/>
              <a:ext cx="720" cy="720"/>
              <a:chOff x="240" y="1344"/>
              <a:chExt cx="720" cy="720"/>
            </a:xfrm>
          </p:grpSpPr>
          <p:sp>
            <p:nvSpPr>
              <p:cNvPr id="38929" name="Oval 10"/>
              <p:cNvSpPr>
                <a:spLocks noChangeArrowheads="1"/>
              </p:cNvSpPr>
              <p:nvPr/>
            </p:nvSpPr>
            <p:spPr bwMode="auto">
              <a:xfrm>
                <a:off x="240" y="1344"/>
                <a:ext cx="720" cy="72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38930" name="Line 11"/>
              <p:cNvSpPr>
                <a:spLocks noChangeShapeType="1"/>
              </p:cNvSpPr>
              <p:nvPr/>
            </p:nvSpPr>
            <p:spPr bwMode="auto">
              <a:xfrm>
                <a:off x="576" y="1344"/>
                <a:ext cx="0" cy="72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8931" name="Line 12"/>
              <p:cNvSpPr>
                <a:spLocks noChangeShapeType="1"/>
              </p:cNvSpPr>
              <p:nvPr/>
            </p:nvSpPr>
            <p:spPr bwMode="auto">
              <a:xfrm>
                <a:off x="576" y="1680"/>
                <a:ext cx="38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38922" name="Line 13"/>
            <p:cNvSpPr>
              <a:spLocks noChangeShapeType="1"/>
            </p:cNvSpPr>
            <p:nvPr/>
          </p:nvSpPr>
          <p:spPr bwMode="auto">
            <a:xfrm>
              <a:off x="2112" y="2016"/>
              <a:ext cx="1920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8923" name="Text Box 14"/>
            <p:cNvSpPr txBox="1">
              <a:spLocks noChangeArrowheads="1"/>
            </p:cNvSpPr>
            <p:nvPr/>
          </p:nvSpPr>
          <p:spPr bwMode="auto">
            <a:xfrm>
              <a:off x="2640" y="1968"/>
              <a:ext cx="67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D</a:t>
              </a:r>
              <a:endParaRPr lang="en-CA"/>
            </a:p>
          </p:txBody>
        </p:sp>
        <p:sp>
          <p:nvSpPr>
            <p:cNvPr id="38924" name="Text Box 15"/>
            <p:cNvSpPr txBox="1">
              <a:spLocks noChangeArrowheads="1"/>
            </p:cNvSpPr>
            <p:nvPr/>
          </p:nvSpPr>
          <p:spPr bwMode="auto">
            <a:xfrm>
              <a:off x="2832" y="2352"/>
              <a:ext cx="43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5</a:t>
              </a:r>
              <a:endParaRPr lang="en-CA"/>
            </a:p>
          </p:txBody>
        </p:sp>
        <p:sp>
          <p:nvSpPr>
            <p:cNvPr id="38925" name="Text Box 16"/>
            <p:cNvSpPr txBox="1">
              <a:spLocks noChangeArrowheads="1"/>
            </p:cNvSpPr>
            <p:nvPr/>
          </p:nvSpPr>
          <p:spPr bwMode="auto">
            <a:xfrm>
              <a:off x="1776" y="3024"/>
              <a:ext cx="1440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Task duration</a:t>
              </a:r>
              <a:endParaRPr lang="en-CA"/>
            </a:p>
          </p:txBody>
        </p:sp>
        <p:cxnSp>
          <p:nvCxnSpPr>
            <p:cNvPr id="38926" name="AutoShape 17"/>
            <p:cNvCxnSpPr>
              <a:cxnSpLocks noChangeShapeType="1"/>
              <a:stCxn id="38925" idx="0"/>
              <a:endCxn id="38924" idx="2"/>
            </p:cNvCxnSpPr>
            <p:nvPr/>
          </p:nvCxnSpPr>
          <p:spPr bwMode="auto">
            <a:xfrm rot="-5400000">
              <a:off x="2580" y="2556"/>
              <a:ext cx="384" cy="552"/>
            </a:xfrm>
            <a:prstGeom prst="curvedConnector3">
              <a:avLst>
                <a:gd name="adj1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8927" name="Text Box 18"/>
            <p:cNvSpPr txBox="1">
              <a:spLocks noChangeArrowheads="1"/>
            </p:cNvSpPr>
            <p:nvPr/>
          </p:nvSpPr>
          <p:spPr bwMode="auto">
            <a:xfrm>
              <a:off x="3360" y="1680"/>
              <a:ext cx="1536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Task letter</a:t>
              </a:r>
              <a:endParaRPr lang="en-CA"/>
            </a:p>
          </p:txBody>
        </p:sp>
        <p:cxnSp>
          <p:nvCxnSpPr>
            <p:cNvPr id="38928" name="AutoShape 19"/>
            <p:cNvCxnSpPr>
              <a:cxnSpLocks noChangeShapeType="1"/>
              <a:stCxn id="38927" idx="2"/>
              <a:endCxn id="38923" idx="0"/>
            </p:cNvCxnSpPr>
            <p:nvPr/>
          </p:nvCxnSpPr>
          <p:spPr bwMode="auto">
            <a:xfrm rot="5400000">
              <a:off x="3551" y="1393"/>
              <a:ext cx="1" cy="1152"/>
            </a:xfrm>
            <a:prstGeom prst="curvedConnector5">
              <a:avLst>
                <a:gd name="adj1" fmla="val 14400005"/>
                <a:gd name="adj2" fmla="val 68750"/>
                <a:gd name="adj3" fmla="val -14400005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1184945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4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PERT Chart Event Nodes</a:t>
            </a:r>
            <a:endParaRPr lang="en-CA"/>
          </a:p>
        </p:txBody>
      </p:sp>
      <p:grpSp>
        <p:nvGrpSpPr>
          <p:cNvPr id="39942" name="Group 3"/>
          <p:cNvGrpSpPr>
            <a:grpSpLocks/>
          </p:cNvGrpSpPr>
          <p:nvPr/>
        </p:nvGrpSpPr>
        <p:grpSpPr bwMode="auto">
          <a:xfrm>
            <a:off x="5181600" y="2819400"/>
            <a:ext cx="1143000" cy="1143000"/>
            <a:chOff x="240" y="1344"/>
            <a:chExt cx="720" cy="720"/>
          </a:xfrm>
        </p:grpSpPr>
        <p:sp>
          <p:nvSpPr>
            <p:cNvPr id="39952" name="Oval 4"/>
            <p:cNvSpPr>
              <a:spLocks noChangeArrowheads="1"/>
            </p:cNvSpPr>
            <p:nvPr/>
          </p:nvSpPr>
          <p:spPr bwMode="auto">
            <a:xfrm>
              <a:off x="240" y="1344"/>
              <a:ext cx="720" cy="72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39953" name="Line 5"/>
            <p:cNvSpPr>
              <a:spLocks noChangeShapeType="1"/>
            </p:cNvSpPr>
            <p:nvPr/>
          </p:nvSpPr>
          <p:spPr bwMode="auto">
            <a:xfrm>
              <a:off x="576" y="1344"/>
              <a:ext cx="0" cy="7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54" name="Line 6"/>
            <p:cNvSpPr>
              <a:spLocks noChangeShapeType="1"/>
            </p:cNvSpPr>
            <p:nvPr/>
          </p:nvSpPr>
          <p:spPr bwMode="auto">
            <a:xfrm>
              <a:off x="576" y="1680"/>
              <a:ext cx="38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39943" name="Text Box 7"/>
          <p:cNvSpPr txBox="1">
            <a:spLocks noChangeArrowheads="1"/>
          </p:cNvSpPr>
          <p:nvPr/>
        </p:nvSpPr>
        <p:spPr bwMode="auto">
          <a:xfrm>
            <a:off x="5181600" y="3124200"/>
            <a:ext cx="381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/>
              <a:t>5</a:t>
            </a:r>
            <a:endParaRPr lang="en-CA"/>
          </a:p>
        </p:txBody>
      </p:sp>
      <p:sp>
        <p:nvSpPr>
          <p:cNvPr id="39944" name="Text Box 8"/>
          <p:cNvSpPr txBox="1">
            <a:spLocks noChangeArrowheads="1"/>
          </p:cNvSpPr>
          <p:nvPr/>
        </p:nvSpPr>
        <p:spPr bwMode="auto">
          <a:xfrm>
            <a:off x="5791200" y="2895600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/>
              <a:t>9</a:t>
            </a:r>
            <a:endParaRPr lang="en-CA"/>
          </a:p>
        </p:txBody>
      </p:sp>
      <p:sp>
        <p:nvSpPr>
          <p:cNvPr id="39945" name="Text Box 9"/>
          <p:cNvSpPr txBox="1">
            <a:spLocks noChangeArrowheads="1"/>
          </p:cNvSpPr>
          <p:nvPr/>
        </p:nvSpPr>
        <p:spPr bwMode="auto">
          <a:xfrm>
            <a:off x="5638800" y="3352800"/>
            <a:ext cx="685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/>
              <a:t>19</a:t>
            </a:r>
            <a:endParaRPr lang="en-CA"/>
          </a:p>
        </p:txBody>
      </p:sp>
      <p:cxnSp>
        <p:nvCxnSpPr>
          <p:cNvPr id="39946" name="AutoShape 10"/>
          <p:cNvCxnSpPr>
            <a:cxnSpLocks noChangeShapeType="1"/>
            <a:endCxn id="39952" idx="2"/>
          </p:cNvCxnSpPr>
          <p:nvPr/>
        </p:nvCxnSpPr>
        <p:spPr bwMode="auto">
          <a:xfrm>
            <a:off x="3886200" y="3124200"/>
            <a:ext cx="1295400" cy="266700"/>
          </a:xfrm>
          <a:prstGeom prst="curved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947" name="Text Box 11"/>
          <p:cNvSpPr txBox="1">
            <a:spLocks noChangeArrowheads="1"/>
          </p:cNvSpPr>
          <p:nvPr/>
        </p:nvSpPr>
        <p:spPr bwMode="auto">
          <a:xfrm>
            <a:off x="2590800" y="1905000"/>
            <a:ext cx="2743200" cy="2677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/>
              <a:t>Event Number:</a:t>
            </a:r>
          </a:p>
          <a:p>
            <a:pPr eaLnBrk="1" hangingPunct="1">
              <a:spcBef>
                <a:spcPct val="50000"/>
              </a:spcBef>
            </a:pPr>
            <a:r>
              <a:rPr lang="en-US" i="1"/>
              <a:t>Sequence number assigned</a:t>
            </a:r>
          </a:p>
          <a:p>
            <a:pPr eaLnBrk="1" hangingPunct="1">
              <a:spcBef>
                <a:spcPct val="50000"/>
              </a:spcBef>
            </a:pPr>
            <a:r>
              <a:rPr lang="en-US" i="1"/>
              <a:t>Only task edges indicate dependencies</a:t>
            </a:r>
            <a:endParaRPr lang="en-CA" i="1"/>
          </a:p>
        </p:txBody>
      </p:sp>
      <p:cxnSp>
        <p:nvCxnSpPr>
          <p:cNvPr id="39948" name="AutoShape 12"/>
          <p:cNvCxnSpPr>
            <a:cxnSpLocks noChangeShapeType="1"/>
            <a:endCxn id="39952" idx="7"/>
          </p:cNvCxnSpPr>
          <p:nvPr/>
        </p:nvCxnSpPr>
        <p:spPr bwMode="auto">
          <a:xfrm rot="10800000" flipV="1">
            <a:off x="6157914" y="2514600"/>
            <a:ext cx="1081087" cy="471488"/>
          </a:xfrm>
          <a:prstGeom prst="curved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949" name="Text Box 13"/>
          <p:cNvSpPr txBox="1">
            <a:spLocks noChangeArrowheads="1"/>
          </p:cNvSpPr>
          <p:nvPr/>
        </p:nvSpPr>
        <p:spPr bwMode="auto">
          <a:xfrm>
            <a:off x="7315200" y="2209800"/>
            <a:ext cx="3124200" cy="2492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/>
              <a:t>Earliest Completion Time (ECT):</a:t>
            </a:r>
          </a:p>
          <a:p>
            <a:pPr algn="ctr" eaLnBrk="1" hangingPunct="1">
              <a:spcBef>
                <a:spcPct val="50000"/>
              </a:spcBef>
            </a:pPr>
            <a:r>
              <a:rPr lang="en-US" i="1"/>
              <a:t>Earliest time this event can be achieved, given durations and dependencies</a:t>
            </a:r>
            <a:endParaRPr lang="en-CA" i="1"/>
          </a:p>
        </p:txBody>
      </p:sp>
      <p:cxnSp>
        <p:nvCxnSpPr>
          <p:cNvPr id="39950" name="AutoShape 14"/>
          <p:cNvCxnSpPr>
            <a:cxnSpLocks noChangeShapeType="1"/>
            <a:endCxn id="39952" idx="5"/>
          </p:cNvCxnSpPr>
          <p:nvPr/>
        </p:nvCxnSpPr>
        <p:spPr bwMode="auto">
          <a:xfrm rot="-5400000">
            <a:off x="5091114" y="3886201"/>
            <a:ext cx="1157287" cy="976313"/>
          </a:xfrm>
          <a:prstGeom prst="curvedConnector3">
            <a:avLst>
              <a:gd name="adj1" fmla="val 42796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951" name="Text Box 15"/>
          <p:cNvSpPr txBox="1">
            <a:spLocks noChangeArrowheads="1"/>
          </p:cNvSpPr>
          <p:nvPr/>
        </p:nvSpPr>
        <p:spPr bwMode="auto">
          <a:xfrm>
            <a:off x="2514600" y="4953001"/>
            <a:ext cx="7162800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/>
              <a:t>Latest Completion Time (LCT):</a:t>
            </a:r>
          </a:p>
          <a:p>
            <a:pPr algn="ctr" eaLnBrk="1" hangingPunct="1">
              <a:spcBef>
                <a:spcPct val="50000"/>
              </a:spcBef>
            </a:pPr>
            <a:r>
              <a:rPr lang="en-US" i="1"/>
              <a:t>Latest time that this event could be safely achieved</a:t>
            </a:r>
            <a:endParaRPr lang="en-CA" i="1"/>
          </a:p>
        </p:txBody>
      </p:sp>
    </p:spTree>
    <p:extLst>
      <p:ext uri="{BB962C8B-B14F-4D97-AF65-F5344CB8AC3E}">
        <p14:creationId xmlns:p14="http://schemas.microsoft.com/office/powerpoint/2010/main" val="30376888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5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228600"/>
            <a:ext cx="7772400" cy="914400"/>
          </a:xfrm>
        </p:spPr>
        <p:txBody>
          <a:bodyPr/>
          <a:lstStyle/>
          <a:p>
            <a:r>
              <a:rPr lang="en-US"/>
              <a:t>Building a PERT Chart</a:t>
            </a:r>
            <a:endParaRPr lang="en-CA"/>
          </a:p>
        </p:txBody>
      </p:sp>
      <p:sp>
        <p:nvSpPr>
          <p:cNvPr id="4096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895600" y="2057400"/>
            <a:ext cx="6781800" cy="2743200"/>
          </a:xfrm>
        </p:spPr>
        <p:txBody>
          <a:bodyPr/>
          <a:lstStyle/>
          <a:p>
            <a:pPr marL="609600" indent="-609600">
              <a:buFont typeface="Wingdings" pitchFamily="2" charset="2"/>
              <a:buAutoNum type="arabicPeriod"/>
            </a:pPr>
            <a:r>
              <a:rPr lang="en-US" sz="1800"/>
              <a:t>Make a list of all project tasks (and events if possible).</a:t>
            </a:r>
          </a:p>
          <a:p>
            <a:pPr marL="609600" indent="-609600">
              <a:buFont typeface="Wingdings" pitchFamily="2" charset="2"/>
              <a:buAutoNum type="arabicPeriod"/>
            </a:pPr>
            <a:r>
              <a:rPr lang="en-US" sz="1800"/>
              <a:t>Find interrelated task dependencies (what task has to be completed before other tasks)</a:t>
            </a:r>
          </a:p>
          <a:p>
            <a:pPr marL="609600" indent="-609600">
              <a:buFont typeface="Wingdings" pitchFamily="2" charset="2"/>
              <a:buAutoNum type="arabicPeriod"/>
            </a:pPr>
            <a:r>
              <a:rPr lang="en-US" sz="1800"/>
              <a:t>Draw initial PERT without durations, ECTs or LCTs</a:t>
            </a:r>
          </a:p>
          <a:p>
            <a:pPr marL="609600" indent="-609600">
              <a:buFont typeface="Wingdings" pitchFamily="2" charset="2"/>
              <a:buAutoNum type="arabicPeriod"/>
            </a:pPr>
            <a:r>
              <a:rPr lang="en-US" sz="1800"/>
              <a:t>Estimate duration of each task</a:t>
            </a:r>
          </a:p>
          <a:p>
            <a:pPr marL="609600" indent="-609600">
              <a:buFont typeface="Wingdings" pitchFamily="2" charset="2"/>
              <a:buAutoNum type="arabicPeriod"/>
            </a:pPr>
            <a:r>
              <a:rPr lang="en-US" sz="1800"/>
              <a:t>Fill in durations</a:t>
            </a:r>
          </a:p>
          <a:p>
            <a:pPr marL="609600" indent="-609600">
              <a:buFont typeface="Wingdings" pitchFamily="2" charset="2"/>
              <a:buAutoNum type="arabicPeriod"/>
            </a:pPr>
            <a:r>
              <a:rPr lang="en-US" sz="1800"/>
              <a:t>Calculate ECTs and LCTs</a:t>
            </a:r>
            <a:endParaRPr lang="en-CA" sz="1800"/>
          </a:p>
        </p:txBody>
      </p:sp>
      <p:sp>
        <p:nvSpPr>
          <p:cNvPr id="40967" name="Text Box 4"/>
          <p:cNvSpPr txBox="1">
            <a:spLocks noChangeArrowheads="1"/>
          </p:cNvSpPr>
          <p:nvPr/>
        </p:nvSpPr>
        <p:spPr bwMode="auto">
          <a:xfrm>
            <a:off x="2971800" y="5029201"/>
            <a:ext cx="7086600" cy="854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Char char="•"/>
            </a:pPr>
            <a:r>
              <a:rPr lang="en-US" sz="2000"/>
              <a:t>We will do this for an example system:</a:t>
            </a:r>
          </a:p>
          <a:p>
            <a:pPr lvl="1" eaLnBrk="1" hangingPunct="1">
              <a:spcBef>
                <a:spcPct val="50000"/>
              </a:spcBef>
            </a:pPr>
            <a:r>
              <a:rPr lang="en-US" sz="2000">
                <a:sym typeface="Wingdings" pitchFamily="2" charset="2"/>
              </a:rPr>
              <a:t> </a:t>
            </a:r>
            <a:r>
              <a:rPr lang="en-US" sz="2000"/>
              <a:t>Generic software system with 3 modules</a:t>
            </a:r>
          </a:p>
        </p:txBody>
      </p:sp>
      <p:sp>
        <p:nvSpPr>
          <p:cNvPr id="40968" name="Text Box 5"/>
          <p:cNvSpPr txBox="1">
            <a:spLocks noChangeArrowheads="1"/>
          </p:cNvSpPr>
          <p:nvPr/>
        </p:nvSpPr>
        <p:spPr bwMode="auto">
          <a:xfrm>
            <a:off x="2743200" y="1524000"/>
            <a:ext cx="21336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/>
              <a:t>Steps:</a:t>
            </a:r>
          </a:p>
        </p:txBody>
      </p:sp>
    </p:spTree>
    <p:extLst>
      <p:ext uri="{BB962C8B-B14F-4D97-AF65-F5344CB8AC3E}">
        <p14:creationId xmlns:p14="http://schemas.microsoft.com/office/powerpoint/2010/main" val="9408004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9" name="Rectangle 2"/>
          <p:cNvSpPr>
            <a:spLocks noGrp="1" noChangeArrowheads="1"/>
          </p:cNvSpPr>
          <p:nvPr>
            <p:ph type="title"/>
          </p:nvPr>
        </p:nvSpPr>
        <p:spPr>
          <a:xfrm>
            <a:off x="1676400" y="304800"/>
            <a:ext cx="8991600" cy="762000"/>
          </a:xfrm>
        </p:spPr>
        <p:txBody>
          <a:bodyPr/>
          <a:lstStyle/>
          <a:p>
            <a:r>
              <a:rPr lang="en-US" sz="2800"/>
              <a:t>Example:  Generic Software Project</a:t>
            </a:r>
            <a:endParaRPr lang="en-CA" sz="2800"/>
          </a:p>
        </p:txBody>
      </p:sp>
      <p:sp>
        <p:nvSpPr>
          <p:cNvPr id="41990" name="Text Box 3"/>
          <p:cNvSpPr txBox="1">
            <a:spLocks noChangeArrowheads="1"/>
          </p:cNvSpPr>
          <p:nvPr/>
        </p:nvSpPr>
        <p:spPr bwMode="auto">
          <a:xfrm>
            <a:off x="2667000" y="1447801"/>
            <a:ext cx="6934200" cy="4194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eaLnBrk="1" hangingPunct="1">
              <a:lnSpc>
                <a:spcPct val="55000"/>
              </a:lnSpc>
              <a:spcBef>
                <a:spcPct val="50000"/>
              </a:spcBef>
            </a:pPr>
            <a:r>
              <a:rPr lang="en-US" b="1"/>
              <a:t>TASK ID                   Task Description</a:t>
            </a:r>
          </a:p>
          <a:p>
            <a:pPr eaLnBrk="1" hangingPunct="1">
              <a:lnSpc>
                <a:spcPct val="55000"/>
              </a:lnSpc>
              <a:spcBef>
                <a:spcPct val="50000"/>
              </a:spcBef>
            </a:pPr>
            <a:r>
              <a:rPr lang="en-US"/>
              <a:t>       A                          Specification</a:t>
            </a:r>
          </a:p>
          <a:p>
            <a:pPr eaLnBrk="1" hangingPunct="1">
              <a:lnSpc>
                <a:spcPct val="55000"/>
              </a:lnSpc>
              <a:spcBef>
                <a:spcPct val="50000"/>
              </a:spcBef>
            </a:pPr>
            <a:r>
              <a:rPr lang="en-US"/>
              <a:t>       B                          High Level Design</a:t>
            </a:r>
          </a:p>
          <a:p>
            <a:pPr eaLnBrk="1" hangingPunct="1">
              <a:lnSpc>
                <a:spcPct val="55000"/>
              </a:lnSpc>
              <a:spcBef>
                <a:spcPct val="50000"/>
              </a:spcBef>
            </a:pPr>
            <a:r>
              <a:rPr lang="en-US"/>
              <a:t>       C                          Detailed Design</a:t>
            </a:r>
          </a:p>
          <a:p>
            <a:pPr eaLnBrk="1" hangingPunct="1">
              <a:lnSpc>
                <a:spcPct val="55000"/>
              </a:lnSpc>
              <a:spcBef>
                <a:spcPct val="50000"/>
              </a:spcBef>
            </a:pPr>
            <a:r>
              <a:rPr lang="en-US"/>
              <a:t>       D                         Code/Test Main module</a:t>
            </a:r>
          </a:p>
          <a:p>
            <a:pPr eaLnBrk="1" hangingPunct="1">
              <a:lnSpc>
                <a:spcPct val="55000"/>
              </a:lnSpc>
              <a:spcBef>
                <a:spcPct val="50000"/>
              </a:spcBef>
            </a:pPr>
            <a:r>
              <a:rPr lang="en-US"/>
              <a:t>       E                          Code/Test DB module</a:t>
            </a:r>
          </a:p>
          <a:p>
            <a:pPr eaLnBrk="1" hangingPunct="1">
              <a:lnSpc>
                <a:spcPct val="55000"/>
              </a:lnSpc>
              <a:spcBef>
                <a:spcPct val="50000"/>
              </a:spcBef>
            </a:pPr>
            <a:r>
              <a:rPr lang="en-US"/>
              <a:t>       F                          Code/Test UI module</a:t>
            </a:r>
          </a:p>
          <a:p>
            <a:pPr eaLnBrk="1" hangingPunct="1">
              <a:lnSpc>
                <a:spcPct val="55000"/>
              </a:lnSpc>
              <a:spcBef>
                <a:spcPct val="50000"/>
              </a:spcBef>
            </a:pPr>
            <a:r>
              <a:rPr lang="en-US"/>
              <a:t>       G                         Write test plan</a:t>
            </a:r>
          </a:p>
          <a:p>
            <a:pPr eaLnBrk="1" hangingPunct="1">
              <a:lnSpc>
                <a:spcPct val="55000"/>
              </a:lnSpc>
              <a:spcBef>
                <a:spcPct val="50000"/>
              </a:spcBef>
            </a:pPr>
            <a:r>
              <a:rPr lang="en-US"/>
              <a:t>       H                         Integrate/System Test</a:t>
            </a:r>
          </a:p>
          <a:p>
            <a:pPr eaLnBrk="1" hangingPunct="1">
              <a:lnSpc>
                <a:spcPct val="55000"/>
              </a:lnSpc>
              <a:spcBef>
                <a:spcPct val="50000"/>
              </a:spcBef>
            </a:pPr>
            <a:r>
              <a:rPr lang="en-US"/>
              <a:t>       I                           Write User Manual</a:t>
            </a:r>
          </a:p>
          <a:p>
            <a:pPr eaLnBrk="1" hangingPunct="1">
              <a:lnSpc>
                <a:spcPct val="55000"/>
              </a:lnSpc>
              <a:spcBef>
                <a:spcPct val="50000"/>
              </a:spcBef>
            </a:pPr>
            <a:r>
              <a:rPr lang="en-US"/>
              <a:t>       J                           Typeset User Manual                                              </a:t>
            </a:r>
            <a:endParaRPr lang="en-CA"/>
          </a:p>
        </p:txBody>
      </p:sp>
      <p:sp>
        <p:nvSpPr>
          <p:cNvPr id="41991" name="Line 4"/>
          <p:cNvSpPr>
            <a:spLocks noChangeShapeType="1"/>
          </p:cNvSpPr>
          <p:nvPr/>
        </p:nvSpPr>
        <p:spPr bwMode="auto">
          <a:xfrm>
            <a:off x="2819400" y="1752600"/>
            <a:ext cx="5562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992" name="Text Box 5"/>
          <p:cNvSpPr txBox="1">
            <a:spLocks noChangeArrowheads="1"/>
          </p:cNvSpPr>
          <p:nvPr/>
        </p:nvSpPr>
        <p:spPr bwMode="auto">
          <a:xfrm>
            <a:off x="2590800" y="5562601"/>
            <a:ext cx="78486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Char char="•"/>
            </a:pPr>
            <a:r>
              <a:rPr lang="en-US" sz="2000"/>
              <a:t> To start PERT chart: identify dependencies between tasks</a:t>
            </a:r>
          </a:p>
        </p:txBody>
      </p:sp>
    </p:spTree>
    <p:extLst>
      <p:ext uri="{BB962C8B-B14F-4D97-AF65-F5344CB8AC3E}">
        <p14:creationId xmlns:p14="http://schemas.microsoft.com/office/powerpoint/2010/main" val="16611742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3" name="Rectangle 2"/>
          <p:cNvSpPr>
            <a:spLocks noGrp="1" noChangeArrowheads="1"/>
          </p:cNvSpPr>
          <p:nvPr>
            <p:ph type="title"/>
          </p:nvPr>
        </p:nvSpPr>
        <p:spPr>
          <a:xfrm>
            <a:off x="2133600" y="152400"/>
            <a:ext cx="7772400" cy="609600"/>
          </a:xfrm>
        </p:spPr>
        <p:txBody>
          <a:bodyPr>
            <a:normAutofit fontScale="90000"/>
          </a:bodyPr>
          <a:lstStyle/>
          <a:p>
            <a:r>
              <a:rPr lang="en-US"/>
              <a:t>Dummy Tasks</a:t>
            </a:r>
            <a:endParaRPr lang="en-CA"/>
          </a:p>
        </p:txBody>
      </p:sp>
      <p:sp>
        <p:nvSpPr>
          <p:cNvPr id="4301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590800" y="914400"/>
            <a:ext cx="7772400" cy="2743200"/>
          </a:xfrm>
        </p:spPr>
        <p:txBody>
          <a:bodyPr/>
          <a:lstStyle/>
          <a:p>
            <a:r>
              <a:rPr lang="en-US" sz="1800"/>
              <a:t>Sometimes it is necessary to use </a:t>
            </a:r>
            <a:r>
              <a:rPr lang="en-US" sz="1800" i="1"/>
              <a:t>dummy tasks</a:t>
            </a:r>
            <a:r>
              <a:rPr lang="en-US" sz="1800"/>
              <a:t>:</a:t>
            </a:r>
          </a:p>
          <a:p>
            <a:pPr marL="742950" lvl="1" indent="-285750"/>
            <a:r>
              <a:rPr lang="en-US" sz="2000"/>
              <a:t>Shows the dependency between 2 events where no activity is performed</a:t>
            </a:r>
          </a:p>
          <a:p>
            <a:r>
              <a:rPr lang="en-US" sz="1800"/>
              <a:t>Example:  </a:t>
            </a:r>
          </a:p>
          <a:p>
            <a:pPr marL="742950" lvl="1" indent="-285750"/>
            <a:r>
              <a:rPr lang="en-US" sz="2000"/>
              <a:t>Events 3, 4 signify the compilation of separate modules.</a:t>
            </a:r>
          </a:p>
          <a:p>
            <a:pPr marL="742950" lvl="1" indent="-285750"/>
            <a:r>
              <a:rPr lang="en-US" sz="2000"/>
              <a:t>Create an event 5 to signify “all modules compiled together”. </a:t>
            </a:r>
          </a:p>
          <a:p>
            <a:r>
              <a:rPr lang="en-US" sz="1800"/>
              <a:t>Denote dummy tasks using dash lines</a:t>
            </a:r>
            <a:endParaRPr lang="en-CA" sz="1800"/>
          </a:p>
        </p:txBody>
      </p:sp>
      <p:grpSp>
        <p:nvGrpSpPr>
          <p:cNvPr id="43015" name="Group 4"/>
          <p:cNvGrpSpPr>
            <a:grpSpLocks/>
          </p:cNvGrpSpPr>
          <p:nvPr/>
        </p:nvGrpSpPr>
        <p:grpSpPr bwMode="auto">
          <a:xfrm>
            <a:off x="3200400" y="3581400"/>
            <a:ext cx="4343400" cy="2743200"/>
            <a:chOff x="768" y="2112"/>
            <a:chExt cx="2736" cy="1728"/>
          </a:xfrm>
        </p:grpSpPr>
        <p:grpSp>
          <p:nvGrpSpPr>
            <p:cNvPr id="43016" name="Group 5"/>
            <p:cNvGrpSpPr>
              <a:grpSpLocks/>
            </p:cNvGrpSpPr>
            <p:nvPr/>
          </p:nvGrpSpPr>
          <p:grpSpPr bwMode="auto">
            <a:xfrm>
              <a:off x="768" y="2112"/>
              <a:ext cx="720" cy="720"/>
              <a:chOff x="240" y="1344"/>
              <a:chExt cx="720" cy="720"/>
            </a:xfrm>
          </p:grpSpPr>
          <p:sp>
            <p:nvSpPr>
              <p:cNvPr id="43039" name="Oval 6"/>
              <p:cNvSpPr>
                <a:spLocks noChangeArrowheads="1"/>
              </p:cNvSpPr>
              <p:nvPr/>
            </p:nvSpPr>
            <p:spPr bwMode="auto">
              <a:xfrm>
                <a:off x="240" y="1344"/>
                <a:ext cx="720" cy="72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43040" name="Line 7"/>
              <p:cNvSpPr>
                <a:spLocks noChangeShapeType="1"/>
              </p:cNvSpPr>
              <p:nvPr/>
            </p:nvSpPr>
            <p:spPr bwMode="auto">
              <a:xfrm>
                <a:off x="576" y="1344"/>
                <a:ext cx="0" cy="72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3041" name="Line 8"/>
              <p:cNvSpPr>
                <a:spLocks noChangeShapeType="1"/>
              </p:cNvSpPr>
              <p:nvPr/>
            </p:nvSpPr>
            <p:spPr bwMode="auto">
              <a:xfrm>
                <a:off x="576" y="1680"/>
                <a:ext cx="38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3017" name="Text Box 9"/>
            <p:cNvSpPr txBox="1">
              <a:spLocks noChangeArrowheads="1"/>
            </p:cNvSpPr>
            <p:nvPr/>
          </p:nvSpPr>
          <p:spPr bwMode="auto">
            <a:xfrm>
              <a:off x="768" y="2304"/>
              <a:ext cx="240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3</a:t>
              </a:r>
              <a:endParaRPr lang="en-CA"/>
            </a:p>
          </p:txBody>
        </p:sp>
        <p:sp>
          <p:nvSpPr>
            <p:cNvPr id="43018" name="Text Box 10"/>
            <p:cNvSpPr txBox="1">
              <a:spLocks noChangeArrowheads="1"/>
            </p:cNvSpPr>
            <p:nvPr/>
          </p:nvSpPr>
          <p:spPr bwMode="auto">
            <a:xfrm>
              <a:off x="1152" y="2160"/>
              <a:ext cx="28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9</a:t>
              </a:r>
              <a:endParaRPr lang="en-CA"/>
            </a:p>
          </p:txBody>
        </p:sp>
        <p:sp>
          <p:nvSpPr>
            <p:cNvPr id="43019" name="Text Box 11"/>
            <p:cNvSpPr txBox="1">
              <a:spLocks noChangeArrowheads="1"/>
            </p:cNvSpPr>
            <p:nvPr/>
          </p:nvSpPr>
          <p:spPr bwMode="auto">
            <a:xfrm>
              <a:off x="1056" y="2448"/>
              <a:ext cx="43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10</a:t>
              </a:r>
              <a:endParaRPr lang="en-CA"/>
            </a:p>
          </p:txBody>
        </p:sp>
        <p:grpSp>
          <p:nvGrpSpPr>
            <p:cNvPr id="43020" name="Group 12"/>
            <p:cNvGrpSpPr>
              <a:grpSpLocks/>
            </p:cNvGrpSpPr>
            <p:nvPr/>
          </p:nvGrpSpPr>
          <p:grpSpPr bwMode="auto">
            <a:xfrm>
              <a:off x="768" y="3120"/>
              <a:ext cx="720" cy="720"/>
              <a:chOff x="240" y="1344"/>
              <a:chExt cx="720" cy="720"/>
            </a:xfrm>
          </p:grpSpPr>
          <p:sp>
            <p:nvSpPr>
              <p:cNvPr id="43036" name="Oval 13"/>
              <p:cNvSpPr>
                <a:spLocks noChangeArrowheads="1"/>
              </p:cNvSpPr>
              <p:nvPr/>
            </p:nvSpPr>
            <p:spPr bwMode="auto">
              <a:xfrm>
                <a:off x="240" y="1344"/>
                <a:ext cx="720" cy="72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43037" name="Line 14"/>
              <p:cNvSpPr>
                <a:spLocks noChangeShapeType="1"/>
              </p:cNvSpPr>
              <p:nvPr/>
            </p:nvSpPr>
            <p:spPr bwMode="auto">
              <a:xfrm>
                <a:off x="576" y="1344"/>
                <a:ext cx="0" cy="72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3038" name="Line 15"/>
              <p:cNvSpPr>
                <a:spLocks noChangeShapeType="1"/>
              </p:cNvSpPr>
              <p:nvPr/>
            </p:nvSpPr>
            <p:spPr bwMode="auto">
              <a:xfrm>
                <a:off x="576" y="1680"/>
                <a:ext cx="38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3021" name="Text Box 16"/>
            <p:cNvSpPr txBox="1">
              <a:spLocks noChangeArrowheads="1"/>
            </p:cNvSpPr>
            <p:nvPr/>
          </p:nvSpPr>
          <p:spPr bwMode="auto">
            <a:xfrm>
              <a:off x="768" y="3312"/>
              <a:ext cx="240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4</a:t>
              </a:r>
              <a:endParaRPr lang="en-CA"/>
            </a:p>
          </p:txBody>
        </p:sp>
        <p:sp>
          <p:nvSpPr>
            <p:cNvPr id="43022" name="Text Box 17"/>
            <p:cNvSpPr txBox="1">
              <a:spLocks noChangeArrowheads="1"/>
            </p:cNvSpPr>
            <p:nvPr/>
          </p:nvSpPr>
          <p:spPr bwMode="auto">
            <a:xfrm>
              <a:off x="1152" y="3168"/>
              <a:ext cx="28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9</a:t>
              </a:r>
              <a:endParaRPr lang="en-CA"/>
            </a:p>
          </p:txBody>
        </p:sp>
        <p:sp>
          <p:nvSpPr>
            <p:cNvPr id="43023" name="Text Box 18"/>
            <p:cNvSpPr txBox="1">
              <a:spLocks noChangeArrowheads="1"/>
            </p:cNvSpPr>
            <p:nvPr/>
          </p:nvSpPr>
          <p:spPr bwMode="auto">
            <a:xfrm>
              <a:off x="1056" y="3456"/>
              <a:ext cx="43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12</a:t>
              </a:r>
              <a:endParaRPr lang="en-CA"/>
            </a:p>
          </p:txBody>
        </p:sp>
        <p:grpSp>
          <p:nvGrpSpPr>
            <p:cNvPr id="43024" name="Group 19"/>
            <p:cNvGrpSpPr>
              <a:grpSpLocks/>
            </p:cNvGrpSpPr>
            <p:nvPr/>
          </p:nvGrpSpPr>
          <p:grpSpPr bwMode="auto">
            <a:xfrm>
              <a:off x="2256" y="2592"/>
              <a:ext cx="720" cy="720"/>
              <a:chOff x="240" y="1344"/>
              <a:chExt cx="720" cy="720"/>
            </a:xfrm>
          </p:grpSpPr>
          <p:sp>
            <p:nvSpPr>
              <p:cNvPr id="43033" name="Oval 20"/>
              <p:cNvSpPr>
                <a:spLocks noChangeArrowheads="1"/>
              </p:cNvSpPr>
              <p:nvPr/>
            </p:nvSpPr>
            <p:spPr bwMode="auto">
              <a:xfrm>
                <a:off x="240" y="1344"/>
                <a:ext cx="720" cy="72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43034" name="Line 21"/>
              <p:cNvSpPr>
                <a:spLocks noChangeShapeType="1"/>
              </p:cNvSpPr>
              <p:nvPr/>
            </p:nvSpPr>
            <p:spPr bwMode="auto">
              <a:xfrm>
                <a:off x="576" y="1344"/>
                <a:ext cx="0" cy="72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3035" name="Line 22"/>
              <p:cNvSpPr>
                <a:spLocks noChangeShapeType="1"/>
              </p:cNvSpPr>
              <p:nvPr/>
            </p:nvSpPr>
            <p:spPr bwMode="auto">
              <a:xfrm>
                <a:off x="576" y="1680"/>
                <a:ext cx="38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3025" name="Text Box 23"/>
            <p:cNvSpPr txBox="1">
              <a:spLocks noChangeArrowheads="1"/>
            </p:cNvSpPr>
            <p:nvPr/>
          </p:nvSpPr>
          <p:spPr bwMode="auto">
            <a:xfrm>
              <a:off x="2256" y="2784"/>
              <a:ext cx="240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5</a:t>
              </a:r>
              <a:endParaRPr lang="en-CA"/>
            </a:p>
          </p:txBody>
        </p:sp>
        <p:sp>
          <p:nvSpPr>
            <p:cNvPr id="43026" name="Text Box 24"/>
            <p:cNvSpPr txBox="1">
              <a:spLocks noChangeArrowheads="1"/>
            </p:cNvSpPr>
            <p:nvPr/>
          </p:nvSpPr>
          <p:spPr bwMode="auto">
            <a:xfrm>
              <a:off x="2640" y="2640"/>
              <a:ext cx="28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9</a:t>
              </a:r>
              <a:endParaRPr lang="en-CA"/>
            </a:p>
          </p:txBody>
        </p:sp>
        <p:sp>
          <p:nvSpPr>
            <p:cNvPr id="43027" name="Text Box 25"/>
            <p:cNvSpPr txBox="1">
              <a:spLocks noChangeArrowheads="1"/>
            </p:cNvSpPr>
            <p:nvPr/>
          </p:nvSpPr>
          <p:spPr bwMode="auto">
            <a:xfrm>
              <a:off x="2544" y="2928"/>
              <a:ext cx="43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12</a:t>
              </a:r>
              <a:endParaRPr lang="en-CA"/>
            </a:p>
          </p:txBody>
        </p:sp>
        <p:sp>
          <p:nvSpPr>
            <p:cNvPr id="43028" name="Line 26"/>
            <p:cNvSpPr>
              <a:spLocks noChangeShapeType="1"/>
            </p:cNvSpPr>
            <p:nvPr/>
          </p:nvSpPr>
          <p:spPr bwMode="auto">
            <a:xfrm flipV="1">
              <a:off x="1488" y="3168"/>
              <a:ext cx="816" cy="28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prstDash val="dash"/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29" name="Line 27"/>
            <p:cNvSpPr>
              <a:spLocks noChangeShapeType="1"/>
            </p:cNvSpPr>
            <p:nvPr/>
          </p:nvSpPr>
          <p:spPr bwMode="auto">
            <a:xfrm>
              <a:off x="1488" y="2448"/>
              <a:ext cx="768" cy="384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prstDash val="dash"/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30" name="Line 28"/>
            <p:cNvSpPr>
              <a:spLocks noChangeShapeType="1"/>
            </p:cNvSpPr>
            <p:nvPr/>
          </p:nvSpPr>
          <p:spPr bwMode="auto">
            <a:xfrm>
              <a:off x="2976" y="2928"/>
              <a:ext cx="43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31" name="Text Box 29"/>
            <p:cNvSpPr txBox="1">
              <a:spLocks noChangeArrowheads="1"/>
            </p:cNvSpPr>
            <p:nvPr/>
          </p:nvSpPr>
          <p:spPr bwMode="auto">
            <a:xfrm>
              <a:off x="3072" y="2544"/>
              <a:ext cx="38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T</a:t>
              </a:r>
              <a:endParaRPr lang="en-CA"/>
            </a:p>
          </p:txBody>
        </p:sp>
        <p:sp>
          <p:nvSpPr>
            <p:cNvPr id="43032" name="Text Box 30"/>
            <p:cNvSpPr txBox="1">
              <a:spLocks noChangeArrowheads="1"/>
            </p:cNvSpPr>
            <p:nvPr/>
          </p:nvSpPr>
          <p:spPr bwMode="auto">
            <a:xfrm>
              <a:off x="3120" y="3024"/>
              <a:ext cx="38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3</a:t>
              </a:r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8277485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7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0"/>
            <a:ext cx="8534400" cy="762000"/>
          </a:xfrm>
        </p:spPr>
        <p:txBody>
          <a:bodyPr/>
          <a:lstStyle/>
          <a:p>
            <a:r>
              <a:rPr lang="en-US" sz="2800"/>
              <a:t>Example:  Tasks with Dependencies</a:t>
            </a:r>
            <a:endParaRPr lang="en-CA" sz="2800"/>
          </a:p>
        </p:txBody>
      </p:sp>
      <p:sp>
        <p:nvSpPr>
          <p:cNvPr id="4403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05000" y="914400"/>
            <a:ext cx="8458200" cy="838200"/>
          </a:xfrm>
        </p:spPr>
        <p:txBody>
          <a:bodyPr/>
          <a:lstStyle/>
          <a:p>
            <a:pPr marL="0" indent="0">
              <a:lnSpc>
                <a:spcPct val="80000"/>
              </a:lnSpc>
            </a:pPr>
            <a:r>
              <a:rPr lang="en-US" sz="2000"/>
              <a:t>To start the PERT, identify the dependencies amongst tasks</a:t>
            </a:r>
            <a:endParaRPr lang="en-CA" sz="2000"/>
          </a:p>
        </p:txBody>
      </p:sp>
      <p:sp>
        <p:nvSpPr>
          <p:cNvPr id="44039" name="Text Box 4"/>
          <p:cNvSpPr txBox="1">
            <a:spLocks noChangeArrowheads="1"/>
          </p:cNvSpPr>
          <p:nvPr/>
        </p:nvSpPr>
        <p:spPr bwMode="auto">
          <a:xfrm>
            <a:off x="2895600" y="1447801"/>
            <a:ext cx="6629400" cy="46910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eaLnBrk="1" hangingPunct="1">
              <a:lnSpc>
                <a:spcPct val="55000"/>
              </a:lnSpc>
              <a:spcBef>
                <a:spcPct val="50000"/>
              </a:spcBef>
            </a:pPr>
            <a:endParaRPr lang="en-US" sz="1800"/>
          </a:p>
          <a:p>
            <a:pPr eaLnBrk="1" hangingPunct="1">
              <a:lnSpc>
                <a:spcPct val="55000"/>
              </a:lnSpc>
              <a:spcBef>
                <a:spcPct val="50000"/>
              </a:spcBef>
            </a:pPr>
            <a:r>
              <a:rPr lang="en-US" sz="1800" b="1"/>
              <a:t>TASK ID        Task Description           Preceed  ID      Succ. ID    </a:t>
            </a:r>
          </a:p>
          <a:p>
            <a:pPr eaLnBrk="1" hangingPunct="1">
              <a:lnSpc>
                <a:spcPct val="55000"/>
              </a:lnSpc>
              <a:spcBef>
                <a:spcPct val="50000"/>
              </a:spcBef>
            </a:pPr>
            <a:endParaRPr lang="en-US" sz="1800" b="1"/>
          </a:p>
          <a:p>
            <a:pPr eaLnBrk="1" hangingPunct="1">
              <a:lnSpc>
                <a:spcPct val="55000"/>
              </a:lnSpc>
              <a:spcBef>
                <a:spcPct val="50000"/>
              </a:spcBef>
            </a:pPr>
            <a:r>
              <a:rPr lang="en-US" sz="1800"/>
              <a:t>       A              Specification                       1                       2</a:t>
            </a:r>
          </a:p>
          <a:p>
            <a:pPr eaLnBrk="1" hangingPunct="1">
              <a:lnSpc>
                <a:spcPct val="55000"/>
              </a:lnSpc>
              <a:spcBef>
                <a:spcPct val="50000"/>
              </a:spcBef>
            </a:pPr>
            <a:r>
              <a:rPr lang="en-US" sz="1800"/>
              <a:t>       B              High Level Design              2                       3</a:t>
            </a:r>
          </a:p>
          <a:p>
            <a:pPr eaLnBrk="1" hangingPunct="1">
              <a:lnSpc>
                <a:spcPct val="55000"/>
              </a:lnSpc>
              <a:spcBef>
                <a:spcPct val="50000"/>
              </a:spcBef>
            </a:pPr>
            <a:r>
              <a:rPr lang="en-US" sz="1800"/>
              <a:t>       C              Detailed Design                  3                       4</a:t>
            </a:r>
          </a:p>
          <a:p>
            <a:pPr eaLnBrk="1" hangingPunct="1">
              <a:lnSpc>
                <a:spcPct val="55000"/>
              </a:lnSpc>
              <a:spcBef>
                <a:spcPct val="50000"/>
              </a:spcBef>
            </a:pPr>
            <a:r>
              <a:rPr lang="en-US" sz="1800"/>
              <a:t>       D              Code/Test Main                  4                       5</a:t>
            </a:r>
          </a:p>
          <a:p>
            <a:pPr eaLnBrk="1" hangingPunct="1">
              <a:lnSpc>
                <a:spcPct val="55000"/>
              </a:lnSpc>
              <a:spcBef>
                <a:spcPct val="50000"/>
              </a:spcBef>
            </a:pPr>
            <a:r>
              <a:rPr lang="en-US" sz="1800"/>
              <a:t>       E               Code/Test DB                    4                       6</a:t>
            </a:r>
          </a:p>
          <a:p>
            <a:pPr eaLnBrk="1" hangingPunct="1">
              <a:lnSpc>
                <a:spcPct val="55000"/>
              </a:lnSpc>
              <a:spcBef>
                <a:spcPct val="50000"/>
              </a:spcBef>
            </a:pPr>
            <a:r>
              <a:rPr lang="en-US" sz="1800"/>
              <a:t>       F               Code/Test UI                      4                       7</a:t>
            </a:r>
          </a:p>
          <a:p>
            <a:pPr eaLnBrk="1" hangingPunct="1">
              <a:lnSpc>
                <a:spcPct val="55000"/>
              </a:lnSpc>
              <a:spcBef>
                <a:spcPct val="50000"/>
              </a:spcBef>
            </a:pPr>
            <a:r>
              <a:rPr lang="en-US" sz="1800"/>
              <a:t>       G               Write test plan                   4                       8</a:t>
            </a:r>
          </a:p>
          <a:p>
            <a:pPr eaLnBrk="1" hangingPunct="1">
              <a:lnSpc>
                <a:spcPct val="55000"/>
              </a:lnSpc>
              <a:spcBef>
                <a:spcPct val="50000"/>
              </a:spcBef>
            </a:pPr>
            <a:r>
              <a:rPr lang="en-US" sz="1800"/>
              <a:t>                          Dummy Task                   5                        8</a:t>
            </a:r>
          </a:p>
          <a:p>
            <a:pPr eaLnBrk="1" hangingPunct="1">
              <a:lnSpc>
                <a:spcPct val="55000"/>
              </a:lnSpc>
              <a:spcBef>
                <a:spcPct val="50000"/>
              </a:spcBef>
            </a:pPr>
            <a:r>
              <a:rPr lang="en-US" sz="1800"/>
              <a:t>                          Dummy Task                   6                        8</a:t>
            </a:r>
          </a:p>
          <a:p>
            <a:pPr eaLnBrk="1" hangingPunct="1">
              <a:lnSpc>
                <a:spcPct val="55000"/>
              </a:lnSpc>
              <a:spcBef>
                <a:spcPct val="50000"/>
              </a:spcBef>
            </a:pPr>
            <a:r>
              <a:rPr lang="en-US" sz="1800"/>
              <a:t>                          Dummy Task                   7                        8</a:t>
            </a:r>
          </a:p>
          <a:p>
            <a:pPr eaLnBrk="1" hangingPunct="1">
              <a:lnSpc>
                <a:spcPct val="55000"/>
              </a:lnSpc>
              <a:spcBef>
                <a:spcPct val="50000"/>
              </a:spcBef>
            </a:pPr>
            <a:r>
              <a:rPr lang="en-US" sz="1800"/>
              <a:t>       H                Integrate/System Test      8                        9</a:t>
            </a:r>
          </a:p>
          <a:p>
            <a:pPr eaLnBrk="1" hangingPunct="1">
              <a:lnSpc>
                <a:spcPct val="55000"/>
              </a:lnSpc>
              <a:spcBef>
                <a:spcPct val="50000"/>
              </a:spcBef>
            </a:pPr>
            <a:r>
              <a:rPr lang="en-US" sz="1800"/>
              <a:t>       I                 Write User Manual           8                       10</a:t>
            </a:r>
          </a:p>
          <a:p>
            <a:pPr eaLnBrk="1" hangingPunct="1">
              <a:lnSpc>
                <a:spcPct val="55000"/>
              </a:lnSpc>
              <a:spcBef>
                <a:spcPct val="50000"/>
              </a:spcBef>
            </a:pPr>
            <a:r>
              <a:rPr lang="en-US" sz="1800"/>
              <a:t>       J                 Typeset User Manual     10                         9  </a:t>
            </a:r>
            <a:r>
              <a:rPr lang="en-US"/>
              <a:t>                                 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155385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61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81000"/>
            <a:ext cx="7772400" cy="1143000"/>
          </a:xfrm>
        </p:spPr>
        <p:txBody>
          <a:bodyPr/>
          <a:lstStyle/>
          <a:p>
            <a:r>
              <a:rPr lang="en-US" sz="2800"/>
              <a:t>Software Example:  Skeleton PERT Chart</a:t>
            </a:r>
            <a:endParaRPr lang="en-CA" sz="2800"/>
          </a:p>
        </p:txBody>
      </p:sp>
      <p:sp>
        <p:nvSpPr>
          <p:cNvPr id="45062" name="Text Box 3"/>
          <p:cNvSpPr txBox="1">
            <a:spLocks noChangeArrowheads="1"/>
          </p:cNvSpPr>
          <p:nvPr/>
        </p:nvSpPr>
        <p:spPr bwMode="auto">
          <a:xfrm>
            <a:off x="10210800" y="3505200"/>
            <a:ext cx="304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endParaRPr lang="en-CA"/>
          </a:p>
        </p:txBody>
      </p:sp>
      <p:grpSp>
        <p:nvGrpSpPr>
          <p:cNvPr id="45063" name="Group 4"/>
          <p:cNvGrpSpPr>
            <a:grpSpLocks/>
          </p:cNvGrpSpPr>
          <p:nvPr/>
        </p:nvGrpSpPr>
        <p:grpSpPr bwMode="auto">
          <a:xfrm>
            <a:off x="1905000" y="1295400"/>
            <a:ext cx="8382000" cy="3657600"/>
            <a:chOff x="144" y="1536"/>
            <a:chExt cx="5280" cy="2304"/>
          </a:xfrm>
        </p:grpSpPr>
        <p:sp>
          <p:nvSpPr>
            <p:cNvPr id="45065" name="Line 5"/>
            <p:cNvSpPr>
              <a:spLocks noChangeShapeType="1"/>
            </p:cNvSpPr>
            <p:nvPr/>
          </p:nvSpPr>
          <p:spPr bwMode="auto">
            <a:xfrm>
              <a:off x="384" y="2496"/>
              <a:ext cx="24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45066" name="Group 6"/>
            <p:cNvGrpSpPr>
              <a:grpSpLocks/>
            </p:cNvGrpSpPr>
            <p:nvPr/>
          </p:nvGrpSpPr>
          <p:grpSpPr bwMode="auto">
            <a:xfrm>
              <a:off x="144" y="2208"/>
              <a:ext cx="768" cy="528"/>
              <a:chOff x="144" y="2208"/>
              <a:chExt cx="768" cy="528"/>
            </a:xfrm>
          </p:grpSpPr>
          <p:sp>
            <p:nvSpPr>
              <p:cNvPr id="45131" name="Oval 7"/>
              <p:cNvSpPr>
                <a:spLocks noChangeArrowheads="1"/>
              </p:cNvSpPr>
              <p:nvPr/>
            </p:nvSpPr>
            <p:spPr bwMode="auto">
              <a:xfrm>
                <a:off x="144" y="2256"/>
                <a:ext cx="480" cy="48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45132" name="Line 8"/>
              <p:cNvSpPr>
                <a:spLocks noChangeShapeType="1"/>
              </p:cNvSpPr>
              <p:nvPr/>
            </p:nvSpPr>
            <p:spPr bwMode="auto">
              <a:xfrm>
                <a:off x="384" y="2256"/>
                <a:ext cx="0" cy="48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5133" name="Text Box 9"/>
              <p:cNvSpPr txBox="1">
                <a:spLocks noChangeArrowheads="1"/>
              </p:cNvSpPr>
              <p:nvPr/>
            </p:nvSpPr>
            <p:spPr bwMode="auto">
              <a:xfrm>
                <a:off x="192" y="2352"/>
                <a:ext cx="14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9pPr>
              </a:lstStyle>
              <a:p>
                <a:pPr algn="ctr" eaLnBrk="1" hangingPunct="1">
                  <a:spcBef>
                    <a:spcPct val="50000"/>
                  </a:spcBef>
                </a:pPr>
                <a:r>
                  <a:rPr lang="en-US"/>
                  <a:t>1</a:t>
                </a:r>
                <a:endParaRPr lang="en-CA"/>
              </a:p>
            </p:txBody>
          </p:sp>
          <p:sp>
            <p:nvSpPr>
              <p:cNvPr id="45134" name="Line 10"/>
              <p:cNvSpPr>
                <a:spLocks noChangeShapeType="1"/>
              </p:cNvSpPr>
              <p:nvPr/>
            </p:nvSpPr>
            <p:spPr bwMode="auto">
              <a:xfrm>
                <a:off x="624" y="2496"/>
                <a:ext cx="28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5135" name="Text Box 11"/>
              <p:cNvSpPr txBox="1">
                <a:spLocks noChangeArrowheads="1"/>
              </p:cNvSpPr>
              <p:nvPr/>
            </p:nvSpPr>
            <p:spPr bwMode="auto">
              <a:xfrm>
                <a:off x="672" y="2208"/>
                <a:ext cx="192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9pPr>
              </a:lstStyle>
              <a:p>
                <a:pPr algn="ctr" eaLnBrk="1" hangingPunct="1">
                  <a:spcBef>
                    <a:spcPct val="50000"/>
                  </a:spcBef>
                </a:pPr>
                <a:r>
                  <a:rPr lang="en-US"/>
                  <a:t>A</a:t>
                </a:r>
                <a:endParaRPr lang="en-CA"/>
              </a:p>
            </p:txBody>
          </p:sp>
        </p:grpSp>
        <p:grpSp>
          <p:nvGrpSpPr>
            <p:cNvPr id="45067" name="Group 12"/>
            <p:cNvGrpSpPr>
              <a:grpSpLocks/>
            </p:cNvGrpSpPr>
            <p:nvPr/>
          </p:nvGrpSpPr>
          <p:grpSpPr bwMode="auto">
            <a:xfrm>
              <a:off x="912" y="2208"/>
              <a:ext cx="768" cy="528"/>
              <a:chOff x="144" y="2208"/>
              <a:chExt cx="768" cy="528"/>
            </a:xfrm>
          </p:grpSpPr>
          <p:sp>
            <p:nvSpPr>
              <p:cNvPr id="45126" name="Oval 13"/>
              <p:cNvSpPr>
                <a:spLocks noChangeArrowheads="1"/>
              </p:cNvSpPr>
              <p:nvPr/>
            </p:nvSpPr>
            <p:spPr bwMode="auto">
              <a:xfrm>
                <a:off x="144" y="2256"/>
                <a:ext cx="480" cy="48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45127" name="Line 14"/>
              <p:cNvSpPr>
                <a:spLocks noChangeShapeType="1"/>
              </p:cNvSpPr>
              <p:nvPr/>
            </p:nvSpPr>
            <p:spPr bwMode="auto">
              <a:xfrm>
                <a:off x="384" y="2256"/>
                <a:ext cx="0" cy="48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5128" name="Text Box 15"/>
              <p:cNvSpPr txBox="1">
                <a:spLocks noChangeArrowheads="1"/>
              </p:cNvSpPr>
              <p:nvPr/>
            </p:nvSpPr>
            <p:spPr bwMode="auto">
              <a:xfrm>
                <a:off x="192" y="2352"/>
                <a:ext cx="14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9pPr>
              </a:lstStyle>
              <a:p>
                <a:pPr algn="ctr" eaLnBrk="1" hangingPunct="1">
                  <a:spcBef>
                    <a:spcPct val="50000"/>
                  </a:spcBef>
                </a:pPr>
                <a:r>
                  <a:rPr lang="en-US"/>
                  <a:t>2</a:t>
                </a:r>
                <a:endParaRPr lang="en-CA"/>
              </a:p>
            </p:txBody>
          </p:sp>
          <p:sp>
            <p:nvSpPr>
              <p:cNvPr id="45129" name="Line 16"/>
              <p:cNvSpPr>
                <a:spLocks noChangeShapeType="1"/>
              </p:cNvSpPr>
              <p:nvPr/>
            </p:nvSpPr>
            <p:spPr bwMode="auto">
              <a:xfrm>
                <a:off x="624" y="2496"/>
                <a:ext cx="28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5130" name="Text Box 17"/>
              <p:cNvSpPr txBox="1">
                <a:spLocks noChangeArrowheads="1"/>
              </p:cNvSpPr>
              <p:nvPr/>
            </p:nvSpPr>
            <p:spPr bwMode="auto">
              <a:xfrm>
                <a:off x="672" y="2208"/>
                <a:ext cx="192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9pPr>
              </a:lstStyle>
              <a:p>
                <a:pPr algn="ctr" eaLnBrk="1" hangingPunct="1">
                  <a:spcBef>
                    <a:spcPct val="50000"/>
                  </a:spcBef>
                </a:pPr>
                <a:r>
                  <a:rPr lang="en-US"/>
                  <a:t>B</a:t>
                </a:r>
                <a:endParaRPr lang="en-CA"/>
              </a:p>
            </p:txBody>
          </p:sp>
        </p:grpSp>
        <p:grpSp>
          <p:nvGrpSpPr>
            <p:cNvPr id="45068" name="Group 18"/>
            <p:cNvGrpSpPr>
              <a:grpSpLocks/>
            </p:cNvGrpSpPr>
            <p:nvPr/>
          </p:nvGrpSpPr>
          <p:grpSpPr bwMode="auto">
            <a:xfrm>
              <a:off x="1680" y="2208"/>
              <a:ext cx="768" cy="528"/>
              <a:chOff x="144" y="2208"/>
              <a:chExt cx="768" cy="528"/>
            </a:xfrm>
          </p:grpSpPr>
          <p:sp>
            <p:nvSpPr>
              <p:cNvPr id="45121" name="Oval 19"/>
              <p:cNvSpPr>
                <a:spLocks noChangeArrowheads="1"/>
              </p:cNvSpPr>
              <p:nvPr/>
            </p:nvSpPr>
            <p:spPr bwMode="auto">
              <a:xfrm>
                <a:off x="144" y="2256"/>
                <a:ext cx="480" cy="48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45122" name="Line 20"/>
              <p:cNvSpPr>
                <a:spLocks noChangeShapeType="1"/>
              </p:cNvSpPr>
              <p:nvPr/>
            </p:nvSpPr>
            <p:spPr bwMode="auto">
              <a:xfrm>
                <a:off x="384" y="2256"/>
                <a:ext cx="0" cy="48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5123" name="Text Box 21"/>
              <p:cNvSpPr txBox="1">
                <a:spLocks noChangeArrowheads="1"/>
              </p:cNvSpPr>
              <p:nvPr/>
            </p:nvSpPr>
            <p:spPr bwMode="auto">
              <a:xfrm>
                <a:off x="192" y="2352"/>
                <a:ext cx="14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9pPr>
              </a:lstStyle>
              <a:p>
                <a:pPr algn="ctr" eaLnBrk="1" hangingPunct="1">
                  <a:spcBef>
                    <a:spcPct val="50000"/>
                  </a:spcBef>
                </a:pPr>
                <a:r>
                  <a:rPr lang="en-US"/>
                  <a:t>3</a:t>
                </a:r>
                <a:endParaRPr lang="en-CA"/>
              </a:p>
            </p:txBody>
          </p:sp>
          <p:sp>
            <p:nvSpPr>
              <p:cNvPr id="45124" name="Line 22"/>
              <p:cNvSpPr>
                <a:spLocks noChangeShapeType="1"/>
              </p:cNvSpPr>
              <p:nvPr/>
            </p:nvSpPr>
            <p:spPr bwMode="auto">
              <a:xfrm>
                <a:off x="624" y="2496"/>
                <a:ext cx="28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5125" name="Text Box 23"/>
              <p:cNvSpPr txBox="1">
                <a:spLocks noChangeArrowheads="1"/>
              </p:cNvSpPr>
              <p:nvPr/>
            </p:nvSpPr>
            <p:spPr bwMode="auto">
              <a:xfrm>
                <a:off x="672" y="2208"/>
                <a:ext cx="192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9pPr>
              </a:lstStyle>
              <a:p>
                <a:pPr algn="ctr" eaLnBrk="1" hangingPunct="1">
                  <a:spcBef>
                    <a:spcPct val="50000"/>
                  </a:spcBef>
                </a:pPr>
                <a:r>
                  <a:rPr lang="en-US"/>
                  <a:t>C</a:t>
                </a:r>
                <a:endParaRPr lang="en-CA"/>
              </a:p>
            </p:txBody>
          </p:sp>
        </p:grpSp>
        <p:grpSp>
          <p:nvGrpSpPr>
            <p:cNvPr id="45069" name="Group 24"/>
            <p:cNvGrpSpPr>
              <a:grpSpLocks/>
            </p:cNvGrpSpPr>
            <p:nvPr/>
          </p:nvGrpSpPr>
          <p:grpSpPr bwMode="auto">
            <a:xfrm>
              <a:off x="2448" y="2208"/>
              <a:ext cx="768" cy="528"/>
              <a:chOff x="144" y="2208"/>
              <a:chExt cx="768" cy="528"/>
            </a:xfrm>
          </p:grpSpPr>
          <p:sp>
            <p:nvSpPr>
              <p:cNvPr id="45116" name="Oval 25"/>
              <p:cNvSpPr>
                <a:spLocks noChangeArrowheads="1"/>
              </p:cNvSpPr>
              <p:nvPr/>
            </p:nvSpPr>
            <p:spPr bwMode="auto">
              <a:xfrm>
                <a:off x="144" y="2256"/>
                <a:ext cx="480" cy="48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45117" name="Line 26"/>
              <p:cNvSpPr>
                <a:spLocks noChangeShapeType="1"/>
              </p:cNvSpPr>
              <p:nvPr/>
            </p:nvSpPr>
            <p:spPr bwMode="auto">
              <a:xfrm>
                <a:off x="384" y="2256"/>
                <a:ext cx="0" cy="48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5118" name="Text Box 27"/>
              <p:cNvSpPr txBox="1">
                <a:spLocks noChangeArrowheads="1"/>
              </p:cNvSpPr>
              <p:nvPr/>
            </p:nvSpPr>
            <p:spPr bwMode="auto">
              <a:xfrm>
                <a:off x="192" y="2352"/>
                <a:ext cx="14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9pPr>
              </a:lstStyle>
              <a:p>
                <a:pPr algn="ctr" eaLnBrk="1" hangingPunct="1">
                  <a:spcBef>
                    <a:spcPct val="50000"/>
                  </a:spcBef>
                </a:pPr>
                <a:r>
                  <a:rPr lang="en-US"/>
                  <a:t>4</a:t>
                </a:r>
                <a:endParaRPr lang="en-CA"/>
              </a:p>
            </p:txBody>
          </p:sp>
          <p:sp>
            <p:nvSpPr>
              <p:cNvPr id="45119" name="Line 28"/>
              <p:cNvSpPr>
                <a:spLocks noChangeShapeType="1"/>
              </p:cNvSpPr>
              <p:nvPr/>
            </p:nvSpPr>
            <p:spPr bwMode="auto">
              <a:xfrm>
                <a:off x="624" y="2496"/>
                <a:ext cx="28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5120" name="Text Box 29"/>
              <p:cNvSpPr txBox="1">
                <a:spLocks noChangeArrowheads="1"/>
              </p:cNvSpPr>
              <p:nvPr/>
            </p:nvSpPr>
            <p:spPr bwMode="auto">
              <a:xfrm>
                <a:off x="672" y="2208"/>
                <a:ext cx="192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9pPr>
              </a:lstStyle>
              <a:p>
                <a:pPr algn="ctr" eaLnBrk="1" hangingPunct="1">
                  <a:spcBef>
                    <a:spcPct val="50000"/>
                  </a:spcBef>
                </a:pPr>
                <a:r>
                  <a:rPr lang="en-US"/>
                  <a:t>E</a:t>
                </a:r>
                <a:endParaRPr lang="en-CA"/>
              </a:p>
            </p:txBody>
          </p:sp>
        </p:grpSp>
        <p:sp>
          <p:nvSpPr>
            <p:cNvPr id="45070" name="Line 30"/>
            <p:cNvSpPr>
              <a:spLocks noChangeShapeType="1"/>
            </p:cNvSpPr>
            <p:nvPr/>
          </p:nvSpPr>
          <p:spPr bwMode="auto">
            <a:xfrm flipV="1">
              <a:off x="2688" y="1824"/>
              <a:ext cx="720" cy="4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071" name="Oval 31"/>
            <p:cNvSpPr>
              <a:spLocks noChangeArrowheads="1"/>
            </p:cNvSpPr>
            <p:nvPr/>
          </p:nvSpPr>
          <p:spPr bwMode="auto">
            <a:xfrm>
              <a:off x="3408" y="1584"/>
              <a:ext cx="480" cy="48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5072" name="Line 32"/>
            <p:cNvSpPr>
              <a:spLocks noChangeShapeType="1"/>
            </p:cNvSpPr>
            <p:nvPr/>
          </p:nvSpPr>
          <p:spPr bwMode="auto">
            <a:xfrm>
              <a:off x="3648" y="1584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073" name="Text Box 33"/>
            <p:cNvSpPr txBox="1">
              <a:spLocks noChangeArrowheads="1"/>
            </p:cNvSpPr>
            <p:nvPr/>
          </p:nvSpPr>
          <p:spPr bwMode="auto">
            <a:xfrm>
              <a:off x="3456" y="1680"/>
              <a:ext cx="14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5</a:t>
              </a:r>
              <a:endParaRPr lang="en-CA"/>
            </a:p>
          </p:txBody>
        </p:sp>
        <p:sp>
          <p:nvSpPr>
            <p:cNvPr id="45074" name="Text Box 34"/>
            <p:cNvSpPr txBox="1">
              <a:spLocks noChangeArrowheads="1"/>
            </p:cNvSpPr>
            <p:nvPr/>
          </p:nvSpPr>
          <p:spPr bwMode="auto">
            <a:xfrm>
              <a:off x="3936" y="1536"/>
              <a:ext cx="19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endParaRPr lang="en-CA"/>
            </a:p>
          </p:txBody>
        </p:sp>
        <p:sp>
          <p:nvSpPr>
            <p:cNvPr id="45075" name="Oval 35"/>
            <p:cNvSpPr>
              <a:spLocks noChangeArrowheads="1"/>
            </p:cNvSpPr>
            <p:nvPr/>
          </p:nvSpPr>
          <p:spPr bwMode="auto">
            <a:xfrm>
              <a:off x="3216" y="2256"/>
              <a:ext cx="480" cy="48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5076" name="Line 36"/>
            <p:cNvSpPr>
              <a:spLocks noChangeShapeType="1"/>
            </p:cNvSpPr>
            <p:nvPr/>
          </p:nvSpPr>
          <p:spPr bwMode="auto">
            <a:xfrm>
              <a:off x="3456" y="2256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077" name="Text Box 37"/>
            <p:cNvSpPr txBox="1">
              <a:spLocks noChangeArrowheads="1"/>
            </p:cNvSpPr>
            <p:nvPr/>
          </p:nvSpPr>
          <p:spPr bwMode="auto">
            <a:xfrm>
              <a:off x="3264" y="2352"/>
              <a:ext cx="14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6</a:t>
              </a:r>
              <a:endParaRPr lang="en-CA"/>
            </a:p>
          </p:txBody>
        </p:sp>
        <p:sp>
          <p:nvSpPr>
            <p:cNvPr id="45078" name="Line 38"/>
            <p:cNvSpPr>
              <a:spLocks noChangeShapeType="1"/>
            </p:cNvSpPr>
            <p:nvPr/>
          </p:nvSpPr>
          <p:spPr bwMode="auto">
            <a:xfrm>
              <a:off x="2736" y="2736"/>
              <a:ext cx="72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079" name="Oval 39"/>
            <p:cNvSpPr>
              <a:spLocks noChangeArrowheads="1"/>
            </p:cNvSpPr>
            <p:nvPr/>
          </p:nvSpPr>
          <p:spPr bwMode="auto">
            <a:xfrm>
              <a:off x="3408" y="3168"/>
              <a:ext cx="480" cy="48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5080" name="Line 40"/>
            <p:cNvSpPr>
              <a:spLocks noChangeShapeType="1"/>
            </p:cNvSpPr>
            <p:nvPr/>
          </p:nvSpPr>
          <p:spPr bwMode="auto">
            <a:xfrm>
              <a:off x="3648" y="3168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081" name="Text Box 41"/>
            <p:cNvSpPr txBox="1">
              <a:spLocks noChangeArrowheads="1"/>
            </p:cNvSpPr>
            <p:nvPr/>
          </p:nvSpPr>
          <p:spPr bwMode="auto">
            <a:xfrm>
              <a:off x="3456" y="3264"/>
              <a:ext cx="14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7</a:t>
              </a:r>
              <a:endParaRPr lang="en-CA"/>
            </a:p>
          </p:txBody>
        </p:sp>
        <p:sp>
          <p:nvSpPr>
            <p:cNvPr id="45082" name="Line 42"/>
            <p:cNvSpPr>
              <a:spLocks noChangeShapeType="1"/>
            </p:cNvSpPr>
            <p:nvPr/>
          </p:nvSpPr>
          <p:spPr bwMode="auto">
            <a:xfrm>
              <a:off x="384" y="2496"/>
              <a:ext cx="24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083" name="Line 43"/>
            <p:cNvSpPr>
              <a:spLocks noChangeShapeType="1"/>
            </p:cNvSpPr>
            <p:nvPr/>
          </p:nvSpPr>
          <p:spPr bwMode="auto">
            <a:xfrm>
              <a:off x="1152" y="2496"/>
              <a:ext cx="24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084" name="Line 44"/>
            <p:cNvSpPr>
              <a:spLocks noChangeShapeType="1"/>
            </p:cNvSpPr>
            <p:nvPr/>
          </p:nvSpPr>
          <p:spPr bwMode="auto">
            <a:xfrm>
              <a:off x="1920" y="2496"/>
              <a:ext cx="24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085" name="Line 45"/>
            <p:cNvSpPr>
              <a:spLocks noChangeShapeType="1"/>
            </p:cNvSpPr>
            <p:nvPr/>
          </p:nvSpPr>
          <p:spPr bwMode="auto">
            <a:xfrm>
              <a:off x="2688" y="2496"/>
              <a:ext cx="24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086" name="Line 46"/>
            <p:cNvSpPr>
              <a:spLocks noChangeShapeType="1"/>
            </p:cNvSpPr>
            <p:nvPr/>
          </p:nvSpPr>
          <p:spPr bwMode="auto">
            <a:xfrm>
              <a:off x="3648" y="1824"/>
              <a:ext cx="24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087" name="Line 47"/>
            <p:cNvSpPr>
              <a:spLocks noChangeShapeType="1"/>
            </p:cNvSpPr>
            <p:nvPr/>
          </p:nvSpPr>
          <p:spPr bwMode="auto">
            <a:xfrm>
              <a:off x="3456" y="2496"/>
              <a:ext cx="24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088" name="Line 48"/>
            <p:cNvSpPr>
              <a:spLocks noChangeShapeType="1"/>
            </p:cNvSpPr>
            <p:nvPr/>
          </p:nvSpPr>
          <p:spPr bwMode="auto">
            <a:xfrm>
              <a:off x="3648" y="3408"/>
              <a:ext cx="24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089" name="Oval 49"/>
            <p:cNvSpPr>
              <a:spLocks noChangeArrowheads="1"/>
            </p:cNvSpPr>
            <p:nvPr/>
          </p:nvSpPr>
          <p:spPr bwMode="auto">
            <a:xfrm>
              <a:off x="4176" y="2256"/>
              <a:ext cx="480" cy="48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5090" name="Line 50"/>
            <p:cNvSpPr>
              <a:spLocks noChangeShapeType="1"/>
            </p:cNvSpPr>
            <p:nvPr/>
          </p:nvSpPr>
          <p:spPr bwMode="auto">
            <a:xfrm>
              <a:off x="4416" y="2256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091" name="Text Box 51"/>
            <p:cNvSpPr txBox="1">
              <a:spLocks noChangeArrowheads="1"/>
            </p:cNvSpPr>
            <p:nvPr/>
          </p:nvSpPr>
          <p:spPr bwMode="auto">
            <a:xfrm>
              <a:off x="4224" y="2352"/>
              <a:ext cx="14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8</a:t>
              </a:r>
              <a:endParaRPr lang="en-CA"/>
            </a:p>
          </p:txBody>
        </p:sp>
        <p:sp>
          <p:nvSpPr>
            <p:cNvPr id="45092" name="Line 52"/>
            <p:cNvSpPr>
              <a:spLocks noChangeShapeType="1"/>
            </p:cNvSpPr>
            <p:nvPr/>
          </p:nvSpPr>
          <p:spPr bwMode="auto">
            <a:xfrm>
              <a:off x="4656" y="2496"/>
              <a:ext cx="28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093" name="Text Box 53"/>
            <p:cNvSpPr txBox="1">
              <a:spLocks noChangeArrowheads="1"/>
            </p:cNvSpPr>
            <p:nvPr/>
          </p:nvSpPr>
          <p:spPr bwMode="auto">
            <a:xfrm>
              <a:off x="4704" y="2208"/>
              <a:ext cx="19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H</a:t>
              </a:r>
              <a:endParaRPr lang="en-CA"/>
            </a:p>
          </p:txBody>
        </p:sp>
        <p:sp>
          <p:nvSpPr>
            <p:cNvPr id="45094" name="Oval 54"/>
            <p:cNvSpPr>
              <a:spLocks noChangeArrowheads="1"/>
            </p:cNvSpPr>
            <p:nvPr/>
          </p:nvSpPr>
          <p:spPr bwMode="auto">
            <a:xfrm>
              <a:off x="4944" y="2256"/>
              <a:ext cx="480" cy="48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5095" name="Line 55"/>
            <p:cNvSpPr>
              <a:spLocks noChangeShapeType="1"/>
            </p:cNvSpPr>
            <p:nvPr/>
          </p:nvSpPr>
          <p:spPr bwMode="auto">
            <a:xfrm>
              <a:off x="5184" y="2256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096" name="Text Box 56"/>
            <p:cNvSpPr txBox="1">
              <a:spLocks noChangeArrowheads="1"/>
            </p:cNvSpPr>
            <p:nvPr/>
          </p:nvSpPr>
          <p:spPr bwMode="auto">
            <a:xfrm>
              <a:off x="4992" y="2352"/>
              <a:ext cx="14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9</a:t>
              </a:r>
              <a:endParaRPr lang="en-CA"/>
            </a:p>
          </p:txBody>
        </p:sp>
        <p:sp>
          <p:nvSpPr>
            <p:cNvPr id="45097" name="Oval 57"/>
            <p:cNvSpPr>
              <a:spLocks noChangeArrowheads="1"/>
            </p:cNvSpPr>
            <p:nvPr/>
          </p:nvSpPr>
          <p:spPr bwMode="auto">
            <a:xfrm>
              <a:off x="4608" y="3120"/>
              <a:ext cx="480" cy="48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5098" name="Line 58"/>
            <p:cNvSpPr>
              <a:spLocks noChangeShapeType="1"/>
            </p:cNvSpPr>
            <p:nvPr/>
          </p:nvSpPr>
          <p:spPr bwMode="auto">
            <a:xfrm>
              <a:off x="4848" y="3120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099" name="Text Box 59"/>
            <p:cNvSpPr txBox="1">
              <a:spLocks noChangeArrowheads="1"/>
            </p:cNvSpPr>
            <p:nvPr/>
          </p:nvSpPr>
          <p:spPr bwMode="auto">
            <a:xfrm>
              <a:off x="4656" y="3216"/>
              <a:ext cx="14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1</a:t>
              </a:r>
              <a:endParaRPr lang="en-CA"/>
            </a:p>
          </p:txBody>
        </p:sp>
        <p:sp>
          <p:nvSpPr>
            <p:cNvPr id="45100" name="Text Box 60"/>
            <p:cNvSpPr txBox="1">
              <a:spLocks noChangeArrowheads="1"/>
            </p:cNvSpPr>
            <p:nvPr/>
          </p:nvSpPr>
          <p:spPr bwMode="auto">
            <a:xfrm>
              <a:off x="5184" y="2880"/>
              <a:ext cx="19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J</a:t>
              </a:r>
              <a:endParaRPr lang="en-CA"/>
            </a:p>
          </p:txBody>
        </p:sp>
        <p:sp>
          <p:nvSpPr>
            <p:cNvPr id="45101" name="Text Box 61"/>
            <p:cNvSpPr txBox="1">
              <a:spLocks noChangeArrowheads="1"/>
            </p:cNvSpPr>
            <p:nvPr/>
          </p:nvSpPr>
          <p:spPr bwMode="auto">
            <a:xfrm>
              <a:off x="2832" y="2928"/>
              <a:ext cx="19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F</a:t>
              </a:r>
              <a:endParaRPr lang="en-CA"/>
            </a:p>
          </p:txBody>
        </p:sp>
        <p:sp>
          <p:nvSpPr>
            <p:cNvPr id="45102" name="Text Box 62"/>
            <p:cNvSpPr txBox="1">
              <a:spLocks noChangeArrowheads="1"/>
            </p:cNvSpPr>
            <p:nvPr/>
          </p:nvSpPr>
          <p:spPr bwMode="auto">
            <a:xfrm>
              <a:off x="2880" y="1776"/>
              <a:ext cx="19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D</a:t>
              </a:r>
              <a:endParaRPr lang="en-CA"/>
            </a:p>
          </p:txBody>
        </p:sp>
        <p:sp>
          <p:nvSpPr>
            <p:cNvPr id="45103" name="Line 63"/>
            <p:cNvSpPr>
              <a:spLocks noChangeShapeType="1"/>
            </p:cNvSpPr>
            <p:nvPr/>
          </p:nvSpPr>
          <p:spPr bwMode="auto">
            <a:xfrm>
              <a:off x="3744" y="2496"/>
              <a:ext cx="432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104" name="Line 64"/>
            <p:cNvSpPr>
              <a:spLocks noChangeShapeType="1"/>
            </p:cNvSpPr>
            <p:nvPr/>
          </p:nvSpPr>
          <p:spPr bwMode="auto">
            <a:xfrm>
              <a:off x="3936" y="1824"/>
              <a:ext cx="288" cy="48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105" name="Line 65"/>
            <p:cNvSpPr>
              <a:spLocks noChangeShapeType="1"/>
            </p:cNvSpPr>
            <p:nvPr/>
          </p:nvSpPr>
          <p:spPr bwMode="auto">
            <a:xfrm flipV="1">
              <a:off x="3936" y="2688"/>
              <a:ext cx="480" cy="72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106" name="Line 66"/>
            <p:cNvSpPr>
              <a:spLocks noChangeShapeType="1"/>
            </p:cNvSpPr>
            <p:nvPr/>
          </p:nvSpPr>
          <p:spPr bwMode="auto">
            <a:xfrm>
              <a:off x="4464" y="2736"/>
              <a:ext cx="336" cy="3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107" name="Text Box 67"/>
            <p:cNvSpPr txBox="1">
              <a:spLocks noChangeArrowheads="1"/>
            </p:cNvSpPr>
            <p:nvPr/>
          </p:nvSpPr>
          <p:spPr bwMode="auto">
            <a:xfrm>
              <a:off x="4656" y="2784"/>
              <a:ext cx="19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I</a:t>
              </a:r>
              <a:endParaRPr lang="en-CA"/>
            </a:p>
          </p:txBody>
        </p:sp>
        <p:sp>
          <p:nvSpPr>
            <p:cNvPr id="45108" name="Line 68"/>
            <p:cNvSpPr>
              <a:spLocks noChangeShapeType="1"/>
            </p:cNvSpPr>
            <p:nvPr/>
          </p:nvSpPr>
          <p:spPr bwMode="auto">
            <a:xfrm flipV="1">
              <a:off x="4896" y="2736"/>
              <a:ext cx="288" cy="3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109" name="Line 69"/>
            <p:cNvSpPr>
              <a:spLocks noChangeShapeType="1"/>
            </p:cNvSpPr>
            <p:nvPr/>
          </p:nvSpPr>
          <p:spPr bwMode="auto">
            <a:xfrm>
              <a:off x="2688" y="2736"/>
              <a:ext cx="0" cy="11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110" name="Line 70"/>
            <p:cNvSpPr>
              <a:spLocks noChangeShapeType="1"/>
            </p:cNvSpPr>
            <p:nvPr/>
          </p:nvSpPr>
          <p:spPr bwMode="auto">
            <a:xfrm>
              <a:off x="2688" y="3840"/>
              <a:ext cx="158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111" name="Line 71"/>
            <p:cNvSpPr>
              <a:spLocks noChangeShapeType="1"/>
            </p:cNvSpPr>
            <p:nvPr/>
          </p:nvSpPr>
          <p:spPr bwMode="auto">
            <a:xfrm flipV="1">
              <a:off x="4272" y="2736"/>
              <a:ext cx="144" cy="11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112" name="Text Box 72"/>
            <p:cNvSpPr txBox="1">
              <a:spLocks noChangeArrowheads="1"/>
            </p:cNvSpPr>
            <p:nvPr/>
          </p:nvSpPr>
          <p:spPr bwMode="auto">
            <a:xfrm>
              <a:off x="2880" y="3504"/>
              <a:ext cx="19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G</a:t>
              </a:r>
              <a:endParaRPr lang="en-CA"/>
            </a:p>
          </p:txBody>
        </p:sp>
        <p:sp>
          <p:nvSpPr>
            <p:cNvPr id="45113" name="Line 73"/>
            <p:cNvSpPr>
              <a:spLocks noChangeShapeType="1"/>
            </p:cNvSpPr>
            <p:nvPr/>
          </p:nvSpPr>
          <p:spPr bwMode="auto">
            <a:xfrm>
              <a:off x="4416" y="2496"/>
              <a:ext cx="24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114" name="Line 74"/>
            <p:cNvSpPr>
              <a:spLocks noChangeShapeType="1"/>
            </p:cNvSpPr>
            <p:nvPr/>
          </p:nvSpPr>
          <p:spPr bwMode="auto">
            <a:xfrm>
              <a:off x="4848" y="3360"/>
              <a:ext cx="24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115" name="Line 75"/>
            <p:cNvSpPr>
              <a:spLocks noChangeShapeType="1"/>
            </p:cNvSpPr>
            <p:nvPr/>
          </p:nvSpPr>
          <p:spPr bwMode="auto">
            <a:xfrm>
              <a:off x="5184" y="2496"/>
              <a:ext cx="24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45064" name="Text Box 76"/>
          <p:cNvSpPr txBox="1">
            <a:spLocks noChangeArrowheads="1"/>
          </p:cNvSpPr>
          <p:nvPr/>
        </p:nvSpPr>
        <p:spPr bwMode="auto">
          <a:xfrm>
            <a:off x="2819400" y="5638801"/>
            <a:ext cx="55626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sz="2000"/>
              <a:t>Note: dummy tasks connecting events 5, 6 and 7 to 8</a:t>
            </a:r>
          </a:p>
        </p:txBody>
      </p:sp>
    </p:spTree>
    <p:extLst>
      <p:ext uri="{BB962C8B-B14F-4D97-AF65-F5344CB8AC3E}">
        <p14:creationId xmlns:p14="http://schemas.microsoft.com/office/powerpoint/2010/main" val="36628284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5" name="Rectangle 2"/>
          <p:cNvSpPr>
            <a:spLocks noGrp="1" noChangeArrowheads="1"/>
          </p:cNvSpPr>
          <p:nvPr>
            <p:ph type="title"/>
          </p:nvPr>
        </p:nvSpPr>
        <p:spPr>
          <a:xfrm>
            <a:off x="1905000" y="228601"/>
            <a:ext cx="8229600" cy="549275"/>
          </a:xfrm>
        </p:spPr>
        <p:txBody>
          <a:bodyPr>
            <a:normAutofit fontScale="90000"/>
          </a:bodyPr>
          <a:lstStyle/>
          <a:p>
            <a:r>
              <a:rPr lang="en-US"/>
              <a:t>Estimating Durations</a:t>
            </a:r>
            <a:endParaRPr lang="en-CA"/>
          </a:p>
        </p:txBody>
      </p:sp>
      <p:sp>
        <p:nvSpPr>
          <p:cNvPr id="4608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514600" y="1066800"/>
            <a:ext cx="7848600" cy="4800600"/>
          </a:xfrm>
        </p:spPr>
        <p:txBody>
          <a:bodyPr/>
          <a:lstStyle/>
          <a:p>
            <a:r>
              <a:rPr lang="en-US" sz="1600"/>
              <a:t>Suggestions for estimating durations of tasks:</a:t>
            </a:r>
          </a:p>
          <a:p>
            <a:pPr marL="742950" lvl="1" indent="-285750"/>
            <a:r>
              <a:rPr lang="en-US" sz="1800"/>
              <a:t>Don’t just make up a number</a:t>
            </a:r>
          </a:p>
          <a:p>
            <a:pPr marL="742950" lvl="1" indent="-285750"/>
            <a:r>
              <a:rPr lang="en-US" sz="1800"/>
              <a:t>Look at previous similar tasks from other projects and use those as guidelines</a:t>
            </a:r>
          </a:p>
          <a:p>
            <a:pPr marL="742950" lvl="1" indent="-285750"/>
            <a:r>
              <a:rPr lang="en-US" sz="1800"/>
              <a:t>Try to identify factors such as difficulty, skill level</a:t>
            </a:r>
          </a:p>
          <a:p>
            <a:pPr lvl="2"/>
            <a:r>
              <a:rPr lang="en-US"/>
              <a:t>Each weighting factor will help you make a better estimate</a:t>
            </a:r>
          </a:p>
          <a:p>
            <a:pPr lvl="2">
              <a:buNone/>
            </a:pPr>
            <a:endParaRPr lang="en-US"/>
          </a:p>
          <a:p>
            <a:r>
              <a:rPr lang="en-US" sz="1600"/>
              <a:t>Factors to consider:</a:t>
            </a:r>
          </a:p>
          <a:p>
            <a:pPr marL="742950" lvl="1" indent="-285750"/>
            <a:r>
              <a:rPr lang="en-US" sz="1800"/>
              <a:t>Difficulty of task</a:t>
            </a:r>
          </a:p>
          <a:p>
            <a:pPr marL="742950" lvl="1" indent="-285750"/>
            <a:r>
              <a:rPr lang="en-US" sz="1800"/>
              <a:t>Size of team</a:t>
            </a:r>
          </a:p>
          <a:p>
            <a:pPr marL="742950" lvl="1" indent="-285750"/>
            <a:r>
              <a:rPr lang="en-US" sz="1800"/>
              <a:t>Experience of team</a:t>
            </a:r>
          </a:p>
          <a:p>
            <a:pPr marL="742950" lvl="1" indent="-285750"/>
            <a:r>
              <a:rPr lang="en-US" sz="1800"/>
              <a:t>Number, attitude and availability of end users</a:t>
            </a:r>
          </a:p>
          <a:p>
            <a:pPr marL="742950" lvl="1" indent="-285750"/>
            <a:r>
              <a:rPr lang="en-US" sz="1800"/>
              <a:t>Management commitment</a:t>
            </a:r>
          </a:p>
          <a:p>
            <a:pPr marL="742950" lvl="1" indent="-285750"/>
            <a:r>
              <a:rPr lang="en-US" sz="1800"/>
              <a:t>Other projects in progress</a:t>
            </a:r>
            <a:endParaRPr lang="en-CA" sz="1800"/>
          </a:p>
        </p:txBody>
      </p:sp>
    </p:spTree>
    <p:extLst>
      <p:ext uri="{BB962C8B-B14F-4D97-AF65-F5344CB8AC3E}">
        <p14:creationId xmlns:p14="http://schemas.microsoft.com/office/powerpoint/2010/main" val="2774771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9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152400"/>
            <a:ext cx="7772400" cy="762000"/>
          </a:xfrm>
        </p:spPr>
        <p:txBody>
          <a:bodyPr/>
          <a:lstStyle/>
          <a:p>
            <a:r>
              <a:rPr lang="en-US"/>
              <a:t>PERT Chart With Durations</a:t>
            </a:r>
            <a:endParaRPr lang="en-CA"/>
          </a:p>
        </p:txBody>
      </p:sp>
      <p:grpSp>
        <p:nvGrpSpPr>
          <p:cNvPr id="47110" name="Group 3"/>
          <p:cNvGrpSpPr>
            <a:grpSpLocks/>
          </p:cNvGrpSpPr>
          <p:nvPr/>
        </p:nvGrpSpPr>
        <p:grpSpPr bwMode="auto">
          <a:xfrm>
            <a:off x="2133600" y="762000"/>
            <a:ext cx="8763000" cy="4033838"/>
            <a:chOff x="144" y="1536"/>
            <a:chExt cx="5520" cy="2541"/>
          </a:xfrm>
        </p:grpSpPr>
        <p:sp>
          <p:nvSpPr>
            <p:cNvPr id="47112" name="Line 4"/>
            <p:cNvSpPr>
              <a:spLocks noChangeShapeType="1"/>
            </p:cNvSpPr>
            <p:nvPr/>
          </p:nvSpPr>
          <p:spPr bwMode="auto">
            <a:xfrm>
              <a:off x="384" y="2496"/>
              <a:ext cx="24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47113" name="Group 5"/>
            <p:cNvGrpSpPr>
              <a:grpSpLocks/>
            </p:cNvGrpSpPr>
            <p:nvPr/>
          </p:nvGrpSpPr>
          <p:grpSpPr bwMode="auto">
            <a:xfrm>
              <a:off x="144" y="2208"/>
              <a:ext cx="768" cy="528"/>
              <a:chOff x="144" y="2208"/>
              <a:chExt cx="768" cy="528"/>
            </a:xfrm>
          </p:grpSpPr>
          <p:sp>
            <p:nvSpPr>
              <p:cNvPr id="47189" name="Oval 6"/>
              <p:cNvSpPr>
                <a:spLocks noChangeArrowheads="1"/>
              </p:cNvSpPr>
              <p:nvPr/>
            </p:nvSpPr>
            <p:spPr bwMode="auto">
              <a:xfrm>
                <a:off x="144" y="2256"/>
                <a:ext cx="480" cy="48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47190" name="Line 7"/>
              <p:cNvSpPr>
                <a:spLocks noChangeShapeType="1"/>
              </p:cNvSpPr>
              <p:nvPr/>
            </p:nvSpPr>
            <p:spPr bwMode="auto">
              <a:xfrm>
                <a:off x="384" y="2256"/>
                <a:ext cx="0" cy="48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7191" name="Text Box 8"/>
              <p:cNvSpPr txBox="1">
                <a:spLocks noChangeArrowheads="1"/>
              </p:cNvSpPr>
              <p:nvPr/>
            </p:nvSpPr>
            <p:spPr bwMode="auto">
              <a:xfrm>
                <a:off x="192" y="2352"/>
                <a:ext cx="14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9pPr>
              </a:lstStyle>
              <a:p>
                <a:pPr algn="ctr" eaLnBrk="1" hangingPunct="1">
                  <a:spcBef>
                    <a:spcPct val="50000"/>
                  </a:spcBef>
                </a:pPr>
                <a:r>
                  <a:rPr lang="en-US"/>
                  <a:t>1</a:t>
                </a:r>
                <a:endParaRPr lang="en-CA"/>
              </a:p>
            </p:txBody>
          </p:sp>
          <p:sp>
            <p:nvSpPr>
              <p:cNvPr id="47192" name="Line 9"/>
              <p:cNvSpPr>
                <a:spLocks noChangeShapeType="1"/>
              </p:cNvSpPr>
              <p:nvPr/>
            </p:nvSpPr>
            <p:spPr bwMode="auto">
              <a:xfrm>
                <a:off x="624" y="2496"/>
                <a:ext cx="28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7193" name="Text Box 10"/>
              <p:cNvSpPr txBox="1">
                <a:spLocks noChangeArrowheads="1"/>
              </p:cNvSpPr>
              <p:nvPr/>
            </p:nvSpPr>
            <p:spPr bwMode="auto">
              <a:xfrm>
                <a:off x="672" y="2208"/>
                <a:ext cx="192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9pPr>
              </a:lstStyle>
              <a:p>
                <a:pPr algn="ctr" eaLnBrk="1" hangingPunct="1">
                  <a:spcBef>
                    <a:spcPct val="50000"/>
                  </a:spcBef>
                </a:pPr>
                <a:r>
                  <a:rPr lang="en-US"/>
                  <a:t>A</a:t>
                </a:r>
                <a:endParaRPr lang="en-CA"/>
              </a:p>
            </p:txBody>
          </p:sp>
        </p:grpSp>
        <p:grpSp>
          <p:nvGrpSpPr>
            <p:cNvPr id="47114" name="Group 11"/>
            <p:cNvGrpSpPr>
              <a:grpSpLocks/>
            </p:cNvGrpSpPr>
            <p:nvPr/>
          </p:nvGrpSpPr>
          <p:grpSpPr bwMode="auto">
            <a:xfrm>
              <a:off x="912" y="2208"/>
              <a:ext cx="768" cy="528"/>
              <a:chOff x="144" y="2208"/>
              <a:chExt cx="768" cy="528"/>
            </a:xfrm>
          </p:grpSpPr>
          <p:sp>
            <p:nvSpPr>
              <p:cNvPr id="47184" name="Oval 12"/>
              <p:cNvSpPr>
                <a:spLocks noChangeArrowheads="1"/>
              </p:cNvSpPr>
              <p:nvPr/>
            </p:nvSpPr>
            <p:spPr bwMode="auto">
              <a:xfrm>
                <a:off x="144" y="2256"/>
                <a:ext cx="480" cy="48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47185" name="Line 13"/>
              <p:cNvSpPr>
                <a:spLocks noChangeShapeType="1"/>
              </p:cNvSpPr>
              <p:nvPr/>
            </p:nvSpPr>
            <p:spPr bwMode="auto">
              <a:xfrm>
                <a:off x="384" y="2256"/>
                <a:ext cx="0" cy="48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7186" name="Text Box 14"/>
              <p:cNvSpPr txBox="1">
                <a:spLocks noChangeArrowheads="1"/>
              </p:cNvSpPr>
              <p:nvPr/>
            </p:nvSpPr>
            <p:spPr bwMode="auto">
              <a:xfrm>
                <a:off x="192" y="2352"/>
                <a:ext cx="14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9pPr>
              </a:lstStyle>
              <a:p>
                <a:pPr algn="ctr" eaLnBrk="1" hangingPunct="1">
                  <a:spcBef>
                    <a:spcPct val="50000"/>
                  </a:spcBef>
                </a:pPr>
                <a:r>
                  <a:rPr lang="en-US"/>
                  <a:t>2</a:t>
                </a:r>
                <a:endParaRPr lang="en-CA"/>
              </a:p>
            </p:txBody>
          </p:sp>
          <p:sp>
            <p:nvSpPr>
              <p:cNvPr id="47187" name="Line 15"/>
              <p:cNvSpPr>
                <a:spLocks noChangeShapeType="1"/>
              </p:cNvSpPr>
              <p:nvPr/>
            </p:nvSpPr>
            <p:spPr bwMode="auto">
              <a:xfrm>
                <a:off x="624" y="2496"/>
                <a:ext cx="28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7188" name="Text Box 16"/>
              <p:cNvSpPr txBox="1">
                <a:spLocks noChangeArrowheads="1"/>
              </p:cNvSpPr>
              <p:nvPr/>
            </p:nvSpPr>
            <p:spPr bwMode="auto">
              <a:xfrm>
                <a:off x="672" y="2208"/>
                <a:ext cx="192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9pPr>
              </a:lstStyle>
              <a:p>
                <a:pPr algn="ctr" eaLnBrk="1" hangingPunct="1">
                  <a:spcBef>
                    <a:spcPct val="50000"/>
                  </a:spcBef>
                </a:pPr>
                <a:r>
                  <a:rPr lang="en-US"/>
                  <a:t>B</a:t>
                </a:r>
                <a:endParaRPr lang="en-CA"/>
              </a:p>
            </p:txBody>
          </p:sp>
        </p:grpSp>
        <p:grpSp>
          <p:nvGrpSpPr>
            <p:cNvPr id="47115" name="Group 17"/>
            <p:cNvGrpSpPr>
              <a:grpSpLocks/>
            </p:cNvGrpSpPr>
            <p:nvPr/>
          </p:nvGrpSpPr>
          <p:grpSpPr bwMode="auto">
            <a:xfrm>
              <a:off x="1680" y="2208"/>
              <a:ext cx="768" cy="528"/>
              <a:chOff x="144" y="2208"/>
              <a:chExt cx="768" cy="528"/>
            </a:xfrm>
          </p:grpSpPr>
          <p:sp>
            <p:nvSpPr>
              <p:cNvPr id="47179" name="Oval 18"/>
              <p:cNvSpPr>
                <a:spLocks noChangeArrowheads="1"/>
              </p:cNvSpPr>
              <p:nvPr/>
            </p:nvSpPr>
            <p:spPr bwMode="auto">
              <a:xfrm>
                <a:off x="144" y="2256"/>
                <a:ext cx="480" cy="48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47180" name="Line 19"/>
              <p:cNvSpPr>
                <a:spLocks noChangeShapeType="1"/>
              </p:cNvSpPr>
              <p:nvPr/>
            </p:nvSpPr>
            <p:spPr bwMode="auto">
              <a:xfrm>
                <a:off x="384" y="2256"/>
                <a:ext cx="0" cy="48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7181" name="Text Box 20"/>
              <p:cNvSpPr txBox="1">
                <a:spLocks noChangeArrowheads="1"/>
              </p:cNvSpPr>
              <p:nvPr/>
            </p:nvSpPr>
            <p:spPr bwMode="auto">
              <a:xfrm>
                <a:off x="192" y="2352"/>
                <a:ext cx="14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9pPr>
              </a:lstStyle>
              <a:p>
                <a:pPr algn="ctr" eaLnBrk="1" hangingPunct="1">
                  <a:spcBef>
                    <a:spcPct val="50000"/>
                  </a:spcBef>
                </a:pPr>
                <a:r>
                  <a:rPr lang="en-US"/>
                  <a:t>3</a:t>
                </a:r>
                <a:endParaRPr lang="en-CA"/>
              </a:p>
            </p:txBody>
          </p:sp>
          <p:sp>
            <p:nvSpPr>
              <p:cNvPr id="47182" name="Line 21"/>
              <p:cNvSpPr>
                <a:spLocks noChangeShapeType="1"/>
              </p:cNvSpPr>
              <p:nvPr/>
            </p:nvSpPr>
            <p:spPr bwMode="auto">
              <a:xfrm>
                <a:off x="624" y="2496"/>
                <a:ext cx="28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7183" name="Text Box 22"/>
              <p:cNvSpPr txBox="1">
                <a:spLocks noChangeArrowheads="1"/>
              </p:cNvSpPr>
              <p:nvPr/>
            </p:nvSpPr>
            <p:spPr bwMode="auto">
              <a:xfrm>
                <a:off x="672" y="2208"/>
                <a:ext cx="192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9pPr>
              </a:lstStyle>
              <a:p>
                <a:pPr algn="ctr" eaLnBrk="1" hangingPunct="1">
                  <a:spcBef>
                    <a:spcPct val="50000"/>
                  </a:spcBef>
                </a:pPr>
                <a:r>
                  <a:rPr lang="en-US"/>
                  <a:t>C</a:t>
                </a:r>
                <a:endParaRPr lang="en-CA"/>
              </a:p>
            </p:txBody>
          </p:sp>
        </p:grpSp>
        <p:grpSp>
          <p:nvGrpSpPr>
            <p:cNvPr id="47116" name="Group 23"/>
            <p:cNvGrpSpPr>
              <a:grpSpLocks/>
            </p:cNvGrpSpPr>
            <p:nvPr/>
          </p:nvGrpSpPr>
          <p:grpSpPr bwMode="auto">
            <a:xfrm>
              <a:off x="2448" y="2208"/>
              <a:ext cx="768" cy="528"/>
              <a:chOff x="144" y="2208"/>
              <a:chExt cx="768" cy="528"/>
            </a:xfrm>
          </p:grpSpPr>
          <p:sp>
            <p:nvSpPr>
              <p:cNvPr id="47174" name="Oval 24"/>
              <p:cNvSpPr>
                <a:spLocks noChangeArrowheads="1"/>
              </p:cNvSpPr>
              <p:nvPr/>
            </p:nvSpPr>
            <p:spPr bwMode="auto">
              <a:xfrm>
                <a:off x="144" y="2256"/>
                <a:ext cx="480" cy="48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47175" name="Line 25"/>
              <p:cNvSpPr>
                <a:spLocks noChangeShapeType="1"/>
              </p:cNvSpPr>
              <p:nvPr/>
            </p:nvSpPr>
            <p:spPr bwMode="auto">
              <a:xfrm>
                <a:off x="384" y="2256"/>
                <a:ext cx="0" cy="48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7176" name="Text Box 26"/>
              <p:cNvSpPr txBox="1">
                <a:spLocks noChangeArrowheads="1"/>
              </p:cNvSpPr>
              <p:nvPr/>
            </p:nvSpPr>
            <p:spPr bwMode="auto">
              <a:xfrm>
                <a:off x="192" y="2352"/>
                <a:ext cx="14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9pPr>
              </a:lstStyle>
              <a:p>
                <a:pPr algn="ctr" eaLnBrk="1" hangingPunct="1">
                  <a:spcBef>
                    <a:spcPct val="50000"/>
                  </a:spcBef>
                </a:pPr>
                <a:r>
                  <a:rPr lang="en-US"/>
                  <a:t>4</a:t>
                </a:r>
                <a:endParaRPr lang="en-CA"/>
              </a:p>
            </p:txBody>
          </p:sp>
          <p:sp>
            <p:nvSpPr>
              <p:cNvPr id="47177" name="Line 27"/>
              <p:cNvSpPr>
                <a:spLocks noChangeShapeType="1"/>
              </p:cNvSpPr>
              <p:nvPr/>
            </p:nvSpPr>
            <p:spPr bwMode="auto">
              <a:xfrm>
                <a:off x="624" y="2496"/>
                <a:ext cx="28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7178" name="Text Box 28"/>
              <p:cNvSpPr txBox="1">
                <a:spLocks noChangeArrowheads="1"/>
              </p:cNvSpPr>
              <p:nvPr/>
            </p:nvSpPr>
            <p:spPr bwMode="auto">
              <a:xfrm>
                <a:off x="672" y="2208"/>
                <a:ext cx="192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itchFamily="18" charset="0"/>
                  </a:defRPr>
                </a:lvl9pPr>
              </a:lstStyle>
              <a:p>
                <a:pPr algn="ctr" eaLnBrk="1" hangingPunct="1">
                  <a:spcBef>
                    <a:spcPct val="50000"/>
                  </a:spcBef>
                </a:pPr>
                <a:r>
                  <a:rPr lang="en-US"/>
                  <a:t>E</a:t>
                </a:r>
                <a:endParaRPr lang="en-CA"/>
              </a:p>
            </p:txBody>
          </p:sp>
        </p:grpSp>
        <p:sp>
          <p:nvSpPr>
            <p:cNvPr id="47117" name="Line 29"/>
            <p:cNvSpPr>
              <a:spLocks noChangeShapeType="1"/>
            </p:cNvSpPr>
            <p:nvPr/>
          </p:nvSpPr>
          <p:spPr bwMode="auto">
            <a:xfrm flipV="1">
              <a:off x="2688" y="1824"/>
              <a:ext cx="720" cy="4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118" name="Oval 30"/>
            <p:cNvSpPr>
              <a:spLocks noChangeArrowheads="1"/>
            </p:cNvSpPr>
            <p:nvPr/>
          </p:nvSpPr>
          <p:spPr bwMode="auto">
            <a:xfrm>
              <a:off x="3408" y="1584"/>
              <a:ext cx="480" cy="48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7119" name="Line 31"/>
            <p:cNvSpPr>
              <a:spLocks noChangeShapeType="1"/>
            </p:cNvSpPr>
            <p:nvPr/>
          </p:nvSpPr>
          <p:spPr bwMode="auto">
            <a:xfrm>
              <a:off x="3648" y="1584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120" name="Text Box 32"/>
            <p:cNvSpPr txBox="1">
              <a:spLocks noChangeArrowheads="1"/>
            </p:cNvSpPr>
            <p:nvPr/>
          </p:nvSpPr>
          <p:spPr bwMode="auto">
            <a:xfrm>
              <a:off x="3456" y="1680"/>
              <a:ext cx="14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5</a:t>
              </a:r>
              <a:endParaRPr lang="en-CA"/>
            </a:p>
          </p:txBody>
        </p:sp>
        <p:sp>
          <p:nvSpPr>
            <p:cNvPr id="47121" name="Text Box 33"/>
            <p:cNvSpPr txBox="1">
              <a:spLocks noChangeArrowheads="1"/>
            </p:cNvSpPr>
            <p:nvPr/>
          </p:nvSpPr>
          <p:spPr bwMode="auto">
            <a:xfrm>
              <a:off x="3936" y="1536"/>
              <a:ext cx="19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endParaRPr lang="en-CA"/>
            </a:p>
          </p:txBody>
        </p:sp>
        <p:sp>
          <p:nvSpPr>
            <p:cNvPr id="47122" name="Oval 34"/>
            <p:cNvSpPr>
              <a:spLocks noChangeArrowheads="1"/>
            </p:cNvSpPr>
            <p:nvPr/>
          </p:nvSpPr>
          <p:spPr bwMode="auto">
            <a:xfrm>
              <a:off x="3216" y="2256"/>
              <a:ext cx="480" cy="48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7123" name="Line 35"/>
            <p:cNvSpPr>
              <a:spLocks noChangeShapeType="1"/>
            </p:cNvSpPr>
            <p:nvPr/>
          </p:nvSpPr>
          <p:spPr bwMode="auto">
            <a:xfrm>
              <a:off x="3456" y="2256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124" name="Text Box 36"/>
            <p:cNvSpPr txBox="1">
              <a:spLocks noChangeArrowheads="1"/>
            </p:cNvSpPr>
            <p:nvPr/>
          </p:nvSpPr>
          <p:spPr bwMode="auto">
            <a:xfrm>
              <a:off x="3264" y="2352"/>
              <a:ext cx="14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6</a:t>
              </a:r>
              <a:endParaRPr lang="en-CA"/>
            </a:p>
          </p:txBody>
        </p:sp>
        <p:sp>
          <p:nvSpPr>
            <p:cNvPr id="47125" name="Line 37"/>
            <p:cNvSpPr>
              <a:spLocks noChangeShapeType="1"/>
            </p:cNvSpPr>
            <p:nvPr/>
          </p:nvSpPr>
          <p:spPr bwMode="auto">
            <a:xfrm>
              <a:off x="2736" y="2736"/>
              <a:ext cx="72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126" name="Oval 38"/>
            <p:cNvSpPr>
              <a:spLocks noChangeArrowheads="1"/>
            </p:cNvSpPr>
            <p:nvPr/>
          </p:nvSpPr>
          <p:spPr bwMode="auto">
            <a:xfrm>
              <a:off x="3408" y="3168"/>
              <a:ext cx="480" cy="48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7127" name="Line 39"/>
            <p:cNvSpPr>
              <a:spLocks noChangeShapeType="1"/>
            </p:cNvSpPr>
            <p:nvPr/>
          </p:nvSpPr>
          <p:spPr bwMode="auto">
            <a:xfrm>
              <a:off x="3648" y="3168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128" name="Text Box 40"/>
            <p:cNvSpPr txBox="1">
              <a:spLocks noChangeArrowheads="1"/>
            </p:cNvSpPr>
            <p:nvPr/>
          </p:nvSpPr>
          <p:spPr bwMode="auto">
            <a:xfrm>
              <a:off x="3456" y="3264"/>
              <a:ext cx="14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7</a:t>
              </a:r>
              <a:endParaRPr lang="en-CA"/>
            </a:p>
          </p:txBody>
        </p:sp>
        <p:sp>
          <p:nvSpPr>
            <p:cNvPr id="47129" name="Line 41"/>
            <p:cNvSpPr>
              <a:spLocks noChangeShapeType="1"/>
            </p:cNvSpPr>
            <p:nvPr/>
          </p:nvSpPr>
          <p:spPr bwMode="auto">
            <a:xfrm>
              <a:off x="384" y="2496"/>
              <a:ext cx="24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130" name="Line 42"/>
            <p:cNvSpPr>
              <a:spLocks noChangeShapeType="1"/>
            </p:cNvSpPr>
            <p:nvPr/>
          </p:nvSpPr>
          <p:spPr bwMode="auto">
            <a:xfrm>
              <a:off x="1152" y="2496"/>
              <a:ext cx="24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131" name="Line 43"/>
            <p:cNvSpPr>
              <a:spLocks noChangeShapeType="1"/>
            </p:cNvSpPr>
            <p:nvPr/>
          </p:nvSpPr>
          <p:spPr bwMode="auto">
            <a:xfrm>
              <a:off x="1920" y="2496"/>
              <a:ext cx="24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132" name="Line 44"/>
            <p:cNvSpPr>
              <a:spLocks noChangeShapeType="1"/>
            </p:cNvSpPr>
            <p:nvPr/>
          </p:nvSpPr>
          <p:spPr bwMode="auto">
            <a:xfrm>
              <a:off x="2688" y="2496"/>
              <a:ext cx="24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133" name="Line 45"/>
            <p:cNvSpPr>
              <a:spLocks noChangeShapeType="1"/>
            </p:cNvSpPr>
            <p:nvPr/>
          </p:nvSpPr>
          <p:spPr bwMode="auto">
            <a:xfrm>
              <a:off x="3648" y="1824"/>
              <a:ext cx="24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134" name="Line 46"/>
            <p:cNvSpPr>
              <a:spLocks noChangeShapeType="1"/>
            </p:cNvSpPr>
            <p:nvPr/>
          </p:nvSpPr>
          <p:spPr bwMode="auto">
            <a:xfrm>
              <a:off x="3456" y="2496"/>
              <a:ext cx="24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135" name="Line 47"/>
            <p:cNvSpPr>
              <a:spLocks noChangeShapeType="1"/>
            </p:cNvSpPr>
            <p:nvPr/>
          </p:nvSpPr>
          <p:spPr bwMode="auto">
            <a:xfrm>
              <a:off x="3648" y="3408"/>
              <a:ext cx="24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136" name="Oval 48"/>
            <p:cNvSpPr>
              <a:spLocks noChangeArrowheads="1"/>
            </p:cNvSpPr>
            <p:nvPr/>
          </p:nvSpPr>
          <p:spPr bwMode="auto">
            <a:xfrm>
              <a:off x="4176" y="2256"/>
              <a:ext cx="480" cy="48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7137" name="Line 49"/>
            <p:cNvSpPr>
              <a:spLocks noChangeShapeType="1"/>
            </p:cNvSpPr>
            <p:nvPr/>
          </p:nvSpPr>
          <p:spPr bwMode="auto">
            <a:xfrm>
              <a:off x="4416" y="2256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138" name="Text Box 50"/>
            <p:cNvSpPr txBox="1">
              <a:spLocks noChangeArrowheads="1"/>
            </p:cNvSpPr>
            <p:nvPr/>
          </p:nvSpPr>
          <p:spPr bwMode="auto">
            <a:xfrm>
              <a:off x="4224" y="2352"/>
              <a:ext cx="14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8</a:t>
              </a:r>
              <a:endParaRPr lang="en-CA"/>
            </a:p>
          </p:txBody>
        </p:sp>
        <p:sp>
          <p:nvSpPr>
            <p:cNvPr id="47139" name="Line 51"/>
            <p:cNvSpPr>
              <a:spLocks noChangeShapeType="1"/>
            </p:cNvSpPr>
            <p:nvPr/>
          </p:nvSpPr>
          <p:spPr bwMode="auto">
            <a:xfrm>
              <a:off x="4656" y="2496"/>
              <a:ext cx="28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140" name="Text Box 52"/>
            <p:cNvSpPr txBox="1">
              <a:spLocks noChangeArrowheads="1"/>
            </p:cNvSpPr>
            <p:nvPr/>
          </p:nvSpPr>
          <p:spPr bwMode="auto">
            <a:xfrm>
              <a:off x="4686" y="2253"/>
              <a:ext cx="19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H</a:t>
              </a:r>
              <a:endParaRPr lang="en-CA"/>
            </a:p>
          </p:txBody>
        </p:sp>
        <p:sp>
          <p:nvSpPr>
            <p:cNvPr id="47141" name="Oval 53"/>
            <p:cNvSpPr>
              <a:spLocks noChangeArrowheads="1"/>
            </p:cNvSpPr>
            <p:nvPr/>
          </p:nvSpPr>
          <p:spPr bwMode="auto">
            <a:xfrm>
              <a:off x="4944" y="2256"/>
              <a:ext cx="480" cy="48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7142" name="Line 54"/>
            <p:cNvSpPr>
              <a:spLocks noChangeShapeType="1"/>
            </p:cNvSpPr>
            <p:nvPr/>
          </p:nvSpPr>
          <p:spPr bwMode="auto">
            <a:xfrm>
              <a:off x="5184" y="2256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143" name="Text Box 55"/>
            <p:cNvSpPr txBox="1">
              <a:spLocks noChangeArrowheads="1"/>
            </p:cNvSpPr>
            <p:nvPr/>
          </p:nvSpPr>
          <p:spPr bwMode="auto">
            <a:xfrm>
              <a:off x="4992" y="2352"/>
              <a:ext cx="14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9</a:t>
              </a:r>
              <a:endParaRPr lang="en-CA"/>
            </a:p>
          </p:txBody>
        </p:sp>
        <p:sp>
          <p:nvSpPr>
            <p:cNvPr id="47144" name="Text Box 56"/>
            <p:cNvSpPr txBox="1">
              <a:spLocks noChangeArrowheads="1"/>
            </p:cNvSpPr>
            <p:nvPr/>
          </p:nvSpPr>
          <p:spPr bwMode="auto">
            <a:xfrm>
              <a:off x="5472" y="2208"/>
              <a:ext cx="19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endParaRPr lang="en-CA"/>
            </a:p>
          </p:txBody>
        </p:sp>
        <p:sp>
          <p:nvSpPr>
            <p:cNvPr id="47145" name="Oval 57"/>
            <p:cNvSpPr>
              <a:spLocks noChangeArrowheads="1"/>
            </p:cNvSpPr>
            <p:nvPr/>
          </p:nvSpPr>
          <p:spPr bwMode="auto">
            <a:xfrm>
              <a:off x="4608" y="3120"/>
              <a:ext cx="480" cy="48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7146" name="Line 58"/>
            <p:cNvSpPr>
              <a:spLocks noChangeShapeType="1"/>
            </p:cNvSpPr>
            <p:nvPr/>
          </p:nvSpPr>
          <p:spPr bwMode="auto">
            <a:xfrm>
              <a:off x="4848" y="3120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147" name="Text Box 59"/>
            <p:cNvSpPr txBox="1">
              <a:spLocks noChangeArrowheads="1"/>
            </p:cNvSpPr>
            <p:nvPr/>
          </p:nvSpPr>
          <p:spPr bwMode="auto">
            <a:xfrm>
              <a:off x="4656" y="3216"/>
              <a:ext cx="14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1</a:t>
              </a:r>
              <a:endParaRPr lang="en-CA"/>
            </a:p>
          </p:txBody>
        </p:sp>
        <p:sp>
          <p:nvSpPr>
            <p:cNvPr id="47148" name="Text Box 60"/>
            <p:cNvSpPr txBox="1">
              <a:spLocks noChangeArrowheads="1"/>
            </p:cNvSpPr>
            <p:nvPr/>
          </p:nvSpPr>
          <p:spPr bwMode="auto">
            <a:xfrm>
              <a:off x="4896" y="2736"/>
              <a:ext cx="19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J</a:t>
              </a:r>
              <a:endParaRPr lang="en-CA"/>
            </a:p>
          </p:txBody>
        </p:sp>
        <p:sp>
          <p:nvSpPr>
            <p:cNvPr id="47149" name="Text Box 61"/>
            <p:cNvSpPr txBox="1">
              <a:spLocks noChangeArrowheads="1"/>
            </p:cNvSpPr>
            <p:nvPr/>
          </p:nvSpPr>
          <p:spPr bwMode="auto">
            <a:xfrm>
              <a:off x="3021" y="2757"/>
              <a:ext cx="19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F</a:t>
              </a:r>
              <a:endParaRPr lang="en-CA"/>
            </a:p>
          </p:txBody>
        </p:sp>
        <p:sp>
          <p:nvSpPr>
            <p:cNvPr id="47150" name="Text Box 62"/>
            <p:cNvSpPr txBox="1">
              <a:spLocks noChangeArrowheads="1"/>
            </p:cNvSpPr>
            <p:nvPr/>
          </p:nvSpPr>
          <p:spPr bwMode="auto">
            <a:xfrm>
              <a:off x="2916" y="1776"/>
              <a:ext cx="19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D</a:t>
              </a:r>
              <a:endParaRPr lang="en-CA"/>
            </a:p>
          </p:txBody>
        </p:sp>
        <p:sp>
          <p:nvSpPr>
            <p:cNvPr id="47151" name="Line 63"/>
            <p:cNvSpPr>
              <a:spLocks noChangeShapeType="1"/>
            </p:cNvSpPr>
            <p:nvPr/>
          </p:nvSpPr>
          <p:spPr bwMode="auto">
            <a:xfrm>
              <a:off x="3744" y="2496"/>
              <a:ext cx="432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152" name="Line 64"/>
            <p:cNvSpPr>
              <a:spLocks noChangeShapeType="1"/>
            </p:cNvSpPr>
            <p:nvPr/>
          </p:nvSpPr>
          <p:spPr bwMode="auto">
            <a:xfrm>
              <a:off x="3936" y="1824"/>
              <a:ext cx="288" cy="48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153" name="Line 65"/>
            <p:cNvSpPr>
              <a:spLocks noChangeShapeType="1"/>
            </p:cNvSpPr>
            <p:nvPr/>
          </p:nvSpPr>
          <p:spPr bwMode="auto">
            <a:xfrm flipV="1">
              <a:off x="3936" y="2688"/>
              <a:ext cx="480" cy="72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154" name="Line 66"/>
            <p:cNvSpPr>
              <a:spLocks noChangeShapeType="1"/>
            </p:cNvSpPr>
            <p:nvPr/>
          </p:nvSpPr>
          <p:spPr bwMode="auto">
            <a:xfrm>
              <a:off x="4464" y="2736"/>
              <a:ext cx="336" cy="3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155" name="Text Box 67"/>
            <p:cNvSpPr txBox="1">
              <a:spLocks noChangeArrowheads="1"/>
            </p:cNvSpPr>
            <p:nvPr/>
          </p:nvSpPr>
          <p:spPr bwMode="auto">
            <a:xfrm>
              <a:off x="4620" y="2766"/>
              <a:ext cx="19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I</a:t>
              </a:r>
              <a:endParaRPr lang="en-CA"/>
            </a:p>
          </p:txBody>
        </p:sp>
        <p:sp>
          <p:nvSpPr>
            <p:cNvPr id="47156" name="Line 68"/>
            <p:cNvSpPr>
              <a:spLocks noChangeShapeType="1"/>
            </p:cNvSpPr>
            <p:nvPr/>
          </p:nvSpPr>
          <p:spPr bwMode="auto">
            <a:xfrm flipV="1">
              <a:off x="4896" y="2736"/>
              <a:ext cx="288" cy="3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157" name="Line 69"/>
            <p:cNvSpPr>
              <a:spLocks noChangeShapeType="1"/>
            </p:cNvSpPr>
            <p:nvPr/>
          </p:nvSpPr>
          <p:spPr bwMode="auto">
            <a:xfrm>
              <a:off x="2688" y="2736"/>
              <a:ext cx="0" cy="11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158" name="Line 70"/>
            <p:cNvSpPr>
              <a:spLocks noChangeShapeType="1"/>
            </p:cNvSpPr>
            <p:nvPr/>
          </p:nvSpPr>
          <p:spPr bwMode="auto">
            <a:xfrm>
              <a:off x="2688" y="3840"/>
              <a:ext cx="158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159" name="Line 71"/>
            <p:cNvSpPr>
              <a:spLocks noChangeShapeType="1"/>
            </p:cNvSpPr>
            <p:nvPr/>
          </p:nvSpPr>
          <p:spPr bwMode="auto">
            <a:xfrm flipV="1">
              <a:off x="4260" y="2736"/>
              <a:ext cx="192" cy="11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160" name="Text Box 72"/>
            <p:cNvSpPr txBox="1">
              <a:spLocks noChangeArrowheads="1"/>
            </p:cNvSpPr>
            <p:nvPr/>
          </p:nvSpPr>
          <p:spPr bwMode="auto">
            <a:xfrm>
              <a:off x="2880" y="3585"/>
              <a:ext cx="19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G</a:t>
              </a:r>
              <a:endParaRPr lang="en-CA"/>
            </a:p>
          </p:txBody>
        </p:sp>
        <p:sp>
          <p:nvSpPr>
            <p:cNvPr id="47161" name="Line 73"/>
            <p:cNvSpPr>
              <a:spLocks noChangeShapeType="1"/>
            </p:cNvSpPr>
            <p:nvPr/>
          </p:nvSpPr>
          <p:spPr bwMode="auto">
            <a:xfrm>
              <a:off x="4416" y="2496"/>
              <a:ext cx="24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162" name="Line 74"/>
            <p:cNvSpPr>
              <a:spLocks noChangeShapeType="1"/>
            </p:cNvSpPr>
            <p:nvPr/>
          </p:nvSpPr>
          <p:spPr bwMode="auto">
            <a:xfrm>
              <a:off x="4848" y="3360"/>
              <a:ext cx="24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163" name="Line 75"/>
            <p:cNvSpPr>
              <a:spLocks noChangeShapeType="1"/>
            </p:cNvSpPr>
            <p:nvPr/>
          </p:nvSpPr>
          <p:spPr bwMode="auto">
            <a:xfrm>
              <a:off x="5184" y="2496"/>
              <a:ext cx="24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164" name="Text Box 76"/>
            <p:cNvSpPr txBox="1">
              <a:spLocks noChangeArrowheads="1"/>
            </p:cNvSpPr>
            <p:nvPr/>
          </p:nvSpPr>
          <p:spPr bwMode="auto">
            <a:xfrm>
              <a:off x="672" y="2487"/>
              <a:ext cx="19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3</a:t>
              </a:r>
              <a:endParaRPr lang="en-CA"/>
            </a:p>
          </p:txBody>
        </p:sp>
        <p:sp>
          <p:nvSpPr>
            <p:cNvPr id="47165" name="Text Box 77"/>
            <p:cNvSpPr txBox="1">
              <a:spLocks noChangeArrowheads="1"/>
            </p:cNvSpPr>
            <p:nvPr/>
          </p:nvSpPr>
          <p:spPr bwMode="auto">
            <a:xfrm>
              <a:off x="1440" y="2508"/>
              <a:ext cx="19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2</a:t>
              </a:r>
              <a:endParaRPr lang="en-CA"/>
            </a:p>
          </p:txBody>
        </p:sp>
        <p:sp>
          <p:nvSpPr>
            <p:cNvPr id="47166" name="Text Box 78"/>
            <p:cNvSpPr txBox="1">
              <a:spLocks noChangeArrowheads="1"/>
            </p:cNvSpPr>
            <p:nvPr/>
          </p:nvSpPr>
          <p:spPr bwMode="auto">
            <a:xfrm>
              <a:off x="2208" y="2496"/>
              <a:ext cx="19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2</a:t>
              </a:r>
              <a:endParaRPr lang="en-CA"/>
            </a:p>
          </p:txBody>
        </p:sp>
        <p:sp>
          <p:nvSpPr>
            <p:cNvPr id="47167" name="Text Box 79"/>
            <p:cNvSpPr txBox="1">
              <a:spLocks noChangeArrowheads="1"/>
            </p:cNvSpPr>
            <p:nvPr/>
          </p:nvSpPr>
          <p:spPr bwMode="auto">
            <a:xfrm>
              <a:off x="3066" y="1920"/>
              <a:ext cx="19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7</a:t>
              </a:r>
              <a:endParaRPr lang="en-CA"/>
            </a:p>
          </p:txBody>
        </p:sp>
        <p:sp>
          <p:nvSpPr>
            <p:cNvPr id="47168" name="Text Box 80"/>
            <p:cNvSpPr txBox="1">
              <a:spLocks noChangeArrowheads="1"/>
            </p:cNvSpPr>
            <p:nvPr/>
          </p:nvSpPr>
          <p:spPr bwMode="auto">
            <a:xfrm>
              <a:off x="2928" y="3789"/>
              <a:ext cx="19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2</a:t>
              </a:r>
              <a:endParaRPr lang="en-CA"/>
            </a:p>
          </p:txBody>
        </p:sp>
        <p:sp>
          <p:nvSpPr>
            <p:cNvPr id="47169" name="Text Box 81"/>
            <p:cNvSpPr txBox="1">
              <a:spLocks noChangeArrowheads="1"/>
            </p:cNvSpPr>
            <p:nvPr/>
          </p:nvSpPr>
          <p:spPr bwMode="auto">
            <a:xfrm>
              <a:off x="2958" y="2949"/>
              <a:ext cx="19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3</a:t>
              </a:r>
              <a:endParaRPr lang="en-CA"/>
            </a:p>
          </p:txBody>
        </p:sp>
        <p:sp>
          <p:nvSpPr>
            <p:cNvPr id="47170" name="Text Box 82"/>
            <p:cNvSpPr txBox="1">
              <a:spLocks noChangeArrowheads="1"/>
            </p:cNvSpPr>
            <p:nvPr/>
          </p:nvSpPr>
          <p:spPr bwMode="auto">
            <a:xfrm>
              <a:off x="2961" y="2442"/>
              <a:ext cx="19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6</a:t>
              </a:r>
              <a:endParaRPr lang="en-CA"/>
            </a:p>
          </p:txBody>
        </p:sp>
        <p:sp>
          <p:nvSpPr>
            <p:cNvPr id="47171" name="Text Box 83"/>
            <p:cNvSpPr txBox="1">
              <a:spLocks noChangeArrowheads="1"/>
            </p:cNvSpPr>
            <p:nvPr/>
          </p:nvSpPr>
          <p:spPr bwMode="auto">
            <a:xfrm>
              <a:off x="4509" y="2856"/>
              <a:ext cx="19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2</a:t>
              </a:r>
              <a:endParaRPr lang="en-CA"/>
            </a:p>
          </p:txBody>
        </p:sp>
        <p:sp>
          <p:nvSpPr>
            <p:cNvPr id="47172" name="Text Box 84"/>
            <p:cNvSpPr txBox="1">
              <a:spLocks noChangeArrowheads="1"/>
            </p:cNvSpPr>
            <p:nvPr/>
          </p:nvSpPr>
          <p:spPr bwMode="auto">
            <a:xfrm>
              <a:off x="4992" y="2865"/>
              <a:ext cx="19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1</a:t>
              </a:r>
              <a:endParaRPr lang="en-CA"/>
            </a:p>
          </p:txBody>
        </p:sp>
        <p:sp>
          <p:nvSpPr>
            <p:cNvPr id="47173" name="Text Box 85"/>
            <p:cNvSpPr txBox="1">
              <a:spLocks noChangeArrowheads="1"/>
            </p:cNvSpPr>
            <p:nvPr/>
          </p:nvSpPr>
          <p:spPr bwMode="auto">
            <a:xfrm>
              <a:off x="4704" y="2433"/>
              <a:ext cx="19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/>
                <a:t>5</a:t>
              </a:r>
              <a:endParaRPr lang="en-CA"/>
            </a:p>
          </p:txBody>
        </p:sp>
      </p:grpSp>
      <p:sp>
        <p:nvSpPr>
          <p:cNvPr id="47111" name="Text Box 86"/>
          <p:cNvSpPr txBox="1">
            <a:spLocks noChangeArrowheads="1"/>
          </p:cNvSpPr>
          <p:nvPr/>
        </p:nvSpPr>
        <p:spPr bwMode="auto">
          <a:xfrm>
            <a:off x="2895600" y="4648201"/>
            <a:ext cx="7620000" cy="131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Char char="•"/>
            </a:pPr>
            <a:r>
              <a:rPr lang="en-US" sz="2000"/>
              <a:t>Say we have estimated durations of all tasks (in days)</a:t>
            </a:r>
          </a:p>
          <a:p>
            <a:pPr eaLnBrk="1" hangingPunct="1">
              <a:spcBef>
                <a:spcPct val="50000"/>
              </a:spcBef>
              <a:buFontTx/>
              <a:buChar char="•"/>
            </a:pPr>
            <a:r>
              <a:rPr lang="en-US" sz="2000"/>
              <a:t>New PERT chart, with durations filled in:</a:t>
            </a:r>
          </a:p>
          <a:p>
            <a:pPr eaLnBrk="1" hangingPunct="1">
              <a:spcBef>
                <a:spcPct val="50000"/>
              </a:spcBef>
              <a:buFontTx/>
              <a:buChar char="•"/>
            </a:pPr>
            <a:r>
              <a:rPr lang="en-US" sz="2000"/>
              <a:t>Note, dummy tasks (dashed lines) always have a duration of zero</a:t>
            </a:r>
          </a:p>
        </p:txBody>
      </p:sp>
    </p:spTree>
    <p:extLst>
      <p:ext uri="{BB962C8B-B14F-4D97-AF65-F5344CB8AC3E}">
        <p14:creationId xmlns:p14="http://schemas.microsoft.com/office/powerpoint/2010/main" val="3432303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3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0"/>
            <a:ext cx="7772400" cy="533400"/>
          </a:xfrm>
        </p:spPr>
        <p:txBody>
          <a:bodyPr>
            <a:normAutofit fontScale="90000"/>
          </a:bodyPr>
          <a:lstStyle/>
          <a:p>
            <a:r>
              <a:rPr lang="en-US"/>
              <a:t>Calculating ECTs</a:t>
            </a:r>
            <a:endParaRPr lang="en-CA"/>
          </a:p>
        </p:txBody>
      </p:sp>
      <p:sp>
        <p:nvSpPr>
          <p:cNvPr id="4813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362200" y="381000"/>
            <a:ext cx="7772400" cy="3352800"/>
          </a:xfrm>
        </p:spPr>
        <p:txBody>
          <a:bodyPr/>
          <a:lstStyle/>
          <a:p>
            <a:r>
              <a:rPr lang="en-US" sz="1800"/>
              <a:t>ECT = earliest time event can be completed</a:t>
            </a:r>
          </a:p>
          <a:p>
            <a:r>
              <a:rPr lang="en-US" sz="1800"/>
              <a:t>To calculate:</a:t>
            </a:r>
          </a:p>
          <a:p>
            <a:pPr marL="742950" lvl="1" indent="-285750"/>
            <a:r>
              <a:rPr lang="en-US" sz="1800"/>
              <a:t>For an event not depending on others:  ECT = 0</a:t>
            </a:r>
          </a:p>
          <a:p>
            <a:pPr lvl="2"/>
            <a:r>
              <a:rPr lang="en-US" sz="1800"/>
              <a:t>Usually this is the first event</a:t>
            </a:r>
          </a:p>
          <a:p>
            <a:pPr marL="742950" lvl="1" indent="-285750"/>
            <a:r>
              <a:rPr lang="en-US" sz="1800"/>
              <a:t>For an event E depending on one or more others:</a:t>
            </a:r>
          </a:p>
          <a:p>
            <a:pPr lvl="2"/>
            <a:r>
              <a:rPr lang="en-US" sz="1800"/>
              <a:t>Calculate ECTs of event(s) that E depends on</a:t>
            </a:r>
          </a:p>
          <a:p>
            <a:pPr lvl="2"/>
            <a:r>
              <a:rPr lang="en-US" sz="1800"/>
              <a:t>Add duration(s) of task(s) leading to E</a:t>
            </a:r>
          </a:p>
          <a:p>
            <a:pPr lvl="2"/>
            <a:r>
              <a:rPr lang="en-US" sz="1800"/>
              <a:t>If E depends on more than one event, take MAX</a:t>
            </a:r>
          </a:p>
          <a:p>
            <a:r>
              <a:rPr lang="en-US" sz="1800"/>
              <a:t>Proceed left to right ( </a:t>
            </a:r>
            <a:r>
              <a:rPr lang="en-US" sz="1800">
                <a:sym typeface="Wingdings" pitchFamily="2" charset="2"/>
              </a:rPr>
              <a:t> )</a:t>
            </a:r>
            <a:r>
              <a:rPr lang="en-US" sz="1800"/>
              <a:t> through the chart</a:t>
            </a:r>
          </a:p>
          <a:p>
            <a:r>
              <a:rPr lang="en-US" sz="1800"/>
              <a:t>Exercise:  calculate the ECT for our example.	</a:t>
            </a:r>
            <a:endParaRPr lang="en-CA" sz="1800"/>
          </a:p>
        </p:txBody>
      </p:sp>
      <p:pic>
        <p:nvPicPr>
          <p:cNvPr id="48135" name="Picture 87"/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3581401"/>
            <a:ext cx="5867400" cy="2633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192431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7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0"/>
            <a:ext cx="7772400" cy="533400"/>
          </a:xfrm>
        </p:spPr>
        <p:txBody>
          <a:bodyPr>
            <a:normAutofit fontScale="90000"/>
          </a:bodyPr>
          <a:lstStyle/>
          <a:p>
            <a:r>
              <a:rPr lang="en-US"/>
              <a:t>Calculating LCT</a:t>
            </a:r>
            <a:endParaRPr lang="en-CA"/>
          </a:p>
        </p:txBody>
      </p:sp>
      <p:sp>
        <p:nvSpPr>
          <p:cNvPr id="4915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438400" y="457200"/>
            <a:ext cx="8229600" cy="3733800"/>
          </a:xfrm>
        </p:spPr>
        <p:txBody>
          <a:bodyPr/>
          <a:lstStyle/>
          <a:p>
            <a:r>
              <a:rPr lang="en-US" sz="1800"/>
              <a:t>LCT = latest time event can be completed, while still finishing last ask at indicated time</a:t>
            </a:r>
          </a:p>
          <a:p>
            <a:r>
              <a:rPr lang="en-US" sz="1800"/>
              <a:t>To calculate:</a:t>
            </a:r>
          </a:p>
          <a:p>
            <a:pPr marL="742950" lvl="1" indent="-285750"/>
            <a:r>
              <a:rPr lang="en-US" sz="1800"/>
              <a:t>For an event which no other events depend on:  LCT = ECT</a:t>
            </a:r>
          </a:p>
          <a:p>
            <a:pPr lvl="2"/>
            <a:r>
              <a:rPr lang="en-US" sz="1800"/>
              <a:t>Generally there will only be one such event</a:t>
            </a:r>
          </a:p>
          <a:p>
            <a:pPr marL="742950" lvl="1" indent="-285750"/>
            <a:r>
              <a:rPr lang="en-US" sz="1800"/>
              <a:t>For an event E which one or more others depend on:</a:t>
            </a:r>
          </a:p>
          <a:p>
            <a:pPr lvl="2"/>
            <a:r>
              <a:rPr lang="en-US" sz="1800"/>
              <a:t>Calculate LCTs of event(s) that depend on E</a:t>
            </a:r>
          </a:p>
          <a:p>
            <a:pPr lvl="2"/>
            <a:r>
              <a:rPr lang="en-US" sz="1800"/>
              <a:t>Subtract duration(s) of task(s) leading from E</a:t>
            </a:r>
          </a:p>
          <a:p>
            <a:pPr lvl="2"/>
            <a:r>
              <a:rPr lang="en-US" sz="1800"/>
              <a:t>If more than one event depends on E, take MINIMUM</a:t>
            </a:r>
          </a:p>
          <a:p>
            <a:r>
              <a:rPr lang="en-US" sz="1800"/>
              <a:t>Proceed right to left ( </a:t>
            </a:r>
            <a:r>
              <a:rPr lang="en-US" sz="1800">
                <a:sym typeface="Wingdings" pitchFamily="2" charset="2"/>
              </a:rPr>
              <a:t> )</a:t>
            </a:r>
            <a:r>
              <a:rPr lang="en-US" sz="1800"/>
              <a:t> through PERT chart</a:t>
            </a:r>
          </a:p>
          <a:p>
            <a:r>
              <a:rPr lang="en-US" sz="1800"/>
              <a:t>Exercise:  calculate LCT for our example</a:t>
            </a:r>
            <a:endParaRPr lang="en-CA" sz="1800"/>
          </a:p>
        </p:txBody>
      </p:sp>
      <p:pic>
        <p:nvPicPr>
          <p:cNvPr id="49159" name="Picture 87"/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4200" y="3311526"/>
            <a:ext cx="7010400" cy="3171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228584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81" name="Rectangle 2"/>
          <p:cNvSpPr>
            <a:spLocks noGrp="1" noChangeArrowheads="1"/>
          </p:cNvSpPr>
          <p:nvPr>
            <p:ph type="title"/>
          </p:nvPr>
        </p:nvSpPr>
        <p:spPr>
          <a:xfrm>
            <a:off x="1905000" y="228600"/>
            <a:ext cx="8229600" cy="609600"/>
          </a:xfrm>
        </p:spPr>
        <p:txBody>
          <a:bodyPr>
            <a:normAutofit fontScale="90000"/>
          </a:bodyPr>
          <a:lstStyle/>
          <a:p>
            <a:r>
              <a:rPr lang="en-US"/>
              <a:t>Critical Path</a:t>
            </a:r>
          </a:p>
        </p:txBody>
      </p:sp>
      <p:sp>
        <p:nvSpPr>
          <p:cNvPr id="50182" name="Text Box 86"/>
          <p:cNvSpPr txBox="1">
            <a:spLocks noChangeArrowheads="1"/>
          </p:cNvSpPr>
          <p:nvPr/>
        </p:nvSpPr>
        <p:spPr bwMode="auto">
          <a:xfrm>
            <a:off x="2667000" y="4267201"/>
            <a:ext cx="4572000" cy="854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sz="2000"/>
              <a:t>Red line is the critical path</a:t>
            </a:r>
          </a:p>
          <a:p>
            <a:pPr eaLnBrk="1" hangingPunct="1">
              <a:spcBef>
                <a:spcPct val="50000"/>
              </a:spcBef>
            </a:pPr>
            <a:r>
              <a:rPr lang="en-US" sz="2000"/>
              <a:t>What does it represent?</a:t>
            </a:r>
          </a:p>
        </p:txBody>
      </p:sp>
      <p:sp>
        <p:nvSpPr>
          <p:cNvPr id="50183" name="Freeform 87"/>
          <p:cNvSpPr>
            <a:spLocks/>
          </p:cNvSpPr>
          <p:nvPr/>
        </p:nvSpPr>
        <p:spPr bwMode="auto">
          <a:xfrm>
            <a:off x="2438400" y="2209800"/>
            <a:ext cx="4121150" cy="831850"/>
          </a:xfrm>
          <a:custGeom>
            <a:avLst/>
            <a:gdLst>
              <a:gd name="T0" fmla="*/ 0 w 2596"/>
              <a:gd name="T1" fmla="*/ 2147483647 h 524"/>
              <a:gd name="T2" fmla="*/ 2147483647 w 2596"/>
              <a:gd name="T3" fmla="*/ 2147483647 h 524"/>
              <a:gd name="T4" fmla="*/ 2147483647 w 2596"/>
              <a:gd name="T5" fmla="*/ 2147483647 h 524"/>
              <a:gd name="T6" fmla="*/ 2147483647 w 2596"/>
              <a:gd name="T7" fmla="*/ 2147483647 h 524"/>
              <a:gd name="T8" fmla="*/ 2147483647 w 2596"/>
              <a:gd name="T9" fmla="*/ 2147483647 h 524"/>
              <a:gd name="T10" fmla="*/ 2147483647 w 2596"/>
              <a:gd name="T11" fmla="*/ 2147483647 h 524"/>
              <a:gd name="T12" fmla="*/ 2147483647 w 2596"/>
              <a:gd name="T13" fmla="*/ 2147483647 h 524"/>
              <a:gd name="T14" fmla="*/ 2147483647 w 2596"/>
              <a:gd name="T15" fmla="*/ 2147483647 h 524"/>
              <a:gd name="T16" fmla="*/ 2147483647 w 2596"/>
              <a:gd name="T17" fmla="*/ 2147483647 h 524"/>
              <a:gd name="T18" fmla="*/ 2147483647 w 2596"/>
              <a:gd name="T19" fmla="*/ 2147483647 h 524"/>
              <a:gd name="T20" fmla="*/ 2147483647 w 2596"/>
              <a:gd name="T21" fmla="*/ 2147483647 h 524"/>
              <a:gd name="T22" fmla="*/ 2147483647 w 2596"/>
              <a:gd name="T23" fmla="*/ 2147483647 h 524"/>
              <a:gd name="T24" fmla="*/ 2147483647 w 2596"/>
              <a:gd name="T25" fmla="*/ 2147483647 h 524"/>
              <a:gd name="T26" fmla="*/ 2147483647 w 2596"/>
              <a:gd name="T27" fmla="*/ 2147483647 h 524"/>
              <a:gd name="T28" fmla="*/ 2147483647 w 2596"/>
              <a:gd name="T29" fmla="*/ 2147483647 h 524"/>
              <a:gd name="T30" fmla="*/ 2147483647 w 2596"/>
              <a:gd name="T31" fmla="*/ 0 h 524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2596"/>
              <a:gd name="T49" fmla="*/ 0 h 524"/>
              <a:gd name="T50" fmla="*/ 2596 w 2596"/>
              <a:gd name="T51" fmla="*/ 524 h 524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2596" h="524">
                <a:moveTo>
                  <a:pt x="0" y="498"/>
                </a:moveTo>
                <a:cubicBezTo>
                  <a:pt x="70" y="476"/>
                  <a:pt x="144" y="491"/>
                  <a:pt x="215" y="472"/>
                </a:cubicBezTo>
                <a:cubicBezTo>
                  <a:pt x="297" y="480"/>
                  <a:pt x="362" y="497"/>
                  <a:pt x="438" y="524"/>
                </a:cubicBezTo>
                <a:cubicBezTo>
                  <a:pt x="702" y="507"/>
                  <a:pt x="957" y="516"/>
                  <a:pt x="1221" y="524"/>
                </a:cubicBezTo>
                <a:cubicBezTo>
                  <a:pt x="1476" y="516"/>
                  <a:pt x="1732" y="518"/>
                  <a:pt x="1986" y="498"/>
                </a:cubicBezTo>
                <a:cubicBezTo>
                  <a:pt x="2026" y="490"/>
                  <a:pt x="2062" y="484"/>
                  <a:pt x="2098" y="464"/>
                </a:cubicBezTo>
                <a:cubicBezTo>
                  <a:pt x="2125" y="449"/>
                  <a:pt x="2136" y="431"/>
                  <a:pt x="2166" y="421"/>
                </a:cubicBezTo>
                <a:cubicBezTo>
                  <a:pt x="2214" y="373"/>
                  <a:pt x="2264" y="330"/>
                  <a:pt x="2313" y="283"/>
                </a:cubicBezTo>
                <a:cubicBezTo>
                  <a:pt x="2328" y="269"/>
                  <a:pt x="2340" y="251"/>
                  <a:pt x="2347" y="232"/>
                </a:cubicBezTo>
                <a:cubicBezTo>
                  <a:pt x="2350" y="223"/>
                  <a:pt x="2350" y="213"/>
                  <a:pt x="2356" y="206"/>
                </a:cubicBezTo>
                <a:cubicBezTo>
                  <a:pt x="2367" y="192"/>
                  <a:pt x="2386" y="184"/>
                  <a:pt x="2399" y="171"/>
                </a:cubicBezTo>
                <a:cubicBezTo>
                  <a:pt x="2415" y="120"/>
                  <a:pt x="2436" y="134"/>
                  <a:pt x="2476" y="94"/>
                </a:cubicBezTo>
                <a:cubicBezTo>
                  <a:pt x="2485" y="85"/>
                  <a:pt x="2492" y="76"/>
                  <a:pt x="2502" y="68"/>
                </a:cubicBezTo>
                <a:cubicBezTo>
                  <a:pt x="2518" y="55"/>
                  <a:pt x="2538" y="48"/>
                  <a:pt x="2553" y="34"/>
                </a:cubicBezTo>
                <a:cubicBezTo>
                  <a:pt x="2559" y="28"/>
                  <a:pt x="2565" y="22"/>
                  <a:pt x="2571" y="17"/>
                </a:cubicBezTo>
                <a:cubicBezTo>
                  <a:pt x="2579" y="11"/>
                  <a:pt x="2596" y="0"/>
                  <a:pt x="2596" y="0"/>
                </a:cubicBezTo>
              </a:path>
            </a:pathLst>
          </a:cu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50184" name="Freeform 88"/>
          <p:cNvSpPr>
            <a:spLocks/>
          </p:cNvSpPr>
          <p:nvPr/>
        </p:nvSpPr>
        <p:spPr bwMode="auto">
          <a:xfrm>
            <a:off x="6573838" y="1951039"/>
            <a:ext cx="2755900" cy="928687"/>
          </a:xfrm>
          <a:custGeom>
            <a:avLst/>
            <a:gdLst>
              <a:gd name="T0" fmla="*/ 0 w 1736"/>
              <a:gd name="T1" fmla="*/ 2147483647 h 585"/>
              <a:gd name="T2" fmla="*/ 2147483647 w 1736"/>
              <a:gd name="T3" fmla="*/ 2147483647 h 585"/>
              <a:gd name="T4" fmla="*/ 2147483647 w 1736"/>
              <a:gd name="T5" fmla="*/ 2147483647 h 585"/>
              <a:gd name="T6" fmla="*/ 2147483647 w 1736"/>
              <a:gd name="T7" fmla="*/ 2147483647 h 585"/>
              <a:gd name="T8" fmla="*/ 2147483647 w 1736"/>
              <a:gd name="T9" fmla="*/ 0 h 585"/>
              <a:gd name="T10" fmla="*/ 2147483647 w 1736"/>
              <a:gd name="T11" fmla="*/ 2147483647 h 585"/>
              <a:gd name="T12" fmla="*/ 2147483647 w 1736"/>
              <a:gd name="T13" fmla="*/ 2147483647 h 585"/>
              <a:gd name="T14" fmla="*/ 2147483647 w 1736"/>
              <a:gd name="T15" fmla="*/ 2147483647 h 585"/>
              <a:gd name="T16" fmla="*/ 2147483647 w 1736"/>
              <a:gd name="T17" fmla="*/ 2147483647 h 585"/>
              <a:gd name="T18" fmla="*/ 2147483647 w 1736"/>
              <a:gd name="T19" fmla="*/ 2147483647 h 585"/>
              <a:gd name="T20" fmla="*/ 2147483647 w 1736"/>
              <a:gd name="T21" fmla="*/ 2147483647 h 585"/>
              <a:gd name="T22" fmla="*/ 2147483647 w 1736"/>
              <a:gd name="T23" fmla="*/ 2147483647 h 585"/>
              <a:gd name="T24" fmla="*/ 2147483647 w 1736"/>
              <a:gd name="T25" fmla="*/ 2147483647 h 585"/>
              <a:gd name="T26" fmla="*/ 2147483647 w 1736"/>
              <a:gd name="T27" fmla="*/ 2147483647 h 585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w 1736"/>
              <a:gd name="T43" fmla="*/ 0 h 585"/>
              <a:gd name="T44" fmla="*/ 1736 w 1736"/>
              <a:gd name="T45" fmla="*/ 585 h 585"/>
            </a:gdLst>
            <a:ahLst/>
            <a:cxnLst>
              <a:cxn ang="T28">
                <a:pos x="T0" y="T1"/>
              </a:cxn>
              <a:cxn ang="T29">
                <a:pos x="T2" y="T3"/>
              </a:cxn>
              <a:cxn ang="T30">
                <a:pos x="T4" y="T5"/>
              </a:cxn>
              <a:cxn ang="T31">
                <a:pos x="T6" y="T7"/>
              </a:cxn>
              <a:cxn ang="T32">
                <a:pos x="T8" y="T9"/>
              </a:cxn>
              <a:cxn ang="T33">
                <a:pos x="T10" y="T11"/>
              </a:cxn>
              <a:cxn ang="T34">
                <a:pos x="T12" y="T13"/>
              </a:cxn>
              <a:cxn ang="T35">
                <a:pos x="T14" y="T15"/>
              </a:cxn>
              <a:cxn ang="T36">
                <a:pos x="T16" y="T17"/>
              </a:cxn>
              <a:cxn ang="T37">
                <a:pos x="T18" y="T19"/>
              </a:cxn>
              <a:cxn ang="T38">
                <a:pos x="T20" y="T21"/>
              </a:cxn>
              <a:cxn ang="T39">
                <a:pos x="T22" y="T23"/>
              </a:cxn>
              <a:cxn ang="T40">
                <a:pos x="T24" y="T25"/>
              </a:cxn>
              <a:cxn ang="T41">
                <a:pos x="T26" y="T27"/>
              </a:cxn>
            </a:cxnLst>
            <a:rect l="T42" t="T43" r="T44" b="T45"/>
            <a:pathLst>
              <a:path w="1736" h="585">
                <a:moveTo>
                  <a:pt x="0" y="155"/>
                </a:moveTo>
                <a:cubicBezTo>
                  <a:pt x="23" y="140"/>
                  <a:pt x="46" y="125"/>
                  <a:pt x="69" y="112"/>
                </a:cubicBezTo>
                <a:cubicBezTo>
                  <a:pt x="77" y="107"/>
                  <a:pt x="124" y="97"/>
                  <a:pt x="129" y="95"/>
                </a:cubicBezTo>
                <a:cubicBezTo>
                  <a:pt x="226" y="58"/>
                  <a:pt x="109" y="97"/>
                  <a:pt x="189" y="61"/>
                </a:cubicBezTo>
                <a:cubicBezTo>
                  <a:pt x="256" y="31"/>
                  <a:pt x="333" y="15"/>
                  <a:pt x="404" y="0"/>
                </a:cubicBezTo>
                <a:cubicBezTo>
                  <a:pt x="485" y="6"/>
                  <a:pt x="525" y="5"/>
                  <a:pt x="593" y="26"/>
                </a:cubicBezTo>
                <a:cubicBezTo>
                  <a:pt x="635" y="54"/>
                  <a:pt x="653" y="94"/>
                  <a:pt x="688" y="129"/>
                </a:cubicBezTo>
                <a:cubicBezTo>
                  <a:pt x="707" y="148"/>
                  <a:pt x="734" y="166"/>
                  <a:pt x="756" y="181"/>
                </a:cubicBezTo>
                <a:cubicBezTo>
                  <a:pt x="773" y="206"/>
                  <a:pt x="800" y="224"/>
                  <a:pt x="817" y="250"/>
                </a:cubicBezTo>
                <a:cubicBezTo>
                  <a:pt x="857" y="310"/>
                  <a:pt x="840" y="284"/>
                  <a:pt x="868" y="327"/>
                </a:cubicBezTo>
                <a:cubicBezTo>
                  <a:pt x="888" y="358"/>
                  <a:pt x="894" y="394"/>
                  <a:pt x="920" y="422"/>
                </a:cubicBezTo>
                <a:cubicBezTo>
                  <a:pt x="939" y="480"/>
                  <a:pt x="947" y="500"/>
                  <a:pt x="980" y="551"/>
                </a:cubicBezTo>
                <a:cubicBezTo>
                  <a:pt x="991" y="568"/>
                  <a:pt x="1032" y="585"/>
                  <a:pt x="1032" y="585"/>
                </a:cubicBezTo>
                <a:cubicBezTo>
                  <a:pt x="1266" y="572"/>
                  <a:pt x="1501" y="585"/>
                  <a:pt x="1736" y="585"/>
                </a:cubicBezTo>
              </a:path>
            </a:pathLst>
          </a:cu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pic>
        <p:nvPicPr>
          <p:cNvPr id="50185" name="Picture 89"/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1" y="1143001"/>
            <a:ext cx="8105775" cy="3667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766713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5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0"/>
            <a:ext cx="7772400" cy="381000"/>
          </a:xfrm>
        </p:spPr>
        <p:txBody>
          <a:bodyPr>
            <a:normAutofit fontScale="90000"/>
          </a:bodyPr>
          <a:lstStyle/>
          <a:p>
            <a:r>
              <a:rPr lang="en-US"/>
              <a:t>Uses of PERT Charts</a:t>
            </a:r>
            <a:endParaRPr lang="en-CA"/>
          </a:p>
        </p:txBody>
      </p:sp>
      <p:sp>
        <p:nvSpPr>
          <p:cNvPr id="5120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333625" y="333375"/>
            <a:ext cx="8458200" cy="6477000"/>
          </a:xfrm>
        </p:spPr>
        <p:txBody>
          <a:bodyPr/>
          <a:lstStyle/>
          <a:p>
            <a:r>
              <a:rPr lang="en-US" sz="1800"/>
              <a:t>We can use PERT charts for:</a:t>
            </a:r>
          </a:p>
          <a:p>
            <a:pPr marL="742950" lvl="1" indent="-285750"/>
            <a:r>
              <a:rPr lang="en-US" sz="1800"/>
              <a:t>Determining the estimated time to complete a project</a:t>
            </a:r>
          </a:p>
          <a:p>
            <a:pPr marL="742950" lvl="1" indent="-285750"/>
            <a:r>
              <a:rPr lang="en-US" sz="1800"/>
              <a:t>Deriving actual project dates</a:t>
            </a:r>
          </a:p>
          <a:p>
            <a:pPr marL="742950" lvl="1" indent="-285750"/>
            <a:r>
              <a:rPr lang="en-US" sz="1800"/>
              <a:t>Allocating resources</a:t>
            </a:r>
          </a:p>
          <a:p>
            <a:pPr marL="742950" lvl="1" indent="-285750"/>
            <a:r>
              <a:rPr lang="en-US" sz="1800"/>
              <a:t>Identifying potential and current problems (is one task behind schedule?, can we shuffle people?)</a:t>
            </a:r>
          </a:p>
          <a:p>
            <a:r>
              <a:rPr lang="en-US" sz="1800" i="1"/>
              <a:t>Critical Path: </a:t>
            </a:r>
            <a:r>
              <a:rPr lang="en-US" sz="1800"/>
              <a:t>Path through chart such that if any deadline slips, the final deadline slips (where all events have ECT = LCT (usually there is only one)</a:t>
            </a:r>
          </a:p>
          <a:p>
            <a:r>
              <a:rPr lang="en-US" sz="1800"/>
              <a:t>In software example:</a:t>
            </a:r>
          </a:p>
          <a:p>
            <a:pPr marL="742950" lvl="1" indent="-285750"/>
            <a:r>
              <a:rPr lang="en-US" sz="1800"/>
              <a:t>Task I is not on the critical path: even if we don’t finish it until time 18, we’re still okay</a:t>
            </a:r>
          </a:p>
          <a:p>
            <a:pPr marL="742950" lvl="1" indent="-285750"/>
            <a:r>
              <a:rPr lang="en-US" sz="1800"/>
              <a:t>Task D is on the critical path: if we don’t finish it until for example, time 16, then:</a:t>
            </a:r>
          </a:p>
          <a:p>
            <a:pPr lvl="2"/>
            <a:r>
              <a:rPr lang="en-US" sz="1800"/>
              <a:t>We can’t start task H (duration 3) until time 16</a:t>
            </a:r>
          </a:p>
          <a:p>
            <a:pPr lvl="2"/>
            <a:r>
              <a:rPr lang="en-US" sz="1800"/>
              <a:t>So we can’t complete task H until time 21</a:t>
            </a:r>
          </a:p>
          <a:p>
            <a:r>
              <a:rPr lang="en-US" sz="1800"/>
              <a:t>We can use PERT charts for </a:t>
            </a:r>
          </a:p>
          <a:p>
            <a:pPr marL="742950" lvl="1" indent="-285750"/>
            <a:r>
              <a:rPr lang="en-US" sz="1800"/>
              <a:t>Identifying the critical path</a:t>
            </a:r>
          </a:p>
          <a:p>
            <a:pPr marL="742950" lvl="1" indent="-285750"/>
            <a:r>
              <a:rPr lang="en-US" sz="1800"/>
              <a:t>Reallocating resources, e.g. from non-critical to critical tasks.</a:t>
            </a:r>
          </a:p>
        </p:txBody>
      </p:sp>
    </p:spTree>
    <p:extLst>
      <p:ext uri="{BB962C8B-B14F-4D97-AF65-F5344CB8AC3E}">
        <p14:creationId xmlns:p14="http://schemas.microsoft.com/office/powerpoint/2010/main" val="32571867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9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0"/>
            <a:ext cx="7772400" cy="762000"/>
          </a:xfrm>
        </p:spPr>
        <p:txBody>
          <a:bodyPr/>
          <a:lstStyle/>
          <a:p>
            <a:r>
              <a:rPr lang="en-US"/>
              <a:t>PERT Chart Exercise</a:t>
            </a:r>
            <a:endParaRPr lang="en-CA"/>
          </a:p>
        </p:txBody>
      </p:sp>
      <p:sp>
        <p:nvSpPr>
          <p:cNvPr id="52230" name="Text Box 3"/>
          <p:cNvSpPr txBox="1">
            <a:spLocks noChangeArrowheads="1"/>
          </p:cNvSpPr>
          <p:nvPr/>
        </p:nvSpPr>
        <p:spPr bwMode="auto">
          <a:xfrm>
            <a:off x="2514600" y="304800"/>
            <a:ext cx="7848600" cy="59260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 eaLnBrk="1" hangingPunct="1">
              <a:lnSpc>
                <a:spcPct val="40000"/>
              </a:lnSpc>
              <a:spcBef>
                <a:spcPct val="50000"/>
              </a:spcBef>
            </a:pPr>
            <a:endParaRPr lang="en-US"/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 b="1"/>
              <a:t>Task     Prec Tasks   Description                           Time(hrs)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endParaRPr lang="en-US" b="1"/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A                   none    decide on date for party                 1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B                   A         book bouncy castle                        1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C                   A         send invitations                             4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D                   C         receive replies                               7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E                    D        buy toys and balloons                    1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F                    D        buy food                                         3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G                   E         blow up balloons                            2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H                   F         make food                                      1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I                    H, G    decorate                                         1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J                    B         get bouncy castle                           1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K                   J, I      have party                                       1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L                   K        clean up                                           4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M                  K        send back bouncy castle                 1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N                   L        send thank you letters                     3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O                   M       donate unwanted gifts                    3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468586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3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228600"/>
            <a:ext cx="7772400" cy="762000"/>
          </a:xfrm>
        </p:spPr>
        <p:txBody>
          <a:bodyPr/>
          <a:lstStyle/>
          <a:p>
            <a:r>
              <a:rPr lang="en-US"/>
              <a:t>PERT Chart Exercise</a:t>
            </a:r>
            <a:endParaRPr lang="en-CA"/>
          </a:p>
        </p:txBody>
      </p:sp>
      <p:sp>
        <p:nvSpPr>
          <p:cNvPr id="5325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514600" y="838200"/>
            <a:ext cx="7772400" cy="4114800"/>
          </a:xfrm>
        </p:spPr>
        <p:txBody>
          <a:bodyPr/>
          <a:lstStyle/>
          <a:p>
            <a:pPr marL="0" indent="0"/>
            <a:r>
              <a:rPr lang="en-US" sz="1600"/>
              <a:t>Draw the PERT chart for the preceding slide and identify the critical path</a:t>
            </a:r>
            <a:endParaRPr lang="en-CA" sz="1600"/>
          </a:p>
        </p:txBody>
      </p:sp>
    </p:spTree>
    <p:extLst>
      <p:ext uri="{BB962C8B-B14F-4D97-AF65-F5344CB8AC3E}">
        <p14:creationId xmlns:p14="http://schemas.microsoft.com/office/powerpoint/2010/main" val="36441768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Gantt Charts</a:t>
            </a:r>
          </a:p>
        </p:txBody>
      </p:sp>
      <p:sp>
        <p:nvSpPr>
          <p:cNvPr id="5427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Char char="•"/>
            </a:pPr>
            <a:r>
              <a:rPr lang="en-US" b="0"/>
              <a:t>Graphical Representation of a schedule</a:t>
            </a:r>
          </a:p>
          <a:p>
            <a:pPr marL="0" indent="0">
              <a:buFontTx/>
              <a:buChar char="•"/>
            </a:pPr>
            <a:r>
              <a:rPr lang="en-US" b="0"/>
              <a:t>Helps to plan, coordinate and track specific tasks in a project</a:t>
            </a:r>
          </a:p>
          <a:p>
            <a:pPr marL="0" indent="0">
              <a:buFontTx/>
              <a:buChar char="•"/>
            </a:pPr>
            <a:r>
              <a:rPr lang="en-US" b="0"/>
              <a:t>Named after Henry Gantt who invented them in 1917</a:t>
            </a:r>
          </a:p>
          <a:p>
            <a:pPr marL="0" indent="0">
              <a:buFontTx/>
              <a:buChar char="•"/>
            </a:pPr>
            <a:r>
              <a:rPr lang="en-US" b="0"/>
              <a:t>Depicts some of the same information as on a PERT chart</a:t>
            </a:r>
          </a:p>
          <a:p>
            <a:pPr marL="0" indent="0">
              <a:buFontTx/>
              <a:buChar char="•"/>
            </a:pPr>
            <a:r>
              <a:rPr lang="en-US" b="0"/>
              <a:t>Also depicts new information</a:t>
            </a:r>
          </a:p>
          <a:p>
            <a:pPr marL="0" indent="0"/>
            <a:endParaRPr lang="en-US" b="0"/>
          </a:p>
        </p:txBody>
      </p:sp>
    </p:spTree>
    <p:extLst>
      <p:ext uri="{BB962C8B-B14F-4D97-AF65-F5344CB8AC3E}">
        <p14:creationId xmlns:p14="http://schemas.microsoft.com/office/powerpoint/2010/main" val="27171858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01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228600"/>
            <a:ext cx="7772400" cy="762000"/>
          </a:xfrm>
        </p:spPr>
        <p:txBody>
          <a:bodyPr/>
          <a:lstStyle/>
          <a:p>
            <a:r>
              <a:rPr lang="en-US"/>
              <a:t>Example Gantt Chart</a:t>
            </a:r>
            <a:endParaRPr lang="en-CA"/>
          </a:p>
        </p:txBody>
      </p:sp>
      <p:sp>
        <p:nvSpPr>
          <p:cNvPr id="55302" name="Text Box 3"/>
          <p:cNvSpPr txBox="1">
            <a:spLocks noChangeArrowheads="1"/>
          </p:cNvSpPr>
          <p:nvPr/>
        </p:nvSpPr>
        <p:spPr bwMode="auto">
          <a:xfrm>
            <a:off x="2590800" y="838201"/>
            <a:ext cx="4114800" cy="2443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r" eaLnBrk="1" hangingPunct="1"/>
            <a:r>
              <a:rPr lang="en-CA" sz="1600" b="1"/>
              <a:t>TASKS</a:t>
            </a:r>
          </a:p>
          <a:p>
            <a:pPr algn="r" eaLnBrk="1" hangingPunct="1">
              <a:buFont typeface="Times New Roman" pitchFamily="18" charset="0"/>
              <a:buNone/>
            </a:pPr>
            <a:r>
              <a:rPr lang="en-CA" sz="1600"/>
              <a:t>A        </a:t>
            </a:r>
            <a:r>
              <a:rPr lang="en-CA" sz="1600">
                <a:latin typeface="Courier New" pitchFamily="49" charset="0"/>
              </a:rPr>
              <a:t>Study current email system</a:t>
            </a:r>
          </a:p>
          <a:p>
            <a:pPr algn="r" eaLnBrk="1" hangingPunct="1">
              <a:buFont typeface="Times New Roman" pitchFamily="18" charset="0"/>
              <a:buNone/>
            </a:pPr>
            <a:r>
              <a:rPr lang="en-CA" sz="1600">
                <a:latin typeface="Courier New" pitchFamily="49" charset="0"/>
              </a:rPr>
              <a:t>B  Define end-user requirements</a:t>
            </a:r>
          </a:p>
          <a:p>
            <a:pPr algn="r" eaLnBrk="1" hangingPunct="1">
              <a:buFont typeface="Times New Roman" pitchFamily="18" charset="0"/>
              <a:buNone/>
            </a:pPr>
            <a:r>
              <a:rPr lang="en-CA" sz="1600">
                <a:latin typeface="Courier New" pitchFamily="49" charset="0"/>
              </a:rPr>
              <a:t>C          Design Class diagram</a:t>
            </a:r>
          </a:p>
          <a:p>
            <a:pPr algn="r" eaLnBrk="1" hangingPunct="1">
              <a:buFont typeface="Times New Roman" pitchFamily="18" charset="0"/>
              <a:buNone/>
            </a:pPr>
            <a:r>
              <a:rPr lang="en-CA" sz="1600">
                <a:latin typeface="Courier New" pitchFamily="49" charset="0"/>
              </a:rPr>
              <a:t>D   Acquire computer technology</a:t>
            </a:r>
          </a:p>
          <a:p>
            <a:pPr algn="r" eaLnBrk="1" hangingPunct="1">
              <a:buFont typeface="Times New Roman" pitchFamily="18" charset="0"/>
              <a:buNone/>
            </a:pPr>
            <a:r>
              <a:rPr lang="en-CA" sz="1600">
                <a:latin typeface="Courier New" pitchFamily="49" charset="0"/>
              </a:rPr>
              <a:t>E     Plan &amp; code email modules</a:t>
            </a:r>
          </a:p>
          <a:p>
            <a:pPr algn="r" eaLnBrk="1" hangingPunct="1">
              <a:buFont typeface="Times New Roman" pitchFamily="18" charset="0"/>
              <a:buNone/>
            </a:pPr>
            <a:r>
              <a:rPr lang="en-CA" sz="1600">
                <a:latin typeface="Courier New" pitchFamily="49" charset="0"/>
              </a:rPr>
              <a:t>F    Acceptance test new system</a:t>
            </a:r>
          </a:p>
          <a:p>
            <a:pPr algn="r" eaLnBrk="1" hangingPunct="1">
              <a:buFont typeface="Times New Roman" pitchFamily="18" charset="0"/>
              <a:buNone/>
            </a:pPr>
            <a:r>
              <a:rPr lang="en-CA" sz="1600">
                <a:latin typeface="Courier New" pitchFamily="49" charset="0"/>
              </a:rPr>
              <a:t>G            Deliver new system</a:t>
            </a:r>
          </a:p>
        </p:txBody>
      </p:sp>
      <p:grpSp>
        <p:nvGrpSpPr>
          <p:cNvPr id="55303" name="Group 4"/>
          <p:cNvGrpSpPr>
            <a:grpSpLocks/>
          </p:cNvGrpSpPr>
          <p:nvPr/>
        </p:nvGrpSpPr>
        <p:grpSpPr bwMode="auto">
          <a:xfrm>
            <a:off x="6677025" y="685800"/>
            <a:ext cx="3886200" cy="2978150"/>
            <a:chOff x="2448" y="528"/>
            <a:chExt cx="2448" cy="1876"/>
          </a:xfrm>
        </p:grpSpPr>
        <p:sp>
          <p:nvSpPr>
            <p:cNvPr id="55305" name="Line 5"/>
            <p:cNvSpPr>
              <a:spLocks noChangeShapeType="1"/>
            </p:cNvSpPr>
            <p:nvPr/>
          </p:nvSpPr>
          <p:spPr bwMode="auto">
            <a:xfrm>
              <a:off x="2460" y="529"/>
              <a:ext cx="0" cy="141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306" name="Line 6"/>
            <p:cNvSpPr>
              <a:spLocks noChangeShapeType="1"/>
            </p:cNvSpPr>
            <p:nvPr/>
          </p:nvSpPr>
          <p:spPr bwMode="auto">
            <a:xfrm>
              <a:off x="2460" y="1943"/>
              <a:ext cx="24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307" name="Text Box 7"/>
            <p:cNvSpPr txBox="1">
              <a:spLocks noChangeArrowheads="1"/>
            </p:cNvSpPr>
            <p:nvPr/>
          </p:nvSpPr>
          <p:spPr bwMode="auto">
            <a:xfrm>
              <a:off x="2460" y="1984"/>
              <a:ext cx="2436" cy="4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 eaLnBrk="1" hangingPunct="1"/>
              <a:r>
                <a:rPr lang="en-CA" sz="1200"/>
                <a:t>1    2    3    4    5    6    7    8    9    10    11    12</a:t>
              </a:r>
            </a:p>
            <a:p>
              <a:pPr eaLnBrk="1" hangingPunct="1"/>
              <a:r>
                <a:rPr lang="en-CA" sz="1200"/>
                <a:t>               </a:t>
              </a:r>
              <a:r>
                <a:rPr lang="en-CA" sz="1200" b="1"/>
                <a:t>Today</a:t>
              </a:r>
              <a:endParaRPr lang="en-CA" b="1"/>
            </a:p>
          </p:txBody>
        </p:sp>
        <p:sp>
          <p:nvSpPr>
            <p:cNvPr id="55308" name="Rectangle 8"/>
            <p:cNvSpPr>
              <a:spLocks noChangeArrowheads="1"/>
            </p:cNvSpPr>
            <p:nvPr/>
          </p:nvSpPr>
          <p:spPr bwMode="auto">
            <a:xfrm>
              <a:off x="2448" y="846"/>
              <a:ext cx="336" cy="9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5309" name="Line 9"/>
            <p:cNvSpPr>
              <a:spLocks noChangeShapeType="1"/>
            </p:cNvSpPr>
            <p:nvPr/>
          </p:nvSpPr>
          <p:spPr bwMode="auto">
            <a:xfrm>
              <a:off x="2976" y="528"/>
              <a:ext cx="0" cy="17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310" name="Rectangle 10"/>
            <p:cNvSpPr>
              <a:spLocks noChangeArrowheads="1"/>
            </p:cNvSpPr>
            <p:nvPr/>
          </p:nvSpPr>
          <p:spPr bwMode="auto">
            <a:xfrm>
              <a:off x="2784" y="990"/>
              <a:ext cx="144" cy="9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5311" name="Rectangle 11"/>
            <p:cNvSpPr>
              <a:spLocks noChangeArrowheads="1"/>
            </p:cNvSpPr>
            <p:nvPr/>
          </p:nvSpPr>
          <p:spPr bwMode="auto">
            <a:xfrm>
              <a:off x="2784" y="1122"/>
              <a:ext cx="192" cy="9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CA"/>
            </a:p>
          </p:txBody>
        </p:sp>
        <p:sp>
          <p:nvSpPr>
            <p:cNvPr id="55312" name="Rectangle 12"/>
            <p:cNvSpPr>
              <a:spLocks noChangeArrowheads="1"/>
            </p:cNvSpPr>
            <p:nvPr/>
          </p:nvSpPr>
          <p:spPr bwMode="auto">
            <a:xfrm>
              <a:off x="2784" y="1293"/>
              <a:ext cx="480" cy="9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5313" name="Rectangle 13"/>
            <p:cNvSpPr>
              <a:spLocks noChangeArrowheads="1"/>
            </p:cNvSpPr>
            <p:nvPr/>
          </p:nvSpPr>
          <p:spPr bwMode="auto">
            <a:xfrm>
              <a:off x="3264" y="1296"/>
              <a:ext cx="240" cy="9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CA"/>
            </a:p>
          </p:txBody>
        </p:sp>
        <p:sp>
          <p:nvSpPr>
            <p:cNvPr id="55314" name="Rectangle 14"/>
            <p:cNvSpPr>
              <a:spLocks noChangeArrowheads="1"/>
            </p:cNvSpPr>
            <p:nvPr/>
          </p:nvSpPr>
          <p:spPr bwMode="auto">
            <a:xfrm>
              <a:off x="2784" y="1488"/>
              <a:ext cx="192" cy="9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5315" name="Rectangle 15"/>
            <p:cNvSpPr>
              <a:spLocks noChangeArrowheads="1"/>
            </p:cNvSpPr>
            <p:nvPr/>
          </p:nvSpPr>
          <p:spPr bwMode="auto">
            <a:xfrm>
              <a:off x="2976" y="1488"/>
              <a:ext cx="841" cy="9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CA"/>
            </a:p>
          </p:txBody>
        </p:sp>
        <p:sp>
          <p:nvSpPr>
            <p:cNvPr id="55316" name="Rectangle 16"/>
            <p:cNvSpPr>
              <a:spLocks noChangeArrowheads="1"/>
            </p:cNvSpPr>
            <p:nvPr/>
          </p:nvSpPr>
          <p:spPr bwMode="auto">
            <a:xfrm>
              <a:off x="4176" y="1776"/>
              <a:ext cx="336" cy="9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CA"/>
            </a:p>
          </p:txBody>
        </p:sp>
        <p:sp>
          <p:nvSpPr>
            <p:cNvPr id="55317" name="Rectangle 17"/>
            <p:cNvSpPr>
              <a:spLocks noChangeArrowheads="1"/>
            </p:cNvSpPr>
            <p:nvPr/>
          </p:nvSpPr>
          <p:spPr bwMode="auto">
            <a:xfrm>
              <a:off x="3552" y="1632"/>
              <a:ext cx="602" cy="9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CA"/>
            </a:p>
          </p:txBody>
        </p:sp>
      </p:grpSp>
      <p:sp>
        <p:nvSpPr>
          <p:cNvPr id="55304" name="Text Box 18"/>
          <p:cNvSpPr txBox="1">
            <a:spLocks noChangeArrowheads="1"/>
          </p:cNvSpPr>
          <p:nvPr/>
        </p:nvSpPr>
        <p:spPr bwMode="auto">
          <a:xfrm>
            <a:off x="2286000" y="3048001"/>
            <a:ext cx="8153400" cy="2987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sz="2000"/>
              <a:t>Questions: From the above, can you guess:</a:t>
            </a:r>
          </a:p>
          <a:p>
            <a:pPr lvl="1" eaLnBrk="1" hangingPunct="1">
              <a:spcBef>
                <a:spcPct val="50000"/>
              </a:spcBef>
              <a:buFontTx/>
              <a:buChar char="•"/>
            </a:pPr>
            <a:r>
              <a:rPr lang="en-US" sz="2000"/>
              <a:t>Which, if any, tasks should have been completed by today and aren’t even started? ______</a:t>
            </a:r>
          </a:p>
          <a:p>
            <a:pPr lvl="1" eaLnBrk="1" hangingPunct="1">
              <a:spcBef>
                <a:spcPct val="50000"/>
              </a:spcBef>
              <a:buFontTx/>
              <a:buChar char="•"/>
            </a:pPr>
            <a:r>
              <a:rPr lang="en-US" sz="2000"/>
              <a:t>Which, if any, tasks have been completed? ______</a:t>
            </a:r>
          </a:p>
          <a:p>
            <a:pPr lvl="1" eaLnBrk="1" hangingPunct="1">
              <a:spcBef>
                <a:spcPct val="50000"/>
              </a:spcBef>
              <a:buFontTx/>
              <a:buChar char="•"/>
            </a:pPr>
            <a:r>
              <a:rPr lang="en-US" sz="2000"/>
              <a:t>Which, if any, tasks have been completed ahead of schedule:? ______</a:t>
            </a:r>
          </a:p>
          <a:p>
            <a:pPr lvl="1" eaLnBrk="1" hangingPunct="1">
              <a:spcBef>
                <a:spcPct val="50000"/>
              </a:spcBef>
              <a:buFontTx/>
              <a:buChar char="•"/>
            </a:pPr>
            <a:r>
              <a:rPr lang="en-US" sz="2000"/>
              <a:t>Which, if any, tasks are on or ahead of schedule? _________</a:t>
            </a:r>
          </a:p>
          <a:p>
            <a:pPr lvl="1" eaLnBrk="1" hangingPunct="1">
              <a:spcBef>
                <a:spcPct val="50000"/>
              </a:spcBef>
              <a:buFontTx/>
              <a:buChar char="•"/>
            </a:pPr>
            <a:r>
              <a:rPr lang="en-US" sz="2000"/>
              <a:t>Which, if any, tasks are behind schedule? ________</a:t>
            </a:r>
          </a:p>
        </p:txBody>
      </p:sp>
    </p:spTree>
    <p:extLst>
      <p:ext uri="{BB962C8B-B14F-4D97-AF65-F5344CB8AC3E}">
        <p14:creationId xmlns:p14="http://schemas.microsoft.com/office/powerpoint/2010/main" val="22320102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5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152400"/>
            <a:ext cx="7772400" cy="533400"/>
          </a:xfrm>
        </p:spPr>
        <p:txBody>
          <a:bodyPr/>
          <a:lstStyle/>
          <a:p>
            <a:r>
              <a:rPr lang="en-US" sz="2800"/>
              <a:t>Building and Using a Gantt Chart</a:t>
            </a:r>
            <a:endParaRPr lang="en-CA" sz="2800"/>
          </a:p>
        </p:txBody>
      </p:sp>
      <p:sp>
        <p:nvSpPr>
          <p:cNvPr id="5632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438400" y="838200"/>
            <a:ext cx="7924800" cy="5638800"/>
          </a:xfrm>
        </p:spPr>
        <p:txBody>
          <a:bodyPr/>
          <a:lstStyle/>
          <a:p>
            <a:pPr marL="609600" indent="-609600"/>
            <a:r>
              <a:rPr lang="en-US" sz="1800"/>
              <a:t>Steps for building a Gantt Chart</a:t>
            </a:r>
          </a:p>
          <a:p>
            <a:pPr marL="990600" lvl="1" indent="-533400">
              <a:buFontTx/>
              <a:buAutoNum type="arabicPeriod"/>
            </a:pPr>
            <a:r>
              <a:rPr lang="en-US" sz="2000"/>
              <a:t>Identify the tasks to be scheduled</a:t>
            </a:r>
          </a:p>
          <a:p>
            <a:pPr marL="990600" lvl="1" indent="-533400">
              <a:buFontTx/>
              <a:buAutoNum type="arabicPeriod"/>
            </a:pPr>
            <a:r>
              <a:rPr lang="en-US" sz="2000"/>
              <a:t>Determine the durations of each task</a:t>
            </a:r>
          </a:p>
          <a:p>
            <a:pPr marL="990600" lvl="1" indent="-533400">
              <a:buFontTx/>
              <a:buAutoNum type="arabicPeriod"/>
            </a:pPr>
            <a:r>
              <a:rPr lang="en-US" sz="2000"/>
              <a:t>List each task down the vertical axis of chart</a:t>
            </a:r>
          </a:p>
          <a:p>
            <a:pPr marL="1371600" lvl="2" indent="-457200">
              <a:buFontTx/>
              <a:buAutoNum type="arabicPeriod"/>
            </a:pPr>
            <a:r>
              <a:rPr lang="en-US"/>
              <a:t>In general, list tasks to be performed first at the top and then move downward as the tasks will happen</a:t>
            </a:r>
          </a:p>
          <a:p>
            <a:pPr marL="990600" lvl="1" indent="-533400">
              <a:buFontTx/>
              <a:buAutoNum type="arabicPeriod"/>
            </a:pPr>
            <a:r>
              <a:rPr lang="en-US" sz="2000"/>
              <a:t>Use horizontal axis for the dates</a:t>
            </a:r>
          </a:p>
          <a:p>
            <a:pPr marL="990600" lvl="1" indent="-533400">
              <a:buFontTx/>
              <a:buAutoNum type="arabicPeriod"/>
            </a:pPr>
            <a:r>
              <a:rPr lang="en-US" sz="2000"/>
              <a:t>Determine start and finish dates for activities</a:t>
            </a:r>
          </a:p>
          <a:p>
            <a:pPr marL="1371600" lvl="2" indent="-457200">
              <a:buFontTx/>
              <a:buAutoNum type="arabicPeriod"/>
            </a:pPr>
            <a:r>
              <a:rPr lang="en-US"/>
              <a:t>Consider which tasks must be completed or partially completed before the next task</a:t>
            </a:r>
          </a:p>
          <a:p>
            <a:pPr marL="609600" indent="-609600"/>
            <a:r>
              <a:rPr lang="en-US" sz="1800"/>
              <a:t>To use the Gantt chart to report progress:</a:t>
            </a:r>
          </a:p>
          <a:p>
            <a:pPr marL="990600" lvl="1" indent="-533400"/>
            <a:r>
              <a:rPr lang="en-US" sz="2000"/>
              <a:t>If the task has been completed, completely shade in the bar corresponding to the task</a:t>
            </a:r>
          </a:p>
          <a:p>
            <a:pPr marL="990600" lvl="1" indent="-533400"/>
            <a:r>
              <a:rPr lang="en-US" sz="2000"/>
              <a:t>If the task has been partially completed, shade in the percentage of the bar that represents the percentage of the task that has been completed</a:t>
            </a:r>
          </a:p>
          <a:p>
            <a:pPr marL="990600" lvl="1" indent="-533400"/>
            <a:r>
              <a:rPr lang="en-US" sz="2000"/>
              <a:t>Unshaded bars represents tasks that have not been started.</a:t>
            </a:r>
            <a:endParaRPr lang="en-CA" sz="2000"/>
          </a:p>
        </p:txBody>
      </p:sp>
    </p:spTree>
    <p:extLst>
      <p:ext uri="{BB962C8B-B14F-4D97-AF65-F5344CB8AC3E}">
        <p14:creationId xmlns:p14="http://schemas.microsoft.com/office/powerpoint/2010/main" val="33094801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9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0"/>
            <a:ext cx="7772400" cy="838200"/>
          </a:xfrm>
        </p:spPr>
        <p:txBody>
          <a:bodyPr/>
          <a:lstStyle/>
          <a:p>
            <a:r>
              <a:rPr lang="en-US"/>
              <a:t>Gantt Chart:  Exercise</a:t>
            </a:r>
            <a:endParaRPr lang="en-CA"/>
          </a:p>
        </p:txBody>
      </p:sp>
      <p:sp>
        <p:nvSpPr>
          <p:cNvPr id="57350" name="Text Box 3"/>
          <p:cNvSpPr txBox="1">
            <a:spLocks noChangeArrowheads="1"/>
          </p:cNvSpPr>
          <p:nvPr/>
        </p:nvSpPr>
        <p:spPr bwMode="auto">
          <a:xfrm>
            <a:off x="2590800" y="304800"/>
            <a:ext cx="7848600" cy="59260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 eaLnBrk="1" hangingPunct="1">
              <a:lnSpc>
                <a:spcPct val="40000"/>
              </a:lnSpc>
              <a:spcBef>
                <a:spcPct val="50000"/>
              </a:spcBef>
            </a:pPr>
            <a:endParaRPr lang="en-US" b="1"/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 b="1"/>
              <a:t>Task    Prec Tasks   Description                           Time(hrs)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endParaRPr lang="en-US" b="1"/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A                   none    decide on date for party                 1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B                   A         book bouncy castle                        1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C                   A         send invitations                             4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D                   C         receive replies                               7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E                    D        buy toys and balloons                    1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F                    D        buy food                                         3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G                   E         blow up balloons                            2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H                   F         make food                                      1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I                    H, G    decorate                                         1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J                    B         get bouncy castle                           1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K                   J, I      have party                                       1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L                   K        clean up                                           4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M                  K        send back bouncy castle                 1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N                   L        send thank you letters                     3</a:t>
            </a:r>
          </a:p>
          <a:p>
            <a:pPr eaLnBrk="1" hangingPunct="1">
              <a:lnSpc>
                <a:spcPct val="40000"/>
              </a:lnSpc>
              <a:spcBef>
                <a:spcPct val="50000"/>
              </a:spcBef>
            </a:pPr>
            <a:r>
              <a:rPr lang="en-US"/>
              <a:t>O                   M       donate unwanted gifts                    3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405370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Gantt Chart:  Exercise</a:t>
            </a:r>
            <a:endParaRPr lang="en-CA"/>
          </a:p>
        </p:txBody>
      </p:sp>
      <p:sp>
        <p:nvSpPr>
          <p:cNvPr id="5837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514600" y="1295400"/>
            <a:ext cx="7543800" cy="4800600"/>
          </a:xfrm>
        </p:spPr>
        <p:txBody>
          <a:bodyPr/>
          <a:lstStyle/>
          <a:p>
            <a:pPr marL="0" indent="0"/>
            <a:r>
              <a:rPr lang="en-US" sz="2000"/>
              <a:t>Draw the Gantt chart using the following criteria:</a:t>
            </a:r>
          </a:p>
          <a:p>
            <a:pPr lvl="1"/>
            <a:r>
              <a:rPr lang="en-US" sz="2000"/>
              <a:t>label hours 0 to 30 across the horizontal axis</a:t>
            </a:r>
          </a:p>
          <a:p>
            <a:pPr lvl="1"/>
            <a:r>
              <a:rPr lang="en-US" sz="2000"/>
              <a:t>Mark a review stage at hour 14 to monitor the progress</a:t>
            </a:r>
          </a:p>
          <a:p>
            <a:pPr lvl="1"/>
            <a:r>
              <a:rPr lang="en-US" sz="2000"/>
              <a:t>Assume and illustrate that tasks A, B, C and D have been completed at hour 14</a:t>
            </a:r>
          </a:p>
          <a:p>
            <a:pPr lvl="1"/>
            <a:r>
              <a:rPr lang="en-US" sz="2000"/>
              <a:t>State which tasks are ahead and which tasks are behind schedule</a:t>
            </a:r>
          </a:p>
          <a:p>
            <a:pPr lvl="1"/>
            <a:endParaRPr lang="en-US" sz="2000"/>
          </a:p>
          <a:p>
            <a:pPr lvl="1"/>
            <a:r>
              <a:rPr lang="en-US" sz="2000"/>
              <a:t>NOTE: if you are using MS Project and want a different unit of time, just type 2 hours (instead of 2 days). ALSO, if you want to have a milestone, like Handing in Group Assignment 1, then give it a ZERO duration.</a:t>
            </a:r>
            <a:endParaRPr lang="en-CA" sz="2000"/>
          </a:p>
        </p:txBody>
      </p:sp>
    </p:spTree>
    <p:extLst>
      <p:ext uri="{BB962C8B-B14F-4D97-AF65-F5344CB8AC3E}">
        <p14:creationId xmlns:p14="http://schemas.microsoft.com/office/powerpoint/2010/main" val="41649703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7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304800"/>
            <a:ext cx="7772400" cy="1143000"/>
          </a:xfrm>
        </p:spPr>
        <p:txBody>
          <a:bodyPr/>
          <a:lstStyle/>
          <a:p>
            <a:r>
              <a:rPr lang="en-US"/>
              <a:t>Your Gantt chart:</a:t>
            </a:r>
          </a:p>
        </p:txBody>
      </p:sp>
    </p:spTree>
    <p:extLst>
      <p:ext uri="{BB962C8B-B14F-4D97-AF65-F5344CB8AC3E}">
        <p14:creationId xmlns:p14="http://schemas.microsoft.com/office/powerpoint/2010/main" val="30891152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21" name="Rectangle 2"/>
          <p:cNvSpPr>
            <a:spLocks noGrp="1" noChangeArrowheads="1"/>
          </p:cNvSpPr>
          <p:nvPr>
            <p:ph type="title"/>
          </p:nvPr>
        </p:nvSpPr>
        <p:spPr>
          <a:xfrm>
            <a:off x="1905000" y="228601"/>
            <a:ext cx="8229600" cy="792163"/>
          </a:xfrm>
        </p:spPr>
        <p:txBody>
          <a:bodyPr/>
          <a:lstStyle/>
          <a:p>
            <a:r>
              <a:rPr lang="en-US"/>
              <a:t>PERT vs. Gantt</a:t>
            </a:r>
            <a:endParaRPr lang="en-CA"/>
          </a:p>
        </p:txBody>
      </p:sp>
      <p:sp>
        <p:nvSpPr>
          <p:cNvPr id="6042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/>
              <a:t>PERT chart</a:t>
            </a:r>
          </a:p>
          <a:p>
            <a:pPr marL="742950" lvl="1" indent="-285750"/>
            <a:r>
              <a:rPr lang="en-US" sz="2000"/>
              <a:t>All us to show dependencies explicitly</a:t>
            </a:r>
          </a:p>
          <a:p>
            <a:pPr marL="742950" lvl="1" indent="-285750"/>
            <a:r>
              <a:rPr lang="en-US" sz="2000"/>
              <a:t>Allow us to calculate critical path</a:t>
            </a:r>
          </a:p>
          <a:p>
            <a:pPr marL="742950" lvl="1" indent="-285750"/>
            <a:r>
              <a:rPr lang="en-US" sz="2000"/>
              <a:t>Can tell us how one task falling behind affects other tasks</a:t>
            </a:r>
          </a:p>
          <a:p>
            <a:r>
              <a:rPr lang="en-US" sz="1800"/>
              <a:t>Gantt charts</a:t>
            </a:r>
          </a:p>
          <a:p>
            <a:pPr marL="742950" lvl="1" indent="-285750"/>
            <a:r>
              <a:rPr lang="en-US" sz="2000"/>
              <a:t>Allow us to record progress of project</a:t>
            </a:r>
          </a:p>
          <a:p>
            <a:pPr marL="742950" lvl="1" indent="-285750"/>
            <a:r>
              <a:rPr lang="en-US" sz="2000"/>
              <a:t>Allow us to see what tasks are falling behind </a:t>
            </a:r>
          </a:p>
          <a:p>
            <a:pPr marL="742950" lvl="1" indent="-285750"/>
            <a:r>
              <a:rPr lang="en-US" sz="2000"/>
              <a:t>Allow us to represent overlapping tasks</a:t>
            </a:r>
          </a:p>
          <a:p>
            <a:r>
              <a:rPr lang="en-US" sz="1800"/>
              <a:t>Project Management Tools, e.g. MS Project</a:t>
            </a:r>
          </a:p>
          <a:p>
            <a:pPr marL="742950" lvl="1" indent="-285750"/>
            <a:r>
              <a:rPr lang="en-US" sz="2000"/>
              <a:t>Allow us to specify tasks, dependencies, etc</a:t>
            </a:r>
          </a:p>
          <a:p>
            <a:pPr marL="742950" lvl="1" indent="-285750"/>
            <a:r>
              <a:rPr lang="en-US" sz="2000"/>
              <a:t>Allow us to specify progress on tasks, etc</a:t>
            </a:r>
          </a:p>
          <a:p>
            <a:pPr marL="742950" lvl="1" indent="-285750"/>
            <a:r>
              <a:rPr lang="en-US" sz="2000"/>
              <a:t>Can generate either PERT or Gantt charts (whichever we want) from data entered</a:t>
            </a:r>
            <a:endParaRPr lang="en-CA" sz="2000"/>
          </a:p>
        </p:txBody>
      </p:sp>
    </p:spTree>
    <p:extLst>
      <p:ext uri="{BB962C8B-B14F-4D97-AF65-F5344CB8AC3E}">
        <p14:creationId xmlns:p14="http://schemas.microsoft.com/office/powerpoint/2010/main" val="29720103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5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1524000" y="228600"/>
            <a:ext cx="8229600" cy="914400"/>
          </a:xfrm>
        </p:spPr>
        <p:txBody>
          <a:bodyPr/>
          <a:lstStyle/>
          <a:p>
            <a:r>
              <a:rPr lang="en-US" sz="2800"/>
              <a:t>Bouncy Castle PERT Example using MS Project</a:t>
            </a:r>
          </a:p>
        </p:txBody>
      </p:sp>
      <p:pic>
        <p:nvPicPr>
          <p:cNvPr id="6144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0" y="1295400"/>
            <a:ext cx="7429500" cy="1271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1447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2438401"/>
            <a:ext cx="7258050" cy="1655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1448" name="Picture 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2424"/>
          <a:stretch>
            <a:fillRect/>
          </a:stretch>
        </p:blipFill>
        <p:spPr bwMode="auto">
          <a:xfrm>
            <a:off x="3733800" y="4648200"/>
            <a:ext cx="5829300" cy="144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1449" name="AutoShape 7"/>
          <p:cNvSpPr>
            <a:spLocks noChangeArrowheads="1"/>
          </p:cNvSpPr>
          <p:nvPr/>
        </p:nvSpPr>
        <p:spPr bwMode="auto">
          <a:xfrm>
            <a:off x="6553200" y="2286000"/>
            <a:ext cx="2438400" cy="1524000"/>
          </a:xfrm>
          <a:prstGeom prst="wedgeRectCallout">
            <a:avLst>
              <a:gd name="adj1" fmla="val -34764"/>
              <a:gd name="adj2" fmla="val 87500"/>
            </a:avLst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61450" name="Freeform 8"/>
          <p:cNvSpPr>
            <a:spLocks/>
          </p:cNvSpPr>
          <p:nvPr/>
        </p:nvSpPr>
        <p:spPr bwMode="auto">
          <a:xfrm>
            <a:off x="3654426" y="4348163"/>
            <a:ext cx="6289675" cy="2043112"/>
          </a:xfrm>
          <a:custGeom>
            <a:avLst/>
            <a:gdLst>
              <a:gd name="T0" fmla="*/ 2147483647 w 3962"/>
              <a:gd name="T1" fmla="*/ 2147483647 h 1287"/>
              <a:gd name="T2" fmla="*/ 2147483647 w 3962"/>
              <a:gd name="T3" fmla="*/ 2147483647 h 1287"/>
              <a:gd name="T4" fmla="*/ 2147483647 w 3962"/>
              <a:gd name="T5" fmla="*/ 2147483647 h 1287"/>
              <a:gd name="T6" fmla="*/ 2147483647 w 3962"/>
              <a:gd name="T7" fmla="*/ 2147483647 h 1287"/>
              <a:gd name="T8" fmla="*/ 2147483647 w 3962"/>
              <a:gd name="T9" fmla="*/ 2147483647 h 1287"/>
              <a:gd name="T10" fmla="*/ 2147483647 w 3962"/>
              <a:gd name="T11" fmla="*/ 2147483647 h 1287"/>
              <a:gd name="T12" fmla="*/ 2147483647 w 3962"/>
              <a:gd name="T13" fmla="*/ 2147483647 h 1287"/>
              <a:gd name="T14" fmla="*/ 2147483647 w 3962"/>
              <a:gd name="T15" fmla="*/ 2147483647 h 1287"/>
              <a:gd name="T16" fmla="*/ 2147483647 w 3962"/>
              <a:gd name="T17" fmla="*/ 2147483647 h 1287"/>
              <a:gd name="T18" fmla="*/ 2147483647 w 3962"/>
              <a:gd name="T19" fmla="*/ 2147483647 h 1287"/>
              <a:gd name="T20" fmla="*/ 2147483647 w 3962"/>
              <a:gd name="T21" fmla="*/ 2147483647 h 1287"/>
              <a:gd name="T22" fmla="*/ 2147483647 w 3962"/>
              <a:gd name="T23" fmla="*/ 2147483647 h 1287"/>
              <a:gd name="T24" fmla="*/ 2147483647 w 3962"/>
              <a:gd name="T25" fmla="*/ 2147483647 h 1287"/>
              <a:gd name="T26" fmla="*/ 2147483647 w 3962"/>
              <a:gd name="T27" fmla="*/ 2147483647 h 1287"/>
              <a:gd name="T28" fmla="*/ 2147483647 w 3962"/>
              <a:gd name="T29" fmla="*/ 2147483647 h 1287"/>
              <a:gd name="T30" fmla="*/ 2147483647 w 3962"/>
              <a:gd name="T31" fmla="*/ 2147483647 h 1287"/>
              <a:gd name="T32" fmla="*/ 2147483647 w 3962"/>
              <a:gd name="T33" fmla="*/ 2147483647 h 1287"/>
              <a:gd name="T34" fmla="*/ 2147483647 w 3962"/>
              <a:gd name="T35" fmla="*/ 2147483647 h 1287"/>
              <a:gd name="T36" fmla="*/ 2147483647 w 3962"/>
              <a:gd name="T37" fmla="*/ 2147483647 h 1287"/>
              <a:gd name="T38" fmla="*/ 2147483647 w 3962"/>
              <a:gd name="T39" fmla="*/ 2147483647 h 1287"/>
              <a:gd name="T40" fmla="*/ 2147483647 w 3962"/>
              <a:gd name="T41" fmla="*/ 2147483647 h 1287"/>
              <a:gd name="T42" fmla="*/ 2147483647 w 3962"/>
              <a:gd name="T43" fmla="*/ 2147483647 h 1287"/>
              <a:gd name="T44" fmla="*/ 2147483647 w 3962"/>
              <a:gd name="T45" fmla="*/ 2147483647 h 1287"/>
              <a:gd name="T46" fmla="*/ 2147483647 w 3962"/>
              <a:gd name="T47" fmla="*/ 2147483647 h 1287"/>
              <a:gd name="T48" fmla="*/ 2147483647 w 3962"/>
              <a:gd name="T49" fmla="*/ 2147483647 h 1287"/>
              <a:gd name="T50" fmla="*/ 2147483647 w 3962"/>
              <a:gd name="T51" fmla="*/ 2147483647 h 1287"/>
              <a:gd name="T52" fmla="*/ 2147483647 w 3962"/>
              <a:gd name="T53" fmla="*/ 2147483647 h 1287"/>
              <a:gd name="T54" fmla="*/ 2147483647 w 3962"/>
              <a:gd name="T55" fmla="*/ 2147483647 h 1287"/>
              <a:gd name="T56" fmla="*/ 2147483647 w 3962"/>
              <a:gd name="T57" fmla="*/ 2147483647 h 1287"/>
              <a:gd name="T58" fmla="*/ 2147483647 w 3962"/>
              <a:gd name="T59" fmla="*/ 2147483647 h 1287"/>
              <a:gd name="T60" fmla="*/ 2147483647 w 3962"/>
              <a:gd name="T61" fmla="*/ 2147483647 h 1287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w 3962"/>
              <a:gd name="T94" fmla="*/ 0 h 1287"/>
              <a:gd name="T95" fmla="*/ 3962 w 3962"/>
              <a:gd name="T96" fmla="*/ 1287 h 1287"/>
            </a:gdLst>
            <a:ahLst/>
            <a:cxnLst>
              <a:cxn ang="T62">
                <a:pos x="T0" y="T1"/>
              </a:cxn>
              <a:cxn ang="T63">
                <a:pos x="T2" y="T3"/>
              </a:cxn>
              <a:cxn ang="T64">
                <a:pos x="T4" y="T5"/>
              </a:cxn>
              <a:cxn ang="T65">
                <a:pos x="T6" y="T7"/>
              </a:cxn>
              <a:cxn ang="T66">
                <a:pos x="T8" y="T9"/>
              </a:cxn>
              <a:cxn ang="T67">
                <a:pos x="T10" y="T11"/>
              </a:cxn>
              <a:cxn ang="T68">
                <a:pos x="T12" y="T13"/>
              </a:cxn>
              <a:cxn ang="T69">
                <a:pos x="T14" y="T15"/>
              </a:cxn>
              <a:cxn ang="T70">
                <a:pos x="T16" y="T17"/>
              </a:cxn>
              <a:cxn ang="T71">
                <a:pos x="T18" y="T19"/>
              </a:cxn>
              <a:cxn ang="T72">
                <a:pos x="T20" y="T21"/>
              </a:cxn>
              <a:cxn ang="T73">
                <a:pos x="T22" y="T23"/>
              </a:cxn>
              <a:cxn ang="T74">
                <a:pos x="T24" y="T25"/>
              </a:cxn>
              <a:cxn ang="T75">
                <a:pos x="T26" y="T27"/>
              </a:cxn>
              <a:cxn ang="T76">
                <a:pos x="T28" y="T29"/>
              </a:cxn>
              <a:cxn ang="T77">
                <a:pos x="T30" y="T31"/>
              </a:cxn>
              <a:cxn ang="T78">
                <a:pos x="T32" y="T33"/>
              </a:cxn>
              <a:cxn ang="T79">
                <a:pos x="T34" y="T35"/>
              </a:cxn>
              <a:cxn ang="T80">
                <a:pos x="T36" y="T37"/>
              </a:cxn>
              <a:cxn ang="T81">
                <a:pos x="T38" y="T39"/>
              </a:cxn>
              <a:cxn ang="T82">
                <a:pos x="T40" y="T41"/>
              </a:cxn>
              <a:cxn ang="T83">
                <a:pos x="T42" y="T43"/>
              </a:cxn>
              <a:cxn ang="T84">
                <a:pos x="T44" y="T45"/>
              </a:cxn>
              <a:cxn ang="T85">
                <a:pos x="T46" y="T47"/>
              </a:cxn>
              <a:cxn ang="T86">
                <a:pos x="T48" y="T49"/>
              </a:cxn>
              <a:cxn ang="T87">
                <a:pos x="T50" y="T51"/>
              </a:cxn>
              <a:cxn ang="T88">
                <a:pos x="T52" y="T53"/>
              </a:cxn>
              <a:cxn ang="T89">
                <a:pos x="T54" y="T55"/>
              </a:cxn>
              <a:cxn ang="T90">
                <a:pos x="T56" y="T57"/>
              </a:cxn>
              <a:cxn ang="T91">
                <a:pos x="T58" y="T59"/>
              </a:cxn>
              <a:cxn ang="T92">
                <a:pos x="T60" y="T61"/>
              </a:cxn>
            </a:cxnLst>
            <a:rect l="T93" t="T94" r="T95" b="T96"/>
            <a:pathLst>
              <a:path w="3962" h="1287">
                <a:moveTo>
                  <a:pt x="2084" y="45"/>
                </a:moveTo>
                <a:cubicBezTo>
                  <a:pt x="1948" y="0"/>
                  <a:pt x="2086" y="44"/>
                  <a:pt x="1694" y="33"/>
                </a:cubicBezTo>
                <a:cubicBezTo>
                  <a:pt x="1620" y="31"/>
                  <a:pt x="1545" y="22"/>
                  <a:pt x="1472" y="15"/>
                </a:cubicBezTo>
                <a:cubicBezTo>
                  <a:pt x="1202" y="19"/>
                  <a:pt x="923" y="10"/>
                  <a:pt x="656" y="63"/>
                </a:cubicBezTo>
                <a:cubicBezTo>
                  <a:pt x="600" y="87"/>
                  <a:pt x="554" y="108"/>
                  <a:pt x="494" y="117"/>
                </a:cubicBezTo>
                <a:cubicBezTo>
                  <a:pt x="460" y="128"/>
                  <a:pt x="427" y="144"/>
                  <a:pt x="392" y="153"/>
                </a:cubicBezTo>
                <a:cubicBezTo>
                  <a:pt x="371" y="158"/>
                  <a:pt x="352" y="158"/>
                  <a:pt x="332" y="165"/>
                </a:cubicBezTo>
                <a:cubicBezTo>
                  <a:pt x="281" y="184"/>
                  <a:pt x="238" y="219"/>
                  <a:pt x="194" y="249"/>
                </a:cubicBezTo>
                <a:cubicBezTo>
                  <a:pt x="185" y="276"/>
                  <a:pt x="178" y="295"/>
                  <a:pt x="158" y="315"/>
                </a:cubicBezTo>
                <a:cubicBezTo>
                  <a:pt x="148" y="344"/>
                  <a:pt x="142" y="377"/>
                  <a:pt x="128" y="405"/>
                </a:cubicBezTo>
                <a:cubicBezTo>
                  <a:pt x="92" y="476"/>
                  <a:pt x="44" y="541"/>
                  <a:pt x="14" y="615"/>
                </a:cubicBezTo>
                <a:cubicBezTo>
                  <a:pt x="9" y="692"/>
                  <a:pt x="0" y="759"/>
                  <a:pt x="20" y="837"/>
                </a:cubicBezTo>
                <a:cubicBezTo>
                  <a:pt x="55" y="972"/>
                  <a:pt x="181" y="1064"/>
                  <a:pt x="296" y="1125"/>
                </a:cubicBezTo>
                <a:cubicBezTo>
                  <a:pt x="510" y="1238"/>
                  <a:pt x="693" y="1275"/>
                  <a:pt x="932" y="1287"/>
                </a:cubicBezTo>
                <a:cubicBezTo>
                  <a:pt x="1164" y="1276"/>
                  <a:pt x="1391" y="1251"/>
                  <a:pt x="1622" y="1227"/>
                </a:cubicBezTo>
                <a:cubicBezTo>
                  <a:pt x="2128" y="1233"/>
                  <a:pt x="2630" y="1230"/>
                  <a:pt x="3134" y="1191"/>
                </a:cubicBezTo>
                <a:cubicBezTo>
                  <a:pt x="3251" y="1172"/>
                  <a:pt x="3365" y="1144"/>
                  <a:pt x="3482" y="1125"/>
                </a:cubicBezTo>
                <a:cubicBezTo>
                  <a:pt x="3507" y="1115"/>
                  <a:pt x="3530" y="1100"/>
                  <a:pt x="3554" y="1089"/>
                </a:cubicBezTo>
                <a:cubicBezTo>
                  <a:pt x="3593" y="1072"/>
                  <a:pt x="3635" y="1072"/>
                  <a:pt x="3674" y="1053"/>
                </a:cubicBezTo>
                <a:cubicBezTo>
                  <a:pt x="3698" y="1041"/>
                  <a:pt x="3714" y="1029"/>
                  <a:pt x="3740" y="1023"/>
                </a:cubicBezTo>
                <a:cubicBezTo>
                  <a:pt x="3759" y="1010"/>
                  <a:pt x="3784" y="997"/>
                  <a:pt x="3800" y="981"/>
                </a:cubicBezTo>
                <a:cubicBezTo>
                  <a:pt x="3837" y="944"/>
                  <a:pt x="3847" y="890"/>
                  <a:pt x="3866" y="843"/>
                </a:cubicBezTo>
                <a:cubicBezTo>
                  <a:pt x="3881" y="735"/>
                  <a:pt x="3876" y="619"/>
                  <a:pt x="3902" y="513"/>
                </a:cubicBezTo>
                <a:cubicBezTo>
                  <a:pt x="3917" y="454"/>
                  <a:pt x="3950" y="401"/>
                  <a:pt x="3962" y="339"/>
                </a:cubicBezTo>
                <a:cubicBezTo>
                  <a:pt x="3946" y="213"/>
                  <a:pt x="3831" y="185"/>
                  <a:pt x="3722" y="165"/>
                </a:cubicBezTo>
                <a:cubicBezTo>
                  <a:pt x="3635" y="149"/>
                  <a:pt x="3547" y="120"/>
                  <a:pt x="3458" y="111"/>
                </a:cubicBezTo>
                <a:cubicBezTo>
                  <a:pt x="3355" y="100"/>
                  <a:pt x="3255" y="89"/>
                  <a:pt x="3152" y="75"/>
                </a:cubicBezTo>
                <a:cubicBezTo>
                  <a:pt x="2930" y="77"/>
                  <a:pt x="2708" y="81"/>
                  <a:pt x="2486" y="81"/>
                </a:cubicBezTo>
                <a:cubicBezTo>
                  <a:pt x="2330" y="81"/>
                  <a:pt x="2174" y="83"/>
                  <a:pt x="2018" y="75"/>
                </a:cubicBezTo>
                <a:cubicBezTo>
                  <a:pt x="2005" y="74"/>
                  <a:pt x="2026" y="47"/>
                  <a:pt x="2036" y="39"/>
                </a:cubicBezTo>
                <a:cubicBezTo>
                  <a:pt x="2057" y="23"/>
                  <a:pt x="2088" y="15"/>
                  <a:pt x="2114" y="15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774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/>
              <a:t>Bouncy Castle Gantt Example using MS Project</a:t>
            </a:r>
          </a:p>
        </p:txBody>
      </p:sp>
      <p:sp>
        <p:nvSpPr>
          <p:cNvPr id="6247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590800" y="5638800"/>
            <a:ext cx="7239000" cy="533400"/>
          </a:xfrm>
        </p:spPr>
        <p:txBody>
          <a:bodyPr/>
          <a:lstStyle/>
          <a:p>
            <a:pPr marL="0" indent="0"/>
            <a:r>
              <a:rPr lang="en-US" sz="2000"/>
              <a:t>In MS Project set the task length to be 0 to get a milestone</a:t>
            </a:r>
          </a:p>
        </p:txBody>
      </p:sp>
      <p:pic>
        <p:nvPicPr>
          <p:cNvPr id="62471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8400" y="1295401"/>
            <a:ext cx="7086600" cy="4348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768746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2288</Words>
  <Application>Microsoft Office PowerPoint</Application>
  <PresentationFormat>Widescreen</PresentationFormat>
  <Paragraphs>393</Paragraphs>
  <Slides>30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Aptos</vt:lpstr>
      <vt:lpstr>Aptos Display</vt:lpstr>
      <vt:lpstr>Arial</vt:lpstr>
      <vt:lpstr>Courier New</vt:lpstr>
      <vt:lpstr>Times</vt:lpstr>
      <vt:lpstr>Times New Roman</vt:lpstr>
      <vt:lpstr>Wingdings</vt:lpstr>
      <vt:lpstr>Office Theme</vt:lpstr>
      <vt:lpstr>Project Scheduling and Resource Allocation</vt:lpstr>
      <vt:lpstr> Project Scheduling and Tracking </vt:lpstr>
      <vt:lpstr>Some Basic Project Management Terminology</vt:lpstr>
      <vt:lpstr>Dependencies and Milestones</vt:lpstr>
      <vt:lpstr>Setting and Making Deadlines</vt:lpstr>
      <vt:lpstr>PERT Charts</vt:lpstr>
      <vt:lpstr>PERT Chart Task Edges</vt:lpstr>
      <vt:lpstr>PERT Chart Event Nodes</vt:lpstr>
      <vt:lpstr>Building a PERT Chart</vt:lpstr>
      <vt:lpstr>Example:  Generic Software Project</vt:lpstr>
      <vt:lpstr>Dummy Tasks</vt:lpstr>
      <vt:lpstr>Example:  Tasks with Dependencies</vt:lpstr>
      <vt:lpstr>Software Example:  Skeleton PERT Chart</vt:lpstr>
      <vt:lpstr>Estimating Durations</vt:lpstr>
      <vt:lpstr>PERT Chart With Durations</vt:lpstr>
      <vt:lpstr>Calculating ECTs</vt:lpstr>
      <vt:lpstr>Calculating LCT</vt:lpstr>
      <vt:lpstr>Critical Path</vt:lpstr>
      <vt:lpstr>Uses of PERT Charts</vt:lpstr>
      <vt:lpstr>PERT Chart Exercise</vt:lpstr>
      <vt:lpstr>PERT Chart Exercise</vt:lpstr>
      <vt:lpstr>Gantt Charts</vt:lpstr>
      <vt:lpstr>Example Gantt Chart</vt:lpstr>
      <vt:lpstr>Building and Using a Gantt Chart</vt:lpstr>
      <vt:lpstr>Gantt Chart:  Exercise</vt:lpstr>
      <vt:lpstr>Gantt Chart:  Exercise</vt:lpstr>
      <vt:lpstr>Your Gantt chart:</vt:lpstr>
      <vt:lpstr>PERT vs. Gantt</vt:lpstr>
      <vt:lpstr>Bouncy Castle PERT Example using MS Project</vt:lpstr>
      <vt:lpstr>Bouncy Castle Gantt Example using MS Project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Scheduling and Resource Allocation</dc:title>
  <dc:creator>Tectonic Admin</dc:creator>
  <cp:lastModifiedBy>asim iqbal</cp:lastModifiedBy>
  <cp:revision>1</cp:revision>
  <dcterms:created xsi:type="dcterms:W3CDTF">2024-05-05T14:11:43Z</dcterms:created>
  <dcterms:modified xsi:type="dcterms:W3CDTF">2024-05-16T06:57:50Z</dcterms:modified>
</cp:coreProperties>
</file>