
<file path=[Content_Types].xml><?xml version="1.0" encoding="utf-8"?>
<Types xmlns="http://schemas.openxmlformats.org/package/2006/content-types">
  <Default Extension="png" ContentType="image/png"/>
  <Default Extension="pdf" ContentType="application/pdf"/>
  <Default Extension="jpeg" ContentType="image/jpeg"/>
  <Default Extension="wmf" ContentType="image/x-wmf"/>
  <Default Extension="rels" ContentType="application/vnd.openxmlformats-package.relationships+xml"/>
  <Default Extension="xml" ContentType="application/xml"/>
  <Default Extension="docx" ContentType="application/vnd.openxmlformats-officedocument.wordprocessingml.document"/>
  <Default Extension="vml" ContentType="application/vnd.openxmlformats-officedocument.vmlDrawi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1"/>
    <p:sldMasterId id="2147483741" r:id="rId2"/>
  </p:sldMasterIdLst>
  <p:notesMasterIdLst>
    <p:notesMasterId r:id="rId21"/>
  </p:notesMasterIdLst>
  <p:sldIdLst>
    <p:sldId id="256" r:id="rId3"/>
    <p:sldId id="341" r:id="rId4"/>
    <p:sldId id="257" r:id="rId5"/>
    <p:sldId id="314" r:id="rId6"/>
    <p:sldId id="342" r:id="rId7"/>
    <p:sldId id="259" r:id="rId8"/>
    <p:sldId id="319" r:id="rId9"/>
    <p:sldId id="262" r:id="rId10"/>
    <p:sldId id="264" r:id="rId11"/>
    <p:sldId id="266" r:id="rId12"/>
    <p:sldId id="343" r:id="rId13"/>
    <p:sldId id="268" r:id="rId14"/>
    <p:sldId id="349" r:id="rId15"/>
    <p:sldId id="322" r:id="rId16"/>
    <p:sldId id="272" r:id="rId17"/>
    <p:sldId id="323" r:id="rId18"/>
    <p:sldId id="273" r:id="rId19"/>
    <p:sldId id="274" r:id="rId20"/>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372AC"/>
    <a:srgbClr val="12FF1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6752" autoAdjust="0"/>
  </p:normalViewPr>
  <p:slideViewPr>
    <p:cSldViewPr>
      <p:cViewPr varScale="1">
        <p:scale>
          <a:sx n="103" d="100"/>
          <a:sy n="103" d="100"/>
        </p:scale>
        <p:origin x="234" y="102"/>
      </p:cViewPr>
      <p:guideLst>
        <p:guide orient="horz" pos="2160"/>
        <p:guide pos="2880"/>
      </p:guideLst>
    </p:cSldViewPr>
  </p:slideViewPr>
  <p:notesTextViewPr>
    <p:cViewPr>
      <p:scale>
        <a:sx n="100" d="100"/>
        <a:sy n="100" d="100"/>
      </p:scale>
      <p:origin x="0" y="0"/>
    </p:cViewPr>
  </p:notesTextViewPr>
  <p:sorterViewPr>
    <p:cViewPr>
      <p:scale>
        <a:sx n="66" d="100"/>
        <a:sy n="66"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heme" Target="theme/theme1.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viewProps" Target="viewProp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21FDA6A-4F07-0D4F-9E88-CEFD73BAF888}" type="doc">
      <dgm:prSet loTypeId="urn:microsoft.com/office/officeart/2005/8/layout/hierarchy3" loCatId="hierarchy" qsTypeId="urn:microsoft.com/office/officeart/2005/8/quickstyle/simple4" qsCatId="simple" csTypeId="urn:microsoft.com/office/officeart/2005/8/colors/accent1_2" csCatId="accent1" phldr="1"/>
      <dgm:spPr/>
      <dgm:t>
        <a:bodyPr/>
        <a:lstStyle/>
        <a:p>
          <a:endParaRPr lang="en-US"/>
        </a:p>
      </dgm:t>
    </dgm:pt>
    <dgm:pt modelId="{BFC6470E-032A-F84D-85FF-98078ABB16B2}">
      <dgm:prSet phldrT="[Text]"/>
      <dgm:spPr>
        <a:solidFill>
          <a:schemeClr val="accent2">
            <a:lumMod val="50000"/>
          </a:schemeClr>
        </a:solidFill>
      </dgm:spPr>
      <dgm:t>
        <a:bodyPr/>
        <a:lstStyle/>
        <a:p>
          <a:r>
            <a:rPr lang="en-US" dirty="0"/>
            <a:t>Multiple Applications</a:t>
          </a:r>
        </a:p>
      </dgm:t>
    </dgm:pt>
    <dgm:pt modelId="{0DF5F4DB-3599-394B-8DEC-40045FF4D2B4}" type="parTrans" cxnId="{8F1AB073-8614-8748-95A0-7C02D69A32BC}">
      <dgm:prSet/>
      <dgm:spPr/>
      <dgm:t>
        <a:bodyPr/>
        <a:lstStyle/>
        <a:p>
          <a:endParaRPr lang="en-US"/>
        </a:p>
      </dgm:t>
    </dgm:pt>
    <dgm:pt modelId="{4C958A26-8472-AC4E-8BF1-DCB1B27963BD}" type="sibTrans" cxnId="{8F1AB073-8614-8748-95A0-7C02D69A32BC}">
      <dgm:prSet/>
      <dgm:spPr/>
      <dgm:t>
        <a:bodyPr/>
        <a:lstStyle/>
        <a:p>
          <a:endParaRPr lang="en-US"/>
        </a:p>
      </dgm:t>
    </dgm:pt>
    <dgm:pt modelId="{A8E6D635-1D7D-524E-A06B-F5F86CA22012}">
      <dgm:prSet/>
      <dgm:spPr>
        <a:solidFill>
          <a:schemeClr val="bg2">
            <a:lumMod val="90000"/>
          </a:schemeClr>
        </a:solidFill>
      </dgm:spPr>
      <dgm:t>
        <a:bodyPr/>
        <a:lstStyle/>
        <a:p>
          <a:r>
            <a:rPr lang="en-US" dirty="0"/>
            <a:t>invented to allow processing time to be shared among active applications</a:t>
          </a:r>
        </a:p>
      </dgm:t>
    </dgm:pt>
    <dgm:pt modelId="{AE745A19-2E44-B14F-A6F0-A7F0940FAC1D}" type="parTrans" cxnId="{99524BF5-776F-FB44-9770-B2A0A442391B}">
      <dgm:prSet/>
      <dgm:spPr/>
      <dgm:t>
        <a:bodyPr/>
        <a:lstStyle/>
        <a:p>
          <a:endParaRPr lang="en-US"/>
        </a:p>
      </dgm:t>
    </dgm:pt>
    <dgm:pt modelId="{C2A87A22-A733-4745-95AD-90C744BEE680}" type="sibTrans" cxnId="{99524BF5-776F-FB44-9770-B2A0A442391B}">
      <dgm:prSet/>
      <dgm:spPr/>
      <dgm:t>
        <a:bodyPr/>
        <a:lstStyle/>
        <a:p>
          <a:endParaRPr lang="en-US"/>
        </a:p>
      </dgm:t>
    </dgm:pt>
    <dgm:pt modelId="{101BCE59-3EBE-B841-B815-9A8E0791CF6A}">
      <dgm:prSet/>
      <dgm:spPr/>
      <dgm:t>
        <a:bodyPr/>
        <a:lstStyle/>
        <a:p>
          <a:r>
            <a:rPr lang="en-US" dirty="0"/>
            <a:t>Structured Applications</a:t>
          </a:r>
        </a:p>
      </dgm:t>
    </dgm:pt>
    <dgm:pt modelId="{7B67AA2E-CD68-CE46-8BB5-786CA4F33C89}" type="parTrans" cxnId="{6D4EBFFA-8E91-7347-9918-A170C1EB38EA}">
      <dgm:prSet/>
      <dgm:spPr/>
      <dgm:t>
        <a:bodyPr/>
        <a:lstStyle/>
        <a:p>
          <a:endParaRPr lang="en-US"/>
        </a:p>
      </dgm:t>
    </dgm:pt>
    <dgm:pt modelId="{2A6A3103-5EB4-1249-8961-7C35388B3012}" type="sibTrans" cxnId="{6D4EBFFA-8E91-7347-9918-A170C1EB38EA}">
      <dgm:prSet/>
      <dgm:spPr/>
      <dgm:t>
        <a:bodyPr/>
        <a:lstStyle/>
        <a:p>
          <a:endParaRPr lang="en-US"/>
        </a:p>
      </dgm:t>
    </dgm:pt>
    <dgm:pt modelId="{6B0517C7-4E5A-694D-BE55-A47A8D05B1A2}">
      <dgm:prSet/>
      <dgm:spPr/>
      <dgm:t>
        <a:bodyPr/>
        <a:lstStyle/>
        <a:p>
          <a:r>
            <a:rPr lang="en-US" dirty="0"/>
            <a:t>extension of modular design and structured programming</a:t>
          </a:r>
        </a:p>
      </dgm:t>
    </dgm:pt>
    <dgm:pt modelId="{1BDD9158-04C7-A04C-9834-4F8C598C9F8C}" type="parTrans" cxnId="{AE1FDE51-D7D0-494D-8E85-DA6BD81D282C}">
      <dgm:prSet/>
      <dgm:spPr/>
      <dgm:t>
        <a:bodyPr/>
        <a:lstStyle/>
        <a:p>
          <a:endParaRPr lang="en-US"/>
        </a:p>
      </dgm:t>
    </dgm:pt>
    <dgm:pt modelId="{8C867362-BBC6-D547-8E8E-0EAE24DE45FE}" type="sibTrans" cxnId="{AE1FDE51-D7D0-494D-8E85-DA6BD81D282C}">
      <dgm:prSet/>
      <dgm:spPr/>
      <dgm:t>
        <a:bodyPr/>
        <a:lstStyle/>
        <a:p>
          <a:endParaRPr lang="en-US"/>
        </a:p>
      </dgm:t>
    </dgm:pt>
    <dgm:pt modelId="{5FAB8150-C3BB-FD4D-838A-B912D10D3CE8}">
      <dgm:prSet/>
      <dgm:spPr>
        <a:solidFill>
          <a:schemeClr val="accent3">
            <a:lumMod val="50000"/>
          </a:schemeClr>
        </a:solidFill>
      </dgm:spPr>
      <dgm:t>
        <a:bodyPr/>
        <a:lstStyle/>
        <a:p>
          <a:r>
            <a:rPr lang="en-US" dirty="0"/>
            <a:t>Operating System Structure</a:t>
          </a:r>
        </a:p>
      </dgm:t>
    </dgm:pt>
    <dgm:pt modelId="{600AF336-F8E9-6543-94BB-0D6E3454A890}" type="parTrans" cxnId="{AD636FF0-82DD-B548-BFDE-C8DB9DE30B19}">
      <dgm:prSet/>
      <dgm:spPr/>
      <dgm:t>
        <a:bodyPr/>
        <a:lstStyle/>
        <a:p>
          <a:endParaRPr lang="en-US"/>
        </a:p>
      </dgm:t>
    </dgm:pt>
    <dgm:pt modelId="{8F8AF4AB-B239-2E41-88A8-A6EA1F65E3C9}" type="sibTrans" cxnId="{AD636FF0-82DD-B548-BFDE-C8DB9DE30B19}">
      <dgm:prSet/>
      <dgm:spPr/>
      <dgm:t>
        <a:bodyPr/>
        <a:lstStyle/>
        <a:p>
          <a:endParaRPr lang="en-US"/>
        </a:p>
      </dgm:t>
    </dgm:pt>
    <dgm:pt modelId="{E0B92144-1042-744C-8313-F0BD2A4A42B1}">
      <dgm:prSet/>
      <dgm:spPr>
        <a:solidFill>
          <a:schemeClr val="accent3">
            <a:lumMod val="60000"/>
            <a:lumOff val="40000"/>
          </a:schemeClr>
        </a:solidFill>
      </dgm:spPr>
      <dgm:t>
        <a:bodyPr/>
        <a:lstStyle/>
        <a:p>
          <a:r>
            <a:rPr lang="en-US" dirty="0"/>
            <a:t>OS themselves implemented as a set of processes or threads</a:t>
          </a:r>
        </a:p>
      </dgm:t>
    </dgm:pt>
    <dgm:pt modelId="{1BD55ACB-0822-CD4F-B885-3FAB9ECA0FC6}" type="parTrans" cxnId="{414C026E-6C4B-1D49-9C54-D63E3828FD6C}">
      <dgm:prSet/>
      <dgm:spPr/>
      <dgm:t>
        <a:bodyPr/>
        <a:lstStyle/>
        <a:p>
          <a:endParaRPr lang="en-US"/>
        </a:p>
      </dgm:t>
    </dgm:pt>
    <dgm:pt modelId="{E0BB673D-7DE6-A541-9C19-4590F9C7CA05}" type="sibTrans" cxnId="{414C026E-6C4B-1D49-9C54-D63E3828FD6C}">
      <dgm:prSet/>
      <dgm:spPr/>
      <dgm:t>
        <a:bodyPr/>
        <a:lstStyle/>
        <a:p>
          <a:endParaRPr lang="en-US"/>
        </a:p>
      </dgm:t>
    </dgm:pt>
    <dgm:pt modelId="{B5DE52A4-5BAD-234E-8324-7F48BEFAEE24}" type="pres">
      <dgm:prSet presAssocID="{F21FDA6A-4F07-0D4F-9E88-CEFD73BAF888}" presName="diagram" presStyleCnt="0">
        <dgm:presLayoutVars>
          <dgm:chPref val="1"/>
          <dgm:dir/>
          <dgm:animOne val="branch"/>
          <dgm:animLvl val="lvl"/>
          <dgm:resizeHandles/>
        </dgm:presLayoutVars>
      </dgm:prSet>
      <dgm:spPr/>
    </dgm:pt>
    <dgm:pt modelId="{DD23D278-35B8-8141-B585-6DF97FD3ABBC}" type="pres">
      <dgm:prSet presAssocID="{BFC6470E-032A-F84D-85FF-98078ABB16B2}" presName="root" presStyleCnt="0"/>
      <dgm:spPr/>
    </dgm:pt>
    <dgm:pt modelId="{1C83C965-C16C-3548-8351-41D1CA562A67}" type="pres">
      <dgm:prSet presAssocID="{BFC6470E-032A-F84D-85FF-98078ABB16B2}" presName="rootComposite" presStyleCnt="0"/>
      <dgm:spPr/>
    </dgm:pt>
    <dgm:pt modelId="{F3BF7410-2C70-2A4A-9A15-E018E4826824}" type="pres">
      <dgm:prSet presAssocID="{BFC6470E-032A-F84D-85FF-98078ABB16B2}" presName="rootText" presStyleLbl="node1" presStyleIdx="0" presStyleCnt="3" custLinFactNeighborX="-92" custLinFactNeighborY="-45175"/>
      <dgm:spPr/>
    </dgm:pt>
    <dgm:pt modelId="{917ED4E3-2D56-4142-91BF-44FAE2150179}" type="pres">
      <dgm:prSet presAssocID="{BFC6470E-032A-F84D-85FF-98078ABB16B2}" presName="rootConnector" presStyleLbl="node1" presStyleIdx="0" presStyleCnt="3"/>
      <dgm:spPr/>
    </dgm:pt>
    <dgm:pt modelId="{D9E5D99C-A7D6-8742-A8EB-A4B056F0C6F6}" type="pres">
      <dgm:prSet presAssocID="{BFC6470E-032A-F84D-85FF-98078ABB16B2}" presName="childShape" presStyleCnt="0"/>
      <dgm:spPr/>
    </dgm:pt>
    <dgm:pt modelId="{88849F20-B33C-5C44-AFB9-0C414FE0E452}" type="pres">
      <dgm:prSet presAssocID="{AE745A19-2E44-B14F-A6F0-A7F0940FAC1D}" presName="Name13" presStyleLbl="parChTrans1D2" presStyleIdx="0" presStyleCnt="3"/>
      <dgm:spPr/>
    </dgm:pt>
    <dgm:pt modelId="{F1F4C278-EA79-A24A-BF1A-FFED1F757D29}" type="pres">
      <dgm:prSet presAssocID="{A8E6D635-1D7D-524E-A06B-F5F86CA22012}" presName="childText" presStyleLbl="bgAcc1" presStyleIdx="0" presStyleCnt="3" custScaleX="122365" custScaleY="126005" custLinFactNeighborX="-3780" custLinFactNeighborY="-54114">
        <dgm:presLayoutVars>
          <dgm:bulletEnabled val="1"/>
        </dgm:presLayoutVars>
      </dgm:prSet>
      <dgm:spPr/>
    </dgm:pt>
    <dgm:pt modelId="{04B6ABB0-5684-9B41-AC06-074DBD12A824}" type="pres">
      <dgm:prSet presAssocID="{101BCE59-3EBE-B841-B815-9A8E0791CF6A}" presName="root" presStyleCnt="0"/>
      <dgm:spPr/>
    </dgm:pt>
    <dgm:pt modelId="{2BAC21F6-10BA-E541-AB1A-6999144904FD}" type="pres">
      <dgm:prSet presAssocID="{101BCE59-3EBE-B841-B815-9A8E0791CF6A}" presName="rootComposite" presStyleCnt="0"/>
      <dgm:spPr/>
    </dgm:pt>
    <dgm:pt modelId="{0CE5ACD9-A885-F943-8BFF-063CFB705DFD}" type="pres">
      <dgm:prSet presAssocID="{101BCE59-3EBE-B841-B815-9A8E0791CF6A}" presName="rootText" presStyleLbl="node1" presStyleIdx="1" presStyleCnt="3"/>
      <dgm:spPr/>
    </dgm:pt>
    <dgm:pt modelId="{17B0E10E-D838-344A-8744-4EA0AE3512AA}" type="pres">
      <dgm:prSet presAssocID="{101BCE59-3EBE-B841-B815-9A8E0791CF6A}" presName="rootConnector" presStyleLbl="node1" presStyleIdx="1" presStyleCnt="3"/>
      <dgm:spPr/>
    </dgm:pt>
    <dgm:pt modelId="{5E86E13D-FCEC-B94D-B07C-E1FF54F44E87}" type="pres">
      <dgm:prSet presAssocID="{101BCE59-3EBE-B841-B815-9A8E0791CF6A}" presName="childShape" presStyleCnt="0"/>
      <dgm:spPr/>
    </dgm:pt>
    <dgm:pt modelId="{1ED9D157-9E28-F645-9843-B974AEE688A5}" type="pres">
      <dgm:prSet presAssocID="{1BDD9158-04C7-A04C-9834-4F8C598C9F8C}" presName="Name13" presStyleLbl="parChTrans1D2" presStyleIdx="1" presStyleCnt="3"/>
      <dgm:spPr/>
    </dgm:pt>
    <dgm:pt modelId="{B3885876-BC01-CE40-B4AF-B8DD35B11E00}" type="pres">
      <dgm:prSet presAssocID="{6B0517C7-4E5A-694D-BE55-A47A8D05B1A2}" presName="childText" presStyleLbl="bgAcc1" presStyleIdx="1" presStyleCnt="3" custScaleX="115365" custScaleY="125588">
        <dgm:presLayoutVars>
          <dgm:bulletEnabled val="1"/>
        </dgm:presLayoutVars>
      </dgm:prSet>
      <dgm:spPr/>
    </dgm:pt>
    <dgm:pt modelId="{A2D3D08C-D2D1-A448-83B1-6F15B7FC0563}" type="pres">
      <dgm:prSet presAssocID="{5FAB8150-C3BB-FD4D-838A-B912D10D3CE8}" presName="root" presStyleCnt="0"/>
      <dgm:spPr/>
    </dgm:pt>
    <dgm:pt modelId="{5250BEDC-3E31-9148-80D0-A3299449B34B}" type="pres">
      <dgm:prSet presAssocID="{5FAB8150-C3BB-FD4D-838A-B912D10D3CE8}" presName="rootComposite" presStyleCnt="0"/>
      <dgm:spPr/>
    </dgm:pt>
    <dgm:pt modelId="{AB58CB0B-9A79-FB46-B44A-123C202FA944}" type="pres">
      <dgm:prSet presAssocID="{5FAB8150-C3BB-FD4D-838A-B912D10D3CE8}" presName="rootText" presStyleLbl="node1" presStyleIdx="2" presStyleCnt="3" custLinFactNeighborX="9339" custLinFactNeighborY="50404"/>
      <dgm:spPr/>
    </dgm:pt>
    <dgm:pt modelId="{78630B86-8B91-0740-B5D3-E4F93B9FD356}" type="pres">
      <dgm:prSet presAssocID="{5FAB8150-C3BB-FD4D-838A-B912D10D3CE8}" presName="rootConnector" presStyleLbl="node1" presStyleIdx="2" presStyleCnt="3"/>
      <dgm:spPr/>
    </dgm:pt>
    <dgm:pt modelId="{1F579191-683E-C643-BEEA-8D725679033E}" type="pres">
      <dgm:prSet presAssocID="{5FAB8150-C3BB-FD4D-838A-B912D10D3CE8}" presName="childShape" presStyleCnt="0"/>
      <dgm:spPr/>
    </dgm:pt>
    <dgm:pt modelId="{43D5D9E6-EF4D-F346-B286-0A0EDC9D6387}" type="pres">
      <dgm:prSet presAssocID="{1BD55ACB-0822-CD4F-B885-3FAB9ECA0FC6}" presName="Name13" presStyleLbl="parChTrans1D2" presStyleIdx="2" presStyleCnt="3"/>
      <dgm:spPr/>
    </dgm:pt>
    <dgm:pt modelId="{B128BA17-BE6B-384D-BBE0-54B7B122AB84}" type="pres">
      <dgm:prSet presAssocID="{E0B92144-1042-744C-8313-F0BD2A4A42B1}" presName="childText" presStyleLbl="bgAcc1" presStyleIdx="2" presStyleCnt="3" custScaleX="114568" custScaleY="125588" custLinFactNeighborX="3742" custLinFactNeighborY="75601">
        <dgm:presLayoutVars>
          <dgm:bulletEnabled val="1"/>
        </dgm:presLayoutVars>
      </dgm:prSet>
      <dgm:spPr/>
    </dgm:pt>
  </dgm:ptLst>
  <dgm:cxnLst>
    <dgm:cxn modelId="{2C353223-79A8-4048-843D-D11B580B218A}" type="presOf" srcId="{AE745A19-2E44-B14F-A6F0-A7F0940FAC1D}" destId="{88849F20-B33C-5C44-AFB9-0C414FE0E452}" srcOrd="0" destOrd="0" presId="urn:microsoft.com/office/officeart/2005/8/layout/hierarchy3"/>
    <dgm:cxn modelId="{79544F30-91FE-6540-963A-48C0C4C207C2}" type="presOf" srcId="{BFC6470E-032A-F84D-85FF-98078ABB16B2}" destId="{917ED4E3-2D56-4142-91BF-44FAE2150179}" srcOrd="1" destOrd="0" presId="urn:microsoft.com/office/officeart/2005/8/layout/hierarchy3"/>
    <dgm:cxn modelId="{555FA13A-24F3-8F4F-B849-59DB1F1139EC}" type="presOf" srcId="{5FAB8150-C3BB-FD4D-838A-B912D10D3CE8}" destId="{AB58CB0B-9A79-FB46-B44A-123C202FA944}" srcOrd="0" destOrd="0" presId="urn:microsoft.com/office/officeart/2005/8/layout/hierarchy3"/>
    <dgm:cxn modelId="{8EAAD73B-4850-794F-99A3-D038084FE9F1}" type="presOf" srcId="{1BDD9158-04C7-A04C-9834-4F8C598C9F8C}" destId="{1ED9D157-9E28-F645-9843-B974AEE688A5}" srcOrd="0" destOrd="0" presId="urn:microsoft.com/office/officeart/2005/8/layout/hierarchy3"/>
    <dgm:cxn modelId="{00183B65-3455-1C4B-AB78-9C43F5814F0F}" type="presOf" srcId="{101BCE59-3EBE-B841-B815-9A8E0791CF6A}" destId="{0CE5ACD9-A885-F943-8BFF-063CFB705DFD}" srcOrd="0" destOrd="0" presId="urn:microsoft.com/office/officeart/2005/8/layout/hierarchy3"/>
    <dgm:cxn modelId="{BE92F149-DF08-2C45-B264-2F737E3ECBC0}" type="presOf" srcId="{E0B92144-1042-744C-8313-F0BD2A4A42B1}" destId="{B128BA17-BE6B-384D-BBE0-54B7B122AB84}" srcOrd="0" destOrd="0" presId="urn:microsoft.com/office/officeart/2005/8/layout/hierarchy3"/>
    <dgm:cxn modelId="{414C026E-6C4B-1D49-9C54-D63E3828FD6C}" srcId="{5FAB8150-C3BB-FD4D-838A-B912D10D3CE8}" destId="{E0B92144-1042-744C-8313-F0BD2A4A42B1}" srcOrd="0" destOrd="0" parTransId="{1BD55ACB-0822-CD4F-B885-3FAB9ECA0FC6}" sibTransId="{E0BB673D-7DE6-A541-9C19-4590F9C7CA05}"/>
    <dgm:cxn modelId="{AE1FDE51-D7D0-494D-8E85-DA6BD81D282C}" srcId="{101BCE59-3EBE-B841-B815-9A8E0791CF6A}" destId="{6B0517C7-4E5A-694D-BE55-A47A8D05B1A2}" srcOrd="0" destOrd="0" parTransId="{1BDD9158-04C7-A04C-9834-4F8C598C9F8C}" sibTransId="{8C867362-BBC6-D547-8E8E-0EAE24DE45FE}"/>
    <dgm:cxn modelId="{8F1AB073-8614-8748-95A0-7C02D69A32BC}" srcId="{F21FDA6A-4F07-0D4F-9E88-CEFD73BAF888}" destId="{BFC6470E-032A-F84D-85FF-98078ABB16B2}" srcOrd="0" destOrd="0" parTransId="{0DF5F4DB-3599-394B-8DEC-40045FF4D2B4}" sibTransId="{4C958A26-8472-AC4E-8BF1-DCB1B27963BD}"/>
    <dgm:cxn modelId="{D6308392-C645-B940-8BC0-E172A003E1D6}" type="presOf" srcId="{1BD55ACB-0822-CD4F-B885-3FAB9ECA0FC6}" destId="{43D5D9E6-EF4D-F346-B286-0A0EDC9D6387}" srcOrd="0" destOrd="0" presId="urn:microsoft.com/office/officeart/2005/8/layout/hierarchy3"/>
    <dgm:cxn modelId="{A316DFD6-8C1B-0E4D-B392-D82C3BB008BA}" type="presOf" srcId="{F21FDA6A-4F07-0D4F-9E88-CEFD73BAF888}" destId="{B5DE52A4-5BAD-234E-8324-7F48BEFAEE24}" srcOrd="0" destOrd="0" presId="urn:microsoft.com/office/officeart/2005/8/layout/hierarchy3"/>
    <dgm:cxn modelId="{02A1A6D8-497B-5F46-845E-4E31C391FF21}" type="presOf" srcId="{101BCE59-3EBE-B841-B815-9A8E0791CF6A}" destId="{17B0E10E-D838-344A-8744-4EA0AE3512AA}" srcOrd="1" destOrd="0" presId="urn:microsoft.com/office/officeart/2005/8/layout/hierarchy3"/>
    <dgm:cxn modelId="{5CD410DC-27A7-3C46-BBDC-FC83CFF259D4}" type="presOf" srcId="{BFC6470E-032A-F84D-85FF-98078ABB16B2}" destId="{F3BF7410-2C70-2A4A-9A15-E018E4826824}" srcOrd="0" destOrd="0" presId="urn:microsoft.com/office/officeart/2005/8/layout/hierarchy3"/>
    <dgm:cxn modelId="{E51684DE-6023-D24A-B2D6-38ED9FF252F8}" type="presOf" srcId="{6B0517C7-4E5A-694D-BE55-A47A8D05B1A2}" destId="{B3885876-BC01-CE40-B4AF-B8DD35B11E00}" srcOrd="0" destOrd="0" presId="urn:microsoft.com/office/officeart/2005/8/layout/hierarchy3"/>
    <dgm:cxn modelId="{FBF23DDF-8802-F848-981A-C31E08276E39}" type="presOf" srcId="{5FAB8150-C3BB-FD4D-838A-B912D10D3CE8}" destId="{78630B86-8B91-0740-B5D3-E4F93B9FD356}" srcOrd="1" destOrd="0" presId="urn:microsoft.com/office/officeart/2005/8/layout/hierarchy3"/>
    <dgm:cxn modelId="{7FD7E0E5-4B46-3D4A-92C1-8325B89D02F3}" type="presOf" srcId="{A8E6D635-1D7D-524E-A06B-F5F86CA22012}" destId="{F1F4C278-EA79-A24A-BF1A-FFED1F757D29}" srcOrd="0" destOrd="0" presId="urn:microsoft.com/office/officeart/2005/8/layout/hierarchy3"/>
    <dgm:cxn modelId="{AD636FF0-82DD-B548-BFDE-C8DB9DE30B19}" srcId="{F21FDA6A-4F07-0D4F-9E88-CEFD73BAF888}" destId="{5FAB8150-C3BB-FD4D-838A-B912D10D3CE8}" srcOrd="2" destOrd="0" parTransId="{600AF336-F8E9-6543-94BB-0D6E3454A890}" sibTransId="{8F8AF4AB-B239-2E41-88A8-A6EA1F65E3C9}"/>
    <dgm:cxn modelId="{99524BF5-776F-FB44-9770-B2A0A442391B}" srcId="{BFC6470E-032A-F84D-85FF-98078ABB16B2}" destId="{A8E6D635-1D7D-524E-A06B-F5F86CA22012}" srcOrd="0" destOrd="0" parTransId="{AE745A19-2E44-B14F-A6F0-A7F0940FAC1D}" sibTransId="{C2A87A22-A733-4745-95AD-90C744BEE680}"/>
    <dgm:cxn modelId="{6D4EBFFA-8E91-7347-9918-A170C1EB38EA}" srcId="{F21FDA6A-4F07-0D4F-9E88-CEFD73BAF888}" destId="{101BCE59-3EBE-B841-B815-9A8E0791CF6A}" srcOrd="1" destOrd="0" parTransId="{7B67AA2E-CD68-CE46-8BB5-786CA4F33C89}" sibTransId="{2A6A3103-5EB4-1249-8961-7C35388B3012}"/>
    <dgm:cxn modelId="{BB9E5AEA-B02F-314F-8604-CB02B2002F4E}" type="presParOf" srcId="{B5DE52A4-5BAD-234E-8324-7F48BEFAEE24}" destId="{DD23D278-35B8-8141-B585-6DF97FD3ABBC}" srcOrd="0" destOrd="0" presId="urn:microsoft.com/office/officeart/2005/8/layout/hierarchy3"/>
    <dgm:cxn modelId="{5CD7251B-FB68-6D4E-9A22-9EF2C043DC1E}" type="presParOf" srcId="{DD23D278-35B8-8141-B585-6DF97FD3ABBC}" destId="{1C83C965-C16C-3548-8351-41D1CA562A67}" srcOrd="0" destOrd="0" presId="urn:microsoft.com/office/officeart/2005/8/layout/hierarchy3"/>
    <dgm:cxn modelId="{AA82605E-793D-E24A-BB55-AF12BBA30515}" type="presParOf" srcId="{1C83C965-C16C-3548-8351-41D1CA562A67}" destId="{F3BF7410-2C70-2A4A-9A15-E018E4826824}" srcOrd="0" destOrd="0" presId="urn:microsoft.com/office/officeart/2005/8/layout/hierarchy3"/>
    <dgm:cxn modelId="{420630D0-37BB-454B-AAAA-8AEF04F52B15}" type="presParOf" srcId="{1C83C965-C16C-3548-8351-41D1CA562A67}" destId="{917ED4E3-2D56-4142-91BF-44FAE2150179}" srcOrd="1" destOrd="0" presId="urn:microsoft.com/office/officeart/2005/8/layout/hierarchy3"/>
    <dgm:cxn modelId="{01FEE1A9-F647-4943-A513-A77D54E38FD0}" type="presParOf" srcId="{DD23D278-35B8-8141-B585-6DF97FD3ABBC}" destId="{D9E5D99C-A7D6-8742-A8EB-A4B056F0C6F6}" srcOrd="1" destOrd="0" presId="urn:microsoft.com/office/officeart/2005/8/layout/hierarchy3"/>
    <dgm:cxn modelId="{BC3B821A-5F84-4346-BE56-27F73028B297}" type="presParOf" srcId="{D9E5D99C-A7D6-8742-A8EB-A4B056F0C6F6}" destId="{88849F20-B33C-5C44-AFB9-0C414FE0E452}" srcOrd="0" destOrd="0" presId="urn:microsoft.com/office/officeart/2005/8/layout/hierarchy3"/>
    <dgm:cxn modelId="{EF2DC71B-1647-4B46-93AC-D7DF3F240676}" type="presParOf" srcId="{D9E5D99C-A7D6-8742-A8EB-A4B056F0C6F6}" destId="{F1F4C278-EA79-A24A-BF1A-FFED1F757D29}" srcOrd="1" destOrd="0" presId="urn:microsoft.com/office/officeart/2005/8/layout/hierarchy3"/>
    <dgm:cxn modelId="{7B16C29F-1B22-514F-8C15-DF72E600B424}" type="presParOf" srcId="{B5DE52A4-5BAD-234E-8324-7F48BEFAEE24}" destId="{04B6ABB0-5684-9B41-AC06-074DBD12A824}" srcOrd="1" destOrd="0" presId="urn:microsoft.com/office/officeart/2005/8/layout/hierarchy3"/>
    <dgm:cxn modelId="{C006FFC2-A181-DB40-8140-B1D6778C8542}" type="presParOf" srcId="{04B6ABB0-5684-9B41-AC06-074DBD12A824}" destId="{2BAC21F6-10BA-E541-AB1A-6999144904FD}" srcOrd="0" destOrd="0" presId="urn:microsoft.com/office/officeart/2005/8/layout/hierarchy3"/>
    <dgm:cxn modelId="{EA45BC06-116C-A449-9A17-38B3249EDEE8}" type="presParOf" srcId="{2BAC21F6-10BA-E541-AB1A-6999144904FD}" destId="{0CE5ACD9-A885-F943-8BFF-063CFB705DFD}" srcOrd="0" destOrd="0" presId="urn:microsoft.com/office/officeart/2005/8/layout/hierarchy3"/>
    <dgm:cxn modelId="{550F9AD3-D2AD-0D42-945D-3CC86FD45882}" type="presParOf" srcId="{2BAC21F6-10BA-E541-AB1A-6999144904FD}" destId="{17B0E10E-D838-344A-8744-4EA0AE3512AA}" srcOrd="1" destOrd="0" presId="urn:microsoft.com/office/officeart/2005/8/layout/hierarchy3"/>
    <dgm:cxn modelId="{B5E4A181-1CF5-C94D-BDE0-378E9209B7D9}" type="presParOf" srcId="{04B6ABB0-5684-9B41-AC06-074DBD12A824}" destId="{5E86E13D-FCEC-B94D-B07C-E1FF54F44E87}" srcOrd="1" destOrd="0" presId="urn:microsoft.com/office/officeart/2005/8/layout/hierarchy3"/>
    <dgm:cxn modelId="{4976AC4D-4EBB-DC4B-B6C2-3DB59280ACC8}" type="presParOf" srcId="{5E86E13D-FCEC-B94D-B07C-E1FF54F44E87}" destId="{1ED9D157-9E28-F645-9843-B974AEE688A5}" srcOrd="0" destOrd="0" presId="urn:microsoft.com/office/officeart/2005/8/layout/hierarchy3"/>
    <dgm:cxn modelId="{C595A8F3-CBE7-2645-BAF1-6B73FF7A8AC9}" type="presParOf" srcId="{5E86E13D-FCEC-B94D-B07C-E1FF54F44E87}" destId="{B3885876-BC01-CE40-B4AF-B8DD35B11E00}" srcOrd="1" destOrd="0" presId="urn:microsoft.com/office/officeart/2005/8/layout/hierarchy3"/>
    <dgm:cxn modelId="{799A177A-E0CD-7E47-9A90-3E9D09CED1DF}" type="presParOf" srcId="{B5DE52A4-5BAD-234E-8324-7F48BEFAEE24}" destId="{A2D3D08C-D2D1-A448-83B1-6F15B7FC0563}" srcOrd="2" destOrd="0" presId="urn:microsoft.com/office/officeart/2005/8/layout/hierarchy3"/>
    <dgm:cxn modelId="{EA40818F-7069-3845-B5A1-29F978AC5F87}" type="presParOf" srcId="{A2D3D08C-D2D1-A448-83B1-6F15B7FC0563}" destId="{5250BEDC-3E31-9148-80D0-A3299449B34B}" srcOrd="0" destOrd="0" presId="urn:microsoft.com/office/officeart/2005/8/layout/hierarchy3"/>
    <dgm:cxn modelId="{ECDC5478-50C3-DA4C-8CFD-7EA96949E73D}" type="presParOf" srcId="{5250BEDC-3E31-9148-80D0-A3299449B34B}" destId="{AB58CB0B-9A79-FB46-B44A-123C202FA944}" srcOrd="0" destOrd="0" presId="urn:microsoft.com/office/officeart/2005/8/layout/hierarchy3"/>
    <dgm:cxn modelId="{5ACB4753-CD3D-C346-9AB8-9D8BA80E9086}" type="presParOf" srcId="{5250BEDC-3E31-9148-80D0-A3299449B34B}" destId="{78630B86-8B91-0740-B5D3-E4F93B9FD356}" srcOrd="1" destOrd="0" presId="urn:microsoft.com/office/officeart/2005/8/layout/hierarchy3"/>
    <dgm:cxn modelId="{A2AF9BC7-BC1B-214F-816D-C16C7FFA053E}" type="presParOf" srcId="{A2D3D08C-D2D1-A448-83B1-6F15B7FC0563}" destId="{1F579191-683E-C643-BEEA-8D725679033E}" srcOrd="1" destOrd="0" presId="urn:microsoft.com/office/officeart/2005/8/layout/hierarchy3"/>
    <dgm:cxn modelId="{2BC64B4B-C1F6-A149-8C25-BBDB4F37413E}" type="presParOf" srcId="{1F579191-683E-C643-BEEA-8D725679033E}" destId="{43D5D9E6-EF4D-F346-B286-0A0EDC9D6387}" srcOrd="0" destOrd="0" presId="urn:microsoft.com/office/officeart/2005/8/layout/hierarchy3"/>
    <dgm:cxn modelId="{6159871C-1065-CB4D-8F9C-53B65C2C90D2}" type="presParOf" srcId="{1F579191-683E-C643-BEEA-8D725679033E}" destId="{B128BA17-BE6B-384D-BBE0-54B7B122AB84}"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8BEBB349-1C6E-AB42-964D-E302A863F1AC}" type="doc">
      <dgm:prSet loTypeId="urn:microsoft.com/office/officeart/2005/8/layout/vList2" loCatId="list" qsTypeId="urn:microsoft.com/office/officeart/2005/8/quickstyle/simple4" qsCatId="simple" csTypeId="urn:microsoft.com/office/officeart/2005/8/colors/accent1_2" csCatId="accent1" phldr="1"/>
      <dgm:spPr/>
      <dgm:t>
        <a:bodyPr/>
        <a:lstStyle/>
        <a:p>
          <a:endParaRPr lang="en-US"/>
        </a:p>
      </dgm:t>
    </dgm:pt>
    <dgm:pt modelId="{334DF60F-7AF4-E14B-822F-13AF290D7C94}">
      <dgm:prSet phldrT="[Text]" custT="1"/>
      <dgm:spPr>
        <a:solidFill>
          <a:schemeClr val="accent3">
            <a:lumMod val="50000"/>
          </a:schemeClr>
        </a:solidFill>
      </dgm:spPr>
      <dgm:t>
        <a:bodyPr/>
        <a:lstStyle/>
        <a:p>
          <a:r>
            <a:rPr lang="en-US" sz="2800" dirty="0"/>
            <a:t>In the case of competing processes three control problems must be faced:</a:t>
          </a:r>
        </a:p>
      </dgm:t>
    </dgm:pt>
    <dgm:pt modelId="{F2640CAD-5CA2-AB47-BF2D-556487A3D6EF}" type="parTrans" cxnId="{7FAB8EF7-49E7-324E-B503-DB59F939025A}">
      <dgm:prSet/>
      <dgm:spPr/>
      <dgm:t>
        <a:bodyPr/>
        <a:lstStyle/>
        <a:p>
          <a:endParaRPr lang="en-US"/>
        </a:p>
      </dgm:t>
    </dgm:pt>
    <dgm:pt modelId="{4A26F1EA-DA28-7343-A310-D6271B17FFFB}" type="sibTrans" cxnId="{7FAB8EF7-49E7-324E-B503-DB59F939025A}">
      <dgm:prSet/>
      <dgm:spPr/>
      <dgm:t>
        <a:bodyPr/>
        <a:lstStyle/>
        <a:p>
          <a:endParaRPr lang="en-US"/>
        </a:p>
      </dgm:t>
    </dgm:pt>
    <dgm:pt modelId="{0D2240C2-9D46-9C46-B005-62FBD4EEB584}">
      <dgm:prSet custT="1"/>
      <dgm:spPr/>
      <dgm:t>
        <a:bodyPr/>
        <a:lstStyle/>
        <a:p>
          <a:pPr marL="514350" indent="744538"/>
          <a:r>
            <a:rPr lang="en-US" sz="2800" b="1" i="0" dirty="0">
              <a:solidFill>
                <a:schemeClr val="accent3">
                  <a:lumMod val="50000"/>
                </a:schemeClr>
              </a:solidFill>
            </a:rPr>
            <a:t>   the need for mutual exclusion</a:t>
          </a:r>
        </a:p>
      </dgm:t>
    </dgm:pt>
    <dgm:pt modelId="{FBDDEDFD-3030-AB44-88DE-176637FDD5A7}" type="parTrans" cxnId="{60BEBF36-3A51-B144-919C-DA52FF8AFCC4}">
      <dgm:prSet/>
      <dgm:spPr/>
      <dgm:t>
        <a:bodyPr/>
        <a:lstStyle/>
        <a:p>
          <a:endParaRPr lang="en-US"/>
        </a:p>
      </dgm:t>
    </dgm:pt>
    <dgm:pt modelId="{F3B83CE3-4E31-7845-8F4B-769ACCEE3638}" type="sibTrans" cxnId="{60BEBF36-3A51-B144-919C-DA52FF8AFCC4}">
      <dgm:prSet/>
      <dgm:spPr/>
      <dgm:t>
        <a:bodyPr/>
        <a:lstStyle/>
        <a:p>
          <a:endParaRPr lang="en-US"/>
        </a:p>
      </dgm:t>
    </dgm:pt>
    <dgm:pt modelId="{2960AF8C-6A3F-C34D-98C9-F2DC75E3787E}">
      <dgm:prSet custT="1"/>
      <dgm:spPr/>
      <dgm:t>
        <a:bodyPr/>
        <a:lstStyle/>
        <a:p>
          <a:pPr marL="514350" indent="744538"/>
          <a:r>
            <a:rPr lang="en-US" sz="2800" b="1" i="0" dirty="0">
              <a:solidFill>
                <a:schemeClr val="accent3">
                  <a:lumMod val="50000"/>
                </a:schemeClr>
              </a:solidFill>
            </a:rPr>
            <a:t>   deadlock</a:t>
          </a:r>
        </a:p>
      </dgm:t>
    </dgm:pt>
    <dgm:pt modelId="{05D2211E-03AD-5646-B6FB-F39429B8F08F}" type="parTrans" cxnId="{E5C19968-3C7B-2E4B-803A-6E68ACB8F0A2}">
      <dgm:prSet/>
      <dgm:spPr/>
      <dgm:t>
        <a:bodyPr/>
        <a:lstStyle/>
        <a:p>
          <a:endParaRPr lang="en-US"/>
        </a:p>
      </dgm:t>
    </dgm:pt>
    <dgm:pt modelId="{87431F10-E457-9041-855F-41BE96F289AE}" type="sibTrans" cxnId="{E5C19968-3C7B-2E4B-803A-6E68ACB8F0A2}">
      <dgm:prSet/>
      <dgm:spPr/>
      <dgm:t>
        <a:bodyPr/>
        <a:lstStyle/>
        <a:p>
          <a:endParaRPr lang="en-US"/>
        </a:p>
      </dgm:t>
    </dgm:pt>
    <dgm:pt modelId="{39BBB76B-4452-7142-899E-4C71C1B30263}">
      <dgm:prSet custT="1"/>
      <dgm:spPr/>
      <dgm:t>
        <a:bodyPr/>
        <a:lstStyle/>
        <a:p>
          <a:pPr marL="685800" indent="573088"/>
          <a:r>
            <a:rPr lang="en-US" sz="2800" b="1" i="0" dirty="0">
              <a:solidFill>
                <a:schemeClr val="accent3">
                  <a:lumMod val="50000"/>
                </a:schemeClr>
              </a:solidFill>
            </a:rPr>
            <a:t>   starvation</a:t>
          </a:r>
        </a:p>
      </dgm:t>
    </dgm:pt>
    <dgm:pt modelId="{83A2A532-6B15-D34E-9D27-177F3CD0B28A}" type="parTrans" cxnId="{0A055BE5-70F5-A941-B7C0-7347B96A1EDC}">
      <dgm:prSet/>
      <dgm:spPr/>
      <dgm:t>
        <a:bodyPr/>
        <a:lstStyle/>
        <a:p>
          <a:endParaRPr lang="en-US"/>
        </a:p>
      </dgm:t>
    </dgm:pt>
    <dgm:pt modelId="{4F5D3F76-DC7C-C84B-B8CC-5439A1F6373A}" type="sibTrans" cxnId="{0A055BE5-70F5-A941-B7C0-7347B96A1EDC}">
      <dgm:prSet/>
      <dgm:spPr/>
      <dgm:t>
        <a:bodyPr/>
        <a:lstStyle/>
        <a:p>
          <a:endParaRPr lang="en-US"/>
        </a:p>
      </dgm:t>
    </dgm:pt>
    <dgm:pt modelId="{47278DBD-5FCD-1D40-9839-A095DDABA5C3}">
      <dgm:prSet/>
      <dgm:spPr/>
      <dgm:t>
        <a:bodyPr/>
        <a:lstStyle/>
        <a:p>
          <a:pPr marL="171450" indent="0"/>
          <a:endParaRPr lang="en-US" sz="1600" dirty="0"/>
        </a:p>
      </dgm:t>
    </dgm:pt>
    <dgm:pt modelId="{5E48DA8C-A6FD-1D4C-95F7-48614F781476}" type="parTrans" cxnId="{65778B5A-9EE8-694B-9EBB-9F2B2EBBA068}">
      <dgm:prSet/>
      <dgm:spPr/>
      <dgm:t>
        <a:bodyPr/>
        <a:lstStyle/>
        <a:p>
          <a:endParaRPr lang="en-US"/>
        </a:p>
      </dgm:t>
    </dgm:pt>
    <dgm:pt modelId="{FA5B7C44-04EC-1D49-A4E8-0F07B46A13CC}" type="sibTrans" cxnId="{65778B5A-9EE8-694B-9EBB-9F2B2EBBA068}">
      <dgm:prSet/>
      <dgm:spPr/>
      <dgm:t>
        <a:bodyPr/>
        <a:lstStyle/>
        <a:p>
          <a:endParaRPr lang="en-US"/>
        </a:p>
      </dgm:t>
    </dgm:pt>
    <dgm:pt modelId="{899C6DED-1F3C-F14B-BD4C-7647EC5F6B3F}" type="pres">
      <dgm:prSet presAssocID="{8BEBB349-1C6E-AB42-964D-E302A863F1AC}" presName="linear" presStyleCnt="0">
        <dgm:presLayoutVars>
          <dgm:animLvl val="lvl"/>
          <dgm:resizeHandles val="exact"/>
        </dgm:presLayoutVars>
      </dgm:prSet>
      <dgm:spPr/>
    </dgm:pt>
    <dgm:pt modelId="{F562FE9C-C5FA-5E46-ADCD-3ECA6CAD0E03}" type="pres">
      <dgm:prSet presAssocID="{334DF60F-7AF4-E14B-822F-13AF290D7C94}" presName="parentText" presStyleLbl="node1" presStyleIdx="0" presStyleCnt="1" custScaleX="97872" custScaleY="244403" custLinFactNeighborX="1064" custLinFactNeighborY="-810">
        <dgm:presLayoutVars>
          <dgm:chMax val="0"/>
          <dgm:bulletEnabled val="1"/>
        </dgm:presLayoutVars>
      </dgm:prSet>
      <dgm:spPr/>
    </dgm:pt>
    <dgm:pt modelId="{6A7F9969-6F05-5F41-88FE-250A770AADDF}" type="pres">
      <dgm:prSet presAssocID="{334DF60F-7AF4-E14B-822F-13AF290D7C94}" presName="childText" presStyleLbl="revTx" presStyleIdx="0" presStyleCnt="1" custScaleY="130942">
        <dgm:presLayoutVars>
          <dgm:bulletEnabled val="1"/>
        </dgm:presLayoutVars>
      </dgm:prSet>
      <dgm:spPr/>
    </dgm:pt>
  </dgm:ptLst>
  <dgm:cxnLst>
    <dgm:cxn modelId="{760A6718-16CA-3445-9217-2D89121980EE}" type="presOf" srcId="{334DF60F-7AF4-E14B-822F-13AF290D7C94}" destId="{F562FE9C-C5FA-5E46-ADCD-3ECA6CAD0E03}" srcOrd="0" destOrd="0" presId="urn:microsoft.com/office/officeart/2005/8/layout/vList2"/>
    <dgm:cxn modelId="{60BEBF36-3A51-B144-919C-DA52FF8AFCC4}" srcId="{47278DBD-5FCD-1D40-9839-A095DDABA5C3}" destId="{0D2240C2-9D46-9C46-B005-62FBD4EEB584}" srcOrd="0" destOrd="0" parTransId="{FBDDEDFD-3030-AB44-88DE-176637FDD5A7}" sibTransId="{F3B83CE3-4E31-7845-8F4B-769ACCEE3638}"/>
    <dgm:cxn modelId="{2061AC5D-4BCB-EF43-A089-A88B2A12EA6F}" type="presOf" srcId="{39BBB76B-4452-7142-899E-4C71C1B30263}" destId="{6A7F9969-6F05-5F41-88FE-250A770AADDF}" srcOrd="0" destOrd="3" presId="urn:microsoft.com/office/officeart/2005/8/layout/vList2"/>
    <dgm:cxn modelId="{E5C19968-3C7B-2E4B-803A-6E68ACB8F0A2}" srcId="{0D2240C2-9D46-9C46-B005-62FBD4EEB584}" destId="{2960AF8C-6A3F-C34D-98C9-F2DC75E3787E}" srcOrd="0" destOrd="0" parTransId="{05D2211E-03AD-5646-B6FB-F39429B8F08F}" sibTransId="{87431F10-E457-9041-855F-41BE96F289AE}"/>
    <dgm:cxn modelId="{E840FC4D-35E4-EA4A-802B-1855D54828EB}" type="presOf" srcId="{0D2240C2-9D46-9C46-B005-62FBD4EEB584}" destId="{6A7F9969-6F05-5F41-88FE-250A770AADDF}" srcOrd="0" destOrd="1" presId="urn:microsoft.com/office/officeart/2005/8/layout/vList2"/>
    <dgm:cxn modelId="{65778B5A-9EE8-694B-9EBB-9F2B2EBBA068}" srcId="{334DF60F-7AF4-E14B-822F-13AF290D7C94}" destId="{47278DBD-5FCD-1D40-9839-A095DDABA5C3}" srcOrd="0" destOrd="0" parTransId="{5E48DA8C-A6FD-1D4C-95F7-48614F781476}" sibTransId="{FA5B7C44-04EC-1D49-A4E8-0F07B46A13CC}"/>
    <dgm:cxn modelId="{20DF4BAA-0DFE-4F48-BB02-C5708929BACB}" type="presOf" srcId="{2960AF8C-6A3F-C34D-98C9-F2DC75E3787E}" destId="{6A7F9969-6F05-5F41-88FE-250A770AADDF}" srcOrd="0" destOrd="2" presId="urn:microsoft.com/office/officeart/2005/8/layout/vList2"/>
    <dgm:cxn modelId="{897202DF-2FA1-BF44-98AD-0642D5D854B8}" type="presOf" srcId="{8BEBB349-1C6E-AB42-964D-E302A863F1AC}" destId="{899C6DED-1F3C-F14B-BD4C-7647EC5F6B3F}" srcOrd="0" destOrd="0" presId="urn:microsoft.com/office/officeart/2005/8/layout/vList2"/>
    <dgm:cxn modelId="{F96B7CDF-4C5A-C141-A33A-4EC7F0C7D33D}" type="presOf" srcId="{47278DBD-5FCD-1D40-9839-A095DDABA5C3}" destId="{6A7F9969-6F05-5F41-88FE-250A770AADDF}" srcOrd="0" destOrd="0" presId="urn:microsoft.com/office/officeart/2005/8/layout/vList2"/>
    <dgm:cxn modelId="{0A055BE5-70F5-A941-B7C0-7347B96A1EDC}" srcId="{2960AF8C-6A3F-C34D-98C9-F2DC75E3787E}" destId="{39BBB76B-4452-7142-899E-4C71C1B30263}" srcOrd="0" destOrd="0" parTransId="{83A2A532-6B15-D34E-9D27-177F3CD0B28A}" sibTransId="{4F5D3F76-DC7C-C84B-B8CC-5439A1F6373A}"/>
    <dgm:cxn modelId="{7FAB8EF7-49E7-324E-B503-DB59F939025A}" srcId="{8BEBB349-1C6E-AB42-964D-E302A863F1AC}" destId="{334DF60F-7AF4-E14B-822F-13AF290D7C94}" srcOrd="0" destOrd="0" parTransId="{F2640CAD-5CA2-AB47-BF2D-556487A3D6EF}" sibTransId="{4A26F1EA-DA28-7343-A310-D6271B17FFFB}"/>
    <dgm:cxn modelId="{D7ECF708-2FC4-8B44-BB6B-CFB15AD2BD07}" type="presParOf" srcId="{899C6DED-1F3C-F14B-BD4C-7647EC5F6B3F}" destId="{F562FE9C-C5FA-5E46-ADCD-3ECA6CAD0E03}" srcOrd="0" destOrd="0" presId="urn:microsoft.com/office/officeart/2005/8/layout/vList2"/>
    <dgm:cxn modelId="{9016F5D4-1E8A-4E48-BEC7-8DC21DDC5EC6}" type="presParOf" srcId="{899C6DED-1F3C-F14B-BD4C-7647EC5F6B3F}" destId="{6A7F9969-6F05-5F41-88FE-250A770AADDF}" srcOrd="1"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3BF7410-2C70-2A4A-9A15-E018E4826824}">
      <dsp:nvSpPr>
        <dsp:cNvPr id="0" name=""/>
        <dsp:cNvSpPr/>
      </dsp:nvSpPr>
      <dsp:spPr>
        <a:xfrm>
          <a:off x="0" y="342906"/>
          <a:ext cx="2232273" cy="1116136"/>
        </a:xfrm>
        <a:prstGeom prst="roundRect">
          <a:avLst>
            <a:gd name="adj" fmla="val 10000"/>
          </a:avLst>
        </a:prstGeom>
        <a:solidFill>
          <a:schemeClr val="accent2">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Multiple Applications</a:t>
          </a:r>
        </a:p>
      </dsp:txBody>
      <dsp:txXfrm>
        <a:off x="32691" y="375597"/>
        <a:ext cx="2166891" cy="1050754"/>
      </dsp:txXfrm>
    </dsp:sp>
    <dsp:sp modelId="{88849F20-B33C-5C44-AFB9-0C414FE0E452}">
      <dsp:nvSpPr>
        <dsp:cNvPr id="0" name=""/>
        <dsp:cNvSpPr/>
      </dsp:nvSpPr>
      <dsp:spPr>
        <a:xfrm>
          <a:off x="223227" y="1459042"/>
          <a:ext cx="157766" cy="882456"/>
        </a:xfrm>
        <a:custGeom>
          <a:avLst/>
          <a:gdLst/>
          <a:ahLst/>
          <a:cxnLst/>
          <a:rect l="0" t="0" r="0" b="0"/>
          <a:pathLst>
            <a:path>
              <a:moveTo>
                <a:pt x="0" y="0"/>
              </a:moveTo>
              <a:lnTo>
                <a:pt x="0" y="882456"/>
              </a:lnTo>
              <a:lnTo>
                <a:pt x="157766" y="882456"/>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F1F4C278-EA79-A24A-BF1A-FFED1F757D29}">
      <dsp:nvSpPr>
        <dsp:cNvPr id="0" name=""/>
        <dsp:cNvSpPr/>
      </dsp:nvSpPr>
      <dsp:spPr>
        <a:xfrm>
          <a:off x="380993" y="1638305"/>
          <a:ext cx="2185216" cy="1406387"/>
        </a:xfrm>
        <a:prstGeom prst="roundRect">
          <a:avLst>
            <a:gd name="adj" fmla="val 10000"/>
          </a:avLst>
        </a:prstGeom>
        <a:solidFill>
          <a:schemeClr val="bg2">
            <a:lumMod val="9000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invented to allow processing time to be shared among active applications</a:t>
          </a:r>
        </a:p>
      </dsp:txBody>
      <dsp:txXfrm>
        <a:off x="422185" y="1679497"/>
        <a:ext cx="2102832" cy="1324003"/>
      </dsp:txXfrm>
    </dsp:sp>
    <dsp:sp modelId="{0CE5ACD9-A885-F943-8BFF-063CFB705DFD}">
      <dsp:nvSpPr>
        <dsp:cNvPr id="0" name=""/>
        <dsp:cNvSpPr/>
      </dsp:nvSpPr>
      <dsp:spPr>
        <a:xfrm>
          <a:off x="2792384" y="847120"/>
          <a:ext cx="2232273" cy="1116136"/>
        </a:xfrm>
        <a:prstGeom prst="roundRect">
          <a:avLst>
            <a:gd name="adj" fmla="val 10000"/>
          </a:avLst>
        </a:prstGeom>
        <a:gradFill rotWithShape="0">
          <a:gsLst>
            <a:gs pos="0">
              <a:schemeClr val="accent1">
                <a:hueOff val="0"/>
                <a:satOff val="0"/>
                <a:lumOff val="0"/>
                <a:alphaOff val="0"/>
                <a:shade val="51000"/>
                <a:alpha val="90000"/>
                <a:satMod val="115000"/>
              </a:schemeClr>
            </a:gs>
            <a:gs pos="100000">
              <a:schemeClr val="accent1">
                <a:hueOff val="0"/>
                <a:satOff val="0"/>
                <a:lumOff val="0"/>
                <a:alphaOff val="0"/>
                <a:shade val="94000"/>
                <a:alpha val="90000"/>
                <a:satMod val="135000"/>
              </a:schemeClr>
            </a:gs>
          </a:gsLst>
          <a:lin ang="5400000" scaled="1"/>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Structured Applications</a:t>
          </a:r>
        </a:p>
      </dsp:txBody>
      <dsp:txXfrm>
        <a:off x="2825075" y="879811"/>
        <a:ext cx="2166891" cy="1050754"/>
      </dsp:txXfrm>
    </dsp:sp>
    <dsp:sp modelId="{1ED9D157-9E28-F645-9843-B974AEE688A5}">
      <dsp:nvSpPr>
        <dsp:cNvPr id="0" name=""/>
        <dsp:cNvSpPr/>
      </dsp:nvSpPr>
      <dsp:spPr>
        <a:xfrm>
          <a:off x="3015611" y="1963257"/>
          <a:ext cx="223227" cy="979900"/>
        </a:xfrm>
        <a:custGeom>
          <a:avLst/>
          <a:gdLst/>
          <a:ahLst/>
          <a:cxnLst/>
          <a:rect l="0" t="0" r="0" b="0"/>
          <a:pathLst>
            <a:path>
              <a:moveTo>
                <a:pt x="0" y="0"/>
              </a:moveTo>
              <a:lnTo>
                <a:pt x="0" y="979900"/>
              </a:lnTo>
              <a:lnTo>
                <a:pt x="223227" y="979900"/>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B3885876-BC01-CE40-B4AF-B8DD35B11E00}">
      <dsp:nvSpPr>
        <dsp:cNvPr id="0" name=""/>
        <dsp:cNvSpPr/>
      </dsp:nvSpPr>
      <dsp:spPr>
        <a:xfrm>
          <a:off x="3238839" y="2242291"/>
          <a:ext cx="2060209" cy="1401733"/>
        </a:xfrm>
        <a:prstGeom prst="roundRect">
          <a:avLst>
            <a:gd name="adj" fmla="val 10000"/>
          </a:avLst>
        </a:prstGeom>
        <a:solidFill>
          <a:schemeClr val="lt1">
            <a:alpha val="90000"/>
            <a:hueOff val="0"/>
            <a:satOff val="0"/>
            <a:lumOff val="0"/>
            <a:alphaOff val="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extension of modular design and structured programming</a:t>
          </a:r>
        </a:p>
      </dsp:txBody>
      <dsp:txXfrm>
        <a:off x="3279894" y="2283346"/>
        <a:ext cx="1978099" cy="1319623"/>
      </dsp:txXfrm>
    </dsp:sp>
    <dsp:sp modelId="{AB58CB0B-9A79-FB46-B44A-123C202FA944}">
      <dsp:nvSpPr>
        <dsp:cNvPr id="0" name=""/>
        <dsp:cNvSpPr/>
      </dsp:nvSpPr>
      <dsp:spPr>
        <a:xfrm>
          <a:off x="5791197" y="1409698"/>
          <a:ext cx="2232273" cy="1116136"/>
        </a:xfrm>
        <a:prstGeom prst="roundRect">
          <a:avLst>
            <a:gd name="adj" fmla="val 10000"/>
          </a:avLst>
        </a:prstGeom>
        <a:solidFill>
          <a:schemeClr val="accent3">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45720" tIns="30480" rIns="45720" bIns="30480" numCol="1" spcCol="1270" anchor="ctr" anchorCtr="0">
          <a:noAutofit/>
        </a:bodyPr>
        <a:lstStyle/>
        <a:p>
          <a:pPr marL="0" lvl="0" indent="0" algn="ctr" defTabSz="1066800">
            <a:lnSpc>
              <a:spcPct val="90000"/>
            </a:lnSpc>
            <a:spcBef>
              <a:spcPct val="0"/>
            </a:spcBef>
            <a:spcAft>
              <a:spcPct val="35000"/>
            </a:spcAft>
            <a:buNone/>
          </a:pPr>
          <a:r>
            <a:rPr lang="en-US" sz="2400" kern="1200" dirty="0"/>
            <a:t>Operating System Structure</a:t>
          </a:r>
        </a:p>
      </dsp:txBody>
      <dsp:txXfrm>
        <a:off x="5823888" y="1442389"/>
        <a:ext cx="2166891" cy="1050754"/>
      </dsp:txXfrm>
    </dsp:sp>
    <dsp:sp modelId="{43D5D9E6-EF4D-F346-B286-0A0EDC9D6387}">
      <dsp:nvSpPr>
        <dsp:cNvPr id="0" name=""/>
        <dsp:cNvSpPr/>
      </dsp:nvSpPr>
      <dsp:spPr>
        <a:xfrm>
          <a:off x="5968705" y="2525834"/>
          <a:ext cx="91440" cy="1261133"/>
        </a:xfrm>
        <a:custGeom>
          <a:avLst/>
          <a:gdLst/>
          <a:ahLst/>
          <a:cxnLst/>
          <a:rect l="0" t="0" r="0" b="0"/>
          <a:pathLst>
            <a:path>
              <a:moveTo>
                <a:pt x="45720" y="0"/>
              </a:moveTo>
              <a:lnTo>
                <a:pt x="45720" y="1261133"/>
              </a:lnTo>
              <a:lnTo>
                <a:pt x="62518" y="1261133"/>
              </a:lnTo>
            </a:path>
          </a:pathLst>
        </a:custGeom>
        <a:noFill/>
        <a:ln w="15875" cap="flat" cmpd="sng" algn="ctr">
          <a:solidFill>
            <a:schemeClr val="accent1">
              <a:shade val="60000"/>
              <a:hueOff val="0"/>
              <a:satOff val="0"/>
              <a:lumOff val="0"/>
              <a:alphaOff val="0"/>
            </a:schemeClr>
          </a:solidFill>
          <a:prstDash val="solid"/>
        </a:ln>
        <a:effectLst/>
      </dsp:spPr>
      <dsp:style>
        <a:lnRef idx="1">
          <a:scrgbClr r="0" g="0" b="0"/>
        </a:lnRef>
        <a:fillRef idx="0">
          <a:scrgbClr r="0" g="0" b="0"/>
        </a:fillRef>
        <a:effectRef idx="0">
          <a:scrgbClr r="0" g="0" b="0"/>
        </a:effectRef>
        <a:fontRef idx="minor"/>
      </dsp:style>
    </dsp:sp>
    <dsp:sp modelId="{B128BA17-BE6B-384D-BBE0-54B7B122AB84}">
      <dsp:nvSpPr>
        <dsp:cNvPr id="0" name=""/>
        <dsp:cNvSpPr/>
      </dsp:nvSpPr>
      <dsp:spPr>
        <a:xfrm>
          <a:off x="6031223" y="3086101"/>
          <a:ext cx="2045976" cy="1401733"/>
        </a:xfrm>
        <a:prstGeom prst="roundRect">
          <a:avLst>
            <a:gd name="adj" fmla="val 10000"/>
          </a:avLst>
        </a:prstGeom>
        <a:solidFill>
          <a:schemeClr val="accent3">
            <a:lumMod val="60000"/>
            <a:lumOff val="40000"/>
          </a:schemeClr>
        </a:solidFill>
        <a:ln w="15875" cap="flat" cmpd="sng" algn="ctr">
          <a:solidFill>
            <a:schemeClr val="accent1">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38100" tIns="25400" rIns="38100" bIns="25400" numCol="1" spcCol="1270" anchor="ctr" anchorCtr="0">
          <a:noAutofit/>
        </a:bodyPr>
        <a:lstStyle/>
        <a:p>
          <a:pPr marL="0" lvl="0" indent="0" algn="ctr" defTabSz="889000">
            <a:lnSpc>
              <a:spcPct val="90000"/>
            </a:lnSpc>
            <a:spcBef>
              <a:spcPct val="0"/>
            </a:spcBef>
            <a:spcAft>
              <a:spcPct val="35000"/>
            </a:spcAft>
            <a:buNone/>
          </a:pPr>
          <a:r>
            <a:rPr lang="en-US" sz="2000" kern="1200" dirty="0"/>
            <a:t>OS themselves implemented as a set of processes or threads</a:t>
          </a:r>
        </a:p>
      </dsp:txBody>
      <dsp:txXfrm>
        <a:off x="6072278" y="3127156"/>
        <a:ext cx="1963866" cy="13196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62FE9C-C5FA-5E46-ADCD-3ECA6CAD0E03}">
      <dsp:nvSpPr>
        <dsp:cNvPr id="0" name=""/>
        <dsp:cNvSpPr/>
      </dsp:nvSpPr>
      <dsp:spPr>
        <a:xfrm>
          <a:off x="225392" y="0"/>
          <a:ext cx="6861194" cy="1545085"/>
        </a:xfrm>
        <a:prstGeom prst="roundRect">
          <a:avLst/>
        </a:prstGeom>
        <a:solidFill>
          <a:schemeClr val="accent3">
            <a:lumMod val="50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t>In the case of competing processes three control problems must be faced:</a:t>
          </a:r>
        </a:p>
      </dsp:txBody>
      <dsp:txXfrm>
        <a:off x="300817" y="75425"/>
        <a:ext cx="6710344" cy="1394235"/>
      </dsp:txXfrm>
    </dsp:sp>
    <dsp:sp modelId="{6A7F9969-6F05-5F41-88FE-250A770AADDF}">
      <dsp:nvSpPr>
        <dsp:cNvPr id="0" name=""/>
        <dsp:cNvSpPr/>
      </dsp:nvSpPr>
      <dsp:spPr>
        <a:xfrm>
          <a:off x="0" y="1548693"/>
          <a:ext cx="7162800" cy="12416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27419" tIns="35560" rIns="199136" bIns="35560" numCol="1" spcCol="1270" anchor="t" anchorCtr="0">
          <a:noAutofit/>
        </a:bodyPr>
        <a:lstStyle/>
        <a:p>
          <a:pPr marL="171450" lvl="1" indent="0" algn="l" defTabSz="711200">
            <a:lnSpc>
              <a:spcPct val="90000"/>
            </a:lnSpc>
            <a:spcBef>
              <a:spcPct val="0"/>
            </a:spcBef>
            <a:spcAft>
              <a:spcPct val="20000"/>
            </a:spcAft>
            <a:buChar char="•"/>
          </a:pPr>
          <a:endParaRPr lang="en-US" sz="1600" kern="1200" dirty="0"/>
        </a:p>
        <a:p>
          <a:pPr marL="514350" lvl="2" indent="744538" algn="l" defTabSz="1244600">
            <a:lnSpc>
              <a:spcPct val="90000"/>
            </a:lnSpc>
            <a:spcBef>
              <a:spcPct val="0"/>
            </a:spcBef>
            <a:spcAft>
              <a:spcPct val="20000"/>
            </a:spcAft>
            <a:buChar char="•"/>
          </a:pPr>
          <a:r>
            <a:rPr lang="en-US" sz="2800" b="1" i="0" kern="1200" dirty="0">
              <a:solidFill>
                <a:schemeClr val="accent3">
                  <a:lumMod val="50000"/>
                </a:schemeClr>
              </a:solidFill>
            </a:rPr>
            <a:t>   the need for mutual exclusion</a:t>
          </a:r>
        </a:p>
        <a:p>
          <a:pPr marL="514350" lvl="3" indent="744538" algn="l" defTabSz="1244600">
            <a:lnSpc>
              <a:spcPct val="90000"/>
            </a:lnSpc>
            <a:spcBef>
              <a:spcPct val="0"/>
            </a:spcBef>
            <a:spcAft>
              <a:spcPct val="20000"/>
            </a:spcAft>
            <a:buChar char="•"/>
          </a:pPr>
          <a:r>
            <a:rPr lang="en-US" sz="2800" b="1" i="0" kern="1200" dirty="0">
              <a:solidFill>
                <a:schemeClr val="accent3">
                  <a:lumMod val="50000"/>
                </a:schemeClr>
              </a:solidFill>
            </a:rPr>
            <a:t>   deadlock</a:t>
          </a:r>
        </a:p>
        <a:p>
          <a:pPr marL="685800" lvl="4" indent="573088" algn="l" defTabSz="1244600">
            <a:lnSpc>
              <a:spcPct val="90000"/>
            </a:lnSpc>
            <a:spcBef>
              <a:spcPct val="0"/>
            </a:spcBef>
            <a:spcAft>
              <a:spcPct val="20000"/>
            </a:spcAft>
            <a:buChar char="•"/>
          </a:pPr>
          <a:r>
            <a:rPr lang="en-US" sz="2800" b="1" i="0" kern="1200" dirty="0">
              <a:solidFill>
                <a:schemeClr val="accent3">
                  <a:lumMod val="50000"/>
                </a:schemeClr>
              </a:solidFill>
            </a:rPr>
            <a:t>   starvation</a:t>
          </a:r>
        </a:p>
      </dsp:txBody>
      <dsp:txXfrm>
        <a:off x="0" y="1548693"/>
        <a:ext cx="7162800" cy="1241698"/>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defRPr>
            </a:lvl1pPr>
          </a:lstStyle>
          <a:p>
            <a:pPr>
              <a:defRPr/>
            </a:pPr>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a:latin typeface="+mn-lt"/>
              </a:defRPr>
            </a:lvl1pPr>
          </a:lstStyle>
          <a:p>
            <a:pPr>
              <a:defRPr/>
            </a:pPr>
            <a:fld id="{0118C455-DCBE-41F6-9A52-324D6BC54AEC}" type="datetimeFigureOut">
              <a:rPr lang="en-US"/>
              <a:pPr>
                <a:defRPr/>
              </a:pPr>
              <a:t>30-Apr-2024</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defRPr>
            </a:lvl1pPr>
          </a:lstStyle>
          <a:p>
            <a:pPr>
              <a:defRPr/>
            </a:pPr>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a:latin typeface="+mn-lt"/>
              </a:defRPr>
            </a:lvl1pPr>
          </a:lstStyle>
          <a:p>
            <a:pPr>
              <a:defRPr/>
            </a:pPr>
            <a:fld id="{B1F781F4-099F-4112-9B1E-8A4E4163911A}" type="slidenum">
              <a:rPr lang="en-US"/>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dirty="0">
                <a:latin typeface="Times New Roman" pitchFamily="-106" charset="0"/>
                <a:ea typeface="ＭＳ Ｐゴシック" pitchFamily="-106" charset="-128"/>
                <a:cs typeface="ＭＳ Ｐゴシック" pitchFamily="-106" charset="-128"/>
              </a:rPr>
              <a:t>“</a:t>
            </a:r>
            <a:r>
              <a:rPr kumimoji="1" lang="en-US" dirty="0">
                <a:latin typeface="Times New Roman" pitchFamily="-106" charset="0"/>
                <a:ea typeface="ＭＳ Ｐゴシック" pitchFamily="-106" charset="-128"/>
                <a:cs typeface="ＭＳ Ｐゴシック" pitchFamily="-106" charset="-128"/>
              </a:rPr>
              <a:t>Operating</a:t>
            </a:r>
            <a:r>
              <a:rPr kumimoji="1" lang="en-US" baseline="0" dirty="0">
                <a:latin typeface="Times New Roman" pitchFamily="-106" charset="0"/>
                <a:ea typeface="ＭＳ Ｐゴシック" pitchFamily="-106" charset="-128"/>
                <a:cs typeface="ＭＳ Ｐゴシック" pitchFamily="-106" charset="-128"/>
              </a:rPr>
              <a:t> Systems: Internal and Design Principles</a:t>
            </a:r>
            <a:r>
              <a:rPr lang="en-US" dirty="0">
                <a:latin typeface="Times New Roman" pitchFamily="-106" charset="0"/>
                <a:ea typeface="ＭＳ Ｐゴシック" pitchFamily="-106" charset="-128"/>
                <a:cs typeface="ＭＳ Ｐゴシック" pitchFamily="-106" charset="-128"/>
              </a:rPr>
              <a:t>”, 7/e, by William Stallings, Chapter 5 “</a:t>
            </a:r>
            <a:r>
              <a:rPr kumimoji="1" lang="en-GB" dirty="0">
                <a:latin typeface="Times New Roman" pitchFamily="-106" charset="0"/>
                <a:ea typeface="ＭＳ Ｐゴシック" pitchFamily="-106" charset="-128"/>
                <a:cs typeface="ＭＳ Ｐゴシック" pitchFamily="-106" charset="-128"/>
              </a:rPr>
              <a:t>Concurrency:</a:t>
            </a:r>
            <a:r>
              <a:rPr kumimoji="1" lang="en-GB" baseline="0" dirty="0">
                <a:latin typeface="Times New Roman" pitchFamily="-106" charset="0"/>
                <a:ea typeface="ＭＳ Ｐゴシック" pitchFamily="-106" charset="-128"/>
                <a:cs typeface="ＭＳ Ｐゴシック" pitchFamily="-106" charset="-128"/>
              </a:rPr>
              <a:t> Mutual Exclusion and Synchronization</a:t>
            </a:r>
            <a:r>
              <a:rPr lang="en-US" dirty="0">
                <a:latin typeface="Times New Roman" pitchFamily="-106" charset="0"/>
                <a:ea typeface="ＭＳ Ｐゴシック" pitchFamily="-106" charset="-128"/>
                <a:cs typeface="ＭＳ Ｐゴシック" pitchFamily="-106" charset="-128"/>
              </a:rPr>
              <a:t>”.</a:t>
            </a:r>
            <a:endParaRPr lang="en-AU" dirty="0">
              <a:latin typeface="Times New Roman" pitchFamily="-106" charset="0"/>
              <a:ea typeface="ＭＳ Ｐゴシック" pitchFamily="-106" charset="-128"/>
              <a:cs typeface="ＭＳ Ｐゴシック" pitchFamily="-106" charset="-128"/>
            </a:endParaRPr>
          </a:p>
          <a:p>
            <a:pPr marL="0" marR="0" indent="0" algn="l" defTabSz="914400" rtl="0" eaLnBrk="0" fontAlgn="base" latinLnBrk="0" hangingPunct="0">
              <a:lnSpc>
                <a:spcPct val="100000"/>
              </a:lnSpc>
              <a:spcBef>
                <a:spcPct val="30000"/>
              </a:spcBef>
              <a:spcAft>
                <a:spcPct val="0"/>
              </a:spcAft>
              <a:buClrTx/>
              <a:buSzTx/>
              <a:buFontTx/>
              <a:buNone/>
              <a:tabLst/>
              <a:defRPr/>
            </a:pP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This chapter begins with an introduction to the concept of concurrency and the implications of the execution of multiple concurrent processes. 1 We find that the basic requirement for support of concurrent processes is the ability to enforce mutual exclusion; that is, the ability to exclude all other processes from a course of action while one process is granted that ability. Next, we examine some hardware mechanisms that can support mutual exclusion. Then we look at solutions that do not involve busy waiting and that can be supported either by the OS or enforced by language compilers. We examine three approaches: semaphores, monitors, and message passing.</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Two classic problems in concurrency are used to illustrate the concepts and compare the approaches presented in this chapter. The producer/consumer problem is introduced in Section 5.3 and used as a running example. The chapter closes with the readers/writers problem.</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2</a:t>
            </a:fld>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central themes of operating system design are all concerned with the management of processes and threads:</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Multiprogramming: </a:t>
            </a:r>
            <a:r>
              <a:rPr lang="en-US" sz="1200" b="0" kern="1200" baseline="0" dirty="0">
                <a:solidFill>
                  <a:schemeClr val="tx1"/>
                </a:solidFill>
                <a:latin typeface="+mn-lt"/>
                <a:ea typeface="+mn-ea"/>
                <a:cs typeface="+mn-cs"/>
              </a:rPr>
              <a:t>The management of multiple processes within a </a:t>
            </a:r>
            <a:r>
              <a:rPr lang="en-US" sz="1200" b="0" kern="1200" baseline="0" dirty="0" err="1">
                <a:solidFill>
                  <a:schemeClr val="tx1"/>
                </a:solidFill>
                <a:latin typeface="+mn-lt"/>
                <a:ea typeface="+mn-ea"/>
                <a:cs typeface="+mn-cs"/>
              </a:rPr>
              <a:t>uniprocessor</a:t>
            </a:r>
            <a:r>
              <a:rPr lang="en-US" sz="1200" b="0" kern="1200" baseline="0" dirty="0">
                <a:solidFill>
                  <a:schemeClr val="tx1"/>
                </a:solidFill>
                <a:latin typeface="+mn-lt"/>
                <a:ea typeface="+mn-ea"/>
                <a:cs typeface="+mn-cs"/>
              </a:rPr>
              <a:t> </a:t>
            </a:r>
            <a:r>
              <a:rPr lang="en-US" sz="1200" kern="1200" baseline="0" dirty="0">
                <a:solidFill>
                  <a:schemeClr val="tx1"/>
                </a:solidFill>
                <a:latin typeface="+mn-lt"/>
                <a:ea typeface="+mn-ea"/>
                <a:cs typeface="+mn-cs"/>
              </a:rPr>
              <a:t>system</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Multiprocessing : </a:t>
            </a:r>
            <a:r>
              <a:rPr lang="en-US" sz="1200" b="0" kern="1200" baseline="0" dirty="0">
                <a:solidFill>
                  <a:schemeClr val="tx1"/>
                </a:solidFill>
                <a:latin typeface="+mn-lt"/>
                <a:ea typeface="+mn-ea"/>
                <a:cs typeface="+mn-cs"/>
              </a:rPr>
              <a:t>The management of multiple processes within a multiprocessor</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Distributed processing: </a:t>
            </a:r>
            <a:r>
              <a:rPr lang="en-US" sz="1200" b="0" kern="1200" baseline="0" dirty="0">
                <a:solidFill>
                  <a:schemeClr val="tx1"/>
                </a:solidFill>
                <a:latin typeface="+mn-lt"/>
                <a:ea typeface="+mn-ea"/>
                <a:cs typeface="+mn-cs"/>
              </a:rPr>
              <a:t>The management of multiple processes executing on </a:t>
            </a:r>
            <a:r>
              <a:rPr lang="en-US" sz="1200" kern="1200" baseline="0" dirty="0">
                <a:solidFill>
                  <a:schemeClr val="tx1"/>
                </a:solidFill>
                <a:latin typeface="+mn-lt"/>
                <a:ea typeface="+mn-ea"/>
                <a:cs typeface="+mn-cs"/>
              </a:rPr>
              <a:t>multiple, distributed computer systems. The recent proliferation of clusters is a prime example of this type of system.</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3</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Fundamental to all of these areas, and fundamental to OS design, is concurrency. Concurrency encompasses a host of design issues, including communication among processes, sharing of and competing for resources (such as memory, files, and I/O access), synchronization of the activities of multiple processes, and allocation of processor time to processes. We shall see that these issues arise not just in multiprocessing and distributed processing environments but even in single-processor multiprogramming systems.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Concurrency arises in three different contexts:</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Multiple applications: </a:t>
            </a:r>
            <a:r>
              <a:rPr lang="en-US" sz="1200" b="0" kern="1200" baseline="0" dirty="0">
                <a:solidFill>
                  <a:schemeClr val="tx1"/>
                </a:solidFill>
                <a:latin typeface="+mn-lt"/>
                <a:ea typeface="+mn-ea"/>
                <a:cs typeface="+mn-cs"/>
              </a:rPr>
              <a:t>Multiprogramming was invented to allow processing </a:t>
            </a:r>
            <a:r>
              <a:rPr lang="en-US" sz="1200" kern="1200" baseline="0" dirty="0">
                <a:solidFill>
                  <a:schemeClr val="tx1"/>
                </a:solidFill>
                <a:latin typeface="+mn-lt"/>
                <a:ea typeface="+mn-ea"/>
                <a:cs typeface="+mn-cs"/>
              </a:rPr>
              <a:t>time to be dynamically shared among a number of active applications.</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Structured applications: </a:t>
            </a:r>
            <a:r>
              <a:rPr lang="en-US" sz="1200" b="0" kern="1200" baseline="0" dirty="0">
                <a:solidFill>
                  <a:schemeClr val="tx1"/>
                </a:solidFill>
                <a:latin typeface="+mn-lt"/>
                <a:ea typeface="+mn-ea"/>
                <a:cs typeface="+mn-cs"/>
              </a:rPr>
              <a:t>As an extension of the principles of modular design </a:t>
            </a:r>
            <a:r>
              <a:rPr lang="en-US" sz="1200" kern="1200" baseline="0" dirty="0">
                <a:solidFill>
                  <a:schemeClr val="tx1"/>
                </a:solidFill>
                <a:latin typeface="+mn-lt"/>
                <a:ea typeface="+mn-ea"/>
                <a:cs typeface="+mn-cs"/>
              </a:rPr>
              <a:t>and structured programming, some applications can be effectively programmed as a set of concurrent processes.</a:t>
            </a:r>
          </a:p>
          <a:p>
            <a:r>
              <a:rPr lang="en-US" sz="1200" b="1" kern="1200" baseline="0" dirty="0">
                <a:solidFill>
                  <a:schemeClr val="tx1"/>
                </a:solidFill>
                <a:latin typeface="+mn-lt"/>
                <a:ea typeface="+mn-ea"/>
                <a:cs typeface="+mn-cs"/>
              </a:rPr>
              <a:t>Operating system structure: </a:t>
            </a:r>
            <a:r>
              <a:rPr lang="en-US" sz="1200" b="0" kern="1200" baseline="0" dirty="0">
                <a:solidFill>
                  <a:schemeClr val="tx1"/>
                </a:solidFill>
                <a:latin typeface="+mn-lt"/>
                <a:ea typeface="+mn-ea"/>
                <a:cs typeface="+mn-cs"/>
              </a:rPr>
              <a:t>The same structuring advantages apply to systems </a:t>
            </a:r>
            <a:r>
              <a:rPr lang="en-US" sz="1200" kern="1200" baseline="0" dirty="0">
                <a:solidFill>
                  <a:schemeClr val="tx1"/>
                </a:solidFill>
                <a:latin typeface="+mn-lt"/>
                <a:ea typeface="+mn-ea"/>
                <a:cs typeface="+mn-cs"/>
              </a:rPr>
              <a:t>programs, and we have seen that operating systems are themselves often implemented as a set of processes or threads.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At first glance, it may seem that interleaving and overlapping represent fundamentally different modes of execution and present different problems. In fact, both techniques can be viewed as examples of concurrent processing, and both present the same problems. In the case of a </a:t>
            </a:r>
            <a:r>
              <a:rPr lang="en-US" sz="1200" kern="1200" baseline="0" dirty="0" err="1">
                <a:solidFill>
                  <a:schemeClr val="tx1"/>
                </a:solidFill>
                <a:latin typeface="+mn-lt"/>
                <a:ea typeface="+mn-ea"/>
                <a:cs typeface="+mn-cs"/>
              </a:rPr>
              <a:t>uniprocessor</a:t>
            </a:r>
            <a:r>
              <a:rPr lang="en-US" sz="1200" kern="1200" baseline="0" dirty="0">
                <a:solidFill>
                  <a:schemeClr val="tx1"/>
                </a:solidFill>
                <a:latin typeface="+mn-lt"/>
                <a:ea typeface="+mn-ea"/>
                <a:cs typeface="+mn-cs"/>
              </a:rPr>
              <a:t>, the problems stem from a basic characteristic of multiprogramming systems: The relative speed of execution of processes cannot be predicted. It depends on the activities of other processes, the way in which the OS handles interrupts, and the scheduling policies of the OS.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following difficulties arise:</a:t>
            </a:r>
          </a:p>
          <a:p>
            <a:r>
              <a:rPr lang="en-US" sz="1200" b="1" kern="1200" baseline="0" dirty="0">
                <a:solidFill>
                  <a:schemeClr val="tx1"/>
                </a:solidFill>
                <a:latin typeface="+mn-lt"/>
                <a:ea typeface="+mn-ea"/>
                <a:cs typeface="+mn-cs"/>
              </a:rPr>
              <a:t>1. The sharing of global resources is fraught with peril. </a:t>
            </a:r>
            <a:r>
              <a:rPr lang="en-US" sz="1200" b="0" kern="1200" baseline="0" dirty="0">
                <a:solidFill>
                  <a:schemeClr val="tx1"/>
                </a:solidFill>
                <a:latin typeface="+mn-lt"/>
                <a:ea typeface="+mn-ea"/>
                <a:cs typeface="+mn-cs"/>
              </a:rPr>
              <a:t>For example, if two processes </a:t>
            </a:r>
            <a:r>
              <a:rPr lang="en-US" sz="1200" kern="1200" baseline="0" dirty="0">
                <a:solidFill>
                  <a:schemeClr val="tx1"/>
                </a:solidFill>
                <a:latin typeface="+mn-lt"/>
                <a:ea typeface="+mn-ea"/>
                <a:cs typeface="+mn-cs"/>
              </a:rPr>
              <a:t>both make use of the same global variable and both perform reads and writes on that variable, then the order in which the various reads and writes are executed is critical. An example of this problem is shown in the following subsection.</a:t>
            </a:r>
          </a:p>
          <a:p>
            <a:r>
              <a:rPr lang="en-US" sz="1200" b="1" kern="1200" baseline="0" dirty="0">
                <a:solidFill>
                  <a:schemeClr val="tx1"/>
                </a:solidFill>
                <a:latin typeface="+mn-lt"/>
                <a:ea typeface="+mn-ea"/>
                <a:cs typeface="+mn-cs"/>
              </a:rPr>
              <a:t>2. It is difficult for the OS to manage the allocation of resources optimally. </a:t>
            </a:r>
            <a:r>
              <a:rPr lang="en-US" sz="1200" b="0" kern="1200" baseline="0" dirty="0">
                <a:solidFill>
                  <a:schemeClr val="tx1"/>
                </a:solidFill>
                <a:latin typeface="+mn-lt"/>
                <a:ea typeface="+mn-ea"/>
                <a:cs typeface="+mn-cs"/>
              </a:rPr>
              <a:t>For</a:t>
            </a:r>
            <a:r>
              <a:rPr lang="en-US" sz="1200" b="1" kern="1200" baseline="0" dirty="0">
                <a:solidFill>
                  <a:schemeClr val="tx1"/>
                </a:solidFill>
                <a:latin typeface="+mn-lt"/>
                <a:ea typeface="+mn-ea"/>
                <a:cs typeface="+mn-cs"/>
              </a:rPr>
              <a:t> </a:t>
            </a:r>
            <a:r>
              <a:rPr lang="en-US" sz="1200" kern="1200" baseline="0" dirty="0">
                <a:solidFill>
                  <a:schemeClr val="tx1"/>
                </a:solidFill>
                <a:latin typeface="+mn-lt"/>
                <a:ea typeface="+mn-ea"/>
                <a:cs typeface="+mn-cs"/>
              </a:rPr>
              <a:t>example, process A may request use of, and be granted control of, a particular I/O channel and then be suspended before using that channel. It may be undesirable for the OS simply to lock the channel and prevent its use by other processes; indeed this may lead to a deadlock condition, as described in Chapter 6 .</a:t>
            </a:r>
          </a:p>
          <a:p>
            <a:r>
              <a:rPr lang="en-US" sz="1200" b="1" kern="1200" baseline="0" dirty="0">
                <a:solidFill>
                  <a:schemeClr val="tx1"/>
                </a:solidFill>
                <a:latin typeface="+mn-lt"/>
                <a:ea typeface="+mn-ea"/>
                <a:cs typeface="+mn-cs"/>
              </a:rPr>
              <a:t>3. It becomes very difficult to locate a programming error </a:t>
            </a:r>
            <a:r>
              <a:rPr lang="en-US" sz="1200" b="0" kern="1200" baseline="0" dirty="0">
                <a:solidFill>
                  <a:schemeClr val="tx1"/>
                </a:solidFill>
                <a:latin typeface="+mn-lt"/>
                <a:ea typeface="+mn-ea"/>
                <a:cs typeface="+mn-cs"/>
              </a:rPr>
              <a:t>because results are </a:t>
            </a:r>
            <a:r>
              <a:rPr lang="en-US" sz="1200" kern="1200" baseline="0" dirty="0">
                <a:solidFill>
                  <a:schemeClr val="tx1"/>
                </a:solidFill>
                <a:latin typeface="+mn-lt"/>
                <a:ea typeface="+mn-ea"/>
                <a:cs typeface="+mn-cs"/>
              </a:rPr>
              <a:t>typically not deterministic and reproducible (e.g., see [LEBL87, CARR89, SHEN02] for a discussion of this point).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All of the foregoing difficulties present themselves in a multiprocessor system as well, because here too the relative speed of execution of processes is unpredictable. A multiprocessor system must also deal with problems arising from the simultaneous execution of multiple processes. Fundamentally, however, the problems are the same as those for </a:t>
            </a:r>
            <a:r>
              <a:rPr lang="en-US" sz="1200" kern="1200" baseline="0" dirty="0" err="1">
                <a:solidFill>
                  <a:schemeClr val="tx1"/>
                </a:solidFill>
                <a:latin typeface="+mn-lt"/>
                <a:ea typeface="+mn-ea"/>
                <a:cs typeface="+mn-cs"/>
              </a:rPr>
              <a:t>uniprocessor</a:t>
            </a:r>
            <a:r>
              <a:rPr lang="en-US" sz="1200" kern="1200" baseline="0" dirty="0">
                <a:solidFill>
                  <a:schemeClr val="tx1"/>
                </a:solidFill>
                <a:latin typeface="+mn-lt"/>
                <a:ea typeface="+mn-ea"/>
                <a:cs typeface="+mn-cs"/>
              </a:rPr>
              <a:t> systems. This should become clear as the discussion proceeds.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A race condition occurs when multiple processes or threads read and write data items so that the final result depends on the order of execution of instructions in the multiple processes. Let us consider two simple examples.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As a first example, suppose that two processes, P1 and P2, share the global variable a . At some point in its execution, P1 updates a to the value 1, and at some point in its execution, P2 updates a to the value 2. Thus, the two tasks are in a race to write variable a . In this example, the “loser” of the race (the process that updates last) determines the final value of a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For our second example, consider two process, P3 and P4, that share global variables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and c , with initial values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1 and c = 2 . At some point in its execution, P3 executes the assignment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c , and at some point in its execution, P4 executes the assignment c =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c . Note that the two processes update different variables. However, the final values of the two variables depend on the order in which the two processes execute these two assignments. If P3 executes its assignment statement first, then the final values are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3 and c = 5 . If P4 executes its assignment statement first, then the final values are </a:t>
            </a:r>
            <a:r>
              <a:rPr lang="en-US" sz="1200" kern="1200" baseline="0" dirty="0" err="1">
                <a:solidFill>
                  <a:schemeClr val="tx1"/>
                </a:solidFill>
                <a:latin typeface="+mn-lt"/>
                <a:ea typeface="+mn-ea"/>
                <a:cs typeface="+mn-cs"/>
              </a:rPr>
              <a:t>b</a:t>
            </a:r>
            <a:r>
              <a:rPr lang="en-US" sz="1200" kern="1200" baseline="0" dirty="0">
                <a:solidFill>
                  <a:schemeClr val="tx1"/>
                </a:solidFill>
                <a:latin typeface="+mn-lt"/>
                <a:ea typeface="+mn-ea"/>
                <a:cs typeface="+mn-cs"/>
              </a:rPr>
              <a:t> = 4 and c = 3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Appendix A includes a discussion of race conditions using semaphores as an example.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7</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baseline="0" dirty="0">
                <a:solidFill>
                  <a:schemeClr val="tx1"/>
                </a:solidFill>
                <a:latin typeface="+mn-lt"/>
                <a:ea typeface="+mn-ea"/>
                <a:cs typeface="+mn-cs"/>
              </a:rPr>
              <a:t>What design and management issues are raised by the existence of concurrency?</a:t>
            </a:r>
          </a:p>
          <a:p>
            <a:r>
              <a:rPr lang="en-US" sz="1200" kern="1200" baseline="0" dirty="0">
                <a:solidFill>
                  <a:schemeClr val="tx1"/>
                </a:solidFill>
                <a:latin typeface="+mn-lt"/>
                <a:ea typeface="+mn-ea"/>
                <a:cs typeface="+mn-cs"/>
              </a:rPr>
              <a:t>We can list the following concerns:</a:t>
            </a:r>
          </a:p>
          <a:p>
            <a:r>
              <a:rPr lang="en-US" sz="1200" b="1" kern="1200" baseline="0" dirty="0">
                <a:solidFill>
                  <a:schemeClr val="tx1"/>
                </a:solidFill>
                <a:latin typeface="+mn-lt"/>
                <a:ea typeface="+mn-ea"/>
                <a:cs typeface="+mn-cs"/>
              </a:rPr>
              <a:t>1. The OS must be able to keep track of the various processes. </a:t>
            </a:r>
            <a:r>
              <a:rPr lang="en-US" sz="1200" b="0" kern="1200" baseline="0" dirty="0">
                <a:solidFill>
                  <a:schemeClr val="tx1"/>
                </a:solidFill>
                <a:latin typeface="+mn-lt"/>
                <a:ea typeface="+mn-ea"/>
                <a:cs typeface="+mn-cs"/>
              </a:rPr>
              <a:t>This is done with </a:t>
            </a:r>
            <a:r>
              <a:rPr lang="en-US" sz="1200" kern="1200" baseline="0" dirty="0">
                <a:solidFill>
                  <a:schemeClr val="tx1"/>
                </a:solidFill>
                <a:latin typeface="+mn-lt"/>
                <a:ea typeface="+mn-ea"/>
                <a:cs typeface="+mn-cs"/>
              </a:rPr>
              <a:t>the use of process control blocks and was described in Chapter 4 .</a:t>
            </a:r>
          </a:p>
          <a:p>
            <a:r>
              <a:rPr lang="en-US" sz="1200" b="1" kern="1200" baseline="0" dirty="0">
                <a:solidFill>
                  <a:schemeClr val="tx1"/>
                </a:solidFill>
                <a:latin typeface="+mn-lt"/>
                <a:ea typeface="+mn-ea"/>
                <a:cs typeface="+mn-cs"/>
              </a:rPr>
              <a:t>2. The OS must allocate and de-allocate various resources for each active process.</a:t>
            </a:r>
          </a:p>
          <a:p>
            <a:r>
              <a:rPr lang="en-US" sz="1200" kern="1200" baseline="0" dirty="0">
                <a:solidFill>
                  <a:schemeClr val="tx1"/>
                </a:solidFill>
                <a:latin typeface="+mn-lt"/>
                <a:ea typeface="+mn-ea"/>
                <a:cs typeface="+mn-cs"/>
              </a:rPr>
              <a:t>At times, multiple processes want access to the same resource. These resources include</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Processor time: </a:t>
            </a:r>
            <a:r>
              <a:rPr lang="en-US" sz="1200" b="0" kern="1200" baseline="0" dirty="0">
                <a:solidFill>
                  <a:schemeClr val="tx1"/>
                </a:solidFill>
                <a:latin typeface="+mn-lt"/>
                <a:ea typeface="+mn-ea"/>
                <a:cs typeface="+mn-cs"/>
              </a:rPr>
              <a:t>This is the scheduling function, discussed in Part Four.</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Memory</a:t>
            </a:r>
            <a:r>
              <a:rPr lang="en-US" sz="1200" b="0" kern="1200" baseline="0" dirty="0">
                <a:solidFill>
                  <a:schemeClr val="tx1"/>
                </a:solidFill>
                <a:latin typeface="+mn-lt"/>
                <a:ea typeface="+mn-ea"/>
                <a:cs typeface="+mn-cs"/>
              </a:rPr>
              <a:t>: Most operating systems use a virtual memory scheme. The topic </a:t>
            </a:r>
            <a:r>
              <a:rPr lang="en-US" sz="1200" kern="1200" baseline="0" dirty="0">
                <a:solidFill>
                  <a:schemeClr val="tx1"/>
                </a:solidFill>
                <a:latin typeface="+mn-lt"/>
                <a:ea typeface="+mn-ea"/>
                <a:cs typeface="+mn-cs"/>
              </a:rPr>
              <a:t>is addressed in Part Three.</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Files: </a:t>
            </a:r>
            <a:r>
              <a:rPr lang="en-US" sz="1200" b="0" kern="1200" baseline="0" dirty="0">
                <a:solidFill>
                  <a:schemeClr val="tx1"/>
                </a:solidFill>
                <a:latin typeface="+mn-lt"/>
                <a:ea typeface="+mn-ea"/>
                <a:cs typeface="+mn-cs"/>
              </a:rPr>
              <a:t>Discussed in Chapter 12 .</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I/O devices: </a:t>
            </a:r>
            <a:r>
              <a:rPr lang="en-US" sz="1200" b="0" kern="1200" baseline="0" dirty="0">
                <a:solidFill>
                  <a:schemeClr val="tx1"/>
                </a:solidFill>
                <a:latin typeface="+mn-lt"/>
                <a:ea typeface="+mn-ea"/>
                <a:cs typeface="+mn-cs"/>
              </a:rPr>
              <a:t>Discussed in Chapter 11 .</a:t>
            </a:r>
          </a:p>
          <a:p>
            <a:r>
              <a:rPr lang="en-US" sz="1200" b="1" kern="1200" baseline="0" dirty="0">
                <a:solidFill>
                  <a:schemeClr val="tx1"/>
                </a:solidFill>
                <a:latin typeface="+mn-lt"/>
                <a:ea typeface="+mn-ea"/>
                <a:cs typeface="+mn-cs"/>
              </a:rPr>
              <a:t>3. The OS must protect the data and physical resources of each process against</a:t>
            </a:r>
          </a:p>
          <a:p>
            <a:r>
              <a:rPr lang="en-US" sz="1200" kern="1200" baseline="0" dirty="0">
                <a:solidFill>
                  <a:schemeClr val="tx1"/>
                </a:solidFill>
                <a:latin typeface="+mn-lt"/>
                <a:ea typeface="+mn-ea"/>
                <a:cs typeface="+mn-cs"/>
              </a:rPr>
              <a:t>unintended interference by other processes. This involves techniques that relate to memory, files, and I/O devices. A general treatment of protection is found in Chapter 14 .</a:t>
            </a:r>
          </a:p>
          <a:p>
            <a:r>
              <a:rPr lang="en-US" sz="1200" b="1" kern="1200" baseline="0" dirty="0">
                <a:solidFill>
                  <a:schemeClr val="tx1"/>
                </a:solidFill>
                <a:latin typeface="+mn-lt"/>
                <a:ea typeface="+mn-ea"/>
                <a:cs typeface="+mn-cs"/>
              </a:rPr>
              <a:t>4. The functioning of a process, and the output it produces, must be independent </a:t>
            </a:r>
          </a:p>
          <a:p>
            <a:r>
              <a:rPr lang="en-US" sz="1200" kern="1200" baseline="0" dirty="0">
                <a:solidFill>
                  <a:schemeClr val="tx1"/>
                </a:solidFill>
                <a:latin typeface="+mn-lt"/>
                <a:ea typeface="+mn-ea"/>
                <a:cs typeface="+mn-cs"/>
              </a:rPr>
              <a:t>of the speed at which its execution is carried out relative to the speed of other</a:t>
            </a:r>
          </a:p>
          <a:p>
            <a:r>
              <a:rPr lang="en-US" sz="1200" kern="1200" baseline="0" dirty="0">
                <a:solidFill>
                  <a:schemeClr val="tx1"/>
                </a:solidFill>
                <a:latin typeface="+mn-lt"/>
                <a:ea typeface="+mn-ea"/>
                <a:cs typeface="+mn-cs"/>
              </a:rPr>
              <a:t>concurrent processes. This is the subject of this chapter.</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8</a:t>
            </a:fld>
            <a:endParaRPr lang="en-US"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lnSpcReduction="10000"/>
          </a:bodyPr>
          <a:lstStyle/>
          <a:p>
            <a:r>
              <a:rPr lang="en-US" sz="1200" kern="1200" baseline="0" dirty="0">
                <a:solidFill>
                  <a:schemeClr val="tx1"/>
                </a:solidFill>
                <a:latin typeface="+mn-lt"/>
                <a:ea typeface="+mn-ea"/>
                <a:cs typeface="+mn-cs"/>
              </a:rPr>
              <a:t>We can classify the ways in which processes interact on the basis of the degree to which they are aware of each other’s existence. Table 5.2 lists three possible degrees of awareness plus the consequences of each:</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Processes unaware of each other: These are independent processes that are not</a:t>
            </a:r>
          </a:p>
          <a:p>
            <a:r>
              <a:rPr lang="en-US" sz="1200" kern="1200" baseline="0" dirty="0">
                <a:solidFill>
                  <a:schemeClr val="tx1"/>
                </a:solidFill>
                <a:latin typeface="+mn-lt"/>
                <a:ea typeface="+mn-ea"/>
                <a:cs typeface="+mn-cs"/>
              </a:rPr>
              <a:t>intended to work together. The best example of this situation is the multiprogramming of multiple independent processes. These can either be batch jobs or interactive sessions or a mixture. Although the processes are not working together, the OS needs to be concerned about </a:t>
            </a:r>
            <a:r>
              <a:rPr lang="en-US" sz="1200" b="1" kern="1200" baseline="0" dirty="0">
                <a:solidFill>
                  <a:schemeClr val="tx1"/>
                </a:solidFill>
                <a:latin typeface="+mn-lt"/>
                <a:ea typeface="+mn-ea"/>
                <a:cs typeface="+mn-cs"/>
              </a:rPr>
              <a:t>competition for resources. For </a:t>
            </a:r>
            <a:r>
              <a:rPr lang="en-US" sz="1200" kern="1200" baseline="0" dirty="0">
                <a:solidFill>
                  <a:schemeClr val="tx1"/>
                </a:solidFill>
                <a:latin typeface="+mn-lt"/>
                <a:ea typeface="+mn-ea"/>
                <a:cs typeface="+mn-cs"/>
              </a:rPr>
              <a:t>example, two independent applications may both want to access the same disk or file or printer. The OS must regulate these accesses.</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Processes indirectly aware of each other: These are processes that are not necessarily</a:t>
            </a:r>
          </a:p>
          <a:p>
            <a:r>
              <a:rPr lang="en-US" sz="1200" kern="1200" baseline="0" dirty="0">
                <a:solidFill>
                  <a:schemeClr val="tx1"/>
                </a:solidFill>
                <a:latin typeface="+mn-lt"/>
                <a:ea typeface="+mn-ea"/>
                <a:cs typeface="+mn-cs"/>
              </a:rPr>
              <a:t>aware of each other by their respective process IDs but that share access to some object, such as an I/O buffer. Such processes exhibit </a:t>
            </a:r>
            <a:r>
              <a:rPr lang="en-US" sz="1200" b="1" kern="1200" baseline="0" dirty="0">
                <a:solidFill>
                  <a:schemeClr val="tx1"/>
                </a:solidFill>
                <a:latin typeface="+mn-lt"/>
                <a:ea typeface="+mn-ea"/>
                <a:cs typeface="+mn-cs"/>
              </a:rPr>
              <a:t>cooperation </a:t>
            </a:r>
            <a:r>
              <a:rPr lang="en-US" sz="1200" kern="1200" baseline="0" dirty="0">
                <a:solidFill>
                  <a:schemeClr val="tx1"/>
                </a:solidFill>
                <a:latin typeface="+mn-lt"/>
                <a:ea typeface="+mn-ea"/>
                <a:cs typeface="+mn-cs"/>
              </a:rPr>
              <a:t>in sharing the common object.</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Processes directly aware of each other: These are processes that are able to</a:t>
            </a:r>
          </a:p>
          <a:p>
            <a:r>
              <a:rPr lang="en-US" sz="1200" kern="1200" baseline="0" dirty="0">
                <a:solidFill>
                  <a:schemeClr val="tx1"/>
                </a:solidFill>
                <a:latin typeface="+mn-lt"/>
                <a:ea typeface="+mn-ea"/>
                <a:cs typeface="+mn-cs"/>
              </a:rPr>
              <a:t>communicate with each other by process ID and that are designed to work jointly on some activity. Again, such processes exhibit </a:t>
            </a:r>
            <a:r>
              <a:rPr lang="en-US" sz="1200" b="1" kern="1200" baseline="0" dirty="0">
                <a:solidFill>
                  <a:schemeClr val="tx1"/>
                </a:solidFill>
                <a:latin typeface="+mn-lt"/>
                <a:ea typeface="+mn-ea"/>
                <a:cs typeface="+mn-cs"/>
              </a:rPr>
              <a:t>cooperation . </a:t>
            </a:r>
            <a:r>
              <a:rPr lang="en-US" sz="1200" kern="1200" baseline="0" dirty="0">
                <a:solidFill>
                  <a:schemeClr val="tx1"/>
                </a:solidFill>
                <a:latin typeface="+mn-lt"/>
                <a:ea typeface="+mn-ea"/>
                <a:cs typeface="+mn-cs"/>
              </a:rPr>
              <a:t>Conditions will not always be as clear-cut as suggested in Table 5.2 . Rather, several processes may exhibit aspects of both competition and cooperation. Nevertheless, it is productive to examine each of the three items in the preceding list separately and determine their implications for the OS.</a:t>
            </a:r>
            <a:endParaRPr lang="en-US" b="0" i="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9</a:t>
            </a:fld>
            <a:endParaRPr lang="en-US" dirty="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70000" lnSpcReduction="20000"/>
          </a:bodyPr>
          <a:lstStyle/>
          <a:p>
            <a:r>
              <a:rPr lang="en-US" sz="1200" kern="1200" baseline="0" dirty="0">
                <a:solidFill>
                  <a:schemeClr val="tx1"/>
                </a:solidFill>
                <a:latin typeface="+mn-lt"/>
                <a:ea typeface="+mn-ea"/>
                <a:cs typeface="+mn-cs"/>
              </a:rPr>
              <a:t>Concurrent processes come into conflict with each other when they are competing for the use of the same resource. In its pure form, we can describe the situation as follows. Two or more processes need to access a resource during the course of their execution. Each process is unaware of the existence of other processes, and each is to be unaffected by the execution of the other processes. It follows from this that each process should leave the state of any resource that it uses unaffected. Examples of resources include I/O devices, memory, processor time, and the clock.</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There is no exchange of information between the competing processes. However, the execution of one process may affect the behavior of competing processes. In particular, if two processes both wish access to a single resource, then one process will be allocated that resource by the OS, and the other will have to wait. Therefore, the process that is denied access will be slowed down. In an extreme case, the blocked process may never get access to the resource and hence will never terminate successfully.</a:t>
            </a:r>
          </a:p>
          <a:p>
            <a:endParaRPr lang="en-US" sz="1200" b="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In the case of competing processes three control problems must be faced. First is the need for </a:t>
            </a:r>
            <a:r>
              <a:rPr lang="en-US" sz="1200" b="1" kern="1200" baseline="0" dirty="0">
                <a:solidFill>
                  <a:schemeClr val="tx1"/>
                </a:solidFill>
                <a:latin typeface="+mn-lt"/>
                <a:ea typeface="+mn-ea"/>
                <a:cs typeface="+mn-cs"/>
              </a:rPr>
              <a:t>mutual exclusion . </a:t>
            </a:r>
            <a:r>
              <a:rPr lang="en-US" sz="1200" b="0" kern="1200" baseline="0" dirty="0">
                <a:solidFill>
                  <a:schemeClr val="tx1"/>
                </a:solidFill>
                <a:latin typeface="+mn-lt"/>
                <a:ea typeface="+mn-ea"/>
                <a:cs typeface="+mn-cs"/>
              </a:rPr>
              <a:t>Suppose two or more processes require </a:t>
            </a:r>
            <a:r>
              <a:rPr lang="en-US" sz="1200" kern="1200" baseline="0" dirty="0">
                <a:solidFill>
                  <a:schemeClr val="tx1"/>
                </a:solidFill>
                <a:latin typeface="+mn-lt"/>
                <a:ea typeface="+mn-ea"/>
                <a:cs typeface="+mn-cs"/>
              </a:rPr>
              <a:t>access to a single non-sharable resource, such as a printer. During the course of execution, each process will be sending commands to the I/O device, receiving</a:t>
            </a:r>
          </a:p>
          <a:p>
            <a:r>
              <a:rPr lang="en-US" sz="1200" kern="1200" baseline="0" dirty="0">
                <a:solidFill>
                  <a:schemeClr val="tx1"/>
                </a:solidFill>
                <a:latin typeface="+mn-lt"/>
                <a:ea typeface="+mn-ea"/>
                <a:cs typeface="+mn-cs"/>
              </a:rPr>
              <a:t>status information, sending data, and/or receiving data. We will refer to such a resource as a </a:t>
            </a:r>
            <a:r>
              <a:rPr lang="en-US" sz="1200" b="1" kern="1200" baseline="0" dirty="0">
                <a:solidFill>
                  <a:schemeClr val="tx1"/>
                </a:solidFill>
                <a:latin typeface="+mn-lt"/>
                <a:ea typeface="+mn-ea"/>
                <a:cs typeface="+mn-cs"/>
              </a:rPr>
              <a:t>critical resource , </a:t>
            </a:r>
            <a:r>
              <a:rPr lang="en-US" sz="1200" b="0" kern="1200" baseline="0" dirty="0">
                <a:solidFill>
                  <a:schemeClr val="tx1"/>
                </a:solidFill>
                <a:latin typeface="+mn-lt"/>
                <a:ea typeface="+mn-ea"/>
                <a:cs typeface="+mn-cs"/>
              </a:rPr>
              <a:t>and the portion of the program that uses it as a </a:t>
            </a:r>
            <a:r>
              <a:rPr lang="en-US" sz="1200" b="1" kern="1200" baseline="0" dirty="0">
                <a:solidFill>
                  <a:schemeClr val="tx1"/>
                </a:solidFill>
                <a:latin typeface="+mn-lt"/>
                <a:ea typeface="+mn-ea"/>
                <a:cs typeface="+mn-cs"/>
              </a:rPr>
              <a:t>critical section </a:t>
            </a:r>
            <a:r>
              <a:rPr lang="en-US" sz="1200" b="0" kern="1200" baseline="0" dirty="0">
                <a:solidFill>
                  <a:schemeClr val="tx1"/>
                </a:solidFill>
                <a:latin typeface="+mn-lt"/>
                <a:ea typeface="+mn-ea"/>
                <a:cs typeface="+mn-cs"/>
              </a:rPr>
              <a:t>of the program. It is important that only one program at a time be </a:t>
            </a:r>
            <a:r>
              <a:rPr lang="en-US" sz="1200" kern="1200" baseline="0" dirty="0">
                <a:solidFill>
                  <a:schemeClr val="tx1"/>
                </a:solidFill>
                <a:latin typeface="+mn-lt"/>
                <a:ea typeface="+mn-ea"/>
                <a:cs typeface="+mn-cs"/>
              </a:rPr>
              <a:t>allowed in its critical section. We cannot simply rely on the OS to understand and enforce this restriction because the detailed requirements may not be obvious. In the case of the printer, for example, we want any individual process to have control of the printer while it prints an entire file. Otherwise, lines from competing processes will be interleaved.</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 enforcement of mutual exclusion creates two additional control problems. One is that of </a:t>
            </a:r>
            <a:r>
              <a:rPr lang="en-US" sz="1200" b="1" kern="1200" baseline="0" dirty="0">
                <a:solidFill>
                  <a:schemeClr val="tx1"/>
                </a:solidFill>
                <a:latin typeface="+mn-lt"/>
                <a:ea typeface="+mn-ea"/>
                <a:cs typeface="+mn-cs"/>
              </a:rPr>
              <a:t>deadlock . </a:t>
            </a:r>
            <a:r>
              <a:rPr lang="en-US" sz="1200" b="0" kern="1200" baseline="0" dirty="0">
                <a:solidFill>
                  <a:schemeClr val="tx1"/>
                </a:solidFill>
                <a:latin typeface="+mn-lt"/>
                <a:ea typeface="+mn-ea"/>
                <a:cs typeface="+mn-cs"/>
              </a:rPr>
              <a:t>For example, consider two processes, P1 and P2, and two </a:t>
            </a:r>
            <a:r>
              <a:rPr lang="en-US" sz="1200" kern="1200" baseline="0" dirty="0">
                <a:solidFill>
                  <a:schemeClr val="tx1"/>
                </a:solidFill>
                <a:latin typeface="+mn-lt"/>
                <a:ea typeface="+mn-ea"/>
                <a:cs typeface="+mn-cs"/>
              </a:rPr>
              <a:t>resources, R1 and R2. Suppose that each process needs access to both resources to perform part of its function. Then it is possible to have the following situation: the OS assigns R1 to P2, and R2 to P1. Each process is waiting for one of the two resources. Neither will release the resource that it already owns until it has acquired the other resource and performed the function requiring both resources. The two processes are deadlocked.</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 final control problem is </a:t>
            </a:r>
            <a:r>
              <a:rPr lang="en-US" sz="1200" b="1" kern="1200" baseline="0" dirty="0">
                <a:solidFill>
                  <a:schemeClr val="tx1"/>
                </a:solidFill>
                <a:latin typeface="+mn-lt"/>
                <a:ea typeface="+mn-ea"/>
                <a:cs typeface="+mn-cs"/>
              </a:rPr>
              <a:t>starvation . </a:t>
            </a:r>
            <a:r>
              <a:rPr lang="en-US" sz="1200" b="0" kern="1200" baseline="0" dirty="0">
                <a:solidFill>
                  <a:schemeClr val="tx1"/>
                </a:solidFill>
                <a:latin typeface="+mn-lt"/>
                <a:ea typeface="+mn-ea"/>
                <a:cs typeface="+mn-cs"/>
              </a:rPr>
              <a:t>Suppose that three processes (P1, P2</a:t>
            </a:r>
            <a:r>
              <a:rPr lang="en-US" sz="1200" b="1" kern="1200" baseline="0" dirty="0">
                <a:solidFill>
                  <a:schemeClr val="tx1"/>
                </a:solidFill>
                <a:latin typeface="+mn-lt"/>
                <a:ea typeface="+mn-ea"/>
                <a:cs typeface="+mn-cs"/>
              </a:rPr>
              <a:t>, </a:t>
            </a:r>
            <a:r>
              <a:rPr lang="en-US" sz="1200" kern="1200" baseline="0" dirty="0">
                <a:solidFill>
                  <a:schemeClr val="tx1"/>
                </a:solidFill>
                <a:latin typeface="+mn-lt"/>
                <a:ea typeface="+mn-ea"/>
                <a:cs typeface="+mn-cs"/>
              </a:rPr>
              <a:t>P3) each require periodic access to resource R. Consider the situation in which P1 is in possession of the resource, and both P2 and P3 are delayed, waiting for that resource. When P1 exits its critical section, either P2 or P3 should be allowed access to R. Assume that the OS grants access to P3 and that P1 again requires access before P3 completes its critical section. If the OS grants access to P1 after P3 has finished, and subsequently alternately grants access to P1 and P3, then P2 may indefinitely be denied access to the resource, even though there is no deadlock situation. </a:t>
            </a:r>
            <a:endParaRPr lang="en-US" b="0"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10</a:t>
            </a:fld>
            <a:endParaRPr lang="en-US" dirty="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algn="l" defTabSz="914400" rtl="0" eaLnBrk="0" fontAlgn="base" latinLnBrk="0" hangingPunct="0">
              <a:lnSpc>
                <a:spcPct val="100000"/>
              </a:lnSpc>
              <a:spcBef>
                <a:spcPct val="30000"/>
              </a:spcBef>
              <a:spcAft>
                <a:spcPct val="0"/>
              </a:spcAft>
              <a:buClrTx/>
              <a:buSzTx/>
              <a:buFontTx/>
              <a:buNone/>
              <a:tabLst/>
              <a:defRPr/>
            </a:pPr>
            <a:r>
              <a:rPr lang="en-US" sz="1200" kern="1200" baseline="0" dirty="0">
                <a:solidFill>
                  <a:schemeClr val="tx1"/>
                </a:solidFill>
                <a:latin typeface="+mn-lt"/>
                <a:ea typeface="+mn-ea"/>
                <a:cs typeface="+mn-cs"/>
              </a:rPr>
              <a:t>Control of competition inevitably involves the OS because it is the OS that allocates resources. In addition, the processes themselves will need to be able to express the requirement for mutual exclusion in some fashion, such as locking a resource prior to its use. Any solution will involve some support from the OS, such as the provision of the locking facility.</a:t>
            </a:r>
            <a:endParaRPr lang="en-US" b="0" dirty="0"/>
          </a:p>
          <a:p>
            <a:endParaRPr lang="en-US" dirty="0"/>
          </a:p>
          <a:p>
            <a:r>
              <a:rPr lang="en-US" sz="1200" kern="1200" baseline="0" dirty="0">
                <a:solidFill>
                  <a:schemeClr val="tx1"/>
                </a:solidFill>
                <a:latin typeface="+mn-lt"/>
                <a:ea typeface="+mn-ea"/>
                <a:cs typeface="+mn-cs"/>
              </a:rPr>
              <a:t>Figure 5.1 illustrates the mutual exclusion mechanism in abstract terms. There are </a:t>
            </a:r>
            <a:r>
              <a:rPr lang="en-US" sz="1200" i="1" kern="1200" baseline="0" dirty="0" err="1">
                <a:solidFill>
                  <a:schemeClr val="tx1"/>
                </a:solidFill>
                <a:latin typeface="+mn-lt"/>
                <a:ea typeface="+mn-ea"/>
                <a:cs typeface="+mn-cs"/>
              </a:rPr>
              <a:t>n</a:t>
            </a:r>
            <a:r>
              <a:rPr lang="en-US" sz="1200" i="1" kern="1200" baseline="0" dirty="0">
                <a:solidFill>
                  <a:schemeClr val="tx1"/>
                </a:solidFill>
                <a:latin typeface="+mn-lt"/>
                <a:ea typeface="+mn-ea"/>
                <a:cs typeface="+mn-cs"/>
              </a:rPr>
              <a:t> processes to be executed concurrently. </a:t>
            </a:r>
            <a:r>
              <a:rPr lang="en-US" sz="1200" kern="1200" baseline="0" dirty="0">
                <a:solidFill>
                  <a:schemeClr val="tx1"/>
                </a:solidFill>
                <a:latin typeface="+mn-lt"/>
                <a:ea typeface="+mn-ea"/>
                <a:cs typeface="+mn-cs"/>
              </a:rPr>
              <a:t>Each process includes (1) a critical section that operates on some resource Ra, and (2) additional code preceding and following the critical section that does not involve access to Ra. Because all processes access the same resource Ra, it is desired that only one process at a time be in its critical section. To enforce mutual exclusion, two functions are provided: </a:t>
            </a:r>
            <a:r>
              <a:rPr lang="en-US" sz="1200" kern="1200" baseline="0" dirty="0" err="1">
                <a:solidFill>
                  <a:schemeClr val="tx1"/>
                </a:solidFill>
                <a:latin typeface="+mn-lt"/>
                <a:ea typeface="+mn-ea"/>
                <a:cs typeface="+mn-cs"/>
              </a:rPr>
              <a:t>entercritical</a:t>
            </a:r>
            <a:r>
              <a:rPr lang="en-US" sz="1200" kern="1200" baseline="0" dirty="0">
                <a:solidFill>
                  <a:schemeClr val="tx1"/>
                </a:solidFill>
                <a:latin typeface="+mn-lt"/>
                <a:ea typeface="+mn-ea"/>
                <a:cs typeface="+mn-cs"/>
              </a:rPr>
              <a:t> and </a:t>
            </a:r>
            <a:r>
              <a:rPr lang="en-US" sz="1200" kern="1200" baseline="0" dirty="0" err="1">
                <a:solidFill>
                  <a:schemeClr val="tx1"/>
                </a:solidFill>
                <a:latin typeface="+mn-lt"/>
                <a:ea typeface="+mn-ea"/>
                <a:cs typeface="+mn-cs"/>
              </a:rPr>
              <a:t>exitcritical</a:t>
            </a:r>
            <a:r>
              <a:rPr lang="en-US" sz="1200" kern="1200" baseline="0" dirty="0">
                <a:solidFill>
                  <a:schemeClr val="tx1"/>
                </a:solidFill>
                <a:latin typeface="+mn-lt"/>
                <a:ea typeface="+mn-ea"/>
                <a:cs typeface="+mn-cs"/>
              </a:rPr>
              <a:t> . Each function takes as an argument the name of the resource that is the subject of competition. Any process that attempts to enter its critical section while another process is in its critical section, for the same resource, is made to wait.</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It remains to examine specific mechanisms for providing the functions </a:t>
            </a:r>
            <a:r>
              <a:rPr lang="en-US" sz="1200" kern="1200" baseline="0" dirty="0" err="1">
                <a:solidFill>
                  <a:schemeClr val="tx1"/>
                </a:solidFill>
                <a:latin typeface="+mn-lt"/>
                <a:ea typeface="+mn-ea"/>
                <a:cs typeface="+mn-cs"/>
              </a:rPr>
              <a:t>entercritical</a:t>
            </a:r>
            <a:r>
              <a:rPr lang="en-US" sz="1200" kern="1200" baseline="0" dirty="0">
                <a:solidFill>
                  <a:schemeClr val="tx1"/>
                </a:solidFill>
                <a:latin typeface="+mn-lt"/>
                <a:ea typeface="+mn-ea"/>
                <a:cs typeface="+mn-cs"/>
              </a:rPr>
              <a:t> and </a:t>
            </a:r>
            <a:r>
              <a:rPr lang="en-US" sz="1200" kern="1200" baseline="0" dirty="0" err="1">
                <a:solidFill>
                  <a:schemeClr val="tx1"/>
                </a:solidFill>
                <a:latin typeface="+mn-lt"/>
                <a:ea typeface="+mn-ea"/>
                <a:cs typeface="+mn-cs"/>
              </a:rPr>
              <a:t>exitcritical</a:t>
            </a:r>
            <a:r>
              <a:rPr lang="en-US" sz="1200" kern="1200" baseline="0" dirty="0">
                <a:solidFill>
                  <a:schemeClr val="tx1"/>
                </a:solidFill>
                <a:latin typeface="+mn-lt"/>
                <a:ea typeface="+mn-ea"/>
                <a:cs typeface="+mn-cs"/>
              </a:rPr>
              <a:t> . For the moment, we defer this issue while we consider the other cases of process interaction.</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11</a:t>
            </a:fld>
            <a:endParaRPr lang="en-US" dirty="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fontScale="85000" lnSpcReduction="20000"/>
          </a:bodyPr>
          <a:lstStyle/>
          <a:p>
            <a:r>
              <a:rPr lang="en-US" sz="1200" kern="1200" baseline="0" dirty="0">
                <a:solidFill>
                  <a:schemeClr val="tx1"/>
                </a:solidFill>
                <a:latin typeface="+mn-lt"/>
                <a:ea typeface="+mn-ea"/>
                <a:cs typeface="+mn-cs"/>
              </a:rPr>
              <a:t>Any facility or capability that is to provide support for mutual exclusion should</a:t>
            </a:r>
          </a:p>
          <a:p>
            <a:r>
              <a:rPr lang="en-US" sz="1200" kern="1200" baseline="0" dirty="0">
                <a:solidFill>
                  <a:schemeClr val="tx1"/>
                </a:solidFill>
                <a:latin typeface="+mn-lt"/>
                <a:ea typeface="+mn-ea"/>
                <a:cs typeface="+mn-cs"/>
              </a:rPr>
              <a:t>meet the following requirements:</a:t>
            </a:r>
          </a:p>
          <a:p>
            <a:r>
              <a:rPr lang="en-US" sz="1200" b="1" kern="1200" baseline="0" dirty="0">
                <a:solidFill>
                  <a:schemeClr val="tx1"/>
                </a:solidFill>
                <a:latin typeface="+mn-lt"/>
                <a:ea typeface="+mn-ea"/>
                <a:cs typeface="+mn-cs"/>
              </a:rPr>
              <a:t>1. Mutual exclusion must be enforced: Only one process at a time is allowed into</a:t>
            </a:r>
          </a:p>
          <a:p>
            <a:r>
              <a:rPr lang="en-US" sz="1200" kern="1200" baseline="0" dirty="0">
                <a:solidFill>
                  <a:schemeClr val="tx1"/>
                </a:solidFill>
                <a:latin typeface="+mn-lt"/>
                <a:ea typeface="+mn-ea"/>
                <a:cs typeface="+mn-cs"/>
              </a:rPr>
              <a:t>its critical section, among all processes that have critical sections for the same resource or shared object.</a:t>
            </a:r>
          </a:p>
          <a:p>
            <a:r>
              <a:rPr lang="en-US" sz="1200" b="1" kern="1200" baseline="0" dirty="0">
                <a:solidFill>
                  <a:schemeClr val="tx1"/>
                </a:solidFill>
                <a:latin typeface="+mn-lt"/>
                <a:ea typeface="+mn-ea"/>
                <a:cs typeface="+mn-cs"/>
              </a:rPr>
              <a:t>2. A process that halts in its noncritical section must do so without interfering</a:t>
            </a:r>
          </a:p>
          <a:p>
            <a:r>
              <a:rPr lang="en-US" sz="1200" kern="1200" baseline="0" dirty="0">
                <a:solidFill>
                  <a:schemeClr val="tx1"/>
                </a:solidFill>
                <a:latin typeface="+mn-lt"/>
                <a:ea typeface="+mn-ea"/>
                <a:cs typeface="+mn-cs"/>
              </a:rPr>
              <a:t>with other processes.</a:t>
            </a:r>
          </a:p>
          <a:p>
            <a:r>
              <a:rPr lang="en-US" sz="1200" b="1" kern="1200" baseline="0" dirty="0">
                <a:solidFill>
                  <a:schemeClr val="tx1"/>
                </a:solidFill>
                <a:latin typeface="+mn-lt"/>
                <a:ea typeface="+mn-ea"/>
                <a:cs typeface="+mn-cs"/>
              </a:rPr>
              <a:t>3. It must not be possible for a process requiring access to a critical section to be</a:t>
            </a:r>
          </a:p>
          <a:p>
            <a:r>
              <a:rPr lang="en-US" sz="1200" kern="1200" baseline="0" dirty="0">
                <a:solidFill>
                  <a:schemeClr val="tx1"/>
                </a:solidFill>
                <a:latin typeface="+mn-lt"/>
                <a:ea typeface="+mn-ea"/>
                <a:cs typeface="+mn-cs"/>
              </a:rPr>
              <a:t>delayed indefinitely: no deadlock or starvation.</a:t>
            </a:r>
          </a:p>
          <a:p>
            <a:r>
              <a:rPr lang="en-US" sz="1200" b="1" kern="1200" baseline="0" dirty="0">
                <a:solidFill>
                  <a:schemeClr val="tx1"/>
                </a:solidFill>
                <a:latin typeface="+mn-lt"/>
                <a:ea typeface="+mn-ea"/>
                <a:cs typeface="+mn-cs"/>
              </a:rPr>
              <a:t>4. When no process is in a critical section, any process that requests entry to its</a:t>
            </a:r>
          </a:p>
          <a:p>
            <a:r>
              <a:rPr lang="en-US" sz="1200" kern="1200" baseline="0" dirty="0">
                <a:solidFill>
                  <a:schemeClr val="tx1"/>
                </a:solidFill>
                <a:latin typeface="+mn-lt"/>
                <a:ea typeface="+mn-ea"/>
                <a:cs typeface="+mn-cs"/>
              </a:rPr>
              <a:t>critical section must be permitted to enter without delay.</a:t>
            </a:r>
          </a:p>
          <a:p>
            <a:r>
              <a:rPr lang="en-US" sz="1200" b="1" kern="1200" baseline="0" dirty="0">
                <a:solidFill>
                  <a:schemeClr val="tx1"/>
                </a:solidFill>
                <a:latin typeface="+mn-lt"/>
                <a:ea typeface="+mn-ea"/>
                <a:cs typeface="+mn-cs"/>
              </a:rPr>
              <a:t>5. No assumptions are made about relative process speeds or number of processors.</a:t>
            </a:r>
          </a:p>
          <a:p>
            <a:r>
              <a:rPr lang="en-US" sz="1200" b="1" kern="1200" baseline="0" dirty="0">
                <a:solidFill>
                  <a:schemeClr val="tx1"/>
                </a:solidFill>
                <a:latin typeface="+mn-lt"/>
                <a:ea typeface="+mn-ea"/>
                <a:cs typeface="+mn-cs"/>
              </a:rPr>
              <a:t>6. A process remains inside its critical section for a finite time only.</a:t>
            </a:r>
          </a:p>
          <a:p>
            <a:endParaRPr lang="en-US" sz="1200" b="1"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There are a number of ways in which the requirements for mutual exclusion can be satisfied. One approach is to leave the responsibility with the processes that wish to execute concurrently. Processes, whether they are system programs or application programs, would be required to coordinate with one another to enforce mutual exclusion, with no support from the programming language or the OS. We can refer to these as software approaches. Although this approach is prone to high processing overhead and bugs, it is nevertheless useful to examine such approaches to gain a better understanding of the complexity of concurrent processing. This topic is covered in Appendix A . A second approach involves the use of special purpose machine instructions. These have the advantage of reducing overhead but nevertheless will be shown to be unattractive as a general-purpose solution; they are covered in Section 5.2 . A third approach is to provide some level of support within the OS or a programming language. Three of the most important such approaches are examined in Sections 5.3 through 5.5 .</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12</a:t>
            </a:fld>
            <a:endParaRPr lang="en-US" dirty="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b="1" i="1" kern="1200" baseline="0" dirty="0">
                <a:solidFill>
                  <a:schemeClr val="tx1"/>
                </a:solidFill>
                <a:latin typeface="+mn-lt"/>
                <a:ea typeface="+mn-ea"/>
                <a:cs typeface="+mn-cs"/>
              </a:rPr>
              <a:t>COMPARE&amp;SWAP INSTRUCTION</a:t>
            </a:r>
          </a:p>
          <a:p>
            <a:r>
              <a:rPr lang="en-US" sz="1200" kern="1200" baseline="0" dirty="0">
                <a:solidFill>
                  <a:schemeClr val="tx1"/>
                </a:solidFill>
                <a:latin typeface="+mn-lt"/>
                <a:ea typeface="+mn-ea"/>
                <a:cs typeface="+mn-cs"/>
              </a:rPr>
              <a:t>This version of the instruction checks a memory location ( *word ) against a test value ( </a:t>
            </a:r>
            <a:r>
              <a:rPr lang="en-US" sz="1200" kern="1200" baseline="0" dirty="0" err="1">
                <a:solidFill>
                  <a:schemeClr val="tx1"/>
                </a:solidFill>
                <a:latin typeface="+mn-lt"/>
                <a:ea typeface="+mn-ea"/>
                <a:cs typeface="+mn-cs"/>
              </a:rPr>
              <a:t>testval</a:t>
            </a:r>
            <a:r>
              <a:rPr lang="en-US" sz="1200" kern="1200" baseline="0" dirty="0">
                <a:solidFill>
                  <a:schemeClr val="tx1"/>
                </a:solidFill>
                <a:latin typeface="+mn-lt"/>
                <a:ea typeface="+mn-ea"/>
                <a:cs typeface="+mn-cs"/>
              </a:rPr>
              <a:t> ). If the memory location’s current value is </a:t>
            </a:r>
            <a:r>
              <a:rPr lang="en-US" sz="1200" kern="1200" baseline="0" dirty="0" err="1">
                <a:solidFill>
                  <a:schemeClr val="tx1"/>
                </a:solidFill>
                <a:latin typeface="+mn-lt"/>
                <a:ea typeface="+mn-ea"/>
                <a:cs typeface="+mn-cs"/>
              </a:rPr>
              <a:t>testval</a:t>
            </a:r>
            <a:r>
              <a:rPr lang="en-US" sz="1200" kern="1200" baseline="0" dirty="0">
                <a:solidFill>
                  <a:schemeClr val="tx1"/>
                </a:solidFill>
                <a:latin typeface="+mn-lt"/>
                <a:ea typeface="+mn-ea"/>
                <a:cs typeface="+mn-cs"/>
              </a:rPr>
              <a:t>, it is replaced with </a:t>
            </a:r>
            <a:r>
              <a:rPr lang="en-US" sz="1200" kern="1200" baseline="0" dirty="0" err="1">
                <a:solidFill>
                  <a:schemeClr val="tx1"/>
                </a:solidFill>
                <a:latin typeface="+mn-lt"/>
                <a:ea typeface="+mn-ea"/>
                <a:cs typeface="+mn-cs"/>
              </a:rPr>
              <a:t>newval</a:t>
            </a:r>
            <a:r>
              <a:rPr lang="en-US" sz="1200" kern="1200" baseline="0" dirty="0">
                <a:solidFill>
                  <a:schemeClr val="tx1"/>
                </a:solidFill>
                <a:latin typeface="+mn-lt"/>
                <a:ea typeface="+mn-ea"/>
                <a:cs typeface="+mn-cs"/>
              </a:rPr>
              <a:t> ; otherwise it is left unchanged. The old memory value is always returned; thus, the memory location has been updated if the returned value is the same as the test value. This atomic instruction therefore has two parts: A </a:t>
            </a:r>
            <a:r>
              <a:rPr lang="en-US" sz="1200" b="1" kern="1200" baseline="0" dirty="0">
                <a:solidFill>
                  <a:schemeClr val="tx1"/>
                </a:solidFill>
                <a:latin typeface="+mn-lt"/>
                <a:ea typeface="+mn-ea"/>
                <a:cs typeface="+mn-cs"/>
              </a:rPr>
              <a:t>compare is made </a:t>
            </a:r>
            <a:r>
              <a:rPr lang="en-US" sz="1200" kern="1200" baseline="0" dirty="0">
                <a:solidFill>
                  <a:schemeClr val="tx1"/>
                </a:solidFill>
                <a:latin typeface="+mn-lt"/>
                <a:ea typeface="+mn-ea"/>
                <a:cs typeface="+mn-cs"/>
              </a:rPr>
              <a:t>between a memory value and a test value; if the values are the same, a </a:t>
            </a:r>
            <a:r>
              <a:rPr lang="en-US" sz="1200" b="1" kern="1200" baseline="0" dirty="0">
                <a:solidFill>
                  <a:schemeClr val="tx1"/>
                </a:solidFill>
                <a:latin typeface="+mn-lt"/>
                <a:ea typeface="+mn-ea"/>
                <a:cs typeface="+mn-cs"/>
              </a:rPr>
              <a:t>swap occurs. </a:t>
            </a:r>
            <a:r>
              <a:rPr lang="en-US" sz="1200" kern="1200" baseline="0" dirty="0">
                <a:solidFill>
                  <a:schemeClr val="tx1"/>
                </a:solidFill>
                <a:latin typeface="+mn-lt"/>
                <a:ea typeface="+mn-ea"/>
                <a:cs typeface="+mn-cs"/>
              </a:rPr>
              <a:t>The entire </a:t>
            </a:r>
            <a:r>
              <a:rPr lang="en-US" sz="1200" kern="1200" baseline="0" dirty="0" err="1">
                <a:solidFill>
                  <a:schemeClr val="tx1"/>
                </a:solidFill>
                <a:latin typeface="+mn-lt"/>
                <a:ea typeface="+mn-ea"/>
                <a:cs typeface="+mn-cs"/>
              </a:rPr>
              <a:t>compare&amp;swap</a:t>
            </a:r>
            <a:r>
              <a:rPr lang="en-US" sz="1200" kern="1200" baseline="0" dirty="0">
                <a:solidFill>
                  <a:schemeClr val="tx1"/>
                </a:solidFill>
                <a:latin typeface="+mn-lt"/>
                <a:ea typeface="+mn-ea"/>
                <a:cs typeface="+mn-cs"/>
              </a:rPr>
              <a:t> function is carried out atomically—that is, it is not subject to interruption.</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Another version of this instruction returns a Boolean value: true if the swap occurred; false otherwise. Some version of this instruction is available on nearly all processor families (x86, IA64, </a:t>
            </a:r>
            <a:r>
              <a:rPr lang="en-US" sz="1200" kern="1200" baseline="0" dirty="0" err="1">
                <a:solidFill>
                  <a:schemeClr val="tx1"/>
                </a:solidFill>
                <a:latin typeface="+mn-lt"/>
                <a:ea typeface="+mn-ea"/>
                <a:cs typeface="+mn-cs"/>
              </a:rPr>
              <a:t>sparc</a:t>
            </a:r>
            <a:r>
              <a:rPr lang="en-US" sz="1200" kern="1200" baseline="0" dirty="0">
                <a:solidFill>
                  <a:schemeClr val="tx1"/>
                </a:solidFill>
                <a:latin typeface="+mn-lt"/>
                <a:ea typeface="+mn-ea"/>
                <a:cs typeface="+mn-cs"/>
              </a:rPr>
              <a:t>, /390, etc.), and most operating systems use this instruction for support of concurrency.</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14</a:t>
            </a:fld>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5.2a shows a mutual exclusion protocol based on the use of this instruction. A shared variable bolt is initialized to 0. The only process that may enter its critical section is one that finds bolt equal to 0. All other processes attempting to enter their critical section go into a busy waiting mode. The term </a:t>
            </a:r>
            <a:r>
              <a:rPr lang="en-US" sz="1200" b="1" kern="1200" baseline="0" dirty="0">
                <a:solidFill>
                  <a:schemeClr val="tx1"/>
                </a:solidFill>
                <a:latin typeface="+mn-lt"/>
                <a:ea typeface="+mn-ea"/>
                <a:cs typeface="+mn-cs"/>
              </a:rPr>
              <a:t>busy waiting , </a:t>
            </a:r>
            <a:r>
              <a:rPr lang="en-US" sz="1200" kern="1200" baseline="0" dirty="0">
                <a:solidFill>
                  <a:schemeClr val="tx1"/>
                </a:solidFill>
                <a:latin typeface="+mn-lt"/>
                <a:ea typeface="+mn-ea"/>
                <a:cs typeface="+mn-cs"/>
              </a:rPr>
              <a:t>or </a:t>
            </a:r>
            <a:r>
              <a:rPr lang="en-US" sz="1200" b="1" kern="1200" baseline="0" dirty="0">
                <a:solidFill>
                  <a:schemeClr val="tx1"/>
                </a:solidFill>
                <a:latin typeface="+mn-lt"/>
                <a:ea typeface="+mn-ea"/>
                <a:cs typeface="+mn-cs"/>
              </a:rPr>
              <a:t>spin waiting </a:t>
            </a:r>
            <a:r>
              <a:rPr lang="en-US" sz="1200" b="0" kern="1200" baseline="0" dirty="0">
                <a:solidFill>
                  <a:schemeClr val="tx1"/>
                </a:solidFill>
                <a:latin typeface="+mn-lt"/>
                <a:ea typeface="+mn-ea"/>
                <a:cs typeface="+mn-cs"/>
              </a:rPr>
              <a:t>, refers to a technique in which a process can do nothing until it gets </a:t>
            </a:r>
            <a:r>
              <a:rPr lang="en-US" sz="1200" kern="1200" baseline="0" dirty="0">
                <a:solidFill>
                  <a:schemeClr val="tx1"/>
                </a:solidFill>
                <a:latin typeface="+mn-lt"/>
                <a:ea typeface="+mn-ea"/>
                <a:cs typeface="+mn-cs"/>
              </a:rPr>
              <a:t>permission to enter its critical section but continues to execute an instruction or set of instructions that tests the appropriate variable to gain entrance. When a process leaves its critical section, it resets </a:t>
            </a:r>
            <a:r>
              <a:rPr lang="en-US" sz="1200" i="1" kern="1200" baseline="0" dirty="0">
                <a:solidFill>
                  <a:schemeClr val="tx1"/>
                </a:solidFill>
                <a:latin typeface="+mn-lt"/>
                <a:ea typeface="+mn-ea"/>
                <a:cs typeface="+mn-cs"/>
              </a:rPr>
              <a:t>bolt to 0; at this point one and only one of the waiting </a:t>
            </a:r>
            <a:r>
              <a:rPr lang="en-US" sz="1200" kern="1200" baseline="0" dirty="0">
                <a:solidFill>
                  <a:schemeClr val="tx1"/>
                </a:solidFill>
                <a:latin typeface="+mn-lt"/>
                <a:ea typeface="+mn-ea"/>
                <a:cs typeface="+mn-cs"/>
              </a:rPr>
              <a:t>processes is granted access to its critical section. The choice of process depends on which process happens to execute the compare &amp; swap instruction next.</a:t>
            </a:r>
            <a:endParaRPr lang="en-NZ" baseline="0" dirty="0"/>
          </a:p>
          <a:p>
            <a:pPr lvl="0"/>
            <a:endParaRPr lang="en-US" dirty="0"/>
          </a:p>
          <a:p>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15</a:t>
            </a:fld>
            <a:endParaRPr lang="en-US" dirty="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Figure 5.2b shows a mutual exclusion protocol based on the use of an exchange instruction. A shared variable </a:t>
            </a:r>
            <a:r>
              <a:rPr lang="en-US" sz="1200" i="1" kern="1200" baseline="0" dirty="0">
                <a:solidFill>
                  <a:schemeClr val="tx1"/>
                </a:solidFill>
                <a:latin typeface="+mn-lt"/>
                <a:ea typeface="+mn-ea"/>
                <a:cs typeface="+mn-cs"/>
              </a:rPr>
              <a:t>bolt is initialized to 0. Each process uses a local variable key that is initialized to 1. The only process that may enter its critical section </a:t>
            </a:r>
            <a:r>
              <a:rPr lang="en-US" sz="1200" kern="1200" baseline="0" dirty="0">
                <a:solidFill>
                  <a:schemeClr val="tx1"/>
                </a:solidFill>
                <a:latin typeface="+mn-lt"/>
                <a:ea typeface="+mn-ea"/>
                <a:cs typeface="+mn-cs"/>
              </a:rPr>
              <a:t>is one that finds </a:t>
            </a:r>
            <a:r>
              <a:rPr lang="en-US" sz="1200" i="1" kern="1200" baseline="0" dirty="0">
                <a:solidFill>
                  <a:schemeClr val="tx1"/>
                </a:solidFill>
                <a:latin typeface="+mn-lt"/>
                <a:ea typeface="+mn-ea"/>
                <a:cs typeface="+mn-cs"/>
              </a:rPr>
              <a:t>bolt equal to 0. It excludes all other processes from the critical section </a:t>
            </a:r>
            <a:r>
              <a:rPr lang="en-US" sz="1200" kern="1200" baseline="0" dirty="0">
                <a:solidFill>
                  <a:schemeClr val="tx1"/>
                </a:solidFill>
                <a:latin typeface="+mn-lt"/>
                <a:ea typeface="+mn-ea"/>
                <a:cs typeface="+mn-cs"/>
              </a:rPr>
              <a:t>by setting </a:t>
            </a:r>
            <a:r>
              <a:rPr lang="en-US" sz="1200" i="1" kern="1200" baseline="0" dirty="0">
                <a:solidFill>
                  <a:schemeClr val="tx1"/>
                </a:solidFill>
                <a:latin typeface="+mn-lt"/>
                <a:ea typeface="+mn-ea"/>
                <a:cs typeface="+mn-cs"/>
              </a:rPr>
              <a:t>bolt to 1. When a process leaves its critical section, it resets bolt to 0, </a:t>
            </a:r>
            <a:r>
              <a:rPr lang="en-US" sz="1200" kern="1200" baseline="0" dirty="0">
                <a:solidFill>
                  <a:schemeClr val="tx1"/>
                </a:solidFill>
                <a:latin typeface="+mn-lt"/>
                <a:ea typeface="+mn-ea"/>
                <a:cs typeface="+mn-cs"/>
              </a:rPr>
              <a:t>allowing another process to gain access to its critical section.</a:t>
            </a:r>
            <a:endParaRPr lang="en-NZ"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16</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 use of a special machine instruction to enforce mutual exclusion has a number of advantages:</a:t>
            </a:r>
          </a:p>
          <a:p>
            <a:r>
              <a:rPr lang="en-US" sz="1200" kern="1200" baseline="0" dirty="0">
                <a:solidFill>
                  <a:schemeClr val="tx1"/>
                </a:solidFill>
                <a:latin typeface="+mn-lt"/>
                <a:ea typeface="+mn-ea"/>
                <a:cs typeface="+mn-cs"/>
              </a:rPr>
              <a:t>• It is applicable to any number of processes on either a single processor or multiple processors sharing main memory.</a:t>
            </a:r>
          </a:p>
          <a:p>
            <a:r>
              <a:rPr lang="en-US" sz="1200" kern="1200" baseline="0" dirty="0">
                <a:solidFill>
                  <a:schemeClr val="tx1"/>
                </a:solidFill>
                <a:latin typeface="+mn-lt"/>
                <a:ea typeface="+mn-ea"/>
                <a:cs typeface="+mn-cs"/>
              </a:rPr>
              <a:t>• It is simple and therefore easy to verify.</a:t>
            </a:r>
          </a:p>
          <a:p>
            <a:r>
              <a:rPr lang="en-US" sz="1200" kern="1200" baseline="0" dirty="0">
                <a:solidFill>
                  <a:schemeClr val="tx1"/>
                </a:solidFill>
                <a:latin typeface="+mn-lt"/>
                <a:ea typeface="+mn-ea"/>
                <a:cs typeface="+mn-cs"/>
              </a:rPr>
              <a:t>• It can be used to support multiple critical sections; each critical section can be defined by its own variable.</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17</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lang="en-US" sz="1200" kern="1200" baseline="0" dirty="0">
                <a:solidFill>
                  <a:schemeClr val="tx1"/>
                </a:solidFill>
                <a:latin typeface="+mn-lt"/>
                <a:ea typeface="+mn-ea"/>
                <a:cs typeface="+mn-cs"/>
              </a:rPr>
              <a:t>There are some serious disadvantages:</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Busy waiting is employed: </a:t>
            </a:r>
            <a:r>
              <a:rPr lang="en-US" sz="1200" b="0" kern="1200" baseline="0" dirty="0">
                <a:solidFill>
                  <a:schemeClr val="tx1"/>
                </a:solidFill>
                <a:latin typeface="+mn-lt"/>
                <a:ea typeface="+mn-ea"/>
                <a:cs typeface="+mn-cs"/>
              </a:rPr>
              <a:t>Thus, while a process is waiting for access to a critical </a:t>
            </a:r>
            <a:r>
              <a:rPr lang="en-US" sz="1200" kern="1200" baseline="0" dirty="0">
                <a:solidFill>
                  <a:schemeClr val="tx1"/>
                </a:solidFill>
                <a:latin typeface="+mn-lt"/>
                <a:ea typeface="+mn-ea"/>
                <a:cs typeface="+mn-cs"/>
              </a:rPr>
              <a:t>section, it continues to consume processor time.</a:t>
            </a:r>
          </a:p>
          <a:p>
            <a:pPr>
              <a:buFont typeface="Arial"/>
              <a:buChar char="•"/>
            </a:pPr>
            <a:r>
              <a:rPr lang="en-US" sz="1200" b="1" kern="1200" baseline="0" dirty="0">
                <a:solidFill>
                  <a:schemeClr val="tx1"/>
                </a:solidFill>
                <a:latin typeface="+mn-lt"/>
                <a:ea typeface="+mn-ea"/>
                <a:cs typeface="+mn-cs"/>
              </a:rPr>
              <a:t>Starvation is possible: </a:t>
            </a:r>
            <a:r>
              <a:rPr lang="en-US" sz="1200" b="0" kern="1200" baseline="0" dirty="0">
                <a:solidFill>
                  <a:schemeClr val="tx1"/>
                </a:solidFill>
                <a:latin typeface="+mn-lt"/>
                <a:ea typeface="+mn-ea"/>
                <a:cs typeface="+mn-cs"/>
              </a:rPr>
              <a:t>When a process leaves a critical section and more than </a:t>
            </a:r>
            <a:r>
              <a:rPr lang="en-US" sz="1200" kern="1200" baseline="0" dirty="0">
                <a:solidFill>
                  <a:schemeClr val="tx1"/>
                </a:solidFill>
                <a:latin typeface="+mn-lt"/>
                <a:ea typeface="+mn-ea"/>
                <a:cs typeface="+mn-cs"/>
              </a:rPr>
              <a:t>one process is waiting, the selection of a waiting process is arbitrary. Thus, some process could indefinitely be denied access.</a:t>
            </a:r>
          </a:p>
          <a:p>
            <a:r>
              <a:rPr lang="en-US" sz="1200" kern="1200" baseline="0" dirty="0">
                <a:solidFill>
                  <a:schemeClr val="tx1"/>
                </a:solidFill>
                <a:latin typeface="+mn-lt"/>
                <a:ea typeface="+mn-ea"/>
                <a:cs typeface="+mn-cs"/>
              </a:rPr>
              <a:t>• </a:t>
            </a:r>
            <a:r>
              <a:rPr lang="en-US" sz="1200" b="1" kern="1200" baseline="0" dirty="0">
                <a:solidFill>
                  <a:schemeClr val="tx1"/>
                </a:solidFill>
                <a:latin typeface="+mn-lt"/>
                <a:ea typeface="+mn-ea"/>
                <a:cs typeface="+mn-cs"/>
              </a:rPr>
              <a:t>Deadlock is possible: </a:t>
            </a:r>
            <a:r>
              <a:rPr lang="en-US" sz="1200" b="0" kern="1200" baseline="0" dirty="0">
                <a:solidFill>
                  <a:schemeClr val="tx1"/>
                </a:solidFill>
                <a:latin typeface="+mn-lt"/>
                <a:ea typeface="+mn-ea"/>
                <a:cs typeface="+mn-cs"/>
              </a:rPr>
              <a:t>Consider the following scenario on a single-processor </a:t>
            </a:r>
            <a:r>
              <a:rPr lang="en-US" sz="1200" kern="1200" baseline="0" dirty="0">
                <a:solidFill>
                  <a:schemeClr val="tx1"/>
                </a:solidFill>
                <a:latin typeface="+mn-lt"/>
                <a:ea typeface="+mn-ea"/>
                <a:cs typeface="+mn-cs"/>
              </a:rPr>
              <a:t>system. Process P1 executes the special instruction (e.g., compare &amp; swap, exchange ) and enters its critical section. P1 is then interrupted to give the processor to P2, which has higher priority. If P2 now attempts to use the same resource as P1, it will be denied access because of the mutual exclusion mechanism. Thus, it will go into a busy waiting loop. However, P1 will never be dispatched</a:t>
            </a:r>
          </a:p>
          <a:p>
            <a:r>
              <a:rPr lang="en-US" sz="1200" kern="1200" baseline="0" dirty="0">
                <a:solidFill>
                  <a:schemeClr val="tx1"/>
                </a:solidFill>
                <a:latin typeface="+mn-lt"/>
                <a:ea typeface="+mn-ea"/>
                <a:cs typeface="+mn-cs"/>
              </a:rPr>
              <a:t>because it is of lower priority than another ready process, P2. </a:t>
            </a:r>
          </a:p>
          <a:p>
            <a:endParaRPr lang="en-US" sz="1200" kern="1200" baseline="0" dirty="0">
              <a:solidFill>
                <a:schemeClr val="tx1"/>
              </a:solidFill>
              <a:latin typeface="+mn-lt"/>
              <a:ea typeface="+mn-ea"/>
              <a:cs typeface="+mn-cs"/>
            </a:endParaRPr>
          </a:p>
          <a:p>
            <a:r>
              <a:rPr lang="en-US" sz="1200" kern="1200" baseline="0" dirty="0">
                <a:solidFill>
                  <a:schemeClr val="tx1"/>
                </a:solidFill>
                <a:latin typeface="+mn-lt"/>
                <a:ea typeface="+mn-ea"/>
                <a:cs typeface="+mn-cs"/>
              </a:rPr>
              <a:t>Because of the drawbacks of both the software and hardware solutions just outlined, we need to look for other mechanisms.</a:t>
            </a:r>
            <a:endParaRPr lang="en-US" dirty="0"/>
          </a:p>
        </p:txBody>
      </p:sp>
      <p:sp>
        <p:nvSpPr>
          <p:cNvPr id="4" name="Slide Number Placeholder 3"/>
          <p:cNvSpPr>
            <a:spLocks noGrp="1"/>
          </p:cNvSpPr>
          <p:nvPr>
            <p:ph type="sldNum" sz="quarter" idx="10"/>
          </p:nvPr>
        </p:nvSpPr>
        <p:spPr/>
        <p:txBody>
          <a:bodyPr/>
          <a:lstStyle/>
          <a:p>
            <a:pPr>
              <a:defRPr/>
            </a:pPr>
            <a:fld id="{B1F781F4-099F-4112-9B1E-8A4E4163911A}" type="slidenum">
              <a:rPr lang="en-US" smtClean="0"/>
              <a:pPr>
                <a:defRPr/>
              </a:pPr>
              <a:t>18</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2.xml"/><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356CD45C-81C4-4E27-A18A-8835B7066D8D}"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CAF246AB-72DE-4829-A3EE-183283F17E51}" type="slidenum">
              <a:rPr lang="en-US"/>
              <a:pPr>
                <a:defRPr/>
              </a:pPr>
              <a:t>‹#›</a:t>
            </a:fld>
            <a:endParaRPr lang="en-US" dirty="0"/>
          </a:p>
        </p:txBody>
      </p:sp>
    </p:spTree>
  </p:cSld>
  <p:clrMapOvr>
    <a:masterClrMapping/>
  </p:clrMapOv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64DF4F1D-9F1B-4CA4-932E-311654E9982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59217303-0E5B-4E24-BCA3-62F5881C102C}" type="slidenum">
              <a:rPr lang="en-US"/>
              <a:pPr>
                <a:defRPr/>
              </a:pPr>
              <a:t>‹#›</a:t>
            </a:fld>
            <a:endParaRPr lang="en-US" dirty="0"/>
          </a:p>
        </p:txBody>
      </p:sp>
    </p:spTree>
  </p:cSld>
  <p:clrMapOvr>
    <a:masterClrMapping/>
  </p:clrMapOv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BA0E4233-E030-4D82-AE1D-06E871FCE686}"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DF17966-739A-4E4E-BEF8-5E9D65CAA6DD}" type="slidenum">
              <a:rPr lang="en-US"/>
              <a:pPr>
                <a:defRPr/>
              </a:pPr>
              <a:t>‹#›</a:t>
            </a:fld>
            <a:endParaRPr lang="en-US" dirty="0"/>
          </a:p>
        </p:txBody>
      </p:sp>
    </p:spTree>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C7C5EE9E-C85E-43CC-91D6-50F7B4961BB7}"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69B75778-597E-43D2-A71E-341C60964EE0}" type="slidenum">
              <a:rPr lang="en-US"/>
              <a:pPr>
                <a:defRPr/>
              </a:pPr>
              <a:t>‹#›</a:t>
            </a:fld>
            <a:endParaRPr lang="en-US" dirty="0"/>
          </a:p>
        </p:txBody>
      </p:sp>
    </p:spTree>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E19F8884-1DEA-4C84-A489-E724713CC95E}" type="datetimeFigureOut">
              <a:rPr lang="en-US"/>
              <a:pPr>
                <a:defRPr/>
              </a:pPr>
              <a:t>30-Apr-2024</a:t>
            </a:fld>
            <a:endParaRPr lang="en-US" dirty="0"/>
          </a:p>
        </p:txBody>
      </p:sp>
      <p:sp>
        <p:nvSpPr>
          <p:cNvPr id="8" name="Footer Placeholder 4"/>
          <p:cNvSpPr>
            <a:spLocks noGrp="1"/>
          </p:cNvSpPr>
          <p:nvPr>
            <p:ph type="ftr" sz="quarter" idx="11"/>
          </p:nvPr>
        </p:nvSpPr>
        <p:spPr/>
        <p:txBody>
          <a:bodyPr/>
          <a:lstStyle>
            <a:lvl1pPr>
              <a:defRPr/>
            </a:lvl1pPr>
          </a:lstStyle>
          <a:p>
            <a:pPr>
              <a:defRPr/>
            </a:pPr>
            <a:endParaRPr lang="en-US" dirty="0"/>
          </a:p>
        </p:txBody>
      </p:sp>
      <p:sp>
        <p:nvSpPr>
          <p:cNvPr id="9" name="Slide Number Placeholder 5"/>
          <p:cNvSpPr>
            <a:spLocks noGrp="1"/>
          </p:cNvSpPr>
          <p:nvPr>
            <p:ph type="sldNum" sz="quarter" idx="12"/>
          </p:nvPr>
        </p:nvSpPr>
        <p:spPr/>
        <p:txBody>
          <a:bodyPr/>
          <a:lstStyle>
            <a:lvl1pPr>
              <a:defRPr/>
            </a:lvl1pPr>
          </a:lstStyle>
          <a:p>
            <a:pPr>
              <a:defRPr/>
            </a:pPr>
            <a:fld id="{F8D71189-8D0B-455A-87B2-3A89DCBF685D}" type="slidenum">
              <a:rPr lang="en-US"/>
              <a:pPr>
                <a:defRPr/>
              </a:pPr>
              <a:t>‹#›</a:t>
            </a:fld>
            <a:endParaRPr lang="en-US" dirty="0"/>
          </a:p>
        </p:txBody>
      </p:sp>
    </p:spTree>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502DFE5A-BFC9-454A-A87C-69BA4FE25A0F}" type="datetimeFigureOut">
              <a:rPr lang="en-US"/>
              <a:pPr>
                <a:defRPr/>
              </a:pPr>
              <a:t>30-Apr-2024</a:t>
            </a:fld>
            <a:endParaRPr lang="en-US" dirty="0"/>
          </a:p>
        </p:txBody>
      </p:sp>
      <p:sp>
        <p:nvSpPr>
          <p:cNvPr id="4" name="Footer Placeholder 4"/>
          <p:cNvSpPr>
            <a:spLocks noGrp="1"/>
          </p:cNvSpPr>
          <p:nvPr>
            <p:ph type="ftr" sz="quarter" idx="11"/>
          </p:nvPr>
        </p:nvSpPr>
        <p:spPr/>
        <p:txBody>
          <a:bodyPr/>
          <a:lstStyle>
            <a:lvl1pPr>
              <a:defRPr/>
            </a:lvl1pPr>
          </a:lstStyle>
          <a:p>
            <a:pPr>
              <a:defRPr/>
            </a:pPr>
            <a:endParaRPr lang="en-US" dirty="0"/>
          </a:p>
        </p:txBody>
      </p:sp>
      <p:sp>
        <p:nvSpPr>
          <p:cNvPr id="5" name="Slide Number Placeholder 5"/>
          <p:cNvSpPr>
            <a:spLocks noGrp="1"/>
          </p:cNvSpPr>
          <p:nvPr>
            <p:ph type="sldNum" sz="quarter" idx="12"/>
          </p:nvPr>
        </p:nvSpPr>
        <p:spPr/>
        <p:txBody>
          <a:bodyPr/>
          <a:lstStyle>
            <a:lvl1pPr>
              <a:defRPr/>
            </a:lvl1pPr>
          </a:lstStyle>
          <a:p>
            <a:pPr>
              <a:defRPr/>
            </a:pPr>
            <a:fld id="{6F5D2254-A369-4EE7-927D-AE713623071A}" type="slidenum">
              <a:rPr lang="en-US"/>
              <a:pPr>
                <a:defRPr/>
              </a:pPr>
              <a:t>‹#›</a:t>
            </a:fld>
            <a:endParaRPr lang="en-US" dirty="0"/>
          </a:p>
        </p:txBody>
      </p:sp>
    </p:spTree>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DB4A6603-BAC9-4FFA-BE72-57B7C0EDA50D}" type="datetimeFigureOut">
              <a:rPr lang="en-US"/>
              <a:pPr>
                <a:defRPr/>
              </a:pPr>
              <a:t>30-Apr-2024</a:t>
            </a:fld>
            <a:endParaRPr lang="en-US" dirty="0"/>
          </a:p>
        </p:txBody>
      </p:sp>
      <p:sp>
        <p:nvSpPr>
          <p:cNvPr id="3" name="Footer Placeholder 4"/>
          <p:cNvSpPr>
            <a:spLocks noGrp="1"/>
          </p:cNvSpPr>
          <p:nvPr>
            <p:ph type="ftr" sz="quarter" idx="11"/>
          </p:nvPr>
        </p:nvSpPr>
        <p:spPr/>
        <p:txBody>
          <a:bodyPr/>
          <a:lstStyle>
            <a:lvl1pPr>
              <a:defRPr/>
            </a:lvl1pPr>
          </a:lstStyle>
          <a:p>
            <a:pPr>
              <a:defRPr/>
            </a:pPr>
            <a:endParaRPr lang="en-US" dirty="0"/>
          </a:p>
        </p:txBody>
      </p:sp>
      <p:sp>
        <p:nvSpPr>
          <p:cNvPr id="4" name="Slide Number Placeholder 5"/>
          <p:cNvSpPr>
            <a:spLocks noGrp="1"/>
          </p:cNvSpPr>
          <p:nvPr>
            <p:ph type="sldNum" sz="quarter" idx="12"/>
          </p:nvPr>
        </p:nvSpPr>
        <p:spPr/>
        <p:txBody>
          <a:bodyPr/>
          <a:lstStyle>
            <a:lvl1pPr>
              <a:defRPr/>
            </a:lvl1pPr>
          </a:lstStyle>
          <a:p>
            <a:pPr>
              <a:defRPr/>
            </a:pPr>
            <a:fld id="{2269E04E-7B9E-40CB-AECA-9BEEF7D4B165}" type="slidenum">
              <a:rPr lang="en-US"/>
              <a:pPr>
                <a:defRPr/>
              </a:pPr>
              <a:t>‹#›</a:t>
            </a:fld>
            <a:endParaRPr lang="en-US" dirty="0"/>
          </a:p>
        </p:txBody>
      </p:sp>
    </p:spTree>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056F2E53-C0F0-49CC-8B3F-6BA3D019B99D}"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EA175EC1-C65E-447A-8CAE-CC74F7243464}" type="slidenum">
              <a:rPr lang="en-US"/>
              <a:pPr>
                <a:defRPr/>
              </a:pPr>
              <a:t>‹#›</a:t>
            </a:fld>
            <a:endParaRPr lang="en-US" dirty="0"/>
          </a:p>
        </p:txBody>
      </p:sp>
    </p:spTree>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644AA9AB-7925-475F-87E4-57F6EF092961}" type="datetimeFigureOut">
              <a:rPr lang="en-US"/>
              <a:pPr>
                <a:defRPr/>
              </a:pPr>
              <a:t>30-Apr-2024</a:t>
            </a:fld>
            <a:endParaRPr lang="en-US" dirty="0"/>
          </a:p>
        </p:txBody>
      </p:sp>
      <p:sp>
        <p:nvSpPr>
          <p:cNvPr id="6" name="Footer Placeholder 4"/>
          <p:cNvSpPr>
            <a:spLocks noGrp="1"/>
          </p:cNvSpPr>
          <p:nvPr>
            <p:ph type="ftr" sz="quarter" idx="11"/>
          </p:nvPr>
        </p:nvSpPr>
        <p:spPr/>
        <p:txBody>
          <a:bodyPr/>
          <a:lstStyle>
            <a:lvl1pPr>
              <a:defRPr/>
            </a:lvl1pPr>
          </a:lstStyle>
          <a:p>
            <a:pPr>
              <a:defRPr/>
            </a:pPr>
            <a:endParaRPr lang="en-US" dirty="0"/>
          </a:p>
        </p:txBody>
      </p:sp>
      <p:sp>
        <p:nvSpPr>
          <p:cNvPr id="7" name="Slide Number Placeholder 5"/>
          <p:cNvSpPr>
            <a:spLocks noGrp="1"/>
          </p:cNvSpPr>
          <p:nvPr>
            <p:ph type="sldNum" sz="quarter" idx="12"/>
          </p:nvPr>
        </p:nvSpPr>
        <p:spPr/>
        <p:txBody>
          <a:bodyPr/>
          <a:lstStyle>
            <a:lvl1pPr>
              <a:defRPr/>
            </a:lvl1pPr>
          </a:lstStyle>
          <a:p>
            <a:pPr>
              <a:defRPr/>
            </a:pPr>
            <a:fld id="{94A6BC3C-EF4C-4932-8208-7FBB5701A0AF}" type="slidenum">
              <a:rPr lang="en-US"/>
              <a:pPr>
                <a:defRPr/>
              </a:pPr>
              <a:t>‹#›</a:t>
            </a:fld>
            <a:endParaRPr lang="en-US" dirty="0"/>
          </a:p>
        </p:txBody>
      </p:sp>
    </p:spTree>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DA9C3780-DD3C-46A5-8303-4579155A8DB3}"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312BAF33-582B-4B0D-B27A-32E91EEEB040}" type="slidenum">
              <a:rPr lang="en-US"/>
              <a:pPr>
                <a:defRPr/>
              </a:pPr>
              <a:t>‹#›</a:t>
            </a:fld>
            <a:endParaRPr lang="en-US" dirty="0"/>
          </a:p>
        </p:txBody>
      </p:sp>
    </p:spTree>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433C4502-BF88-49E9-A189-5718D68C95C9}" type="datetimeFigureOut">
              <a:rPr lang="en-US"/>
              <a:pPr>
                <a:defRPr/>
              </a:pPr>
              <a:t>30-Apr-2024</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dirty="0"/>
          </a:p>
        </p:txBody>
      </p:sp>
      <p:sp>
        <p:nvSpPr>
          <p:cNvPr id="6" name="Slide Number Placeholder 5"/>
          <p:cNvSpPr>
            <a:spLocks noGrp="1"/>
          </p:cNvSpPr>
          <p:nvPr>
            <p:ph type="sldNum" sz="quarter" idx="12"/>
          </p:nvPr>
        </p:nvSpPr>
        <p:spPr/>
        <p:txBody>
          <a:bodyPr/>
          <a:lstStyle>
            <a:lvl1pPr>
              <a:defRPr/>
            </a:lvl1pPr>
          </a:lstStyle>
          <a:p>
            <a:pPr>
              <a:defRPr/>
            </a:pPr>
            <a:fld id="{BA835F4E-BD93-49E1-84D0-363BA31979D7}" type="slidenum">
              <a:rPr lang="en-US"/>
              <a:pPr>
                <a:defRPr/>
              </a:pPr>
              <a:t>‹#›</a:t>
            </a:fld>
            <a:endParaRPr lang="en-US" dirty="0"/>
          </a:p>
        </p:txBody>
      </p:sp>
    </p:spTree>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useBgFill="1">
        <p:nvSpPr>
          <p:cNvPr id="12" name="Rectangle 11"/>
          <p:cNvSpPr/>
          <p:nvPr/>
        </p:nvSpPr>
        <p:spPr>
          <a:xfrm>
            <a:off x="341086" y="928914"/>
            <a:ext cx="8432800" cy="177074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ctrTitle"/>
          </p:nvPr>
        </p:nvSpPr>
        <p:spPr>
          <a:xfrm>
            <a:off x="685707" y="968189"/>
            <a:ext cx="7799387" cy="1237130"/>
          </a:xfrm>
        </p:spPr>
        <p:txBody>
          <a:bodyPr anchor="b" anchorCtr="0"/>
          <a:lstStyle>
            <a:lvl1pPr algn="r">
              <a:lnSpc>
                <a:spcPts val="5000"/>
              </a:lnSpc>
              <a:defRPr sz="4600">
                <a:solidFill>
                  <a:schemeClr val="accent1"/>
                </a:solidFill>
                <a:effectLst/>
              </a:defRPr>
            </a:lvl1pPr>
          </a:lstStyle>
          <a:p>
            <a:r>
              <a:rPr lang="en-US"/>
              <a:t>Click to edit Master title style</a:t>
            </a:r>
            <a:endParaRPr/>
          </a:p>
        </p:txBody>
      </p:sp>
      <p:sp>
        <p:nvSpPr>
          <p:cNvPr id="3" name="Subtitle 2"/>
          <p:cNvSpPr>
            <a:spLocks noGrp="1"/>
          </p:cNvSpPr>
          <p:nvPr>
            <p:ph type="subTitle" idx="1"/>
          </p:nvPr>
        </p:nvSpPr>
        <p:spPr>
          <a:xfrm>
            <a:off x="685707" y="2209799"/>
            <a:ext cx="7799387" cy="466165"/>
          </a:xfrm>
        </p:spPr>
        <p:txBody>
          <a:bodyPr/>
          <a:lstStyle>
            <a:lvl1pPr marL="0" indent="0" algn="r">
              <a:lnSpc>
                <a:spcPct val="100000"/>
              </a:lnSpc>
              <a:spcBef>
                <a:spcPts val="0"/>
              </a:spcBef>
              <a:buNone/>
              <a:defRPr sz="1800">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a:p>
        </p:txBody>
      </p:sp>
      <p:sp>
        <p:nvSpPr>
          <p:cNvPr id="4" name="Date Placeholder 3"/>
          <p:cNvSpPr>
            <a:spLocks noGrp="1"/>
          </p:cNvSpPr>
          <p:nvPr>
            <p:ph type="dt" sz="half" idx="10"/>
          </p:nvPr>
        </p:nvSpPr>
        <p:spPr/>
        <p:txBody>
          <a:bodyPr/>
          <a:lstStyle/>
          <a:p>
            <a:pPr>
              <a:defRPr/>
            </a:pPr>
            <a:fld id="{EF5D2D3F-B0F1-446B-B7CC-19B90EB0017B}" type="datetimeFigureOut">
              <a:rPr lang="en-US" smtClean="0"/>
              <a:pPr>
                <a:defRPr/>
              </a:pPr>
              <a:t>30-Apr-2024</a:t>
            </a:fld>
            <a:endParaRPr lang="en-US" dirty="0"/>
          </a:p>
        </p:txBody>
      </p:sp>
      <p:sp>
        <p:nvSpPr>
          <p:cNvPr id="6" name="Slide Number Placeholder 5"/>
          <p:cNvSpPr>
            <a:spLocks noGrp="1"/>
          </p:cNvSpPr>
          <p:nvPr>
            <p:ph type="sldNum" sz="quarter" idx="12"/>
          </p:nvPr>
        </p:nvSpPr>
        <p:spPr>
          <a:xfrm>
            <a:off x="4305300" y="6492875"/>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46FA4F69-47FA-46CC-8030-E13D0EF9E85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457200" y="816802"/>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TitleSlideTop.jpg"/>
          <p:cNvPicPr>
            <a:picLocks noChangeAspect="1"/>
          </p:cNvPicPr>
          <p:nvPr/>
        </p:nvPicPr>
        <p:blipFill>
          <a:blip r:embed="rId2"/>
          <a:stretch>
            <a:fillRect/>
          </a:stretch>
        </p:blipFill>
        <p:spPr>
          <a:xfrm>
            <a:off x="457200" y="457200"/>
            <a:ext cx="8229600" cy="356646"/>
          </a:xfrm>
          <a:prstGeom prst="rect">
            <a:avLst/>
          </a:prstGeom>
        </p:spPr>
      </p:pic>
      <p:pic>
        <p:nvPicPr>
          <p:cNvPr id="10" name="Picture 9" descr="TitleSlideBottom.jpg"/>
          <p:cNvPicPr>
            <a:picLocks noChangeAspect="1"/>
          </p:cNvPicPr>
          <p:nvPr/>
        </p:nvPicPr>
        <p:blipFill>
          <a:blip r:embed="rId3"/>
          <a:stretch>
            <a:fillRect/>
          </a:stretch>
        </p:blipFill>
        <p:spPr>
          <a:xfrm>
            <a:off x="457200" y="2700601"/>
            <a:ext cx="8229600" cy="3700199"/>
          </a:xfrm>
          <a:prstGeom prst="rect">
            <a:avLst/>
          </a:prstGeom>
        </p:spPr>
      </p:pic>
      <p:sp>
        <p:nvSpPr>
          <p:cNvPr id="11"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Tree>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fld id="{5120D744-A176-4DCB-9147-2AE7B7E87481}" type="datetimeFigureOut">
              <a:rPr lang="en-US"/>
              <a:pPr/>
              <a:t>30-Apr-2024</a:t>
            </a:fld>
            <a:endParaRPr/>
          </a:p>
        </p:txBody>
      </p:sp>
      <p:sp>
        <p:nvSpPr>
          <p:cNvPr id="5" name="Footer Placeholder 4"/>
          <p:cNvSpPr>
            <a:spLocks noGrp="1"/>
          </p:cNvSpPr>
          <p:nvPr>
            <p:ph type="ftr" sz="quarter" idx="11"/>
          </p:nvPr>
        </p:nvSpPr>
        <p:spPr/>
        <p:txBody>
          <a:bodyPr/>
          <a:lstStyle/>
          <a:p>
            <a:endParaRPr/>
          </a:p>
        </p:txBody>
      </p:sp>
      <p:sp>
        <p:nvSpPr>
          <p:cNvPr id="6" name="Slide Number Placeholder 5"/>
          <p:cNvSpPr>
            <a:spLocks noGrp="1"/>
          </p:cNvSpPr>
          <p:nvPr>
            <p:ph type="sldNum" sz="quarter" idx="12"/>
          </p:nvPr>
        </p:nvSpPr>
        <p:spPr/>
        <p:txBody>
          <a:bodyPr/>
          <a:lstStyle/>
          <a:p>
            <a:fld id="{3FFF1679-83E0-4571-98D7-4BB535B5F505}" type="slidenum">
              <a:rPr/>
              <a:pPr/>
              <a:t>‹#›</a:t>
            </a:fld>
            <a:endParaRPr/>
          </a:p>
        </p:txBody>
      </p:sp>
      <p:pic>
        <p:nvPicPr>
          <p:cNvPr id="7" name="Picture 6" descr="green.gif"/>
          <p:cNvPicPr>
            <a:picLocks noChangeAspect="1"/>
          </p:cNvPicPr>
          <p:nvPr userDrawn="1"/>
        </p:nvPicPr>
        <p:blipFill>
          <a:blip r:embed="rId2"/>
          <a:srcRect/>
          <a:stretch>
            <a:fillRect/>
          </a:stretch>
        </p:blipFill>
        <p:spPr bwMode="auto">
          <a:xfrm>
            <a:off x="8429625" y="5562600"/>
            <a:ext cx="714375" cy="838200"/>
          </a:xfrm>
          <a:prstGeom prst="rect">
            <a:avLst/>
          </a:prstGeom>
          <a:noFill/>
          <a:ln w="9525">
            <a:noFill/>
            <a:miter lim="800000"/>
            <a:headEnd/>
            <a:tailEnd/>
          </a:ln>
        </p:spPr>
      </p:pic>
      <p:pic>
        <p:nvPicPr>
          <p:cNvPr id="8" name="Picture 7" descr="hand.gif"/>
          <p:cNvPicPr>
            <a:picLocks noChangeAspect="1"/>
          </p:cNvPicPr>
          <p:nvPr userDrawn="1"/>
        </p:nvPicPr>
        <p:blipFill>
          <a:blip r:embed="rId3"/>
          <a:srcRect/>
          <a:stretch>
            <a:fillRect/>
          </a:stretch>
        </p:blipFill>
        <p:spPr bwMode="auto">
          <a:xfrm>
            <a:off x="0" y="6115050"/>
            <a:ext cx="1190625" cy="742950"/>
          </a:xfrm>
          <a:prstGeom prst="rect">
            <a:avLst/>
          </a:prstGeom>
          <a:noFill/>
          <a:ln w="9525">
            <a:noFill/>
            <a:miter lim="800000"/>
            <a:headEnd/>
            <a:tailEnd/>
          </a:ln>
        </p:spPr>
      </p:pic>
      <p:sp>
        <p:nvSpPr>
          <p:cNvPr id="9" name="Freeform 8"/>
          <p:cNvSpPr/>
          <p:nvPr userDrawn="1"/>
        </p:nvSpPr>
        <p:spPr>
          <a:xfrm>
            <a:off x="1171575" y="6124575"/>
            <a:ext cx="7286625" cy="219075"/>
          </a:xfrm>
          <a:custGeom>
            <a:avLst/>
            <a:gdLst>
              <a:gd name="connsiteX0" fmla="*/ 0 w 7286625"/>
              <a:gd name="connsiteY0" fmla="*/ 219075 h 219075"/>
              <a:gd name="connsiteX1" fmla="*/ 190500 w 7286625"/>
              <a:gd name="connsiteY1" fmla="*/ 180975 h 219075"/>
              <a:gd name="connsiteX2" fmla="*/ 2790825 w 7286625"/>
              <a:gd name="connsiteY2" fmla="*/ 171450 h 219075"/>
              <a:gd name="connsiteX3" fmla="*/ 2924175 w 7286625"/>
              <a:gd name="connsiteY3" fmla="*/ 152400 h 219075"/>
              <a:gd name="connsiteX4" fmla="*/ 3267075 w 7286625"/>
              <a:gd name="connsiteY4" fmla="*/ 133350 h 219075"/>
              <a:gd name="connsiteX5" fmla="*/ 3390900 w 7286625"/>
              <a:gd name="connsiteY5" fmla="*/ 123825 h 219075"/>
              <a:gd name="connsiteX6" fmla="*/ 3667125 w 7286625"/>
              <a:gd name="connsiteY6" fmla="*/ 85725 h 219075"/>
              <a:gd name="connsiteX7" fmla="*/ 3838575 w 7286625"/>
              <a:gd name="connsiteY7" fmla="*/ 76200 h 219075"/>
              <a:gd name="connsiteX8" fmla="*/ 4381500 w 7286625"/>
              <a:gd name="connsiteY8" fmla="*/ 47625 h 219075"/>
              <a:gd name="connsiteX9" fmla="*/ 4552950 w 7286625"/>
              <a:gd name="connsiteY9" fmla="*/ 38100 h 219075"/>
              <a:gd name="connsiteX10" fmla="*/ 4686300 w 7286625"/>
              <a:gd name="connsiteY10" fmla="*/ 28575 h 219075"/>
              <a:gd name="connsiteX11" fmla="*/ 5562600 w 7286625"/>
              <a:gd name="connsiteY11" fmla="*/ 0 h 219075"/>
              <a:gd name="connsiteX12" fmla="*/ 6486525 w 7286625"/>
              <a:gd name="connsiteY12" fmla="*/ 9525 h 219075"/>
              <a:gd name="connsiteX13" fmla="*/ 6581775 w 7286625"/>
              <a:gd name="connsiteY13" fmla="*/ 19050 h 219075"/>
              <a:gd name="connsiteX14" fmla="*/ 6715125 w 7286625"/>
              <a:gd name="connsiteY14" fmla="*/ 47625 h 219075"/>
              <a:gd name="connsiteX15" fmla="*/ 7210425 w 7286625"/>
              <a:gd name="connsiteY15" fmla="*/ 66675 h 219075"/>
              <a:gd name="connsiteX16" fmla="*/ 7286625 w 7286625"/>
              <a:gd name="connsiteY16" fmla="*/ 76200 h 2190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7286625" h="219075">
                <a:moveTo>
                  <a:pt x="0" y="219075"/>
                </a:moveTo>
                <a:cubicBezTo>
                  <a:pt x="67827" y="173857"/>
                  <a:pt x="45538" y="182475"/>
                  <a:pt x="190500" y="180975"/>
                </a:cubicBezTo>
                <a:lnTo>
                  <a:pt x="2790825" y="171450"/>
                </a:lnTo>
                <a:cubicBezTo>
                  <a:pt x="2835275" y="165100"/>
                  <a:pt x="2879529" y="157183"/>
                  <a:pt x="2924175" y="152400"/>
                </a:cubicBezTo>
                <a:cubicBezTo>
                  <a:pt x="3020054" y="142127"/>
                  <a:pt x="3181234" y="138255"/>
                  <a:pt x="3267075" y="133350"/>
                </a:cubicBezTo>
                <a:cubicBezTo>
                  <a:pt x="3308405" y="130988"/>
                  <a:pt x="3349625" y="127000"/>
                  <a:pt x="3390900" y="123825"/>
                </a:cubicBezTo>
                <a:cubicBezTo>
                  <a:pt x="3496096" y="104698"/>
                  <a:pt x="3551356" y="92157"/>
                  <a:pt x="3667125" y="85725"/>
                </a:cubicBezTo>
                <a:lnTo>
                  <a:pt x="3838575" y="76200"/>
                </a:lnTo>
                <a:cubicBezTo>
                  <a:pt x="4421283" y="38197"/>
                  <a:pt x="3784538" y="73028"/>
                  <a:pt x="4381500" y="47625"/>
                </a:cubicBezTo>
                <a:cubicBezTo>
                  <a:pt x="4438686" y="45192"/>
                  <a:pt x="4495823" y="41670"/>
                  <a:pt x="4552950" y="38100"/>
                </a:cubicBezTo>
                <a:cubicBezTo>
                  <a:pt x="4597426" y="35320"/>
                  <a:pt x="4641768" y="30255"/>
                  <a:pt x="4686300" y="28575"/>
                </a:cubicBezTo>
                <a:lnTo>
                  <a:pt x="5562600" y="0"/>
                </a:lnTo>
                <a:lnTo>
                  <a:pt x="6486525" y="9525"/>
                </a:lnTo>
                <a:cubicBezTo>
                  <a:pt x="6518428" y="10121"/>
                  <a:pt x="6550352" y="13505"/>
                  <a:pt x="6581775" y="19050"/>
                </a:cubicBezTo>
                <a:cubicBezTo>
                  <a:pt x="6696351" y="39269"/>
                  <a:pt x="6600009" y="39686"/>
                  <a:pt x="6715125" y="47625"/>
                </a:cubicBezTo>
                <a:cubicBezTo>
                  <a:pt x="6818795" y="54775"/>
                  <a:pt x="7128867" y="63956"/>
                  <a:pt x="7210425" y="66675"/>
                </a:cubicBezTo>
                <a:cubicBezTo>
                  <a:pt x="7254060" y="81220"/>
                  <a:pt x="7228960" y="76200"/>
                  <a:pt x="7286625" y="76200"/>
                </a:cubicBezTo>
              </a:path>
            </a:pathLst>
          </a:custGeom>
          <a:ln>
            <a:solidFill>
              <a:schemeClr val="tx1"/>
            </a:solidFill>
          </a:ln>
        </p:spPr>
        <p:style>
          <a:lnRef idx="1">
            <a:schemeClr val="accent1"/>
          </a:lnRef>
          <a:fillRef idx="0">
            <a:schemeClr val="accent1"/>
          </a:fillRef>
          <a:effectRef idx="0">
            <a:schemeClr val="accent1"/>
          </a:effectRef>
          <a:fontRef idx="minor">
            <a:schemeClr val="tx1"/>
          </a:fontRef>
        </p:style>
        <p:txBody>
          <a:bodyPr anchor="ctr"/>
          <a:lstStyle/>
          <a:p>
            <a:pPr algn="ctr" fontAlgn="auto">
              <a:spcBef>
                <a:spcPts val="0"/>
              </a:spcBef>
              <a:spcAft>
                <a:spcPts val="0"/>
              </a:spcAft>
              <a:defRPr/>
            </a:pPr>
            <a:endParaRPr lang="en-US" dirty="0"/>
          </a:p>
        </p:txBody>
      </p:sp>
      <p:pic>
        <p:nvPicPr>
          <p:cNvPr id="10" name="Picture 9" descr="top.gif"/>
          <p:cNvPicPr>
            <a:picLocks noChangeAspect="1"/>
          </p:cNvPicPr>
          <p:nvPr userDrawn="1"/>
        </p:nvPicPr>
        <p:blipFill>
          <a:blip r:embed="rId4"/>
          <a:srcRect/>
          <a:stretch>
            <a:fillRect/>
          </a:stretch>
        </p:blipFill>
        <p:spPr bwMode="auto">
          <a:xfrm rot="18850181">
            <a:off x="-155575" y="330200"/>
            <a:ext cx="2000250" cy="1047750"/>
          </a:xfrm>
          <a:prstGeom prst="rect">
            <a:avLst/>
          </a:prstGeom>
          <a:noFill/>
          <a:ln w="9525">
            <a:noFill/>
            <a:miter lim="800000"/>
            <a:headEnd/>
            <a:tailEnd/>
          </a:ln>
        </p:spPr>
      </p:pic>
    </p:spTree>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useBgFill="1">
        <p:nvSpPr>
          <p:cNvPr id="10" name="Rectangle 9"/>
          <p:cNvSpPr/>
          <p:nvPr/>
        </p:nvSpPr>
        <p:spPr>
          <a:xfrm>
            <a:off x="326571" y="362857"/>
            <a:ext cx="8440058" cy="251822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3098041" y="3575712"/>
            <a:ext cx="5396671" cy="1340467"/>
          </a:xfrm>
        </p:spPr>
        <p:txBody>
          <a:bodyPr tIns="0" bIns="0" anchor="b" anchorCtr="0"/>
          <a:lstStyle>
            <a:lvl1pPr algn="r">
              <a:defRPr sz="4600" b="0" cap="none" baseline="0">
                <a:solidFill>
                  <a:schemeClr val="accent1"/>
                </a:solidFill>
                <a:effectLst/>
              </a:defRPr>
            </a:lvl1pPr>
          </a:lstStyle>
          <a:p>
            <a:r>
              <a:rPr lang="en-US"/>
              <a:t>Click to edit Master title style</a:t>
            </a:r>
            <a:endParaRPr/>
          </a:p>
        </p:txBody>
      </p:sp>
      <p:sp>
        <p:nvSpPr>
          <p:cNvPr id="3" name="Text Placeholder 2"/>
          <p:cNvSpPr>
            <a:spLocks noGrp="1"/>
          </p:cNvSpPr>
          <p:nvPr>
            <p:ph type="body" idx="1"/>
          </p:nvPr>
        </p:nvSpPr>
        <p:spPr>
          <a:xfrm>
            <a:off x="3098041" y="4980297"/>
            <a:ext cx="5396671" cy="810904"/>
          </a:xfrm>
        </p:spPr>
        <p:txBody>
          <a:bodyPr tIns="0" bIns="0" anchor="t" anchorCtr="0">
            <a:normAutofit/>
          </a:bodyPr>
          <a:lstStyle>
            <a:lvl1pPr marL="0" indent="0" algn="r">
              <a:spcBef>
                <a:spcPts val="300"/>
              </a:spcBef>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fld id="{60F29AB0-274B-47BE-985F-46164E2F9B8D}"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a:xfrm>
            <a:off x="4306824" y="6492240"/>
            <a:ext cx="533400" cy="365125"/>
          </a:xfrm>
        </p:spPr>
        <p:txBody>
          <a:bodyPr vert="horz" lIns="91440" tIns="45720" rIns="91440" bIns="45720" rtlCol="0" anchor="ctr"/>
          <a:lstStyle>
            <a:lvl1pPr marL="0" algn="ctr"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fld id="{93238FDB-2D8C-4804-B582-7DB90366B95F}" type="slidenum">
              <a:rPr lang="en-US" smtClean="0"/>
              <a:pPr>
                <a:defRPr/>
              </a:pPr>
              <a:t>‹#›</a:t>
            </a:fld>
            <a:endParaRPr lang="en-US" dirty="0"/>
          </a:p>
        </p:txBody>
      </p:sp>
      <p:pic>
        <p:nvPicPr>
          <p:cNvPr id="7" name="Picture 6" descr="SectionHeaderLeft.jpg"/>
          <p:cNvPicPr>
            <a:picLocks noChangeAspect="1"/>
          </p:cNvPicPr>
          <p:nvPr/>
        </p:nvPicPr>
        <p:blipFill>
          <a:blip r:embed="rId2"/>
          <a:stretch>
            <a:fillRect/>
          </a:stretch>
        </p:blipFill>
        <p:spPr>
          <a:xfrm>
            <a:off x="470647" y="457200"/>
            <a:ext cx="2216561" cy="5943600"/>
          </a:xfrm>
          <a:prstGeom prst="rect">
            <a:avLst/>
          </a:prstGeom>
        </p:spPr>
      </p:pic>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222366"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8904"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Content Placeholder 3"/>
          <p:cNvSpPr>
            <a:spLocks noGrp="1"/>
          </p:cNvSpPr>
          <p:nvPr>
            <p:ph sz="half" idx="2"/>
          </p:nvPr>
        </p:nvSpPr>
        <p:spPr>
          <a:xfrm>
            <a:off x="4831308" y="2286000"/>
            <a:ext cx="3657600" cy="3840163"/>
          </a:xfrm>
        </p:spPr>
        <p:txBody>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76F0B030-1580-4866-BCBB-5B9DCBDFAB6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FD77EB8B-B6EB-443D-9CB4-B019CEC8F476}" type="slidenum">
              <a:rPr lang="en-US" smtClean="0"/>
              <a:pPr>
                <a:defRPr/>
              </a:pPr>
              <a:t>‹#›</a:t>
            </a:fld>
            <a:endParaRPr lang="en-US" dirty="0"/>
          </a:p>
        </p:txBody>
      </p:sp>
    </p:spTree>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a:p>
        </p:txBody>
      </p:sp>
      <p:sp>
        <p:nvSpPr>
          <p:cNvPr id="3" name="Text Placeholder 2"/>
          <p:cNvSpPr>
            <a:spLocks noGrp="1"/>
          </p:cNvSpPr>
          <p:nvPr>
            <p:ph type="body" idx="1"/>
          </p:nvPr>
        </p:nvSpPr>
        <p:spPr>
          <a:xfrm>
            <a:off x="663388"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63388"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Text Placeholder 4"/>
          <p:cNvSpPr>
            <a:spLocks noGrp="1"/>
          </p:cNvSpPr>
          <p:nvPr>
            <p:ph type="body" sz="quarter" idx="3"/>
          </p:nvPr>
        </p:nvSpPr>
        <p:spPr>
          <a:xfrm>
            <a:off x="4828032" y="2040081"/>
            <a:ext cx="3657600" cy="730415"/>
          </a:xfrm>
        </p:spPr>
        <p:txBody>
          <a:bodyPr tIns="0" bIns="0" anchor="ctr" anchorCtr="0">
            <a:noAutofit/>
          </a:bodyPr>
          <a:lstStyle>
            <a:lvl1pPr marL="0" indent="0" algn="ctr">
              <a:lnSpc>
                <a:spcPts val="3000"/>
              </a:lnSpc>
              <a:spcBef>
                <a:spcPts val="300"/>
              </a:spcBef>
              <a:buNone/>
              <a:defRPr sz="2600" b="1">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828032" y="2797175"/>
            <a:ext cx="3657600" cy="3328988"/>
          </a:xfrm>
        </p:spPr>
        <p:txBody>
          <a:bodyPr>
            <a:normAutofit/>
          </a:bodyPr>
          <a:lstStyle>
            <a:lvl1pPr>
              <a:defRPr sz="1800"/>
            </a:lvl1pPr>
            <a:lvl2pPr>
              <a:defRPr sz="1800"/>
            </a:lvl2pPr>
            <a:lvl3pPr>
              <a:defRPr sz="1800"/>
            </a:lvl3pPr>
            <a:lvl4pPr>
              <a:defRPr sz="1800"/>
            </a:lvl4pPr>
            <a:lvl5pPr>
              <a:defRPr sz="18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7" name="Date Placeholder 6"/>
          <p:cNvSpPr>
            <a:spLocks noGrp="1"/>
          </p:cNvSpPr>
          <p:nvPr>
            <p:ph type="dt" sz="half" idx="10"/>
          </p:nvPr>
        </p:nvSpPr>
        <p:spPr/>
        <p:txBody>
          <a:bodyPr/>
          <a:lstStyle/>
          <a:p>
            <a:pPr>
              <a:defRPr/>
            </a:pPr>
            <a:fld id="{70FF0F97-1060-4EBF-B543-874A8397FCDC}" type="datetimeFigureOut">
              <a:rPr lang="en-US" smtClean="0"/>
              <a:pPr>
                <a:defRPr/>
              </a:pPr>
              <a:t>30-Apr-2024</a:t>
            </a:fld>
            <a:endParaRPr lang="en-US" dirty="0"/>
          </a:p>
        </p:txBody>
      </p:sp>
      <p:sp>
        <p:nvSpPr>
          <p:cNvPr id="8" name="Footer Placeholder 7"/>
          <p:cNvSpPr>
            <a:spLocks noGrp="1"/>
          </p:cNvSpPr>
          <p:nvPr>
            <p:ph type="ftr" sz="quarter" idx="11"/>
          </p:nvPr>
        </p:nvSpPr>
        <p:spPr/>
        <p:txBody>
          <a:bodyPr/>
          <a:lstStyle/>
          <a:p>
            <a:pPr>
              <a:defRPr/>
            </a:pPr>
            <a:endParaRPr lang="en-US" dirty="0"/>
          </a:p>
        </p:txBody>
      </p:sp>
      <p:sp>
        <p:nvSpPr>
          <p:cNvPr id="9" name="Slide Number Placeholder 8"/>
          <p:cNvSpPr>
            <a:spLocks noGrp="1"/>
          </p:cNvSpPr>
          <p:nvPr>
            <p:ph type="sldNum" sz="quarter" idx="12"/>
          </p:nvPr>
        </p:nvSpPr>
        <p:spPr/>
        <p:txBody>
          <a:bodyPr/>
          <a:lstStyle/>
          <a:p>
            <a:pPr>
              <a:defRPr/>
            </a:pPr>
            <a:fld id="{D56104A5-FF6A-4891-8FE3-D539A7A66E05}" type="slidenum">
              <a:rPr lang="en-US" smtClean="0"/>
              <a:pPr>
                <a:defRPr/>
              </a:pPr>
              <a:t>‹#›</a:t>
            </a:fld>
            <a:endParaRPr lang="en-US" dirty="0"/>
          </a:p>
        </p:txBody>
      </p:sp>
      <p:cxnSp>
        <p:nvCxnSpPr>
          <p:cNvPr id="11" name="Straight Connector 10"/>
          <p:cNvCxnSpPr/>
          <p:nvPr/>
        </p:nvCxnSpPr>
        <p:spPr>
          <a:xfrm rot="5400000">
            <a:off x="2884488" y="4484687"/>
            <a:ext cx="3375025" cy="1588"/>
          </a:xfrm>
          <a:prstGeom prst="line">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cxnSp>
    </p:spTree>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2 Content, Top and Bottom">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654050" y="2286001"/>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654050" y="4302966"/>
            <a:ext cx="7848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3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8" name="Content Placeholder 2"/>
          <p:cNvSpPr>
            <a:spLocks noGrp="1"/>
          </p:cNvSpPr>
          <p:nvPr>
            <p:ph sz="half" idx="14"/>
          </p:nvPr>
        </p:nvSpPr>
        <p:spPr>
          <a:xfrm>
            <a:off x="654085" y="2286000"/>
            <a:ext cx="3657600" cy="3840163"/>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4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Content Placeholder 2"/>
          <p:cNvSpPr>
            <a:spLocks noGrp="1"/>
          </p:cNvSpPr>
          <p:nvPr>
            <p:ph sz="half" idx="1"/>
          </p:nvPr>
        </p:nvSpPr>
        <p:spPr>
          <a:xfrm>
            <a:off x="4828032"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5" name="Date Placeholder 4"/>
          <p:cNvSpPr>
            <a:spLocks noGrp="1"/>
          </p:cNvSpPr>
          <p:nvPr>
            <p:ph type="dt" sz="half" idx="10"/>
          </p:nvPr>
        </p:nvSpPr>
        <p:spPr/>
        <p:txBody>
          <a:bodyPr/>
          <a:lstStyle/>
          <a:p>
            <a:pPr>
              <a:defRPr/>
            </a:pPr>
            <a:fld id="{5E62B1BE-7229-4612-B077-302E9FB27D58}"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E4367C90-D8D8-4A11-9BC3-E7451ACC5EB2}" type="slidenum">
              <a:rPr lang="en-US" smtClean="0"/>
              <a:pPr>
                <a:defRPr/>
              </a:pPr>
              <a:t>‹#›</a:t>
            </a:fld>
            <a:endParaRPr lang="en-US" dirty="0"/>
          </a:p>
        </p:txBody>
      </p:sp>
      <p:sp>
        <p:nvSpPr>
          <p:cNvPr id="9" name="Content Placeholder 2"/>
          <p:cNvSpPr>
            <a:spLocks noGrp="1"/>
          </p:cNvSpPr>
          <p:nvPr>
            <p:ph sz="half" idx="13"/>
          </p:nvPr>
        </p:nvSpPr>
        <p:spPr>
          <a:xfrm>
            <a:off x="4828032"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0" name="Content Placeholder 2"/>
          <p:cNvSpPr>
            <a:spLocks noGrp="1"/>
          </p:cNvSpPr>
          <p:nvPr>
            <p:ph sz="half" idx="14"/>
          </p:nvPr>
        </p:nvSpPr>
        <p:spPr>
          <a:xfrm>
            <a:off x="658906" y="2286001"/>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11" name="Content Placeholder 2"/>
          <p:cNvSpPr>
            <a:spLocks noGrp="1"/>
          </p:cNvSpPr>
          <p:nvPr>
            <p:ph sz="half" idx="15"/>
          </p:nvPr>
        </p:nvSpPr>
        <p:spPr>
          <a:xfrm>
            <a:off x="658906" y="4302966"/>
            <a:ext cx="3657600" cy="1828800"/>
          </a:xfrm>
        </p:spPr>
        <p:txBody>
          <a:bodyPr>
            <a:normAutofit/>
          </a:bodyPr>
          <a:lstStyle>
            <a:lvl1pPr>
              <a:defRPr sz="1800"/>
            </a:lvl1pPr>
            <a:lvl2pPr>
              <a:defRPr sz="18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Tree>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Date Placeholder 2"/>
          <p:cNvSpPr>
            <a:spLocks noGrp="1"/>
          </p:cNvSpPr>
          <p:nvPr>
            <p:ph type="dt" sz="half" idx="10"/>
          </p:nvPr>
        </p:nvSpPr>
        <p:spPr/>
        <p:txBody>
          <a:bodyPr/>
          <a:lstStyle/>
          <a:p>
            <a:pPr>
              <a:defRPr/>
            </a:pPr>
            <a:fld id="{E848A180-20FC-43E6-ACF2-E4D2D7D4238C}" type="datetimeFigureOut">
              <a:rPr lang="en-US" smtClean="0"/>
              <a:pPr>
                <a:defRPr/>
              </a:pPr>
              <a:t>30-Apr-2024</a:t>
            </a:fld>
            <a:endParaRPr lang="en-US" dirty="0"/>
          </a:p>
        </p:txBody>
      </p:sp>
      <p:sp>
        <p:nvSpPr>
          <p:cNvPr id="4" name="Footer Placeholder 3"/>
          <p:cNvSpPr>
            <a:spLocks noGrp="1"/>
          </p:cNvSpPr>
          <p:nvPr>
            <p:ph type="ftr" sz="quarter" idx="11"/>
          </p:nvPr>
        </p:nvSpPr>
        <p:spPr/>
        <p:txBody>
          <a:bodyPr/>
          <a:lstStyle/>
          <a:p>
            <a:pPr>
              <a:defRPr/>
            </a:pPr>
            <a:endParaRPr lang="en-US" dirty="0"/>
          </a:p>
        </p:txBody>
      </p:sp>
      <p:sp>
        <p:nvSpPr>
          <p:cNvPr id="5" name="Slide Number Placeholder 4"/>
          <p:cNvSpPr>
            <a:spLocks noGrp="1"/>
          </p:cNvSpPr>
          <p:nvPr>
            <p:ph type="sldNum" sz="quarter" idx="12"/>
          </p:nvPr>
        </p:nvSpPr>
        <p:spPr/>
        <p:txBody>
          <a:bodyPr/>
          <a:lstStyle/>
          <a:p>
            <a:pPr>
              <a:defRPr/>
            </a:pPr>
            <a:fld id="{97012834-41A2-49E3-8762-B14EE3F5CFB1}" type="slidenum">
              <a:rPr lang="en-US" smtClean="0"/>
              <a:pPr>
                <a:defRPr/>
              </a:pPr>
              <a:t>‹#›</a:t>
            </a:fld>
            <a:endParaRPr lang="en-US" dirty="0"/>
          </a:p>
        </p:txBody>
      </p:sp>
    </p:spTree>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useBgFill="1">
        <p:nvSpPr>
          <p:cNvPr id="7" name="Rectangle 6"/>
          <p:cNvSpPr/>
          <p:nvPr/>
        </p:nvSpPr>
        <p:spPr>
          <a:xfrm>
            <a:off x="355600" y="566057"/>
            <a:ext cx="8396514" cy="259805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5" name="Rectangle 4"/>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6" name="Rectangle 5"/>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Date Placeholder 1"/>
          <p:cNvSpPr>
            <a:spLocks noGrp="1"/>
          </p:cNvSpPr>
          <p:nvPr>
            <p:ph type="dt" sz="half" idx="10"/>
          </p:nvPr>
        </p:nvSpPr>
        <p:spPr/>
        <p:txBody>
          <a:bodyPr/>
          <a:lstStyle/>
          <a:p>
            <a:pPr>
              <a:defRPr/>
            </a:pPr>
            <a:fld id="{5B242E86-E886-49FE-9E81-CBA74FDF21F4}" type="datetimeFigureOut">
              <a:rPr lang="en-US" smtClean="0"/>
              <a:pPr>
                <a:defRPr/>
              </a:pPr>
              <a:t>30-Apr-2024</a:t>
            </a:fld>
            <a:endParaRPr lang="en-US" dirty="0"/>
          </a:p>
        </p:txBody>
      </p:sp>
      <p:sp>
        <p:nvSpPr>
          <p:cNvPr id="3" name="Footer Placeholder 2"/>
          <p:cNvSpPr>
            <a:spLocks noGrp="1"/>
          </p:cNvSpPr>
          <p:nvPr>
            <p:ph type="ftr" sz="quarter" idx="11"/>
          </p:nvPr>
        </p:nvSpPr>
        <p:spPr/>
        <p:txBody>
          <a:bodyPr/>
          <a:lstStyle/>
          <a:p>
            <a:pPr>
              <a:defRPr/>
            </a:pPr>
            <a:endParaRPr lang="en-US" dirty="0"/>
          </a:p>
        </p:txBody>
      </p:sp>
      <p:sp>
        <p:nvSpPr>
          <p:cNvPr id="4" name="Slide Number Placeholder 3"/>
          <p:cNvSpPr>
            <a:spLocks noGrp="1"/>
          </p:cNvSpPr>
          <p:nvPr>
            <p:ph type="sldNum" sz="quarter" idx="12"/>
          </p:nvPr>
        </p:nvSpPr>
        <p:spPr/>
        <p:txBody>
          <a:bodyPr/>
          <a:lstStyle/>
          <a:p>
            <a:pPr>
              <a:defRPr/>
            </a:pPr>
            <a:fld id="{0A9A6F0D-A611-4358-861D-7B01E8303898}" type="slidenum">
              <a:rPr lang="en-US" smtClean="0"/>
              <a:pPr>
                <a:defRPr/>
              </a:pPr>
              <a:t>‹#›</a:t>
            </a:fld>
            <a:endParaRPr lang="en-US" dirty="0"/>
          </a:p>
        </p:txBody>
      </p:sp>
    </p:spTree>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useBgFill="1">
        <p:nvSpPr>
          <p:cNvPr id="10" name="Rectangle 9"/>
          <p:cNvSpPr/>
          <p:nvPr/>
        </p:nvSpPr>
        <p:spPr>
          <a:xfrm>
            <a:off x="333828" y="566057"/>
            <a:ext cx="8454571" cy="2133599"/>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a:off x="457200" y="45720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3" name="Content Placeholder 2"/>
          <p:cNvSpPr>
            <a:spLocks noGrp="1"/>
          </p:cNvSpPr>
          <p:nvPr>
            <p:ph idx="1"/>
          </p:nvPr>
        </p:nvSpPr>
        <p:spPr>
          <a:xfrm>
            <a:off x="4828032" y="654268"/>
            <a:ext cx="3657600" cy="5486400"/>
          </a:xfrm>
        </p:spPr>
        <p:txBody>
          <a:bodyPr>
            <a:normAutofit/>
          </a:bodyPr>
          <a:lstStyle>
            <a:lvl1pPr>
              <a:defRPr sz="1800"/>
            </a:lvl1pPr>
            <a:lvl2pPr>
              <a:defRPr sz="1800"/>
            </a:lvl2pPr>
            <a:lvl3pPr>
              <a:defRPr sz="18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35E854A5-A6D3-4FF2-A83D-4A92E35723B6}"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BAB79F47-3AF0-4617-BC60-2E592392BB48}" type="slidenum">
              <a:rPr lang="en-US" smtClean="0"/>
              <a:pPr>
                <a:defRPr/>
              </a:pPr>
              <a:t>‹#›</a:t>
            </a:fld>
            <a:endParaRPr lang="en-US" dirty="0"/>
          </a:p>
        </p:txBody>
      </p:sp>
    </p:spTree>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useBgFill="1">
        <p:nvSpPr>
          <p:cNvPr id="10" name="Rectangle 9"/>
          <p:cNvSpPr/>
          <p:nvPr/>
        </p:nvSpPr>
        <p:spPr>
          <a:xfrm>
            <a:off x="355600" y="348343"/>
            <a:ext cx="8432800" cy="2351314"/>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8" name="Rectangle 7"/>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9" name="Rectangle 8"/>
          <p:cNvSpPr/>
          <p:nvPr/>
        </p:nvSpPr>
        <p:spPr>
          <a:xfrm rot="5400000">
            <a:off x="5598058" y="3310469"/>
            <a:ext cx="5943600" cy="237061"/>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Title 1"/>
          <p:cNvSpPr>
            <a:spLocks noGrp="1"/>
          </p:cNvSpPr>
          <p:nvPr>
            <p:ph type="title"/>
          </p:nvPr>
        </p:nvSpPr>
        <p:spPr>
          <a:xfrm>
            <a:off x="658368" y="1644868"/>
            <a:ext cx="3657600" cy="1098332"/>
          </a:xfrm>
        </p:spPr>
        <p:txBody>
          <a:bodyPr anchor="b"/>
          <a:lstStyle>
            <a:lvl1pPr algn="l">
              <a:defRPr sz="3600" b="0">
                <a:solidFill>
                  <a:schemeClr val="accent1"/>
                </a:solidFill>
                <a:effectLst/>
              </a:defRPr>
            </a:lvl1pPr>
          </a:lstStyle>
          <a:p>
            <a:r>
              <a:rPr lang="en-US"/>
              <a:t>Click to edit Master title style</a:t>
            </a:r>
            <a:endParaRPr/>
          </a:p>
        </p:txBody>
      </p:sp>
      <p:sp>
        <p:nvSpPr>
          <p:cNvPr id="4" name="Text Placeholder 3"/>
          <p:cNvSpPr>
            <a:spLocks noGrp="1"/>
          </p:cNvSpPr>
          <p:nvPr>
            <p:ph type="body" sz="half" idx="2"/>
          </p:nvPr>
        </p:nvSpPr>
        <p:spPr>
          <a:xfrm>
            <a:off x="658368" y="2774731"/>
            <a:ext cx="3657600" cy="3168869"/>
          </a:xfrm>
        </p:spPr>
        <p:txBody>
          <a:bodyP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fld id="{4BFCA2E3-A4EC-4D3C-A723-C30C7527518B}" type="datetimeFigureOut">
              <a:rPr lang="en-US" smtClean="0"/>
              <a:pPr>
                <a:defRPr/>
              </a:pPr>
              <a:t>30-Apr-2024</a:t>
            </a:fld>
            <a:endParaRPr lang="en-US" dirty="0"/>
          </a:p>
        </p:txBody>
      </p:sp>
      <p:sp>
        <p:nvSpPr>
          <p:cNvPr id="6" name="Footer Placeholder 5"/>
          <p:cNvSpPr>
            <a:spLocks noGrp="1"/>
          </p:cNvSpPr>
          <p:nvPr>
            <p:ph type="ftr" sz="quarter" idx="11"/>
          </p:nvPr>
        </p:nvSpPr>
        <p:spPr/>
        <p:txBody>
          <a:bodyPr/>
          <a:lstStyle/>
          <a:p>
            <a:pPr>
              <a:defRPr/>
            </a:pPr>
            <a:endParaRPr lang="en-US" dirty="0"/>
          </a:p>
        </p:txBody>
      </p:sp>
      <p:sp>
        <p:nvSpPr>
          <p:cNvPr id="7" name="Slide Number Placeholder 6"/>
          <p:cNvSpPr>
            <a:spLocks noGrp="1"/>
          </p:cNvSpPr>
          <p:nvPr>
            <p:ph type="sldNum" sz="quarter" idx="12"/>
          </p:nvPr>
        </p:nvSpPr>
        <p:spPr/>
        <p:txBody>
          <a:bodyPr/>
          <a:lstStyle/>
          <a:p>
            <a:pPr>
              <a:defRPr/>
            </a:pPr>
            <a:fld id="{CADF8B95-FD24-4BC4-B430-69A3136D11E0}" type="slidenum">
              <a:rPr lang="en-US" smtClean="0"/>
              <a:pPr>
                <a:defRPr/>
              </a:pPr>
              <a:t>‹#›</a:t>
            </a:fld>
            <a:endParaRPr lang="en-US" dirty="0"/>
          </a:p>
        </p:txBody>
      </p:sp>
      <p:sp>
        <p:nvSpPr>
          <p:cNvPr id="11" name="Picture Placeholder 10"/>
          <p:cNvSpPr>
            <a:spLocks noGrp="1"/>
          </p:cNvSpPr>
          <p:nvPr>
            <p:ph type="pic" sz="quarter" idx="13"/>
          </p:nvPr>
        </p:nvSpPr>
        <p:spPr>
          <a:xfrm>
            <a:off x="4828032" y="457200"/>
            <a:ext cx="3621024" cy="5943600"/>
          </a:xfrm>
        </p:spPr>
        <p:txBody>
          <a:bodyPr/>
          <a:lstStyle>
            <a:lvl1pPr>
              <a:buNone/>
              <a:defRPr/>
            </a:lvl1pPr>
          </a:lstStyle>
          <a:p>
            <a:r>
              <a:rPr lang="en-US"/>
              <a:t>Click icon to add picture</a:t>
            </a:r>
            <a:endParaRPr/>
          </a:p>
        </p:txBody>
      </p:sp>
    </p:spTree>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a:p>
        </p:txBody>
      </p:sp>
      <p:sp>
        <p:nvSpPr>
          <p:cNvPr id="3" name="Vertical Text Placeholder 2"/>
          <p:cNvSpPr>
            <a:spLocks noGrp="1"/>
          </p:cNvSpPr>
          <p:nvPr>
            <p:ph type="body" orient="vert" idx="1"/>
          </p:nvPr>
        </p:nvSpPr>
        <p:spPr>
          <a:xfrm>
            <a:off x="609600" y="2286000"/>
            <a:ext cx="7874000" cy="3840163"/>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C2AEB11F-C391-4BDD-82EB-6F3E13A9F9E1}"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FBF0D068-AB96-40B8-9FAA-4228627632C0}" type="slidenum">
              <a:rPr lang="en-US" smtClean="0"/>
              <a:pPr>
                <a:defRPr/>
              </a:pPr>
              <a:t>‹#›</a:t>
            </a:fld>
            <a:endParaRPr lang="en-US" dirty="0"/>
          </a:p>
        </p:txBody>
      </p:sp>
    </p:spTree>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useBgFill="1">
        <p:nvSpPr>
          <p:cNvPr id="11" name="Rectangle 10"/>
          <p:cNvSpPr/>
          <p:nvPr/>
        </p:nvSpPr>
        <p:spPr>
          <a:xfrm>
            <a:off x="348342" y="362857"/>
            <a:ext cx="8440057" cy="23368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pic>
        <p:nvPicPr>
          <p:cNvPr id="9" name="Picture 8" descr="VerticalRight.jpg"/>
          <p:cNvPicPr>
            <a:picLocks noChangeAspect="1"/>
          </p:cNvPicPr>
          <p:nvPr/>
        </p:nvPicPr>
        <p:blipFill>
          <a:blip r:embed="rId2"/>
          <a:stretch>
            <a:fillRect/>
          </a:stretch>
        </p:blipFill>
        <p:spPr>
          <a:xfrm>
            <a:off x="7111668" y="457200"/>
            <a:ext cx="1546230" cy="5943600"/>
          </a:xfrm>
          <a:prstGeom prst="rect">
            <a:avLst/>
          </a:prstGeom>
        </p:spPr>
      </p:pic>
      <p:sp>
        <p:nvSpPr>
          <p:cNvPr id="10" name="Rectangle 9"/>
          <p:cNvSpPr/>
          <p:nvPr/>
        </p:nvSpPr>
        <p:spPr>
          <a:xfrm rot="5400000">
            <a:off x="4074414" y="3369564"/>
            <a:ext cx="5943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2" name="Vertical Title 1"/>
          <p:cNvSpPr>
            <a:spLocks noGrp="1"/>
          </p:cNvSpPr>
          <p:nvPr>
            <p:ph type="title" orient="vert"/>
          </p:nvPr>
        </p:nvSpPr>
        <p:spPr>
          <a:xfrm>
            <a:off x="7119582" y="693738"/>
            <a:ext cx="1491018" cy="5432425"/>
          </a:xfrm>
        </p:spPr>
        <p:txBody>
          <a:bodyPr vert="eaVert" tIns="45720" bIns="45720"/>
          <a:lstStyle>
            <a:lvl1pPr algn="l">
              <a:defRPr/>
            </a:lvl1pPr>
          </a:lstStyle>
          <a:p>
            <a:r>
              <a:rPr lang="en-US"/>
              <a:t>Click to edit Master title style</a:t>
            </a:r>
            <a:endParaRPr/>
          </a:p>
        </p:txBody>
      </p:sp>
      <p:sp>
        <p:nvSpPr>
          <p:cNvPr id="3" name="Vertical Text Placeholder 2"/>
          <p:cNvSpPr>
            <a:spLocks noGrp="1"/>
          </p:cNvSpPr>
          <p:nvPr>
            <p:ph type="body" orient="vert" idx="1"/>
          </p:nvPr>
        </p:nvSpPr>
        <p:spPr>
          <a:xfrm>
            <a:off x="457200" y="693738"/>
            <a:ext cx="6019800" cy="54324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10"/>
          </p:nvPr>
        </p:nvSpPr>
        <p:spPr/>
        <p:txBody>
          <a:bodyPr/>
          <a:lstStyle/>
          <a:p>
            <a:pPr>
              <a:defRPr/>
            </a:pPr>
            <a:fld id="{042669FE-0345-4152-A335-E3D8B60CD5FA}" type="datetimeFigureOut">
              <a:rPr lang="en-US" smtClean="0"/>
              <a:pPr>
                <a:defRPr/>
              </a:pPr>
              <a:t>30-Apr-2024</a:t>
            </a:fld>
            <a:endParaRPr lang="en-US" dirty="0"/>
          </a:p>
        </p:txBody>
      </p:sp>
      <p:sp>
        <p:nvSpPr>
          <p:cNvPr id="5" name="Footer Placeholder 4"/>
          <p:cNvSpPr>
            <a:spLocks noGrp="1"/>
          </p:cNvSpPr>
          <p:nvPr>
            <p:ph type="ftr" sz="quarter" idx="11"/>
          </p:nvPr>
        </p:nvSpPr>
        <p:spPr/>
        <p:txBody>
          <a:bodyPr/>
          <a:lstStyle/>
          <a:p>
            <a:pPr>
              <a:defRPr/>
            </a:pPr>
            <a:endParaRPr lang="en-US" dirty="0"/>
          </a:p>
        </p:txBody>
      </p:sp>
      <p:sp>
        <p:nvSpPr>
          <p:cNvPr id="6" name="Slide Number Placeholder 5"/>
          <p:cNvSpPr>
            <a:spLocks noGrp="1"/>
          </p:cNvSpPr>
          <p:nvPr>
            <p:ph type="sldNum" sz="quarter" idx="12"/>
          </p:nvPr>
        </p:nvSpPr>
        <p:spPr/>
        <p:txBody>
          <a:bodyPr/>
          <a:lstStyle/>
          <a:p>
            <a:pPr>
              <a:defRPr/>
            </a:pPr>
            <a:fld id="{0E7040A0-6A5C-4BDA-AED7-03967CF0473B}"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Ovr>
    <a:masterClrMapping/>
  </p:clrMapOv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e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slideLayout" Target="../slideLayouts/slideLayout24.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slideLayout" Target="../slideLayouts/slideLayout23.xml"/><Relationship Id="rId17" Type="http://schemas.openxmlformats.org/officeDocument/2006/relationships/image" Target="../media/image2.jpeg"/><Relationship Id="rId2" Type="http://schemas.openxmlformats.org/officeDocument/2006/relationships/slideLayout" Target="../slideLayouts/slideLayout13.xml"/><Relationship Id="rId16" Type="http://schemas.openxmlformats.org/officeDocument/2006/relationships/image" Target="../media/image1.jpeg"/><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5" Type="http://schemas.openxmlformats.org/officeDocument/2006/relationships/theme" Target="../theme/theme2.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4"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srcRect/>
          <a:tile tx="0" ty="0" sx="100000" sy="100000" flip="none" algn="tl"/>
        </a:blipFill>
        <a:effectLst/>
      </p:bgPr>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274638"/>
            <a:ext cx="82296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600200"/>
            <a:ext cx="8229600" cy="4525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fontAlgn="auto">
              <a:spcBef>
                <a:spcPts val="0"/>
              </a:spcBef>
              <a:spcAft>
                <a:spcPts val="0"/>
              </a:spcAft>
              <a:defRPr sz="1200">
                <a:solidFill>
                  <a:schemeClr val="tx1">
                    <a:tint val="75000"/>
                  </a:schemeClr>
                </a:solidFill>
                <a:latin typeface="+mn-lt"/>
              </a:defRPr>
            </a:lvl1pPr>
          </a:lstStyle>
          <a:p>
            <a:pPr>
              <a:defRPr/>
            </a:pPr>
            <a:fld id="{201CF5B1-68BC-4F44-89BE-2F24F67B5729}" type="datetimeFigureOut">
              <a:rPr lang="en-US"/>
              <a:pPr>
                <a:defRPr/>
              </a:pPr>
              <a:t>30-Apr-2024</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defRPr>
            </a:lvl1pPr>
          </a:lstStyle>
          <a:p>
            <a:pPr>
              <a:defRPr/>
            </a:pPr>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fontAlgn="auto">
              <a:spcBef>
                <a:spcPts val="0"/>
              </a:spcBef>
              <a:spcAft>
                <a:spcPts val="0"/>
              </a:spcAft>
              <a:defRPr sz="1200">
                <a:solidFill>
                  <a:schemeClr val="tx1">
                    <a:tint val="75000"/>
                  </a:schemeClr>
                </a:solidFill>
                <a:latin typeface="+mn-lt"/>
              </a:defRPr>
            </a:lvl1pPr>
          </a:lstStyle>
          <a:p>
            <a:pPr>
              <a:defRPr/>
            </a:pPr>
            <a:fld id="{F69DAB5F-4C32-47E8-A254-E438E2D0D3F6}" type="slidenum">
              <a:rPr lang="en-US"/>
              <a:pPr>
                <a:defRPr/>
              </a:pPr>
              <a:t>‹#›</a:t>
            </a:fld>
            <a:endParaRPr lang="en-US" dirty="0"/>
          </a:p>
        </p:txBody>
      </p:sp>
    </p:spTree>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38" r:id="rId10"/>
    <p:sldLayoutId id="2147483739" r:id="rId11"/>
  </p:sldLayoutIdLst>
  <p:transition/>
  <p:txStyles>
    <p:titleStyle>
      <a:lvl1pPr algn="ctr" rtl="0" eaLnBrk="0" fontAlgn="base" hangingPunct="0">
        <a:spcBef>
          <a:spcPct val="0"/>
        </a:spcBef>
        <a:spcAft>
          <a:spcPct val="0"/>
        </a:spcAft>
        <a:defRPr sz="4400" kern="1200">
          <a:solidFill>
            <a:schemeClr val="tx1"/>
          </a:solidFill>
          <a:latin typeface="+mj-lt"/>
          <a:ea typeface="+mj-ea"/>
          <a:cs typeface="+mj-cs"/>
        </a:defRPr>
      </a:lvl1pPr>
      <a:lvl2pPr algn="ctr" rtl="0" eaLnBrk="0" fontAlgn="base" hangingPunct="0">
        <a:spcBef>
          <a:spcPct val="0"/>
        </a:spcBef>
        <a:spcAft>
          <a:spcPct val="0"/>
        </a:spcAft>
        <a:defRPr sz="4400">
          <a:solidFill>
            <a:schemeClr val="tx1"/>
          </a:solidFill>
          <a:latin typeface="Calibri" pitchFamily="34" charset="0"/>
        </a:defRPr>
      </a:lvl2pPr>
      <a:lvl3pPr algn="ctr" rtl="0" eaLnBrk="0" fontAlgn="base" hangingPunct="0">
        <a:spcBef>
          <a:spcPct val="0"/>
        </a:spcBef>
        <a:spcAft>
          <a:spcPct val="0"/>
        </a:spcAft>
        <a:defRPr sz="4400">
          <a:solidFill>
            <a:schemeClr val="tx1"/>
          </a:solidFill>
          <a:latin typeface="Calibri" pitchFamily="34" charset="0"/>
        </a:defRPr>
      </a:lvl3pPr>
      <a:lvl4pPr algn="ctr" rtl="0" eaLnBrk="0" fontAlgn="base" hangingPunct="0">
        <a:spcBef>
          <a:spcPct val="0"/>
        </a:spcBef>
        <a:spcAft>
          <a:spcPct val="0"/>
        </a:spcAft>
        <a:defRPr sz="4400">
          <a:solidFill>
            <a:schemeClr val="tx1"/>
          </a:solidFill>
          <a:latin typeface="Calibri" pitchFamily="34" charset="0"/>
        </a:defRPr>
      </a:lvl4pPr>
      <a:lvl5pPr algn="ctr" rtl="0" eaLnBrk="0" fontAlgn="base" hangingPunct="0">
        <a:spcBef>
          <a:spcPct val="0"/>
        </a:spcBef>
        <a:spcAft>
          <a:spcPct val="0"/>
        </a:spcAft>
        <a:defRPr sz="4400">
          <a:solidFill>
            <a:schemeClr val="tx1"/>
          </a:solidFill>
          <a:latin typeface="Calibri" pitchFamily="34" charset="0"/>
        </a:defRPr>
      </a:lvl5pPr>
      <a:lvl6pPr marL="457200" algn="ctr" rtl="0" fontAlgn="base">
        <a:spcBef>
          <a:spcPct val="0"/>
        </a:spcBef>
        <a:spcAft>
          <a:spcPct val="0"/>
        </a:spcAft>
        <a:defRPr sz="4400">
          <a:solidFill>
            <a:schemeClr val="tx1"/>
          </a:solidFill>
          <a:latin typeface="Calibri" pitchFamily="34" charset="0"/>
        </a:defRPr>
      </a:lvl6pPr>
      <a:lvl7pPr marL="914400" algn="ctr" rtl="0" fontAlgn="base">
        <a:spcBef>
          <a:spcPct val="0"/>
        </a:spcBef>
        <a:spcAft>
          <a:spcPct val="0"/>
        </a:spcAft>
        <a:defRPr sz="4400">
          <a:solidFill>
            <a:schemeClr val="tx1"/>
          </a:solidFill>
          <a:latin typeface="Calibri" pitchFamily="34" charset="0"/>
        </a:defRPr>
      </a:lvl7pPr>
      <a:lvl8pPr marL="1371600" algn="ctr" rtl="0" fontAlgn="base">
        <a:spcBef>
          <a:spcPct val="0"/>
        </a:spcBef>
        <a:spcAft>
          <a:spcPct val="0"/>
        </a:spcAft>
        <a:defRPr sz="4400">
          <a:solidFill>
            <a:schemeClr val="tx1"/>
          </a:solidFill>
          <a:latin typeface="Calibri" pitchFamily="34" charset="0"/>
        </a:defRPr>
      </a:lvl8pPr>
      <a:lvl9pPr marL="1828800" algn="ctr" rtl="0" fontAlgn="base">
        <a:spcBef>
          <a:spcPct val="0"/>
        </a:spcBef>
        <a:spcAft>
          <a:spcPct val="0"/>
        </a:spcAft>
        <a:defRPr sz="4400">
          <a:solidFill>
            <a:schemeClr val="tx1"/>
          </a:solidFill>
          <a:latin typeface="Calibri" pitchFamily="34"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blipFill dpi="0" rotWithShape="1">
          <a:blip r:embed="rId16"/>
          <a:srcRect/>
          <a:tile tx="0" ty="0" sx="100000" sy="100000" flip="none" algn="tl"/>
        </a:blipFill>
        <a:effectLst/>
      </p:bgPr>
    </p:bg>
    <p:spTree>
      <p:nvGrpSpPr>
        <p:cNvPr id="1" name=""/>
        <p:cNvGrpSpPr/>
        <p:nvPr/>
      </p:nvGrpSpPr>
      <p:grpSpPr>
        <a:xfrm>
          <a:off x="0" y="0"/>
          <a:ext cx="0" cy="0"/>
          <a:chOff x="0" y="0"/>
          <a:chExt cx="0" cy="0"/>
        </a:xfrm>
      </p:grpSpPr>
      <p:pic>
        <p:nvPicPr>
          <p:cNvPr id="11" name="Picture 10" descr="RunningTop-R.jpg"/>
          <p:cNvPicPr>
            <a:picLocks noChangeAspect="1"/>
          </p:cNvPicPr>
          <p:nvPr/>
        </p:nvPicPr>
        <p:blipFill>
          <a:blip r:embed="rId17"/>
          <a:stretch>
            <a:fillRect/>
          </a:stretch>
        </p:blipFill>
        <p:spPr>
          <a:xfrm>
            <a:off x="457200" y="457200"/>
            <a:ext cx="8229600" cy="1382002"/>
          </a:xfrm>
          <a:prstGeom prst="rect">
            <a:avLst/>
          </a:prstGeom>
        </p:spPr>
      </p:pic>
      <p:sp>
        <p:nvSpPr>
          <p:cNvPr id="2" name="Title Placeholder 1"/>
          <p:cNvSpPr>
            <a:spLocks noGrp="1"/>
          </p:cNvSpPr>
          <p:nvPr>
            <p:ph type="title"/>
          </p:nvPr>
        </p:nvSpPr>
        <p:spPr>
          <a:xfrm>
            <a:off x="658813" y="456252"/>
            <a:ext cx="7824788" cy="1323041"/>
          </a:xfrm>
          <a:prstGeom prst="rect">
            <a:avLst/>
          </a:prstGeom>
          <a:effectLst/>
        </p:spPr>
        <p:txBody>
          <a:bodyPr vert="horz" lIns="91440" tIns="0" rIns="91440" bIns="0" rtlCol="0" anchor="b" anchorCtr="0">
            <a:noAutofit/>
          </a:bodyPr>
          <a:lstStyle/>
          <a:p>
            <a:r>
              <a:rPr lang="en-US"/>
              <a:t>Click to edit Master title style</a:t>
            </a:r>
            <a:endParaRPr/>
          </a:p>
        </p:txBody>
      </p:sp>
      <p:sp>
        <p:nvSpPr>
          <p:cNvPr id="3" name="Text Placeholder 2"/>
          <p:cNvSpPr>
            <a:spLocks noGrp="1"/>
          </p:cNvSpPr>
          <p:nvPr>
            <p:ph type="body" idx="1"/>
          </p:nvPr>
        </p:nvSpPr>
        <p:spPr>
          <a:xfrm>
            <a:off x="2286000" y="2286000"/>
            <a:ext cx="6197600" cy="38401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a:p>
        </p:txBody>
      </p:sp>
      <p:sp>
        <p:nvSpPr>
          <p:cNvPr id="4" name="Date Placeholder 3"/>
          <p:cNvSpPr>
            <a:spLocks noGrp="1"/>
          </p:cNvSpPr>
          <p:nvPr>
            <p:ph type="dt" sz="half" idx="2"/>
          </p:nvPr>
        </p:nvSpPr>
        <p:spPr>
          <a:xfrm>
            <a:off x="6690360" y="6492875"/>
            <a:ext cx="2133600" cy="365125"/>
          </a:xfrm>
          <a:prstGeom prst="rect">
            <a:avLst/>
          </a:prstGeom>
        </p:spPr>
        <p:txBody>
          <a:bodyPr vert="horz" lIns="91440" tIns="45720" rIns="91440" bIns="45720" rtlCol="0" anchor="ctr"/>
          <a:lstStyle>
            <a:lvl1pPr algn="r">
              <a:defRPr sz="1100" b="1">
                <a:solidFill>
                  <a:schemeClr val="bg1">
                    <a:lumMod val="65000"/>
                  </a:schemeClr>
                </a:solidFill>
                <a:latin typeface="Calibri" pitchFamily="34" charset="0"/>
              </a:defRPr>
            </a:lvl1pPr>
          </a:lstStyle>
          <a:p>
            <a:pPr>
              <a:defRPr/>
            </a:pPr>
            <a:fld id="{5E62B1BE-7229-4612-B077-302E9FB27D58}" type="datetimeFigureOut">
              <a:rPr lang="en-US" smtClean="0"/>
              <a:pPr>
                <a:defRPr/>
              </a:pPr>
              <a:t>30-Apr-2024</a:t>
            </a:fld>
            <a:endParaRPr lang="en-US" dirty="0"/>
          </a:p>
        </p:txBody>
      </p:sp>
      <p:sp>
        <p:nvSpPr>
          <p:cNvPr id="5" name="Footer Placeholder 4"/>
          <p:cNvSpPr>
            <a:spLocks noGrp="1"/>
          </p:cNvSpPr>
          <p:nvPr>
            <p:ph type="ftr" sz="quarter" idx="3"/>
          </p:nvPr>
        </p:nvSpPr>
        <p:spPr>
          <a:xfrm>
            <a:off x="318247" y="6492875"/>
            <a:ext cx="3415554" cy="365125"/>
          </a:xfrm>
          <a:prstGeom prst="rect">
            <a:avLst/>
          </a:prstGeom>
        </p:spPr>
        <p:txBody>
          <a:bodyPr vert="horz" lIns="91440" tIns="45720" rIns="91440" bIns="45720" rtlCol="0" anchor="ctr"/>
          <a:lstStyle>
            <a:lvl1pPr marL="0" algn="l" defTabSz="914400" rtl="0" eaLnBrk="1" latinLnBrk="0" hangingPunct="1">
              <a:defRPr sz="1100" b="1" kern="1200">
                <a:solidFill>
                  <a:schemeClr val="bg1">
                    <a:lumMod val="65000"/>
                  </a:schemeClr>
                </a:solidFill>
                <a:latin typeface="Calibri" pitchFamily="34" charset="0"/>
                <a:ea typeface="+mn-ea"/>
                <a:cs typeface="+mn-cs"/>
              </a:defRPr>
            </a:lvl1pPr>
          </a:lstStyle>
          <a:p>
            <a:pPr>
              <a:defRPr/>
            </a:pPr>
            <a:endParaRPr lang="en-US" dirty="0"/>
          </a:p>
        </p:txBody>
      </p:sp>
      <p:sp>
        <p:nvSpPr>
          <p:cNvPr id="6" name="Slide Number Placeholder 5"/>
          <p:cNvSpPr>
            <a:spLocks noGrp="1"/>
          </p:cNvSpPr>
          <p:nvPr>
            <p:ph type="sldNum" sz="quarter" idx="4"/>
          </p:nvPr>
        </p:nvSpPr>
        <p:spPr>
          <a:xfrm>
            <a:off x="378666" y="6149788"/>
            <a:ext cx="533400" cy="365125"/>
          </a:xfrm>
          <a:prstGeom prst="rect">
            <a:avLst/>
          </a:prstGeom>
        </p:spPr>
        <p:txBody>
          <a:bodyPr vert="horz" lIns="91440" tIns="91440" rIns="91440" bIns="91440" rtlCol="0" anchor="ctr"/>
          <a:lstStyle>
            <a:lvl1pPr algn="l">
              <a:defRPr sz="1800" b="0">
                <a:solidFill>
                  <a:schemeClr val="accent1"/>
                </a:solidFill>
                <a:latin typeface="Calibri" pitchFamily="34" charset="0"/>
              </a:defRPr>
            </a:lvl1pPr>
          </a:lstStyle>
          <a:p>
            <a:pPr>
              <a:defRPr/>
            </a:pPr>
            <a:fld id="{E4367C90-D8D8-4A11-9BC3-E7451ACC5EB2}" type="slidenum">
              <a:rPr lang="en-US" smtClean="0"/>
              <a:pPr>
                <a:defRPr/>
              </a:pPr>
              <a:t>‹#›</a:t>
            </a:fld>
            <a:endParaRPr lang="en-US" dirty="0"/>
          </a:p>
        </p:txBody>
      </p:sp>
      <p:sp>
        <p:nvSpPr>
          <p:cNvPr id="7" name="Rectangle 6"/>
          <p:cNvSpPr/>
          <p:nvPr/>
        </p:nvSpPr>
        <p:spPr>
          <a:xfrm>
            <a:off x="320040" y="320040"/>
            <a:ext cx="8503920" cy="6217920"/>
          </a:xfrm>
          <a:prstGeom prst="rect">
            <a:avLst/>
          </a:prstGeom>
          <a:noFill/>
          <a:ln w="12700">
            <a:solidFill>
              <a:schemeClr val="bg1">
                <a:lumMod val="6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
        <p:nvSpPr>
          <p:cNvPr id="10" name="Rectangle 9"/>
          <p:cNvSpPr/>
          <p:nvPr/>
        </p:nvSpPr>
        <p:spPr>
          <a:xfrm>
            <a:off x="457200" y="1840960"/>
            <a:ext cx="8229600" cy="118872"/>
          </a:xfrm>
          <a:prstGeom prst="rect">
            <a:avLst/>
          </a:prstGeom>
          <a:solidFill>
            <a:schemeClr val="accent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a:p>
        </p:txBody>
      </p:sp>
    </p:spTree>
  </p:cSld>
  <p:clrMap bg1="lt1" tx1="dk1" bg2="lt2" tx2="dk2" accent1="accent1" accent2="accent2" accent3="accent3" accent4="accent4" accent5="accent5" accent6="accent6" hlink="hlink" folHlink="folHlink"/>
  <p:sldLayoutIdLst>
    <p:sldLayoutId id="2147483742" r:id="rId1"/>
    <p:sldLayoutId id="2147483743" r:id="rId2"/>
    <p:sldLayoutId id="2147483744" r:id="rId3"/>
    <p:sldLayoutId id="2147483745" r:id="rId4"/>
    <p:sldLayoutId id="2147483746" r:id="rId5"/>
    <p:sldLayoutId id="2147483747" r:id="rId6"/>
    <p:sldLayoutId id="2147483748" r:id="rId7"/>
    <p:sldLayoutId id="2147483749" r:id="rId8"/>
    <p:sldLayoutId id="2147483750" r:id="rId9"/>
    <p:sldLayoutId id="2147483751" r:id="rId10"/>
    <p:sldLayoutId id="2147483752" r:id="rId11"/>
    <p:sldLayoutId id="2147483753" r:id="rId12"/>
    <p:sldLayoutId id="2147483754" r:id="rId13"/>
    <p:sldLayoutId id="2147483755" r:id="rId14"/>
  </p:sldLayoutIdLst>
  <p:transition/>
  <p:txStyles>
    <p:titleStyle>
      <a:lvl1pPr algn="r" defTabSz="914400" rtl="0" eaLnBrk="1" latinLnBrk="0" hangingPunct="1">
        <a:lnSpc>
          <a:spcPts val="5400"/>
        </a:lnSpc>
        <a:spcBef>
          <a:spcPct val="0"/>
        </a:spcBef>
        <a:buNone/>
        <a:defRPr sz="5200" kern="1200">
          <a:solidFill>
            <a:schemeClr val="bg1"/>
          </a:solidFill>
          <a:effectLst>
            <a:outerShdw blurRad="50800" dist="38100" dir="2700000" algn="tl" rotWithShape="0">
              <a:prstClr val="black">
                <a:alpha val="40000"/>
              </a:prstClr>
            </a:outerShdw>
          </a:effectLst>
          <a:latin typeface="+mj-lt"/>
          <a:ea typeface="+mj-ea"/>
          <a:cs typeface="+mj-cs"/>
        </a:defRPr>
      </a:lvl1pPr>
    </p:titleStyle>
    <p:bodyStyle>
      <a:lvl1pPr marL="282575" indent="-282575" algn="l" defTabSz="914400" rtl="0" eaLnBrk="1" latinLnBrk="0" hangingPunct="1">
        <a:spcBef>
          <a:spcPts val="1800"/>
        </a:spcBef>
        <a:buClr>
          <a:schemeClr val="accent1"/>
        </a:buClr>
        <a:buSzPct val="75000"/>
        <a:buFont typeface="Wingdings" pitchFamily="2" charset="2"/>
        <a:buChar char="n"/>
        <a:defRPr sz="2000" kern="1200">
          <a:solidFill>
            <a:schemeClr val="tx1">
              <a:lumMod val="85000"/>
              <a:lumOff val="15000"/>
            </a:schemeClr>
          </a:solidFill>
          <a:latin typeface="+mn-lt"/>
          <a:ea typeface="+mn-ea"/>
          <a:cs typeface="+mn-cs"/>
        </a:defRPr>
      </a:lvl1pPr>
      <a:lvl2pPr marL="577850" indent="-2952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2pPr>
      <a:lvl3pPr marL="86042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3pPr>
      <a:lvl4pPr marL="1143000"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4pPr>
      <a:lvl5pPr marL="1425575" indent="-282575" algn="l" defTabSz="914400" rtl="0" eaLnBrk="1" latinLnBrk="0" hangingPunct="1">
        <a:spcBef>
          <a:spcPts val="600"/>
        </a:spcBef>
        <a:buClr>
          <a:schemeClr val="accent1"/>
        </a:buClr>
        <a:buSzPct val="75000"/>
        <a:buFont typeface="Wingdings" pitchFamily="2" charset="2"/>
        <a:buChar char="n"/>
        <a:defRPr sz="1800" kern="1200">
          <a:solidFill>
            <a:schemeClr val="tx1">
              <a:lumMod val="85000"/>
              <a:lumOff val="15000"/>
            </a:schemeClr>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3" Type="http://schemas.openxmlformats.org/officeDocument/2006/relationships/image" Target="../media/image10.pdf"/><Relationship Id="rId2" Type="http://schemas.openxmlformats.org/officeDocument/2006/relationships/notesSlide" Target="../notesSlides/notesSlide2.xml"/><Relationship Id="rId1" Type="http://schemas.openxmlformats.org/officeDocument/2006/relationships/slideLayout" Target="../slideLayouts/slideLayout20.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notesSlide" Target="../notesSlides/notesSlide3.xml"/><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4.xml"/><Relationship Id="rId1" Type="http://schemas.openxmlformats.org/officeDocument/2006/relationships/slideLayout" Target="../slideLayouts/slideLayout20.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notesSlide" Target="../notesSlides/notesSlide5.xml"/><Relationship Id="rId1" Type="http://schemas.openxmlformats.org/officeDocument/2006/relationships/slideLayout" Target="../slideLayouts/slideLayout15.xml"/></Relationships>
</file>

<file path=ppt/slides/_rels/slide6.xml.rels><?xml version="1.0" encoding="UTF-8" standalone="yes"?>
<Relationships xmlns="http://schemas.openxmlformats.org/package/2006/relationships"><Relationship Id="rId3" Type="http://schemas.openxmlformats.org/officeDocument/2006/relationships/image" Target="../media/image13.wmf"/><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7.xml.rels><?xml version="1.0" encoding="UTF-8" standalone="yes"?>
<Relationships xmlns="http://schemas.openxmlformats.org/package/2006/relationships"><Relationship Id="rId3" Type="http://schemas.openxmlformats.org/officeDocument/2006/relationships/image" Target="../media/image16.pdf"/><Relationship Id="rId2" Type="http://schemas.openxmlformats.org/officeDocument/2006/relationships/notesSlide" Target="../notesSlides/notesSlide7.xml"/><Relationship Id="rId1" Type="http://schemas.openxmlformats.org/officeDocument/2006/relationships/slideLayout" Target="../slideLayouts/slideLayout15.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1.xml"/><Relationship Id="rId1" Type="http://schemas.openxmlformats.org/officeDocument/2006/relationships/vmlDrawing" Target="../drawings/vmlDrawing1.vml"/><Relationship Id="rId4" Type="http://schemas.openxmlformats.org/officeDocument/2006/relationships/package" Target="../embeddings/Microsoft_Word_Document.docx"/></Relationships>
</file>

<file path=ppt/slides/_rels/slide10.xml.rels><?xml version="1.0" encoding="UTF-8" standalone="yes"?>
<Relationships xmlns="http://schemas.openxmlformats.org/package/2006/relationships"><Relationship Id="rId8" Type="http://schemas.openxmlformats.org/officeDocument/2006/relationships/image" Target="../media/image16.wmf"/><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0.xml"/><Relationship Id="rId1" Type="http://schemas.openxmlformats.org/officeDocument/2006/relationships/slideLayout" Target="../slideLayouts/slideLayout17.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7.wmf"/></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21.xml"/><Relationship Id="rId4" Type="http://schemas.openxmlformats.org/officeDocument/2006/relationships/image" Target="../media/image19.wmf"/></Relationships>
</file>

<file path=ppt/slides/_rels/slide12.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2.xml"/><Relationship Id="rId1" Type="http://schemas.openxmlformats.org/officeDocument/2006/relationships/slideLayout" Target="../slideLayouts/slideLayout15.xml"/></Relationships>
</file>

<file path=ppt/slides/_rels/slide1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image" Target="../media/image21.jpeg"/><Relationship Id="rId1" Type="http://schemas.openxmlformats.org/officeDocument/2006/relationships/slideLayout" Target="../slideLayouts/slideLayout15.xml"/></Relationships>
</file>

<file path=ppt/slides/_rels/slide14.xml.rels><?xml version="1.0" encoding="UTF-8" standalone="yes"?>
<Relationships xmlns="http://schemas.openxmlformats.org/package/2006/relationships"><Relationship Id="rId3" Type="http://schemas.openxmlformats.org/officeDocument/2006/relationships/image" Target="../media/image27.pdf"/><Relationship Id="rId2" Type="http://schemas.openxmlformats.org/officeDocument/2006/relationships/notesSlide" Target="../notesSlides/notesSlide13.xml"/><Relationship Id="rId1" Type="http://schemas.openxmlformats.org/officeDocument/2006/relationships/slideLayout" Target="../slideLayouts/slideLayout15.xml"/><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1.xml"/><Relationship Id="rId4" Type="http://schemas.openxmlformats.org/officeDocument/2006/relationships/image" Target="../media/image25.wmf"/></Relationships>
</file>

<file path=ppt/slides/_rels/slide1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5.xml"/><Relationship Id="rId1" Type="http://schemas.openxmlformats.org/officeDocument/2006/relationships/slideLayout" Target="../slideLayouts/slideLayout21.xml"/><Relationship Id="rId4" Type="http://schemas.openxmlformats.org/officeDocument/2006/relationships/image" Target="../media/image25.wmf"/></Relationships>
</file>

<file path=ppt/slides/_rels/slide17.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16.xml"/><Relationship Id="rId1" Type="http://schemas.openxmlformats.org/officeDocument/2006/relationships/slideLayout" Target="../slideLayouts/slideLayout15.xml"/></Relationships>
</file>

<file path=ppt/slides/_rels/slide18.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notesSlide" Target="../notesSlides/notesSlide17.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Title 1"/>
          <p:cNvSpPr>
            <a:spLocks noGrp="1"/>
          </p:cNvSpPr>
          <p:nvPr>
            <p:ph type="title"/>
          </p:nvPr>
        </p:nvSpPr>
        <p:spPr/>
        <p:txBody>
          <a:bodyPr/>
          <a:lstStyle/>
          <a:p>
            <a:br>
              <a:rPr lang="en-US" dirty="0"/>
            </a:br>
            <a:r>
              <a:rPr lang="en-US" dirty="0"/>
              <a:t>Concurrency: Mutual Exclusion and Synchronization</a:t>
            </a:r>
          </a:p>
        </p:txBody>
      </p:sp>
      <p:sp>
        <p:nvSpPr>
          <p:cNvPr id="3" name="Subtitle 2"/>
          <p:cNvSpPr>
            <a:spLocks noGrp="1"/>
          </p:cNvSpPr>
          <p:nvPr>
            <p:ph type="body" idx="1"/>
          </p:nvPr>
        </p:nvSpPr>
        <p:spPr>
          <a:xfrm>
            <a:off x="457200" y="1905000"/>
            <a:ext cx="2133601" cy="4191000"/>
          </a:xfrm>
        </p:spPr>
        <p:txBody>
          <a:bodyPr rtlCol="0">
            <a:normAutofit/>
          </a:bodyPr>
          <a:lstStyle/>
          <a:p>
            <a:pPr algn="ctr">
              <a:spcBef>
                <a:spcPct val="20000"/>
              </a:spcBef>
              <a:buClrTx/>
              <a:buSzTx/>
              <a:defRPr/>
            </a:pPr>
            <a:r>
              <a:rPr lang="en-US" sz="3200" i="1" dirty="0">
                <a:solidFill>
                  <a:schemeClr val="bg2">
                    <a:lumMod val="25000"/>
                  </a:schemeClr>
                </a:solidFill>
              </a:rPr>
              <a:t>Operating Systems:</a:t>
            </a:r>
            <a:br>
              <a:rPr lang="en-US" sz="3200" i="1" dirty="0">
                <a:solidFill>
                  <a:schemeClr val="bg2">
                    <a:lumMod val="25000"/>
                  </a:schemeClr>
                </a:solidFill>
              </a:rPr>
            </a:br>
            <a:r>
              <a:rPr lang="en-US" sz="3200" i="1" dirty="0">
                <a:solidFill>
                  <a:schemeClr val="bg2">
                    <a:lumMod val="25000"/>
                  </a:schemeClr>
                </a:solidFill>
              </a:rPr>
              <a:t>Internals and Design Principles</a:t>
            </a:r>
          </a:p>
        </p:txBody>
      </p:sp>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pPr algn="ctr"/>
            <a:r>
              <a:rPr lang="en-US" sz="32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Operating Systems:</a:t>
            </a:r>
            <a:br>
              <a:rPr lang="en-US" sz="32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sz="32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Internals and Design Principles</a:t>
            </a:r>
          </a:p>
        </p:txBody>
      </p:sp>
      <p:sp>
        <p:nvSpPr>
          <p:cNvPr id="3" name="Content Placeholder 2"/>
          <p:cNvSpPr>
            <a:spLocks noGrp="1"/>
          </p:cNvSpPr>
          <p:nvPr>
            <p:ph type="body" orient="vert" idx="4294967295"/>
          </p:nvPr>
        </p:nvSpPr>
        <p:spPr>
          <a:xfrm>
            <a:off x="533400" y="1981200"/>
            <a:ext cx="7924800" cy="4724400"/>
          </a:xfrm>
        </p:spPr>
        <p:txBody>
          <a:bodyPr>
            <a:normAutofit fontScale="25000" lnSpcReduction="20000"/>
          </a:bodyPr>
          <a:lstStyle/>
          <a:p>
            <a:pPr>
              <a:buNone/>
            </a:pPr>
            <a:r>
              <a:rPr lang="en-US" sz="7385" i="1" dirty="0"/>
              <a:t>  </a:t>
            </a:r>
          </a:p>
          <a:p>
            <a:pPr>
              <a:spcBef>
                <a:spcPts val="0"/>
              </a:spcBef>
              <a:buNone/>
            </a:pPr>
            <a:r>
              <a:rPr lang="en-US" sz="8800" i="1" dirty="0">
                <a:latin typeface="Calibri"/>
              </a:rPr>
              <a:t>  “ Designing correct routines for controlling concurrent activities proved to be one of the most difficult aspects of systems programming. The ad hoc techniques used by programmers of early multiprogramming and real-time systems were always vulnerable to subtle programming errors whose effects could be observed only when certain relatively rare sequences of actions occurred. The errors are particularly difficult to locate, since the precise conditions under which they appear are very hard to reproduce.”</a:t>
            </a:r>
            <a:r>
              <a:rPr lang="en-US" sz="10400" i="1" dirty="0">
                <a:latin typeface="Calibri"/>
              </a:rPr>
              <a:t>	</a:t>
            </a:r>
            <a:r>
              <a:rPr lang="en-US" sz="10400" dirty="0">
                <a:latin typeface="Calibri"/>
              </a:rPr>
              <a:t>	</a:t>
            </a:r>
          </a:p>
          <a:p>
            <a:pPr algn="r">
              <a:lnSpc>
                <a:spcPct val="120000"/>
              </a:lnSpc>
              <a:spcBef>
                <a:spcPts val="0"/>
              </a:spcBef>
              <a:buNone/>
            </a:pPr>
            <a:endParaRPr lang="en-US" sz="10400" dirty="0">
              <a:latin typeface="Calibri"/>
            </a:endParaRPr>
          </a:p>
          <a:p>
            <a:pPr algn="r">
              <a:lnSpc>
                <a:spcPct val="120000"/>
              </a:lnSpc>
              <a:spcBef>
                <a:spcPts val="0"/>
              </a:spcBef>
              <a:buNone/>
            </a:pPr>
            <a:r>
              <a:rPr lang="en-US" sz="5600" dirty="0">
                <a:latin typeface="Arial Rounded MT Bold"/>
              </a:rPr>
              <a:t>—THE COMPUTER SCIENCE AND </a:t>
            </a:r>
          </a:p>
          <a:p>
            <a:pPr algn="r">
              <a:lnSpc>
                <a:spcPct val="120000"/>
              </a:lnSpc>
              <a:spcBef>
                <a:spcPts val="0"/>
              </a:spcBef>
              <a:buNone/>
            </a:pPr>
            <a:r>
              <a:rPr lang="en-US" sz="5600" dirty="0">
                <a:latin typeface="Arial Rounded MT Bold"/>
              </a:rPr>
              <a:t>ENGINEERING RESEARCH STUDY</a:t>
            </a:r>
            <a:r>
              <a:rPr lang="en-US" sz="5600" dirty="0"/>
              <a:t>, </a:t>
            </a:r>
          </a:p>
          <a:p>
            <a:pPr algn="r">
              <a:lnSpc>
                <a:spcPct val="120000"/>
              </a:lnSpc>
              <a:spcBef>
                <a:spcPts val="0"/>
              </a:spcBef>
              <a:buNone/>
            </a:pPr>
            <a:endParaRPr lang="en-US" sz="5600" dirty="0">
              <a:latin typeface="Arial Rounded MT Bold"/>
            </a:endParaRPr>
          </a:p>
          <a:p>
            <a:pPr algn="r">
              <a:lnSpc>
                <a:spcPct val="120000"/>
              </a:lnSpc>
              <a:spcBef>
                <a:spcPts val="0"/>
              </a:spcBef>
              <a:buNone/>
            </a:pPr>
            <a:r>
              <a:rPr lang="en-US" sz="5600" dirty="0">
                <a:latin typeface="Arial Rounded MT Bold"/>
              </a:rPr>
              <a:t>MIT Press, 1980</a:t>
            </a:r>
          </a:p>
          <a:p>
            <a:pPr algn="r">
              <a:lnSpc>
                <a:spcPct val="120000"/>
              </a:lnSpc>
              <a:spcBef>
                <a:spcPts val="0"/>
              </a:spcBef>
              <a:buNone/>
            </a:pPr>
            <a:r>
              <a:rPr lang="en-US" sz="10400" dirty="0">
                <a:latin typeface="Calibri"/>
              </a:rPr>
              <a:t>					</a:t>
            </a:r>
            <a:endParaRPr lang="en-US" sz="4923" dirty="0">
              <a:latin typeface="Arial Rounded MT Bold"/>
            </a:endParaRPr>
          </a:p>
        </p:txBody>
      </p:sp>
      <p:pic>
        <p:nvPicPr>
          <p:cNvPr id="5" name="Picture 4"/>
          <p:cNvPicPr>
            <a:picLocks noChangeAspect="1"/>
          </p:cNvPicPr>
          <p:nvPr/>
        </p:nvPicPr>
        <mc:AlternateContent xmlns:mc="http://schemas.openxmlformats.org/markup-compatibility/2006">
          <mc:Choice xmlns="" xmlns:mv="urn:schemas-microsoft-com:mac:vml" xmlns:ma="http://schemas.microsoft.com/office/mac/drawingml/2008/main" Requires="ma">
            <p:blipFill>
              <a:blip r:embed="rId3">
                <a:alphaModFix amt="55000"/>
                <a:lum bright="16000" contrast="31000"/>
              </a:blip>
              <a:stretch>
                <a:fillRect/>
              </a:stretch>
            </p:blipFill>
          </mc:Choice>
          <mc:Fallback>
            <p:blipFill>
              <a:blip r:embed="rId4">
                <a:alphaModFix amt="55000"/>
                <a:lum bright="16000" contrast="31000"/>
              </a:blip>
              <a:stretch>
                <a:fillRect/>
              </a:stretch>
            </p:blipFill>
          </mc:Fallback>
        </mc:AlternateContent>
        <p:spPr>
          <a:xfrm>
            <a:off x="2133600" y="4800600"/>
            <a:ext cx="2362200" cy="1610100"/>
          </a:xfrm>
          <a:prstGeom prst="rect">
            <a:avLst/>
          </a:prstGeom>
        </p:spPr>
      </p:pic>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Multiple  Processes</a:t>
            </a:r>
          </a:p>
        </p:txBody>
      </p:sp>
      <p:sp>
        <p:nvSpPr>
          <p:cNvPr id="4" name="Content Placeholder 3"/>
          <p:cNvSpPr>
            <a:spLocks noGrp="1"/>
          </p:cNvSpPr>
          <p:nvPr>
            <p:ph sz="half" idx="1"/>
          </p:nvPr>
        </p:nvSpPr>
        <p:spPr>
          <a:xfrm>
            <a:off x="658904" y="2286000"/>
            <a:ext cx="8027896" cy="4267200"/>
          </a:xfrm>
        </p:spPr>
        <p:txBody>
          <a:bodyPr>
            <a:normAutofit/>
          </a:bodyPr>
          <a:lstStyle/>
          <a:p>
            <a:r>
              <a:rPr lang="en-US" sz="3600" dirty="0"/>
              <a:t>Operating System design is concerned with the management of processes and threads:</a:t>
            </a:r>
          </a:p>
          <a:p>
            <a:pPr lvl="2"/>
            <a:r>
              <a:rPr lang="en-US" sz="3600" dirty="0"/>
              <a:t>Multiprogramming</a:t>
            </a:r>
          </a:p>
          <a:p>
            <a:pPr lvl="2"/>
            <a:r>
              <a:rPr lang="en-US" sz="3600" dirty="0"/>
              <a:t>Multiprocessing</a:t>
            </a:r>
          </a:p>
          <a:p>
            <a:pPr lvl="2"/>
            <a:r>
              <a:rPr lang="en-US" sz="3600" dirty="0"/>
              <a:t>Distributed Processing</a:t>
            </a:r>
          </a:p>
        </p:txBody>
      </p:sp>
      <p:pic>
        <p:nvPicPr>
          <p:cNvPr id="5" name="Picture 4"/>
          <p:cNvPicPr>
            <a:picLocks noChangeAspect="1"/>
          </p:cNvPicPr>
          <p:nvPr/>
        </p:nvPicPr>
        <p:blipFill>
          <a:blip r:embed="rId3"/>
          <a:stretch>
            <a:fillRect/>
          </a:stretch>
        </p:blipFill>
        <p:spPr>
          <a:xfrm>
            <a:off x="6553200" y="4114800"/>
            <a:ext cx="1962379" cy="227965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5" presetClass="entr" presetSubtype="0" fill="hold" grpId="0" nodeType="afterEffect">
                                  <p:stCondLst>
                                    <p:cond delay="0"/>
                                  </p:stCondLst>
                                  <p:iterate type="lt">
                                    <p:tmPct val="10000"/>
                                  </p:iterate>
                                  <p:childTnLst>
                                    <p:set>
                                      <p:cBhvr>
                                        <p:cTn id="6" dur="1" fill="hold">
                                          <p:stCondLst>
                                            <p:cond delay="0"/>
                                          </p:stCondLst>
                                        </p:cTn>
                                        <p:tgtEl>
                                          <p:spTgt spid="4">
                                            <p:txEl>
                                              <p:pRg st="1" end="1"/>
                                            </p:txEl>
                                          </p:spTgt>
                                        </p:tgtEl>
                                        <p:attrNameLst>
                                          <p:attrName>style.visibility</p:attrName>
                                        </p:attrNameLst>
                                      </p:cBhvr>
                                      <p:to>
                                        <p:strVal val="visible"/>
                                      </p:to>
                                    </p:set>
                                    <p:animEffect transition="in" filter="fade">
                                      <p:cBhvr>
                                        <p:cTn id="7" dur="500"/>
                                        <p:tgtEl>
                                          <p:spTgt spid="4">
                                            <p:txEl>
                                              <p:pRg st="1" end="1"/>
                                            </p:txEl>
                                          </p:spTgt>
                                        </p:tgtEl>
                                      </p:cBhvr>
                                    </p:animEffect>
                                    <p:anim calcmode="lin" valueType="num">
                                      <p:cBhvr>
                                        <p:cTn id="8" dur="500" fill="hold"/>
                                        <p:tgtEl>
                                          <p:spTgt spid="4">
                                            <p:txEl>
                                              <p:pRg st="1" end="1"/>
                                            </p:txEl>
                                          </p:spTgt>
                                        </p:tgtEl>
                                        <p:attrNameLst>
                                          <p:attrName>ppt_w</p:attrName>
                                        </p:attrNameLst>
                                      </p:cBhvr>
                                      <p:tavLst>
                                        <p:tav tm="0" fmla="#ppt_w*sin(2.5*pi*$)">
                                          <p:val>
                                            <p:fltVal val="0"/>
                                          </p:val>
                                        </p:tav>
                                        <p:tav tm="100000">
                                          <p:val>
                                            <p:fltVal val="1"/>
                                          </p:val>
                                        </p:tav>
                                      </p:tavLst>
                                    </p:anim>
                                    <p:anim calcmode="lin" valueType="num">
                                      <p:cBhvr>
                                        <p:cTn id="9" dur="500" fill="hold"/>
                                        <p:tgtEl>
                                          <p:spTgt spid="4">
                                            <p:txEl>
                                              <p:pRg st="1" end="1"/>
                                            </p:txEl>
                                          </p:spTgt>
                                        </p:tgtEl>
                                        <p:attrNameLst>
                                          <p:attrName>ppt_h</p:attrName>
                                        </p:attrNameLst>
                                      </p:cBhvr>
                                      <p:tavLst>
                                        <p:tav tm="0">
                                          <p:val>
                                            <p:strVal val="#ppt_h"/>
                                          </p:val>
                                        </p:tav>
                                        <p:tav tm="100000">
                                          <p:val>
                                            <p:strVal val="#ppt_h"/>
                                          </p:val>
                                        </p:tav>
                                      </p:tavLst>
                                    </p:anim>
                                  </p:childTnLst>
                                </p:cTn>
                              </p:par>
                            </p:childTnLst>
                          </p:cTn>
                        </p:par>
                        <p:par>
                          <p:cTn id="10" fill="hold">
                            <p:stCondLst>
                              <p:cond delay="1250"/>
                            </p:stCondLst>
                            <p:childTnLst>
                              <p:par>
                                <p:cTn id="11" presetID="45" presetClass="entr" presetSubtype="0" fill="hold" grpId="0" nodeType="afterEffect">
                                  <p:stCondLst>
                                    <p:cond delay="0"/>
                                  </p:stCondLst>
                                  <p:iterate type="lt">
                                    <p:tmPct val="10000"/>
                                  </p:iterate>
                                  <p:childTnLst>
                                    <p:set>
                                      <p:cBhvr>
                                        <p:cTn id="12" dur="1" fill="hold">
                                          <p:stCondLst>
                                            <p:cond delay="0"/>
                                          </p:stCondLst>
                                        </p:cTn>
                                        <p:tgtEl>
                                          <p:spTgt spid="4">
                                            <p:txEl>
                                              <p:pRg st="2" end="2"/>
                                            </p:txEl>
                                          </p:spTgt>
                                        </p:tgtEl>
                                        <p:attrNameLst>
                                          <p:attrName>style.visibility</p:attrName>
                                        </p:attrNameLst>
                                      </p:cBhvr>
                                      <p:to>
                                        <p:strVal val="visible"/>
                                      </p:to>
                                    </p:set>
                                    <p:animEffect transition="in" filter="fade">
                                      <p:cBhvr>
                                        <p:cTn id="13" dur="500"/>
                                        <p:tgtEl>
                                          <p:spTgt spid="4">
                                            <p:txEl>
                                              <p:pRg st="2" end="2"/>
                                            </p:txEl>
                                          </p:spTgt>
                                        </p:tgtEl>
                                      </p:cBhvr>
                                    </p:animEffect>
                                    <p:anim calcmode="lin" valueType="num">
                                      <p:cBhvr>
                                        <p:cTn id="14" dur="500" fill="hold"/>
                                        <p:tgtEl>
                                          <p:spTgt spid="4">
                                            <p:txEl>
                                              <p:pRg st="2" end="2"/>
                                            </p:txEl>
                                          </p:spTgt>
                                        </p:tgtEl>
                                        <p:attrNameLst>
                                          <p:attrName>ppt_w</p:attrName>
                                        </p:attrNameLst>
                                      </p:cBhvr>
                                      <p:tavLst>
                                        <p:tav tm="0" fmla="#ppt_w*sin(2.5*pi*$)">
                                          <p:val>
                                            <p:fltVal val="0"/>
                                          </p:val>
                                        </p:tav>
                                        <p:tav tm="100000">
                                          <p:val>
                                            <p:fltVal val="1"/>
                                          </p:val>
                                        </p:tav>
                                      </p:tavLst>
                                    </p:anim>
                                    <p:anim calcmode="lin" valueType="num">
                                      <p:cBhvr>
                                        <p:cTn id="15" dur="500" fill="hold"/>
                                        <p:tgtEl>
                                          <p:spTgt spid="4">
                                            <p:txEl>
                                              <p:pRg st="2" end="2"/>
                                            </p:txEl>
                                          </p:spTgt>
                                        </p:tgtEl>
                                        <p:attrNameLst>
                                          <p:attrName>ppt_h</p:attrName>
                                        </p:attrNameLst>
                                      </p:cBhvr>
                                      <p:tavLst>
                                        <p:tav tm="0">
                                          <p:val>
                                            <p:strVal val="#ppt_h"/>
                                          </p:val>
                                        </p:tav>
                                        <p:tav tm="100000">
                                          <p:val>
                                            <p:strVal val="#ppt_h"/>
                                          </p:val>
                                        </p:tav>
                                      </p:tavLst>
                                    </p:anim>
                                  </p:childTnLst>
                                </p:cTn>
                              </p:par>
                            </p:childTnLst>
                          </p:cTn>
                        </p:par>
                        <p:par>
                          <p:cTn id="16" fill="hold">
                            <p:stCondLst>
                              <p:cond delay="2450"/>
                            </p:stCondLst>
                            <p:childTnLst>
                              <p:par>
                                <p:cTn id="17" presetID="45" presetClass="entr" presetSubtype="0" fill="hold" grpId="0" nodeType="afterEffect">
                                  <p:stCondLst>
                                    <p:cond delay="0"/>
                                  </p:stCondLst>
                                  <p:iterate type="lt">
                                    <p:tmPct val="10000"/>
                                  </p:iterate>
                                  <p:childTnLst>
                                    <p:set>
                                      <p:cBhvr>
                                        <p:cTn id="18" dur="1" fill="hold">
                                          <p:stCondLst>
                                            <p:cond delay="0"/>
                                          </p:stCondLst>
                                        </p:cTn>
                                        <p:tgtEl>
                                          <p:spTgt spid="4">
                                            <p:txEl>
                                              <p:pRg st="3" end="3"/>
                                            </p:txEl>
                                          </p:spTgt>
                                        </p:tgtEl>
                                        <p:attrNameLst>
                                          <p:attrName>style.visibility</p:attrName>
                                        </p:attrNameLst>
                                      </p:cBhvr>
                                      <p:to>
                                        <p:strVal val="visible"/>
                                      </p:to>
                                    </p:set>
                                    <p:animEffect transition="in" filter="fade">
                                      <p:cBhvr>
                                        <p:cTn id="19" dur="500"/>
                                        <p:tgtEl>
                                          <p:spTgt spid="4">
                                            <p:txEl>
                                              <p:pRg st="3" end="3"/>
                                            </p:txEl>
                                          </p:spTgt>
                                        </p:tgtEl>
                                      </p:cBhvr>
                                    </p:animEffect>
                                    <p:anim calcmode="lin" valueType="num">
                                      <p:cBhvr>
                                        <p:cTn id="20" dur="500" fill="hold"/>
                                        <p:tgtEl>
                                          <p:spTgt spid="4">
                                            <p:txEl>
                                              <p:pRg st="3" end="3"/>
                                            </p:txEl>
                                          </p:spTgt>
                                        </p:tgtEl>
                                        <p:attrNameLst>
                                          <p:attrName>ppt_w</p:attrName>
                                        </p:attrNameLst>
                                      </p:cBhvr>
                                      <p:tavLst>
                                        <p:tav tm="0" fmla="#ppt_w*sin(2.5*pi*$)">
                                          <p:val>
                                            <p:fltVal val="0"/>
                                          </p:val>
                                        </p:tav>
                                        <p:tav tm="100000">
                                          <p:val>
                                            <p:fltVal val="1"/>
                                          </p:val>
                                        </p:tav>
                                      </p:tavLst>
                                    </p:anim>
                                    <p:anim calcmode="lin" valueType="num">
                                      <p:cBhvr>
                                        <p:cTn id="21" dur="500" fill="hold"/>
                                        <p:tgtEl>
                                          <p:spTgt spid="4">
                                            <p:txEl>
                                              <p:pRg st="3" end="3"/>
                                            </p:txEl>
                                          </p:spTgt>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Title 1"/>
          <p:cNvSpPr>
            <a:spLocks noGrp="1"/>
          </p:cNvSpPr>
          <p:nvPr>
            <p:ph type="title"/>
          </p:nvPr>
        </p:nvSpPr>
        <p:spPr/>
        <p:txBody>
          <a:bodyPr/>
          <a:lstStyle/>
          <a:p>
            <a:pPr algn="ctr"/>
            <a:r>
              <a:rPr lang="en-US" sz="3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Concurrency</a:t>
            </a:r>
            <a:br>
              <a:rPr lang="en-US" sz="3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sz="3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Arises in Three Different Contexts</a:t>
            </a: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a:t>
            </a:r>
          </a:p>
        </p:txBody>
      </p:sp>
      <p:sp>
        <p:nvSpPr>
          <p:cNvPr id="4" name="Content Placeholder 3"/>
          <p:cNvSpPr>
            <a:spLocks noGrp="1"/>
          </p:cNvSpPr>
          <p:nvPr>
            <p:ph idx="4294967295"/>
          </p:nvPr>
        </p:nvSpPr>
        <p:spPr>
          <a:xfrm>
            <a:off x="1524000" y="1447800"/>
            <a:ext cx="7620000" cy="4953000"/>
          </a:xfrm>
        </p:spPr>
        <p:txBody>
          <a:bodyPr/>
          <a:lstStyle/>
          <a:p>
            <a:pPr>
              <a:buNone/>
            </a:pPr>
            <a:r>
              <a:rPr lang="en-NZ" dirty="0"/>
              <a:t>             </a:t>
            </a:r>
          </a:p>
          <a:p>
            <a:endParaRPr lang="en-US" dirty="0"/>
          </a:p>
        </p:txBody>
      </p:sp>
      <p:graphicFrame>
        <p:nvGraphicFramePr>
          <p:cNvPr id="5" name="Diagram 4"/>
          <p:cNvGraphicFramePr/>
          <p:nvPr/>
        </p:nvGraphicFramePr>
        <p:xfrm>
          <a:off x="457200" y="1905000"/>
          <a:ext cx="8077200" cy="44958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Principles of Concurrency</a:t>
            </a:r>
          </a:p>
        </p:txBody>
      </p:sp>
      <p:sp>
        <p:nvSpPr>
          <p:cNvPr id="3" name="Content Placeholder 2"/>
          <p:cNvSpPr>
            <a:spLocks noGrp="1"/>
          </p:cNvSpPr>
          <p:nvPr>
            <p:ph sz="half" idx="1"/>
          </p:nvPr>
        </p:nvSpPr>
        <p:spPr>
          <a:xfrm>
            <a:off x="658904" y="2286000"/>
            <a:ext cx="8027896" cy="3840163"/>
          </a:xfrm>
        </p:spPr>
        <p:txBody>
          <a:bodyPr>
            <a:noAutofit/>
          </a:bodyPr>
          <a:lstStyle/>
          <a:p>
            <a:r>
              <a:rPr lang="en-US" sz="2800" dirty="0"/>
              <a:t>Interleaving and overlapping </a:t>
            </a:r>
          </a:p>
          <a:p>
            <a:pPr lvl="2"/>
            <a:r>
              <a:rPr lang="en-US" sz="2400" dirty="0"/>
              <a:t>can be viewed as examples of concurrent processing</a:t>
            </a:r>
          </a:p>
          <a:p>
            <a:pPr lvl="2"/>
            <a:r>
              <a:rPr lang="en-US" sz="2400" dirty="0"/>
              <a:t>both present the same problems</a:t>
            </a:r>
          </a:p>
          <a:p>
            <a:pPr marL="282575" lvl="2">
              <a:spcBef>
                <a:spcPts val="1800"/>
              </a:spcBef>
            </a:pPr>
            <a:r>
              <a:rPr lang="en-US" sz="2800" dirty="0" err="1"/>
              <a:t>Uniprocessor</a:t>
            </a:r>
            <a:r>
              <a:rPr lang="en-US" sz="2800" dirty="0"/>
              <a:t> – the relative speed of execution of processes cannot be predicted</a:t>
            </a:r>
          </a:p>
          <a:p>
            <a:pPr lvl="2"/>
            <a:r>
              <a:rPr lang="en-US" sz="2400" dirty="0"/>
              <a:t>depends on activities of other processes</a:t>
            </a:r>
          </a:p>
          <a:p>
            <a:pPr lvl="2"/>
            <a:r>
              <a:rPr lang="en-US" sz="2400" dirty="0"/>
              <a:t>the way the OS handles interrupts</a:t>
            </a:r>
          </a:p>
          <a:p>
            <a:pPr lvl="2"/>
            <a:r>
              <a:rPr lang="en-US" sz="2400" dirty="0"/>
              <a:t>scheduling policies of the OS</a:t>
            </a:r>
          </a:p>
        </p:txBody>
      </p:sp>
      <p:pic>
        <p:nvPicPr>
          <p:cNvPr id="6" name="Picture 5"/>
          <p:cNvPicPr>
            <a:picLocks noChangeAspect="1"/>
          </p:cNvPicPr>
          <p:nvPr/>
        </p:nvPicPr>
        <p:blipFill>
          <a:blip r:embed="rId3"/>
          <a:stretch>
            <a:fillRect/>
          </a:stretch>
        </p:blipFill>
        <p:spPr>
          <a:xfrm rot="865002">
            <a:off x="7018415" y="4977805"/>
            <a:ext cx="1612269" cy="1492533"/>
          </a:xfrm>
          <a:prstGeom prst="rect">
            <a:avLst/>
          </a:prstGeom>
        </p:spPr>
      </p:pic>
    </p:spTree>
  </p:cSld>
  <p:clrMapOvr>
    <a:masterClrMapping/>
  </p:clrMapOv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1000" y="457201"/>
            <a:ext cx="8332787" cy="1143000"/>
          </a:xfrm>
        </p:spPr>
        <p:txBody>
          <a:bodyPr/>
          <a:lstStyle/>
          <a:p>
            <a:pPr algn="ctr"/>
            <a:r>
              <a:rPr lang="en-US" sz="4800" b="1" dirty="0">
                <a:solidFill>
                  <a:schemeClr val="accent6">
                    <a:lumMod val="50000"/>
                  </a:schemeClr>
                </a:solidFill>
              </a:rPr>
              <a:t>Difficulties of Concurrency</a:t>
            </a:r>
          </a:p>
        </p:txBody>
      </p:sp>
      <p:sp>
        <p:nvSpPr>
          <p:cNvPr id="3" name="Content Placeholder 2"/>
          <p:cNvSpPr>
            <a:spLocks noGrp="1"/>
          </p:cNvSpPr>
          <p:nvPr>
            <p:ph sz="half" idx="1"/>
          </p:nvPr>
        </p:nvSpPr>
        <p:spPr>
          <a:xfrm>
            <a:off x="658904" y="2286000"/>
            <a:ext cx="8180296" cy="3840163"/>
          </a:xfrm>
        </p:spPr>
        <p:txBody>
          <a:bodyPr/>
          <a:lstStyle/>
          <a:p>
            <a:r>
              <a:rPr lang="en-US" sz="3200" dirty="0"/>
              <a:t>Sharing of global resources</a:t>
            </a:r>
          </a:p>
          <a:p>
            <a:r>
              <a:rPr lang="en-US" sz="3200" dirty="0"/>
              <a:t>Difficult for the OS to manage the allocation of resources optimally</a:t>
            </a:r>
          </a:p>
          <a:p>
            <a:r>
              <a:rPr lang="en-US" sz="3200" dirty="0"/>
              <a:t>Difficult to locate programming errors as results are not deterministic and reproducible</a:t>
            </a:r>
          </a:p>
          <a:p>
            <a:endParaRPr lang="en-US" dirty="0"/>
          </a:p>
        </p:txBody>
      </p:sp>
      <p:pic>
        <p:nvPicPr>
          <p:cNvPr id="5" name="Picture 4"/>
          <p:cNvPicPr>
            <a:picLocks noChangeAspect="1"/>
          </p:cNvPicPr>
          <p:nvPr/>
        </p:nvPicPr>
        <p:blipFill>
          <a:blip r:embed="rId3"/>
          <a:stretch>
            <a:fillRect/>
          </a:stretch>
        </p:blipFill>
        <p:spPr>
          <a:xfrm>
            <a:off x="7239000" y="5029200"/>
            <a:ext cx="1387045" cy="1447800"/>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1" accel="50000" decel="5000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1000" fill="hold"/>
                                        <p:tgtEl>
                                          <p:spTgt spid="3">
                                            <p:txEl>
                                              <p:pRg st="0" end="0"/>
                                            </p:txEl>
                                          </p:spTgt>
                                        </p:tgtEl>
                                        <p:attrNameLst>
                                          <p:attrName>ppt_y</p:attrName>
                                        </p:attrNameLst>
                                      </p:cBhvr>
                                      <p:tavLst>
                                        <p:tav tm="0">
                                          <p:val>
                                            <p:strVal val="0-#ppt_h/2"/>
                                          </p:val>
                                        </p:tav>
                                        <p:tav tm="100000">
                                          <p:val>
                                            <p:strVal val="#ppt_y"/>
                                          </p:val>
                                        </p:tav>
                                      </p:tavLst>
                                    </p:anim>
                                  </p:childTnLst>
                                </p:cTn>
                              </p:par>
                              <p:par>
                                <p:cTn id="9" presetID="2" presetClass="entr" presetSubtype="8" accel="50000" decel="50000" fill="hold" grpId="0" nodeType="with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 calcmode="lin" valueType="num">
                                      <p:cBhvr additive="base">
                                        <p:cTn id="11" dur="2000" fill="hold"/>
                                        <p:tgtEl>
                                          <p:spTgt spid="3">
                                            <p:txEl>
                                              <p:pRg st="1" end="1"/>
                                            </p:txEl>
                                          </p:spTgt>
                                        </p:tgtEl>
                                        <p:attrNameLst>
                                          <p:attrName>ppt_x</p:attrName>
                                        </p:attrNameLst>
                                      </p:cBhvr>
                                      <p:tavLst>
                                        <p:tav tm="0">
                                          <p:val>
                                            <p:strVal val="0-#ppt_w/2"/>
                                          </p:val>
                                        </p:tav>
                                        <p:tav tm="100000">
                                          <p:val>
                                            <p:strVal val="#ppt_x"/>
                                          </p:val>
                                        </p:tav>
                                      </p:tavLst>
                                    </p:anim>
                                    <p:anim calcmode="lin" valueType="num">
                                      <p:cBhvr additive="base">
                                        <p:cTn id="12" dur="2000" fill="hold"/>
                                        <p:tgtEl>
                                          <p:spTgt spid="3">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4" accel="50000" decel="50000" fill="hold" grpId="0" nodeType="with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 calcmode="lin" valueType="num">
                                      <p:cBhvr additive="base">
                                        <p:cTn id="15" dur="30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6" dur="30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143948"/>
          </a:xfrm>
        </p:spPr>
        <p:txBody>
          <a:bodyPr/>
          <a:lstStyle/>
          <a:p>
            <a:pPr algn="ctr"/>
            <a:r>
              <a:rPr lang="en-NZ"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Race Condition</a:t>
            </a:r>
          </a:p>
        </p:txBody>
      </p:sp>
      <p:sp>
        <p:nvSpPr>
          <p:cNvPr id="3" name="Content Placeholder 2"/>
          <p:cNvSpPr>
            <a:spLocks noGrp="1"/>
          </p:cNvSpPr>
          <p:nvPr>
            <p:ph sz="half" idx="1"/>
          </p:nvPr>
        </p:nvSpPr>
        <p:spPr>
          <a:xfrm>
            <a:off x="658904" y="2286000"/>
            <a:ext cx="6961096" cy="3840163"/>
          </a:xfrm>
        </p:spPr>
        <p:txBody>
          <a:bodyPr>
            <a:normAutofit/>
          </a:bodyPr>
          <a:lstStyle/>
          <a:p>
            <a:r>
              <a:rPr lang="en-NZ" sz="3000" dirty="0"/>
              <a:t>Occurs when multiple processes or threads read and write data items</a:t>
            </a:r>
          </a:p>
          <a:p>
            <a:r>
              <a:rPr lang="en-NZ" sz="3000" dirty="0"/>
              <a:t>The final result depends on the order of execution</a:t>
            </a:r>
          </a:p>
          <a:p>
            <a:pPr lvl="3"/>
            <a:r>
              <a:rPr lang="en-NZ" sz="2600" dirty="0"/>
              <a:t>the “loser” of the race is the process that updates last and will determine the final value of the variable</a:t>
            </a:r>
          </a:p>
        </p:txBody>
      </p:sp>
      <p:pic>
        <p:nvPicPr>
          <p:cNvPr id="4" name="Picture 3"/>
          <p:cNvPicPr>
            <a:picLocks noChangeAspect="1"/>
          </p:cNvPicPr>
          <p:nvPr/>
        </p:nvPicPr>
        <mc:AlternateContent xmlns:mc="http://schemas.openxmlformats.org/markup-compatibility/2006">
          <mc:Choice xmlns="" xmlns:mv="urn:schemas-microsoft-com:mac:vml" xmlns:ma="http://schemas.microsoft.com/office/mac/drawingml/2008/main" Requires="ma">
            <p:blipFill>
              <a:blip r:embed="rId3"/>
              <a:stretch>
                <a:fillRect/>
              </a:stretch>
            </p:blipFill>
          </mc:Choice>
          <mc:Fallback>
            <p:blipFill>
              <a:blip r:embed="rId4"/>
              <a:stretch>
                <a:fillRect/>
              </a:stretch>
            </p:blipFill>
          </mc:Fallback>
        </mc:AlternateContent>
        <p:spPr>
          <a:xfrm>
            <a:off x="7315200" y="4876800"/>
            <a:ext cx="1323565" cy="1490313"/>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6"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80">
                                          <p:stCondLst>
                                            <p:cond delay="0"/>
                                          </p:stCondLst>
                                        </p:cTn>
                                        <p:tgtEl>
                                          <p:spTgt spid="3">
                                            <p:txEl>
                                              <p:pRg st="0" end="0"/>
                                            </p:txEl>
                                          </p:spTgt>
                                        </p:tgtEl>
                                      </p:cBhvr>
                                    </p:animEffect>
                                    <p:anim calcmode="lin" valueType="num">
                                      <p:cBhvr>
                                        <p:cTn id="8" dur="1822" tmFilter="0,0; 0.14,0.36; 0.43,0.73; 0.71,0.91; 1.0,1.0">
                                          <p:stCondLst>
                                            <p:cond delay="0"/>
                                          </p:stCondLst>
                                        </p:cTn>
                                        <p:tgtEl>
                                          <p:spTgt spid="3">
                                            <p:txEl>
                                              <p:pRg st="0" end="0"/>
                                            </p:txEl>
                                          </p:spTgt>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3">
                                            <p:txEl>
                                              <p:pRg st="0" end="0"/>
                                            </p:txEl>
                                          </p:spTgt>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3">
                                            <p:txEl>
                                              <p:pRg st="0" end="0"/>
                                            </p:txEl>
                                          </p:spTgt>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3">
                                            <p:txEl>
                                              <p:pRg st="0" end="0"/>
                                            </p:txEl>
                                          </p:spTgt>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3">
                                            <p:txEl>
                                              <p:pRg st="0" end="0"/>
                                            </p:txEl>
                                          </p:spTgt>
                                        </p:tgtEl>
                                        <p:attrNameLst>
                                          <p:attrName>ppt_y</p:attrName>
                                        </p:attrNameLst>
                                      </p:cBhvr>
                                      <p:tavLst>
                                        <p:tav tm="0" fmla="#ppt_y-sin(pi*$)/81">
                                          <p:val>
                                            <p:fltVal val="0"/>
                                          </p:val>
                                        </p:tav>
                                        <p:tav tm="100000">
                                          <p:val>
                                            <p:fltVal val="1"/>
                                          </p:val>
                                        </p:tav>
                                      </p:tavLst>
                                    </p:anim>
                                    <p:animScale>
                                      <p:cBhvr>
                                        <p:cTn id="13" dur="26">
                                          <p:stCondLst>
                                            <p:cond delay="650"/>
                                          </p:stCondLst>
                                        </p:cTn>
                                        <p:tgtEl>
                                          <p:spTgt spid="3">
                                            <p:txEl>
                                              <p:pRg st="0" end="0"/>
                                            </p:txEl>
                                          </p:spTgt>
                                        </p:tgtEl>
                                      </p:cBhvr>
                                      <p:to x="100000" y="60000"/>
                                    </p:animScale>
                                    <p:animScale>
                                      <p:cBhvr>
                                        <p:cTn id="14" dur="166" decel="50000">
                                          <p:stCondLst>
                                            <p:cond delay="676"/>
                                          </p:stCondLst>
                                        </p:cTn>
                                        <p:tgtEl>
                                          <p:spTgt spid="3">
                                            <p:txEl>
                                              <p:pRg st="0" end="0"/>
                                            </p:txEl>
                                          </p:spTgt>
                                        </p:tgtEl>
                                      </p:cBhvr>
                                      <p:to x="100000" y="100000"/>
                                    </p:animScale>
                                    <p:animScale>
                                      <p:cBhvr>
                                        <p:cTn id="15" dur="26">
                                          <p:stCondLst>
                                            <p:cond delay="1312"/>
                                          </p:stCondLst>
                                        </p:cTn>
                                        <p:tgtEl>
                                          <p:spTgt spid="3">
                                            <p:txEl>
                                              <p:pRg st="0" end="0"/>
                                            </p:txEl>
                                          </p:spTgt>
                                        </p:tgtEl>
                                      </p:cBhvr>
                                      <p:to x="100000" y="80000"/>
                                    </p:animScale>
                                    <p:animScale>
                                      <p:cBhvr>
                                        <p:cTn id="16" dur="166" decel="50000">
                                          <p:stCondLst>
                                            <p:cond delay="1338"/>
                                          </p:stCondLst>
                                        </p:cTn>
                                        <p:tgtEl>
                                          <p:spTgt spid="3">
                                            <p:txEl>
                                              <p:pRg st="0" end="0"/>
                                            </p:txEl>
                                          </p:spTgt>
                                        </p:tgtEl>
                                      </p:cBhvr>
                                      <p:to x="100000" y="100000"/>
                                    </p:animScale>
                                    <p:animScale>
                                      <p:cBhvr>
                                        <p:cTn id="17" dur="26">
                                          <p:stCondLst>
                                            <p:cond delay="1642"/>
                                          </p:stCondLst>
                                        </p:cTn>
                                        <p:tgtEl>
                                          <p:spTgt spid="3">
                                            <p:txEl>
                                              <p:pRg st="0" end="0"/>
                                            </p:txEl>
                                          </p:spTgt>
                                        </p:tgtEl>
                                      </p:cBhvr>
                                      <p:to x="100000" y="90000"/>
                                    </p:animScale>
                                    <p:animScale>
                                      <p:cBhvr>
                                        <p:cTn id="18" dur="166" decel="50000">
                                          <p:stCondLst>
                                            <p:cond delay="1668"/>
                                          </p:stCondLst>
                                        </p:cTn>
                                        <p:tgtEl>
                                          <p:spTgt spid="3">
                                            <p:txEl>
                                              <p:pRg st="0" end="0"/>
                                            </p:txEl>
                                          </p:spTgt>
                                        </p:tgtEl>
                                      </p:cBhvr>
                                      <p:to x="100000" y="100000"/>
                                    </p:animScale>
                                    <p:animScale>
                                      <p:cBhvr>
                                        <p:cTn id="19" dur="26">
                                          <p:stCondLst>
                                            <p:cond delay="1808"/>
                                          </p:stCondLst>
                                        </p:cTn>
                                        <p:tgtEl>
                                          <p:spTgt spid="3">
                                            <p:txEl>
                                              <p:pRg st="0" end="0"/>
                                            </p:txEl>
                                          </p:spTgt>
                                        </p:tgtEl>
                                      </p:cBhvr>
                                      <p:to x="100000" y="95000"/>
                                    </p:animScale>
                                    <p:animScale>
                                      <p:cBhvr>
                                        <p:cTn id="20" dur="166" decel="50000">
                                          <p:stCondLst>
                                            <p:cond delay="1834"/>
                                          </p:stCondLst>
                                        </p:cTn>
                                        <p:tgtEl>
                                          <p:spTgt spid="3">
                                            <p:txEl>
                                              <p:pRg st="0" end="0"/>
                                            </p:txEl>
                                          </p:spTgt>
                                        </p:tgtEl>
                                      </p:cBhvr>
                                      <p:to x="100000" y="100000"/>
                                    </p:animScale>
                                  </p:childTnLst>
                                </p:cTn>
                              </p:par>
                              <p:par>
                                <p:cTn id="21" presetID="26" presetClass="entr" presetSubtype="0" fill="hold" grpId="0" nodeType="withEffect">
                                  <p:stCondLst>
                                    <p:cond delay="0"/>
                                  </p:stCondLst>
                                  <p:childTnLst>
                                    <p:set>
                                      <p:cBhvr>
                                        <p:cTn id="22" dur="1" fill="hold">
                                          <p:stCondLst>
                                            <p:cond delay="0"/>
                                          </p:stCondLst>
                                        </p:cTn>
                                        <p:tgtEl>
                                          <p:spTgt spid="3">
                                            <p:txEl>
                                              <p:pRg st="1" end="1"/>
                                            </p:txEl>
                                          </p:spTgt>
                                        </p:tgtEl>
                                        <p:attrNameLst>
                                          <p:attrName>style.visibility</p:attrName>
                                        </p:attrNameLst>
                                      </p:cBhvr>
                                      <p:to>
                                        <p:strVal val="visible"/>
                                      </p:to>
                                    </p:set>
                                    <p:animEffect transition="in" filter="wipe(down)">
                                      <p:cBhvr>
                                        <p:cTn id="23" dur="580">
                                          <p:stCondLst>
                                            <p:cond delay="0"/>
                                          </p:stCondLst>
                                        </p:cTn>
                                        <p:tgtEl>
                                          <p:spTgt spid="3">
                                            <p:txEl>
                                              <p:pRg st="1" end="1"/>
                                            </p:txEl>
                                          </p:spTgt>
                                        </p:tgtEl>
                                      </p:cBhvr>
                                    </p:animEffect>
                                    <p:anim calcmode="lin" valueType="num">
                                      <p:cBhvr>
                                        <p:cTn id="24" dur="1822" tmFilter="0,0; 0.14,0.36; 0.43,0.73; 0.71,0.91; 1.0,1.0">
                                          <p:stCondLst>
                                            <p:cond delay="0"/>
                                          </p:stCondLst>
                                        </p:cTn>
                                        <p:tgtEl>
                                          <p:spTgt spid="3">
                                            <p:txEl>
                                              <p:pRg st="1" end="1"/>
                                            </p:txEl>
                                          </p:spTgt>
                                        </p:tgtEl>
                                        <p:attrNameLst>
                                          <p:attrName>ppt_x</p:attrName>
                                        </p:attrNameLst>
                                      </p:cBhvr>
                                      <p:tavLst>
                                        <p:tav tm="0">
                                          <p:val>
                                            <p:strVal val="#ppt_x-0.25"/>
                                          </p:val>
                                        </p:tav>
                                        <p:tav tm="100000">
                                          <p:val>
                                            <p:strVal val="#ppt_x"/>
                                          </p:val>
                                        </p:tav>
                                      </p:tavLst>
                                    </p:anim>
                                    <p:anim calcmode="lin" valueType="num">
                                      <p:cBhvr>
                                        <p:cTn id="25" dur="664" tmFilter="0.0,0.0; 0.25,0.07; 0.50,0.2; 0.75,0.467; 1.0,1.0">
                                          <p:stCondLst>
                                            <p:cond delay="0"/>
                                          </p:stCondLst>
                                        </p:cTn>
                                        <p:tgtEl>
                                          <p:spTgt spid="3">
                                            <p:txEl>
                                              <p:pRg st="1" end="1"/>
                                            </p:txEl>
                                          </p:spTgt>
                                        </p:tgtEl>
                                        <p:attrNameLst>
                                          <p:attrName>ppt_y</p:attrName>
                                        </p:attrNameLst>
                                      </p:cBhvr>
                                      <p:tavLst>
                                        <p:tav tm="0" fmla="#ppt_y-sin(pi*$)/3">
                                          <p:val>
                                            <p:fltVal val="0.5"/>
                                          </p:val>
                                        </p:tav>
                                        <p:tav tm="100000">
                                          <p:val>
                                            <p:fltVal val="1"/>
                                          </p:val>
                                        </p:tav>
                                      </p:tavLst>
                                    </p:anim>
                                    <p:anim calcmode="lin" valueType="num">
                                      <p:cBhvr>
                                        <p:cTn id="26" dur="664" tmFilter="0, 0; 0.125,0.2665; 0.25,0.4; 0.375,0.465; 0.5,0.5;  0.625,0.535; 0.75,0.6; 0.875,0.7335; 1,1">
                                          <p:stCondLst>
                                            <p:cond delay="664"/>
                                          </p:stCondLst>
                                        </p:cTn>
                                        <p:tgtEl>
                                          <p:spTgt spid="3">
                                            <p:txEl>
                                              <p:pRg st="1" end="1"/>
                                            </p:txEl>
                                          </p:spTgt>
                                        </p:tgtEl>
                                        <p:attrNameLst>
                                          <p:attrName>ppt_y</p:attrName>
                                        </p:attrNameLst>
                                      </p:cBhvr>
                                      <p:tavLst>
                                        <p:tav tm="0" fmla="#ppt_y-sin(pi*$)/9">
                                          <p:val>
                                            <p:fltVal val="0"/>
                                          </p:val>
                                        </p:tav>
                                        <p:tav tm="100000">
                                          <p:val>
                                            <p:fltVal val="1"/>
                                          </p:val>
                                        </p:tav>
                                      </p:tavLst>
                                    </p:anim>
                                    <p:anim calcmode="lin" valueType="num">
                                      <p:cBhvr>
                                        <p:cTn id="27" dur="332" tmFilter="0, 0; 0.125,0.2665; 0.25,0.4; 0.375,0.465; 0.5,0.5;  0.625,0.535; 0.75,0.6; 0.875,0.7335; 1,1">
                                          <p:stCondLst>
                                            <p:cond delay="1324"/>
                                          </p:stCondLst>
                                        </p:cTn>
                                        <p:tgtEl>
                                          <p:spTgt spid="3">
                                            <p:txEl>
                                              <p:pRg st="1" end="1"/>
                                            </p:txEl>
                                          </p:spTgt>
                                        </p:tgtEl>
                                        <p:attrNameLst>
                                          <p:attrName>ppt_y</p:attrName>
                                        </p:attrNameLst>
                                      </p:cBhvr>
                                      <p:tavLst>
                                        <p:tav tm="0" fmla="#ppt_y-sin(pi*$)/27">
                                          <p:val>
                                            <p:fltVal val="0"/>
                                          </p:val>
                                        </p:tav>
                                        <p:tav tm="100000">
                                          <p:val>
                                            <p:fltVal val="1"/>
                                          </p:val>
                                        </p:tav>
                                      </p:tavLst>
                                    </p:anim>
                                    <p:anim calcmode="lin" valueType="num">
                                      <p:cBhvr>
                                        <p:cTn id="28" dur="164" tmFilter="0, 0; 0.125,0.2665; 0.25,0.4; 0.375,0.465; 0.5,0.5;  0.625,0.535; 0.75,0.6; 0.875,0.7335; 1,1">
                                          <p:stCondLst>
                                            <p:cond delay="1656"/>
                                          </p:stCondLst>
                                        </p:cTn>
                                        <p:tgtEl>
                                          <p:spTgt spid="3">
                                            <p:txEl>
                                              <p:pRg st="1" end="1"/>
                                            </p:txEl>
                                          </p:spTgt>
                                        </p:tgtEl>
                                        <p:attrNameLst>
                                          <p:attrName>ppt_y</p:attrName>
                                        </p:attrNameLst>
                                      </p:cBhvr>
                                      <p:tavLst>
                                        <p:tav tm="0" fmla="#ppt_y-sin(pi*$)/81">
                                          <p:val>
                                            <p:fltVal val="0"/>
                                          </p:val>
                                        </p:tav>
                                        <p:tav tm="100000">
                                          <p:val>
                                            <p:fltVal val="1"/>
                                          </p:val>
                                        </p:tav>
                                      </p:tavLst>
                                    </p:anim>
                                    <p:animScale>
                                      <p:cBhvr>
                                        <p:cTn id="29" dur="26">
                                          <p:stCondLst>
                                            <p:cond delay="650"/>
                                          </p:stCondLst>
                                        </p:cTn>
                                        <p:tgtEl>
                                          <p:spTgt spid="3">
                                            <p:txEl>
                                              <p:pRg st="1" end="1"/>
                                            </p:txEl>
                                          </p:spTgt>
                                        </p:tgtEl>
                                      </p:cBhvr>
                                      <p:to x="100000" y="60000"/>
                                    </p:animScale>
                                    <p:animScale>
                                      <p:cBhvr>
                                        <p:cTn id="30" dur="166" decel="50000">
                                          <p:stCondLst>
                                            <p:cond delay="676"/>
                                          </p:stCondLst>
                                        </p:cTn>
                                        <p:tgtEl>
                                          <p:spTgt spid="3">
                                            <p:txEl>
                                              <p:pRg st="1" end="1"/>
                                            </p:txEl>
                                          </p:spTgt>
                                        </p:tgtEl>
                                      </p:cBhvr>
                                      <p:to x="100000" y="100000"/>
                                    </p:animScale>
                                    <p:animScale>
                                      <p:cBhvr>
                                        <p:cTn id="31" dur="26">
                                          <p:stCondLst>
                                            <p:cond delay="1312"/>
                                          </p:stCondLst>
                                        </p:cTn>
                                        <p:tgtEl>
                                          <p:spTgt spid="3">
                                            <p:txEl>
                                              <p:pRg st="1" end="1"/>
                                            </p:txEl>
                                          </p:spTgt>
                                        </p:tgtEl>
                                      </p:cBhvr>
                                      <p:to x="100000" y="80000"/>
                                    </p:animScale>
                                    <p:animScale>
                                      <p:cBhvr>
                                        <p:cTn id="32" dur="166" decel="50000">
                                          <p:stCondLst>
                                            <p:cond delay="1338"/>
                                          </p:stCondLst>
                                        </p:cTn>
                                        <p:tgtEl>
                                          <p:spTgt spid="3">
                                            <p:txEl>
                                              <p:pRg st="1" end="1"/>
                                            </p:txEl>
                                          </p:spTgt>
                                        </p:tgtEl>
                                      </p:cBhvr>
                                      <p:to x="100000" y="100000"/>
                                    </p:animScale>
                                    <p:animScale>
                                      <p:cBhvr>
                                        <p:cTn id="33" dur="26">
                                          <p:stCondLst>
                                            <p:cond delay="1642"/>
                                          </p:stCondLst>
                                        </p:cTn>
                                        <p:tgtEl>
                                          <p:spTgt spid="3">
                                            <p:txEl>
                                              <p:pRg st="1" end="1"/>
                                            </p:txEl>
                                          </p:spTgt>
                                        </p:tgtEl>
                                      </p:cBhvr>
                                      <p:to x="100000" y="90000"/>
                                    </p:animScale>
                                    <p:animScale>
                                      <p:cBhvr>
                                        <p:cTn id="34" dur="166" decel="50000">
                                          <p:stCondLst>
                                            <p:cond delay="1668"/>
                                          </p:stCondLst>
                                        </p:cTn>
                                        <p:tgtEl>
                                          <p:spTgt spid="3">
                                            <p:txEl>
                                              <p:pRg st="1" end="1"/>
                                            </p:txEl>
                                          </p:spTgt>
                                        </p:tgtEl>
                                      </p:cBhvr>
                                      <p:to x="100000" y="100000"/>
                                    </p:animScale>
                                    <p:animScale>
                                      <p:cBhvr>
                                        <p:cTn id="35" dur="26">
                                          <p:stCondLst>
                                            <p:cond delay="1808"/>
                                          </p:stCondLst>
                                        </p:cTn>
                                        <p:tgtEl>
                                          <p:spTgt spid="3">
                                            <p:txEl>
                                              <p:pRg st="1" end="1"/>
                                            </p:txEl>
                                          </p:spTgt>
                                        </p:tgtEl>
                                      </p:cBhvr>
                                      <p:to x="100000" y="95000"/>
                                    </p:animScale>
                                    <p:animScale>
                                      <p:cBhvr>
                                        <p:cTn id="36" dur="166" decel="50000">
                                          <p:stCondLst>
                                            <p:cond delay="1834"/>
                                          </p:stCondLst>
                                        </p:cTn>
                                        <p:tgtEl>
                                          <p:spTgt spid="3">
                                            <p:txEl>
                                              <p:pRg st="1" end="1"/>
                                            </p:txEl>
                                          </p:spTgt>
                                        </p:tgtEl>
                                      </p:cBhvr>
                                      <p:to x="100000" y="100000"/>
                                    </p:animScale>
                                  </p:childTnLst>
                                </p:cTn>
                              </p:par>
                              <p:par>
                                <p:cTn id="37" presetID="26" presetClass="entr" presetSubtype="0" fill="hold" grpId="0" nodeType="withEffect">
                                  <p:stCondLst>
                                    <p:cond delay="0"/>
                                  </p:stCondLst>
                                  <p:childTnLst>
                                    <p:set>
                                      <p:cBhvr>
                                        <p:cTn id="38" dur="1" fill="hold">
                                          <p:stCondLst>
                                            <p:cond delay="0"/>
                                          </p:stCondLst>
                                        </p:cTn>
                                        <p:tgtEl>
                                          <p:spTgt spid="3">
                                            <p:txEl>
                                              <p:pRg st="2" end="2"/>
                                            </p:txEl>
                                          </p:spTgt>
                                        </p:tgtEl>
                                        <p:attrNameLst>
                                          <p:attrName>style.visibility</p:attrName>
                                        </p:attrNameLst>
                                      </p:cBhvr>
                                      <p:to>
                                        <p:strVal val="visible"/>
                                      </p:to>
                                    </p:set>
                                    <p:animEffect transition="in" filter="wipe(down)">
                                      <p:cBhvr>
                                        <p:cTn id="39" dur="580">
                                          <p:stCondLst>
                                            <p:cond delay="0"/>
                                          </p:stCondLst>
                                        </p:cTn>
                                        <p:tgtEl>
                                          <p:spTgt spid="3">
                                            <p:txEl>
                                              <p:pRg st="2" end="2"/>
                                            </p:txEl>
                                          </p:spTgt>
                                        </p:tgtEl>
                                      </p:cBhvr>
                                    </p:animEffect>
                                    <p:anim calcmode="lin" valueType="num">
                                      <p:cBhvr>
                                        <p:cTn id="40" dur="1822" tmFilter="0,0; 0.14,0.36; 0.43,0.73; 0.71,0.91; 1.0,1.0">
                                          <p:stCondLst>
                                            <p:cond delay="0"/>
                                          </p:stCondLst>
                                        </p:cTn>
                                        <p:tgtEl>
                                          <p:spTgt spid="3">
                                            <p:txEl>
                                              <p:pRg st="2" end="2"/>
                                            </p:txEl>
                                          </p:spTgt>
                                        </p:tgtEl>
                                        <p:attrNameLst>
                                          <p:attrName>ppt_x</p:attrName>
                                        </p:attrNameLst>
                                      </p:cBhvr>
                                      <p:tavLst>
                                        <p:tav tm="0">
                                          <p:val>
                                            <p:strVal val="#ppt_x-0.25"/>
                                          </p:val>
                                        </p:tav>
                                        <p:tav tm="100000">
                                          <p:val>
                                            <p:strVal val="#ppt_x"/>
                                          </p:val>
                                        </p:tav>
                                      </p:tavLst>
                                    </p:anim>
                                    <p:anim calcmode="lin" valueType="num">
                                      <p:cBhvr>
                                        <p:cTn id="41" dur="664" tmFilter="0.0,0.0; 0.25,0.07; 0.50,0.2; 0.75,0.467; 1.0,1.0">
                                          <p:stCondLst>
                                            <p:cond delay="0"/>
                                          </p:stCondLst>
                                        </p:cTn>
                                        <p:tgtEl>
                                          <p:spTgt spid="3">
                                            <p:txEl>
                                              <p:pRg st="2" end="2"/>
                                            </p:txEl>
                                          </p:spTgt>
                                        </p:tgtEl>
                                        <p:attrNameLst>
                                          <p:attrName>ppt_y</p:attrName>
                                        </p:attrNameLst>
                                      </p:cBhvr>
                                      <p:tavLst>
                                        <p:tav tm="0" fmla="#ppt_y-sin(pi*$)/3">
                                          <p:val>
                                            <p:fltVal val="0.5"/>
                                          </p:val>
                                        </p:tav>
                                        <p:tav tm="100000">
                                          <p:val>
                                            <p:fltVal val="1"/>
                                          </p:val>
                                        </p:tav>
                                      </p:tavLst>
                                    </p:anim>
                                    <p:anim calcmode="lin" valueType="num">
                                      <p:cBhvr>
                                        <p:cTn id="42" dur="664" tmFilter="0, 0; 0.125,0.2665; 0.25,0.4; 0.375,0.465; 0.5,0.5;  0.625,0.535; 0.75,0.6; 0.875,0.7335; 1,1">
                                          <p:stCondLst>
                                            <p:cond delay="664"/>
                                          </p:stCondLst>
                                        </p:cTn>
                                        <p:tgtEl>
                                          <p:spTgt spid="3">
                                            <p:txEl>
                                              <p:pRg st="2" end="2"/>
                                            </p:txEl>
                                          </p:spTgt>
                                        </p:tgtEl>
                                        <p:attrNameLst>
                                          <p:attrName>ppt_y</p:attrName>
                                        </p:attrNameLst>
                                      </p:cBhvr>
                                      <p:tavLst>
                                        <p:tav tm="0" fmla="#ppt_y-sin(pi*$)/9">
                                          <p:val>
                                            <p:fltVal val="0"/>
                                          </p:val>
                                        </p:tav>
                                        <p:tav tm="100000">
                                          <p:val>
                                            <p:fltVal val="1"/>
                                          </p:val>
                                        </p:tav>
                                      </p:tavLst>
                                    </p:anim>
                                    <p:anim calcmode="lin" valueType="num">
                                      <p:cBhvr>
                                        <p:cTn id="43" dur="332" tmFilter="0, 0; 0.125,0.2665; 0.25,0.4; 0.375,0.465; 0.5,0.5;  0.625,0.535; 0.75,0.6; 0.875,0.7335; 1,1">
                                          <p:stCondLst>
                                            <p:cond delay="1324"/>
                                          </p:stCondLst>
                                        </p:cTn>
                                        <p:tgtEl>
                                          <p:spTgt spid="3">
                                            <p:txEl>
                                              <p:pRg st="2" end="2"/>
                                            </p:txEl>
                                          </p:spTgt>
                                        </p:tgtEl>
                                        <p:attrNameLst>
                                          <p:attrName>ppt_y</p:attrName>
                                        </p:attrNameLst>
                                      </p:cBhvr>
                                      <p:tavLst>
                                        <p:tav tm="0" fmla="#ppt_y-sin(pi*$)/27">
                                          <p:val>
                                            <p:fltVal val="0"/>
                                          </p:val>
                                        </p:tav>
                                        <p:tav tm="100000">
                                          <p:val>
                                            <p:fltVal val="1"/>
                                          </p:val>
                                        </p:tav>
                                      </p:tavLst>
                                    </p:anim>
                                    <p:anim calcmode="lin" valueType="num">
                                      <p:cBhvr>
                                        <p:cTn id="44" dur="164" tmFilter="0, 0; 0.125,0.2665; 0.25,0.4; 0.375,0.465; 0.5,0.5;  0.625,0.535; 0.75,0.6; 0.875,0.7335; 1,1">
                                          <p:stCondLst>
                                            <p:cond delay="1656"/>
                                          </p:stCondLst>
                                        </p:cTn>
                                        <p:tgtEl>
                                          <p:spTgt spid="3">
                                            <p:txEl>
                                              <p:pRg st="2" end="2"/>
                                            </p:txEl>
                                          </p:spTgt>
                                        </p:tgtEl>
                                        <p:attrNameLst>
                                          <p:attrName>ppt_y</p:attrName>
                                        </p:attrNameLst>
                                      </p:cBhvr>
                                      <p:tavLst>
                                        <p:tav tm="0" fmla="#ppt_y-sin(pi*$)/81">
                                          <p:val>
                                            <p:fltVal val="0"/>
                                          </p:val>
                                        </p:tav>
                                        <p:tav tm="100000">
                                          <p:val>
                                            <p:fltVal val="1"/>
                                          </p:val>
                                        </p:tav>
                                      </p:tavLst>
                                    </p:anim>
                                    <p:animScale>
                                      <p:cBhvr>
                                        <p:cTn id="45" dur="26">
                                          <p:stCondLst>
                                            <p:cond delay="650"/>
                                          </p:stCondLst>
                                        </p:cTn>
                                        <p:tgtEl>
                                          <p:spTgt spid="3">
                                            <p:txEl>
                                              <p:pRg st="2" end="2"/>
                                            </p:txEl>
                                          </p:spTgt>
                                        </p:tgtEl>
                                      </p:cBhvr>
                                      <p:to x="100000" y="60000"/>
                                    </p:animScale>
                                    <p:animScale>
                                      <p:cBhvr>
                                        <p:cTn id="46" dur="166" decel="50000">
                                          <p:stCondLst>
                                            <p:cond delay="676"/>
                                          </p:stCondLst>
                                        </p:cTn>
                                        <p:tgtEl>
                                          <p:spTgt spid="3">
                                            <p:txEl>
                                              <p:pRg st="2" end="2"/>
                                            </p:txEl>
                                          </p:spTgt>
                                        </p:tgtEl>
                                      </p:cBhvr>
                                      <p:to x="100000" y="100000"/>
                                    </p:animScale>
                                    <p:animScale>
                                      <p:cBhvr>
                                        <p:cTn id="47" dur="26">
                                          <p:stCondLst>
                                            <p:cond delay="1312"/>
                                          </p:stCondLst>
                                        </p:cTn>
                                        <p:tgtEl>
                                          <p:spTgt spid="3">
                                            <p:txEl>
                                              <p:pRg st="2" end="2"/>
                                            </p:txEl>
                                          </p:spTgt>
                                        </p:tgtEl>
                                      </p:cBhvr>
                                      <p:to x="100000" y="80000"/>
                                    </p:animScale>
                                    <p:animScale>
                                      <p:cBhvr>
                                        <p:cTn id="48" dur="166" decel="50000">
                                          <p:stCondLst>
                                            <p:cond delay="1338"/>
                                          </p:stCondLst>
                                        </p:cTn>
                                        <p:tgtEl>
                                          <p:spTgt spid="3">
                                            <p:txEl>
                                              <p:pRg st="2" end="2"/>
                                            </p:txEl>
                                          </p:spTgt>
                                        </p:tgtEl>
                                      </p:cBhvr>
                                      <p:to x="100000" y="100000"/>
                                    </p:animScale>
                                    <p:animScale>
                                      <p:cBhvr>
                                        <p:cTn id="49" dur="26">
                                          <p:stCondLst>
                                            <p:cond delay="1642"/>
                                          </p:stCondLst>
                                        </p:cTn>
                                        <p:tgtEl>
                                          <p:spTgt spid="3">
                                            <p:txEl>
                                              <p:pRg st="2" end="2"/>
                                            </p:txEl>
                                          </p:spTgt>
                                        </p:tgtEl>
                                      </p:cBhvr>
                                      <p:to x="100000" y="90000"/>
                                    </p:animScale>
                                    <p:animScale>
                                      <p:cBhvr>
                                        <p:cTn id="50" dur="166" decel="50000">
                                          <p:stCondLst>
                                            <p:cond delay="1668"/>
                                          </p:stCondLst>
                                        </p:cTn>
                                        <p:tgtEl>
                                          <p:spTgt spid="3">
                                            <p:txEl>
                                              <p:pRg st="2" end="2"/>
                                            </p:txEl>
                                          </p:spTgt>
                                        </p:tgtEl>
                                      </p:cBhvr>
                                      <p:to x="100000" y="100000"/>
                                    </p:animScale>
                                    <p:animScale>
                                      <p:cBhvr>
                                        <p:cTn id="51" dur="26">
                                          <p:stCondLst>
                                            <p:cond delay="1808"/>
                                          </p:stCondLst>
                                        </p:cTn>
                                        <p:tgtEl>
                                          <p:spTgt spid="3">
                                            <p:txEl>
                                              <p:pRg st="2" end="2"/>
                                            </p:txEl>
                                          </p:spTgt>
                                        </p:tgtEl>
                                      </p:cBhvr>
                                      <p:to x="100000" y="95000"/>
                                    </p:animScale>
                                    <p:animScale>
                                      <p:cBhvr>
                                        <p:cTn id="52" dur="166" decel="50000">
                                          <p:stCondLst>
                                            <p:cond delay="1834"/>
                                          </p:stCondLst>
                                        </p:cTn>
                                        <p:tgtEl>
                                          <p:spTgt spid="3">
                                            <p:txEl>
                                              <p:pRg st="2" end="2"/>
                                            </p:txEl>
                                          </p:spTgt>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58813" y="456253"/>
            <a:ext cx="7824788" cy="1067747"/>
          </a:xfrm>
        </p:spPr>
        <p:txBody>
          <a:bodyPr/>
          <a:lstStyle/>
          <a:p>
            <a:pPr algn="ctr"/>
            <a:r>
              <a:rPr lang="en-US" sz="4600" b="1" dirty="0">
                <a:solidFill>
                  <a:schemeClr val="accent6">
                    <a:lumMod val="75000"/>
                  </a:schemeClr>
                </a:solidFill>
              </a:rPr>
              <a:t>Operating System Concerns</a:t>
            </a:r>
          </a:p>
        </p:txBody>
      </p:sp>
      <p:sp>
        <p:nvSpPr>
          <p:cNvPr id="3" name="Content Placeholder 2"/>
          <p:cNvSpPr>
            <a:spLocks noGrp="1"/>
          </p:cNvSpPr>
          <p:nvPr>
            <p:ph sz="half" idx="1"/>
          </p:nvPr>
        </p:nvSpPr>
        <p:spPr>
          <a:xfrm>
            <a:off x="533400" y="2133600"/>
            <a:ext cx="7924800" cy="4343400"/>
          </a:xfrm>
        </p:spPr>
        <p:txBody>
          <a:bodyPr>
            <a:normAutofit/>
          </a:bodyPr>
          <a:lstStyle/>
          <a:p>
            <a:r>
              <a:rPr lang="en-NZ" sz="2400" dirty="0"/>
              <a:t>Design and management issues raised by the existence of concurrency:</a:t>
            </a:r>
          </a:p>
          <a:p>
            <a:pPr lvl="1"/>
            <a:r>
              <a:rPr lang="en-NZ" sz="2400" dirty="0"/>
              <a:t>T</a:t>
            </a:r>
            <a:r>
              <a:rPr lang="en-US" sz="2400" dirty="0"/>
              <a:t>he OS must: </a:t>
            </a:r>
          </a:p>
          <a:p>
            <a:pPr lvl="3"/>
            <a:r>
              <a:rPr lang="en-US" sz="2200" dirty="0"/>
              <a:t>be able to keep track of various processes</a:t>
            </a:r>
          </a:p>
          <a:p>
            <a:pPr lvl="3"/>
            <a:r>
              <a:rPr lang="en-US" sz="2200" dirty="0"/>
              <a:t>allocate and de-allocate resources for each              active process</a:t>
            </a:r>
          </a:p>
          <a:p>
            <a:pPr lvl="3"/>
            <a:r>
              <a:rPr lang="en-NZ" sz="2200" dirty="0"/>
              <a:t>protect the data and physical resources of each process against interference by other processes</a:t>
            </a:r>
            <a:endParaRPr lang="en-US" sz="2200" dirty="0"/>
          </a:p>
          <a:p>
            <a:pPr lvl="3"/>
            <a:r>
              <a:rPr lang="en-US" sz="2200" dirty="0"/>
              <a:t>ensure that the processes and outputs are independent of the processing speed</a:t>
            </a:r>
          </a:p>
        </p:txBody>
      </p:sp>
      <p:pic>
        <p:nvPicPr>
          <p:cNvPr id="4" name="Picture 3"/>
          <p:cNvPicPr>
            <a:picLocks noChangeAspect="1"/>
          </p:cNvPicPr>
          <p:nvPr/>
        </p:nvPicPr>
        <p:blipFill>
          <a:blip r:embed="rId3"/>
          <a:stretch>
            <a:fillRect/>
          </a:stretch>
        </p:blipFill>
        <p:spPr>
          <a:xfrm rot="21305445">
            <a:off x="6978619" y="3019167"/>
            <a:ext cx="1713492" cy="1170886"/>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1" presetClass="entr" presetSubtype="0" fill="hold" grpId="0" nodeType="afterEffect">
                                  <p:stCondLst>
                                    <p:cond delay="30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fade">
                                      <p:cBhvr>
                                        <p:cTn id="7" dur="385" decel="100000"/>
                                        <p:tgtEl>
                                          <p:spTgt spid="3">
                                            <p:txEl>
                                              <p:pRg st="2" end="2"/>
                                            </p:txEl>
                                          </p:spTgt>
                                        </p:tgtEl>
                                      </p:cBhvr>
                                    </p:animEffect>
                                    <p:animScale>
                                      <p:cBhvr>
                                        <p:cTn id="8" dur="385" decel="100000"/>
                                        <p:tgtEl>
                                          <p:spTgt spid="3">
                                            <p:txEl>
                                              <p:pRg st="2" end="2"/>
                                            </p:txEl>
                                          </p:spTgt>
                                        </p:tgtEl>
                                      </p:cBhvr>
                                      <p:from x="10000" y="10000"/>
                                      <p:to x="200000" y="450000"/>
                                    </p:animScale>
                                    <p:animScale>
                                      <p:cBhvr>
                                        <p:cTn id="9" dur="615" accel="100000" fill="hold">
                                          <p:stCondLst>
                                            <p:cond delay="385"/>
                                          </p:stCondLst>
                                        </p:cTn>
                                        <p:tgtEl>
                                          <p:spTgt spid="3">
                                            <p:txEl>
                                              <p:pRg st="2" end="2"/>
                                            </p:txEl>
                                          </p:spTgt>
                                        </p:tgtEl>
                                      </p:cBhvr>
                                      <p:from x="200000" y="450000"/>
                                      <p:to x="100000" y="100000"/>
                                    </p:animScale>
                                    <p:set>
                                      <p:cBhvr>
                                        <p:cTn id="10" dur="385" fill="hold"/>
                                        <p:tgtEl>
                                          <p:spTgt spid="3">
                                            <p:txEl>
                                              <p:pRg st="2" end="2"/>
                                            </p:txEl>
                                          </p:spTgt>
                                        </p:tgtEl>
                                        <p:attrNameLst>
                                          <p:attrName>ppt_x</p:attrName>
                                        </p:attrNameLst>
                                      </p:cBhvr>
                                      <p:to>
                                        <p:strVal val="(0.5)"/>
                                      </p:to>
                                    </p:set>
                                    <p:anim from="(0.5)" to="(#ppt_x)" calcmode="lin" valueType="num">
                                      <p:cBhvr>
                                        <p:cTn id="11" dur="615" accel="100000" fill="hold">
                                          <p:stCondLst>
                                            <p:cond delay="385"/>
                                          </p:stCondLst>
                                        </p:cTn>
                                        <p:tgtEl>
                                          <p:spTgt spid="3">
                                            <p:txEl>
                                              <p:pRg st="2" end="2"/>
                                            </p:txEl>
                                          </p:spTgt>
                                        </p:tgtEl>
                                        <p:attrNameLst>
                                          <p:attrName>ppt_x</p:attrName>
                                        </p:attrNameLst>
                                      </p:cBhvr>
                                    </p:anim>
                                    <p:set>
                                      <p:cBhvr>
                                        <p:cTn id="12" dur="385" fill="hold"/>
                                        <p:tgtEl>
                                          <p:spTgt spid="3">
                                            <p:txEl>
                                              <p:pRg st="2" end="2"/>
                                            </p:txEl>
                                          </p:spTgt>
                                        </p:tgtEl>
                                        <p:attrNameLst>
                                          <p:attrName>ppt_y</p:attrName>
                                        </p:attrNameLst>
                                      </p:cBhvr>
                                      <p:to>
                                        <p:strVal val="(#ppt_y+0.4)"/>
                                      </p:to>
                                    </p:set>
                                    <p:anim from="(#ppt_y+0.4)" to="(#ppt_y)" calcmode="lin" valueType="num">
                                      <p:cBhvr>
                                        <p:cTn id="13" dur="615" accel="100000" fill="hold">
                                          <p:stCondLst>
                                            <p:cond delay="385"/>
                                          </p:stCondLst>
                                        </p:cTn>
                                        <p:tgtEl>
                                          <p:spTgt spid="3">
                                            <p:txEl>
                                              <p:pRg st="2" end="2"/>
                                            </p:txEl>
                                          </p:spTgt>
                                        </p:tgtEl>
                                        <p:attrNameLst>
                                          <p:attrName>ppt_y</p:attrName>
                                        </p:attrNameLst>
                                      </p:cBhvr>
                                    </p:anim>
                                  </p:childTnLst>
                                </p:cTn>
                              </p:par>
                              <p:par>
                                <p:cTn id="14" presetID="51" presetClass="entr" presetSubtype="0" fill="hold" grpId="0" nodeType="withEffect">
                                  <p:stCondLst>
                                    <p:cond delay="0"/>
                                  </p:stCondLst>
                                  <p:childTnLst>
                                    <p:set>
                                      <p:cBhvr>
                                        <p:cTn id="15" dur="1" fill="hold">
                                          <p:stCondLst>
                                            <p:cond delay="0"/>
                                          </p:stCondLst>
                                        </p:cTn>
                                        <p:tgtEl>
                                          <p:spTgt spid="3">
                                            <p:txEl>
                                              <p:pRg st="3" end="3"/>
                                            </p:txEl>
                                          </p:spTgt>
                                        </p:tgtEl>
                                        <p:attrNameLst>
                                          <p:attrName>style.visibility</p:attrName>
                                        </p:attrNameLst>
                                      </p:cBhvr>
                                      <p:to>
                                        <p:strVal val="visible"/>
                                      </p:to>
                                    </p:set>
                                    <p:animEffect transition="in" filter="fade">
                                      <p:cBhvr>
                                        <p:cTn id="16" dur="385" decel="100000"/>
                                        <p:tgtEl>
                                          <p:spTgt spid="3">
                                            <p:txEl>
                                              <p:pRg st="3" end="3"/>
                                            </p:txEl>
                                          </p:spTgt>
                                        </p:tgtEl>
                                      </p:cBhvr>
                                    </p:animEffect>
                                    <p:animScale>
                                      <p:cBhvr>
                                        <p:cTn id="17" dur="385" decel="100000"/>
                                        <p:tgtEl>
                                          <p:spTgt spid="3">
                                            <p:txEl>
                                              <p:pRg st="3" end="3"/>
                                            </p:txEl>
                                          </p:spTgt>
                                        </p:tgtEl>
                                      </p:cBhvr>
                                      <p:from x="10000" y="10000"/>
                                      <p:to x="200000" y="450000"/>
                                    </p:animScale>
                                    <p:animScale>
                                      <p:cBhvr>
                                        <p:cTn id="18" dur="615" accel="100000" fill="hold">
                                          <p:stCondLst>
                                            <p:cond delay="385"/>
                                          </p:stCondLst>
                                        </p:cTn>
                                        <p:tgtEl>
                                          <p:spTgt spid="3">
                                            <p:txEl>
                                              <p:pRg st="3" end="3"/>
                                            </p:txEl>
                                          </p:spTgt>
                                        </p:tgtEl>
                                      </p:cBhvr>
                                      <p:from x="200000" y="450000"/>
                                      <p:to x="100000" y="100000"/>
                                    </p:animScale>
                                    <p:set>
                                      <p:cBhvr>
                                        <p:cTn id="19" dur="385" fill="hold"/>
                                        <p:tgtEl>
                                          <p:spTgt spid="3">
                                            <p:txEl>
                                              <p:pRg st="3" end="3"/>
                                            </p:txEl>
                                          </p:spTgt>
                                        </p:tgtEl>
                                        <p:attrNameLst>
                                          <p:attrName>ppt_x</p:attrName>
                                        </p:attrNameLst>
                                      </p:cBhvr>
                                      <p:to>
                                        <p:strVal val="(0.5)"/>
                                      </p:to>
                                    </p:set>
                                    <p:anim from="(0.5)" to="(#ppt_x)" calcmode="lin" valueType="num">
                                      <p:cBhvr>
                                        <p:cTn id="20" dur="615" accel="100000" fill="hold">
                                          <p:stCondLst>
                                            <p:cond delay="385"/>
                                          </p:stCondLst>
                                        </p:cTn>
                                        <p:tgtEl>
                                          <p:spTgt spid="3">
                                            <p:txEl>
                                              <p:pRg st="3" end="3"/>
                                            </p:txEl>
                                          </p:spTgt>
                                        </p:tgtEl>
                                        <p:attrNameLst>
                                          <p:attrName>ppt_x</p:attrName>
                                        </p:attrNameLst>
                                      </p:cBhvr>
                                    </p:anim>
                                    <p:set>
                                      <p:cBhvr>
                                        <p:cTn id="21" dur="385" fill="hold"/>
                                        <p:tgtEl>
                                          <p:spTgt spid="3">
                                            <p:txEl>
                                              <p:pRg st="3" end="3"/>
                                            </p:txEl>
                                          </p:spTgt>
                                        </p:tgtEl>
                                        <p:attrNameLst>
                                          <p:attrName>ppt_y</p:attrName>
                                        </p:attrNameLst>
                                      </p:cBhvr>
                                      <p:to>
                                        <p:strVal val="(#ppt_y+0.4)"/>
                                      </p:to>
                                    </p:set>
                                    <p:anim from="(#ppt_y+0.4)" to="(#ppt_y)" calcmode="lin" valueType="num">
                                      <p:cBhvr>
                                        <p:cTn id="22" dur="615" accel="100000" fill="hold">
                                          <p:stCondLst>
                                            <p:cond delay="385"/>
                                          </p:stCondLst>
                                        </p:cTn>
                                        <p:tgtEl>
                                          <p:spTgt spid="3">
                                            <p:txEl>
                                              <p:pRg st="3" end="3"/>
                                            </p:txEl>
                                          </p:spTgt>
                                        </p:tgtEl>
                                        <p:attrNameLst>
                                          <p:attrName>ppt_y</p:attrName>
                                        </p:attrNameLst>
                                      </p:cBhvr>
                                    </p:anim>
                                  </p:childTnLst>
                                </p:cTn>
                              </p:par>
                              <p:par>
                                <p:cTn id="23" presetID="51" presetClass="entr" presetSubtype="0" fill="hold" grpId="0" nodeType="with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fade">
                                      <p:cBhvr>
                                        <p:cTn id="25" dur="385" decel="100000"/>
                                        <p:tgtEl>
                                          <p:spTgt spid="3">
                                            <p:txEl>
                                              <p:pRg st="4" end="4"/>
                                            </p:txEl>
                                          </p:spTgt>
                                        </p:tgtEl>
                                      </p:cBhvr>
                                    </p:animEffect>
                                    <p:animScale>
                                      <p:cBhvr>
                                        <p:cTn id="26" dur="385" decel="100000"/>
                                        <p:tgtEl>
                                          <p:spTgt spid="3">
                                            <p:txEl>
                                              <p:pRg st="4" end="4"/>
                                            </p:txEl>
                                          </p:spTgt>
                                        </p:tgtEl>
                                      </p:cBhvr>
                                      <p:from x="10000" y="10000"/>
                                      <p:to x="200000" y="450000"/>
                                    </p:animScale>
                                    <p:animScale>
                                      <p:cBhvr>
                                        <p:cTn id="27" dur="615" accel="100000" fill="hold">
                                          <p:stCondLst>
                                            <p:cond delay="385"/>
                                          </p:stCondLst>
                                        </p:cTn>
                                        <p:tgtEl>
                                          <p:spTgt spid="3">
                                            <p:txEl>
                                              <p:pRg st="4" end="4"/>
                                            </p:txEl>
                                          </p:spTgt>
                                        </p:tgtEl>
                                      </p:cBhvr>
                                      <p:from x="200000" y="450000"/>
                                      <p:to x="100000" y="100000"/>
                                    </p:animScale>
                                    <p:set>
                                      <p:cBhvr>
                                        <p:cTn id="28" dur="385" fill="hold"/>
                                        <p:tgtEl>
                                          <p:spTgt spid="3">
                                            <p:txEl>
                                              <p:pRg st="4" end="4"/>
                                            </p:txEl>
                                          </p:spTgt>
                                        </p:tgtEl>
                                        <p:attrNameLst>
                                          <p:attrName>ppt_x</p:attrName>
                                        </p:attrNameLst>
                                      </p:cBhvr>
                                      <p:to>
                                        <p:strVal val="(0.5)"/>
                                      </p:to>
                                    </p:set>
                                    <p:anim from="(0.5)" to="(#ppt_x)" calcmode="lin" valueType="num">
                                      <p:cBhvr>
                                        <p:cTn id="29" dur="615" accel="100000" fill="hold">
                                          <p:stCondLst>
                                            <p:cond delay="385"/>
                                          </p:stCondLst>
                                        </p:cTn>
                                        <p:tgtEl>
                                          <p:spTgt spid="3">
                                            <p:txEl>
                                              <p:pRg st="4" end="4"/>
                                            </p:txEl>
                                          </p:spTgt>
                                        </p:tgtEl>
                                        <p:attrNameLst>
                                          <p:attrName>ppt_x</p:attrName>
                                        </p:attrNameLst>
                                      </p:cBhvr>
                                    </p:anim>
                                    <p:set>
                                      <p:cBhvr>
                                        <p:cTn id="30" dur="385" fill="hold"/>
                                        <p:tgtEl>
                                          <p:spTgt spid="3">
                                            <p:txEl>
                                              <p:pRg st="4" end="4"/>
                                            </p:txEl>
                                          </p:spTgt>
                                        </p:tgtEl>
                                        <p:attrNameLst>
                                          <p:attrName>ppt_y</p:attrName>
                                        </p:attrNameLst>
                                      </p:cBhvr>
                                      <p:to>
                                        <p:strVal val="(#ppt_y+0.4)"/>
                                      </p:to>
                                    </p:set>
                                    <p:anim from="(#ppt_y+0.4)" to="(#ppt_y)" calcmode="lin" valueType="num">
                                      <p:cBhvr>
                                        <p:cTn id="31" dur="615" accel="100000" fill="hold">
                                          <p:stCondLst>
                                            <p:cond delay="385"/>
                                          </p:stCondLst>
                                        </p:cTn>
                                        <p:tgtEl>
                                          <p:spTgt spid="3">
                                            <p:txEl>
                                              <p:pRg st="4" end="4"/>
                                            </p:txEl>
                                          </p:spTgt>
                                        </p:tgtEl>
                                        <p:attrNameLst>
                                          <p:attrName>ppt_y</p:attrName>
                                        </p:attrNameLst>
                                      </p:cBhvr>
                                    </p:anim>
                                  </p:childTnLst>
                                </p:cTn>
                              </p:par>
                              <p:par>
                                <p:cTn id="32" presetID="51" presetClass="entr" presetSubtype="0" fill="hold" grpId="0" nodeType="withEffect">
                                  <p:stCondLst>
                                    <p:cond delay="0"/>
                                  </p:stCondLst>
                                  <p:childTnLst>
                                    <p:set>
                                      <p:cBhvr>
                                        <p:cTn id="33" dur="1" fill="hold">
                                          <p:stCondLst>
                                            <p:cond delay="0"/>
                                          </p:stCondLst>
                                        </p:cTn>
                                        <p:tgtEl>
                                          <p:spTgt spid="3">
                                            <p:txEl>
                                              <p:pRg st="5" end="5"/>
                                            </p:txEl>
                                          </p:spTgt>
                                        </p:tgtEl>
                                        <p:attrNameLst>
                                          <p:attrName>style.visibility</p:attrName>
                                        </p:attrNameLst>
                                      </p:cBhvr>
                                      <p:to>
                                        <p:strVal val="visible"/>
                                      </p:to>
                                    </p:set>
                                    <p:animEffect transition="in" filter="fade">
                                      <p:cBhvr>
                                        <p:cTn id="34" dur="385" decel="100000"/>
                                        <p:tgtEl>
                                          <p:spTgt spid="3">
                                            <p:txEl>
                                              <p:pRg st="5" end="5"/>
                                            </p:txEl>
                                          </p:spTgt>
                                        </p:tgtEl>
                                      </p:cBhvr>
                                    </p:animEffect>
                                    <p:animScale>
                                      <p:cBhvr>
                                        <p:cTn id="35" dur="385" decel="100000"/>
                                        <p:tgtEl>
                                          <p:spTgt spid="3">
                                            <p:txEl>
                                              <p:pRg st="5" end="5"/>
                                            </p:txEl>
                                          </p:spTgt>
                                        </p:tgtEl>
                                      </p:cBhvr>
                                      <p:from x="10000" y="10000"/>
                                      <p:to x="200000" y="450000"/>
                                    </p:animScale>
                                    <p:animScale>
                                      <p:cBhvr>
                                        <p:cTn id="36" dur="615" accel="100000" fill="hold">
                                          <p:stCondLst>
                                            <p:cond delay="385"/>
                                          </p:stCondLst>
                                        </p:cTn>
                                        <p:tgtEl>
                                          <p:spTgt spid="3">
                                            <p:txEl>
                                              <p:pRg st="5" end="5"/>
                                            </p:txEl>
                                          </p:spTgt>
                                        </p:tgtEl>
                                      </p:cBhvr>
                                      <p:from x="200000" y="450000"/>
                                      <p:to x="100000" y="100000"/>
                                    </p:animScale>
                                    <p:set>
                                      <p:cBhvr>
                                        <p:cTn id="37" dur="385" fill="hold"/>
                                        <p:tgtEl>
                                          <p:spTgt spid="3">
                                            <p:txEl>
                                              <p:pRg st="5" end="5"/>
                                            </p:txEl>
                                          </p:spTgt>
                                        </p:tgtEl>
                                        <p:attrNameLst>
                                          <p:attrName>ppt_x</p:attrName>
                                        </p:attrNameLst>
                                      </p:cBhvr>
                                      <p:to>
                                        <p:strVal val="(0.5)"/>
                                      </p:to>
                                    </p:set>
                                    <p:anim from="(0.5)" to="(#ppt_x)" calcmode="lin" valueType="num">
                                      <p:cBhvr>
                                        <p:cTn id="38" dur="615" accel="100000" fill="hold">
                                          <p:stCondLst>
                                            <p:cond delay="385"/>
                                          </p:stCondLst>
                                        </p:cTn>
                                        <p:tgtEl>
                                          <p:spTgt spid="3">
                                            <p:txEl>
                                              <p:pRg st="5" end="5"/>
                                            </p:txEl>
                                          </p:spTgt>
                                        </p:tgtEl>
                                        <p:attrNameLst>
                                          <p:attrName>ppt_x</p:attrName>
                                        </p:attrNameLst>
                                      </p:cBhvr>
                                    </p:anim>
                                    <p:set>
                                      <p:cBhvr>
                                        <p:cTn id="39" dur="385" fill="hold"/>
                                        <p:tgtEl>
                                          <p:spTgt spid="3">
                                            <p:txEl>
                                              <p:pRg st="5" end="5"/>
                                            </p:txEl>
                                          </p:spTgt>
                                        </p:tgtEl>
                                        <p:attrNameLst>
                                          <p:attrName>ppt_y</p:attrName>
                                        </p:attrNameLst>
                                      </p:cBhvr>
                                      <p:to>
                                        <p:strVal val="(#ppt_y+0.4)"/>
                                      </p:to>
                                    </p:set>
                                    <p:anim from="(#ppt_y+0.4)" to="(#ppt_y)" calcmode="lin" valueType="num">
                                      <p:cBhvr>
                                        <p:cTn id="40" dur="615" accel="100000" fill="hold">
                                          <p:stCondLst>
                                            <p:cond delay="385"/>
                                          </p:stCondLst>
                                        </p:cTn>
                                        <p:tgtEl>
                                          <p:spTgt spid="3">
                                            <p:txEl>
                                              <p:pRg st="5" end="5"/>
                                            </p:txEl>
                                          </p:spTgt>
                                        </p:tgtEl>
                                        <p:attrNameLst>
                                          <p:attrName>ppt_y</p:attrName>
                                        </p:attrNameLst>
                                      </p:cBhvr>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4692" name="Object 4"/>
          <p:cNvGraphicFramePr>
            <a:graphicFrameLocks noChangeAspect="1"/>
          </p:cNvGraphicFramePr>
          <p:nvPr/>
        </p:nvGraphicFramePr>
        <p:xfrm>
          <a:off x="2667000" y="685800"/>
          <a:ext cx="5791200" cy="5811838"/>
        </p:xfrm>
        <a:graphic>
          <a:graphicData uri="http://schemas.openxmlformats.org/presentationml/2006/ole">
            <mc:AlternateContent xmlns:mc="http://schemas.openxmlformats.org/markup-compatibility/2006">
              <mc:Choice xmlns:v="urn:schemas-microsoft-com:vml" Requires="v">
                <p:oleObj spid="_x0000_s114694" name="Document" r:id="rId4" imgW="6057900" imgH="6667500" progId="Word.Document.12">
                  <p:embed/>
                </p:oleObj>
              </mc:Choice>
              <mc:Fallback>
                <p:oleObj name="Document" r:id="rId4" imgW="6057900" imgH="6667500" progId="Word.Document.12">
                  <p:embed/>
                  <p:pic>
                    <p:nvPicPr>
                      <p:cNvPr id="0" name="AutoShape 4"/>
                      <p:cNvPicPr>
                        <a:picLocks noChangeAspect="1" noChangeArrowheads="1"/>
                      </p:cNvPicPr>
                      <p:nvPr/>
                    </p:nvPicPr>
                    <p:blipFill>
                      <a:blip>
                        <a:extLst>
                          <a:ext uri="{28A0092B-C50C-407E-A947-70E740481C1C}">
                            <a14:useLocalDpi xmlns:a14="http://schemas.microsoft.com/office/drawing/2010/main" val="0"/>
                          </a:ext>
                        </a:extLst>
                      </a:blip>
                      <a:srcRect/>
                      <a:stretch>
                        <a:fillRect/>
                      </a:stretch>
                    </p:blipFill>
                    <p:spPr bwMode="auto">
                      <a:xfrm>
                        <a:off x="2667000" y="685800"/>
                        <a:ext cx="5791200" cy="5811838"/>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 name="TextBox 11"/>
          <p:cNvSpPr txBox="1"/>
          <p:nvPr/>
        </p:nvSpPr>
        <p:spPr>
          <a:xfrm>
            <a:off x="609600" y="990600"/>
            <a:ext cx="1415772" cy="4800600"/>
          </a:xfrm>
          <a:prstGeom prst="rect">
            <a:avLst/>
          </a:prstGeom>
          <a:noFill/>
        </p:spPr>
        <p:txBody>
          <a:bodyPr vert="wordArtVert" wrap="square" rtlCol="0">
            <a:spAutoFit/>
          </a:bodyPr>
          <a:lstStyle/>
          <a:p>
            <a:r>
              <a:rPr lang="en-US" sz="4000" b="1" cap="all" dirty="0">
                <a:ln w="9000" cmpd="sng">
                  <a:solidFill>
                    <a:schemeClr val="accent4">
                      <a:shade val="50000"/>
                      <a:satMod val="120000"/>
                    </a:schemeClr>
                  </a:solidFill>
                  <a:prstDash val="solid"/>
                </a:ln>
                <a:solidFill>
                  <a:schemeClr val="accent1">
                    <a:lumMod val="75000"/>
                  </a:schemeClr>
                </a:solidFill>
                <a:effectLst>
                  <a:reflection blurRad="12700" stA="28000" endPos="45000" dist="1000" dir="5400000" sy="-100000" algn="bl" rotWithShape="0"/>
                </a:effectLst>
              </a:rPr>
              <a:t>  </a:t>
            </a:r>
            <a:r>
              <a:rPr lang="en-US" sz="4000" b="1" spc="500" dirty="0">
                <a:ln w="1905"/>
                <a:solidFill>
                  <a:schemeClr val="accent6">
                    <a:lumMod val="75000"/>
                  </a:schemeClr>
                </a:solidFill>
                <a:effectLst>
                  <a:innerShdw blurRad="69850" dist="43180" dir="5400000">
                    <a:srgbClr val="000000">
                      <a:alpha val="65000"/>
                    </a:srgbClr>
                  </a:innerShdw>
                </a:effectLst>
              </a:rPr>
              <a:t>Process Interaction</a:t>
            </a:r>
          </a:p>
        </p:txBody>
      </p:sp>
      <p:sp>
        <p:nvSpPr>
          <p:cNvPr id="18" name="TextBox 17"/>
          <p:cNvSpPr txBox="1"/>
          <p:nvPr/>
        </p:nvSpPr>
        <p:spPr>
          <a:xfrm>
            <a:off x="2590800" y="685800"/>
            <a:ext cx="76200" cy="5791200"/>
          </a:xfrm>
          <a:prstGeom prst="rect">
            <a:avLst/>
          </a:prstGeom>
          <a:solidFill>
            <a:schemeClr val="bg1"/>
          </a:solidFill>
        </p:spPr>
        <p:txBody>
          <a:bodyPr wrap="square" rtlCol="0">
            <a:spAutoFit/>
          </a:bodyPr>
          <a:lstStyle/>
          <a:p>
            <a:endParaRPr lang="en-US" dirty="0"/>
          </a:p>
        </p:txBody>
      </p:sp>
    </p:spTree>
  </p:cSld>
  <p:clrMapOvr>
    <a:masterClrMapping/>
  </p:clrMapOvr>
  <p:transition spd="med">
    <p:check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2000" y="457200"/>
            <a:ext cx="7696200" cy="990600"/>
          </a:xfrm>
        </p:spPr>
        <p:txBody>
          <a:bodyPr/>
          <a:lstStyle/>
          <a:p>
            <a:pPr algn="ctr"/>
            <a:r>
              <a:rPr lang="en-US" sz="4800" b="1" dirty="0">
                <a:ln w="1905"/>
                <a:solidFill>
                  <a:schemeClr val="accent6">
                    <a:lumMod val="50000"/>
                  </a:schemeClr>
                </a:solidFill>
                <a:effectLst>
                  <a:innerShdw blurRad="69850" dist="43180" dir="5400000">
                    <a:srgbClr val="000000">
                      <a:alpha val="65000"/>
                    </a:srgbClr>
                  </a:innerShdw>
                </a:effectLst>
              </a:rPr>
              <a:t>Resource Competition</a:t>
            </a:r>
          </a:p>
        </p:txBody>
      </p:sp>
      <p:sp>
        <p:nvSpPr>
          <p:cNvPr id="3" name="Content Placeholder 2"/>
          <p:cNvSpPr>
            <a:spLocks noGrp="1"/>
          </p:cNvSpPr>
          <p:nvPr>
            <p:ph sz="half" idx="1"/>
          </p:nvPr>
        </p:nvSpPr>
        <p:spPr>
          <a:xfrm>
            <a:off x="381000" y="2057400"/>
            <a:ext cx="8382000" cy="1828800"/>
          </a:xfrm>
        </p:spPr>
        <p:txBody>
          <a:bodyPr/>
          <a:lstStyle/>
          <a:p>
            <a:pPr>
              <a:buClr>
                <a:schemeClr val="accent3">
                  <a:lumMod val="50000"/>
                </a:schemeClr>
              </a:buClr>
              <a:buSzPct val="150000"/>
              <a:buFont typeface="Wingdings" charset="2"/>
              <a:buChar char="§"/>
            </a:pPr>
            <a:r>
              <a:rPr lang="en-US" sz="2800" dirty="0"/>
              <a:t>Concurrent processes come into conflict when they are competing for use of the same resource</a:t>
            </a:r>
          </a:p>
          <a:p>
            <a:pPr lvl="2">
              <a:buClr>
                <a:schemeClr val="accent3">
                  <a:lumMod val="50000"/>
                </a:schemeClr>
              </a:buClr>
              <a:buSzPct val="150000"/>
              <a:buFont typeface="Wingdings" charset="2"/>
              <a:buChar char="§"/>
            </a:pPr>
            <a:r>
              <a:rPr lang="en-US" sz="2000" dirty="0"/>
              <a:t> for example: I/O devices, memory, processor time, clock</a:t>
            </a:r>
          </a:p>
        </p:txBody>
      </p:sp>
      <p:graphicFrame>
        <p:nvGraphicFramePr>
          <p:cNvPr id="4" name="Diagram 3"/>
          <p:cNvGraphicFramePr/>
          <p:nvPr/>
        </p:nvGraphicFramePr>
        <p:xfrm>
          <a:off x="990600" y="3505200"/>
          <a:ext cx="7162800" cy="279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5" name="Picture 4"/>
          <p:cNvPicPr>
            <a:picLocks noChangeAspect="1"/>
          </p:cNvPicPr>
          <p:nvPr/>
        </p:nvPicPr>
        <p:blipFill>
          <a:blip r:embed="rId8"/>
          <a:stretch>
            <a:fillRect/>
          </a:stretch>
        </p:blipFill>
        <p:spPr>
          <a:xfrm>
            <a:off x="457200" y="4800600"/>
            <a:ext cx="1295400" cy="1756850"/>
          </a:xfrm>
          <a:prstGeom prst="rect">
            <a:avLst/>
          </a:prstGeom>
        </p:spPr>
      </p:pic>
      <p:pic>
        <p:nvPicPr>
          <p:cNvPr id="10" name="Picture 9"/>
          <p:cNvPicPr>
            <a:picLocks noChangeAspect="1"/>
          </p:cNvPicPr>
          <p:nvPr/>
        </p:nvPicPr>
        <p:blipFill>
          <a:blip r:embed="rId9"/>
          <a:stretch>
            <a:fillRect/>
          </a:stretch>
        </p:blipFill>
        <p:spPr>
          <a:xfrm>
            <a:off x="7772400" y="4876800"/>
            <a:ext cx="2057400" cy="1666009"/>
          </a:xfrm>
          <a:prstGeom prst="rect">
            <a:avLst/>
          </a:prstGeom>
        </p:spPr>
      </p:pic>
    </p:spTree>
  </p:cSld>
  <p:clrMapOvr>
    <a:masterClrMapping/>
  </p:clrMapOv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457200" y="609600"/>
            <a:ext cx="10134600" cy="1066800"/>
          </a:xfrm>
        </p:spPr>
        <p:txBody>
          <a:bodyPr/>
          <a:lstStyle/>
          <a:p>
            <a:pPr algn="ctr"/>
            <a:r>
              <a:rPr lang="en-US" dirty="0">
                <a:solidFill>
                  <a:schemeClr val="accent2">
                    <a:lumMod val="50000"/>
                  </a:schemeClr>
                </a:solidFill>
              </a:rPr>
              <a:t> </a:t>
            </a:r>
            <a:r>
              <a:rPr lang="en-US" b="1" dirty="0">
                <a:ln w="1905"/>
                <a:solidFill>
                  <a:schemeClr val="accent1">
                    <a:lumMod val="50000"/>
                  </a:schemeClr>
                </a:solidFill>
                <a:effectLst>
                  <a:innerShdw blurRad="69850" dist="43180" dir="5400000">
                    <a:srgbClr val="000000">
                      <a:alpha val="65000"/>
                    </a:srgbClr>
                  </a:innerShdw>
                </a:effectLst>
              </a:rPr>
              <a:t>Mutual Exclusion</a:t>
            </a:r>
            <a:endParaRPr lang="en-US" b="1" dirty="0">
              <a:solidFill>
                <a:schemeClr val="accent1">
                  <a:lumMod val="50000"/>
                </a:schemeClr>
              </a:solidFill>
            </a:endParaRPr>
          </a:p>
        </p:txBody>
      </p:sp>
      <p:pic>
        <p:nvPicPr>
          <p:cNvPr id="5" name="Picture 4"/>
          <p:cNvPicPr/>
          <p:nvPr/>
        </p:nvPicPr>
        <p:blipFill>
          <a:blip r:embed="rId3"/>
          <a:srcRect/>
          <a:stretch>
            <a:fillRect/>
          </a:stretch>
        </p:blipFill>
        <p:spPr bwMode="auto">
          <a:xfrm>
            <a:off x="762000" y="1981200"/>
            <a:ext cx="7620000" cy="4114800"/>
          </a:xfrm>
          <a:prstGeom prst="rect">
            <a:avLst/>
          </a:prstGeom>
          <a:noFill/>
          <a:ln w="9525">
            <a:noFill/>
            <a:miter lim="800000"/>
            <a:headEnd/>
            <a:tailEnd/>
          </a:ln>
        </p:spPr>
      </p:pic>
      <p:sp>
        <p:nvSpPr>
          <p:cNvPr id="6" name="TextBox 5"/>
          <p:cNvSpPr txBox="1"/>
          <p:nvPr/>
        </p:nvSpPr>
        <p:spPr>
          <a:xfrm>
            <a:off x="3200400" y="6248400"/>
            <a:ext cx="3617421" cy="461665"/>
          </a:xfrm>
          <a:prstGeom prst="rect">
            <a:avLst/>
          </a:prstGeom>
          <a:noFill/>
        </p:spPr>
        <p:txBody>
          <a:bodyPr wrap="square" rtlCol="0">
            <a:spAutoFit/>
          </a:bodyPr>
          <a:lstStyle/>
          <a:p>
            <a:r>
              <a:rPr lang="en-US" sz="1200" dirty="0"/>
              <a:t>Figure 5.1    Illustration of Mutual Exclusion</a:t>
            </a:r>
          </a:p>
          <a:p>
            <a:endParaRPr lang="en-US" sz="1200" dirty="0"/>
          </a:p>
        </p:txBody>
      </p:sp>
      <p:pic>
        <p:nvPicPr>
          <p:cNvPr id="10" name="Picture 9"/>
          <p:cNvPicPr>
            <a:picLocks noChangeAspect="1"/>
          </p:cNvPicPr>
          <p:nvPr/>
        </p:nvPicPr>
        <p:blipFill>
          <a:blip r:embed="rId4"/>
          <a:stretch>
            <a:fillRect/>
          </a:stretch>
        </p:blipFill>
        <p:spPr>
          <a:xfrm>
            <a:off x="381000" y="609600"/>
            <a:ext cx="1193800" cy="1343025"/>
          </a:xfrm>
          <a:prstGeom prst="rect">
            <a:avLst/>
          </a:prstGeom>
        </p:spPr>
      </p:pic>
    </p:spTree>
  </p:cSld>
  <p:clrMapOvr>
    <a:masterClrMapping/>
  </p:clrMapOvr>
  <p:transition spd="med">
    <p:check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Requirements for Mutual Exclusion</a:t>
            </a:r>
          </a:p>
        </p:txBody>
      </p:sp>
      <p:sp>
        <p:nvSpPr>
          <p:cNvPr id="3" name="Content Placeholder 2"/>
          <p:cNvSpPr>
            <a:spLocks noGrp="1"/>
          </p:cNvSpPr>
          <p:nvPr>
            <p:ph sz="half" idx="1"/>
          </p:nvPr>
        </p:nvSpPr>
        <p:spPr>
          <a:xfrm>
            <a:off x="457200" y="2057400"/>
            <a:ext cx="8153400" cy="4419600"/>
          </a:xfrm>
        </p:spPr>
        <p:txBody>
          <a:bodyPr>
            <a:normAutofit fontScale="62500" lnSpcReduction="20000"/>
          </a:bodyPr>
          <a:lstStyle/>
          <a:p>
            <a:r>
              <a:rPr lang="en-US" sz="4000" dirty="0"/>
              <a:t>Must be enforced</a:t>
            </a:r>
          </a:p>
          <a:p>
            <a:r>
              <a:rPr lang="en-US" sz="4000" dirty="0"/>
              <a:t>A process that halts must do so without             interfering with other processes</a:t>
            </a:r>
          </a:p>
          <a:p>
            <a:r>
              <a:rPr lang="en-US" sz="4000" dirty="0"/>
              <a:t>No deadlock or starvation</a:t>
            </a:r>
          </a:p>
          <a:p>
            <a:r>
              <a:rPr lang="en-US" sz="4000" dirty="0"/>
              <a:t>A process must not be denied access to a critical section when there is no other process using it</a:t>
            </a:r>
          </a:p>
          <a:p>
            <a:r>
              <a:rPr lang="en-US" sz="4000" dirty="0"/>
              <a:t>No assumptions are made about relative process speeds or number of processes</a:t>
            </a:r>
          </a:p>
          <a:p>
            <a:r>
              <a:rPr lang="en-US" sz="4000" dirty="0"/>
              <a:t>A process remains inside its critical section for a finite time only</a:t>
            </a:r>
          </a:p>
          <a:p>
            <a:endParaRPr lang="en-US" sz="2400" dirty="0"/>
          </a:p>
        </p:txBody>
      </p:sp>
      <p:pic>
        <p:nvPicPr>
          <p:cNvPr id="4" name="Picture 3"/>
          <p:cNvPicPr>
            <a:picLocks noChangeAspect="1"/>
          </p:cNvPicPr>
          <p:nvPr/>
        </p:nvPicPr>
        <p:blipFill>
          <a:blip r:embed="rId3"/>
          <a:stretch>
            <a:fillRect/>
          </a:stretch>
        </p:blipFill>
        <p:spPr>
          <a:xfrm>
            <a:off x="6629400" y="2362200"/>
            <a:ext cx="1968500" cy="1532725"/>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0" presetClass="entr" presetSubtype="0" decel="100000" fill="hold" grpId="0" nodeType="after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p:cTn id="7" dur="1000" fill="hold"/>
                                        <p:tgtEl>
                                          <p:spTgt spid="3">
                                            <p:txEl>
                                              <p:pRg st="0" end="0"/>
                                            </p:txEl>
                                          </p:spTgt>
                                        </p:tgtEl>
                                        <p:attrNameLst>
                                          <p:attrName>ppt_w</p:attrName>
                                        </p:attrNameLst>
                                      </p:cBhvr>
                                      <p:tavLst>
                                        <p:tav tm="0">
                                          <p:val>
                                            <p:strVal val="#ppt_w+.3"/>
                                          </p:val>
                                        </p:tav>
                                        <p:tav tm="100000">
                                          <p:val>
                                            <p:strVal val="#ppt_w"/>
                                          </p:val>
                                        </p:tav>
                                      </p:tavLst>
                                    </p:anim>
                                    <p:anim calcmode="lin" valueType="num">
                                      <p:cBhvr>
                                        <p:cTn id="8" dur="1000" fill="hold"/>
                                        <p:tgtEl>
                                          <p:spTgt spid="3">
                                            <p:txEl>
                                              <p:pRg st="0" end="0"/>
                                            </p:txEl>
                                          </p:spTgt>
                                        </p:tgtEl>
                                        <p:attrNameLst>
                                          <p:attrName>ppt_h</p:attrName>
                                        </p:attrNameLst>
                                      </p:cBhvr>
                                      <p:tavLst>
                                        <p:tav tm="0">
                                          <p:val>
                                            <p:strVal val="#ppt_h"/>
                                          </p:val>
                                        </p:tav>
                                        <p:tav tm="100000">
                                          <p:val>
                                            <p:strVal val="#ppt_h"/>
                                          </p:val>
                                        </p:tav>
                                      </p:tavLst>
                                    </p:anim>
                                    <p:animEffect transition="in" filter="fade">
                                      <p:cBhvr>
                                        <p:cTn id="9" dur="1000"/>
                                        <p:tgtEl>
                                          <p:spTgt spid="3">
                                            <p:txEl>
                                              <p:pRg st="0" end="0"/>
                                            </p:txEl>
                                          </p:spTgt>
                                        </p:tgtEl>
                                      </p:cBhvr>
                                    </p:animEffect>
                                  </p:childTnLst>
                                </p:cTn>
                              </p:par>
                            </p:childTnLst>
                          </p:cTn>
                        </p:par>
                        <p:par>
                          <p:cTn id="10" fill="hold">
                            <p:stCondLst>
                              <p:cond delay="1000"/>
                            </p:stCondLst>
                            <p:childTnLst>
                              <p:par>
                                <p:cTn id="11" presetID="50" presetClass="entr" presetSubtype="0" decel="100000" fill="hold" grpId="0" nodeType="after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anim calcmode="lin" valueType="num">
                                      <p:cBhvr>
                                        <p:cTn id="13" dur="1000" fill="hold"/>
                                        <p:tgtEl>
                                          <p:spTgt spid="3">
                                            <p:txEl>
                                              <p:pRg st="1" end="1"/>
                                            </p:txEl>
                                          </p:spTgt>
                                        </p:tgtEl>
                                        <p:attrNameLst>
                                          <p:attrName>ppt_w</p:attrName>
                                        </p:attrNameLst>
                                      </p:cBhvr>
                                      <p:tavLst>
                                        <p:tav tm="0">
                                          <p:val>
                                            <p:strVal val="#ppt_w+.3"/>
                                          </p:val>
                                        </p:tav>
                                        <p:tav tm="100000">
                                          <p:val>
                                            <p:strVal val="#ppt_w"/>
                                          </p:val>
                                        </p:tav>
                                      </p:tavLst>
                                    </p:anim>
                                    <p:anim calcmode="lin" valueType="num">
                                      <p:cBhvr>
                                        <p:cTn id="14" dur="1000" fill="hold"/>
                                        <p:tgtEl>
                                          <p:spTgt spid="3">
                                            <p:txEl>
                                              <p:pRg st="1" end="1"/>
                                            </p:txEl>
                                          </p:spTgt>
                                        </p:tgtEl>
                                        <p:attrNameLst>
                                          <p:attrName>ppt_h</p:attrName>
                                        </p:attrNameLst>
                                      </p:cBhvr>
                                      <p:tavLst>
                                        <p:tav tm="0">
                                          <p:val>
                                            <p:strVal val="#ppt_h"/>
                                          </p:val>
                                        </p:tav>
                                        <p:tav tm="100000">
                                          <p:val>
                                            <p:strVal val="#ppt_h"/>
                                          </p:val>
                                        </p:tav>
                                      </p:tavLst>
                                    </p:anim>
                                    <p:animEffect transition="in" filter="fade">
                                      <p:cBhvr>
                                        <p:cTn id="15" dur="1000"/>
                                        <p:tgtEl>
                                          <p:spTgt spid="3">
                                            <p:txEl>
                                              <p:pRg st="1" end="1"/>
                                            </p:txEl>
                                          </p:spTgt>
                                        </p:tgtEl>
                                      </p:cBhvr>
                                    </p:animEffect>
                                  </p:childTnLst>
                                </p:cTn>
                              </p:par>
                            </p:childTnLst>
                          </p:cTn>
                        </p:par>
                        <p:par>
                          <p:cTn id="16" fill="hold">
                            <p:stCondLst>
                              <p:cond delay="2000"/>
                            </p:stCondLst>
                            <p:childTnLst>
                              <p:par>
                                <p:cTn id="17" presetID="50" presetClass="entr" presetSubtype="0" decel="100000"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 calcmode="lin" valueType="num">
                                      <p:cBhvr>
                                        <p:cTn id="19" dur="1000" fill="hold"/>
                                        <p:tgtEl>
                                          <p:spTgt spid="3">
                                            <p:txEl>
                                              <p:pRg st="2" end="2"/>
                                            </p:txEl>
                                          </p:spTgt>
                                        </p:tgtEl>
                                        <p:attrNameLst>
                                          <p:attrName>ppt_w</p:attrName>
                                        </p:attrNameLst>
                                      </p:cBhvr>
                                      <p:tavLst>
                                        <p:tav tm="0">
                                          <p:val>
                                            <p:strVal val="#ppt_w+.3"/>
                                          </p:val>
                                        </p:tav>
                                        <p:tav tm="100000">
                                          <p:val>
                                            <p:strVal val="#ppt_w"/>
                                          </p:val>
                                        </p:tav>
                                      </p:tavLst>
                                    </p:anim>
                                    <p:anim calcmode="lin" valueType="num">
                                      <p:cBhvr>
                                        <p:cTn id="20" dur="1000" fill="hold"/>
                                        <p:tgtEl>
                                          <p:spTgt spid="3">
                                            <p:txEl>
                                              <p:pRg st="2" end="2"/>
                                            </p:txEl>
                                          </p:spTgt>
                                        </p:tgtEl>
                                        <p:attrNameLst>
                                          <p:attrName>ppt_h</p:attrName>
                                        </p:attrNameLst>
                                      </p:cBhvr>
                                      <p:tavLst>
                                        <p:tav tm="0">
                                          <p:val>
                                            <p:strVal val="#ppt_h"/>
                                          </p:val>
                                        </p:tav>
                                        <p:tav tm="100000">
                                          <p:val>
                                            <p:strVal val="#ppt_h"/>
                                          </p:val>
                                        </p:tav>
                                      </p:tavLst>
                                    </p:anim>
                                    <p:animEffect transition="in" filter="fade">
                                      <p:cBhvr>
                                        <p:cTn id="21" dur="1000"/>
                                        <p:tgtEl>
                                          <p:spTgt spid="3">
                                            <p:txEl>
                                              <p:pRg st="2" end="2"/>
                                            </p:txEl>
                                          </p:spTgt>
                                        </p:tgtEl>
                                      </p:cBhvr>
                                    </p:animEffect>
                                  </p:childTnLst>
                                </p:cTn>
                              </p:par>
                            </p:childTnLst>
                          </p:cTn>
                        </p:par>
                        <p:par>
                          <p:cTn id="22" fill="hold">
                            <p:stCondLst>
                              <p:cond delay="3000"/>
                            </p:stCondLst>
                            <p:childTnLst>
                              <p:par>
                                <p:cTn id="23" presetID="50" presetClass="entr" presetSubtype="0" decel="100000" fill="hold" grpId="0" nodeType="afterEffect">
                                  <p:stCondLst>
                                    <p:cond delay="0"/>
                                  </p:stCondLst>
                                  <p:childTnLst>
                                    <p:set>
                                      <p:cBhvr>
                                        <p:cTn id="24" dur="1" fill="hold">
                                          <p:stCondLst>
                                            <p:cond delay="0"/>
                                          </p:stCondLst>
                                        </p:cTn>
                                        <p:tgtEl>
                                          <p:spTgt spid="3">
                                            <p:txEl>
                                              <p:pRg st="3" end="3"/>
                                            </p:txEl>
                                          </p:spTgt>
                                        </p:tgtEl>
                                        <p:attrNameLst>
                                          <p:attrName>style.visibility</p:attrName>
                                        </p:attrNameLst>
                                      </p:cBhvr>
                                      <p:to>
                                        <p:strVal val="visible"/>
                                      </p:to>
                                    </p:set>
                                    <p:anim calcmode="lin" valueType="num">
                                      <p:cBhvr>
                                        <p:cTn id="25" dur="1000" fill="hold"/>
                                        <p:tgtEl>
                                          <p:spTgt spid="3">
                                            <p:txEl>
                                              <p:pRg st="3" end="3"/>
                                            </p:txEl>
                                          </p:spTgt>
                                        </p:tgtEl>
                                        <p:attrNameLst>
                                          <p:attrName>ppt_w</p:attrName>
                                        </p:attrNameLst>
                                      </p:cBhvr>
                                      <p:tavLst>
                                        <p:tav tm="0">
                                          <p:val>
                                            <p:strVal val="#ppt_w+.3"/>
                                          </p:val>
                                        </p:tav>
                                        <p:tav tm="100000">
                                          <p:val>
                                            <p:strVal val="#ppt_w"/>
                                          </p:val>
                                        </p:tav>
                                      </p:tavLst>
                                    </p:anim>
                                    <p:anim calcmode="lin" valueType="num">
                                      <p:cBhvr>
                                        <p:cTn id="26" dur="1000" fill="hold"/>
                                        <p:tgtEl>
                                          <p:spTgt spid="3">
                                            <p:txEl>
                                              <p:pRg st="3" end="3"/>
                                            </p:txEl>
                                          </p:spTgt>
                                        </p:tgtEl>
                                        <p:attrNameLst>
                                          <p:attrName>ppt_h</p:attrName>
                                        </p:attrNameLst>
                                      </p:cBhvr>
                                      <p:tavLst>
                                        <p:tav tm="0">
                                          <p:val>
                                            <p:strVal val="#ppt_h"/>
                                          </p:val>
                                        </p:tav>
                                        <p:tav tm="100000">
                                          <p:val>
                                            <p:strVal val="#ppt_h"/>
                                          </p:val>
                                        </p:tav>
                                      </p:tavLst>
                                    </p:anim>
                                    <p:animEffect transition="in" filter="fade">
                                      <p:cBhvr>
                                        <p:cTn id="27" dur="1000"/>
                                        <p:tgtEl>
                                          <p:spTgt spid="3">
                                            <p:txEl>
                                              <p:pRg st="3" end="3"/>
                                            </p:txEl>
                                          </p:spTgt>
                                        </p:tgtEl>
                                      </p:cBhvr>
                                    </p:animEffect>
                                  </p:childTnLst>
                                </p:cTn>
                              </p:par>
                            </p:childTnLst>
                          </p:cTn>
                        </p:par>
                        <p:par>
                          <p:cTn id="28" fill="hold">
                            <p:stCondLst>
                              <p:cond delay="4000"/>
                            </p:stCondLst>
                            <p:childTnLst>
                              <p:par>
                                <p:cTn id="29" presetID="50" presetClass="entr" presetSubtype="0" decel="100000" fill="hold" grpId="0" nodeType="after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p:cTn id="31" dur="1000" fill="hold"/>
                                        <p:tgtEl>
                                          <p:spTgt spid="3">
                                            <p:txEl>
                                              <p:pRg st="4" end="4"/>
                                            </p:txEl>
                                          </p:spTgt>
                                        </p:tgtEl>
                                        <p:attrNameLst>
                                          <p:attrName>ppt_w</p:attrName>
                                        </p:attrNameLst>
                                      </p:cBhvr>
                                      <p:tavLst>
                                        <p:tav tm="0">
                                          <p:val>
                                            <p:strVal val="#ppt_w+.3"/>
                                          </p:val>
                                        </p:tav>
                                        <p:tav tm="100000">
                                          <p:val>
                                            <p:strVal val="#ppt_w"/>
                                          </p:val>
                                        </p:tav>
                                      </p:tavLst>
                                    </p:anim>
                                    <p:anim calcmode="lin" valueType="num">
                                      <p:cBhvr>
                                        <p:cTn id="32" dur="1000" fill="hold"/>
                                        <p:tgtEl>
                                          <p:spTgt spid="3">
                                            <p:txEl>
                                              <p:pRg st="4" end="4"/>
                                            </p:txEl>
                                          </p:spTgt>
                                        </p:tgtEl>
                                        <p:attrNameLst>
                                          <p:attrName>ppt_h</p:attrName>
                                        </p:attrNameLst>
                                      </p:cBhvr>
                                      <p:tavLst>
                                        <p:tav tm="0">
                                          <p:val>
                                            <p:strVal val="#ppt_h"/>
                                          </p:val>
                                        </p:tav>
                                        <p:tav tm="100000">
                                          <p:val>
                                            <p:strVal val="#ppt_h"/>
                                          </p:val>
                                        </p:tav>
                                      </p:tavLst>
                                    </p:anim>
                                    <p:animEffect transition="in" filter="fade">
                                      <p:cBhvr>
                                        <p:cTn id="33" dur="1000"/>
                                        <p:tgtEl>
                                          <p:spTgt spid="3">
                                            <p:txEl>
                                              <p:pRg st="4" end="4"/>
                                            </p:txEl>
                                          </p:spTgt>
                                        </p:tgtEl>
                                      </p:cBhvr>
                                    </p:animEffect>
                                  </p:childTnLst>
                                </p:cTn>
                              </p:par>
                            </p:childTnLst>
                          </p:cTn>
                        </p:par>
                        <p:par>
                          <p:cTn id="34" fill="hold">
                            <p:stCondLst>
                              <p:cond delay="5000"/>
                            </p:stCondLst>
                            <p:childTnLst>
                              <p:par>
                                <p:cTn id="35" presetID="50" presetClass="entr" presetSubtype="0" decel="100000" fill="hold" grpId="0" nodeType="after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p:cTn id="37" dur="1000" fill="hold"/>
                                        <p:tgtEl>
                                          <p:spTgt spid="3">
                                            <p:txEl>
                                              <p:pRg st="5" end="5"/>
                                            </p:txEl>
                                          </p:spTgt>
                                        </p:tgtEl>
                                        <p:attrNameLst>
                                          <p:attrName>ppt_w</p:attrName>
                                        </p:attrNameLst>
                                      </p:cBhvr>
                                      <p:tavLst>
                                        <p:tav tm="0">
                                          <p:val>
                                            <p:strVal val="#ppt_w+.3"/>
                                          </p:val>
                                        </p:tav>
                                        <p:tav tm="100000">
                                          <p:val>
                                            <p:strVal val="#ppt_w"/>
                                          </p:val>
                                        </p:tav>
                                      </p:tavLst>
                                    </p:anim>
                                    <p:anim calcmode="lin" valueType="num">
                                      <p:cBhvr>
                                        <p:cTn id="38" dur="1000" fill="hold"/>
                                        <p:tgtEl>
                                          <p:spTgt spid="3">
                                            <p:txEl>
                                              <p:pRg st="5" end="5"/>
                                            </p:txEl>
                                          </p:spTgt>
                                        </p:tgtEl>
                                        <p:attrNameLst>
                                          <p:attrName>ppt_h</p:attrName>
                                        </p:attrNameLst>
                                      </p:cBhvr>
                                      <p:tavLst>
                                        <p:tav tm="0">
                                          <p:val>
                                            <p:strVal val="#ppt_h"/>
                                          </p:val>
                                        </p:tav>
                                        <p:tav tm="100000">
                                          <p:val>
                                            <p:strVal val="#ppt_h"/>
                                          </p:val>
                                        </p:tav>
                                      </p:tavLst>
                                    </p:anim>
                                    <p:animEffect transition="in" filter="fade">
                                      <p:cBhvr>
                                        <p:cTn id="39"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44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Mutual Exclusion: </a:t>
            </a:r>
            <a:br>
              <a:rPr lang="en-US" sz="44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sz="44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Hardware Support</a:t>
            </a:r>
          </a:p>
        </p:txBody>
      </p:sp>
      <p:sp>
        <p:nvSpPr>
          <p:cNvPr id="8" name="TextBox 7"/>
          <p:cNvSpPr txBox="1"/>
          <p:nvPr/>
        </p:nvSpPr>
        <p:spPr>
          <a:xfrm>
            <a:off x="304800" y="2209800"/>
            <a:ext cx="4191000" cy="2800767"/>
          </a:xfrm>
          <a:prstGeom prst="rect">
            <a:avLst/>
          </a:prstGeom>
          <a:noFill/>
        </p:spPr>
        <p:txBody>
          <a:bodyPr wrap="square" rtlCol="0">
            <a:spAutoFit/>
          </a:bodyPr>
          <a:lstStyle/>
          <a:p>
            <a:pPr marL="342900" lvl="1" indent="-342900">
              <a:buFont typeface="Arial"/>
              <a:buChar char="•"/>
            </a:pPr>
            <a:r>
              <a:rPr lang="en-US" sz="32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Interrupt Disabling</a:t>
            </a:r>
          </a:p>
          <a:p>
            <a:pPr marL="342900" lvl="1" indent="-342900"/>
            <a:endParaRPr lang="en-US" sz="1600" b="1" dirty="0">
              <a:solidFill>
                <a:schemeClr val="accent4">
                  <a:lumMod val="50000"/>
                </a:schemeClr>
              </a:solidFill>
            </a:endParaRPr>
          </a:p>
          <a:p>
            <a:pPr lvl="1">
              <a:buFont typeface="Lucida Grande"/>
              <a:buChar char="–"/>
            </a:pPr>
            <a:r>
              <a:rPr lang="en-US" sz="2400" dirty="0"/>
              <a:t> </a:t>
            </a:r>
            <a:r>
              <a:rPr lang="en-US" sz="2400" dirty="0" err="1"/>
              <a:t>uniprocessor</a:t>
            </a:r>
            <a:r>
              <a:rPr lang="en-US" sz="2400" dirty="0"/>
              <a:t> system</a:t>
            </a:r>
          </a:p>
          <a:p>
            <a:pPr lvl="1"/>
            <a:endParaRPr lang="en-US" sz="1400" dirty="0"/>
          </a:p>
          <a:p>
            <a:pPr lvl="1">
              <a:buFont typeface="Lucida Grande"/>
              <a:buChar char="–"/>
            </a:pPr>
            <a:r>
              <a:rPr lang="en-US" sz="2400" dirty="0"/>
              <a:t> disabling interrupts guarantees mutual exclusion</a:t>
            </a:r>
          </a:p>
          <a:p>
            <a:endParaRPr lang="en-US" dirty="0"/>
          </a:p>
        </p:txBody>
      </p:sp>
      <p:sp>
        <p:nvSpPr>
          <p:cNvPr id="9" name="TextBox 8"/>
          <p:cNvSpPr txBox="1"/>
          <p:nvPr/>
        </p:nvSpPr>
        <p:spPr>
          <a:xfrm>
            <a:off x="4800600" y="2209800"/>
            <a:ext cx="3962400" cy="3447098"/>
          </a:xfrm>
          <a:prstGeom prst="rect">
            <a:avLst/>
          </a:prstGeom>
          <a:noFill/>
        </p:spPr>
        <p:txBody>
          <a:bodyPr wrap="square" rtlCol="0">
            <a:spAutoFit/>
          </a:bodyPr>
          <a:lstStyle/>
          <a:p>
            <a:pPr marL="342900" lvl="1" indent="-342900">
              <a:buFont typeface="Arial"/>
              <a:buChar char="•"/>
            </a:pPr>
            <a:r>
              <a:rPr lang="en-US" sz="32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Disadvantages:</a:t>
            </a:r>
            <a:endParaRPr lang="en-US" sz="3200" b="1" dirty="0">
              <a:solidFill>
                <a:schemeClr val="accent4">
                  <a:lumMod val="50000"/>
                </a:schemeClr>
              </a:solidFill>
            </a:endParaRPr>
          </a:p>
          <a:p>
            <a:pPr marL="342900" lvl="1" indent="-342900"/>
            <a:endParaRPr lang="en-US" sz="1200" dirty="0"/>
          </a:p>
          <a:p>
            <a:pPr lvl="1">
              <a:buFont typeface="Lucida Grande"/>
              <a:buChar char="–"/>
            </a:pPr>
            <a:r>
              <a:rPr lang="en-US" sz="2400" dirty="0"/>
              <a:t> the efficiency of execution could be noticeably degraded</a:t>
            </a:r>
          </a:p>
          <a:p>
            <a:pPr lvl="1"/>
            <a:endParaRPr lang="en-US" sz="1200" dirty="0"/>
          </a:p>
          <a:p>
            <a:pPr lvl="1">
              <a:buFont typeface="Lucida Grande"/>
              <a:buChar char="–"/>
            </a:pPr>
            <a:r>
              <a:rPr lang="en-US" sz="2400" dirty="0"/>
              <a:t> this approach will not work in a multiprocessor architecture</a:t>
            </a:r>
          </a:p>
          <a:p>
            <a:endParaRPr lang="en-US" dirty="0"/>
          </a:p>
        </p:txBody>
      </p:sp>
      <p:cxnSp>
        <p:nvCxnSpPr>
          <p:cNvPr id="11" name="Straight Connector 10"/>
          <p:cNvCxnSpPr/>
          <p:nvPr/>
        </p:nvCxnSpPr>
        <p:spPr>
          <a:xfrm rot="5400000">
            <a:off x="2858294" y="4228306"/>
            <a:ext cx="3581400" cy="1588"/>
          </a:xfrm>
          <a:prstGeom prst="line">
            <a:avLst/>
          </a:prstGeom>
          <a:ln w="34925">
            <a:solidFill>
              <a:schemeClr val="accent3">
                <a:lumMod val="50000"/>
              </a:schemeClr>
            </a:solidFill>
          </a:ln>
        </p:spPr>
        <p:style>
          <a:lnRef idx="2">
            <a:schemeClr val="accent1"/>
          </a:lnRef>
          <a:fillRef idx="0">
            <a:schemeClr val="accent1"/>
          </a:fillRef>
          <a:effectRef idx="1">
            <a:schemeClr val="accent1"/>
          </a:effectRef>
          <a:fontRef idx="minor">
            <a:schemeClr val="tx1"/>
          </a:fontRef>
        </p:style>
      </p:cxnSp>
      <p:pic>
        <p:nvPicPr>
          <p:cNvPr id="18" name="Picture 17"/>
          <p:cNvPicPr>
            <a:picLocks noChangeAspect="1"/>
          </p:cNvPicPr>
          <p:nvPr/>
        </p:nvPicPr>
        <p:blipFill>
          <a:blip r:embed="rId2"/>
          <a:stretch>
            <a:fillRect/>
          </a:stretch>
        </p:blipFill>
        <p:spPr>
          <a:xfrm>
            <a:off x="1219200" y="4953000"/>
            <a:ext cx="1981200" cy="1390904"/>
          </a:xfrm>
          <a:prstGeom prst="rect">
            <a:avLst/>
          </a:prstGeom>
        </p:spPr>
      </p:pic>
      <p:pic>
        <p:nvPicPr>
          <p:cNvPr id="12" name="Picture 11"/>
          <p:cNvPicPr>
            <a:picLocks noChangeAspect="1"/>
          </p:cNvPicPr>
          <p:nvPr/>
        </p:nvPicPr>
        <p:blipFill>
          <a:blip r:embed="rId3"/>
          <a:stretch>
            <a:fillRect/>
          </a:stretch>
        </p:blipFill>
        <p:spPr>
          <a:xfrm>
            <a:off x="7543800" y="5029200"/>
            <a:ext cx="1137356" cy="1472330"/>
          </a:xfrm>
          <a:prstGeom prst="rect">
            <a:avLst/>
          </a:prstGeom>
        </p:spPr>
      </p:pic>
    </p:spTree>
  </p:cSld>
  <p:clrMapOvr>
    <a:masterClrMapping/>
  </p:clrMapOv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4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Mutual Exclusion: </a:t>
            </a:r>
            <a:br>
              <a:rPr lang="en-US" sz="4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sz="4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Hardware Support</a:t>
            </a:r>
            <a:endParaRPr lang="en-NZ" sz="4800"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endParaRPr>
          </a:p>
        </p:txBody>
      </p:sp>
      <p:sp>
        <p:nvSpPr>
          <p:cNvPr id="3" name="Content Placeholder 2"/>
          <p:cNvSpPr>
            <a:spLocks noGrp="1"/>
          </p:cNvSpPr>
          <p:nvPr>
            <p:ph sz="half" idx="1"/>
          </p:nvPr>
        </p:nvSpPr>
        <p:spPr>
          <a:xfrm>
            <a:off x="381000" y="2209800"/>
            <a:ext cx="8305800" cy="4419600"/>
          </a:xfrm>
        </p:spPr>
        <p:txBody>
          <a:bodyPr>
            <a:noAutofit/>
          </a:bodyPr>
          <a:lstStyle/>
          <a:p>
            <a:pPr lvl="1"/>
            <a:r>
              <a:rPr lang="en-NZ" sz="3600" dirty="0"/>
              <a:t>Special Machine Instructions</a:t>
            </a:r>
          </a:p>
          <a:p>
            <a:pPr lvl="2"/>
            <a:r>
              <a:rPr lang="en-NZ" sz="3400" dirty="0"/>
              <a:t>Compare&amp;Swap Instruction </a:t>
            </a:r>
          </a:p>
          <a:p>
            <a:pPr lvl="4"/>
            <a:r>
              <a:rPr lang="en-NZ" sz="2800" dirty="0"/>
              <a:t>also called a “compare and exchange instruction”</a:t>
            </a:r>
          </a:p>
          <a:p>
            <a:pPr lvl="4"/>
            <a:r>
              <a:rPr lang="en-NZ" sz="2800" dirty="0"/>
              <a:t>a </a:t>
            </a:r>
            <a:r>
              <a:rPr lang="en-NZ" sz="2800" b="1" dirty="0"/>
              <a:t>compare </a:t>
            </a:r>
            <a:r>
              <a:rPr lang="en-NZ" sz="2800" dirty="0"/>
              <a:t>is made between a memory value and a test value</a:t>
            </a:r>
          </a:p>
          <a:p>
            <a:pPr lvl="4"/>
            <a:r>
              <a:rPr lang="en-NZ" sz="2800" dirty="0"/>
              <a:t>if the values are the same a </a:t>
            </a:r>
            <a:r>
              <a:rPr lang="en-NZ" sz="2800" b="1" dirty="0"/>
              <a:t>swap </a:t>
            </a:r>
            <a:r>
              <a:rPr lang="en-NZ" sz="2800" dirty="0"/>
              <a:t>occurs</a:t>
            </a:r>
          </a:p>
          <a:p>
            <a:pPr lvl="4"/>
            <a:r>
              <a:rPr lang="en-NZ" sz="2800" dirty="0"/>
              <a:t>carried out atomically</a:t>
            </a:r>
          </a:p>
        </p:txBody>
      </p:sp>
      <p:pic>
        <p:nvPicPr>
          <p:cNvPr id="4" name="Picture 3"/>
          <p:cNvPicPr>
            <a:picLocks noChangeAspect="1"/>
          </p:cNvPicPr>
          <p:nvPr/>
        </p:nvPicPr>
        <mc:AlternateContent xmlns:mc="http://schemas.openxmlformats.org/markup-compatibility/2006">
          <mc:Choice xmlns="" xmlns:mv="urn:schemas-microsoft-com:mac:vml" xmlns:ma="http://schemas.microsoft.com/office/mac/drawingml/2008/main" Requires="ma">
            <p:blipFill>
              <a:blip r:embed="rId3"/>
              <a:stretch>
                <a:fillRect/>
              </a:stretch>
            </p:blipFill>
          </mc:Choice>
          <mc:Fallback>
            <p:blipFill>
              <a:blip r:embed="rId4"/>
              <a:stretch>
                <a:fillRect/>
              </a:stretch>
            </p:blipFill>
          </mc:Fallback>
        </mc:AlternateContent>
        <p:spPr>
          <a:xfrm rot="1357152">
            <a:off x="7325432" y="2330015"/>
            <a:ext cx="1240129" cy="1093725"/>
          </a:xfrm>
          <a:prstGeom prst="rect">
            <a:avLst/>
          </a:prstGeom>
        </p:spPr>
      </p:pic>
    </p:spTree>
  </p:cSld>
  <p:clrMapOvr>
    <a:masterClrMapping/>
  </p:clrMapOvr>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8" presetClass="entr" presetSubtype="0" accel="50000" fill="hold" grpId="0" nodeType="after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anim calcmode="lin" valueType="num">
                                      <p:cBhvr>
                                        <p:cTn id="7" dur="1000" fill="hold"/>
                                        <p:tgtEl>
                                          <p:spTgt spid="3">
                                            <p:txEl>
                                              <p:pRg st="5" end="5"/>
                                            </p:txEl>
                                          </p:spTgt>
                                        </p:tgtEl>
                                        <p:attrNameLst>
                                          <p:attrName>style.rotation</p:attrName>
                                        </p:attrNameLst>
                                      </p:cBhvr>
                                      <p:tavLst>
                                        <p:tav tm="0">
                                          <p:val>
                                            <p:fltVal val="90"/>
                                          </p:val>
                                        </p:tav>
                                        <p:tav tm="80000">
                                          <p:val>
                                            <p:fltVal val="90"/>
                                          </p:val>
                                        </p:tav>
                                        <p:tav tm="80000">
                                          <p:val>
                                            <p:fltVal val="90"/>
                                          </p:val>
                                        </p:tav>
                                        <p:tav tm="100000">
                                          <p:val>
                                            <p:fltVal val="0"/>
                                          </p:val>
                                        </p:tav>
                                      </p:tavLst>
                                    </p:anim>
                                    <p:anim calcmode="lin" valueType="num">
                                      <p:cBhvr>
                                        <p:cTn id="8" dur="1000" fill="hold"/>
                                        <p:tgtEl>
                                          <p:spTgt spid="3">
                                            <p:txEl>
                                              <p:pRg st="5" end="5"/>
                                            </p:txEl>
                                          </p:spTgt>
                                        </p:tgtEl>
                                        <p:attrNameLst>
                                          <p:attrName>ppt_x</p:attrName>
                                        </p:attrNameLst>
                                      </p:cBhvr>
                                      <p:tavLst>
                                        <p:tav tm="0">
                                          <p:val>
                                            <p:fltVal val="-1"/>
                                          </p:val>
                                        </p:tav>
                                        <p:tav tm="50000">
                                          <p:val>
                                            <p:fltVal val="0.95"/>
                                          </p:val>
                                        </p:tav>
                                        <p:tav tm="100000">
                                          <p:val>
                                            <p:strVal val="#ppt_x"/>
                                          </p:val>
                                        </p:tav>
                                      </p:tavLst>
                                    </p:anim>
                                    <p:anim calcmode="lin" valueType="num">
                                      <p:cBhvr>
                                        <p:cTn id="9" dur="1000" fill="hold"/>
                                        <p:tgtEl>
                                          <p:spTgt spid="3">
                                            <p:txEl>
                                              <p:pRg st="5" end="5"/>
                                            </p:txEl>
                                          </p:spTgt>
                                        </p:tgtEl>
                                        <p:attrNameLst>
                                          <p:attrName>ppt_y</p:attrName>
                                        </p:attrNameLst>
                                      </p:cBhvr>
                                      <p:tavLst>
                                        <p:tav tm="0">
                                          <p:val>
                                            <p:strVal val="#ppt_y"/>
                                          </p:val>
                                        </p:tav>
                                        <p:tav tm="100000">
                                          <p:val>
                                            <p:strVal val="#ppt_y"/>
                                          </p:val>
                                        </p:tav>
                                      </p:tavLst>
                                    </p:anim>
                                    <p:animEffect transition="in" filter="fade">
                                      <p:cBhvr>
                                        <p:cTn id="10"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0" y="533400"/>
            <a:ext cx="9144000" cy="1447800"/>
          </a:xfrm>
        </p:spPr>
        <p:txBody>
          <a:bodyPr/>
          <a:lstStyle/>
          <a:p>
            <a:pPr algn="ct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Compare and Swap </a:t>
            </a:r>
            <a:b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br>
            <a:r>
              <a:rPr lang="en-US" b="1" dirty="0">
                <a:ln w="1905"/>
                <a:gradFill>
                  <a:gsLst>
                    <a:gs pos="0">
                      <a:schemeClr val="accent6">
                        <a:shade val="20000"/>
                        <a:satMod val="200000"/>
                      </a:schemeClr>
                    </a:gs>
                    <a:gs pos="78000">
                      <a:schemeClr val="accent6">
                        <a:tint val="90000"/>
                        <a:shade val="89000"/>
                        <a:satMod val="220000"/>
                      </a:schemeClr>
                    </a:gs>
                    <a:gs pos="100000">
                      <a:schemeClr val="accent6">
                        <a:tint val="12000"/>
                        <a:satMod val="255000"/>
                      </a:schemeClr>
                    </a:gs>
                  </a:gsLst>
                  <a:lin ang="5400000"/>
                </a:gradFill>
                <a:effectLst>
                  <a:innerShdw blurRad="69850" dist="43180" dir="5400000">
                    <a:srgbClr val="000000">
                      <a:alpha val="65000"/>
                    </a:srgbClr>
                  </a:innerShdw>
                </a:effectLst>
              </a:rPr>
              <a:t>Instruction</a:t>
            </a:r>
          </a:p>
        </p:txBody>
      </p:sp>
      <p:pic>
        <p:nvPicPr>
          <p:cNvPr id="5" name="Picture 4"/>
          <p:cNvPicPr>
            <a:picLocks noChangeAspect="1" noChangeArrowheads="1"/>
          </p:cNvPicPr>
          <p:nvPr/>
        </p:nvPicPr>
        <p:blipFill>
          <a:blip r:embed="rId3"/>
          <a:srcRect/>
          <a:stretch>
            <a:fillRect/>
          </a:stretch>
        </p:blipFill>
        <p:spPr bwMode="auto">
          <a:xfrm>
            <a:off x="1752600" y="1981200"/>
            <a:ext cx="5791200" cy="4539750"/>
          </a:xfrm>
          <a:prstGeom prst="rect">
            <a:avLst/>
          </a:prstGeom>
          <a:noFill/>
          <a:ln w="9525">
            <a:noFill/>
            <a:miter lim="800000"/>
            <a:headEnd/>
            <a:tailEnd/>
          </a:ln>
          <a:effectLst/>
        </p:spPr>
      </p:pic>
      <p:sp>
        <p:nvSpPr>
          <p:cNvPr id="6" name="TextBox 5"/>
          <p:cNvSpPr txBox="1"/>
          <p:nvPr/>
        </p:nvSpPr>
        <p:spPr>
          <a:xfrm>
            <a:off x="2743200" y="6550223"/>
            <a:ext cx="4216168" cy="307777"/>
          </a:xfrm>
          <a:prstGeom prst="rect">
            <a:avLst/>
          </a:prstGeom>
          <a:noFill/>
        </p:spPr>
        <p:txBody>
          <a:bodyPr wrap="none" rtlCol="0">
            <a:spAutoFit/>
          </a:bodyPr>
          <a:lstStyle/>
          <a:p>
            <a:r>
              <a:rPr lang="en-US" sz="1400" dirty="0">
                <a:latin typeface="+mj-lt"/>
              </a:rPr>
              <a:t>Figure 5.2  Hardware Support for Mutual Exclusion</a:t>
            </a:r>
          </a:p>
        </p:txBody>
      </p:sp>
      <p:pic>
        <p:nvPicPr>
          <p:cNvPr id="7" name="Picture 6"/>
          <p:cNvPicPr>
            <a:picLocks noChangeAspect="1"/>
          </p:cNvPicPr>
          <p:nvPr/>
        </p:nvPicPr>
        <p:blipFill>
          <a:blip r:embed="rId4"/>
          <a:stretch>
            <a:fillRect/>
          </a:stretch>
        </p:blipFill>
        <p:spPr>
          <a:xfrm>
            <a:off x="304800" y="5334000"/>
            <a:ext cx="914400" cy="1209821"/>
          </a:xfrm>
          <a:prstGeom prst="rect">
            <a:avLst/>
          </a:prstGeom>
        </p:spPr>
      </p:pic>
    </p:spTree>
  </p:cSld>
  <p:clrMapOvr>
    <a:masterClrMapping/>
  </p:clrMapOvr>
  <p:transition spd="med">
    <p:check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idx="4294967295"/>
          </p:nvPr>
        </p:nvSpPr>
        <p:spPr>
          <a:xfrm>
            <a:off x="685800" y="0"/>
            <a:ext cx="8229600" cy="1371600"/>
          </a:xfrm>
        </p:spPr>
        <p:txBody>
          <a:bodyPr/>
          <a:lstStyle/>
          <a:p>
            <a:pPr algn="ctr"/>
            <a:r>
              <a:rPr lang="en-NZ" b="1" dirty="0">
                <a:solidFill>
                  <a:schemeClr val="accent6">
                    <a:lumMod val="50000"/>
                  </a:schemeClr>
                </a:solidFill>
              </a:rPr>
              <a:t>Exchange Instruction</a:t>
            </a:r>
          </a:p>
        </p:txBody>
      </p:sp>
      <p:sp>
        <p:nvSpPr>
          <p:cNvPr id="7" name="Rectangle 6"/>
          <p:cNvSpPr/>
          <p:nvPr/>
        </p:nvSpPr>
        <p:spPr>
          <a:xfrm>
            <a:off x="2819400" y="6550223"/>
            <a:ext cx="4572000" cy="307777"/>
          </a:xfrm>
          <a:prstGeom prst="rect">
            <a:avLst/>
          </a:prstGeom>
        </p:spPr>
        <p:txBody>
          <a:bodyPr wrap="square">
            <a:spAutoFit/>
          </a:bodyPr>
          <a:lstStyle/>
          <a:p>
            <a:r>
              <a:rPr lang="en-US" sz="1400" dirty="0">
                <a:latin typeface="+mj-lt"/>
              </a:rPr>
              <a:t>Figure 5.2  Hardware Support for Mutual Exclusion</a:t>
            </a:r>
          </a:p>
        </p:txBody>
      </p:sp>
      <p:pic>
        <p:nvPicPr>
          <p:cNvPr id="8" name="Picture 7"/>
          <p:cNvPicPr>
            <a:picLocks noChangeAspect="1" noChangeArrowheads="1"/>
          </p:cNvPicPr>
          <p:nvPr/>
        </p:nvPicPr>
        <p:blipFill>
          <a:blip r:embed="rId3"/>
          <a:srcRect/>
          <a:stretch>
            <a:fillRect/>
          </a:stretch>
        </p:blipFill>
        <p:spPr bwMode="auto">
          <a:xfrm>
            <a:off x="1676400" y="1447800"/>
            <a:ext cx="6324600" cy="4808630"/>
          </a:xfrm>
          <a:prstGeom prst="rect">
            <a:avLst/>
          </a:prstGeom>
          <a:noFill/>
          <a:ln w="9525">
            <a:noFill/>
            <a:miter lim="800000"/>
            <a:headEnd/>
            <a:tailEnd/>
          </a:ln>
          <a:effectLst/>
        </p:spPr>
      </p:pic>
      <p:pic>
        <p:nvPicPr>
          <p:cNvPr id="5" name="Picture 4"/>
          <p:cNvPicPr>
            <a:picLocks noChangeAspect="1"/>
          </p:cNvPicPr>
          <p:nvPr/>
        </p:nvPicPr>
        <p:blipFill>
          <a:blip r:embed="rId4"/>
          <a:stretch>
            <a:fillRect/>
          </a:stretch>
        </p:blipFill>
        <p:spPr>
          <a:xfrm>
            <a:off x="304800" y="5334000"/>
            <a:ext cx="914400" cy="1209821"/>
          </a:xfrm>
          <a:prstGeom prst="rect">
            <a:avLst/>
          </a:prstGeom>
        </p:spPr>
      </p:pic>
    </p:spTree>
  </p:cSld>
  <p:clrMapOvr>
    <a:masterClrMapping/>
  </p:clrMapOvr>
  <p:transition spd="med">
    <p:check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4400" dirty="0">
                <a:ln w="1905">
                  <a:solidFill>
                    <a:schemeClr val="accent1">
                      <a:lumMod val="75000"/>
                    </a:schemeClr>
                  </a:solidFill>
                </a:ln>
                <a:solidFill>
                  <a:schemeClr val="accent4">
                    <a:lumMod val="50000"/>
                  </a:schemeClr>
                </a:solidFill>
                <a:effectLst>
                  <a:innerShdw blurRad="69850" dist="43180" dir="5400000">
                    <a:srgbClr val="000000">
                      <a:alpha val="65000"/>
                    </a:srgbClr>
                  </a:innerShdw>
                </a:effectLst>
              </a:rPr>
              <a:t>Special Machine Instruction:</a:t>
            </a:r>
            <a:br>
              <a:rPr lang="en-US" sz="4400" dirty="0">
                <a:ln w="1905">
                  <a:solidFill>
                    <a:schemeClr val="accent1">
                      <a:lumMod val="75000"/>
                    </a:schemeClr>
                  </a:solidFill>
                </a:ln>
                <a:solidFill>
                  <a:schemeClr val="accent4">
                    <a:lumMod val="50000"/>
                  </a:schemeClr>
                </a:solidFill>
                <a:effectLst>
                  <a:innerShdw blurRad="69850" dist="43180" dir="5400000">
                    <a:srgbClr val="000000">
                      <a:alpha val="65000"/>
                    </a:srgbClr>
                  </a:innerShdw>
                </a:effectLst>
              </a:rPr>
            </a:br>
            <a:r>
              <a:rPr lang="en-US" sz="4400" dirty="0">
                <a:ln w="1905">
                  <a:solidFill>
                    <a:schemeClr val="accent1">
                      <a:lumMod val="75000"/>
                    </a:schemeClr>
                  </a:solidFill>
                </a:ln>
                <a:solidFill>
                  <a:schemeClr val="accent4">
                    <a:lumMod val="50000"/>
                  </a:schemeClr>
                </a:solidFill>
                <a:effectLst>
                  <a:innerShdw blurRad="69850" dist="43180" dir="5400000">
                    <a:srgbClr val="000000">
                      <a:alpha val="65000"/>
                    </a:srgbClr>
                  </a:innerShdw>
                </a:effectLst>
              </a:rPr>
              <a:t>Advantages</a:t>
            </a:r>
          </a:p>
        </p:txBody>
      </p:sp>
      <p:sp>
        <p:nvSpPr>
          <p:cNvPr id="3" name="Content Placeholder 2"/>
          <p:cNvSpPr>
            <a:spLocks noGrp="1"/>
          </p:cNvSpPr>
          <p:nvPr>
            <p:ph sz="half" idx="1"/>
          </p:nvPr>
        </p:nvSpPr>
        <p:spPr>
          <a:xfrm>
            <a:off x="658904" y="2286000"/>
            <a:ext cx="8180296" cy="3840163"/>
          </a:xfrm>
        </p:spPr>
        <p:txBody>
          <a:bodyPr>
            <a:normAutofit fontScale="40000" lnSpcReduction="20000"/>
          </a:bodyPr>
          <a:lstStyle/>
          <a:p>
            <a:r>
              <a:rPr lang="en-US" sz="8800" dirty="0"/>
              <a:t> </a:t>
            </a:r>
            <a:r>
              <a:rPr lang="en-US" sz="8000" dirty="0">
                <a:latin typeface="Calibri"/>
              </a:rPr>
              <a:t>Applicable to any number of processes on     either a single processor or multiple   processors sharing main memory</a:t>
            </a:r>
          </a:p>
          <a:p>
            <a:r>
              <a:rPr lang="en-US" sz="8000" dirty="0">
                <a:latin typeface="Calibri"/>
              </a:rPr>
              <a:t> Simple and easy to verify</a:t>
            </a:r>
          </a:p>
          <a:p>
            <a:r>
              <a:rPr lang="en-US" sz="8000" dirty="0">
                <a:latin typeface="Calibri"/>
              </a:rPr>
              <a:t> It can be used to support multiple critical sections; each critical section can be defined by its own variable</a:t>
            </a:r>
          </a:p>
          <a:p>
            <a:endParaRPr lang="en-US" dirty="0"/>
          </a:p>
        </p:txBody>
      </p:sp>
      <p:sp>
        <p:nvSpPr>
          <p:cNvPr id="4" name="Up Arrow 3"/>
          <p:cNvSpPr/>
          <p:nvPr/>
        </p:nvSpPr>
        <p:spPr>
          <a:xfrm>
            <a:off x="685800" y="2286000"/>
            <a:ext cx="381000" cy="457200"/>
          </a:xfrm>
          <a:prstGeom prst="upArrow">
            <a:avLst>
              <a:gd name="adj1" fmla="val 50000"/>
              <a:gd name="adj2" fmla="val 50000"/>
            </a:avLst>
          </a:prstGeom>
          <a:solidFill>
            <a:schemeClr val="accent4">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Up Arrow 7"/>
          <p:cNvSpPr/>
          <p:nvPr/>
        </p:nvSpPr>
        <p:spPr>
          <a:xfrm>
            <a:off x="685800" y="3657600"/>
            <a:ext cx="381000" cy="457200"/>
          </a:xfrm>
          <a:prstGeom prst="upArrow">
            <a:avLst>
              <a:gd name="adj1" fmla="val 50000"/>
              <a:gd name="adj2" fmla="val 50000"/>
            </a:avLst>
          </a:prstGeom>
          <a:solidFill>
            <a:schemeClr val="accent4">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Up Arrow 8"/>
          <p:cNvSpPr/>
          <p:nvPr/>
        </p:nvSpPr>
        <p:spPr>
          <a:xfrm>
            <a:off x="685800" y="4343400"/>
            <a:ext cx="381000" cy="457200"/>
          </a:xfrm>
          <a:prstGeom prst="upArrow">
            <a:avLst>
              <a:gd name="adj1" fmla="val 50000"/>
              <a:gd name="adj2" fmla="val 50000"/>
            </a:avLst>
          </a:prstGeom>
          <a:solidFill>
            <a:schemeClr val="accent4">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15" name="Picture 14"/>
          <p:cNvPicPr>
            <a:picLocks noChangeAspect="1"/>
          </p:cNvPicPr>
          <p:nvPr/>
        </p:nvPicPr>
        <p:blipFill>
          <a:blip r:embed="rId3"/>
          <a:stretch>
            <a:fillRect/>
          </a:stretch>
        </p:blipFill>
        <p:spPr>
          <a:xfrm rot="258191">
            <a:off x="6858000" y="5257800"/>
            <a:ext cx="1524000" cy="1289538"/>
          </a:xfrm>
          <a:prstGeom prst="rect">
            <a:avLst/>
          </a:prstGeom>
        </p:spPr>
      </p:pic>
    </p:spTree>
  </p:cSld>
  <p:clrMapOvr>
    <a:masterClrMapping/>
  </p:clrMapOv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sz="4400" b="1" dirty="0">
                <a:ln w="1905"/>
                <a:solidFill>
                  <a:schemeClr val="accent1">
                    <a:lumMod val="75000"/>
                  </a:schemeClr>
                </a:solidFill>
                <a:effectLst>
                  <a:innerShdw blurRad="69850" dist="43180" dir="5400000">
                    <a:srgbClr val="000000">
                      <a:alpha val="65000"/>
                    </a:srgbClr>
                  </a:innerShdw>
                </a:effectLst>
              </a:rPr>
              <a:t>Special Machine Instruction:</a:t>
            </a:r>
            <a:br>
              <a:rPr lang="en-US" sz="4400" b="1" dirty="0">
                <a:ln w="1905"/>
                <a:solidFill>
                  <a:schemeClr val="accent1">
                    <a:lumMod val="75000"/>
                  </a:schemeClr>
                </a:solidFill>
                <a:effectLst>
                  <a:innerShdw blurRad="69850" dist="43180" dir="5400000">
                    <a:srgbClr val="000000">
                      <a:alpha val="65000"/>
                    </a:srgbClr>
                  </a:innerShdw>
                </a:effectLst>
              </a:rPr>
            </a:br>
            <a:r>
              <a:rPr lang="en-US" sz="4400" b="1" dirty="0">
                <a:ln w="1905"/>
                <a:solidFill>
                  <a:schemeClr val="accent1">
                    <a:lumMod val="75000"/>
                  </a:schemeClr>
                </a:solidFill>
                <a:effectLst>
                  <a:innerShdw blurRad="69850" dist="43180" dir="5400000">
                    <a:srgbClr val="000000">
                      <a:alpha val="65000"/>
                    </a:srgbClr>
                  </a:innerShdw>
                </a:effectLst>
              </a:rPr>
              <a:t>Disadvantages</a:t>
            </a:r>
          </a:p>
        </p:txBody>
      </p:sp>
      <p:sp>
        <p:nvSpPr>
          <p:cNvPr id="3" name="Content Placeholder 2"/>
          <p:cNvSpPr>
            <a:spLocks noGrp="1"/>
          </p:cNvSpPr>
          <p:nvPr>
            <p:ph sz="half" idx="1"/>
          </p:nvPr>
        </p:nvSpPr>
        <p:spPr>
          <a:xfrm>
            <a:off x="457200" y="2057400"/>
            <a:ext cx="8229600" cy="4495800"/>
          </a:xfrm>
        </p:spPr>
        <p:txBody>
          <a:bodyPr>
            <a:noAutofit/>
          </a:bodyPr>
          <a:lstStyle/>
          <a:p>
            <a:pPr marL="274320" indent="-457200">
              <a:spcBef>
                <a:spcPts val="600"/>
              </a:spcBef>
            </a:pPr>
            <a:r>
              <a:rPr lang="en-US" sz="3200" dirty="0">
                <a:latin typeface="Calibri"/>
              </a:rPr>
              <a:t>  Busy-waiting is employed, thus while a                      process is waiting for access to a critical section it continues to consume processor time</a:t>
            </a:r>
          </a:p>
          <a:p>
            <a:pPr marL="274320" indent="-457200">
              <a:spcBef>
                <a:spcPts val="600"/>
              </a:spcBef>
            </a:pPr>
            <a:r>
              <a:rPr lang="en-US" sz="3200" dirty="0">
                <a:latin typeface="Calibri"/>
              </a:rPr>
              <a:t>  Starvation is possible when a process leaves a critical section and more than one process is waiting</a:t>
            </a:r>
            <a:endParaRPr lang="en-NZ" sz="3200" dirty="0">
              <a:latin typeface="Calibri"/>
            </a:endParaRPr>
          </a:p>
          <a:p>
            <a:pPr marL="274320" indent="-457200">
              <a:spcBef>
                <a:spcPts val="600"/>
              </a:spcBef>
            </a:pPr>
            <a:r>
              <a:rPr lang="en-US" sz="3200" dirty="0">
                <a:latin typeface="Calibri"/>
              </a:rPr>
              <a:t> Deadlock is possible</a:t>
            </a:r>
          </a:p>
        </p:txBody>
      </p:sp>
      <p:sp>
        <p:nvSpPr>
          <p:cNvPr id="4" name="Down Arrow 3"/>
          <p:cNvSpPr/>
          <p:nvPr/>
        </p:nvSpPr>
        <p:spPr>
          <a:xfrm>
            <a:off x="457200" y="4343400"/>
            <a:ext cx="457200" cy="533400"/>
          </a:xfrm>
          <a:prstGeom prst="down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pic>
        <p:nvPicPr>
          <p:cNvPr id="7" name="Picture 6"/>
          <p:cNvPicPr>
            <a:picLocks noChangeAspect="1"/>
          </p:cNvPicPr>
          <p:nvPr/>
        </p:nvPicPr>
        <p:blipFill>
          <a:blip r:embed="rId3"/>
          <a:stretch>
            <a:fillRect/>
          </a:stretch>
        </p:blipFill>
        <p:spPr>
          <a:xfrm>
            <a:off x="6629400" y="5181600"/>
            <a:ext cx="1638300" cy="1333500"/>
          </a:xfrm>
          <a:prstGeom prst="rect">
            <a:avLst/>
          </a:prstGeom>
        </p:spPr>
      </p:pic>
      <p:sp>
        <p:nvSpPr>
          <p:cNvPr id="8" name="Down Arrow 7"/>
          <p:cNvSpPr/>
          <p:nvPr/>
        </p:nvSpPr>
        <p:spPr>
          <a:xfrm>
            <a:off x="457200" y="5867400"/>
            <a:ext cx="457200" cy="533400"/>
          </a:xfrm>
          <a:prstGeom prst="down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Down Arrow 8"/>
          <p:cNvSpPr/>
          <p:nvPr/>
        </p:nvSpPr>
        <p:spPr>
          <a:xfrm>
            <a:off x="457200" y="2209800"/>
            <a:ext cx="457200" cy="533400"/>
          </a:xfrm>
          <a:prstGeom prst="downArrow">
            <a:avLst/>
          </a:prstGeom>
          <a:solidFill>
            <a:schemeClr val="accent1">
              <a:lumMod val="75000"/>
            </a:schemeClr>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cSld>
  <p:clrMapOvr>
    <a:masterClrMapping/>
  </p:clrMapOvr>
  <p:transition/>
</p:sld>
</file>

<file path=ppt/theme/theme1.xml><?xml version="1.0" encoding="utf-8"?>
<a:theme xmlns:a="http://schemas.openxmlformats.org/drawingml/2006/main" name="Custom Desig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odex">
  <a:themeElements>
    <a:clrScheme name="Codex">
      <a:dk1>
        <a:sysClr val="windowText" lastClr="000000"/>
      </a:dk1>
      <a:lt1>
        <a:sysClr val="window" lastClr="FFFFFF"/>
      </a:lt1>
      <a:dk2>
        <a:srgbClr val="59564B"/>
      </a:dk2>
      <a:lt2>
        <a:srgbClr val="DFDAC7"/>
      </a:lt2>
      <a:accent1>
        <a:srgbClr val="990000"/>
      </a:accent1>
      <a:accent2>
        <a:srgbClr val="EFAB16"/>
      </a:accent2>
      <a:accent3>
        <a:srgbClr val="78AC35"/>
      </a:accent3>
      <a:accent4>
        <a:srgbClr val="35ACA2"/>
      </a:accent4>
      <a:accent5>
        <a:srgbClr val="4083CF"/>
      </a:accent5>
      <a:accent6>
        <a:srgbClr val="0D335E"/>
      </a:accent6>
      <a:hlink>
        <a:srgbClr val="EF8E1C"/>
      </a:hlink>
      <a:folHlink>
        <a:srgbClr val="FEC60B"/>
      </a:folHlink>
    </a:clrScheme>
    <a:fontScheme name="Codex">
      <a:majorFont>
        <a:latin typeface="Calisto MT"/>
        <a:ea typeface=""/>
        <a:cs typeface=""/>
        <a:font script="Jpan" typeface="ＭＳ 明朝"/>
      </a:majorFont>
      <a:minorFont>
        <a:latin typeface="Calisto MT"/>
        <a:ea typeface=""/>
        <a:cs typeface=""/>
        <a:font script="Jpan" typeface="ＭＳ 明朝"/>
      </a:minorFont>
    </a:fontScheme>
    <a:fmtScheme name="Codex">
      <a:fillStyleLst>
        <a:solidFill>
          <a:schemeClr val="phClr"/>
        </a:solidFill>
        <a:gradFill rotWithShape="1">
          <a:gsLst>
            <a:gs pos="0">
              <a:schemeClr val="phClr">
                <a:tint val="100000"/>
                <a:shade val="60000"/>
                <a:satMod val="135000"/>
              </a:schemeClr>
            </a:gs>
            <a:gs pos="100000">
              <a:schemeClr val="phClr">
                <a:tint val="100000"/>
                <a:shade val="94000"/>
                <a:satMod val="135000"/>
              </a:schemeClr>
            </a:gs>
          </a:gsLst>
          <a:lin ang="16200000" scaled="1"/>
        </a:gradFill>
        <a:gradFill rotWithShape="1">
          <a:gsLst>
            <a:gs pos="0">
              <a:schemeClr val="phClr">
                <a:shade val="51000"/>
                <a:alpha val="90000"/>
                <a:satMod val="115000"/>
              </a:schemeClr>
            </a:gs>
            <a:gs pos="100000">
              <a:schemeClr val="phClr">
                <a:shade val="94000"/>
                <a:alpha val="90000"/>
                <a:satMod val="135000"/>
              </a:schemeClr>
            </a:gs>
          </a:gsLst>
          <a:lin ang="5400000" scaled="1"/>
        </a:gradFill>
      </a:fillStyleLst>
      <a:lnStyleLst>
        <a:ln w="15875" cap="flat" cmpd="sng" algn="ctr">
          <a:solidFill>
            <a:schemeClr val="phClr">
              <a:shade val="95000"/>
              <a:satMod val="105000"/>
            </a:schemeClr>
          </a:solidFill>
          <a:prstDash val="solid"/>
        </a:ln>
        <a:ln w="34925" cap="flat" cmpd="sng" algn="ctr">
          <a:solidFill>
            <a:schemeClr val="phClr"/>
          </a:solidFill>
          <a:prstDash val="solid"/>
        </a:ln>
        <a:ln w="34925" cap="flat" cmpd="sng" algn="ctr">
          <a:solidFill>
            <a:schemeClr val="phClr"/>
          </a:solidFill>
          <a:prstDash val="solid"/>
        </a:ln>
      </a:lnStyleLst>
      <a:effectStyleLst>
        <a:effectStyle>
          <a:effectLst/>
        </a:effectStyle>
        <a:effectStyle>
          <a:effectLst/>
        </a:effectStyle>
        <a:effectStyle>
          <a:effectLst>
            <a:outerShdw blurRad="50800" dist="12700" dir="5400000" rotWithShape="0">
              <a:srgbClr val="525252">
                <a:alpha val="85000"/>
              </a:srgbClr>
            </a:outerShdw>
          </a:effectLst>
          <a:scene3d>
            <a:camera prst="orthographicFront">
              <a:rot lat="0" lon="0" rev="0"/>
            </a:camera>
            <a:lightRig rig="sunrise" dir="t">
              <a:rot lat="0" lon="0" rev="6000000"/>
            </a:lightRig>
          </a:scene3d>
          <a:sp3d prstMaterial="matte">
            <a:bevelT w="50800" h="44450" prst="angle"/>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4170</Words>
  <Application>Microsoft Office PowerPoint</Application>
  <PresentationFormat>On-screen Show (4:3)</PresentationFormat>
  <Paragraphs>207</Paragraphs>
  <Slides>18</Slides>
  <Notes>17</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18</vt:i4>
      </vt:variant>
    </vt:vector>
  </HeadingPairs>
  <TitlesOfParts>
    <vt:vector size="29" baseType="lpstr">
      <vt:lpstr>ＭＳ Ｐゴシック</vt:lpstr>
      <vt:lpstr>Arial</vt:lpstr>
      <vt:lpstr>Arial Rounded MT Bold</vt:lpstr>
      <vt:lpstr>Calibri</vt:lpstr>
      <vt:lpstr>Calisto MT</vt:lpstr>
      <vt:lpstr>Lucida Grande</vt:lpstr>
      <vt:lpstr>Times New Roman</vt:lpstr>
      <vt:lpstr>Wingdings</vt:lpstr>
      <vt:lpstr>Custom Design</vt:lpstr>
      <vt:lpstr>Codex</vt:lpstr>
      <vt:lpstr>Document</vt:lpstr>
      <vt:lpstr> Concurrency: Mutual Exclusion and Synchronization</vt:lpstr>
      <vt:lpstr>Operating Systems: Internals and Design Principles</vt:lpstr>
      <vt:lpstr>Multiple  Processes</vt:lpstr>
      <vt:lpstr>Concurrency Arises in Three Different Contexts:</vt:lpstr>
      <vt:lpstr>Principles of Concurrency</vt:lpstr>
      <vt:lpstr>Difficulties of Concurrency</vt:lpstr>
      <vt:lpstr>Race Condition</vt:lpstr>
      <vt:lpstr>Operating System Concerns</vt:lpstr>
      <vt:lpstr>PowerPoint Presentation</vt:lpstr>
      <vt:lpstr>Resource Competition</vt:lpstr>
      <vt:lpstr> Mutual Exclusion</vt:lpstr>
      <vt:lpstr>Requirements for Mutual Exclusion</vt:lpstr>
      <vt:lpstr>Mutual Exclusion:  Hardware Support</vt:lpstr>
      <vt:lpstr>Mutual Exclusion:  Hardware Support</vt:lpstr>
      <vt:lpstr>Compare and Swap  Instruction</vt:lpstr>
      <vt:lpstr>Exchange Instruction</vt:lpstr>
      <vt:lpstr>Special Machine Instruction: Advantages</vt:lpstr>
      <vt:lpstr>Special Machine Instruction: Disadvantages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cp:lastModifiedBy/>
  <cp:revision>1</cp:revision>
  <cp:lastPrinted>2011-02-18T21:50:36Z</cp:lastPrinted>
  <dcterms:created xsi:type="dcterms:W3CDTF">2011-03-15T17:05:26Z</dcterms:created>
  <dcterms:modified xsi:type="dcterms:W3CDTF">2024-04-30T06:05:33Z</dcterms:modified>
</cp:coreProperties>
</file>