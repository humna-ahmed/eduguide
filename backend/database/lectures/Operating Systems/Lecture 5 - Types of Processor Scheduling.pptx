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741" r:id="rId2"/>
  </p:sldMasterIdLst>
  <p:notesMasterIdLst>
    <p:notesMasterId r:id="rId40"/>
  </p:notesMasterIdLst>
  <p:sldIdLst>
    <p:sldId id="256" r:id="rId3"/>
    <p:sldId id="341" r:id="rId4"/>
    <p:sldId id="257" r:id="rId5"/>
    <p:sldId id="314" r:id="rId6"/>
    <p:sldId id="342" r:id="rId7"/>
    <p:sldId id="259" r:id="rId8"/>
    <p:sldId id="319" r:id="rId9"/>
    <p:sldId id="262" r:id="rId10"/>
    <p:sldId id="266" r:id="rId11"/>
    <p:sldId id="268" r:id="rId12"/>
    <p:sldId id="349" r:id="rId13"/>
    <p:sldId id="322" r:id="rId14"/>
    <p:sldId id="273" r:id="rId15"/>
    <p:sldId id="274" r:id="rId16"/>
    <p:sldId id="325" r:id="rId17"/>
    <p:sldId id="345" r:id="rId18"/>
    <p:sldId id="328" r:id="rId19"/>
    <p:sldId id="283" r:id="rId20"/>
    <p:sldId id="288" r:id="rId21"/>
    <p:sldId id="346" r:id="rId22"/>
    <p:sldId id="295" r:id="rId23"/>
    <p:sldId id="334" r:id="rId24"/>
    <p:sldId id="335" r:id="rId25"/>
    <p:sldId id="296" r:id="rId26"/>
    <p:sldId id="337" r:id="rId27"/>
    <p:sldId id="300" r:id="rId28"/>
    <p:sldId id="301" r:id="rId29"/>
    <p:sldId id="338" r:id="rId30"/>
    <p:sldId id="302" r:id="rId31"/>
    <p:sldId id="303" r:id="rId32"/>
    <p:sldId id="339" r:id="rId33"/>
    <p:sldId id="285" r:id="rId34"/>
    <p:sldId id="304" r:id="rId35"/>
    <p:sldId id="305" r:id="rId36"/>
    <p:sldId id="308" r:id="rId37"/>
    <p:sldId id="315" r:id="rId38"/>
    <p:sldId id="373" r:id="rId3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72AC"/>
    <a:srgbClr val="12FF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752" autoAdjust="0"/>
  </p:normalViewPr>
  <p:slideViewPr>
    <p:cSldViewPr>
      <p:cViewPr varScale="1">
        <p:scale>
          <a:sx n="103" d="100"/>
          <a:sy n="103" d="100"/>
        </p:scale>
        <p:origin x="234" y="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diagrams/_rels/data13.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13.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1FDA6A-4F07-0D4F-9E88-CEFD73BAF888}"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BFC6470E-032A-F84D-85FF-98078ABB16B2}">
      <dgm:prSet phldrT="[Text]"/>
      <dgm:spPr>
        <a:solidFill>
          <a:schemeClr val="accent2">
            <a:lumMod val="50000"/>
          </a:schemeClr>
        </a:solidFill>
      </dgm:spPr>
      <dgm:t>
        <a:bodyPr/>
        <a:lstStyle/>
        <a:p>
          <a:r>
            <a:rPr lang="en-US" dirty="0"/>
            <a:t>Multiple Applications</a:t>
          </a:r>
        </a:p>
      </dgm:t>
    </dgm:pt>
    <dgm:pt modelId="{0DF5F4DB-3599-394B-8DEC-40045FF4D2B4}" type="parTrans" cxnId="{8F1AB073-8614-8748-95A0-7C02D69A32BC}">
      <dgm:prSet/>
      <dgm:spPr/>
      <dgm:t>
        <a:bodyPr/>
        <a:lstStyle/>
        <a:p>
          <a:endParaRPr lang="en-US"/>
        </a:p>
      </dgm:t>
    </dgm:pt>
    <dgm:pt modelId="{4C958A26-8472-AC4E-8BF1-DCB1B27963BD}" type="sibTrans" cxnId="{8F1AB073-8614-8748-95A0-7C02D69A32BC}">
      <dgm:prSet/>
      <dgm:spPr/>
      <dgm:t>
        <a:bodyPr/>
        <a:lstStyle/>
        <a:p>
          <a:endParaRPr lang="en-US"/>
        </a:p>
      </dgm:t>
    </dgm:pt>
    <dgm:pt modelId="{A8E6D635-1D7D-524E-A06B-F5F86CA22012}">
      <dgm:prSet/>
      <dgm:spPr>
        <a:solidFill>
          <a:schemeClr val="bg2">
            <a:lumMod val="90000"/>
          </a:schemeClr>
        </a:solidFill>
      </dgm:spPr>
      <dgm:t>
        <a:bodyPr/>
        <a:lstStyle/>
        <a:p>
          <a:r>
            <a:rPr lang="en-US" dirty="0"/>
            <a:t>invented to allow processing time to be shared among active applications</a:t>
          </a:r>
        </a:p>
      </dgm:t>
    </dgm:pt>
    <dgm:pt modelId="{AE745A19-2E44-B14F-A6F0-A7F0940FAC1D}" type="parTrans" cxnId="{99524BF5-776F-FB44-9770-B2A0A442391B}">
      <dgm:prSet/>
      <dgm:spPr/>
      <dgm:t>
        <a:bodyPr/>
        <a:lstStyle/>
        <a:p>
          <a:endParaRPr lang="en-US"/>
        </a:p>
      </dgm:t>
    </dgm:pt>
    <dgm:pt modelId="{C2A87A22-A733-4745-95AD-90C744BEE680}" type="sibTrans" cxnId="{99524BF5-776F-FB44-9770-B2A0A442391B}">
      <dgm:prSet/>
      <dgm:spPr/>
      <dgm:t>
        <a:bodyPr/>
        <a:lstStyle/>
        <a:p>
          <a:endParaRPr lang="en-US"/>
        </a:p>
      </dgm:t>
    </dgm:pt>
    <dgm:pt modelId="{101BCE59-3EBE-B841-B815-9A8E0791CF6A}">
      <dgm:prSet/>
      <dgm:spPr/>
      <dgm:t>
        <a:bodyPr/>
        <a:lstStyle/>
        <a:p>
          <a:r>
            <a:rPr lang="en-US" dirty="0"/>
            <a:t>Structured Applications</a:t>
          </a:r>
        </a:p>
      </dgm:t>
    </dgm:pt>
    <dgm:pt modelId="{7B67AA2E-CD68-CE46-8BB5-786CA4F33C89}" type="parTrans" cxnId="{6D4EBFFA-8E91-7347-9918-A170C1EB38EA}">
      <dgm:prSet/>
      <dgm:spPr/>
      <dgm:t>
        <a:bodyPr/>
        <a:lstStyle/>
        <a:p>
          <a:endParaRPr lang="en-US"/>
        </a:p>
      </dgm:t>
    </dgm:pt>
    <dgm:pt modelId="{2A6A3103-5EB4-1249-8961-7C35388B3012}" type="sibTrans" cxnId="{6D4EBFFA-8E91-7347-9918-A170C1EB38EA}">
      <dgm:prSet/>
      <dgm:spPr/>
      <dgm:t>
        <a:bodyPr/>
        <a:lstStyle/>
        <a:p>
          <a:endParaRPr lang="en-US"/>
        </a:p>
      </dgm:t>
    </dgm:pt>
    <dgm:pt modelId="{6B0517C7-4E5A-694D-BE55-A47A8D05B1A2}">
      <dgm:prSet/>
      <dgm:spPr/>
      <dgm:t>
        <a:bodyPr/>
        <a:lstStyle/>
        <a:p>
          <a:r>
            <a:rPr lang="en-US" dirty="0"/>
            <a:t>extension of modular design and structured programming</a:t>
          </a:r>
        </a:p>
      </dgm:t>
    </dgm:pt>
    <dgm:pt modelId="{1BDD9158-04C7-A04C-9834-4F8C598C9F8C}" type="parTrans" cxnId="{AE1FDE51-D7D0-494D-8E85-DA6BD81D282C}">
      <dgm:prSet/>
      <dgm:spPr/>
      <dgm:t>
        <a:bodyPr/>
        <a:lstStyle/>
        <a:p>
          <a:endParaRPr lang="en-US"/>
        </a:p>
      </dgm:t>
    </dgm:pt>
    <dgm:pt modelId="{8C867362-BBC6-D547-8E8E-0EAE24DE45FE}" type="sibTrans" cxnId="{AE1FDE51-D7D0-494D-8E85-DA6BD81D282C}">
      <dgm:prSet/>
      <dgm:spPr/>
      <dgm:t>
        <a:bodyPr/>
        <a:lstStyle/>
        <a:p>
          <a:endParaRPr lang="en-US"/>
        </a:p>
      </dgm:t>
    </dgm:pt>
    <dgm:pt modelId="{5FAB8150-C3BB-FD4D-838A-B912D10D3CE8}">
      <dgm:prSet/>
      <dgm:spPr>
        <a:solidFill>
          <a:schemeClr val="accent3">
            <a:lumMod val="50000"/>
          </a:schemeClr>
        </a:solidFill>
      </dgm:spPr>
      <dgm:t>
        <a:bodyPr/>
        <a:lstStyle/>
        <a:p>
          <a:r>
            <a:rPr lang="en-US" dirty="0"/>
            <a:t>Operating System Structure</a:t>
          </a:r>
        </a:p>
      </dgm:t>
    </dgm:pt>
    <dgm:pt modelId="{600AF336-F8E9-6543-94BB-0D6E3454A890}" type="parTrans" cxnId="{AD636FF0-82DD-B548-BFDE-C8DB9DE30B19}">
      <dgm:prSet/>
      <dgm:spPr/>
      <dgm:t>
        <a:bodyPr/>
        <a:lstStyle/>
        <a:p>
          <a:endParaRPr lang="en-US"/>
        </a:p>
      </dgm:t>
    </dgm:pt>
    <dgm:pt modelId="{8F8AF4AB-B239-2E41-88A8-A6EA1F65E3C9}" type="sibTrans" cxnId="{AD636FF0-82DD-B548-BFDE-C8DB9DE30B19}">
      <dgm:prSet/>
      <dgm:spPr/>
      <dgm:t>
        <a:bodyPr/>
        <a:lstStyle/>
        <a:p>
          <a:endParaRPr lang="en-US"/>
        </a:p>
      </dgm:t>
    </dgm:pt>
    <dgm:pt modelId="{E0B92144-1042-744C-8313-F0BD2A4A42B1}">
      <dgm:prSet/>
      <dgm:spPr>
        <a:solidFill>
          <a:schemeClr val="accent3">
            <a:lumMod val="60000"/>
            <a:lumOff val="40000"/>
          </a:schemeClr>
        </a:solidFill>
      </dgm:spPr>
      <dgm:t>
        <a:bodyPr/>
        <a:lstStyle/>
        <a:p>
          <a:r>
            <a:rPr lang="en-US" dirty="0"/>
            <a:t>OS themselves implemented as a set of processes or threads</a:t>
          </a:r>
        </a:p>
      </dgm:t>
    </dgm:pt>
    <dgm:pt modelId="{1BD55ACB-0822-CD4F-B885-3FAB9ECA0FC6}" type="parTrans" cxnId="{414C026E-6C4B-1D49-9C54-D63E3828FD6C}">
      <dgm:prSet/>
      <dgm:spPr/>
      <dgm:t>
        <a:bodyPr/>
        <a:lstStyle/>
        <a:p>
          <a:endParaRPr lang="en-US"/>
        </a:p>
      </dgm:t>
    </dgm:pt>
    <dgm:pt modelId="{E0BB673D-7DE6-A541-9C19-4590F9C7CA05}" type="sibTrans" cxnId="{414C026E-6C4B-1D49-9C54-D63E3828FD6C}">
      <dgm:prSet/>
      <dgm:spPr/>
      <dgm:t>
        <a:bodyPr/>
        <a:lstStyle/>
        <a:p>
          <a:endParaRPr lang="en-US"/>
        </a:p>
      </dgm:t>
    </dgm:pt>
    <dgm:pt modelId="{B5DE52A4-5BAD-234E-8324-7F48BEFAEE24}" type="pres">
      <dgm:prSet presAssocID="{F21FDA6A-4F07-0D4F-9E88-CEFD73BAF888}" presName="diagram" presStyleCnt="0">
        <dgm:presLayoutVars>
          <dgm:chPref val="1"/>
          <dgm:dir/>
          <dgm:animOne val="branch"/>
          <dgm:animLvl val="lvl"/>
          <dgm:resizeHandles/>
        </dgm:presLayoutVars>
      </dgm:prSet>
      <dgm:spPr/>
    </dgm:pt>
    <dgm:pt modelId="{DD23D278-35B8-8141-B585-6DF97FD3ABBC}" type="pres">
      <dgm:prSet presAssocID="{BFC6470E-032A-F84D-85FF-98078ABB16B2}" presName="root" presStyleCnt="0"/>
      <dgm:spPr/>
    </dgm:pt>
    <dgm:pt modelId="{1C83C965-C16C-3548-8351-41D1CA562A67}" type="pres">
      <dgm:prSet presAssocID="{BFC6470E-032A-F84D-85FF-98078ABB16B2}" presName="rootComposite" presStyleCnt="0"/>
      <dgm:spPr/>
    </dgm:pt>
    <dgm:pt modelId="{F3BF7410-2C70-2A4A-9A15-E018E4826824}" type="pres">
      <dgm:prSet presAssocID="{BFC6470E-032A-F84D-85FF-98078ABB16B2}" presName="rootText" presStyleLbl="node1" presStyleIdx="0" presStyleCnt="3" custLinFactNeighborX="-92" custLinFactNeighborY="-45175"/>
      <dgm:spPr/>
    </dgm:pt>
    <dgm:pt modelId="{917ED4E3-2D56-4142-91BF-44FAE2150179}" type="pres">
      <dgm:prSet presAssocID="{BFC6470E-032A-F84D-85FF-98078ABB16B2}" presName="rootConnector" presStyleLbl="node1" presStyleIdx="0" presStyleCnt="3"/>
      <dgm:spPr/>
    </dgm:pt>
    <dgm:pt modelId="{D9E5D99C-A7D6-8742-A8EB-A4B056F0C6F6}" type="pres">
      <dgm:prSet presAssocID="{BFC6470E-032A-F84D-85FF-98078ABB16B2}" presName="childShape" presStyleCnt="0"/>
      <dgm:spPr/>
    </dgm:pt>
    <dgm:pt modelId="{88849F20-B33C-5C44-AFB9-0C414FE0E452}" type="pres">
      <dgm:prSet presAssocID="{AE745A19-2E44-B14F-A6F0-A7F0940FAC1D}" presName="Name13" presStyleLbl="parChTrans1D2" presStyleIdx="0" presStyleCnt="3"/>
      <dgm:spPr/>
    </dgm:pt>
    <dgm:pt modelId="{F1F4C278-EA79-A24A-BF1A-FFED1F757D29}" type="pres">
      <dgm:prSet presAssocID="{A8E6D635-1D7D-524E-A06B-F5F86CA22012}" presName="childText" presStyleLbl="bgAcc1" presStyleIdx="0" presStyleCnt="3" custScaleX="122365" custScaleY="126005" custLinFactNeighborX="-3780" custLinFactNeighborY="-54114">
        <dgm:presLayoutVars>
          <dgm:bulletEnabled val="1"/>
        </dgm:presLayoutVars>
      </dgm:prSet>
      <dgm:spPr/>
    </dgm:pt>
    <dgm:pt modelId="{04B6ABB0-5684-9B41-AC06-074DBD12A824}" type="pres">
      <dgm:prSet presAssocID="{101BCE59-3EBE-B841-B815-9A8E0791CF6A}" presName="root" presStyleCnt="0"/>
      <dgm:spPr/>
    </dgm:pt>
    <dgm:pt modelId="{2BAC21F6-10BA-E541-AB1A-6999144904FD}" type="pres">
      <dgm:prSet presAssocID="{101BCE59-3EBE-B841-B815-9A8E0791CF6A}" presName="rootComposite" presStyleCnt="0"/>
      <dgm:spPr/>
    </dgm:pt>
    <dgm:pt modelId="{0CE5ACD9-A885-F943-8BFF-063CFB705DFD}" type="pres">
      <dgm:prSet presAssocID="{101BCE59-3EBE-B841-B815-9A8E0791CF6A}" presName="rootText" presStyleLbl="node1" presStyleIdx="1" presStyleCnt="3"/>
      <dgm:spPr/>
    </dgm:pt>
    <dgm:pt modelId="{17B0E10E-D838-344A-8744-4EA0AE3512AA}" type="pres">
      <dgm:prSet presAssocID="{101BCE59-3EBE-B841-B815-9A8E0791CF6A}" presName="rootConnector" presStyleLbl="node1" presStyleIdx="1" presStyleCnt="3"/>
      <dgm:spPr/>
    </dgm:pt>
    <dgm:pt modelId="{5E86E13D-FCEC-B94D-B07C-E1FF54F44E87}" type="pres">
      <dgm:prSet presAssocID="{101BCE59-3EBE-B841-B815-9A8E0791CF6A}" presName="childShape" presStyleCnt="0"/>
      <dgm:spPr/>
    </dgm:pt>
    <dgm:pt modelId="{1ED9D157-9E28-F645-9843-B974AEE688A5}" type="pres">
      <dgm:prSet presAssocID="{1BDD9158-04C7-A04C-9834-4F8C598C9F8C}" presName="Name13" presStyleLbl="parChTrans1D2" presStyleIdx="1" presStyleCnt="3"/>
      <dgm:spPr/>
    </dgm:pt>
    <dgm:pt modelId="{B3885876-BC01-CE40-B4AF-B8DD35B11E00}" type="pres">
      <dgm:prSet presAssocID="{6B0517C7-4E5A-694D-BE55-A47A8D05B1A2}" presName="childText" presStyleLbl="bgAcc1" presStyleIdx="1" presStyleCnt="3" custScaleX="115365" custScaleY="125588">
        <dgm:presLayoutVars>
          <dgm:bulletEnabled val="1"/>
        </dgm:presLayoutVars>
      </dgm:prSet>
      <dgm:spPr/>
    </dgm:pt>
    <dgm:pt modelId="{A2D3D08C-D2D1-A448-83B1-6F15B7FC0563}" type="pres">
      <dgm:prSet presAssocID="{5FAB8150-C3BB-FD4D-838A-B912D10D3CE8}" presName="root" presStyleCnt="0"/>
      <dgm:spPr/>
    </dgm:pt>
    <dgm:pt modelId="{5250BEDC-3E31-9148-80D0-A3299449B34B}" type="pres">
      <dgm:prSet presAssocID="{5FAB8150-C3BB-FD4D-838A-B912D10D3CE8}" presName="rootComposite" presStyleCnt="0"/>
      <dgm:spPr/>
    </dgm:pt>
    <dgm:pt modelId="{AB58CB0B-9A79-FB46-B44A-123C202FA944}" type="pres">
      <dgm:prSet presAssocID="{5FAB8150-C3BB-FD4D-838A-B912D10D3CE8}" presName="rootText" presStyleLbl="node1" presStyleIdx="2" presStyleCnt="3" custLinFactNeighborX="9339" custLinFactNeighborY="50404"/>
      <dgm:spPr/>
    </dgm:pt>
    <dgm:pt modelId="{78630B86-8B91-0740-B5D3-E4F93B9FD356}" type="pres">
      <dgm:prSet presAssocID="{5FAB8150-C3BB-FD4D-838A-B912D10D3CE8}" presName="rootConnector" presStyleLbl="node1" presStyleIdx="2" presStyleCnt="3"/>
      <dgm:spPr/>
    </dgm:pt>
    <dgm:pt modelId="{1F579191-683E-C643-BEEA-8D725679033E}" type="pres">
      <dgm:prSet presAssocID="{5FAB8150-C3BB-FD4D-838A-B912D10D3CE8}" presName="childShape" presStyleCnt="0"/>
      <dgm:spPr/>
    </dgm:pt>
    <dgm:pt modelId="{43D5D9E6-EF4D-F346-B286-0A0EDC9D6387}" type="pres">
      <dgm:prSet presAssocID="{1BD55ACB-0822-CD4F-B885-3FAB9ECA0FC6}" presName="Name13" presStyleLbl="parChTrans1D2" presStyleIdx="2" presStyleCnt="3"/>
      <dgm:spPr/>
    </dgm:pt>
    <dgm:pt modelId="{B128BA17-BE6B-384D-BBE0-54B7B122AB84}" type="pres">
      <dgm:prSet presAssocID="{E0B92144-1042-744C-8313-F0BD2A4A42B1}" presName="childText" presStyleLbl="bgAcc1" presStyleIdx="2" presStyleCnt="3" custScaleX="114568" custScaleY="125588" custLinFactNeighborX="3742" custLinFactNeighborY="75601">
        <dgm:presLayoutVars>
          <dgm:bulletEnabled val="1"/>
        </dgm:presLayoutVars>
      </dgm:prSet>
      <dgm:spPr/>
    </dgm:pt>
  </dgm:ptLst>
  <dgm:cxnLst>
    <dgm:cxn modelId="{2C353223-79A8-4048-843D-D11B580B218A}" type="presOf" srcId="{AE745A19-2E44-B14F-A6F0-A7F0940FAC1D}" destId="{88849F20-B33C-5C44-AFB9-0C414FE0E452}" srcOrd="0" destOrd="0" presId="urn:microsoft.com/office/officeart/2005/8/layout/hierarchy3"/>
    <dgm:cxn modelId="{79544F30-91FE-6540-963A-48C0C4C207C2}" type="presOf" srcId="{BFC6470E-032A-F84D-85FF-98078ABB16B2}" destId="{917ED4E3-2D56-4142-91BF-44FAE2150179}" srcOrd="1" destOrd="0" presId="urn:microsoft.com/office/officeart/2005/8/layout/hierarchy3"/>
    <dgm:cxn modelId="{555FA13A-24F3-8F4F-B849-59DB1F1139EC}" type="presOf" srcId="{5FAB8150-C3BB-FD4D-838A-B912D10D3CE8}" destId="{AB58CB0B-9A79-FB46-B44A-123C202FA944}" srcOrd="0" destOrd="0" presId="urn:microsoft.com/office/officeart/2005/8/layout/hierarchy3"/>
    <dgm:cxn modelId="{8EAAD73B-4850-794F-99A3-D038084FE9F1}" type="presOf" srcId="{1BDD9158-04C7-A04C-9834-4F8C598C9F8C}" destId="{1ED9D157-9E28-F645-9843-B974AEE688A5}" srcOrd="0" destOrd="0" presId="urn:microsoft.com/office/officeart/2005/8/layout/hierarchy3"/>
    <dgm:cxn modelId="{00183B65-3455-1C4B-AB78-9C43F5814F0F}" type="presOf" srcId="{101BCE59-3EBE-B841-B815-9A8E0791CF6A}" destId="{0CE5ACD9-A885-F943-8BFF-063CFB705DFD}" srcOrd="0" destOrd="0" presId="urn:microsoft.com/office/officeart/2005/8/layout/hierarchy3"/>
    <dgm:cxn modelId="{BE92F149-DF08-2C45-B264-2F737E3ECBC0}" type="presOf" srcId="{E0B92144-1042-744C-8313-F0BD2A4A42B1}" destId="{B128BA17-BE6B-384D-BBE0-54B7B122AB84}" srcOrd="0" destOrd="0" presId="urn:microsoft.com/office/officeart/2005/8/layout/hierarchy3"/>
    <dgm:cxn modelId="{414C026E-6C4B-1D49-9C54-D63E3828FD6C}" srcId="{5FAB8150-C3BB-FD4D-838A-B912D10D3CE8}" destId="{E0B92144-1042-744C-8313-F0BD2A4A42B1}" srcOrd="0" destOrd="0" parTransId="{1BD55ACB-0822-CD4F-B885-3FAB9ECA0FC6}" sibTransId="{E0BB673D-7DE6-A541-9C19-4590F9C7CA05}"/>
    <dgm:cxn modelId="{AE1FDE51-D7D0-494D-8E85-DA6BD81D282C}" srcId="{101BCE59-3EBE-B841-B815-9A8E0791CF6A}" destId="{6B0517C7-4E5A-694D-BE55-A47A8D05B1A2}" srcOrd="0" destOrd="0" parTransId="{1BDD9158-04C7-A04C-9834-4F8C598C9F8C}" sibTransId="{8C867362-BBC6-D547-8E8E-0EAE24DE45FE}"/>
    <dgm:cxn modelId="{8F1AB073-8614-8748-95A0-7C02D69A32BC}" srcId="{F21FDA6A-4F07-0D4F-9E88-CEFD73BAF888}" destId="{BFC6470E-032A-F84D-85FF-98078ABB16B2}" srcOrd="0" destOrd="0" parTransId="{0DF5F4DB-3599-394B-8DEC-40045FF4D2B4}" sibTransId="{4C958A26-8472-AC4E-8BF1-DCB1B27963BD}"/>
    <dgm:cxn modelId="{D6308392-C645-B940-8BC0-E172A003E1D6}" type="presOf" srcId="{1BD55ACB-0822-CD4F-B885-3FAB9ECA0FC6}" destId="{43D5D9E6-EF4D-F346-B286-0A0EDC9D6387}" srcOrd="0" destOrd="0" presId="urn:microsoft.com/office/officeart/2005/8/layout/hierarchy3"/>
    <dgm:cxn modelId="{A316DFD6-8C1B-0E4D-B392-D82C3BB008BA}" type="presOf" srcId="{F21FDA6A-4F07-0D4F-9E88-CEFD73BAF888}" destId="{B5DE52A4-5BAD-234E-8324-7F48BEFAEE24}" srcOrd="0" destOrd="0" presId="urn:microsoft.com/office/officeart/2005/8/layout/hierarchy3"/>
    <dgm:cxn modelId="{02A1A6D8-497B-5F46-845E-4E31C391FF21}" type="presOf" srcId="{101BCE59-3EBE-B841-B815-9A8E0791CF6A}" destId="{17B0E10E-D838-344A-8744-4EA0AE3512AA}" srcOrd="1" destOrd="0" presId="urn:microsoft.com/office/officeart/2005/8/layout/hierarchy3"/>
    <dgm:cxn modelId="{5CD410DC-27A7-3C46-BBDC-FC83CFF259D4}" type="presOf" srcId="{BFC6470E-032A-F84D-85FF-98078ABB16B2}" destId="{F3BF7410-2C70-2A4A-9A15-E018E4826824}" srcOrd="0" destOrd="0" presId="urn:microsoft.com/office/officeart/2005/8/layout/hierarchy3"/>
    <dgm:cxn modelId="{E51684DE-6023-D24A-B2D6-38ED9FF252F8}" type="presOf" srcId="{6B0517C7-4E5A-694D-BE55-A47A8D05B1A2}" destId="{B3885876-BC01-CE40-B4AF-B8DD35B11E00}" srcOrd="0" destOrd="0" presId="urn:microsoft.com/office/officeart/2005/8/layout/hierarchy3"/>
    <dgm:cxn modelId="{FBF23DDF-8802-F848-981A-C31E08276E39}" type="presOf" srcId="{5FAB8150-C3BB-FD4D-838A-B912D10D3CE8}" destId="{78630B86-8B91-0740-B5D3-E4F93B9FD356}" srcOrd="1" destOrd="0" presId="urn:microsoft.com/office/officeart/2005/8/layout/hierarchy3"/>
    <dgm:cxn modelId="{7FD7E0E5-4B46-3D4A-92C1-8325B89D02F3}" type="presOf" srcId="{A8E6D635-1D7D-524E-A06B-F5F86CA22012}" destId="{F1F4C278-EA79-A24A-BF1A-FFED1F757D29}" srcOrd="0" destOrd="0" presId="urn:microsoft.com/office/officeart/2005/8/layout/hierarchy3"/>
    <dgm:cxn modelId="{AD636FF0-82DD-B548-BFDE-C8DB9DE30B19}" srcId="{F21FDA6A-4F07-0D4F-9E88-CEFD73BAF888}" destId="{5FAB8150-C3BB-FD4D-838A-B912D10D3CE8}" srcOrd="2" destOrd="0" parTransId="{600AF336-F8E9-6543-94BB-0D6E3454A890}" sibTransId="{8F8AF4AB-B239-2E41-88A8-A6EA1F65E3C9}"/>
    <dgm:cxn modelId="{99524BF5-776F-FB44-9770-B2A0A442391B}" srcId="{BFC6470E-032A-F84D-85FF-98078ABB16B2}" destId="{A8E6D635-1D7D-524E-A06B-F5F86CA22012}" srcOrd="0" destOrd="0" parTransId="{AE745A19-2E44-B14F-A6F0-A7F0940FAC1D}" sibTransId="{C2A87A22-A733-4745-95AD-90C744BEE680}"/>
    <dgm:cxn modelId="{6D4EBFFA-8E91-7347-9918-A170C1EB38EA}" srcId="{F21FDA6A-4F07-0D4F-9E88-CEFD73BAF888}" destId="{101BCE59-3EBE-B841-B815-9A8E0791CF6A}" srcOrd="1" destOrd="0" parTransId="{7B67AA2E-CD68-CE46-8BB5-786CA4F33C89}" sibTransId="{2A6A3103-5EB4-1249-8961-7C35388B3012}"/>
    <dgm:cxn modelId="{BB9E5AEA-B02F-314F-8604-CB02B2002F4E}" type="presParOf" srcId="{B5DE52A4-5BAD-234E-8324-7F48BEFAEE24}" destId="{DD23D278-35B8-8141-B585-6DF97FD3ABBC}" srcOrd="0" destOrd="0" presId="urn:microsoft.com/office/officeart/2005/8/layout/hierarchy3"/>
    <dgm:cxn modelId="{5CD7251B-FB68-6D4E-9A22-9EF2C043DC1E}" type="presParOf" srcId="{DD23D278-35B8-8141-B585-6DF97FD3ABBC}" destId="{1C83C965-C16C-3548-8351-41D1CA562A67}" srcOrd="0" destOrd="0" presId="urn:microsoft.com/office/officeart/2005/8/layout/hierarchy3"/>
    <dgm:cxn modelId="{AA82605E-793D-E24A-BB55-AF12BBA30515}" type="presParOf" srcId="{1C83C965-C16C-3548-8351-41D1CA562A67}" destId="{F3BF7410-2C70-2A4A-9A15-E018E4826824}" srcOrd="0" destOrd="0" presId="urn:microsoft.com/office/officeart/2005/8/layout/hierarchy3"/>
    <dgm:cxn modelId="{420630D0-37BB-454B-AAAA-8AEF04F52B15}" type="presParOf" srcId="{1C83C965-C16C-3548-8351-41D1CA562A67}" destId="{917ED4E3-2D56-4142-91BF-44FAE2150179}" srcOrd="1" destOrd="0" presId="urn:microsoft.com/office/officeart/2005/8/layout/hierarchy3"/>
    <dgm:cxn modelId="{01FEE1A9-F647-4943-A513-A77D54E38FD0}" type="presParOf" srcId="{DD23D278-35B8-8141-B585-6DF97FD3ABBC}" destId="{D9E5D99C-A7D6-8742-A8EB-A4B056F0C6F6}" srcOrd="1" destOrd="0" presId="urn:microsoft.com/office/officeart/2005/8/layout/hierarchy3"/>
    <dgm:cxn modelId="{BC3B821A-5F84-4346-BE56-27F73028B297}" type="presParOf" srcId="{D9E5D99C-A7D6-8742-A8EB-A4B056F0C6F6}" destId="{88849F20-B33C-5C44-AFB9-0C414FE0E452}" srcOrd="0" destOrd="0" presId="urn:microsoft.com/office/officeart/2005/8/layout/hierarchy3"/>
    <dgm:cxn modelId="{EF2DC71B-1647-4B46-93AC-D7DF3F240676}" type="presParOf" srcId="{D9E5D99C-A7D6-8742-A8EB-A4B056F0C6F6}" destId="{F1F4C278-EA79-A24A-BF1A-FFED1F757D29}" srcOrd="1" destOrd="0" presId="urn:microsoft.com/office/officeart/2005/8/layout/hierarchy3"/>
    <dgm:cxn modelId="{7B16C29F-1B22-514F-8C15-DF72E600B424}" type="presParOf" srcId="{B5DE52A4-5BAD-234E-8324-7F48BEFAEE24}" destId="{04B6ABB0-5684-9B41-AC06-074DBD12A824}" srcOrd="1" destOrd="0" presId="urn:microsoft.com/office/officeart/2005/8/layout/hierarchy3"/>
    <dgm:cxn modelId="{C006FFC2-A181-DB40-8140-B1D6778C8542}" type="presParOf" srcId="{04B6ABB0-5684-9B41-AC06-074DBD12A824}" destId="{2BAC21F6-10BA-E541-AB1A-6999144904FD}" srcOrd="0" destOrd="0" presId="urn:microsoft.com/office/officeart/2005/8/layout/hierarchy3"/>
    <dgm:cxn modelId="{EA45BC06-116C-A449-9A17-38B3249EDEE8}" type="presParOf" srcId="{2BAC21F6-10BA-E541-AB1A-6999144904FD}" destId="{0CE5ACD9-A885-F943-8BFF-063CFB705DFD}" srcOrd="0" destOrd="0" presId="urn:microsoft.com/office/officeart/2005/8/layout/hierarchy3"/>
    <dgm:cxn modelId="{550F9AD3-D2AD-0D42-945D-3CC86FD45882}" type="presParOf" srcId="{2BAC21F6-10BA-E541-AB1A-6999144904FD}" destId="{17B0E10E-D838-344A-8744-4EA0AE3512AA}" srcOrd="1" destOrd="0" presId="urn:microsoft.com/office/officeart/2005/8/layout/hierarchy3"/>
    <dgm:cxn modelId="{B5E4A181-1CF5-C94D-BDE0-378E9209B7D9}" type="presParOf" srcId="{04B6ABB0-5684-9B41-AC06-074DBD12A824}" destId="{5E86E13D-FCEC-B94D-B07C-E1FF54F44E87}" srcOrd="1" destOrd="0" presId="urn:microsoft.com/office/officeart/2005/8/layout/hierarchy3"/>
    <dgm:cxn modelId="{4976AC4D-4EBB-DC4B-B6C2-3DB59280ACC8}" type="presParOf" srcId="{5E86E13D-FCEC-B94D-B07C-E1FF54F44E87}" destId="{1ED9D157-9E28-F645-9843-B974AEE688A5}" srcOrd="0" destOrd="0" presId="urn:microsoft.com/office/officeart/2005/8/layout/hierarchy3"/>
    <dgm:cxn modelId="{C595A8F3-CBE7-2645-BAF1-6B73FF7A8AC9}" type="presParOf" srcId="{5E86E13D-FCEC-B94D-B07C-E1FF54F44E87}" destId="{B3885876-BC01-CE40-B4AF-B8DD35B11E00}" srcOrd="1" destOrd="0" presId="urn:microsoft.com/office/officeart/2005/8/layout/hierarchy3"/>
    <dgm:cxn modelId="{799A177A-E0CD-7E47-9A90-3E9D09CED1DF}" type="presParOf" srcId="{B5DE52A4-5BAD-234E-8324-7F48BEFAEE24}" destId="{A2D3D08C-D2D1-A448-83B1-6F15B7FC0563}" srcOrd="2" destOrd="0" presId="urn:microsoft.com/office/officeart/2005/8/layout/hierarchy3"/>
    <dgm:cxn modelId="{EA40818F-7069-3845-B5A1-29F978AC5F87}" type="presParOf" srcId="{A2D3D08C-D2D1-A448-83B1-6F15B7FC0563}" destId="{5250BEDC-3E31-9148-80D0-A3299449B34B}" srcOrd="0" destOrd="0" presId="urn:microsoft.com/office/officeart/2005/8/layout/hierarchy3"/>
    <dgm:cxn modelId="{ECDC5478-50C3-DA4C-8CFD-7EA96949E73D}" type="presParOf" srcId="{5250BEDC-3E31-9148-80D0-A3299449B34B}" destId="{AB58CB0B-9A79-FB46-B44A-123C202FA944}" srcOrd="0" destOrd="0" presId="urn:microsoft.com/office/officeart/2005/8/layout/hierarchy3"/>
    <dgm:cxn modelId="{5ACB4753-CD3D-C346-9AB8-9D8BA80E9086}" type="presParOf" srcId="{5250BEDC-3E31-9148-80D0-A3299449B34B}" destId="{78630B86-8B91-0740-B5D3-E4F93B9FD356}" srcOrd="1" destOrd="0" presId="urn:microsoft.com/office/officeart/2005/8/layout/hierarchy3"/>
    <dgm:cxn modelId="{A2AF9BC7-BC1B-214F-816D-C16C7FFA053E}" type="presParOf" srcId="{A2D3D08C-D2D1-A448-83B1-6F15B7FC0563}" destId="{1F579191-683E-C643-BEEA-8D725679033E}" srcOrd="1" destOrd="0" presId="urn:microsoft.com/office/officeart/2005/8/layout/hierarchy3"/>
    <dgm:cxn modelId="{2BC64B4B-C1F6-A149-8C25-BBDB4F37413E}" type="presParOf" srcId="{1F579191-683E-C643-BEEA-8D725679033E}" destId="{43D5D9E6-EF4D-F346-B286-0A0EDC9D6387}" srcOrd="0" destOrd="0" presId="urn:microsoft.com/office/officeart/2005/8/layout/hierarchy3"/>
    <dgm:cxn modelId="{6159871C-1065-CB4D-8F9C-53B65C2C90D2}" type="presParOf" srcId="{1F579191-683E-C643-BEEA-8D725679033E}" destId="{B128BA17-BE6B-384D-BBE0-54B7B122AB84}"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EBB349-1C6E-AB42-964D-E302A863F1A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334DF60F-7AF4-E14B-822F-13AF290D7C94}">
      <dgm:prSet phldrT="[Text]" custT="1"/>
      <dgm:spPr>
        <a:solidFill>
          <a:schemeClr val="accent3">
            <a:lumMod val="50000"/>
          </a:schemeClr>
        </a:solidFill>
      </dgm:spPr>
      <dgm:t>
        <a:bodyPr/>
        <a:lstStyle/>
        <a:p>
          <a:r>
            <a:rPr lang="en-US" sz="2800" dirty="0"/>
            <a:t>In the case of competing processes three control problems must be faced:</a:t>
          </a:r>
        </a:p>
      </dgm:t>
    </dgm:pt>
    <dgm:pt modelId="{F2640CAD-5CA2-AB47-BF2D-556487A3D6EF}" type="parTrans" cxnId="{7FAB8EF7-49E7-324E-B503-DB59F939025A}">
      <dgm:prSet/>
      <dgm:spPr/>
      <dgm:t>
        <a:bodyPr/>
        <a:lstStyle/>
        <a:p>
          <a:endParaRPr lang="en-US"/>
        </a:p>
      </dgm:t>
    </dgm:pt>
    <dgm:pt modelId="{4A26F1EA-DA28-7343-A310-D6271B17FFFB}" type="sibTrans" cxnId="{7FAB8EF7-49E7-324E-B503-DB59F939025A}">
      <dgm:prSet/>
      <dgm:spPr/>
      <dgm:t>
        <a:bodyPr/>
        <a:lstStyle/>
        <a:p>
          <a:endParaRPr lang="en-US"/>
        </a:p>
      </dgm:t>
    </dgm:pt>
    <dgm:pt modelId="{0D2240C2-9D46-9C46-B005-62FBD4EEB584}">
      <dgm:prSet custT="1"/>
      <dgm:spPr/>
      <dgm:t>
        <a:bodyPr/>
        <a:lstStyle/>
        <a:p>
          <a:pPr marL="514350" indent="744538"/>
          <a:r>
            <a:rPr lang="en-US" sz="2800" b="1" i="0" dirty="0">
              <a:solidFill>
                <a:schemeClr val="accent3">
                  <a:lumMod val="50000"/>
                </a:schemeClr>
              </a:solidFill>
            </a:rPr>
            <a:t>   the need for mutual exclusion</a:t>
          </a:r>
        </a:p>
      </dgm:t>
    </dgm:pt>
    <dgm:pt modelId="{FBDDEDFD-3030-AB44-88DE-176637FDD5A7}" type="parTrans" cxnId="{60BEBF36-3A51-B144-919C-DA52FF8AFCC4}">
      <dgm:prSet/>
      <dgm:spPr/>
      <dgm:t>
        <a:bodyPr/>
        <a:lstStyle/>
        <a:p>
          <a:endParaRPr lang="en-US"/>
        </a:p>
      </dgm:t>
    </dgm:pt>
    <dgm:pt modelId="{F3B83CE3-4E31-7845-8F4B-769ACCEE3638}" type="sibTrans" cxnId="{60BEBF36-3A51-B144-919C-DA52FF8AFCC4}">
      <dgm:prSet/>
      <dgm:spPr/>
      <dgm:t>
        <a:bodyPr/>
        <a:lstStyle/>
        <a:p>
          <a:endParaRPr lang="en-US"/>
        </a:p>
      </dgm:t>
    </dgm:pt>
    <dgm:pt modelId="{2960AF8C-6A3F-C34D-98C9-F2DC75E3787E}">
      <dgm:prSet custT="1"/>
      <dgm:spPr/>
      <dgm:t>
        <a:bodyPr/>
        <a:lstStyle/>
        <a:p>
          <a:pPr marL="514350" indent="744538"/>
          <a:r>
            <a:rPr lang="en-US" sz="2800" b="1" i="0" dirty="0">
              <a:solidFill>
                <a:schemeClr val="accent3">
                  <a:lumMod val="50000"/>
                </a:schemeClr>
              </a:solidFill>
            </a:rPr>
            <a:t>   deadlock</a:t>
          </a:r>
        </a:p>
      </dgm:t>
    </dgm:pt>
    <dgm:pt modelId="{05D2211E-03AD-5646-B6FB-F39429B8F08F}" type="parTrans" cxnId="{E5C19968-3C7B-2E4B-803A-6E68ACB8F0A2}">
      <dgm:prSet/>
      <dgm:spPr/>
      <dgm:t>
        <a:bodyPr/>
        <a:lstStyle/>
        <a:p>
          <a:endParaRPr lang="en-US"/>
        </a:p>
      </dgm:t>
    </dgm:pt>
    <dgm:pt modelId="{87431F10-E457-9041-855F-41BE96F289AE}" type="sibTrans" cxnId="{E5C19968-3C7B-2E4B-803A-6E68ACB8F0A2}">
      <dgm:prSet/>
      <dgm:spPr/>
      <dgm:t>
        <a:bodyPr/>
        <a:lstStyle/>
        <a:p>
          <a:endParaRPr lang="en-US"/>
        </a:p>
      </dgm:t>
    </dgm:pt>
    <dgm:pt modelId="{39BBB76B-4452-7142-899E-4C71C1B30263}">
      <dgm:prSet custT="1"/>
      <dgm:spPr/>
      <dgm:t>
        <a:bodyPr/>
        <a:lstStyle/>
        <a:p>
          <a:pPr marL="685800" indent="573088"/>
          <a:r>
            <a:rPr lang="en-US" sz="2800" b="1" i="0" dirty="0">
              <a:solidFill>
                <a:schemeClr val="accent3">
                  <a:lumMod val="50000"/>
                </a:schemeClr>
              </a:solidFill>
            </a:rPr>
            <a:t>   starvation</a:t>
          </a:r>
        </a:p>
      </dgm:t>
    </dgm:pt>
    <dgm:pt modelId="{83A2A532-6B15-D34E-9D27-177F3CD0B28A}" type="parTrans" cxnId="{0A055BE5-70F5-A941-B7C0-7347B96A1EDC}">
      <dgm:prSet/>
      <dgm:spPr/>
      <dgm:t>
        <a:bodyPr/>
        <a:lstStyle/>
        <a:p>
          <a:endParaRPr lang="en-US"/>
        </a:p>
      </dgm:t>
    </dgm:pt>
    <dgm:pt modelId="{4F5D3F76-DC7C-C84B-B8CC-5439A1F6373A}" type="sibTrans" cxnId="{0A055BE5-70F5-A941-B7C0-7347B96A1EDC}">
      <dgm:prSet/>
      <dgm:spPr/>
      <dgm:t>
        <a:bodyPr/>
        <a:lstStyle/>
        <a:p>
          <a:endParaRPr lang="en-US"/>
        </a:p>
      </dgm:t>
    </dgm:pt>
    <dgm:pt modelId="{47278DBD-5FCD-1D40-9839-A095DDABA5C3}">
      <dgm:prSet/>
      <dgm:spPr/>
      <dgm:t>
        <a:bodyPr/>
        <a:lstStyle/>
        <a:p>
          <a:pPr marL="171450" indent="0"/>
          <a:endParaRPr lang="en-US" sz="1600" dirty="0"/>
        </a:p>
      </dgm:t>
    </dgm:pt>
    <dgm:pt modelId="{5E48DA8C-A6FD-1D4C-95F7-48614F781476}" type="parTrans" cxnId="{65778B5A-9EE8-694B-9EBB-9F2B2EBBA068}">
      <dgm:prSet/>
      <dgm:spPr/>
      <dgm:t>
        <a:bodyPr/>
        <a:lstStyle/>
        <a:p>
          <a:endParaRPr lang="en-US"/>
        </a:p>
      </dgm:t>
    </dgm:pt>
    <dgm:pt modelId="{FA5B7C44-04EC-1D49-A4E8-0F07B46A13CC}" type="sibTrans" cxnId="{65778B5A-9EE8-694B-9EBB-9F2B2EBBA068}">
      <dgm:prSet/>
      <dgm:spPr/>
      <dgm:t>
        <a:bodyPr/>
        <a:lstStyle/>
        <a:p>
          <a:endParaRPr lang="en-US"/>
        </a:p>
      </dgm:t>
    </dgm:pt>
    <dgm:pt modelId="{899C6DED-1F3C-F14B-BD4C-7647EC5F6B3F}" type="pres">
      <dgm:prSet presAssocID="{8BEBB349-1C6E-AB42-964D-E302A863F1AC}" presName="linear" presStyleCnt="0">
        <dgm:presLayoutVars>
          <dgm:animLvl val="lvl"/>
          <dgm:resizeHandles val="exact"/>
        </dgm:presLayoutVars>
      </dgm:prSet>
      <dgm:spPr/>
    </dgm:pt>
    <dgm:pt modelId="{F562FE9C-C5FA-5E46-ADCD-3ECA6CAD0E03}" type="pres">
      <dgm:prSet presAssocID="{334DF60F-7AF4-E14B-822F-13AF290D7C94}" presName="parentText" presStyleLbl="node1" presStyleIdx="0" presStyleCnt="1" custScaleX="97872" custScaleY="244403" custLinFactNeighborX="1064" custLinFactNeighborY="-810">
        <dgm:presLayoutVars>
          <dgm:chMax val="0"/>
          <dgm:bulletEnabled val="1"/>
        </dgm:presLayoutVars>
      </dgm:prSet>
      <dgm:spPr/>
    </dgm:pt>
    <dgm:pt modelId="{6A7F9969-6F05-5F41-88FE-250A770AADDF}" type="pres">
      <dgm:prSet presAssocID="{334DF60F-7AF4-E14B-822F-13AF290D7C94}" presName="childText" presStyleLbl="revTx" presStyleIdx="0" presStyleCnt="1" custScaleY="130942">
        <dgm:presLayoutVars>
          <dgm:bulletEnabled val="1"/>
        </dgm:presLayoutVars>
      </dgm:prSet>
      <dgm:spPr/>
    </dgm:pt>
  </dgm:ptLst>
  <dgm:cxnLst>
    <dgm:cxn modelId="{760A6718-16CA-3445-9217-2D89121980EE}" type="presOf" srcId="{334DF60F-7AF4-E14B-822F-13AF290D7C94}" destId="{F562FE9C-C5FA-5E46-ADCD-3ECA6CAD0E03}" srcOrd="0" destOrd="0" presId="urn:microsoft.com/office/officeart/2005/8/layout/vList2"/>
    <dgm:cxn modelId="{60BEBF36-3A51-B144-919C-DA52FF8AFCC4}" srcId="{47278DBD-5FCD-1D40-9839-A095DDABA5C3}" destId="{0D2240C2-9D46-9C46-B005-62FBD4EEB584}" srcOrd="0" destOrd="0" parTransId="{FBDDEDFD-3030-AB44-88DE-176637FDD5A7}" sibTransId="{F3B83CE3-4E31-7845-8F4B-769ACCEE3638}"/>
    <dgm:cxn modelId="{2061AC5D-4BCB-EF43-A089-A88B2A12EA6F}" type="presOf" srcId="{39BBB76B-4452-7142-899E-4C71C1B30263}" destId="{6A7F9969-6F05-5F41-88FE-250A770AADDF}" srcOrd="0" destOrd="3" presId="urn:microsoft.com/office/officeart/2005/8/layout/vList2"/>
    <dgm:cxn modelId="{E5C19968-3C7B-2E4B-803A-6E68ACB8F0A2}" srcId="{0D2240C2-9D46-9C46-B005-62FBD4EEB584}" destId="{2960AF8C-6A3F-C34D-98C9-F2DC75E3787E}" srcOrd="0" destOrd="0" parTransId="{05D2211E-03AD-5646-B6FB-F39429B8F08F}" sibTransId="{87431F10-E457-9041-855F-41BE96F289AE}"/>
    <dgm:cxn modelId="{E840FC4D-35E4-EA4A-802B-1855D54828EB}" type="presOf" srcId="{0D2240C2-9D46-9C46-B005-62FBD4EEB584}" destId="{6A7F9969-6F05-5F41-88FE-250A770AADDF}" srcOrd="0" destOrd="1" presId="urn:microsoft.com/office/officeart/2005/8/layout/vList2"/>
    <dgm:cxn modelId="{65778B5A-9EE8-694B-9EBB-9F2B2EBBA068}" srcId="{334DF60F-7AF4-E14B-822F-13AF290D7C94}" destId="{47278DBD-5FCD-1D40-9839-A095DDABA5C3}" srcOrd="0" destOrd="0" parTransId="{5E48DA8C-A6FD-1D4C-95F7-48614F781476}" sibTransId="{FA5B7C44-04EC-1D49-A4E8-0F07B46A13CC}"/>
    <dgm:cxn modelId="{20DF4BAA-0DFE-4F48-BB02-C5708929BACB}" type="presOf" srcId="{2960AF8C-6A3F-C34D-98C9-F2DC75E3787E}" destId="{6A7F9969-6F05-5F41-88FE-250A770AADDF}" srcOrd="0" destOrd="2" presId="urn:microsoft.com/office/officeart/2005/8/layout/vList2"/>
    <dgm:cxn modelId="{897202DF-2FA1-BF44-98AD-0642D5D854B8}" type="presOf" srcId="{8BEBB349-1C6E-AB42-964D-E302A863F1AC}" destId="{899C6DED-1F3C-F14B-BD4C-7647EC5F6B3F}" srcOrd="0" destOrd="0" presId="urn:microsoft.com/office/officeart/2005/8/layout/vList2"/>
    <dgm:cxn modelId="{F96B7CDF-4C5A-C141-A33A-4EC7F0C7D33D}" type="presOf" srcId="{47278DBD-5FCD-1D40-9839-A095DDABA5C3}" destId="{6A7F9969-6F05-5F41-88FE-250A770AADDF}" srcOrd="0" destOrd="0" presId="urn:microsoft.com/office/officeart/2005/8/layout/vList2"/>
    <dgm:cxn modelId="{0A055BE5-70F5-A941-B7C0-7347B96A1EDC}" srcId="{2960AF8C-6A3F-C34D-98C9-F2DC75E3787E}" destId="{39BBB76B-4452-7142-899E-4C71C1B30263}" srcOrd="0" destOrd="0" parTransId="{83A2A532-6B15-D34E-9D27-177F3CD0B28A}" sibTransId="{4F5D3F76-DC7C-C84B-B8CC-5439A1F6373A}"/>
    <dgm:cxn modelId="{7FAB8EF7-49E7-324E-B503-DB59F939025A}" srcId="{8BEBB349-1C6E-AB42-964D-E302A863F1AC}" destId="{334DF60F-7AF4-E14B-822F-13AF290D7C94}" srcOrd="0" destOrd="0" parTransId="{F2640CAD-5CA2-AB47-BF2D-556487A3D6EF}" sibTransId="{4A26F1EA-DA28-7343-A310-D6271B17FFFB}"/>
    <dgm:cxn modelId="{D7ECF708-2FC4-8B44-BB6B-CFB15AD2BD07}" type="presParOf" srcId="{899C6DED-1F3C-F14B-BD4C-7647EC5F6B3F}" destId="{F562FE9C-C5FA-5E46-ADCD-3ECA6CAD0E03}" srcOrd="0" destOrd="0" presId="urn:microsoft.com/office/officeart/2005/8/layout/vList2"/>
    <dgm:cxn modelId="{9016F5D4-1E8A-4E48-BEC7-8DC21DDC5EC6}" type="presParOf" srcId="{899C6DED-1F3C-F14B-BD4C-7647EC5F6B3F}" destId="{6A7F9969-6F05-5F41-88FE-250A770AADDF}"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13F4EE-7D10-DD41-B07C-4241F7924867}" type="doc">
      <dgm:prSet loTypeId="urn:microsoft.com/office/officeart/2005/8/layout/process1" loCatId="process" qsTypeId="urn:microsoft.com/office/officeart/2005/8/quickstyle/simple4" qsCatId="simple" csTypeId="urn:microsoft.com/office/officeart/2005/8/colors/accent1_2" csCatId="accent1" phldr="1"/>
      <dgm:spPr/>
      <dgm:t>
        <a:bodyPr/>
        <a:lstStyle/>
        <a:p>
          <a:endParaRPr lang="en-US"/>
        </a:p>
      </dgm:t>
    </dgm:pt>
    <dgm:pt modelId="{089281B8-1D5E-334A-A921-5425AAEB96AE}">
      <dgm:prSet/>
      <dgm:spPr>
        <a:solidFill>
          <a:schemeClr val="accent1"/>
        </a:solidFill>
      </dgm:spPr>
      <dgm:t>
        <a:bodyPr/>
        <a:lstStyle/>
        <a:p>
          <a:pPr rtl="0"/>
          <a:r>
            <a:rPr lang="en-US" dirty="0"/>
            <a:t>There is no way to inspect or manipulate semaphores other than these three operations</a:t>
          </a:r>
        </a:p>
      </dgm:t>
    </dgm:pt>
    <dgm:pt modelId="{E0980B7B-60AC-5E49-9B7D-344FC211FD30}" type="parTrans" cxnId="{3E788187-53C4-9C46-85FD-C314878B1C40}">
      <dgm:prSet/>
      <dgm:spPr/>
      <dgm:t>
        <a:bodyPr/>
        <a:lstStyle/>
        <a:p>
          <a:endParaRPr lang="en-US"/>
        </a:p>
      </dgm:t>
    </dgm:pt>
    <dgm:pt modelId="{F308D1D0-AC0A-AC41-8CDB-E4DC577760E9}" type="sibTrans" cxnId="{3E788187-53C4-9C46-85FD-C314878B1C40}">
      <dgm:prSet/>
      <dgm:spPr>
        <a:solidFill>
          <a:schemeClr val="bg2">
            <a:lumMod val="50000"/>
          </a:schemeClr>
        </a:solidFill>
      </dgm:spPr>
      <dgm:t>
        <a:bodyPr/>
        <a:lstStyle/>
        <a:p>
          <a:endParaRPr lang="en-US"/>
        </a:p>
      </dgm:t>
    </dgm:pt>
    <dgm:pt modelId="{6D4F9E33-4AF4-EE41-83FB-9E7502CB8AE1}">
      <dgm:prSet/>
      <dgm:spPr/>
      <dgm:t>
        <a:bodyPr/>
        <a:lstStyle/>
        <a:p>
          <a:pPr rtl="0"/>
          <a:r>
            <a:rPr lang="en-NZ" dirty="0"/>
            <a:t>A variable that has an integer value upon which only three operations are defined: </a:t>
          </a:r>
          <a:endParaRPr lang="en-US" dirty="0"/>
        </a:p>
      </dgm:t>
    </dgm:pt>
    <dgm:pt modelId="{FAF7B778-71E2-994F-9D3C-13802D8DE8F5}" type="parTrans" cxnId="{4677D42E-BBD8-2349-BAF8-83F5592E1794}">
      <dgm:prSet/>
      <dgm:spPr/>
      <dgm:t>
        <a:bodyPr/>
        <a:lstStyle/>
        <a:p>
          <a:endParaRPr lang="en-US"/>
        </a:p>
      </dgm:t>
    </dgm:pt>
    <dgm:pt modelId="{E906FF73-0790-B34E-A2B5-71EBE191FC77}" type="sibTrans" cxnId="{4677D42E-BBD8-2349-BAF8-83F5592E1794}">
      <dgm:prSet/>
      <dgm:spPr/>
      <dgm:t>
        <a:bodyPr/>
        <a:lstStyle/>
        <a:p>
          <a:endParaRPr lang="en-US"/>
        </a:p>
      </dgm:t>
    </dgm:pt>
    <dgm:pt modelId="{AD1DA9AD-E803-CF4C-9F9D-745BDC537CFE}" type="pres">
      <dgm:prSet presAssocID="{7B13F4EE-7D10-DD41-B07C-4241F7924867}" presName="Name0" presStyleCnt="0">
        <dgm:presLayoutVars>
          <dgm:dir/>
          <dgm:resizeHandles val="exact"/>
        </dgm:presLayoutVars>
      </dgm:prSet>
      <dgm:spPr/>
    </dgm:pt>
    <dgm:pt modelId="{D922F58D-B635-F14D-A7B0-F6371807DE43}" type="pres">
      <dgm:prSet presAssocID="{089281B8-1D5E-334A-A921-5425AAEB96AE}" presName="node" presStyleLbl="node1" presStyleIdx="0" presStyleCnt="2" custLinFactX="91325" custLinFactNeighborX="100000" custLinFactNeighborY="-46264">
        <dgm:presLayoutVars>
          <dgm:bulletEnabled val="1"/>
        </dgm:presLayoutVars>
      </dgm:prSet>
      <dgm:spPr/>
    </dgm:pt>
    <dgm:pt modelId="{2F146ECA-E547-3B4A-A33E-83CC028577F2}" type="pres">
      <dgm:prSet presAssocID="{F308D1D0-AC0A-AC41-8CDB-E4DC577760E9}" presName="sibTrans" presStyleLbl="sibTrans2D1" presStyleIdx="0" presStyleCnt="1" custAng="10800000"/>
      <dgm:spPr/>
    </dgm:pt>
    <dgm:pt modelId="{38CA54D7-5E68-5949-A108-806EB9ABFAE5}" type="pres">
      <dgm:prSet presAssocID="{F308D1D0-AC0A-AC41-8CDB-E4DC577760E9}" presName="connectorText" presStyleLbl="sibTrans2D1" presStyleIdx="0" presStyleCnt="1"/>
      <dgm:spPr/>
    </dgm:pt>
    <dgm:pt modelId="{536CC010-3CA8-CD44-BED7-E2E67E4A6B14}" type="pres">
      <dgm:prSet presAssocID="{6D4F9E33-4AF4-EE41-83FB-9E7502CB8AE1}" presName="node" presStyleLbl="node1" presStyleIdx="1" presStyleCnt="2" custLinFactX="-95517" custLinFactNeighborX="-100000" custLinFactNeighborY="-46264">
        <dgm:presLayoutVars>
          <dgm:bulletEnabled val="1"/>
        </dgm:presLayoutVars>
      </dgm:prSet>
      <dgm:spPr/>
    </dgm:pt>
  </dgm:ptLst>
  <dgm:cxnLst>
    <dgm:cxn modelId="{0D02A72B-D8C4-7740-9E36-FDFF694D791E}" type="presOf" srcId="{6D4F9E33-4AF4-EE41-83FB-9E7502CB8AE1}" destId="{536CC010-3CA8-CD44-BED7-E2E67E4A6B14}" srcOrd="0" destOrd="0" presId="urn:microsoft.com/office/officeart/2005/8/layout/process1"/>
    <dgm:cxn modelId="{4677D42E-BBD8-2349-BAF8-83F5592E1794}" srcId="{7B13F4EE-7D10-DD41-B07C-4241F7924867}" destId="{6D4F9E33-4AF4-EE41-83FB-9E7502CB8AE1}" srcOrd="1" destOrd="0" parTransId="{FAF7B778-71E2-994F-9D3C-13802D8DE8F5}" sibTransId="{E906FF73-0790-B34E-A2B5-71EBE191FC77}"/>
    <dgm:cxn modelId="{2C5EEB5D-1B6C-024C-921C-2DA4C5F53164}" type="presOf" srcId="{F308D1D0-AC0A-AC41-8CDB-E4DC577760E9}" destId="{38CA54D7-5E68-5949-A108-806EB9ABFAE5}" srcOrd="1" destOrd="0" presId="urn:microsoft.com/office/officeart/2005/8/layout/process1"/>
    <dgm:cxn modelId="{3E788187-53C4-9C46-85FD-C314878B1C40}" srcId="{7B13F4EE-7D10-DD41-B07C-4241F7924867}" destId="{089281B8-1D5E-334A-A921-5425AAEB96AE}" srcOrd="0" destOrd="0" parTransId="{E0980B7B-60AC-5E49-9B7D-344FC211FD30}" sibTransId="{F308D1D0-AC0A-AC41-8CDB-E4DC577760E9}"/>
    <dgm:cxn modelId="{CC6B00C4-72FE-5446-9BF1-F7020C8CC7A4}" type="presOf" srcId="{F308D1D0-AC0A-AC41-8CDB-E4DC577760E9}" destId="{2F146ECA-E547-3B4A-A33E-83CC028577F2}" srcOrd="0" destOrd="0" presId="urn:microsoft.com/office/officeart/2005/8/layout/process1"/>
    <dgm:cxn modelId="{46A756C7-B5E7-3347-BFDB-24CE64E01795}" type="presOf" srcId="{089281B8-1D5E-334A-A921-5425AAEB96AE}" destId="{D922F58D-B635-F14D-A7B0-F6371807DE43}" srcOrd="0" destOrd="0" presId="urn:microsoft.com/office/officeart/2005/8/layout/process1"/>
    <dgm:cxn modelId="{B90172E7-C1C6-914B-8491-EA8EE2DDBFCA}" type="presOf" srcId="{7B13F4EE-7D10-DD41-B07C-4241F7924867}" destId="{AD1DA9AD-E803-CF4C-9F9D-745BDC537CFE}" srcOrd="0" destOrd="0" presId="urn:microsoft.com/office/officeart/2005/8/layout/process1"/>
    <dgm:cxn modelId="{E3D1106A-24B6-7C47-AD4B-0AC2D4E779B8}" type="presParOf" srcId="{AD1DA9AD-E803-CF4C-9F9D-745BDC537CFE}" destId="{D922F58D-B635-F14D-A7B0-F6371807DE43}" srcOrd="0" destOrd="0" presId="urn:microsoft.com/office/officeart/2005/8/layout/process1"/>
    <dgm:cxn modelId="{61A94880-283A-BB41-B1E5-346C4C97CDDE}" type="presParOf" srcId="{AD1DA9AD-E803-CF4C-9F9D-745BDC537CFE}" destId="{2F146ECA-E547-3B4A-A33E-83CC028577F2}" srcOrd="1" destOrd="0" presId="urn:microsoft.com/office/officeart/2005/8/layout/process1"/>
    <dgm:cxn modelId="{87C04B06-7AC6-1D41-86B8-4E1162F1DA54}" type="presParOf" srcId="{2F146ECA-E547-3B4A-A33E-83CC028577F2}" destId="{38CA54D7-5E68-5949-A108-806EB9ABFAE5}" srcOrd="0" destOrd="0" presId="urn:microsoft.com/office/officeart/2005/8/layout/process1"/>
    <dgm:cxn modelId="{3FD55B29-2E99-124D-A4DD-BD464EF1B685}" type="presParOf" srcId="{AD1DA9AD-E803-CF4C-9F9D-745BDC537CFE}" destId="{536CC010-3CA8-CD44-BED7-E2E67E4A6B14}"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09B3CA-2154-3349-8E08-1BF775E99E0E}" type="doc">
      <dgm:prSet loTypeId="urn:microsoft.com/office/officeart/2005/8/layout/hList6" loCatId="list" qsTypeId="urn:microsoft.com/office/officeart/2005/8/quickstyle/simple4" qsCatId="simple" csTypeId="urn:microsoft.com/office/officeart/2005/8/colors/accent1_2" csCatId="accent1" phldr="1"/>
      <dgm:spPr/>
      <dgm:t>
        <a:bodyPr/>
        <a:lstStyle/>
        <a:p>
          <a:endParaRPr lang="en-US"/>
        </a:p>
      </dgm:t>
    </dgm:pt>
    <dgm:pt modelId="{2A824A6C-3291-A64E-AB38-9B24534F96E1}">
      <dgm:prSet/>
      <dgm:spPr>
        <a:solidFill>
          <a:schemeClr val="accent3">
            <a:lumMod val="50000"/>
          </a:schemeClr>
        </a:solidFill>
      </dgm:spPr>
      <dgm:t>
        <a:bodyPr/>
        <a:lstStyle/>
        <a:p>
          <a:pPr rtl="0"/>
          <a:r>
            <a:rPr lang="en-US" dirty="0"/>
            <a:t>There is no way to know before a process decrements a semaphore whether it will block or not</a:t>
          </a:r>
        </a:p>
      </dgm:t>
    </dgm:pt>
    <dgm:pt modelId="{7E45B653-A385-B349-AFA3-B144F231F6EE}" type="parTrans" cxnId="{E76072D1-BB37-1C48-9502-5DAC8D59F4B2}">
      <dgm:prSet/>
      <dgm:spPr/>
      <dgm:t>
        <a:bodyPr/>
        <a:lstStyle/>
        <a:p>
          <a:endParaRPr lang="en-US"/>
        </a:p>
      </dgm:t>
    </dgm:pt>
    <dgm:pt modelId="{A5F4A0B9-E9EF-FD41-9751-EE895B2C8842}" type="sibTrans" cxnId="{E76072D1-BB37-1C48-9502-5DAC8D59F4B2}">
      <dgm:prSet/>
      <dgm:spPr/>
      <dgm:t>
        <a:bodyPr/>
        <a:lstStyle/>
        <a:p>
          <a:endParaRPr lang="en-US"/>
        </a:p>
      </dgm:t>
    </dgm:pt>
    <dgm:pt modelId="{49C7C730-771B-094B-9569-A140396ED27C}">
      <dgm:prSet/>
      <dgm:spPr/>
      <dgm:t>
        <a:bodyPr/>
        <a:lstStyle/>
        <a:p>
          <a:pPr rtl="0"/>
          <a:r>
            <a:rPr lang="en-US" dirty="0"/>
            <a:t>There is no way to know which process will continue immediately on a </a:t>
          </a:r>
          <a:r>
            <a:rPr lang="en-US" dirty="0" err="1"/>
            <a:t>uniprocessor</a:t>
          </a:r>
          <a:r>
            <a:rPr lang="en-US" dirty="0"/>
            <a:t> system when two processes are running concurrently</a:t>
          </a:r>
        </a:p>
      </dgm:t>
    </dgm:pt>
    <dgm:pt modelId="{68A1379E-FBF2-0249-AC8C-E1E7F9FBA710}" type="parTrans" cxnId="{2F7CB06A-DEA0-E64F-9EDA-CBDBE96023E9}">
      <dgm:prSet/>
      <dgm:spPr/>
      <dgm:t>
        <a:bodyPr/>
        <a:lstStyle/>
        <a:p>
          <a:endParaRPr lang="en-US"/>
        </a:p>
      </dgm:t>
    </dgm:pt>
    <dgm:pt modelId="{44C7C024-E02E-6545-BC2F-8B04FD13E7C0}" type="sibTrans" cxnId="{2F7CB06A-DEA0-E64F-9EDA-CBDBE96023E9}">
      <dgm:prSet/>
      <dgm:spPr/>
      <dgm:t>
        <a:bodyPr/>
        <a:lstStyle/>
        <a:p>
          <a:endParaRPr lang="en-US"/>
        </a:p>
      </dgm:t>
    </dgm:pt>
    <dgm:pt modelId="{28472C96-6575-B04D-AE01-1A07A1A0BBFD}">
      <dgm:prSet/>
      <dgm:spPr>
        <a:solidFill>
          <a:schemeClr val="accent6">
            <a:lumMod val="75000"/>
          </a:schemeClr>
        </a:solidFill>
      </dgm:spPr>
      <dgm:t>
        <a:bodyPr/>
        <a:lstStyle/>
        <a:p>
          <a:pPr rtl="0"/>
          <a:r>
            <a:rPr lang="en-US" dirty="0"/>
            <a:t>You don’t know whether another process is waiting so the number of unblocked processes may be zero or one</a:t>
          </a:r>
        </a:p>
      </dgm:t>
    </dgm:pt>
    <dgm:pt modelId="{F49310AF-B30D-A646-8668-3E785FB4CA1D}" type="parTrans" cxnId="{D0CB1A2D-5563-BD46-B6BC-96B33F5EBAC8}">
      <dgm:prSet/>
      <dgm:spPr/>
      <dgm:t>
        <a:bodyPr/>
        <a:lstStyle/>
        <a:p>
          <a:endParaRPr lang="en-US"/>
        </a:p>
      </dgm:t>
    </dgm:pt>
    <dgm:pt modelId="{616A9A7D-57FA-0D4E-A493-D557831F68EF}" type="sibTrans" cxnId="{D0CB1A2D-5563-BD46-B6BC-96B33F5EBAC8}">
      <dgm:prSet/>
      <dgm:spPr/>
      <dgm:t>
        <a:bodyPr/>
        <a:lstStyle/>
        <a:p>
          <a:endParaRPr lang="en-US"/>
        </a:p>
      </dgm:t>
    </dgm:pt>
    <dgm:pt modelId="{D5A6D6E0-2341-B549-AB8B-DB746E18F4D7}" type="pres">
      <dgm:prSet presAssocID="{9409B3CA-2154-3349-8E08-1BF775E99E0E}" presName="Name0" presStyleCnt="0">
        <dgm:presLayoutVars>
          <dgm:dir/>
          <dgm:resizeHandles val="exact"/>
        </dgm:presLayoutVars>
      </dgm:prSet>
      <dgm:spPr/>
    </dgm:pt>
    <dgm:pt modelId="{19BA5E69-E325-F142-A0D4-B743109408EA}" type="pres">
      <dgm:prSet presAssocID="{2A824A6C-3291-A64E-AB38-9B24534F96E1}" presName="node" presStyleLbl="node1" presStyleIdx="0" presStyleCnt="3" custLinFactNeighborX="42797" custLinFactNeighborY="1724">
        <dgm:presLayoutVars>
          <dgm:bulletEnabled val="1"/>
        </dgm:presLayoutVars>
      </dgm:prSet>
      <dgm:spPr/>
    </dgm:pt>
    <dgm:pt modelId="{7091BE1A-F532-0741-A92F-0655E90F6B87}" type="pres">
      <dgm:prSet presAssocID="{A5F4A0B9-E9EF-FD41-9751-EE895B2C8842}" presName="sibTrans" presStyleCnt="0"/>
      <dgm:spPr/>
    </dgm:pt>
    <dgm:pt modelId="{49FA2FAC-FF0C-C14A-8048-646F866CB8A7}" type="pres">
      <dgm:prSet presAssocID="{49C7C730-771B-094B-9569-A140396ED27C}" presName="node" presStyleLbl="node1" presStyleIdx="1" presStyleCnt="3">
        <dgm:presLayoutVars>
          <dgm:bulletEnabled val="1"/>
        </dgm:presLayoutVars>
      </dgm:prSet>
      <dgm:spPr/>
    </dgm:pt>
    <dgm:pt modelId="{1E583963-4490-1F40-81F7-E938EEF2EEB0}" type="pres">
      <dgm:prSet presAssocID="{44C7C024-E02E-6545-BC2F-8B04FD13E7C0}" presName="sibTrans" presStyleCnt="0"/>
      <dgm:spPr/>
    </dgm:pt>
    <dgm:pt modelId="{9BE6FA6B-34B4-C242-82E5-DC5F191FF1E9}" type="pres">
      <dgm:prSet presAssocID="{28472C96-6575-B04D-AE01-1A07A1A0BBFD}" presName="node" presStyleLbl="node1" presStyleIdx="2" presStyleCnt="3">
        <dgm:presLayoutVars>
          <dgm:bulletEnabled val="1"/>
        </dgm:presLayoutVars>
      </dgm:prSet>
      <dgm:spPr/>
    </dgm:pt>
  </dgm:ptLst>
  <dgm:cxnLst>
    <dgm:cxn modelId="{F6D98210-07AD-4944-9E7D-242369862A6D}" type="presOf" srcId="{49C7C730-771B-094B-9569-A140396ED27C}" destId="{49FA2FAC-FF0C-C14A-8048-646F866CB8A7}" srcOrd="0" destOrd="0" presId="urn:microsoft.com/office/officeart/2005/8/layout/hList6"/>
    <dgm:cxn modelId="{D0CB1A2D-5563-BD46-B6BC-96B33F5EBAC8}" srcId="{9409B3CA-2154-3349-8E08-1BF775E99E0E}" destId="{28472C96-6575-B04D-AE01-1A07A1A0BBFD}" srcOrd="2" destOrd="0" parTransId="{F49310AF-B30D-A646-8668-3E785FB4CA1D}" sibTransId="{616A9A7D-57FA-0D4E-A493-D557831F68EF}"/>
    <dgm:cxn modelId="{BF52EB2F-346C-7047-ACBF-D423FB1AFAA5}" type="presOf" srcId="{2A824A6C-3291-A64E-AB38-9B24534F96E1}" destId="{19BA5E69-E325-F142-A0D4-B743109408EA}" srcOrd="0" destOrd="0" presId="urn:microsoft.com/office/officeart/2005/8/layout/hList6"/>
    <dgm:cxn modelId="{2F7CB06A-DEA0-E64F-9EDA-CBDBE96023E9}" srcId="{9409B3CA-2154-3349-8E08-1BF775E99E0E}" destId="{49C7C730-771B-094B-9569-A140396ED27C}" srcOrd="1" destOrd="0" parTransId="{68A1379E-FBF2-0249-AC8C-E1E7F9FBA710}" sibTransId="{44C7C024-E02E-6545-BC2F-8B04FD13E7C0}"/>
    <dgm:cxn modelId="{E4F1B14A-55BB-C745-8025-73BE65C1137B}" type="presOf" srcId="{28472C96-6575-B04D-AE01-1A07A1A0BBFD}" destId="{9BE6FA6B-34B4-C242-82E5-DC5F191FF1E9}" srcOrd="0" destOrd="0" presId="urn:microsoft.com/office/officeart/2005/8/layout/hList6"/>
    <dgm:cxn modelId="{E76072D1-BB37-1C48-9502-5DAC8D59F4B2}" srcId="{9409B3CA-2154-3349-8E08-1BF775E99E0E}" destId="{2A824A6C-3291-A64E-AB38-9B24534F96E1}" srcOrd="0" destOrd="0" parTransId="{7E45B653-A385-B349-AFA3-B144F231F6EE}" sibTransId="{A5F4A0B9-E9EF-FD41-9751-EE895B2C8842}"/>
    <dgm:cxn modelId="{98041DF6-12E8-4E49-B9B8-ADA734028C5C}" type="presOf" srcId="{9409B3CA-2154-3349-8E08-1BF775E99E0E}" destId="{D5A6D6E0-2341-B549-AB8B-DB746E18F4D7}" srcOrd="0" destOrd="0" presId="urn:microsoft.com/office/officeart/2005/8/layout/hList6"/>
    <dgm:cxn modelId="{FFE40153-6131-9342-A46A-E9FE20A7B043}" type="presParOf" srcId="{D5A6D6E0-2341-B549-AB8B-DB746E18F4D7}" destId="{19BA5E69-E325-F142-A0D4-B743109408EA}" srcOrd="0" destOrd="0" presId="urn:microsoft.com/office/officeart/2005/8/layout/hList6"/>
    <dgm:cxn modelId="{E0FCFB33-4BC5-6A40-A096-2BFFF6249708}" type="presParOf" srcId="{D5A6D6E0-2341-B549-AB8B-DB746E18F4D7}" destId="{7091BE1A-F532-0741-A92F-0655E90F6B87}" srcOrd="1" destOrd="0" presId="urn:microsoft.com/office/officeart/2005/8/layout/hList6"/>
    <dgm:cxn modelId="{718C7542-FF15-9948-AB2C-FFD320AD2567}" type="presParOf" srcId="{D5A6D6E0-2341-B549-AB8B-DB746E18F4D7}" destId="{49FA2FAC-FF0C-C14A-8048-646F866CB8A7}" srcOrd="2" destOrd="0" presId="urn:microsoft.com/office/officeart/2005/8/layout/hList6"/>
    <dgm:cxn modelId="{BD9CAB0E-07EE-0446-9105-FD9C9E6A02A6}" type="presParOf" srcId="{D5A6D6E0-2341-B549-AB8B-DB746E18F4D7}" destId="{1E583963-4490-1F40-81F7-E938EEF2EEB0}" srcOrd="3" destOrd="0" presId="urn:microsoft.com/office/officeart/2005/8/layout/hList6"/>
    <dgm:cxn modelId="{8B825CBF-F8CE-0946-9064-1A003C27BDA2}" type="presParOf" srcId="{D5A6D6E0-2341-B549-AB8B-DB746E18F4D7}" destId="{9BE6FA6B-34B4-C242-82E5-DC5F191FF1E9}"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41F8C2A-328F-724A-AC61-AF18203E98B3}"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C4C5AA89-D850-1744-9E0D-9027DA949606}">
      <dgm:prSet phldrT="[Text]" custT="1"/>
      <dgm:spPr/>
      <dgm:t>
        <a:bodyPr/>
        <a:lstStyle/>
        <a:p>
          <a:r>
            <a:rPr lang="en-NZ" sz="2800" b="1" i="1" dirty="0"/>
            <a:t>Strong Semaphores</a:t>
          </a:r>
          <a:r>
            <a:rPr lang="en-NZ" sz="2800" dirty="0"/>
            <a:t> </a:t>
          </a:r>
          <a:endParaRPr lang="en-US" sz="2800" dirty="0"/>
        </a:p>
      </dgm:t>
    </dgm:pt>
    <dgm:pt modelId="{F82125A2-DB77-D84A-991D-3145F88168EB}" type="parTrans" cxnId="{6429F720-61DC-9545-8970-338F9FB64F22}">
      <dgm:prSet/>
      <dgm:spPr/>
      <dgm:t>
        <a:bodyPr/>
        <a:lstStyle/>
        <a:p>
          <a:endParaRPr lang="en-US"/>
        </a:p>
      </dgm:t>
    </dgm:pt>
    <dgm:pt modelId="{3E2CFF00-7B48-BA42-9D42-9E61F6B31325}" type="sibTrans" cxnId="{6429F720-61DC-9545-8970-338F9FB64F22}">
      <dgm:prSet/>
      <dgm:spPr/>
      <dgm:t>
        <a:bodyPr/>
        <a:lstStyle/>
        <a:p>
          <a:endParaRPr lang="en-US"/>
        </a:p>
      </dgm:t>
    </dgm:pt>
    <dgm:pt modelId="{99DC4C28-A725-454D-BE93-CDF6758F173D}">
      <dgm:prSet/>
      <dgm:spPr/>
      <dgm:t>
        <a:bodyPr/>
        <a:lstStyle/>
        <a:p>
          <a:r>
            <a:rPr lang="en-NZ" dirty="0"/>
            <a:t>the process that has been blocked the longest is released from the queue first (FIFO)</a:t>
          </a:r>
        </a:p>
      </dgm:t>
    </dgm:pt>
    <dgm:pt modelId="{3C50D3DB-4981-CF43-BB03-CEA66146FC05}" type="parTrans" cxnId="{4835B0B4-5A13-134B-9F44-DDD5EEF77133}">
      <dgm:prSet/>
      <dgm:spPr/>
      <dgm:t>
        <a:bodyPr/>
        <a:lstStyle/>
        <a:p>
          <a:endParaRPr lang="en-US"/>
        </a:p>
      </dgm:t>
    </dgm:pt>
    <dgm:pt modelId="{9CBC6304-C560-B349-AFC8-48AEFAE62F46}" type="sibTrans" cxnId="{4835B0B4-5A13-134B-9F44-DDD5EEF77133}">
      <dgm:prSet/>
      <dgm:spPr/>
      <dgm:t>
        <a:bodyPr/>
        <a:lstStyle/>
        <a:p>
          <a:endParaRPr lang="en-US"/>
        </a:p>
      </dgm:t>
    </dgm:pt>
    <dgm:pt modelId="{E630F192-5C8B-7E47-87C7-81EB07B507C7}">
      <dgm:prSet custT="1"/>
      <dgm:spPr/>
      <dgm:t>
        <a:bodyPr/>
        <a:lstStyle/>
        <a:p>
          <a:r>
            <a:rPr lang="en-NZ" sz="2800" b="1" i="1" dirty="0"/>
            <a:t>Weak Semaphores </a:t>
          </a:r>
          <a:r>
            <a:rPr lang="en-NZ" sz="2300" dirty="0"/>
            <a:t> </a:t>
          </a:r>
        </a:p>
      </dgm:t>
    </dgm:pt>
    <dgm:pt modelId="{07283D72-8835-9842-AF1A-354D151BF5BF}" type="parTrans" cxnId="{41396523-F9C6-9040-B56F-52DE5CD28BDD}">
      <dgm:prSet/>
      <dgm:spPr/>
      <dgm:t>
        <a:bodyPr/>
        <a:lstStyle/>
        <a:p>
          <a:endParaRPr lang="en-US"/>
        </a:p>
      </dgm:t>
    </dgm:pt>
    <dgm:pt modelId="{ED9F0213-F9BF-F74C-A54D-0B5A37136C9C}" type="sibTrans" cxnId="{41396523-F9C6-9040-B56F-52DE5CD28BDD}">
      <dgm:prSet/>
      <dgm:spPr/>
      <dgm:t>
        <a:bodyPr/>
        <a:lstStyle/>
        <a:p>
          <a:endParaRPr lang="en-US"/>
        </a:p>
      </dgm:t>
    </dgm:pt>
    <dgm:pt modelId="{8AE05AB4-C8C1-0C46-8AC1-AB7D1EF4A317}">
      <dgm:prSet/>
      <dgm:spPr/>
      <dgm:t>
        <a:bodyPr/>
        <a:lstStyle/>
        <a:p>
          <a:r>
            <a:rPr lang="en-NZ"/>
            <a:t>the order in which processes are removed from the queue is not specified</a:t>
          </a:r>
          <a:endParaRPr lang="en-NZ" dirty="0"/>
        </a:p>
      </dgm:t>
    </dgm:pt>
    <dgm:pt modelId="{1C6D1601-14D0-6D46-A546-BF9AD27AED31}" type="parTrans" cxnId="{4C1D0F85-1DC4-1F49-848A-0C42217A3C51}">
      <dgm:prSet/>
      <dgm:spPr/>
      <dgm:t>
        <a:bodyPr/>
        <a:lstStyle/>
        <a:p>
          <a:endParaRPr lang="en-US"/>
        </a:p>
      </dgm:t>
    </dgm:pt>
    <dgm:pt modelId="{0FEF3BC0-9BD0-6947-AE81-E95FF485537F}" type="sibTrans" cxnId="{4C1D0F85-1DC4-1F49-848A-0C42217A3C51}">
      <dgm:prSet/>
      <dgm:spPr/>
      <dgm:t>
        <a:bodyPr/>
        <a:lstStyle/>
        <a:p>
          <a:endParaRPr lang="en-US"/>
        </a:p>
      </dgm:t>
    </dgm:pt>
    <dgm:pt modelId="{F3802972-AD8D-6C46-9950-31285B6464FF}" type="pres">
      <dgm:prSet presAssocID="{841F8C2A-328F-724A-AC61-AF18203E98B3}" presName="linear" presStyleCnt="0">
        <dgm:presLayoutVars>
          <dgm:dir/>
          <dgm:animLvl val="lvl"/>
          <dgm:resizeHandles val="exact"/>
        </dgm:presLayoutVars>
      </dgm:prSet>
      <dgm:spPr/>
    </dgm:pt>
    <dgm:pt modelId="{AC315FBB-53F7-6041-A377-53BAC873EAA1}" type="pres">
      <dgm:prSet presAssocID="{C4C5AA89-D850-1744-9E0D-9027DA949606}" presName="parentLin" presStyleCnt="0"/>
      <dgm:spPr/>
    </dgm:pt>
    <dgm:pt modelId="{793462AF-15D8-084F-A5E6-11A1D6709268}" type="pres">
      <dgm:prSet presAssocID="{C4C5AA89-D850-1744-9E0D-9027DA949606}" presName="parentLeftMargin" presStyleLbl="node1" presStyleIdx="0" presStyleCnt="2"/>
      <dgm:spPr/>
    </dgm:pt>
    <dgm:pt modelId="{DD1D9237-EB74-E84E-AC7E-51428224DD48}" type="pres">
      <dgm:prSet presAssocID="{C4C5AA89-D850-1744-9E0D-9027DA949606}" presName="parentText" presStyleLbl="node1" presStyleIdx="0" presStyleCnt="2">
        <dgm:presLayoutVars>
          <dgm:chMax val="0"/>
          <dgm:bulletEnabled val="1"/>
        </dgm:presLayoutVars>
      </dgm:prSet>
      <dgm:spPr/>
    </dgm:pt>
    <dgm:pt modelId="{F763F474-FF0B-2845-BCE4-3D82A97F4081}" type="pres">
      <dgm:prSet presAssocID="{C4C5AA89-D850-1744-9E0D-9027DA949606}" presName="negativeSpace" presStyleCnt="0"/>
      <dgm:spPr/>
    </dgm:pt>
    <dgm:pt modelId="{EC4B5A1A-5870-5C40-8ADE-32EFF8546961}" type="pres">
      <dgm:prSet presAssocID="{C4C5AA89-D850-1744-9E0D-9027DA949606}" presName="childText" presStyleLbl="conFgAcc1" presStyleIdx="0" presStyleCnt="2">
        <dgm:presLayoutVars>
          <dgm:bulletEnabled val="1"/>
        </dgm:presLayoutVars>
      </dgm:prSet>
      <dgm:spPr/>
    </dgm:pt>
    <dgm:pt modelId="{1BDB3C83-8BE2-E74A-A4C1-A20CCB2BB70C}" type="pres">
      <dgm:prSet presAssocID="{3E2CFF00-7B48-BA42-9D42-9E61F6B31325}" presName="spaceBetweenRectangles" presStyleCnt="0"/>
      <dgm:spPr/>
    </dgm:pt>
    <dgm:pt modelId="{4CA8084D-C9F9-6F48-91CA-DD2D3B0ADDCF}" type="pres">
      <dgm:prSet presAssocID="{E630F192-5C8B-7E47-87C7-81EB07B507C7}" presName="parentLin" presStyleCnt="0"/>
      <dgm:spPr/>
    </dgm:pt>
    <dgm:pt modelId="{464CA9E3-BB9C-5B48-A381-0F2DD358996A}" type="pres">
      <dgm:prSet presAssocID="{E630F192-5C8B-7E47-87C7-81EB07B507C7}" presName="parentLeftMargin" presStyleLbl="node1" presStyleIdx="0" presStyleCnt="2"/>
      <dgm:spPr/>
    </dgm:pt>
    <dgm:pt modelId="{2E01E895-987A-1640-8719-30A986FB6C86}" type="pres">
      <dgm:prSet presAssocID="{E630F192-5C8B-7E47-87C7-81EB07B507C7}" presName="parentText" presStyleLbl="node1" presStyleIdx="1" presStyleCnt="2">
        <dgm:presLayoutVars>
          <dgm:chMax val="0"/>
          <dgm:bulletEnabled val="1"/>
        </dgm:presLayoutVars>
      </dgm:prSet>
      <dgm:spPr/>
    </dgm:pt>
    <dgm:pt modelId="{5455BB0B-CF8C-5E4A-AFA2-A60DAEEE4AF1}" type="pres">
      <dgm:prSet presAssocID="{E630F192-5C8B-7E47-87C7-81EB07B507C7}" presName="negativeSpace" presStyleCnt="0"/>
      <dgm:spPr/>
    </dgm:pt>
    <dgm:pt modelId="{40B0B400-5226-0F4B-98AB-E6B21FAA5A13}" type="pres">
      <dgm:prSet presAssocID="{E630F192-5C8B-7E47-87C7-81EB07B507C7}" presName="childText" presStyleLbl="conFgAcc1" presStyleIdx="1" presStyleCnt="2">
        <dgm:presLayoutVars>
          <dgm:bulletEnabled val="1"/>
        </dgm:presLayoutVars>
      </dgm:prSet>
      <dgm:spPr/>
    </dgm:pt>
  </dgm:ptLst>
  <dgm:cxnLst>
    <dgm:cxn modelId="{CC89FB04-EF5D-9542-837B-272CA417A845}" type="presOf" srcId="{C4C5AA89-D850-1744-9E0D-9027DA949606}" destId="{793462AF-15D8-084F-A5E6-11A1D6709268}" srcOrd="0" destOrd="0" presId="urn:microsoft.com/office/officeart/2005/8/layout/list1"/>
    <dgm:cxn modelId="{6429F720-61DC-9545-8970-338F9FB64F22}" srcId="{841F8C2A-328F-724A-AC61-AF18203E98B3}" destId="{C4C5AA89-D850-1744-9E0D-9027DA949606}" srcOrd="0" destOrd="0" parTransId="{F82125A2-DB77-D84A-991D-3145F88168EB}" sibTransId="{3E2CFF00-7B48-BA42-9D42-9E61F6B31325}"/>
    <dgm:cxn modelId="{41396523-F9C6-9040-B56F-52DE5CD28BDD}" srcId="{841F8C2A-328F-724A-AC61-AF18203E98B3}" destId="{E630F192-5C8B-7E47-87C7-81EB07B507C7}" srcOrd="1" destOrd="0" parTransId="{07283D72-8835-9842-AF1A-354D151BF5BF}" sibTransId="{ED9F0213-F9BF-F74C-A54D-0B5A37136C9C}"/>
    <dgm:cxn modelId="{431DB62E-D385-264C-9A54-CE10BAFCBF7F}" type="presOf" srcId="{99DC4C28-A725-454D-BE93-CDF6758F173D}" destId="{EC4B5A1A-5870-5C40-8ADE-32EFF8546961}" srcOrd="0" destOrd="0" presId="urn:microsoft.com/office/officeart/2005/8/layout/list1"/>
    <dgm:cxn modelId="{3B485B71-69C3-1B4D-B49A-9C72252A9F2D}" type="presOf" srcId="{E630F192-5C8B-7E47-87C7-81EB07B507C7}" destId="{464CA9E3-BB9C-5B48-A381-0F2DD358996A}" srcOrd="0" destOrd="0" presId="urn:microsoft.com/office/officeart/2005/8/layout/list1"/>
    <dgm:cxn modelId="{295DFF72-246F-6542-856A-0297E3667F0B}" type="presOf" srcId="{841F8C2A-328F-724A-AC61-AF18203E98B3}" destId="{F3802972-AD8D-6C46-9950-31285B6464FF}" srcOrd="0" destOrd="0" presId="urn:microsoft.com/office/officeart/2005/8/layout/list1"/>
    <dgm:cxn modelId="{2C74517A-2455-E84A-8B78-155E80A51D13}" type="presOf" srcId="{8AE05AB4-C8C1-0C46-8AC1-AB7D1EF4A317}" destId="{40B0B400-5226-0F4B-98AB-E6B21FAA5A13}" srcOrd="0" destOrd="0" presId="urn:microsoft.com/office/officeart/2005/8/layout/list1"/>
    <dgm:cxn modelId="{4C1D0F85-1DC4-1F49-848A-0C42217A3C51}" srcId="{E630F192-5C8B-7E47-87C7-81EB07B507C7}" destId="{8AE05AB4-C8C1-0C46-8AC1-AB7D1EF4A317}" srcOrd="0" destOrd="0" parTransId="{1C6D1601-14D0-6D46-A546-BF9AD27AED31}" sibTransId="{0FEF3BC0-9BD0-6947-AE81-E95FF485537F}"/>
    <dgm:cxn modelId="{3BF68787-01C8-524E-843F-78DE25BFAFAB}" type="presOf" srcId="{C4C5AA89-D850-1744-9E0D-9027DA949606}" destId="{DD1D9237-EB74-E84E-AC7E-51428224DD48}" srcOrd="1" destOrd="0" presId="urn:microsoft.com/office/officeart/2005/8/layout/list1"/>
    <dgm:cxn modelId="{4835B0B4-5A13-134B-9F44-DDD5EEF77133}" srcId="{C4C5AA89-D850-1744-9E0D-9027DA949606}" destId="{99DC4C28-A725-454D-BE93-CDF6758F173D}" srcOrd="0" destOrd="0" parTransId="{3C50D3DB-4981-CF43-BB03-CEA66146FC05}" sibTransId="{9CBC6304-C560-B349-AFC8-48AEFAE62F46}"/>
    <dgm:cxn modelId="{CD0EE7BC-EABC-C442-8003-9D2EE71D97BB}" type="presOf" srcId="{E630F192-5C8B-7E47-87C7-81EB07B507C7}" destId="{2E01E895-987A-1640-8719-30A986FB6C86}" srcOrd="1" destOrd="0" presId="urn:microsoft.com/office/officeart/2005/8/layout/list1"/>
    <dgm:cxn modelId="{4AE78692-06AA-664C-A248-5E5F6106228F}" type="presParOf" srcId="{F3802972-AD8D-6C46-9950-31285B6464FF}" destId="{AC315FBB-53F7-6041-A377-53BAC873EAA1}" srcOrd="0" destOrd="0" presId="urn:microsoft.com/office/officeart/2005/8/layout/list1"/>
    <dgm:cxn modelId="{43738B26-3E3F-224A-8263-CA0DC485C2E9}" type="presParOf" srcId="{AC315FBB-53F7-6041-A377-53BAC873EAA1}" destId="{793462AF-15D8-084F-A5E6-11A1D6709268}" srcOrd="0" destOrd="0" presId="urn:microsoft.com/office/officeart/2005/8/layout/list1"/>
    <dgm:cxn modelId="{8588013A-911F-D64A-B16E-F3576E111EEF}" type="presParOf" srcId="{AC315FBB-53F7-6041-A377-53BAC873EAA1}" destId="{DD1D9237-EB74-E84E-AC7E-51428224DD48}" srcOrd="1" destOrd="0" presId="urn:microsoft.com/office/officeart/2005/8/layout/list1"/>
    <dgm:cxn modelId="{9ADBEC57-4D40-C349-8B62-8D4F84349C21}" type="presParOf" srcId="{F3802972-AD8D-6C46-9950-31285B6464FF}" destId="{F763F474-FF0B-2845-BCE4-3D82A97F4081}" srcOrd="1" destOrd="0" presId="urn:microsoft.com/office/officeart/2005/8/layout/list1"/>
    <dgm:cxn modelId="{10BD093C-EDE4-1542-B316-4E3D9B4358E1}" type="presParOf" srcId="{F3802972-AD8D-6C46-9950-31285B6464FF}" destId="{EC4B5A1A-5870-5C40-8ADE-32EFF8546961}" srcOrd="2" destOrd="0" presId="urn:microsoft.com/office/officeart/2005/8/layout/list1"/>
    <dgm:cxn modelId="{D6B7C085-C898-2649-AEB6-294A25F83DC4}" type="presParOf" srcId="{F3802972-AD8D-6C46-9950-31285B6464FF}" destId="{1BDB3C83-8BE2-E74A-A4C1-A20CCB2BB70C}" srcOrd="3" destOrd="0" presId="urn:microsoft.com/office/officeart/2005/8/layout/list1"/>
    <dgm:cxn modelId="{AA467107-D258-9A40-8389-72BEBB74B105}" type="presParOf" srcId="{F3802972-AD8D-6C46-9950-31285B6464FF}" destId="{4CA8084D-C9F9-6F48-91CA-DD2D3B0ADDCF}" srcOrd="4" destOrd="0" presId="urn:microsoft.com/office/officeart/2005/8/layout/list1"/>
    <dgm:cxn modelId="{7E305759-17AD-8E41-91B3-5DBDEA927D59}" type="presParOf" srcId="{4CA8084D-C9F9-6F48-91CA-DD2D3B0ADDCF}" destId="{464CA9E3-BB9C-5B48-A381-0F2DD358996A}" srcOrd="0" destOrd="0" presId="urn:microsoft.com/office/officeart/2005/8/layout/list1"/>
    <dgm:cxn modelId="{9B717068-58E3-E24B-A762-14B69AF4070E}" type="presParOf" srcId="{4CA8084D-C9F9-6F48-91CA-DD2D3B0ADDCF}" destId="{2E01E895-987A-1640-8719-30A986FB6C86}" srcOrd="1" destOrd="0" presId="urn:microsoft.com/office/officeart/2005/8/layout/list1"/>
    <dgm:cxn modelId="{04E170A8-08C8-4E45-81B0-C0238986ECFB}" type="presParOf" srcId="{F3802972-AD8D-6C46-9950-31285B6464FF}" destId="{5455BB0B-CF8C-5E4A-AFA2-A60DAEEE4AF1}" srcOrd="5" destOrd="0" presId="urn:microsoft.com/office/officeart/2005/8/layout/list1"/>
    <dgm:cxn modelId="{D6D6CA4E-5F7A-B848-98C7-22A80C9F6BFC}" type="presParOf" srcId="{F3802972-AD8D-6C46-9950-31285B6464FF}" destId="{40B0B400-5226-0F4B-98AB-E6B21FAA5A1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C3CA0A9-4361-4A4C-8F7D-C068CECB64A9}" type="doc">
      <dgm:prSet loTypeId="urn:microsoft.com/office/officeart/2005/8/layout/process1" loCatId="process" qsTypeId="urn:microsoft.com/office/officeart/2005/8/quickstyle/simple4" qsCatId="simple" csTypeId="urn:microsoft.com/office/officeart/2005/8/colors/accent1_2" csCatId="accent1" phldr="1"/>
      <dgm:spPr/>
      <dgm:t>
        <a:bodyPr/>
        <a:lstStyle/>
        <a:p>
          <a:endParaRPr lang="en-US"/>
        </a:p>
      </dgm:t>
    </dgm:pt>
    <dgm:pt modelId="{32ADD72F-387D-5D49-B356-32480800A56F}">
      <dgm:prSet phldrT="[Text]"/>
      <dgm:spPr>
        <a:solidFill>
          <a:schemeClr val="accent3">
            <a:lumMod val="50000"/>
          </a:schemeClr>
        </a:solidFill>
      </dgm:spPr>
      <dgm:t>
        <a:bodyPr/>
        <a:lstStyle/>
        <a:p>
          <a:r>
            <a:rPr lang="en-US" sz="3600" dirty="0"/>
            <a:t>General Situation:</a:t>
          </a:r>
        </a:p>
      </dgm:t>
    </dgm:pt>
    <dgm:pt modelId="{ACBCBA39-A19B-0D4A-825F-1C02F1751A15}" type="parTrans" cxnId="{EF10C333-2D65-2E47-B843-F834084BEDE2}">
      <dgm:prSet/>
      <dgm:spPr/>
      <dgm:t>
        <a:bodyPr/>
        <a:lstStyle/>
        <a:p>
          <a:endParaRPr lang="en-US"/>
        </a:p>
      </dgm:t>
    </dgm:pt>
    <dgm:pt modelId="{96A0B8D0-E21D-B546-B2B7-D5F5525779A8}" type="sibTrans" cxnId="{EF10C333-2D65-2E47-B843-F834084BEDE2}">
      <dgm:prSet/>
      <dgm:spPr>
        <a:solidFill>
          <a:schemeClr val="accent2">
            <a:lumMod val="50000"/>
          </a:schemeClr>
        </a:solidFill>
      </dgm:spPr>
      <dgm:t>
        <a:bodyPr/>
        <a:lstStyle/>
        <a:p>
          <a:endParaRPr lang="en-US"/>
        </a:p>
      </dgm:t>
    </dgm:pt>
    <dgm:pt modelId="{890A5C6B-01FF-8644-9F42-531144637C24}">
      <dgm:prSet custT="1"/>
      <dgm:spPr>
        <a:solidFill>
          <a:schemeClr val="accent3">
            <a:lumMod val="50000"/>
          </a:schemeClr>
        </a:solidFill>
      </dgm:spPr>
      <dgm:t>
        <a:bodyPr/>
        <a:lstStyle/>
        <a:p>
          <a:r>
            <a:rPr lang="en-US" sz="2100" dirty="0"/>
            <a:t>one or more producers are generating data and placing these in a buffer</a:t>
          </a:r>
        </a:p>
      </dgm:t>
    </dgm:pt>
    <dgm:pt modelId="{47E672CF-2850-6947-B27E-485C3AEAA424}" type="parTrans" cxnId="{07A70EDB-5576-8B43-8D0B-DD7F50CE7F17}">
      <dgm:prSet/>
      <dgm:spPr/>
      <dgm:t>
        <a:bodyPr/>
        <a:lstStyle/>
        <a:p>
          <a:endParaRPr lang="en-US"/>
        </a:p>
      </dgm:t>
    </dgm:pt>
    <dgm:pt modelId="{A88CA46A-B080-6C46-9957-0EF93D5428E2}" type="sibTrans" cxnId="{07A70EDB-5576-8B43-8D0B-DD7F50CE7F17}">
      <dgm:prSet/>
      <dgm:spPr/>
      <dgm:t>
        <a:bodyPr/>
        <a:lstStyle/>
        <a:p>
          <a:endParaRPr lang="en-US"/>
        </a:p>
      </dgm:t>
    </dgm:pt>
    <dgm:pt modelId="{6B004168-BC8C-F145-810F-93B41C7A0BE5}">
      <dgm:prSet custT="1"/>
      <dgm:spPr>
        <a:solidFill>
          <a:schemeClr val="accent3">
            <a:lumMod val="50000"/>
          </a:schemeClr>
        </a:solidFill>
      </dgm:spPr>
      <dgm:t>
        <a:bodyPr/>
        <a:lstStyle/>
        <a:p>
          <a:r>
            <a:rPr lang="en-US" sz="2100" dirty="0"/>
            <a:t>a single consumer is taking items out of the buffer one at time</a:t>
          </a:r>
        </a:p>
      </dgm:t>
    </dgm:pt>
    <dgm:pt modelId="{DC4F0CD8-5D05-C944-A9B4-C41294EF32B2}" type="parTrans" cxnId="{97215901-35A1-B24E-BE2A-E4B58B7AE385}">
      <dgm:prSet/>
      <dgm:spPr/>
      <dgm:t>
        <a:bodyPr/>
        <a:lstStyle/>
        <a:p>
          <a:endParaRPr lang="en-US"/>
        </a:p>
      </dgm:t>
    </dgm:pt>
    <dgm:pt modelId="{B7A32575-2A76-3E46-B5AB-A76A5BA132B7}" type="sibTrans" cxnId="{97215901-35A1-B24E-BE2A-E4B58B7AE385}">
      <dgm:prSet/>
      <dgm:spPr/>
      <dgm:t>
        <a:bodyPr/>
        <a:lstStyle/>
        <a:p>
          <a:endParaRPr lang="en-US"/>
        </a:p>
      </dgm:t>
    </dgm:pt>
    <dgm:pt modelId="{88E986B8-7F0F-A946-BDC0-FD05E1829B0C}">
      <dgm:prSet custT="1"/>
      <dgm:spPr>
        <a:solidFill>
          <a:schemeClr val="accent3">
            <a:lumMod val="50000"/>
          </a:schemeClr>
        </a:solidFill>
      </dgm:spPr>
      <dgm:t>
        <a:bodyPr/>
        <a:lstStyle/>
        <a:p>
          <a:r>
            <a:rPr lang="en-US" sz="2100" dirty="0"/>
            <a:t>only one producer or consumer may access the buffer at any one time</a:t>
          </a:r>
        </a:p>
      </dgm:t>
    </dgm:pt>
    <dgm:pt modelId="{A4DF1310-AE68-FC4D-A2A0-E842DE47A874}" type="parTrans" cxnId="{C8C9BC49-2BFE-E64C-A284-261D0B85069A}">
      <dgm:prSet/>
      <dgm:spPr/>
      <dgm:t>
        <a:bodyPr/>
        <a:lstStyle/>
        <a:p>
          <a:endParaRPr lang="en-US"/>
        </a:p>
      </dgm:t>
    </dgm:pt>
    <dgm:pt modelId="{8944BF98-7F51-8C42-AF3D-BD83D7EA4B86}" type="sibTrans" cxnId="{C8C9BC49-2BFE-E64C-A284-261D0B85069A}">
      <dgm:prSet/>
      <dgm:spPr/>
      <dgm:t>
        <a:bodyPr/>
        <a:lstStyle/>
        <a:p>
          <a:endParaRPr lang="en-US"/>
        </a:p>
      </dgm:t>
    </dgm:pt>
    <dgm:pt modelId="{1097D9BF-D6EE-F645-B86B-EB8202BE466B}">
      <dgm:prSet/>
      <dgm:spPr/>
      <dgm:t>
        <a:bodyPr/>
        <a:lstStyle/>
        <a:p>
          <a:r>
            <a:rPr lang="en-US" dirty="0"/>
            <a:t>The Problem:</a:t>
          </a:r>
        </a:p>
      </dgm:t>
    </dgm:pt>
    <dgm:pt modelId="{81DDE126-32AB-D741-8738-24BE48D4A02D}" type="parTrans" cxnId="{025D35A0-BFBE-8143-BF4A-36C41FAED1B7}">
      <dgm:prSet/>
      <dgm:spPr/>
      <dgm:t>
        <a:bodyPr/>
        <a:lstStyle/>
        <a:p>
          <a:endParaRPr lang="en-US"/>
        </a:p>
      </dgm:t>
    </dgm:pt>
    <dgm:pt modelId="{F0E057FC-5C5A-A843-AD44-105E09ADE54B}" type="sibTrans" cxnId="{025D35A0-BFBE-8143-BF4A-36C41FAED1B7}">
      <dgm:prSet/>
      <dgm:spPr/>
      <dgm:t>
        <a:bodyPr/>
        <a:lstStyle/>
        <a:p>
          <a:endParaRPr lang="en-US"/>
        </a:p>
      </dgm:t>
    </dgm:pt>
    <dgm:pt modelId="{68859321-50D7-6A47-9CEF-1D23ED860482}">
      <dgm:prSet/>
      <dgm:spPr/>
      <dgm:t>
        <a:bodyPr/>
        <a:lstStyle/>
        <a:p>
          <a:r>
            <a:rPr lang="en-US" dirty="0"/>
            <a:t>ensure that the producer can’t add data into full buffer and consumer can’t remove data from an empty buffer</a:t>
          </a:r>
        </a:p>
      </dgm:t>
    </dgm:pt>
    <dgm:pt modelId="{99F7E1FF-FBED-C749-84FD-ADFC15A66C55}" type="parTrans" cxnId="{EA91773A-5AB7-D546-A3B1-E48B29C8C03F}">
      <dgm:prSet/>
      <dgm:spPr/>
      <dgm:t>
        <a:bodyPr/>
        <a:lstStyle/>
        <a:p>
          <a:endParaRPr lang="en-US"/>
        </a:p>
      </dgm:t>
    </dgm:pt>
    <dgm:pt modelId="{86F6F86A-EFF7-A641-9BF5-359A74C7EEF0}" type="sibTrans" cxnId="{EA91773A-5AB7-D546-A3B1-E48B29C8C03F}">
      <dgm:prSet/>
      <dgm:spPr/>
      <dgm:t>
        <a:bodyPr/>
        <a:lstStyle/>
        <a:p>
          <a:endParaRPr lang="en-US"/>
        </a:p>
      </dgm:t>
    </dgm:pt>
    <dgm:pt modelId="{D105F745-C823-BE43-91D0-375DBAE61FAE}" type="pres">
      <dgm:prSet presAssocID="{7C3CA0A9-4361-4A4C-8F7D-C068CECB64A9}" presName="Name0" presStyleCnt="0">
        <dgm:presLayoutVars>
          <dgm:dir/>
          <dgm:resizeHandles val="exact"/>
        </dgm:presLayoutVars>
      </dgm:prSet>
      <dgm:spPr/>
    </dgm:pt>
    <dgm:pt modelId="{0FC6EB41-3B3B-EA42-AE9D-C2314DC42775}" type="pres">
      <dgm:prSet presAssocID="{32ADD72F-387D-5D49-B356-32480800A56F}" presName="node" presStyleLbl="node1" presStyleIdx="0" presStyleCnt="2" custScaleX="125482" custScaleY="163827" custLinFactNeighborX="11321">
        <dgm:presLayoutVars>
          <dgm:bulletEnabled val="1"/>
        </dgm:presLayoutVars>
      </dgm:prSet>
      <dgm:spPr/>
    </dgm:pt>
    <dgm:pt modelId="{2FC5CD5F-1F07-7F44-B8F2-45124A5E3E66}" type="pres">
      <dgm:prSet presAssocID="{96A0B8D0-E21D-B546-B2B7-D5F5525779A8}" presName="sibTrans" presStyleLbl="sibTrans2D1" presStyleIdx="0" presStyleCnt="1"/>
      <dgm:spPr/>
    </dgm:pt>
    <dgm:pt modelId="{2FFAD541-8591-7E4B-82CA-9280A7C70CB7}" type="pres">
      <dgm:prSet presAssocID="{96A0B8D0-E21D-B546-B2B7-D5F5525779A8}" presName="connectorText" presStyleLbl="sibTrans2D1" presStyleIdx="0" presStyleCnt="1"/>
      <dgm:spPr/>
    </dgm:pt>
    <dgm:pt modelId="{97C10248-49D4-BA42-A96D-F06C469FE9B5}" type="pres">
      <dgm:prSet presAssocID="{1097D9BF-D6EE-F645-B86B-EB8202BE466B}" presName="node" presStyleLbl="node1" presStyleIdx="1" presStyleCnt="2" custScaleX="100394" custScaleY="129337">
        <dgm:presLayoutVars>
          <dgm:bulletEnabled val="1"/>
        </dgm:presLayoutVars>
      </dgm:prSet>
      <dgm:spPr/>
    </dgm:pt>
  </dgm:ptLst>
  <dgm:cxnLst>
    <dgm:cxn modelId="{97215901-35A1-B24E-BE2A-E4B58B7AE385}" srcId="{32ADD72F-387D-5D49-B356-32480800A56F}" destId="{6B004168-BC8C-F145-810F-93B41C7A0BE5}" srcOrd="1" destOrd="0" parTransId="{DC4F0CD8-5D05-C944-A9B4-C41294EF32B2}" sibTransId="{B7A32575-2A76-3E46-B5AB-A76A5BA132B7}"/>
    <dgm:cxn modelId="{FF871215-DFDF-8B43-8C09-44D0BB4886A8}" type="presOf" srcId="{68859321-50D7-6A47-9CEF-1D23ED860482}" destId="{97C10248-49D4-BA42-A96D-F06C469FE9B5}" srcOrd="0" destOrd="1" presId="urn:microsoft.com/office/officeart/2005/8/layout/process1"/>
    <dgm:cxn modelId="{EF10C333-2D65-2E47-B843-F834084BEDE2}" srcId="{7C3CA0A9-4361-4A4C-8F7D-C068CECB64A9}" destId="{32ADD72F-387D-5D49-B356-32480800A56F}" srcOrd="0" destOrd="0" parTransId="{ACBCBA39-A19B-0D4A-825F-1C02F1751A15}" sibTransId="{96A0B8D0-E21D-B546-B2B7-D5F5525779A8}"/>
    <dgm:cxn modelId="{EA91773A-5AB7-D546-A3B1-E48B29C8C03F}" srcId="{1097D9BF-D6EE-F645-B86B-EB8202BE466B}" destId="{68859321-50D7-6A47-9CEF-1D23ED860482}" srcOrd="0" destOrd="0" parTransId="{99F7E1FF-FBED-C749-84FD-ADFC15A66C55}" sibTransId="{86F6F86A-EFF7-A641-9BF5-359A74C7EEF0}"/>
    <dgm:cxn modelId="{C8C9BC49-2BFE-E64C-A284-261D0B85069A}" srcId="{32ADD72F-387D-5D49-B356-32480800A56F}" destId="{88E986B8-7F0F-A946-BDC0-FD05E1829B0C}" srcOrd="2" destOrd="0" parTransId="{A4DF1310-AE68-FC4D-A2A0-E842DE47A874}" sibTransId="{8944BF98-7F51-8C42-AF3D-BD83D7EA4B86}"/>
    <dgm:cxn modelId="{6C73ED70-8C7F-4046-8B42-EB93CF0E2779}" type="presOf" srcId="{32ADD72F-387D-5D49-B356-32480800A56F}" destId="{0FC6EB41-3B3B-EA42-AE9D-C2314DC42775}" srcOrd="0" destOrd="0" presId="urn:microsoft.com/office/officeart/2005/8/layout/process1"/>
    <dgm:cxn modelId="{C5E87657-00F4-E84A-AE78-8412F585ACA0}" type="presOf" srcId="{7C3CA0A9-4361-4A4C-8F7D-C068CECB64A9}" destId="{D105F745-C823-BE43-91D0-375DBAE61FAE}" srcOrd="0" destOrd="0" presId="urn:microsoft.com/office/officeart/2005/8/layout/process1"/>
    <dgm:cxn modelId="{84D5F97C-9096-8C40-A576-C1B8A27BFF19}" type="presOf" srcId="{1097D9BF-D6EE-F645-B86B-EB8202BE466B}" destId="{97C10248-49D4-BA42-A96D-F06C469FE9B5}" srcOrd="0" destOrd="0" presId="urn:microsoft.com/office/officeart/2005/8/layout/process1"/>
    <dgm:cxn modelId="{025D35A0-BFBE-8143-BF4A-36C41FAED1B7}" srcId="{7C3CA0A9-4361-4A4C-8F7D-C068CECB64A9}" destId="{1097D9BF-D6EE-F645-B86B-EB8202BE466B}" srcOrd="1" destOrd="0" parTransId="{81DDE126-32AB-D741-8738-24BE48D4A02D}" sibTransId="{F0E057FC-5C5A-A843-AD44-105E09ADE54B}"/>
    <dgm:cxn modelId="{DDBBEDAF-8AF6-534D-84AC-570FA6B78CB3}" type="presOf" srcId="{890A5C6B-01FF-8644-9F42-531144637C24}" destId="{0FC6EB41-3B3B-EA42-AE9D-C2314DC42775}" srcOrd="0" destOrd="1" presId="urn:microsoft.com/office/officeart/2005/8/layout/process1"/>
    <dgm:cxn modelId="{0742BCBC-73C8-1246-8CE5-68457D140F0A}" type="presOf" srcId="{6B004168-BC8C-F145-810F-93B41C7A0BE5}" destId="{0FC6EB41-3B3B-EA42-AE9D-C2314DC42775}" srcOrd="0" destOrd="2" presId="urn:microsoft.com/office/officeart/2005/8/layout/process1"/>
    <dgm:cxn modelId="{F5A978BD-BD77-E14D-B26E-F35E19EB7D65}" type="presOf" srcId="{88E986B8-7F0F-A946-BDC0-FD05E1829B0C}" destId="{0FC6EB41-3B3B-EA42-AE9D-C2314DC42775}" srcOrd="0" destOrd="3" presId="urn:microsoft.com/office/officeart/2005/8/layout/process1"/>
    <dgm:cxn modelId="{D5F045CF-9CAD-084B-B720-1AEC944CD1A4}" type="presOf" srcId="{96A0B8D0-E21D-B546-B2B7-D5F5525779A8}" destId="{2FC5CD5F-1F07-7F44-B8F2-45124A5E3E66}" srcOrd="0" destOrd="0" presId="urn:microsoft.com/office/officeart/2005/8/layout/process1"/>
    <dgm:cxn modelId="{4104F1D8-5ECF-EB4D-908A-107B77E2FBB5}" type="presOf" srcId="{96A0B8D0-E21D-B546-B2B7-D5F5525779A8}" destId="{2FFAD541-8591-7E4B-82CA-9280A7C70CB7}" srcOrd="1" destOrd="0" presId="urn:microsoft.com/office/officeart/2005/8/layout/process1"/>
    <dgm:cxn modelId="{07A70EDB-5576-8B43-8D0B-DD7F50CE7F17}" srcId="{32ADD72F-387D-5D49-B356-32480800A56F}" destId="{890A5C6B-01FF-8644-9F42-531144637C24}" srcOrd="0" destOrd="0" parTransId="{47E672CF-2850-6947-B27E-485C3AEAA424}" sibTransId="{A88CA46A-B080-6C46-9957-0EF93D5428E2}"/>
    <dgm:cxn modelId="{E4664372-AA1C-3B4A-AEDF-873BDB8F5DAE}" type="presParOf" srcId="{D105F745-C823-BE43-91D0-375DBAE61FAE}" destId="{0FC6EB41-3B3B-EA42-AE9D-C2314DC42775}" srcOrd="0" destOrd="0" presId="urn:microsoft.com/office/officeart/2005/8/layout/process1"/>
    <dgm:cxn modelId="{EEA0EE49-2179-024A-9995-A22F06D39374}" type="presParOf" srcId="{D105F745-C823-BE43-91D0-375DBAE61FAE}" destId="{2FC5CD5F-1F07-7F44-B8F2-45124A5E3E66}" srcOrd="1" destOrd="0" presId="urn:microsoft.com/office/officeart/2005/8/layout/process1"/>
    <dgm:cxn modelId="{A94A2124-6642-684D-B594-2502D24726F1}" type="presParOf" srcId="{2FC5CD5F-1F07-7F44-B8F2-45124A5E3E66}" destId="{2FFAD541-8591-7E4B-82CA-9280A7C70CB7}" srcOrd="0" destOrd="0" presId="urn:microsoft.com/office/officeart/2005/8/layout/process1"/>
    <dgm:cxn modelId="{9B1C58CB-E41F-1444-AC98-C527B15C85E8}" type="presParOf" srcId="{D105F745-C823-BE43-91D0-375DBAE61FAE}" destId="{97C10248-49D4-BA42-A96D-F06C469FE9B5}"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978A990-084D-244A-ABFA-1DBDCB28F056}" type="doc">
      <dgm:prSet loTypeId="urn:microsoft.com/office/officeart/2005/8/layout/hProcess11" loCatId="process" qsTypeId="urn:microsoft.com/office/officeart/2005/8/quickstyle/simple4" qsCatId="simple" csTypeId="urn:microsoft.com/office/officeart/2005/8/colors/accent1_2" csCatId="accent1"/>
      <dgm:spPr/>
      <dgm:t>
        <a:bodyPr/>
        <a:lstStyle/>
        <a:p>
          <a:endParaRPr lang="en-US"/>
        </a:p>
      </dgm:t>
    </dgm:pt>
    <dgm:pt modelId="{0CD498C7-3DDE-0C46-9AE3-319907EB4EE7}">
      <dgm:prSet/>
      <dgm:spPr/>
      <dgm:t>
        <a:bodyPr/>
        <a:lstStyle/>
        <a:p>
          <a:pPr rtl="0"/>
          <a:r>
            <a:rPr lang="en-US" dirty="0"/>
            <a:t>Local data variables are accessible only by the monitor’s procedures and not by any external procedure</a:t>
          </a:r>
        </a:p>
      </dgm:t>
    </dgm:pt>
    <dgm:pt modelId="{8D950DE2-9FCB-674D-9547-FD7F92868FDF}" type="parTrans" cxnId="{9060B13E-EB83-584D-AC05-258206B1E1DC}">
      <dgm:prSet/>
      <dgm:spPr/>
      <dgm:t>
        <a:bodyPr/>
        <a:lstStyle/>
        <a:p>
          <a:endParaRPr lang="en-US"/>
        </a:p>
      </dgm:t>
    </dgm:pt>
    <dgm:pt modelId="{5CE9E49E-63E3-924D-9DA4-CE09FF92C74D}" type="sibTrans" cxnId="{9060B13E-EB83-584D-AC05-258206B1E1DC}">
      <dgm:prSet/>
      <dgm:spPr/>
      <dgm:t>
        <a:bodyPr/>
        <a:lstStyle/>
        <a:p>
          <a:endParaRPr lang="en-US"/>
        </a:p>
      </dgm:t>
    </dgm:pt>
    <dgm:pt modelId="{8EA9CC64-AB13-CE41-A069-63201EE90D17}">
      <dgm:prSet/>
      <dgm:spPr/>
      <dgm:t>
        <a:bodyPr/>
        <a:lstStyle/>
        <a:p>
          <a:pPr rtl="0"/>
          <a:r>
            <a:rPr lang="en-US" dirty="0"/>
            <a:t>Process enters monitor by invoking one of its procedures</a:t>
          </a:r>
        </a:p>
      </dgm:t>
    </dgm:pt>
    <dgm:pt modelId="{B8F14AB4-9BCB-FB49-B1D5-5A4A82657B1D}" type="parTrans" cxnId="{2A8E4868-B2DB-2F49-A4A5-95FEC4EF9A34}">
      <dgm:prSet/>
      <dgm:spPr/>
      <dgm:t>
        <a:bodyPr/>
        <a:lstStyle/>
        <a:p>
          <a:endParaRPr lang="en-US"/>
        </a:p>
      </dgm:t>
    </dgm:pt>
    <dgm:pt modelId="{10A7DE3D-0A3F-A145-95C0-0BF97558CB2F}" type="sibTrans" cxnId="{2A8E4868-B2DB-2F49-A4A5-95FEC4EF9A34}">
      <dgm:prSet/>
      <dgm:spPr/>
      <dgm:t>
        <a:bodyPr/>
        <a:lstStyle/>
        <a:p>
          <a:endParaRPr lang="en-US"/>
        </a:p>
      </dgm:t>
    </dgm:pt>
    <dgm:pt modelId="{6E91142C-36C5-A64D-8E23-3E1F763F275F}">
      <dgm:prSet/>
      <dgm:spPr/>
      <dgm:t>
        <a:bodyPr/>
        <a:lstStyle/>
        <a:p>
          <a:pPr rtl="0"/>
          <a:r>
            <a:rPr lang="en-US" dirty="0"/>
            <a:t>Only one process may be executing in the monitor at a time</a:t>
          </a:r>
        </a:p>
      </dgm:t>
    </dgm:pt>
    <dgm:pt modelId="{0CE164C2-1D94-CD4E-99FA-05E077D244EE}" type="parTrans" cxnId="{087B68F7-DC65-3E4E-9C58-622EDA633B35}">
      <dgm:prSet/>
      <dgm:spPr/>
      <dgm:t>
        <a:bodyPr/>
        <a:lstStyle/>
        <a:p>
          <a:endParaRPr lang="en-US"/>
        </a:p>
      </dgm:t>
    </dgm:pt>
    <dgm:pt modelId="{4E5A11BF-DB4A-C947-B5E9-A877E3978015}" type="sibTrans" cxnId="{087B68F7-DC65-3E4E-9C58-622EDA633B35}">
      <dgm:prSet/>
      <dgm:spPr/>
      <dgm:t>
        <a:bodyPr/>
        <a:lstStyle/>
        <a:p>
          <a:endParaRPr lang="en-US"/>
        </a:p>
      </dgm:t>
    </dgm:pt>
    <dgm:pt modelId="{2DBD913D-1F48-A44D-A290-E2245B3307C3}" type="pres">
      <dgm:prSet presAssocID="{6978A990-084D-244A-ABFA-1DBDCB28F056}" presName="Name0" presStyleCnt="0">
        <dgm:presLayoutVars>
          <dgm:dir/>
          <dgm:resizeHandles val="exact"/>
        </dgm:presLayoutVars>
      </dgm:prSet>
      <dgm:spPr/>
    </dgm:pt>
    <dgm:pt modelId="{F27ED8C3-E406-2842-BD01-BCFEA1E9CFC2}" type="pres">
      <dgm:prSet presAssocID="{6978A990-084D-244A-ABFA-1DBDCB28F056}" presName="arrow" presStyleLbl="bgShp" presStyleIdx="0" presStyleCnt="1"/>
      <dgm:spPr>
        <a:solidFill>
          <a:schemeClr val="accent5">
            <a:lumMod val="50000"/>
            <a:alpha val="73000"/>
          </a:schemeClr>
        </a:solidFill>
      </dgm:spPr>
    </dgm:pt>
    <dgm:pt modelId="{ABAC3629-7E56-E44D-B9E9-E4277FBF8261}" type="pres">
      <dgm:prSet presAssocID="{6978A990-084D-244A-ABFA-1DBDCB28F056}" presName="points" presStyleCnt="0"/>
      <dgm:spPr/>
    </dgm:pt>
    <dgm:pt modelId="{966F37C6-7D75-FD49-A96A-649582BC7A80}" type="pres">
      <dgm:prSet presAssocID="{0CD498C7-3DDE-0C46-9AE3-319907EB4EE7}" presName="compositeA" presStyleCnt="0"/>
      <dgm:spPr/>
    </dgm:pt>
    <dgm:pt modelId="{58893B8B-7919-3541-8D99-D3AEC91FB799}" type="pres">
      <dgm:prSet presAssocID="{0CD498C7-3DDE-0C46-9AE3-319907EB4EE7}" presName="textA" presStyleLbl="revTx" presStyleIdx="0" presStyleCnt="3">
        <dgm:presLayoutVars>
          <dgm:bulletEnabled val="1"/>
        </dgm:presLayoutVars>
      </dgm:prSet>
      <dgm:spPr/>
    </dgm:pt>
    <dgm:pt modelId="{A1A147BE-7D78-004C-B935-FAA4F498AEEE}" type="pres">
      <dgm:prSet presAssocID="{0CD498C7-3DDE-0C46-9AE3-319907EB4EE7}" presName="circleA" presStyleLbl="node1" presStyleIdx="0" presStyleCnt="3"/>
      <dgm:spPr>
        <a:solidFill>
          <a:schemeClr val="bg1">
            <a:lumMod val="85000"/>
          </a:schemeClr>
        </a:solidFill>
      </dgm:spPr>
    </dgm:pt>
    <dgm:pt modelId="{61087838-36BF-674B-8A25-A19155220825}" type="pres">
      <dgm:prSet presAssocID="{0CD498C7-3DDE-0C46-9AE3-319907EB4EE7}" presName="spaceA" presStyleCnt="0"/>
      <dgm:spPr/>
    </dgm:pt>
    <dgm:pt modelId="{0A6BDCA9-7D47-2B4B-B9A8-FDEB79E1CE6A}" type="pres">
      <dgm:prSet presAssocID="{5CE9E49E-63E3-924D-9DA4-CE09FF92C74D}" presName="space" presStyleCnt="0"/>
      <dgm:spPr/>
    </dgm:pt>
    <dgm:pt modelId="{2AAC76F1-2C7F-8245-A4D5-FC3AB358E11D}" type="pres">
      <dgm:prSet presAssocID="{8EA9CC64-AB13-CE41-A069-63201EE90D17}" presName="compositeB" presStyleCnt="0"/>
      <dgm:spPr/>
    </dgm:pt>
    <dgm:pt modelId="{5F9EB354-648F-9643-A087-BCC60CED9639}" type="pres">
      <dgm:prSet presAssocID="{8EA9CC64-AB13-CE41-A069-63201EE90D17}" presName="textB" presStyleLbl="revTx" presStyleIdx="1" presStyleCnt="3">
        <dgm:presLayoutVars>
          <dgm:bulletEnabled val="1"/>
        </dgm:presLayoutVars>
      </dgm:prSet>
      <dgm:spPr/>
    </dgm:pt>
    <dgm:pt modelId="{5BF15F84-4D4A-644D-84F8-62271DC370A9}" type="pres">
      <dgm:prSet presAssocID="{8EA9CC64-AB13-CE41-A069-63201EE90D17}" presName="circleB" presStyleLbl="node1" presStyleIdx="1" presStyleCnt="3"/>
      <dgm:spPr>
        <a:solidFill>
          <a:schemeClr val="bg1">
            <a:lumMod val="85000"/>
          </a:schemeClr>
        </a:solidFill>
      </dgm:spPr>
    </dgm:pt>
    <dgm:pt modelId="{37B389D9-BE03-4C41-ADE4-D266C5D96FF8}" type="pres">
      <dgm:prSet presAssocID="{8EA9CC64-AB13-CE41-A069-63201EE90D17}" presName="spaceB" presStyleCnt="0"/>
      <dgm:spPr/>
    </dgm:pt>
    <dgm:pt modelId="{7F9A5DD9-4E05-0445-AECE-FF36902F5EC8}" type="pres">
      <dgm:prSet presAssocID="{10A7DE3D-0A3F-A145-95C0-0BF97558CB2F}" presName="space" presStyleCnt="0"/>
      <dgm:spPr/>
    </dgm:pt>
    <dgm:pt modelId="{DB7646A1-B2FD-5944-92CB-5000DCDE26A7}" type="pres">
      <dgm:prSet presAssocID="{6E91142C-36C5-A64D-8E23-3E1F763F275F}" presName="compositeA" presStyleCnt="0"/>
      <dgm:spPr/>
    </dgm:pt>
    <dgm:pt modelId="{566C022D-D681-2E41-B689-7BBB02AA63E8}" type="pres">
      <dgm:prSet presAssocID="{6E91142C-36C5-A64D-8E23-3E1F763F275F}" presName="textA" presStyleLbl="revTx" presStyleIdx="2" presStyleCnt="3">
        <dgm:presLayoutVars>
          <dgm:bulletEnabled val="1"/>
        </dgm:presLayoutVars>
      </dgm:prSet>
      <dgm:spPr/>
    </dgm:pt>
    <dgm:pt modelId="{C07DF334-9E43-C046-A30B-E200F2167D98}" type="pres">
      <dgm:prSet presAssocID="{6E91142C-36C5-A64D-8E23-3E1F763F275F}" presName="circleA" presStyleLbl="node1" presStyleIdx="2" presStyleCnt="3"/>
      <dgm:spPr>
        <a:solidFill>
          <a:schemeClr val="bg1">
            <a:lumMod val="85000"/>
          </a:schemeClr>
        </a:solidFill>
      </dgm:spPr>
    </dgm:pt>
    <dgm:pt modelId="{331EF74E-9A03-6140-B37A-9FD0912CCB57}" type="pres">
      <dgm:prSet presAssocID="{6E91142C-36C5-A64D-8E23-3E1F763F275F}" presName="spaceA" presStyleCnt="0"/>
      <dgm:spPr/>
    </dgm:pt>
  </dgm:ptLst>
  <dgm:cxnLst>
    <dgm:cxn modelId="{D7005629-DBD9-3F44-ABBD-79C3620F9059}" type="presOf" srcId="{8EA9CC64-AB13-CE41-A069-63201EE90D17}" destId="{5F9EB354-648F-9643-A087-BCC60CED9639}" srcOrd="0" destOrd="0" presId="urn:microsoft.com/office/officeart/2005/8/layout/hProcess11"/>
    <dgm:cxn modelId="{9060B13E-EB83-584D-AC05-258206B1E1DC}" srcId="{6978A990-084D-244A-ABFA-1DBDCB28F056}" destId="{0CD498C7-3DDE-0C46-9AE3-319907EB4EE7}" srcOrd="0" destOrd="0" parTransId="{8D950DE2-9FCB-674D-9547-FD7F92868FDF}" sibTransId="{5CE9E49E-63E3-924D-9DA4-CE09FF92C74D}"/>
    <dgm:cxn modelId="{1999F766-026F-4C49-BF8B-4B4539E0A0C8}" type="presOf" srcId="{0CD498C7-3DDE-0C46-9AE3-319907EB4EE7}" destId="{58893B8B-7919-3541-8D99-D3AEC91FB799}" srcOrd="0" destOrd="0" presId="urn:microsoft.com/office/officeart/2005/8/layout/hProcess11"/>
    <dgm:cxn modelId="{2A8E4868-B2DB-2F49-A4A5-95FEC4EF9A34}" srcId="{6978A990-084D-244A-ABFA-1DBDCB28F056}" destId="{8EA9CC64-AB13-CE41-A069-63201EE90D17}" srcOrd="1" destOrd="0" parTransId="{B8F14AB4-9BCB-FB49-B1D5-5A4A82657B1D}" sibTransId="{10A7DE3D-0A3F-A145-95C0-0BF97558CB2F}"/>
    <dgm:cxn modelId="{75CC5A68-3849-004A-820D-9AECA951C347}" type="presOf" srcId="{6978A990-084D-244A-ABFA-1DBDCB28F056}" destId="{2DBD913D-1F48-A44D-A290-E2245B3307C3}" srcOrd="0" destOrd="0" presId="urn:microsoft.com/office/officeart/2005/8/layout/hProcess11"/>
    <dgm:cxn modelId="{65BFCBC6-F6F1-C04A-A9C5-D04EFB58B08B}" type="presOf" srcId="{6E91142C-36C5-A64D-8E23-3E1F763F275F}" destId="{566C022D-D681-2E41-B689-7BBB02AA63E8}" srcOrd="0" destOrd="0" presId="urn:microsoft.com/office/officeart/2005/8/layout/hProcess11"/>
    <dgm:cxn modelId="{087B68F7-DC65-3E4E-9C58-622EDA633B35}" srcId="{6978A990-084D-244A-ABFA-1DBDCB28F056}" destId="{6E91142C-36C5-A64D-8E23-3E1F763F275F}" srcOrd="2" destOrd="0" parTransId="{0CE164C2-1D94-CD4E-99FA-05E077D244EE}" sibTransId="{4E5A11BF-DB4A-C947-B5E9-A877E3978015}"/>
    <dgm:cxn modelId="{EA4A9794-B578-AA49-A23F-A7AF50134340}" type="presParOf" srcId="{2DBD913D-1F48-A44D-A290-E2245B3307C3}" destId="{F27ED8C3-E406-2842-BD01-BCFEA1E9CFC2}" srcOrd="0" destOrd="0" presId="urn:microsoft.com/office/officeart/2005/8/layout/hProcess11"/>
    <dgm:cxn modelId="{5A8A45FA-76CD-2042-AF65-3F832F21D373}" type="presParOf" srcId="{2DBD913D-1F48-A44D-A290-E2245B3307C3}" destId="{ABAC3629-7E56-E44D-B9E9-E4277FBF8261}" srcOrd="1" destOrd="0" presId="urn:microsoft.com/office/officeart/2005/8/layout/hProcess11"/>
    <dgm:cxn modelId="{9B86258F-6A37-2E4D-B128-8CF0FAB01DD7}" type="presParOf" srcId="{ABAC3629-7E56-E44D-B9E9-E4277FBF8261}" destId="{966F37C6-7D75-FD49-A96A-649582BC7A80}" srcOrd="0" destOrd="0" presId="urn:microsoft.com/office/officeart/2005/8/layout/hProcess11"/>
    <dgm:cxn modelId="{E2E2B9D0-DE41-324B-A1F2-753BE736A1C4}" type="presParOf" srcId="{966F37C6-7D75-FD49-A96A-649582BC7A80}" destId="{58893B8B-7919-3541-8D99-D3AEC91FB799}" srcOrd="0" destOrd="0" presId="urn:microsoft.com/office/officeart/2005/8/layout/hProcess11"/>
    <dgm:cxn modelId="{ADDBB0D1-6DD4-CE48-8EA7-832845A16E77}" type="presParOf" srcId="{966F37C6-7D75-FD49-A96A-649582BC7A80}" destId="{A1A147BE-7D78-004C-B935-FAA4F498AEEE}" srcOrd="1" destOrd="0" presId="urn:microsoft.com/office/officeart/2005/8/layout/hProcess11"/>
    <dgm:cxn modelId="{730B8374-3A04-9249-A3C3-9C32D0C49790}" type="presParOf" srcId="{966F37C6-7D75-FD49-A96A-649582BC7A80}" destId="{61087838-36BF-674B-8A25-A19155220825}" srcOrd="2" destOrd="0" presId="urn:microsoft.com/office/officeart/2005/8/layout/hProcess11"/>
    <dgm:cxn modelId="{06DC396C-8F2E-3644-AF11-766EA4C24017}" type="presParOf" srcId="{ABAC3629-7E56-E44D-B9E9-E4277FBF8261}" destId="{0A6BDCA9-7D47-2B4B-B9A8-FDEB79E1CE6A}" srcOrd="1" destOrd="0" presId="urn:microsoft.com/office/officeart/2005/8/layout/hProcess11"/>
    <dgm:cxn modelId="{6F85DD21-0395-B94A-B77F-28BF8D19C38E}" type="presParOf" srcId="{ABAC3629-7E56-E44D-B9E9-E4277FBF8261}" destId="{2AAC76F1-2C7F-8245-A4D5-FC3AB358E11D}" srcOrd="2" destOrd="0" presId="urn:microsoft.com/office/officeart/2005/8/layout/hProcess11"/>
    <dgm:cxn modelId="{C5360427-E25D-9744-89AE-A674E8B712E8}" type="presParOf" srcId="{2AAC76F1-2C7F-8245-A4D5-FC3AB358E11D}" destId="{5F9EB354-648F-9643-A087-BCC60CED9639}" srcOrd="0" destOrd="0" presId="urn:microsoft.com/office/officeart/2005/8/layout/hProcess11"/>
    <dgm:cxn modelId="{71322FAC-E336-234B-B9FC-CBCF9E0FB697}" type="presParOf" srcId="{2AAC76F1-2C7F-8245-A4D5-FC3AB358E11D}" destId="{5BF15F84-4D4A-644D-84F8-62271DC370A9}" srcOrd="1" destOrd="0" presId="urn:microsoft.com/office/officeart/2005/8/layout/hProcess11"/>
    <dgm:cxn modelId="{C1030814-126C-194A-BC91-7EA8DD2CD08E}" type="presParOf" srcId="{2AAC76F1-2C7F-8245-A4D5-FC3AB358E11D}" destId="{37B389D9-BE03-4C41-ADE4-D266C5D96FF8}" srcOrd="2" destOrd="0" presId="urn:microsoft.com/office/officeart/2005/8/layout/hProcess11"/>
    <dgm:cxn modelId="{A0DA03BB-4909-2647-87B8-72498CC96C7F}" type="presParOf" srcId="{ABAC3629-7E56-E44D-B9E9-E4277FBF8261}" destId="{7F9A5DD9-4E05-0445-AECE-FF36902F5EC8}" srcOrd="3" destOrd="0" presId="urn:microsoft.com/office/officeart/2005/8/layout/hProcess11"/>
    <dgm:cxn modelId="{E7EEE480-41EB-B442-A79A-C60D0C9217C5}" type="presParOf" srcId="{ABAC3629-7E56-E44D-B9E9-E4277FBF8261}" destId="{DB7646A1-B2FD-5944-92CB-5000DCDE26A7}" srcOrd="4" destOrd="0" presId="urn:microsoft.com/office/officeart/2005/8/layout/hProcess11"/>
    <dgm:cxn modelId="{43DBE0CF-FE9F-CA4E-BCFE-5F23B77BBB57}" type="presParOf" srcId="{DB7646A1-B2FD-5944-92CB-5000DCDE26A7}" destId="{566C022D-D681-2E41-B689-7BBB02AA63E8}" srcOrd="0" destOrd="0" presId="urn:microsoft.com/office/officeart/2005/8/layout/hProcess11"/>
    <dgm:cxn modelId="{45B528FE-8266-6B46-AF6A-8A04271BC36E}" type="presParOf" srcId="{DB7646A1-B2FD-5944-92CB-5000DCDE26A7}" destId="{C07DF334-9E43-C046-A30B-E200F2167D98}" srcOrd="1" destOrd="0" presId="urn:microsoft.com/office/officeart/2005/8/layout/hProcess11"/>
    <dgm:cxn modelId="{A1234411-FC71-3849-8BE6-B0D656D09D9E}" type="presParOf" srcId="{DB7646A1-B2FD-5944-92CB-5000DCDE26A7}" destId="{331EF74E-9A03-6140-B37A-9FD0912CCB57}"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0F3E3F9-68CC-4B48-97D8-8820B8B52380}"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1EA6FED8-9BBF-5140-A08F-A237BA4E9A02}">
      <dgm:prSet phldrT="[Text]"/>
      <dgm:spPr>
        <a:solidFill>
          <a:schemeClr val="accent6">
            <a:lumMod val="75000"/>
          </a:schemeClr>
        </a:solidFill>
      </dgm:spPr>
      <dgm:t>
        <a:bodyPr/>
        <a:lstStyle/>
        <a:p>
          <a:r>
            <a:rPr lang="en-NZ" dirty="0"/>
            <a:t>synchronization</a:t>
          </a:r>
          <a:endParaRPr lang="en-US" dirty="0"/>
        </a:p>
      </dgm:t>
    </dgm:pt>
    <dgm:pt modelId="{913D91F1-9A02-CC4A-AA24-9B4EFD555C36}" type="parTrans" cxnId="{50F33E3D-3B5D-3F43-849C-DA606D4851DA}">
      <dgm:prSet/>
      <dgm:spPr/>
      <dgm:t>
        <a:bodyPr/>
        <a:lstStyle/>
        <a:p>
          <a:endParaRPr lang="en-US"/>
        </a:p>
      </dgm:t>
    </dgm:pt>
    <dgm:pt modelId="{0A4C3C0D-C741-C942-A2D0-5FDFBAB365B9}" type="sibTrans" cxnId="{50F33E3D-3B5D-3F43-849C-DA606D4851DA}">
      <dgm:prSet/>
      <dgm:spPr/>
      <dgm:t>
        <a:bodyPr/>
        <a:lstStyle/>
        <a:p>
          <a:endParaRPr lang="en-US"/>
        </a:p>
      </dgm:t>
    </dgm:pt>
    <dgm:pt modelId="{3B0A3029-B0C2-F141-B2EA-DA17FBF6E37E}">
      <dgm:prSet/>
      <dgm:spPr>
        <a:solidFill>
          <a:schemeClr val="accent5">
            <a:lumMod val="60000"/>
            <a:lumOff val="40000"/>
            <a:alpha val="46000"/>
          </a:schemeClr>
        </a:solidFill>
      </dgm:spPr>
      <dgm:t>
        <a:bodyPr/>
        <a:lstStyle/>
        <a:p>
          <a:r>
            <a:rPr lang="en-NZ" dirty="0"/>
            <a:t>to enforce mutual exclusion</a:t>
          </a:r>
        </a:p>
      </dgm:t>
    </dgm:pt>
    <dgm:pt modelId="{64A0F0F9-99F1-C74E-A0E6-9CF4E31EFDF3}" type="parTrans" cxnId="{86BDA16F-A36C-3F41-97F2-E5628886B2EA}">
      <dgm:prSet/>
      <dgm:spPr/>
      <dgm:t>
        <a:bodyPr/>
        <a:lstStyle/>
        <a:p>
          <a:endParaRPr lang="en-US"/>
        </a:p>
      </dgm:t>
    </dgm:pt>
    <dgm:pt modelId="{DC842284-709A-F840-BB50-E839AF06A71B}" type="sibTrans" cxnId="{86BDA16F-A36C-3F41-97F2-E5628886B2EA}">
      <dgm:prSet/>
      <dgm:spPr/>
      <dgm:t>
        <a:bodyPr/>
        <a:lstStyle/>
        <a:p>
          <a:endParaRPr lang="en-US"/>
        </a:p>
      </dgm:t>
    </dgm:pt>
    <dgm:pt modelId="{78D0FAFE-BEAC-974E-A8A6-6E016820C0AF}">
      <dgm:prSet/>
      <dgm:spPr>
        <a:solidFill>
          <a:schemeClr val="accent6">
            <a:lumMod val="75000"/>
          </a:schemeClr>
        </a:solidFill>
      </dgm:spPr>
      <dgm:t>
        <a:bodyPr/>
        <a:lstStyle/>
        <a:p>
          <a:r>
            <a:rPr lang="en-NZ"/>
            <a:t>communication  </a:t>
          </a:r>
          <a:endParaRPr lang="en-NZ" dirty="0"/>
        </a:p>
      </dgm:t>
    </dgm:pt>
    <dgm:pt modelId="{02CF33B5-AD82-0448-A60A-572BF225D3D0}" type="parTrans" cxnId="{6793FA49-A7BC-2A41-B16B-C9F185179A54}">
      <dgm:prSet/>
      <dgm:spPr/>
      <dgm:t>
        <a:bodyPr/>
        <a:lstStyle/>
        <a:p>
          <a:endParaRPr lang="en-US"/>
        </a:p>
      </dgm:t>
    </dgm:pt>
    <dgm:pt modelId="{AD7D4B99-C7ED-6C49-9932-446373B64DC7}" type="sibTrans" cxnId="{6793FA49-A7BC-2A41-B16B-C9F185179A54}">
      <dgm:prSet/>
      <dgm:spPr/>
      <dgm:t>
        <a:bodyPr/>
        <a:lstStyle/>
        <a:p>
          <a:endParaRPr lang="en-US"/>
        </a:p>
      </dgm:t>
    </dgm:pt>
    <dgm:pt modelId="{C94760C5-CCA2-6148-A075-4E4321A5FB55}">
      <dgm:prSet/>
      <dgm:spPr>
        <a:solidFill>
          <a:schemeClr val="accent5">
            <a:lumMod val="60000"/>
            <a:lumOff val="40000"/>
            <a:alpha val="46000"/>
          </a:schemeClr>
        </a:solidFill>
      </dgm:spPr>
      <dgm:t>
        <a:bodyPr/>
        <a:lstStyle/>
        <a:p>
          <a:r>
            <a:rPr lang="en-NZ"/>
            <a:t>to exchange information</a:t>
          </a:r>
          <a:endParaRPr lang="en-NZ" dirty="0"/>
        </a:p>
      </dgm:t>
    </dgm:pt>
    <dgm:pt modelId="{3264B8F4-E3A1-D048-9C93-64E171E09FF8}" type="parTrans" cxnId="{C2146337-3282-3F46-9865-12C34697BFD5}">
      <dgm:prSet/>
      <dgm:spPr/>
      <dgm:t>
        <a:bodyPr/>
        <a:lstStyle/>
        <a:p>
          <a:endParaRPr lang="en-US"/>
        </a:p>
      </dgm:t>
    </dgm:pt>
    <dgm:pt modelId="{AFB7E538-773D-9448-B794-151B6FC05E15}" type="sibTrans" cxnId="{C2146337-3282-3F46-9865-12C34697BFD5}">
      <dgm:prSet/>
      <dgm:spPr/>
      <dgm:t>
        <a:bodyPr/>
        <a:lstStyle/>
        <a:p>
          <a:endParaRPr lang="en-US"/>
        </a:p>
      </dgm:t>
    </dgm:pt>
    <dgm:pt modelId="{1E0E8A6C-30F6-954E-BF0B-385C7EBD0C12}" type="pres">
      <dgm:prSet presAssocID="{E0F3E3F9-68CC-4B48-97D8-8820B8B52380}" presName="Name0" presStyleCnt="0">
        <dgm:presLayoutVars>
          <dgm:dir/>
          <dgm:animLvl val="lvl"/>
          <dgm:resizeHandles val="exact"/>
        </dgm:presLayoutVars>
      </dgm:prSet>
      <dgm:spPr/>
    </dgm:pt>
    <dgm:pt modelId="{9A1E6D3E-49F5-FB47-8E26-49A78379E627}" type="pres">
      <dgm:prSet presAssocID="{1EA6FED8-9BBF-5140-A08F-A237BA4E9A02}" presName="composite" presStyleCnt="0"/>
      <dgm:spPr/>
    </dgm:pt>
    <dgm:pt modelId="{CA516BB1-9D39-E449-8773-CABC43961BCF}" type="pres">
      <dgm:prSet presAssocID="{1EA6FED8-9BBF-5140-A08F-A237BA4E9A02}" presName="parTx" presStyleLbl="alignNode1" presStyleIdx="0" presStyleCnt="2">
        <dgm:presLayoutVars>
          <dgm:chMax val="0"/>
          <dgm:chPref val="0"/>
          <dgm:bulletEnabled val="1"/>
        </dgm:presLayoutVars>
      </dgm:prSet>
      <dgm:spPr/>
    </dgm:pt>
    <dgm:pt modelId="{57087B52-C684-5341-9E12-7A8A7012CF46}" type="pres">
      <dgm:prSet presAssocID="{1EA6FED8-9BBF-5140-A08F-A237BA4E9A02}" presName="desTx" presStyleLbl="alignAccFollowNode1" presStyleIdx="0" presStyleCnt="2">
        <dgm:presLayoutVars>
          <dgm:bulletEnabled val="1"/>
        </dgm:presLayoutVars>
      </dgm:prSet>
      <dgm:spPr/>
    </dgm:pt>
    <dgm:pt modelId="{500BD35D-55BA-E941-9F70-6DBE2F67868C}" type="pres">
      <dgm:prSet presAssocID="{0A4C3C0D-C741-C942-A2D0-5FDFBAB365B9}" presName="space" presStyleCnt="0"/>
      <dgm:spPr/>
    </dgm:pt>
    <dgm:pt modelId="{40863167-85FF-5F48-9661-2BE83E6BDDA2}" type="pres">
      <dgm:prSet presAssocID="{78D0FAFE-BEAC-974E-A8A6-6E016820C0AF}" presName="composite" presStyleCnt="0"/>
      <dgm:spPr/>
    </dgm:pt>
    <dgm:pt modelId="{58C9E88D-0AFF-9A46-9A58-7E5B47B8FB75}" type="pres">
      <dgm:prSet presAssocID="{78D0FAFE-BEAC-974E-A8A6-6E016820C0AF}" presName="parTx" presStyleLbl="alignNode1" presStyleIdx="1" presStyleCnt="2">
        <dgm:presLayoutVars>
          <dgm:chMax val="0"/>
          <dgm:chPref val="0"/>
          <dgm:bulletEnabled val="1"/>
        </dgm:presLayoutVars>
      </dgm:prSet>
      <dgm:spPr/>
    </dgm:pt>
    <dgm:pt modelId="{DEB9BAE2-8339-A243-A12C-F23AFF408E60}" type="pres">
      <dgm:prSet presAssocID="{78D0FAFE-BEAC-974E-A8A6-6E016820C0AF}" presName="desTx" presStyleLbl="alignAccFollowNode1" presStyleIdx="1" presStyleCnt="2">
        <dgm:presLayoutVars>
          <dgm:bulletEnabled val="1"/>
        </dgm:presLayoutVars>
      </dgm:prSet>
      <dgm:spPr/>
    </dgm:pt>
  </dgm:ptLst>
  <dgm:cxnLst>
    <dgm:cxn modelId="{18E97E1A-83D6-524C-B5EF-07429F8C76E1}" type="presOf" srcId="{E0F3E3F9-68CC-4B48-97D8-8820B8B52380}" destId="{1E0E8A6C-30F6-954E-BF0B-385C7EBD0C12}" srcOrd="0" destOrd="0" presId="urn:microsoft.com/office/officeart/2005/8/layout/hList1"/>
    <dgm:cxn modelId="{C2146337-3282-3F46-9865-12C34697BFD5}" srcId="{78D0FAFE-BEAC-974E-A8A6-6E016820C0AF}" destId="{C94760C5-CCA2-6148-A075-4E4321A5FB55}" srcOrd="0" destOrd="0" parTransId="{3264B8F4-E3A1-D048-9C93-64E171E09FF8}" sibTransId="{AFB7E538-773D-9448-B794-151B6FC05E15}"/>
    <dgm:cxn modelId="{50F33E3D-3B5D-3F43-849C-DA606D4851DA}" srcId="{E0F3E3F9-68CC-4B48-97D8-8820B8B52380}" destId="{1EA6FED8-9BBF-5140-A08F-A237BA4E9A02}" srcOrd="0" destOrd="0" parTransId="{913D91F1-9A02-CC4A-AA24-9B4EFD555C36}" sibTransId="{0A4C3C0D-C741-C942-A2D0-5FDFBAB365B9}"/>
    <dgm:cxn modelId="{6793FA49-A7BC-2A41-B16B-C9F185179A54}" srcId="{E0F3E3F9-68CC-4B48-97D8-8820B8B52380}" destId="{78D0FAFE-BEAC-974E-A8A6-6E016820C0AF}" srcOrd="1" destOrd="0" parTransId="{02CF33B5-AD82-0448-A60A-572BF225D3D0}" sibTransId="{AD7D4B99-C7ED-6C49-9932-446373B64DC7}"/>
    <dgm:cxn modelId="{65FA8E6F-1828-674A-A6C3-FA814E92E1BD}" type="presOf" srcId="{3B0A3029-B0C2-F141-B2EA-DA17FBF6E37E}" destId="{57087B52-C684-5341-9E12-7A8A7012CF46}" srcOrd="0" destOrd="0" presId="urn:microsoft.com/office/officeart/2005/8/layout/hList1"/>
    <dgm:cxn modelId="{86BDA16F-A36C-3F41-97F2-E5628886B2EA}" srcId="{1EA6FED8-9BBF-5140-A08F-A237BA4E9A02}" destId="{3B0A3029-B0C2-F141-B2EA-DA17FBF6E37E}" srcOrd="0" destOrd="0" parTransId="{64A0F0F9-99F1-C74E-A0E6-9CF4E31EFDF3}" sibTransId="{DC842284-709A-F840-BB50-E839AF06A71B}"/>
    <dgm:cxn modelId="{D69CF9B8-4B84-B04A-AF58-CE924309C727}" type="presOf" srcId="{78D0FAFE-BEAC-974E-A8A6-6E016820C0AF}" destId="{58C9E88D-0AFF-9A46-9A58-7E5B47B8FB75}" srcOrd="0" destOrd="0" presId="urn:microsoft.com/office/officeart/2005/8/layout/hList1"/>
    <dgm:cxn modelId="{7158D5DB-3C4B-6347-8E0D-64EF667EB83A}" type="presOf" srcId="{C94760C5-CCA2-6148-A075-4E4321A5FB55}" destId="{DEB9BAE2-8339-A243-A12C-F23AFF408E60}" srcOrd="0" destOrd="0" presId="urn:microsoft.com/office/officeart/2005/8/layout/hList1"/>
    <dgm:cxn modelId="{D50957FA-2A5C-BB4F-B3A6-B0AA341FD885}" type="presOf" srcId="{1EA6FED8-9BBF-5140-A08F-A237BA4E9A02}" destId="{CA516BB1-9D39-E449-8773-CABC43961BCF}" srcOrd="0" destOrd="0" presId="urn:microsoft.com/office/officeart/2005/8/layout/hList1"/>
    <dgm:cxn modelId="{78B12326-05BA-4F44-9235-001552467200}" type="presParOf" srcId="{1E0E8A6C-30F6-954E-BF0B-385C7EBD0C12}" destId="{9A1E6D3E-49F5-FB47-8E26-49A78379E627}" srcOrd="0" destOrd="0" presId="urn:microsoft.com/office/officeart/2005/8/layout/hList1"/>
    <dgm:cxn modelId="{D4FFA872-A576-E248-B3A1-FCAF5F51B0B0}" type="presParOf" srcId="{9A1E6D3E-49F5-FB47-8E26-49A78379E627}" destId="{CA516BB1-9D39-E449-8773-CABC43961BCF}" srcOrd="0" destOrd="0" presId="urn:microsoft.com/office/officeart/2005/8/layout/hList1"/>
    <dgm:cxn modelId="{14BAA4F3-D5E8-B449-9191-F0DA2541BA7F}" type="presParOf" srcId="{9A1E6D3E-49F5-FB47-8E26-49A78379E627}" destId="{57087B52-C684-5341-9E12-7A8A7012CF46}" srcOrd="1" destOrd="0" presId="urn:microsoft.com/office/officeart/2005/8/layout/hList1"/>
    <dgm:cxn modelId="{4ADEA968-B31C-1C4E-80A8-C8A700F85E3A}" type="presParOf" srcId="{1E0E8A6C-30F6-954E-BF0B-385C7EBD0C12}" destId="{500BD35D-55BA-E941-9F70-6DBE2F67868C}" srcOrd="1" destOrd="0" presId="urn:microsoft.com/office/officeart/2005/8/layout/hList1"/>
    <dgm:cxn modelId="{7B13F67B-6E58-1A43-96B5-D19279A9E0B8}" type="presParOf" srcId="{1E0E8A6C-30F6-954E-BF0B-385C7EBD0C12}" destId="{40863167-85FF-5F48-9661-2BE83E6BDDA2}" srcOrd="2" destOrd="0" presId="urn:microsoft.com/office/officeart/2005/8/layout/hList1"/>
    <dgm:cxn modelId="{D794A69A-28E2-474B-BEF9-D361362FB59C}" type="presParOf" srcId="{40863167-85FF-5F48-9661-2BE83E6BDDA2}" destId="{58C9E88D-0AFF-9A46-9A58-7E5B47B8FB75}" srcOrd="0" destOrd="0" presId="urn:microsoft.com/office/officeart/2005/8/layout/hList1"/>
    <dgm:cxn modelId="{7FBB4A80-D805-EE45-B1AA-17175D8F82FB}" type="presParOf" srcId="{40863167-85FF-5F48-9661-2BE83E6BDDA2}" destId="{DEB9BAE2-8339-A243-A12C-F23AFF408E6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95E1FC1-AE98-9144-90B5-05E66E6E95A0}" type="doc">
      <dgm:prSet loTypeId="urn:microsoft.com/office/officeart/2005/8/layout/balance1" loCatId="relationship" qsTypeId="urn:microsoft.com/office/officeart/2005/8/quickstyle/simple4" qsCatId="simple" csTypeId="urn:microsoft.com/office/officeart/2005/8/colors/accent1_2" csCatId="accent1" phldr="1"/>
      <dgm:spPr/>
      <dgm:t>
        <a:bodyPr/>
        <a:lstStyle/>
        <a:p>
          <a:endParaRPr lang="en-US"/>
        </a:p>
      </dgm:t>
    </dgm:pt>
    <dgm:pt modelId="{840D4CA7-F43C-CF41-AE16-12E5267C417C}">
      <dgm:prSet/>
      <dgm:spPr>
        <a:solidFill>
          <a:schemeClr val="accent5">
            <a:lumMod val="50000"/>
          </a:schemeClr>
        </a:solidFill>
      </dgm:spPr>
      <dgm:t>
        <a:bodyPr/>
        <a:lstStyle/>
        <a:p>
          <a:pPr rtl="0"/>
          <a:r>
            <a:rPr lang="en-US" dirty="0">
              <a:solidFill>
                <a:schemeClr val="bg1"/>
              </a:solidFill>
            </a:rPr>
            <a:t>Communication of a message between two processes implies synchronization between the two</a:t>
          </a:r>
        </a:p>
      </dgm:t>
    </dgm:pt>
    <dgm:pt modelId="{B6455B8E-0B5E-FD45-9EDE-6590CE5032E6}" type="parTrans" cxnId="{0E661DEA-D1AD-4E4B-9264-BE5FA7FA9180}">
      <dgm:prSet/>
      <dgm:spPr/>
      <dgm:t>
        <a:bodyPr/>
        <a:lstStyle/>
        <a:p>
          <a:endParaRPr lang="en-US"/>
        </a:p>
      </dgm:t>
    </dgm:pt>
    <dgm:pt modelId="{FF027CAC-32AE-1C45-8241-D177EA39F3AA}" type="sibTrans" cxnId="{0E661DEA-D1AD-4E4B-9264-BE5FA7FA9180}">
      <dgm:prSet/>
      <dgm:spPr/>
      <dgm:t>
        <a:bodyPr/>
        <a:lstStyle/>
        <a:p>
          <a:endParaRPr lang="en-US"/>
        </a:p>
      </dgm:t>
    </dgm:pt>
    <dgm:pt modelId="{9F68511C-A65C-A148-98E2-790D535DB7F2}">
      <dgm:prSet custT="1"/>
      <dgm:spPr>
        <a:solidFill>
          <a:schemeClr val="accent1">
            <a:alpha val="25000"/>
          </a:schemeClr>
        </a:solidFill>
      </dgm:spPr>
      <dgm:t>
        <a:bodyPr/>
        <a:lstStyle/>
        <a:p>
          <a:pPr rtl="0"/>
          <a:r>
            <a:rPr lang="en-US" sz="1600" b="1" i="0" dirty="0">
              <a:solidFill>
                <a:schemeClr val="tx1"/>
              </a:solidFill>
            </a:rPr>
            <a:t>the receiver cannot receive a message until it has been sent by another process</a:t>
          </a:r>
        </a:p>
      </dgm:t>
    </dgm:pt>
    <dgm:pt modelId="{9B5832A9-E3E7-1740-8851-39E50990F488}" type="parTrans" cxnId="{4484B7AC-E8AB-494B-8FA7-CB5AF9EA6976}">
      <dgm:prSet/>
      <dgm:spPr>
        <a:solidFill>
          <a:schemeClr val="accent3">
            <a:lumMod val="50000"/>
          </a:schemeClr>
        </a:solidFill>
      </dgm:spPr>
      <dgm:t>
        <a:bodyPr/>
        <a:lstStyle/>
        <a:p>
          <a:endParaRPr lang="en-US"/>
        </a:p>
      </dgm:t>
    </dgm:pt>
    <dgm:pt modelId="{999D2C2E-9B38-7945-B8A0-97F14BA20022}" type="sibTrans" cxnId="{4484B7AC-E8AB-494B-8FA7-CB5AF9EA6976}">
      <dgm:prSet/>
      <dgm:spPr/>
      <dgm:t>
        <a:bodyPr/>
        <a:lstStyle/>
        <a:p>
          <a:endParaRPr lang="en-US"/>
        </a:p>
      </dgm:t>
    </dgm:pt>
    <dgm:pt modelId="{E2DC3244-DAD2-9D4C-A018-8A8B976DD049}">
      <dgm:prSet custT="1"/>
      <dgm:spPr>
        <a:solidFill>
          <a:schemeClr val="accent5">
            <a:lumMod val="50000"/>
          </a:schemeClr>
        </a:solidFill>
      </dgm:spPr>
      <dgm:t>
        <a:bodyPr/>
        <a:lstStyle/>
        <a:p>
          <a:pPr rtl="0"/>
          <a:r>
            <a:rPr lang="en-NZ" sz="1600" b="1" i="0" dirty="0">
              <a:solidFill>
                <a:schemeClr val="bg1"/>
              </a:solidFill>
            </a:rPr>
            <a:t>When a receive primitive is executed in a process there are two possibilities:</a:t>
          </a:r>
          <a:endParaRPr lang="en-US" sz="1600" b="1" i="0" dirty="0">
            <a:solidFill>
              <a:schemeClr val="bg1"/>
            </a:solidFill>
          </a:endParaRPr>
        </a:p>
      </dgm:t>
    </dgm:pt>
    <dgm:pt modelId="{1973821B-403A-0146-BD8D-DA56A4AEC2C9}" type="parTrans" cxnId="{2C56A986-657E-9F48-B2E3-4804F9844815}">
      <dgm:prSet/>
      <dgm:spPr/>
      <dgm:t>
        <a:bodyPr/>
        <a:lstStyle/>
        <a:p>
          <a:endParaRPr lang="en-US"/>
        </a:p>
      </dgm:t>
    </dgm:pt>
    <dgm:pt modelId="{6AF24642-B7D1-704E-B460-270B7FD3D09D}" type="sibTrans" cxnId="{2C56A986-657E-9F48-B2E3-4804F9844815}">
      <dgm:prSet/>
      <dgm:spPr/>
      <dgm:t>
        <a:bodyPr/>
        <a:lstStyle/>
        <a:p>
          <a:endParaRPr lang="en-US"/>
        </a:p>
      </dgm:t>
    </dgm:pt>
    <dgm:pt modelId="{AD6ED04A-891F-AF4E-8937-6061FB7A3F54}">
      <dgm:prSet custT="1"/>
      <dgm:spPr>
        <a:solidFill>
          <a:schemeClr val="accent1">
            <a:alpha val="25000"/>
          </a:schemeClr>
        </a:solidFill>
      </dgm:spPr>
      <dgm:t>
        <a:bodyPr/>
        <a:lstStyle/>
        <a:p>
          <a:pPr rtl="0"/>
          <a:r>
            <a:rPr lang="en-US" sz="1600" b="1" i="0" dirty="0">
              <a:solidFill>
                <a:schemeClr val="tx1"/>
              </a:solidFill>
            </a:rPr>
            <a:t>if a message has previously been sent the message is received and execution continues</a:t>
          </a:r>
        </a:p>
      </dgm:t>
    </dgm:pt>
    <dgm:pt modelId="{D91650F5-5F17-4947-B746-139C446E7B93}" type="parTrans" cxnId="{B8E14DBC-689D-DD4D-8A23-4A3BF577E67E}">
      <dgm:prSet/>
      <dgm:spPr>
        <a:solidFill>
          <a:schemeClr val="accent3">
            <a:lumMod val="50000"/>
          </a:schemeClr>
        </a:solidFill>
      </dgm:spPr>
      <dgm:t>
        <a:bodyPr/>
        <a:lstStyle/>
        <a:p>
          <a:endParaRPr lang="en-US"/>
        </a:p>
      </dgm:t>
    </dgm:pt>
    <dgm:pt modelId="{4A139160-FB39-8947-BCEB-821B966901C3}" type="sibTrans" cxnId="{B8E14DBC-689D-DD4D-8A23-4A3BF577E67E}">
      <dgm:prSet/>
      <dgm:spPr>
        <a:solidFill>
          <a:schemeClr val="accent3">
            <a:lumMod val="50000"/>
          </a:schemeClr>
        </a:solidFill>
      </dgm:spPr>
      <dgm:t>
        <a:bodyPr/>
        <a:lstStyle/>
        <a:p>
          <a:endParaRPr lang="en-US"/>
        </a:p>
      </dgm:t>
    </dgm:pt>
    <dgm:pt modelId="{3C816CD3-56A3-7A4B-BCEB-CD66601F67AC}">
      <dgm:prSet custT="1"/>
      <dgm:spPr>
        <a:solidFill>
          <a:schemeClr val="accent1">
            <a:alpha val="25000"/>
          </a:schemeClr>
        </a:solidFill>
      </dgm:spPr>
      <dgm:t>
        <a:bodyPr/>
        <a:lstStyle/>
        <a:p>
          <a:pPr rtl="0"/>
          <a:r>
            <a:rPr lang="en-US" sz="1600" b="1" i="0" dirty="0">
              <a:solidFill>
                <a:schemeClr val="tx1"/>
              </a:solidFill>
            </a:rPr>
            <a:t>if there is no waiting message the process is blocked until a message arrives or the process continues to execute, abandoning the attempt to receive</a:t>
          </a:r>
        </a:p>
      </dgm:t>
    </dgm:pt>
    <dgm:pt modelId="{CFC117F8-B61C-AB42-9A8C-92D213E7A327}" type="parTrans" cxnId="{D416D413-81EB-FF47-8DEF-43AEEF53A208}">
      <dgm:prSet/>
      <dgm:spPr/>
      <dgm:t>
        <a:bodyPr/>
        <a:lstStyle/>
        <a:p>
          <a:endParaRPr lang="en-US"/>
        </a:p>
      </dgm:t>
    </dgm:pt>
    <dgm:pt modelId="{247550A5-0F5A-E64C-A14B-5586AAD92809}" type="sibTrans" cxnId="{D416D413-81EB-FF47-8DEF-43AEEF53A208}">
      <dgm:prSet/>
      <dgm:spPr/>
      <dgm:t>
        <a:bodyPr/>
        <a:lstStyle/>
        <a:p>
          <a:endParaRPr lang="en-US"/>
        </a:p>
      </dgm:t>
    </dgm:pt>
    <dgm:pt modelId="{274E3787-5FB6-4A45-98BD-3563E0A7FEC3}" type="pres">
      <dgm:prSet presAssocID="{B95E1FC1-AE98-9144-90B5-05E66E6E95A0}" presName="outerComposite" presStyleCnt="0">
        <dgm:presLayoutVars>
          <dgm:chMax val="2"/>
          <dgm:animLvl val="lvl"/>
          <dgm:resizeHandles val="exact"/>
        </dgm:presLayoutVars>
      </dgm:prSet>
      <dgm:spPr/>
    </dgm:pt>
    <dgm:pt modelId="{291E944F-80DD-E24F-B74D-7EA7AA00490C}" type="pres">
      <dgm:prSet presAssocID="{B95E1FC1-AE98-9144-90B5-05E66E6E95A0}" presName="dummyMaxCanvas" presStyleCnt="0"/>
      <dgm:spPr/>
    </dgm:pt>
    <dgm:pt modelId="{E0E7CFCA-4DF9-3B4B-BB67-A17822A163EE}" type="pres">
      <dgm:prSet presAssocID="{B95E1FC1-AE98-9144-90B5-05E66E6E95A0}" presName="parentComposite" presStyleCnt="0"/>
      <dgm:spPr/>
    </dgm:pt>
    <dgm:pt modelId="{D8CE5C9F-7A29-B049-BF80-D80F2A8B9162}" type="pres">
      <dgm:prSet presAssocID="{B95E1FC1-AE98-9144-90B5-05E66E6E95A0}" presName="parent1" presStyleLbl="alignAccFollowNode1" presStyleIdx="0" presStyleCnt="4" custAng="21364723" custScaleX="164913" custScaleY="146153" custLinFactNeighborX="-53292" custLinFactNeighborY="90130">
        <dgm:presLayoutVars>
          <dgm:chMax val="4"/>
        </dgm:presLayoutVars>
      </dgm:prSet>
      <dgm:spPr/>
    </dgm:pt>
    <dgm:pt modelId="{B0876E2E-024F-E840-B429-8A6DDBD3C0B7}" type="pres">
      <dgm:prSet presAssocID="{B95E1FC1-AE98-9144-90B5-05E66E6E95A0}" presName="parent2" presStyleLbl="alignAccFollowNode1" presStyleIdx="1" presStyleCnt="4" custAng="469402" custScaleX="194480" custScaleY="107522" custLinFactNeighborX="61348" custLinFactNeighborY="33541">
        <dgm:presLayoutVars>
          <dgm:chMax val="4"/>
        </dgm:presLayoutVars>
      </dgm:prSet>
      <dgm:spPr/>
    </dgm:pt>
    <dgm:pt modelId="{9EF45476-3661-5746-803B-11C9518452CB}" type="pres">
      <dgm:prSet presAssocID="{B95E1FC1-AE98-9144-90B5-05E66E6E95A0}" presName="childrenComposite" presStyleCnt="0"/>
      <dgm:spPr/>
    </dgm:pt>
    <dgm:pt modelId="{111AB746-2FF6-564B-8753-AC7B0712DC09}" type="pres">
      <dgm:prSet presAssocID="{B95E1FC1-AE98-9144-90B5-05E66E6E95A0}" presName="dummyMaxCanvas_ChildArea" presStyleCnt="0"/>
      <dgm:spPr/>
    </dgm:pt>
    <dgm:pt modelId="{4F3C4FFF-DBC4-E343-860C-7EE99D254749}" type="pres">
      <dgm:prSet presAssocID="{B95E1FC1-AE98-9144-90B5-05E66E6E95A0}" presName="fulcrum" presStyleLbl="alignAccFollowNode1" presStyleIdx="2" presStyleCnt="4" custLinFactNeighborX="-3607" custLinFactNeighborY="15629"/>
      <dgm:spPr>
        <a:solidFill>
          <a:schemeClr val="accent3">
            <a:lumMod val="50000"/>
          </a:schemeClr>
        </a:solidFill>
      </dgm:spPr>
    </dgm:pt>
    <dgm:pt modelId="{DE958576-B4BC-E74E-86DC-B7A96B976014}" type="pres">
      <dgm:prSet presAssocID="{B95E1FC1-AE98-9144-90B5-05E66E6E95A0}" presName="balance_12" presStyleLbl="alignAccFollowNode1" presStyleIdx="3" presStyleCnt="4" custLinFactNeighborX="-38" custLinFactNeighborY="27609">
        <dgm:presLayoutVars>
          <dgm:bulletEnabled val="1"/>
        </dgm:presLayoutVars>
      </dgm:prSet>
      <dgm:spPr>
        <a:solidFill>
          <a:schemeClr val="accent3">
            <a:lumMod val="50000"/>
          </a:schemeClr>
        </a:solidFill>
      </dgm:spPr>
    </dgm:pt>
    <dgm:pt modelId="{E023CDB2-16FA-3B49-BF46-F81510603726}" type="pres">
      <dgm:prSet presAssocID="{B95E1FC1-AE98-9144-90B5-05E66E6E95A0}" presName="right_12_1" presStyleLbl="node1" presStyleIdx="0" presStyleCnt="3" custAng="270070" custScaleX="164424" custLinFactNeighborX="16444" custLinFactNeighborY="13736">
        <dgm:presLayoutVars>
          <dgm:bulletEnabled val="1"/>
        </dgm:presLayoutVars>
      </dgm:prSet>
      <dgm:spPr/>
    </dgm:pt>
    <dgm:pt modelId="{5EB8A7DA-62E2-E440-9AA1-AFABD63FDF67}" type="pres">
      <dgm:prSet presAssocID="{B95E1FC1-AE98-9144-90B5-05E66E6E95A0}" presName="right_12_2" presStyleLbl="node1" presStyleIdx="1" presStyleCnt="3" custAng="297530" custScaleX="213047" custScaleY="117257" custLinFactNeighborX="41498" custLinFactNeighborY="14882">
        <dgm:presLayoutVars>
          <dgm:bulletEnabled val="1"/>
        </dgm:presLayoutVars>
      </dgm:prSet>
      <dgm:spPr/>
    </dgm:pt>
    <dgm:pt modelId="{9C6B398F-15AB-5548-AB75-EDD00D3829AC}" type="pres">
      <dgm:prSet presAssocID="{B95E1FC1-AE98-9144-90B5-05E66E6E95A0}" presName="left_12_1" presStyleLbl="node1" presStyleIdx="2" presStyleCnt="3" custAng="21091824" custScaleX="136493" custLinFactNeighborX="-18271" custLinFactNeighborY="-5247">
        <dgm:presLayoutVars>
          <dgm:bulletEnabled val="1"/>
        </dgm:presLayoutVars>
      </dgm:prSet>
      <dgm:spPr/>
    </dgm:pt>
  </dgm:ptLst>
  <dgm:cxnLst>
    <dgm:cxn modelId="{42F55209-A5F8-ED4E-AB37-35AB74B1A046}" type="presOf" srcId="{3C816CD3-56A3-7A4B-BCEB-CD66601F67AC}" destId="{5EB8A7DA-62E2-E440-9AA1-AFABD63FDF67}" srcOrd="0" destOrd="0" presId="urn:microsoft.com/office/officeart/2005/8/layout/balance1"/>
    <dgm:cxn modelId="{D416D413-81EB-FF47-8DEF-43AEEF53A208}" srcId="{E2DC3244-DAD2-9D4C-A018-8A8B976DD049}" destId="{3C816CD3-56A3-7A4B-BCEB-CD66601F67AC}" srcOrd="1" destOrd="0" parTransId="{CFC117F8-B61C-AB42-9A8C-92D213E7A327}" sibTransId="{247550A5-0F5A-E64C-A14B-5586AAD92809}"/>
    <dgm:cxn modelId="{94D1AC2F-EF08-314B-8B1E-0EF4093C2889}" type="presOf" srcId="{B95E1FC1-AE98-9144-90B5-05E66E6E95A0}" destId="{274E3787-5FB6-4A45-98BD-3563E0A7FEC3}" srcOrd="0" destOrd="0" presId="urn:microsoft.com/office/officeart/2005/8/layout/balance1"/>
    <dgm:cxn modelId="{343F0B56-80E2-5045-BF55-871291F7FB92}" type="presOf" srcId="{E2DC3244-DAD2-9D4C-A018-8A8B976DD049}" destId="{B0876E2E-024F-E840-B429-8A6DDBD3C0B7}" srcOrd="0" destOrd="0" presId="urn:microsoft.com/office/officeart/2005/8/layout/balance1"/>
    <dgm:cxn modelId="{2C56A986-657E-9F48-B2E3-4804F9844815}" srcId="{B95E1FC1-AE98-9144-90B5-05E66E6E95A0}" destId="{E2DC3244-DAD2-9D4C-A018-8A8B976DD049}" srcOrd="1" destOrd="0" parTransId="{1973821B-403A-0146-BD8D-DA56A4AEC2C9}" sibTransId="{6AF24642-B7D1-704E-B460-270B7FD3D09D}"/>
    <dgm:cxn modelId="{4484B7AC-E8AB-494B-8FA7-CB5AF9EA6976}" srcId="{840D4CA7-F43C-CF41-AE16-12E5267C417C}" destId="{9F68511C-A65C-A148-98E2-790D535DB7F2}" srcOrd="0" destOrd="0" parTransId="{9B5832A9-E3E7-1740-8851-39E50990F488}" sibTransId="{999D2C2E-9B38-7945-B8A0-97F14BA20022}"/>
    <dgm:cxn modelId="{B8E14DBC-689D-DD4D-8A23-4A3BF577E67E}" srcId="{E2DC3244-DAD2-9D4C-A018-8A8B976DD049}" destId="{AD6ED04A-891F-AF4E-8937-6061FB7A3F54}" srcOrd="0" destOrd="0" parTransId="{D91650F5-5F17-4947-B746-139C446E7B93}" sibTransId="{4A139160-FB39-8947-BCEB-821B966901C3}"/>
    <dgm:cxn modelId="{CE1E2BE2-1127-834D-8C5E-4674C54D2F3C}" type="presOf" srcId="{840D4CA7-F43C-CF41-AE16-12E5267C417C}" destId="{D8CE5C9F-7A29-B049-BF80-D80F2A8B9162}" srcOrd="0" destOrd="0" presId="urn:microsoft.com/office/officeart/2005/8/layout/balance1"/>
    <dgm:cxn modelId="{0E661DEA-D1AD-4E4B-9264-BE5FA7FA9180}" srcId="{B95E1FC1-AE98-9144-90B5-05E66E6E95A0}" destId="{840D4CA7-F43C-CF41-AE16-12E5267C417C}" srcOrd="0" destOrd="0" parTransId="{B6455B8E-0B5E-FD45-9EDE-6590CE5032E6}" sibTransId="{FF027CAC-32AE-1C45-8241-D177EA39F3AA}"/>
    <dgm:cxn modelId="{F890A8EE-1684-1449-A7B9-B216AD8D92FD}" type="presOf" srcId="{AD6ED04A-891F-AF4E-8937-6061FB7A3F54}" destId="{E023CDB2-16FA-3B49-BF46-F81510603726}" srcOrd="0" destOrd="0" presId="urn:microsoft.com/office/officeart/2005/8/layout/balance1"/>
    <dgm:cxn modelId="{8AB16AF2-BCD7-BE41-BBAF-9373B17A19A0}" type="presOf" srcId="{9F68511C-A65C-A148-98E2-790D535DB7F2}" destId="{9C6B398F-15AB-5548-AB75-EDD00D3829AC}" srcOrd="0" destOrd="0" presId="urn:microsoft.com/office/officeart/2005/8/layout/balance1"/>
    <dgm:cxn modelId="{E5F85CF6-03BF-BF4D-81AD-0AAB7DB91D44}" type="presParOf" srcId="{274E3787-5FB6-4A45-98BD-3563E0A7FEC3}" destId="{291E944F-80DD-E24F-B74D-7EA7AA00490C}" srcOrd="0" destOrd="0" presId="urn:microsoft.com/office/officeart/2005/8/layout/balance1"/>
    <dgm:cxn modelId="{9B76E520-BE0B-BE4E-A0E6-C84C7FA44029}" type="presParOf" srcId="{274E3787-5FB6-4A45-98BD-3563E0A7FEC3}" destId="{E0E7CFCA-4DF9-3B4B-BB67-A17822A163EE}" srcOrd="1" destOrd="0" presId="urn:microsoft.com/office/officeart/2005/8/layout/balance1"/>
    <dgm:cxn modelId="{B5A95E04-9348-934F-B41D-DE60513A47F7}" type="presParOf" srcId="{E0E7CFCA-4DF9-3B4B-BB67-A17822A163EE}" destId="{D8CE5C9F-7A29-B049-BF80-D80F2A8B9162}" srcOrd="0" destOrd="0" presId="urn:microsoft.com/office/officeart/2005/8/layout/balance1"/>
    <dgm:cxn modelId="{713EAC1B-C229-B246-896C-CF3DA1845A15}" type="presParOf" srcId="{E0E7CFCA-4DF9-3B4B-BB67-A17822A163EE}" destId="{B0876E2E-024F-E840-B429-8A6DDBD3C0B7}" srcOrd="1" destOrd="0" presId="urn:microsoft.com/office/officeart/2005/8/layout/balance1"/>
    <dgm:cxn modelId="{26AF03C1-B9D6-CA4D-A655-86C7FF057141}" type="presParOf" srcId="{274E3787-5FB6-4A45-98BD-3563E0A7FEC3}" destId="{9EF45476-3661-5746-803B-11C9518452CB}" srcOrd="2" destOrd="0" presId="urn:microsoft.com/office/officeart/2005/8/layout/balance1"/>
    <dgm:cxn modelId="{ABD8EDE9-007E-D944-801E-EE62C1E33724}" type="presParOf" srcId="{9EF45476-3661-5746-803B-11C9518452CB}" destId="{111AB746-2FF6-564B-8753-AC7B0712DC09}" srcOrd="0" destOrd="0" presId="urn:microsoft.com/office/officeart/2005/8/layout/balance1"/>
    <dgm:cxn modelId="{E748EA4F-2159-8149-9B69-5DEB4D1028B7}" type="presParOf" srcId="{9EF45476-3661-5746-803B-11C9518452CB}" destId="{4F3C4FFF-DBC4-E343-860C-7EE99D254749}" srcOrd="1" destOrd="0" presId="urn:microsoft.com/office/officeart/2005/8/layout/balance1"/>
    <dgm:cxn modelId="{96B2FC19-E571-0E4C-A58B-B21FC5AA1CD4}" type="presParOf" srcId="{9EF45476-3661-5746-803B-11C9518452CB}" destId="{DE958576-B4BC-E74E-86DC-B7A96B976014}" srcOrd="2" destOrd="0" presId="urn:microsoft.com/office/officeart/2005/8/layout/balance1"/>
    <dgm:cxn modelId="{9C4E3709-D890-A746-9E35-BBD07B1646FF}" type="presParOf" srcId="{9EF45476-3661-5746-803B-11C9518452CB}" destId="{E023CDB2-16FA-3B49-BF46-F81510603726}" srcOrd="3" destOrd="0" presId="urn:microsoft.com/office/officeart/2005/8/layout/balance1"/>
    <dgm:cxn modelId="{9222FBF4-8717-4F43-986D-2EC710CCF124}" type="presParOf" srcId="{9EF45476-3661-5746-803B-11C9518452CB}" destId="{5EB8A7DA-62E2-E440-9AA1-AFABD63FDF67}" srcOrd="4" destOrd="0" presId="urn:microsoft.com/office/officeart/2005/8/layout/balance1"/>
    <dgm:cxn modelId="{CBDCFCF2-D284-F949-800A-8F0C0E1D47CB}" type="presParOf" srcId="{9EF45476-3661-5746-803B-11C9518452CB}" destId="{9C6B398F-15AB-5548-AB75-EDD00D3829AC}" srcOrd="5" destOrd="0" presId="urn:microsoft.com/office/officeart/2005/8/layout/balance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D27E8CD-E193-374C-8F5E-D9516BA56DC7}"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91984B6D-CD19-FE43-BEAE-0E799DF27D43}">
      <dgm:prSet custT="1"/>
      <dgm:spPr/>
      <dgm:t>
        <a:bodyPr/>
        <a:lstStyle/>
        <a:p>
          <a:pPr rtl="0"/>
          <a:r>
            <a:rPr lang="en-US" sz="2400" dirty="0" err="1"/>
            <a:t>Nonblocking</a:t>
          </a:r>
          <a:r>
            <a:rPr lang="en-US" sz="2400" dirty="0"/>
            <a:t> send, blocking receive</a:t>
          </a:r>
        </a:p>
      </dgm:t>
    </dgm:pt>
    <dgm:pt modelId="{01F2897C-CBB4-0A4F-833B-A983967B05E6}" type="parTrans" cxnId="{C887F737-6585-BA4C-A16F-AADF02A11677}">
      <dgm:prSet/>
      <dgm:spPr/>
      <dgm:t>
        <a:bodyPr/>
        <a:lstStyle/>
        <a:p>
          <a:endParaRPr lang="en-US"/>
        </a:p>
      </dgm:t>
    </dgm:pt>
    <dgm:pt modelId="{11260BA1-DC41-0544-8790-6F4A228C318D}" type="sibTrans" cxnId="{C887F737-6585-BA4C-A16F-AADF02A11677}">
      <dgm:prSet/>
      <dgm:spPr/>
      <dgm:t>
        <a:bodyPr/>
        <a:lstStyle/>
        <a:p>
          <a:endParaRPr lang="en-US"/>
        </a:p>
      </dgm:t>
    </dgm:pt>
    <dgm:pt modelId="{5EB1E116-9108-5041-82FF-E86E8C94C1A9}">
      <dgm:prSet/>
      <dgm:spPr/>
      <dgm:t>
        <a:bodyPr/>
        <a:lstStyle/>
        <a:p>
          <a:pPr rtl="0"/>
          <a:r>
            <a:rPr lang="en-US" dirty="0"/>
            <a:t>sender continues on but receiver is blocked until the requested message arrives</a:t>
          </a:r>
        </a:p>
      </dgm:t>
    </dgm:pt>
    <dgm:pt modelId="{0214350C-1246-1843-BEEB-628379095719}" type="parTrans" cxnId="{7E31C0FE-C1AF-7B40-8076-CBAC47674A04}">
      <dgm:prSet/>
      <dgm:spPr/>
      <dgm:t>
        <a:bodyPr/>
        <a:lstStyle/>
        <a:p>
          <a:endParaRPr lang="en-US"/>
        </a:p>
      </dgm:t>
    </dgm:pt>
    <dgm:pt modelId="{C95C1D8A-6AFB-5146-9731-ED577DB6E8B0}" type="sibTrans" cxnId="{7E31C0FE-C1AF-7B40-8076-CBAC47674A04}">
      <dgm:prSet/>
      <dgm:spPr/>
      <dgm:t>
        <a:bodyPr/>
        <a:lstStyle/>
        <a:p>
          <a:endParaRPr lang="en-US"/>
        </a:p>
      </dgm:t>
    </dgm:pt>
    <dgm:pt modelId="{CC21AB64-0AED-7542-9159-B6303CB71F5A}">
      <dgm:prSet/>
      <dgm:spPr/>
      <dgm:t>
        <a:bodyPr/>
        <a:lstStyle/>
        <a:p>
          <a:pPr rtl="0"/>
          <a:r>
            <a:rPr lang="en-US" dirty="0"/>
            <a:t>most useful combination</a:t>
          </a:r>
        </a:p>
      </dgm:t>
    </dgm:pt>
    <dgm:pt modelId="{C83520E4-371F-7440-8576-2D5C4343367E}" type="parTrans" cxnId="{AE7ED72E-6288-D541-9093-86DA407052E6}">
      <dgm:prSet/>
      <dgm:spPr/>
      <dgm:t>
        <a:bodyPr/>
        <a:lstStyle/>
        <a:p>
          <a:endParaRPr lang="en-US"/>
        </a:p>
      </dgm:t>
    </dgm:pt>
    <dgm:pt modelId="{F0D8E3EA-CD48-B446-BEBF-D9C6AA1B5CA1}" type="sibTrans" cxnId="{AE7ED72E-6288-D541-9093-86DA407052E6}">
      <dgm:prSet/>
      <dgm:spPr/>
      <dgm:t>
        <a:bodyPr/>
        <a:lstStyle/>
        <a:p>
          <a:endParaRPr lang="en-US"/>
        </a:p>
      </dgm:t>
    </dgm:pt>
    <dgm:pt modelId="{6C451841-31AC-2C4A-BD5F-97D63B243324}">
      <dgm:prSet/>
      <dgm:spPr/>
      <dgm:t>
        <a:bodyPr/>
        <a:lstStyle/>
        <a:p>
          <a:pPr rtl="0"/>
          <a:r>
            <a:rPr lang="en-US" dirty="0"/>
            <a:t>sends one or more messages to a variety of destinations as quickly as possible</a:t>
          </a:r>
        </a:p>
      </dgm:t>
    </dgm:pt>
    <dgm:pt modelId="{04922CDE-305C-7E4E-A5F8-548B07ADA949}" type="parTrans" cxnId="{2EE21B70-10CD-924A-821E-F852ED7D58C1}">
      <dgm:prSet/>
      <dgm:spPr/>
      <dgm:t>
        <a:bodyPr/>
        <a:lstStyle/>
        <a:p>
          <a:endParaRPr lang="en-US"/>
        </a:p>
      </dgm:t>
    </dgm:pt>
    <dgm:pt modelId="{8984EA4E-5D9D-8A4C-890E-1C200D579779}" type="sibTrans" cxnId="{2EE21B70-10CD-924A-821E-F852ED7D58C1}">
      <dgm:prSet/>
      <dgm:spPr/>
      <dgm:t>
        <a:bodyPr/>
        <a:lstStyle/>
        <a:p>
          <a:endParaRPr lang="en-US"/>
        </a:p>
      </dgm:t>
    </dgm:pt>
    <dgm:pt modelId="{757FD84E-C215-B749-91A4-D802DE6196F5}">
      <dgm:prSet/>
      <dgm:spPr/>
      <dgm:t>
        <a:bodyPr/>
        <a:lstStyle/>
        <a:p>
          <a:pPr rtl="0"/>
          <a:r>
            <a:rPr lang="en-US" dirty="0"/>
            <a:t>example -- a service process that exists to provide a service or resource to other processes</a:t>
          </a:r>
        </a:p>
      </dgm:t>
    </dgm:pt>
    <dgm:pt modelId="{DAFD52F6-9922-7349-BF68-4ACCE8F95FD5}" type="parTrans" cxnId="{35F4216B-C764-1F42-8536-CA788CCCDBE6}">
      <dgm:prSet/>
      <dgm:spPr/>
      <dgm:t>
        <a:bodyPr/>
        <a:lstStyle/>
        <a:p>
          <a:endParaRPr lang="en-US"/>
        </a:p>
      </dgm:t>
    </dgm:pt>
    <dgm:pt modelId="{B985A4D1-1CB8-9344-9FCB-F50F659DBA79}" type="sibTrans" cxnId="{35F4216B-C764-1F42-8536-CA788CCCDBE6}">
      <dgm:prSet/>
      <dgm:spPr/>
      <dgm:t>
        <a:bodyPr/>
        <a:lstStyle/>
        <a:p>
          <a:endParaRPr lang="en-US"/>
        </a:p>
      </dgm:t>
    </dgm:pt>
    <dgm:pt modelId="{73A9E9B1-89D6-694A-BAFC-F1639E9E0FA3}">
      <dgm:prSet custT="1"/>
      <dgm:spPr/>
      <dgm:t>
        <a:bodyPr/>
        <a:lstStyle/>
        <a:p>
          <a:pPr rtl="0"/>
          <a:r>
            <a:rPr lang="en-US" sz="2400" dirty="0" err="1"/>
            <a:t>Nonblocking</a:t>
          </a:r>
          <a:r>
            <a:rPr lang="en-US" sz="2400" dirty="0"/>
            <a:t> send, </a:t>
          </a:r>
          <a:r>
            <a:rPr lang="en-US" sz="2400" dirty="0" err="1"/>
            <a:t>nonblocking</a:t>
          </a:r>
          <a:r>
            <a:rPr lang="en-US" sz="2400" dirty="0"/>
            <a:t> receive</a:t>
          </a:r>
        </a:p>
      </dgm:t>
    </dgm:pt>
    <dgm:pt modelId="{3916E0CF-CE1E-1D4B-8A41-D0D814E89B0F}" type="parTrans" cxnId="{BCA614CC-B4D5-3442-90B6-4527EEE6FEF9}">
      <dgm:prSet/>
      <dgm:spPr/>
      <dgm:t>
        <a:bodyPr/>
        <a:lstStyle/>
        <a:p>
          <a:endParaRPr lang="en-US"/>
        </a:p>
      </dgm:t>
    </dgm:pt>
    <dgm:pt modelId="{8FEA3A20-CBF8-BD46-B357-8B81C8062570}" type="sibTrans" cxnId="{BCA614CC-B4D5-3442-90B6-4527EEE6FEF9}">
      <dgm:prSet/>
      <dgm:spPr/>
      <dgm:t>
        <a:bodyPr/>
        <a:lstStyle/>
        <a:p>
          <a:endParaRPr lang="en-US"/>
        </a:p>
      </dgm:t>
    </dgm:pt>
    <dgm:pt modelId="{C5316F31-176B-F34B-BA40-55DF4E368FCA}">
      <dgm:prSet/>
      <dgm:spPr/>
      <dgm:t>
        <a:bodyPr/>
        <a:lstStyle/>
        <a:p>
          <a:pPr rtl="0"/>
          <a:r>
            <a:rPr lang="en-US" dirty="0"/>
            <a:t>neither party is required to wait</a:t>
          </a:r>
        </a:p>
      </dgm:t>
    </dgm:pt>
    <dgm:pt modelId="{A15D9228-445C-9C49-9BE5-094ACB67A39B}" type="parTrans" cxnId="{AE18236F-5EF4-5549-99D8-BDAE7A18B153}">
      <dgm:prSet/>
      <dgm:spPr/>
      <dgm:t>
        <a:bodyPr/>
        <a:lstStyle/>
        <a:p>
          <a:endParaRPr lang="en-US"/>
        </a:p>
      </dgm:t>
    </dgm:pt>
    <dgm:pt modelId="{DACAD61B-E76C-2246-BD10-F980FDDCC609}" type="sibTrans" cxnId="{AE18236F-5EF4-5549-99D8-BDAE7A18B153}">
      <dgm:prSet/>
      <dgm:spPr/>
      <dgm:t>
        <a:bodyPr/>
        <a:lstStyle/>
        <a:p>
          <a:endParaRPr lang="en-US"/>
        </a:p>
      </dgm:t>
    </dgm:pt>
    <dgm:pt modelId="{FB2FE7A4-BF26-5246-957B-D4DDACD54EE4}" type="pres">
      <dgm:prSet presAssocID="{CD27E8CD-E193-374C-8F5E-D9516BA56DC7}" presName="linear" presStyleCnt="0">
        <dgm:presLayoutVars>
          <dgm:dir/>
          <dgm:animLvl val="lvl"/>
          <dgm:resizeHandles val="exact"/>
        </dgm:presLayoutVars>
      </dgm:prSet>
      <dgm:spPr/>
    </dgm:pt>
    <dgm:pt modelId="{75AEEAF0-6636-7A4B-AC28-2D6920786958}" type="pres">
      <dgm:prSet presAssocID="{91984B6D-CD19-FE43-BEAE-0E799DF27D43}" presName="parentLin" presStyleCnt="0"/>
      <dgm:spPr/>
    </dgm:pt>
    <dgm:pt modelId="{02F1EC8A-0E98-6F4F-81E4-128269BE9247}" type="pres">
      <dgm:prSet presAssocID="{91984B6D-CD19-FE43-BEAE-0E799DF27D43}" presName="parentLeftMargin" presStyleLbl="node1" presStyleIdx="0" presStyleCnt="2"/>
      <dgm:spPr/>
    </dgm:pt>
    <dgm:pt modelId="{7C0D2C5B-322D-9045-B418-FF8D3F881A30}" type="pres">
      <dgm:prSet presAssocID="{91984B6D-CD19-FE43-BEAE-0E799DF27D43}" presName="parentText" presStyleLbl="node1" presStyleIdx="0" presStyleCnt="2">
        <dgm:presLayoutVars>
          <dgm:chMax val="0"/>
          <dgm:bulletEnabled val="1"/>
        </dgm:presLayoutVars>
      </dgm:prSet>
      <dgm:spPr/>
    </dgm:pt>
    <dgm:pt modelId="{9BA17364-C4BE-1F4C-A926-52FA284D13AC}" type="pres">
      <dgm:prSet presAssocID="{91984B6D-CD19-FE43-BEAE-0E799DF27D43}" presName="negativeSpace" presStyleCnt="0"/>
      <dgm:spPr/>
    </dgm:pt>
    <dgm:pt modelId="{94FC4253-C5DD-2F40-AF14-A6F8E87BF8EB}" type="pres">
      <dgm:prSet presAssocID="{91984B6D-CD19-FE43-BEAE-0E799DF27D43}" presName="childText" presStyleLbl="conFgAcc1" presStyleIdx="0" presStyleCnt="2">
        <dgm:presLayoutVars>
          <dgm:bulletEnabled val="1"/>
        </dgm:presLayoutVars>
      </dgm:prSet>
      <dgm:spPr/>
    </dgm:pt>
    <dgm:pt modelId="{2B71BA69-D6B9-2041-8D90-C51CD6545C6D}" type="pres">
      <dgm:prSet presAssocID="{11260BA1-DC41-0544-8790-6F4A228C318D}" presName="spaceBetweenRectangles" presStyleCnt="0"/>
      <dgm:spPr/>
    </dgm:pt>
    <dgm:pt modelId="{09D3498D-A602-5348-A1FB-49B93FEFB771}" type="pres">
      <dgm:prSet presAssocID="{73A9E9B1-89D6-694A-BAFC-F1639E9E0FA3}" presName="parentLin" presStyleCnt="0"/>
      <dgm:spPr/>
    </dgm:pt>
    <dgm:pt modelId="{DC97F160-ACC9-694B-AD54-3141CE9124B0}" type="pres">
      <dgm:prSet presAssocID="{73A9E9B1-89D6-694A-BAFC-F1639E9E0FA3}" presName="parentLeftMargin" presStyleLbl="node1" presStyleIdx="0" presStyleCnt="2"/>
      <dgm:spPr/>
    </dgm:pt>
    <dgm:pt modelId="{FB5D3142-9F1C-A94D-A8A6-48AF5D364BD5}" type="pres">
      <dgm:prSet presAssocID="{73A9E9B1-89D6-694A-BAFC-F1639E9E0FA3}" presName="parentText" presStyleLbl="node1" presStyleIdx="1" presStyleCnt="2" custScaleX="109434">
        <dgm:presLayoutVars>
          <dgm:chMax val="0"/>
          <dgm:bulletEnabled val="1"/>
        </dgm:presLayoutVars>
      </dgm:prSet>
      <dgm:spPr/>
    </dgm:pt>
    <dgm:pt modelId="{CE854633-C84A-1C4B-B243-A9F056606818}" type="pres">
      <dgm:prSet presAssocID="{73A9E9B1-89D6-694A-BAFC-F1639E9E0FA3}" presName="negativeSpace" presStyleCnt="0"/>
      <dgm:spPr/>
    </dgm:pt>
    <dgm:pt modelId="{A84F03E2-F9EA-C94D-AD93-13923F0055A8}" type="pres">
      <dgm:prSet presAssocID="{73A9E9B1-89D6-694A-BAFC-F1639E9E0FA3}" presName="childText" presStyleLbl="conFgAcc1" presStyleIdx="1" presStyleCnt="2">
        <dgm:presLayoutVars>
          <dgm:bulletEnabled val="1"/>
        </dgm:presLayoutVars>
      </dgm:prSet>
      <dgm:spPr/>
    </dgm:pt>
  </dgm:ptLst>
  <dgm:cxnLst>
    <dgm:cxn modelId="{BAE2BC00-B7FE-8C4A-951C-4F0BA8A10055}" type="presOf" srcId="{91984B6D-CD19-FE43-BEAE-0E799DF27D43}" destId="{7C0D2C5B-322D-9045-B418-FF8D3F881A30}" srcOrd="1" destOrd="0" presId="urn:microsoft.com/office/officeart/2005/8/layout/list1"/>
    <dgm:cxn modelId="{E80DDB00-220C-0448-8C27-CA628700BB61}" type="presOf" srcId="{6C451841-31AC-2C4A-BD5F-97D63B243324}" destId="{94FC4253-C5DD-2F40-AF14-A6F8E87BF8EB}" srcOrd="0" destOrd="2" presId="urn:microsoft.com/office/officeart/2005/8/layout/list1"/>
    <dgm:cxn modelId="{8BDC4123-5213-D94D-9C37-68C59BDC428C}" type="presOf" srcId="{757FD84E-C215-B749-91A4-D802DE6196F5}" destId="{94FC4253-C5DD-2F40-AF14-A6F8E87BF8EB}" srcOrd="0" destOrd="3" presId="urn:microsoft.com/office/officeart/2005/8/layout/list1"/>
    <dgm:cxn modelId="{AE7ED72E-6288-D541-9093-86DA407052E6}" srcId="{91984B6D-CD19-FE43-BEAE-0E799DF27D43}" destId="{CC21AB64-0AED-7542-9159-B6303CB71F5A}" srcOrd="1" destOrd="0" parTransId="{C83520E4-371F-7440-8576-2D5C4343367E}" sibTransId="{F0D8E3EA-CD48-B446-BEBF-D9C6AA1B5CA1}"/>
    <dgm:cxn modelId="{C887F737-6585-BA4C-A16F-AADF02A11677}" srcId="{CD27E8CD-E193-374C-8F5E-D9516BA56DC7}" destId="{91984B6D-CD19-FE43-BEAE-0E799DF27D43}" srcOrd="0" destOrd="0" parTransId="{01F2897C-CBB4-0A4F-833B-A983967B05E6}" sibTransId="{11260BA1-DC41-0544-8790-6F4A228C318D}"/>
    <dgm:cxn modelId="{8B368047-0E12-854C-B255-1B46436090D2}" type="presOf" srcId="{91984B6D-CD19-FE43-BEAE-0E799DF27D43}" destId="{02F1EC8A-0E98-6F4F-81E4-128269BE9247}" srcOrd="0" destOrd="0" presId="urn:microsoft.com/office/officeart/2005/8/layout/list1"/>
    <dgm:cxn modelId="{35F4216B-C764-1F42-8536-CA788CCCDBE6}" srcId="{91984B6D-CD19-FE43-BEAE-0E799DF27D43}" destId="{757FD84E-C215-B749-91A4-D802DE6196F5}" srcOrd="3" destOrd="0" parTransId="{DAFD52F6-9922-7349-BF68-4ACCE8F95FD5}" sibTransId="{B985A4D1-1CB8-9344-9FCB-F50F659DBA79}"/>
    <dgm:cxn modelId="{AE18236F-5EF4-5549-99D8-BDAE7A18B153}" srcId="{73A9E9B1-89D6-694A-BAFC-F1639E9E0FA3}" destId="{C5316F31-176B-F34B-BA40-55DF4E368FCA}" srcOrd="0" destOrd="0" parTransId="{A15D9228-445C-9C49-9BE5-094ACB67A39B}" sibTransId="{DACAD61B-E76C-2246-BD10-F980FDDCC609}"/>
    <dgm:cxn modelId="{2EE21B70-10CD-924A-821E-F852ED7D58C1}" srcId="{91984B6D-CD19-FE43-BEAE-0E799DF27D43}" destId="{6C451841-31AC-2C4A-BD5F-97D63B243324}" srcOrd="2" destOrd="0" parTransId="{04922CDE-305C-7E4E-A5F8-548B07ADA949}" sibTransId="{8984EA4E-5D9D-8A4C-890E-1C200D579779}"/>
    <dgm:cxn modelId="{26218F52-0AFF-F143-8705-FD7D93166359}" type="presOf" srcId="{73A9E9B1-89D6-694A-BAFC-F1639E9E0FA3}" destId="{DC97F160-ACC9-694B-AD54-3141CE9124B0}" srcOrd="0" destOrd="0" presId="urn:microsoft.com/office/officeart/2005/8/layout/list1"/>
    <dgm:cxn modelId="{658F7059-354A-BB4B-9FAF-30876C318022}" type="presOf" srcId="{73A9E9B1-89D6-694A-BAFC-F1639E9E0FA3}" destId="{FB5D3142-9F1C-A94D-A8A6-48AF5D364BD5}" srcOrd="1" destOrd="0" presId="urn:microsoft.com/office/officeart/2005/8/layout/list1"/>
    <dgm:cxn modelId="{A1F1E2A9-36E7-514C-AF3C-DEBC97E55527}" type="presOf" srcId="{CD27E8CD-E193-374C-8F5E-D9516BA56DC7}" destId="{FB2FE7A4-BF26-5246-957B-D4DDACD54EE4}" srcOrd="0" destOrd="0" presId="urn:microsoft.com/office/officeart/2005/8/layout/list1"/>
    <dgm:cxn modelId="{7DE052CB-909B-3A4B-8B54-F6E134628C6B}" type="presOf" srcId="{5EB1E116-9108-5041-82FF-E86E8C94C1A9}" destId="{94FC4253-C5DD-2F40-AF14-A6F8E87BF8EB}" srcOrd="0" destOrd="0" presId="urn:microsoft.com/office/officeart/2005/8/layout/list1"/>
    <dgm:cxn modelId="{BCA614CC-B4D5-3442-90B6-4527EEE6FEF9}" srcId="{CD27E8CD-E193-374C-8F5E-D9516BA56DC7}" destId="{73A9E9B1-89D6-694A-BAFC-F1639E9E0FA3}" srcOrd="1" destOrd="0" parTransId="{3916E0CF-CE1E-1D4B-8A41-D0D814E89B0F}" sibTransId="{8FEA3A20-CBF8-BD46-B357-8B81C8062570}"/>
    <dgm:cxn modelId="{0CE1A2E4-3C54-EF46-A77C-62FB3457A161}" type="presOf" srcId="{CC21AB64-0AED-7542-9159-B6303CB71F5A}" destId="{94FC4253-C5DD-2F40-AF14-A6F8E87BF8EB}" srcOrd="0" destOrd="1" presId="urn:microsoft.com/office/officeart/2005/8/layout/list1"/>
    <dgm:cxn modelId="{5652FEEE-C1E8-A442-9A2E-25C6ACD5251C}" type="presOf" srcId="{C5316F31-176B-F34B-BA40-55DF4E368FCA}" destId="{A84F03E2-F9EA-C94D-AD93-13923F0055A8}" srcOrd="0" destOrd="0" presId="urn:microsoft.com/office/officeart/2005/8/layout/list1"/>
    <dgm:cxn modelId="{7E31C0FE-C1AF-7B40-8076-CBAC47674A04}" srcId="{91984B6D-CD19-FE43-BEAE-0E799DF27D43}" destId="{5EB1E116-9108-5041-82FF-E86E8C94C1A9}" srcOrd="0" destOrd="0" parTransId="{0214350C-1246-1843-BEEB-628379095719}" sibTransId="{C95C1D8A-6AFB-5146-9731-ED577DB6E8B0}"/>
    <dgm:cxn modelId="{55073CB4-7F0B-0B43-BEDA-E6D0E04AD300}" type="presParOf" srcId="{FB2FE7A4-BF26-5246-957B-D4DDACD54EE4}" destId="{75AEEAF0-6636-7A4B-AC28-2D6920786958}" srcOrd="0" destOrd="0" presId="urn:microsoft.com/office/officeart/2005/8/layout/list1"/>
    <dgm:cxn modelId="{F9CAECBD-4C4E-2A45-8C16-18AF30D0C96E}" type="presParOf" srcId="{75AEEAF0-6636-7A4B-AC28-2D6920786958}" destId="{02F1EC8A-0E98-6F4F-81E4-128269BE9247}" srcOrd="0" destOrd="0" presId="urn:microsoft.com/office/officeart/2005/8/layout/list1"/>
    <dgm:cxn modelId="{AD0ACA4B-A999-6F49-A065-B857F54658A4}" type="presParOf" srcId="{75AEEAF0-6636-7A4B-AC28-2D6920786958}" destId="{7C0D2C5B-322D-9045-B418-FF8D3F881A30}" srcOrd="1" destOrd="0" presId="urn:microsoft.com/office/officeart/2005/8/layout/list1"/>
    <dgm:cxn modelId="{6B40BD1A-23F8-3041-AB14-844BE482BB16}" type="presParOf" srcId="{FB2FE7A4-BF26-5246-957B-D4DDACD54EE4}" destId="{9BA17364-C4BE-1F4C-A926-52FA284D13AC}" srcOrd="1" destOrd="0" presId="urn:microsoft.com/office/officeart/2005/8/layout/list1"/>
    <dgm:cxn modelId="{9C3DCB35-AFA8-0E49-BCB8-25ED50B10B94}" type="presParOf" srcId="{FB2FE7A4-BF26-5246-957B-D4DDACD54EE4}" destId="{94FC4253-C5DD-2F40-AF14-A6F8E87BF8EB}" srcOrd="2" destOrd="0" presId="urn:microsoft.com/office/officeart/2005/8/layout/list1"/>
    <dgm:cxn modelId="{A9FC753D-0E2C-8B44-94F9-B4290DC6B324}" type="presParOf" srcId="{FB2FE7A4-BF26-5246-957B-D4DDACD54EE4}" destId="{2B71BA69-D6B9-2041-8D90-C51CD6545C6D}" srcOrd="3" destOrd="0" presId="urn:microsoft.com/office/officeart/2005/8/layout/list1"/>
    <dgm:cxn modelId="{857DA4DE-FC7E-064D-8484-F4CD86E46933}" type="presParOf" srcId="{FB2FE7A4-BF26-5246-957B-D4DDACD54EE4}" destId="{09D3498D-A602-5348-A1FB-49B93FEFB771}" srcOrd="4" destOrd="0" presId="urn:microsoft.com/office/officeart/2005/8/layout/list1"/>
    <dgm:cxn modelId="{A042B265-EB9C-DE48-97B4-B7D02A717982}" type="presParOf" srcId="{09D3498D-A602-5348-A1FB-49B93FEFB771}" destId="{DC97F160-ACC9-694B-AD54-3141CE9124B0}" srcOrd="0" destOrd="0" presId="urn:microsoft.com/office/officeart/2005/8/layout/list1"/>
    <dgm:cxn modelId="{39C3F6FF-6ACB-FC4A-A21C-59693AE44929}" type="presParOf" srcId="{09D3498D-A602-5348-A1FB-49B93FEFB771}" destId="{FB5D3142-9F1C-A94D-A8A6-48AF5D364BD5}" srcOrd="1" destOrd="0" presId="urn:microsoft.com/office/officeart/2005/8/layout/list1"/>
    <dgm:cxn modelId="{6012F205-35AE-204E-B810-39621AA356A5}" type="presParOf" srcId="{FB2FE7A4-BF26-5246-957B-D4DDACD54EE4}" destId="{CE854633-C84A-1C4B-B243-A9F056606818}" srcOrd="5" destOrd="0" presId="urn:microsoft.com/office/officeart/2005/8/layout/list1"/>
    <dgm:cxn modelId="{0D4DF21D-1AB5-B949-87B9-C25E355F0954}" type="presParOf" srcId="{FB2FE7A4-BF26-5246-957B-D4DDACD54EE4}" destId="{A84F03E2-F9EA-C94D-AD93-13923F0055A8}"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CC660F0-F51F-7942-83BE-3900525400E2}"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CBCAA15B-4DF8-2449-A3E4-2FFBBD4228E2}">
      <dgm:prSet phldrT="[Text]"/>
      <dgm:spPr/>
      <dgm:t>
        <a:bodyPr/>
        <a:lstStyle/>
        <a:p>
          <a:r>
            <a:rPr lang="en-US" dirty="0"/>
            <a:t>Direct addressing</a:t>
          </a:r>
        </a:p>
      </dgm:t>
    </dgm:pt>
    <dgm:pt modelId="{5331A782-92F5-174C-ADE8-603BCC699445}" type="parTrans" cxnId="{B80E53F1-AE34-974D-BD2B-25A07BD9FD8E}">
      <dgm:prSet/>
      <dgm:spPr/>
      <dgm:t>
        <a:bodyPr/>
        <a:lstStyle/>
        <a:p>
          <a:endParaRPr lang="en-US"/>
        </a:p>
      </dgm:t>
    </dgm:pt>
    <dgm:pt modelId="{9DC2889C-314C-814D-BB7F-9B9EC7CF63FA}" type="sibTrans" cxnId="{B80E53F1-AE34-974D-BD2B-25A07BD9FD8E}">
      <dgm:prSet/>
      <dgm:spPr/>
      <dgm:t>
        <a:bodyPr/>
        <a:lstStyle/>
        <a:p>
          <a:endParaRPr lang="en-US"/>
        </a:p>
      </dgm:t>
    </dgm:pt>
    <dgm:pt modelId="{053799BB-CB52-8641-A4B3-79E4E6C7D5AD}">
      <dgm:prSet/>
      <dgm:spPr/>
      <dgm:t>
        <a:bodyPr/>
        <a:lstStyle/>
        <a:p>
          <a:r>
            <a:rPr lang="en-US" dirty="0"/>
            <a:t>Indirect addressing</a:t>
          </a:r>
        </a:p>
      </dgm:t>
    </dgm:pt>
    <dgm:pt modelId="{2F99FA1C-FA58-C84C-B814-ACFD809147B1}" type="parTrans" cxnId="{A4EFC327-8E42-6845-929D-1DD7802F5420}">
      <dgm:prSet/>
      <dgm:spPr/>
      <dgm:t>
        <a:bodyPr/>
        <a:lstStyle/>
        <a:p>
          <a:endParaRPr lang="en-US"/>
        </a:p>
      </dgm:t>
    </dgm:pt>
    <dgm:pt modelId="{C4399A46-221E-904A-B245-8E7B935BA7C2}" type="sibTrans" cxnId="{A4EFC327-8E42-6845-929D-1DD7802F5420}">
      <dgm:prSet/>
      <dgm:spPr/>
      <dgm:t>
        <a:bodyPr/>
        <a:lstStyle/>
        <a:p>
          <a:endParaRPr lang="en-US"/>
        </a:p>
      </dgm:t>
    </dgm:pt>
    <dgm:pt modelId="{95268C6E-CB32-D948-A12E-859ACF9C7366}" type="pres">
      <dgm:prSet presAssocID="{9CC660F0-F51F-7942-83BE-3900525400E2}" presName="diagram" presStyleCnt="0">
        <dgm:presLayoutVars>
          <dgm:dir/>
          <dgm:resizeHandles val="exact"/>
        </dgm:presLayoutVars>
      </dgm:prSet>
      <dgm:spPr/>
    </dgm:pt>
    <dgm:pt modelId="{CB5FB369-8671-004A-BE5D-38525B638D11}" type="pres">
      <dgm:prSet presAssocID="{CBCAA15B-4DF8-2449-A3E4-2FFBBD4228E2}" presName="node" presStyleLbl="node1" presStyleIdx="0" presStyleCnt="2">
        <dgm:presLayoutVars>
          <dgm:bulletEnabled val="1"/>
        </dgm:presLayoutVars>
      </dgm:prSet>
      <dgm:spPr/>
    </dgm:pt>
    <dgm:pt modelId="{3B34B650-2B64-FC4E-A434-787890AAF57B}" type="pres">
      <dgm:prSet presAssocID="{9DC2889C-314C-814D-BB7F-9B9EC7CF63FA}" presName="sibTrans" presStyleCnt="0"/>
      <dgm:spPr/>
    </dgm:pt>
    <dgm:pt modelId="{AE4CBB04-19C2-F24F-B25B-9E2E283ED7DC}" type="pres">
      <dgm:prSet presAssocID="{053799BB-CB52-8641-A4B3-79E4E6C7D5AD}" presName="node" presStyleLbl="node1" presStyleIdx="1" presStyleCnt="2">
        <dgm:presLayoutVars>
          <dgm:bulletEnabled val="1"/>
        </dgm:presLayoutVars>
      </dgm:prSet>
      <dgm:spPr/>
    </dgm:pt>
  </dgm:ptLst>
  <dgm:cxnLst>
    <dgm:cxn modelId="{A4EFC327-8E42-6845-929D-1DD7802F5420}" srcId="{9CC660F0-F51F-7942-83BE-3900525400E2}" destId="{053799BB-CB52-8641-A4B3-79E4E6C7D5AD}" srcOrd="1" destOrd="0" parTransId="{2F99FA1C-FA58-C84C-B814-ACFD809147B1}" sibTransId="{C4399A46-221E-904A-B245-8E7B935BA7C2}"/>
    <dgm:cxn modelId="{29A9C875-946D-0849-953B-AB23B8355A56}" type="presOf" srcId="{CBCAA15B-4DF8-2449-A3E4-2FFBBD4228E2}" destId="{CB5FB369-8671-004A-BE5D-38525B638D11}" srcOrd="0" destOrd="0" presId="urn:microsoft.com/office/officeart/2005/8/layout/default"/>
    <dgm:cxn modelId="{8A4093DA-D614-E746-998F-AEADE131AA98}" type="presOf" srcId="{9CC660F0-F51F-7942-83BE-3900525400E2}" destId="{95268C6E-CB32-D948-A12E-859ACF9C7366}" srcOrd="0" destOrd="0" presId="urn:microsoft.com/office/officeart/2005/8/layout/default"/>
    <dgm:cxn modelId="{777E9EE6-6DE6-6042-A187-60360C4DF0C6}" type="presOf" srcId="{053799BB-CB52-8641-A4B3-79E4E6C7D5AD}" destId="{AE4CBB04-19C2-F24F-B25B-9E2E283ED7DC}" srcOrd="0" destOrd="0" presId="urn:microsoft.com/office/officeart/2005/8/layout/default"/>
    <dgm:cxn modelId="{B80E53F1-AE34-974D-BD2B-25A07BD9FD8E}" srcId="{9CC660F0-F51F-7942-83BE-3900525400E2}" destId="{CBCAA15B-4DF8-2449-A3E4-2FFBBD4228E2}" srcOrd="0" destOrd="0" parTransId="{5331A782-92F5-174C-ADE8-603BCC699445}" sibTransId="{9DC2889C-314C-814D-BB7F-9B9EC7CF63FA}"/>
    <dgm:cxn modelId="{2499108F-41B4-1545-9E73-C714FEFAF3C8}" type="presParOf" srcId="{95268C6E-CB32-D948-A12E-859ACF9C7366}" destId="{CB5FB369-8671-004A-BE5D-38525B638D11}" srcOrd="0" destOrd="0" presId="urn:microsoft.com/office/officeart/2005/8/layout/default"/>
    <dgm:cxn modelId="{E69ED987-EC7C-8A40-9346-4A8589C6E3BF}" type="presParOf" srcId="{95268C6E-CB32-D948-A12E-859ACF9C7366}" destId="{3B34B650-2B64-FC4E-A434-787890AAF57B}" srcOrd="1" destOrd="0" presId="urn:microsoft.com/office/officeart/2005/8/layout/default"/>
    <dgm:cxn modelId="{E45280D0-55D1-C543-B504-CD319DA41B7B}" type="presParOf" srcId="{95268C6E-CB32-D948-A12E-859ACF9C7366}" destId="{AE4CBB04-19C2-F24F-B25B-9E2E283ED7DC}"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4DD884E-63E6-1444-A88B-CD7D08E920B1}" type="doc">
      <dgm:prSet loTypeId="urn:microsoft.com/office/officeart/2005/8/layout/process5" loCatId="process" qsTypeId="urn:microsoft.com/office/officeart/2005/8/quickstyle/simple4" qsCatId="simple" csTypeId="urn:microsoft.com/office/officeart/2005/8/colors/accent1_2" csCatId="accent1" phldr="1"/>
      <dgm:spPr/>
      <dgm:t>
        <a:bodyPr/>
        <a:lstStyle/>
        <a:p>
          <a:endParaRPr lang="en-US"/>
        </a:p>
      </dgm:t>
    </dgm:pt>
    <dgm:pt modelId="{3835C9AF-C8B8-1C4B-9620-F1414EB1BBA6}">
      <dgm:prSet/>
      <dgm:spPr/>
      <dgm:t>
        <a:bodyPr/>
        <a:lstStyle/>
        <a:p>
          <a:pPr rtl="0"/>
          <a:r>
            <a:rPr lang="en-US" dirty="0"/>
            <a:t>Messages are sent to a shared data structure consisting of queues that can temporarily hold messages</a:t>
          </a:r>
        </a:p>
      </dgm:t>
    </dgm:pt>
    <dgm:pt modelId="{D30EA9A2-157A-A94A-B794-891764C3925E}" type="parTrans" cxnId="{7D7BC587-81CE-5B40-BBC5-50A1A3C512ED}">
      <dgm:prSet/>
      <dgm:spPr/>
      <dgm:t>
        <a:bodyPr/>
        <a:lstStyle/>
        <a:p>
          <a:endParaRPr lang="en-US"/>
        </a:p>
      </dgm:t>
    </dgm:pt>
    <dgm:pt modelId="{EF07625C-3D8A-134E-9342-F205810A8C9A}" type="sibTrans" cxnId="{7D7BC587-81CE-5B40-BBC5-50A1A3C512ED}">
      <dgm:prSet/>
      <dgm:spPr/>
      <dgm:t>
        <a:bodyPr/>
        <a:lstStyle/>
        <a:p>
          <a:endParaRPr lang="en-US"/>
        </a:p>
      </dgm:t>
    </dgm:pt>
    <dgm:pt modelId="{8B723089-3212-E34B-B778-BE7311279152}">
      <dgm:prSet custT="1"/>
      <dgm:spPr/>
      <dgm:t>
        <a:bodyPr/>
        <a:lstStyle/>
        <a:p>
          <a:pPr rtl="0"/>
          <a:r>
            <a:rPr lang="en-US" sz="2300" dirty="0"/>
            <a:t>Queues are referred to as </a:t>
          </a:r>
          <a:r>
            <a:rPr lang="en-US" sz="2300" i="1" dirty="0"/>
            <a:t>mailboxes</a:t>
          </a:r>
        </a:p>
      </dgm:t>
    </dgm:pt>
    <dgm:pt modelId="{E44D4AF3-D810-924E-AE2E-3B93991C0F5E}" type="parTrans" cxnId="{C9E23825-C7E2-7D4A-9B06-ABCD730A26DC}">
      <dgm:prSet/>
      <dgm:spPr/>
      <dgm:t>
        <a:bodyPr/>
        <a:lstStyle/>
        <a:p>
          <a:endParaRPr lang="en-US"/>
        </a:p>
      </dgm:t>
    </dgm:pt>
    <dgm:pt modelId="{92F3AE1F-7CF4-0E4E-AD92-CC9DDA51D05A}" type="sibTrans" cxnId="{C9E23825-C7E2-7D4A-9B06-ABCD730A26DC}">
      <dgm:prSet/>
      <dgm:spPr/>
      <dgm:t>
        <a:bodyPr/>
        <a:lstStyle/>
        <a:p>
          <a:endParaRPr lang="en-US"/>
        </a:p>
      </dgm:t>
    </dgm:pt>
    <dgm:pt modelId="{14800147-5EB0-A046-ACFA-A00F2E46BB2A}">
      <dgm:prSet/>
      <dgm:spPr/>
      <dgm:t>
        <a:bodyPr/>
        <a:lstStyle/>
        <a:p>
          <a:pPr rtl="0"/>
          <a:r>
            <a:rPr lang="en-US" dirty="0"/>
            <a:t>One process sends a message to the mailbox and the other process picks up the message from the mailbox</a:t>
          </a:r>
        </a:p>
      </dgm:t>
    </dgm:pt>
    <dgm:pt modelId="{FD0168C6-54B9-894A-94DF-8791D73DEE01}" type="parTrans" cxnId="{DCE40618-414B-D941-BDEA-4FE6C4DA8C16}">
      <dgm:prSet/>
      <dgm:spPr/>
      <dgm:t>
        <a:bodyPr/>
        <a:lstStyle/>
        <a:p>
          <a:endParaRPr lang="en-US"/>
        </a:p>
      </dgm:t>
    </dgm:pt>
    <dgm:pt modelId="{FD890C16-4CAC-9942-8041-EA6A38E243FC}" type="sibTrans" cxnId="{DCE40618-414B-D941-BDEA-4FE6C4DA8C16}">
      <dgm:prSet/>
      <dgm:spPr/>
      <dgm:t>
        <a:bodyPr/>
        <a:lstStyle/>
        <a:p>
          <a:endParaRPr lang="en-US"/>
        </a:p>
      </dgm:t>
    </dgm:pt>
    <dgm:pt modelId="{21E31C66-B428-6049-A452-5922E2FF8434}">
      <dgm:prSet custT="1"/>
      <dgm:spPr/>
      <dgm:t>
        <a:bodyPr/>
        <a:lstStyle/>
        <a:p>
          <a:pPr rtl="0"/>
          <a:r>
            <a:rPr lang="en-US" sz="2300" dirty="0"/>
            <a:t>Allows for greater flexibility in the use of messages</a:t>
          </a:r>
        </a:p>
      </dgm:t>
    </dgm:pt>
    <dgm:pt modelId="{78EE7C33-1D98-FA4D-A3A8-8923D09F5D92}" type="parTrans" cxnId="{EFD69319-FD92-A64A-9E47-7C1D1C292482}">
      <dgm:prSet/>
      <dgm:spPr/>
      <dgm:t>
        <a:bodyPr/>
        <a:lstStyle/>
        <a:p>
          <a:endParaRPr lang="en-US"/>
        </a:p>
      </dgm:t>
    </dgm:pt>
    <dgm:pt modelId="{22F50B58-7AB8-8249-B714-65DD4BF45937}" type="sibTrans" cxnId="{EFD69319-FD92-A64A-9E47-7C1D1C292482}">
      <dgm:prSet/>
      <dgm:spPr/>
      <dgm:t>
        <a:bodyPr/>
        <a:lstStyle/>
        <a:p>
          <a:endParaRPr lang="en-US"/>
        </a:p>
      </dgm:t>
    </dgm:pt>
    <dgm:pt modelId="{ADB7CF85-0D40-EA4C-933F-CAFE371BFBC7}" type="pres">
      <dgm:prSet presAssocID="{A4DD884E-63E6-1444-A88B-CD7D08E920B1}" presName="diagram" presStyleCnt="0">
        <dgm:presLayoutVars>
          <dgm:dir/>
          <dgm:resizeHandles val="exact"/>
        </dgm:presLayoutVars>
      </dgm:prSet>
      <dgm:spPr/>
    </dgm:pt>
    <dgm:pt modelId="{8AD35B85-3272-3842-B975-0D28FA12B9EA}" type="pres">
      <dgm:prSet presAssocID="{3835C9AF-C8B8-1C4B-9620-F1414EB1BBA6}" presName="node" presStyleLbl="node1" presStyleIdx="0" presStyleCnt="4" custScaleX="117226">
        <dgm:presLayoutVars>
          <dgm:bulletEnabled val="1"/>
        </dgm:presLayoutVars>
      </dgm:prSet>
      <dgm:spPr/>
    </dgm:pt>
    <dgm:pt modelId="{FD726207-BDF7-F648-8A1D-4792344EE082}" type="pres">
      <dgm:prSet presAssocID="{EF07625C-3D8A-134E-9342-F205810A8C9A}" presName="sibTrans" presStyleLbl="sibTrans2D1" presStyleIdx="0" presStyleCnt="3"/>
      <dgm:spPr/>
    </dgm:pt>
    <dgm:pt modelId="{81E6D9A4-117C-BD4B-B9E4-DA7B085265F8}" type="pres">
      <dgm:prSet presAssocID="{EF07625C-3D8A-134E-9342-F205810A8C9A}" presName="connectorText" presStyleLbl="sibTrans2D1" presStyleIdx="0" presStyleCnt="3"/>
      <dgm:spPr/>
    </dgm:pt>
    <dgm:pt modelId="{42A3B1B7-2198-FC48-81A1-C2AC20C0214A}" type="pres">
      <dgm:prSet presAssocID="{8B723089-3212-E34B-B778-BE7311279152}" presName="node" presStyleLbl="node1" presStyleIdx="1" presStyleCnt="4">
        <dgm:presLayoutVars>
          <dgm:bulletEnabled val="1"/>
        </dgm:presLayoutVars>
      </dgm:prSet>
      <dgm:spPr/>
    </dgm:pt>
    <dgm:pt modelId="{7DC9C592-1D86-434A-96C8-545A7F4FECE4}" type="pres">
      <dgm:prSet presAssocID="{92F3AE1F-7CF4-0E4E-AD92-CC9DDA51D05A}" presName="sibTrans" presStyleLbl="sibTrans2D1" presStyleIdx="1" presStyleCnt="3" custAng="21403044"/>
      <dgm:spPr/>
    </dgm:pt>
    <dgm:pt modelId="{86F2A8CF-41AF-864D-8642-88310B73908A}" type="pres">
      <dgm:prSet presAssocID="{92F3AE1F-7CF4-0E4E-AD92-CC9DDA51D05A}" presName="connectorText" presStyleLbl="sibTrans2D1" presStyleIdx="1" presStyleCnt="3"/>
      <dgm:spPr/>
    </dgm:pt>
    <dgm:pt modelId="{E66579B5-8437-6E47-9E7B-772C542E5672}" type="pres">
      <dgm:prSet presAssocID="{14800147-5EB0-A046-ACFA-A00F2E46BB2A}" presName="node" presStyleLbl="node1" presStyleIdx="2" presStyleCnt="4" custScaleX="111471">
        <dgm:presLayoutVars>
          <dgm:bulletEnabled val="1"/>
        </dgm:presLayoutVars>
      </dgm:prSet>
      <dgm:spPr/>
    </dgm:pt>
    <dgm:pt modelId="{8C5B34E6-1EBB-5344-9E86-EF1BC7524739}" type="pres">
      <dgm:prSet presAssocID="{FD890C16-4CAC-9942-8041-EA6A38E243FC}" presName="sibTrans" presStyleLbl="sibTrans2D1" presStyleIdx="2" presStyleCnt="3"/>
      <dgm:spPr/>
    </dgm:pt>
    <dgm:pt modelId="{8FAC8C4F-DA4A-1C4E-8167-DD69A5077BC0}" type="pres">
      <dgm:prSet presAssocID="{FD890C16-4CAC-9942-8041-EA6A38E243FC}" presName="connectorText" presStyleLbl="sibTrans2D1" presStyleIdx="2" presStyleCnt="3"/>
      <dgm:spPr/>
    </dgm:pt>
    <dgm:pt modelId="{B17C5E11-C218-7B41-92DA-A351214BBDBE}" type="pres">
      <dgm:prSet presAssocID="{21E31C66-B428-6049-A452-5922E2FF8434}" presName="node" presStyleLbl="node1" presStyleIdx="3" presStyleCnt="4">
        <dgm:presLayoutVars>
          <dgm:bulletEnabled val="1"/>
        </dgm:presLayoutVars>
      </dgm:prSet>
      <dgm:spPr/>
    </dgm:pt>
  </dgm:ptLst>
  <dgm:cxnLst>
    <dgm:cxn modelId="{DCE40618-414B-D941-BDEA-4FE6C4DA8C16}" srcId="{A4DD884E-63E6-1444-A88B-CD7D08E920B1}" destId="{14800147-5EB0-A046-ACFA-A00F2E46BB2A}" srcOrd="2" destOrd="0" parTransId="{FD0168C6-54B9-894A-94DF-8791D73DEE01}" sibTransId="{FD890C16-4CAC-9942-8041-EA6A38E243FC}"/>
    <dgm:cxn modelId="{EFD69319-FD92-A64A-9E47-7C1D1C292482}" srcId="{A4DD884E-63E6-1444-A88B-CD7D08E920B1}" destId="{21E31C66-B428-6049-A452-5922E2FF8434}" srcOrd="3" destOrd="0" parTransId="{78EE7C33-1D98-FA4D-A3A8-8923D09F5D92}" sibTransId="{22F50B58-7AB8-8249-B714-65DD4BF45937}"/>
    <dgm:cxn modelId="{C9E23825-C7E2-7D4A-9B06-ABCD730A26DC}" srcId="{A4DD884E-63E6-1444-A88B-CD7D08E920B1}" destId="{8B723089-3212-E34B-B778-BE7311279152}" srcOrd="1" destOrd="0" parTransId="{E44D4AF3-D810-924E-AE2E-3B93991C0F5E}" sibTransId="{92F3AE1F-7CF4-0E4E-AD92-CC9DDA51D05A}"/>
    <dgm:cxn modelId="{2E23B82C-0D98-8645-ACC5-C584CB63A133}" type="presOf" srcId="{EF07625C-3D8A-134E-9342-F205810A8C9A}" destId="{FD726207-BDF7-F648-8A1D-4792344EE082}" srcOrd="0" destOrd="0" presId="urn:microsoft.com/office/officeart/2005/8/layout/process5"/>
    <dgm:cxn modelId="{4AE96B34-331C-F648-A8C2-C3C40CE83E5F}" type="presOf" srcId="{3835C9AF-C8B8-1C4B-9620-F1414EB1BBA6}" destId="{8AD35B85-3272-3842-B975-0D28FA12B9EA}" srcOrd="0" destOrd="0" presId="urn:microsoft.com/office/officeart/2005/8/layout/process5"/>
    <dgm:cxn modelId="{91C67C48-2B3B-FF41-883C-65463BB1F137}" type="presOf" srcId="{FD890C16-4CAC-9942-8041-EA6A38E243FC}" destId="{8FAC8C4F-DA4A-1C4E-8167-DD69A5077BC0}" srcOrd="1" destOrd="0" presId="urn:microsoft.com/office/officeart/2005/8/layout/process5"/>
    <dgm:cxn modelId="{BCCD5555-590D-8844-9955-982D6C094CA0}" type="presOf" srcId="{A4DD884E-63E6-1444-A88B-CD7D08E920B1}" destId="{ADB7CF85-0D40-EA4C-933F-CAFE371BFBC7}" srcOrd="0" destOrd="0" presId="urn:microsoft.com/office/officeart/2005/8/layout/process5"/>
    <dgm:cxn modelId="{E453625A-F952-F942-B4CD-D02B745CE88B}" type="presOf" srcId="{92F3AE1F-7CF4-0E4E-AD92-CC9DDA51D05A}" destId="{7DC9C592-1D86-434A-96C8-545A7F4FECE4}" srcOrd="0" destOrd="0" presId="urn:microsoft.com/office/officeart/2005/8/layout/process5"/>
    <dgm:cxn modelId="{7D7BC587-81CE-5B40-BBC5-50A1A3C512ED}" srcId="{A4DD884E-63E6-1444-A88B-CD7D08E920B1}" destId="{3835C9AF-C8B8-1C4B-9620-F1414EB1BBA6}" srcOrd="0" destOrd="0" parTransId="{D30EA9A2-157A-A94A-B794-891764C3925E}" sibTransId="{EF07625C-3D8A-134E-9342-F205810A8C9A}"/>
    <dgm:cxn modelId="{46182992-57AB-B94F-8102-A63620C4ED09}" type="presOf" srcId="{14800147-5EB0-A046-ACFA-A00F2E46BB2A}" destId="{E66579B5-8437-6E47-9E7B-772C542E5672}" srcOrd="0" destOrd="0" presId="urn:microsoft.com/office/officeart/2005/8/layout/process5"/>
    <dgm:cxn modelId="{4FACF59C-3EB4-6D43-BE20-2027FCF72A16}" type="presOf" srcId="{8B723089-3212-E34B-B778-BE7311279152}" destId="{42A3B1B7-2198-FC48-81A1-C2AC20C0214A}" srcOrd="0" destOrd="0" presId="urn:microsoft.com/office/officeart/2005/8/layout/process5"/>
    <dgm:cxn modelId="{DE5A05B8-C8DD-644D-8544-6EDDBAD76462}" type="presOf" srcId="{92F3AE1F-7CF4-0E4E-AD92-CC9DDA51D05A}" destId="{86F2A8CF-41AF-864D-8642-88310B73908A}" srcOrd="1" destOrd="0" presId="urn:microsoft.com/office/officeart/2005/8/layout/process5"/>
    <dgm:cxn modelId="{E10B43DA-15B4-7F4E-9C06-FE93E04BBA66}" type="presOf" srcId="{EF07625C-3D8A-134E-9342-F205810A8C9A}" destId="{81E6D9A4-117C-BD4B-B9E4-DA7B085265F8}" srcOrd="1" destOrd="0" presId="urn:microsoft.com/office/officeart/2005/8/layout/process5"/>
    <dgm:cxn modelId="{C55A86E9-2ED7-AC49-80EE-929FFB47E1CB}" type="presOf" srcId="{FD890C16-4CAC-9942-8041-EA6A38E243FC}" destId="{8C5B34E6-1EBB-5344-9E86-EF1BC7524739}" srcOrd="0" destOrd="0" presId="urn:microsoft.com/office/officeart/2005/8/layout/process5"/>
    <dgm:cxn modelId="{0AC82CF3-5775-2743-B725-D9A3F3D82F65}" type="presOf" srcId="{21E31C66-B428-6049-A452-5922E2FF8434}" destId="{B17C5E11-C218-7B41-92DA-A351214BBDBE}" srcOrd="0" destOrd="0" presId="urn:microsoft.com/office/officeart/2005/8/layout/process5"/>
    <dgm:cxn modelId="{762E6213-13C2-8940-AE6E-D610CFB65AEA}" type="presParOf" srcId="{ADB7CF85-0D40-EA4C-933F-CAFE371BFBC7}" destId="{8AD35B85-3272-3842-B975-0D28FA12B9EA}" srcOrd="0" destOrd="0" presId="urn:microsoft.com/office/officeart/2005/8/layout/process5"/>
    <dgm:cxn modelId="{A0D1FFE8-E99D-634D-AE7A-82F62FC1F7C4}" type="presParOf" srcId="{ADB7CF85-0D40-EA4C-933F-CAFE371BFBC7}" destId="{FD726207-BDF7-F648-8A1D-4792344EE082}" srcOrd="1" destOrd="0" presId="urn:microsoft.com/office/officeart/2005/8/layout/process5"/>
    <dgm:cxn modelId="{B8A21F83-ABA0-F54C-8467-5010F15B19CE}" type="presParOf" srcId="{FD726207-BDF7-F648-8A1D-4792344EE082}" destId="{81E6D9A4-117C-BD4B-B9E4-DA7B085265F8}" srcOrd="0" destOrd="0" presId="urn:microsoft.com/office/officeart/2005/8/layout/process5"/>
    <dgm:cxn modelId="{407504D7-6A5B-4843-8EBD-AD6550F1C5B0}" type="presParOf" srcId="{ADB7CF85-0D40-EA4C-933F-CAFE371BFBC7}" destId="{42A3B1B7-2198-FC48-81A1-C2AC20C0214A}" srcOrd="2" destOrd="0" presId="urn:microsoft.com/office/officeart/2005/8/layout/process5"/>
    <dgm:cxn modelId="{90BB1221-F913-F645-9B81-5E9AA3A95E14}" type="presParOf" srcId="{ADB7CF85-0D40-EA4C-933F-CAFE371BFBC7}" destId="{7DC9C592-1D86-434A-96C8-545A7F4FECE4}" srcOrd="3" destOrd="0" presId="urn:microsoft.com/office/officeart/2005/8/layout/process5"/>
    <dgm:cxn modelId="{4B7A9356-EAFF-F94A-9351-2D631F4F4D31}" type="presParOf" srcId="{7DC9C592-1D86-434A-96C8-545A7F4FECE4}" destId="{86F2A8CF-41AF-864D-8642-88310B73908A}" srcOrd="0" destOrd="0" presId="urn:microsoft.com/office/officeart/2005/8/layout/process5"/>
    <dgm:cxn modelId="{8683AB3C-4D68-1C4F-B5E3-819A5E47A7B7}" type="presParOf" srcId="{ADB7CF85-0D40-EA4C-933F-CAFE371BFBC7}" destId="{E66579B5-8437-6E47-9E7B-772C542E5672}" srcOrd="4" destOrd="0" presId="urn:microsoft.com/office/officeart/2005/8/layout/process5"/>
    <dgm:cxn modelId="{407536AF-E113-DA42-92FF-DB781E358574}" type="presParOf" srcId="{ADB7CF85-0D40-EA4C-933F-CAFE371BFBC7}" destId="{8C5B34E6-1EBB-5344-9E86-EF1BC7524739}" srcOrd="5" destOrd="0" presId="urn:microsoft.com/office/officeart/2005/8/layout/process5"/>
    <dgm:cxn modelId="{34DA6F0F-D8AC-3B48-9379-4A595440A83D}" type="presParOf" srcId="{8C5B34E6-1EBB-5344-9E86-EF1BC7524739}" destId="{8FAC8C4F-DA4A-1C4E-8167-DD69A5077BC0}" srcOrd="0" destOrd="0" presId="urn:microsoft.com/office/officeart/2005/8/layout/process5"/>
    <dgm:cxn modelId="{CA26D5DF-FE97-9C48-831C-061E0989DB4A}" type="presParOf" srcId="{ADB7CF85-0D40-EA4C-933F-CAFE371BFBC7}" destId="{B17C5E11-C218-7B41-92DA-A351214BBDBE}"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3E3335-8FA7-D447-A971-ED743EABA84D}"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F5471D39-D60F-A344-8BC5-A060A714B72C}">
      <dgm:prSet custT="1"/>
      <dgm:spPr>
        <a:blipFill rotWithShape="0">
          <a:blip xmlns:r="http://schemas.openxmlformats.org/officeDocument/2006/relationships" r:embed="rId1"/>
          <a:tile tx="0" ty="0" sx="100000" sy="100000" flip="none" algn="tl"/>
        </a:blipFill>
      </dgm:spPr>
      <dgm:t>
        <a:bodyPr/>
        <a:lstStyle/>
        <a:p>
          <a:pPr rtl="0"/>
          <a:r>
            <a:rPr lang="en-NZ" sz="2800" b="1" i="0" dirty="0">
              <a:solidFill>
                <a:schemeClr val="tx2">
                  <a:lumMod val="75000"/>
                </a:schemeClr>
              </a:solidFill>
            </a:rPr>
            <a:t>Messages</a:t>
          </a:r>
          <a:endParaRPr lang="en-US" sz="2800" b="1" i="0" dirty="0">
            <a:solidFill>
              <a:schemeClr val="tx2">
                <a:lumMod val="75000"/>
              </a:schemeClr>
            </a:solidFill>
          </a:endParaRPr>
        </a:p>
      </dgm:t>
    </dgm:pt>
    <dgm:pt modelId="{E70DA4A0-46F9-6247-8BA6-EE0D87215171}" type="parTrans" cxnId="{8AFE58B8-55E0-1D47-98E2-E9713A985342}">
      <dgm:prSet/>
      <dgm:spPr/>
      <dgm:t>
        <a:bodyPr/>
        <a:lstStyle/>
        <a:p>
          <a:endParaRPr lang="en-US"/>
        </a:p>
      </dgm:t>
    </dgm:pt>
    <dgm:pt modelId="{9CEC6DB9-C883-6E4A-82BE-E62AA6ED6CA6}" type="sibTrans" cxnId="{8AFE58B8-55E0-1D47-98E2-E9713A985342}">
      <dgm:prSet/>
      <dgm:spPr/>
      <dgm:t>
        <a:bodyPr/>
        <a:lstStyle/>
        <a:p>
          <a:endParaRPr lang="en-US"/>
        </a:p>
      </dgm:t>
    </dgm:pt>
    <dgm:pt modelId="{1AF09498-8AA9-C74F-8679-9571AB5EB973}">
      <dgm:prSet phldrT="[Text]" custT="1"/>
      <dgm:spPr>
        <a:blipFill rotWithShape="0">
          <a:blip xmlns:r="http://schemas.openxmlformats.org/officeDocument/2006/relationships" r:embed="rId1"/>
          <a:tile tx="0" ty="0" sx="100000" sy="100000" flip="none" algn="tl"/>
        </a:blipFill>
      </dgm:spPr>
      <dgm:t>
        <a:bodyPr/>
        <a:lstStyle/>
        <a:p>
          <a:pPr rtl="0"/>
          <a:r>
            <a:rPr lang="en-NZ" sz="2800" b="1" i="0" dirty="0">
              <a:solidFill>
                <a:schemeClr val="accent2">
                  <a:lumMod val="50000"/>
                </a:schemeClr>
              </a:solidFill>
            </a:rPr>
            <a:t>Operating system themes are:</a:t>
          </a:r>
          <a:endParaRPr lang="en-US" sz="2800" b="1" i="0" dirty="0">
            <a:solidFill>
              <a:schemeClr val="accent2">
                <a:lumMod val="50000"/>
              </a:schemeClr>
            </a:solidFill>
          </a:endParaRPr>
        </a:p>
      </dgm:t>
    </dgm:pt>
    <dgm:pt modelId="{5E20C15E-9D90-C849-B2B0-DBB92576BBE1}" type="parTrans" cxnId="{0626176F-02C4-5448-81FC-AB4DB69C789B}">
      <dgm:prSet/>
      <dgm:spPr/>
      <dgm:t>
        <a:bodyPr/>
        <a:lstStyle/>
        <a:p>
          <a:endParaRPr lang="en-US"/>
        </a:p>
      </dgm:t>
    </dgm:pt>
    <dgm:pt modelId="{4AC886B7-F3A7-FA4F-B9F4-7413D1FABA0B}" type="sibTrans" cxnId="{0626176F-02C4-5448-81FC-AB4DB69C789B}">
      <dgm:prSet/>
      <dgm:spPr/>
      <dgm:t>
        <a:bodyPr/>
        <a:lstStyle/>
        <a:p>
          <a:endParaRPr lang="en-US"/>
        </a:p>
      </dgm:t>
    </dgm:pt>
    <dgm:pt modelId="{C075402F-6A01-804D-B405-91AFAC7C57D5}">
      <dgm:prSet phldrT="[Text]" custT="1"/>
      <dgm:spPr>
        <a:blipFill rotWithShape="0">
          <a:blip xmlns:r="http://schemas.openxmlformats.org/officeDocument/2006/relationships" r:embed="rId1"/>
          <a:tile tx="0" ty="0" sx="100000" sy="100000" flip="none" algn="tl"/>
        </a:blipFill>
      </dgm:spPr>
      <dgm:t>
        <a:bodyPr/>
        <a:lstStyle/>
        <a:p>
          <a:pPr rtl="0"/>
          <a:r>
            <a:rPr lang="en-NZ" sz="2800" b="1" i="0" dirty="0">
              <a:solidFill>
                <a:schemeClr val="tx2">
                  <a:lumMod val="75000"/>
                </a:schemeClr>
              </a:solidFill>
            </a:rPr>
            <a:t>Mutual Exclusion</a:t>
          </a:r>
          <a:endParaRPr lang="en-US" sz="2800" b="1" i="0" dirty="0">
            <a:solidFill>
              <a:schemeClr val="tx2">
                <a:lumMod val="75000"/>
              </a:schemeClr>
            </a:solidFill>
          </a:endParaRPr>
        </a:p>
      </dgm:t>
    </dgm:pt>
    <dgm:pt modelId="{23E5F9CC-4E09-2541-A1ED-DE78E2D2DC39}" type="parTrans" cxnId="{F9B38CB9-B3E0-7247-A181-2EBDB7E37DF3}">
      <dgm:prSet/>
      <dgm:spPr/>
      <dgm:t>
        <a:bodyPr/>
        <a:lstStyle/>
        <a:p>
          <a:endParaRPr lang="en-US"/>
        </a:p>
      </dgm:t>
    </dgm:pt>
    <dgm:pt modelId="{A55C3B22-2887-8A4A-877E-7734EF315532}" type="sibTrans" cxnId="{F9B38CB9-B3E0-7247-A181-2EBDB7E37DF3}">
      <dgm:prSet/>
      <dgm:spPr/>
      <dgm:t>
        <a:bodyPr/>
        <a:lstStyle/>
        <a:p>
          <a:endParaRPr lang="en-US"/>
        </a:p>
      </dgm:t>
    </dgm:pt>
    <dgm:pt modelId="{62FA935C-B9C3-6C41-95D0-88D5B0C66235}">
      <dgm:prSet custT="1"/>
      <dgm:spPr/>
      <dgm:t>
        <a:bodyPr/>
        <a:lstStyle/>
        <a:p>
          <a:pPr rtl="0"/>
          <a:r>
            <a:rPr lang="en-US" sz="2000" dirty="0"/>
            <a:t>Useful for the enforcement of mutual exclusion discipline</a:t>
          </a:r>
        </a:p>
      </dgm:t>
    </dgm:pt>
    <dgm:pt modelId="{20DA2353-6B53-4D4E-8EFE-74354D286F46}" type="parTrans" cxnId="{A0672A68-DAD6-5C45-B6CC-513237C2A5DB}">
      <dgm:prSet/>
      <dgm:spPr/>
      <dgm:t>
        <a:bodyPr/>
        <a:lstStyle/>
        <a:p>
          <a:endParaRPr lang="en-US"/>
        </a:p>
      </dgm:t>
    </dgm:pt>
    <dgm:pt modelId="{D02B32B4-66BC-974C-9232-2B07E10646D2}" type="sibTrans" cxnId="{A0672A68-DAD6-5C45-B6CC-513237C2A5DB}">
      <dgm:prSet/>
      <dgm:spPr/>
      <dgm:t>
        <a:bodyPr/>
        <a:lstStyle/>
        <a:p>
          <a:endParaRPr lang="en-US"/>
        </a:p>
      </dgm:t>
    </dgm:pt>
    <dgm:pt modelId="{07DF5946-F56F-B341-8A03-848318306C40}">
      <dgm:prSet custT="1"/>
      <dgm:spPr/>
      <dgm:t>
        <a:bodyPr/>
        <a:lstStyle/>
        <a:p>
          <a:r>
            <a:rPr lang="en-NZ" sz="2000" dirty="0"/>
            <a:t>Multiprogramming, multiprocessing, distributed processing</a:t>
          </a:r>
        </a:p>
      </dgm:t>
    </dgm:pt>
    <dgm:pt modelId="{4672F033-A4AB-E84F-BACA-6D394ED89C12}" type="parTrans" cxnId="{1B0B7AAF-6909-D84F-B41D-81FEA7DD3E5C}">
      <dgm:prSet/>
      <dgm:spPr/>
      <dgm:t>
        <a:bodyPr/>
        <a:lstStyle/>
        <a:p>
          <a:endParaRPr lang="en-US"/>
        </a:p>
      </dgm:t>
    </dgm:pt>
    <dgm:pt modelId="{F5E67D90-CAE0-7541-8B21-75DD2FB6B657}" type="sibTrans" cxnId="{1B0B7AAF-6909-D84F-B41D-81FEA7DD3E5C}">
      <dgm:prSet/>
      <dgm:spPr/>
      <dgm:t>
        <a:bodyPr/>
        <a:lstStyle/>
        <a:p>
          <a:endParaRPr lang="en-US"/>
        </a:p>
      </dgm:t>
    </dgm:pt>
    <dgm:pt modelId="{7FC1A1E5-F337-3847-841F-3EC88C4E77D4}">
      <dgm:prSet custT="1"/>
      <dgm:spPr/>
      <dgm:t>
        <a:bodyPr/>
        <a:lstStyle/>
        <a:p>
          <a:r>
            <a:rPr lang="en-NZ" sz="2000" dirty="0"/>
            <a:t>Fundamental to these themes is concurrency</a:t>
          </a:r>
        </a:p>
      </dgm:t>
    </dgm:pt>
    <dgm:pt modelId="{C030CE38-31F9-8145-866E-0899317A2953}" type="parTrans" cxnId="{37FB0EFD-CB52-0F47-B614-89A68C414B6D}">
      <dgm:prSet/>
      <dgm:spPr/>
      <dgm:t>
        <a:bodyPr/>
        <a:lstStyle/>
        <a:p>
          <a:endParaRPr lang="en-US"/>
        </a:p>
      </dgm:t>
    </dgm:pt>
    <dgm:pt modelId="{7CB6F66F-180C-D047-A8B5-84108DC64D11}" type="sibTrans" cxnId="{37FB0EFD-CB52-0F47-B614-89A68C414B6D}">
      <dgm:prSet/>
      <dgm:spPr/>
      <dgm:t>
        <a:bodyPr/>
        <a:lstStyle/>
        <a:p>
          <a:endParaRPr lang="en-US"/>
        </a:p>
      </dgm:t>
    </dgm:pt>
    <dgm:pt modelId="{23E83D9E-9CE4-8C40-A2B8-2F93A3D9901C}">
      <dgm:prSet custT="1"/>
      <dgm:spPr/>
      <dgm:t>
        <a:bodyPr/>
        <a:lstStyle/>
        <a:p>
          <a:r>
            <a:rPr lang="en-NZ" sz="2000" dirty="0"/>
            <a:t>issues of conflict resolution and cooperation arise</a:t>
          </a:r>
        </a:p>
      </dgm:t>
    </dgm:pt>
    <dgm:pt modelId="{4BC83EAC-48AB-F94F-8CAE-FF1B3845EC03}" type="parTrans" cxnId="{50484013-7407-6247-9DC0-16CA53A77A3C}">
      <dgm:prSet/>
      <dgm:spPr/>
      <dgm:t>
        <a:bodyPr/>
        <a:lstStyle/>
        <a:p>
          <a:endParaRPr lang="en-US"/>
        </a:p>
      </dgm:t>
    </dgm:pt>
    <dgm:pt modelId="{CCC75EE4-82D6-CF42-A444-E5E8619109EA}" type="sibTrans" cxnId="{50484013-7407-6247-9DC0-16CA53A77A3C}">
      <dgm:prSet/>
      <dgm:spPr/>
      <dgm:t>
        <a:bodyPr/>
        <a:lstStyle/>
        <a:p>
          <a:endParaRPr lang="en-US"/>
        </a:p>
      </dgm:t>
    </dgm:pt>
    <dgm:pt modelId="{5F763A14-CC6B-974C-9364-A2685156575D}">
      <dgm:prSet custT="1"/>
      <dgm:spPr/>
      <dgm:t>
        <a:bodyPr/>
        <a:lstStyle/>
        <a:p>
          <a:r>
            <a:rPr lang="en-NZ" sz="2000" dirty="0"/>
            <a:t>Condition in which there is a set of </a:t>
          </a:r>
          <a:r>
            <a:rPr lang="en-NZ" sz="2000"/>
            <a:t>concurrent processes, </a:t>
          </a:r>
          <a:r>
            <a:rPr lang="en-NZ" sz="2000" dirty="0"/>
            <a:t>only one of which is able to access a given resource or perform a given function at any time</a:t>
          </a:r>
        </a:p>
      </dgm:t>
    </dgm:pt>
    <dgm:pt modelId="{777EC8A3-BB7D-DD4A-BA1B-75EA0D2AAC5A}" type="parTrans" cxnId="{13AEC825-41CD-2344-BB83-737D9E29345A}">
      <dgm:prSet/>
      <dgm:spPr/>
      <dgm:t>
        <a:bodyPr/>
        <a:lstStyle/>
        <a:p>
          <a:endParaRPr lang="en-US"/>
        </a:p>
      </dgm:t>
    </dgm:pt>
    <dgm:pt modelId="{4305BA5D-57D0-5C46-B34C-206F07F96A69}" type="sibTrans" cxnId="{13AEC825-41CD-2344-BB83-737D9E29345A}">
      <dgm:prSet/>
      <dgm:spPr/>
      <dgm:t>
        <a:bodyPr/>
        <a:lstStyle/>
        <a:p>
          <a:endParaRPr lang="en-US"/>
        </a:p>
      </dgm:t>
    </dgm:pt>
    <dgm:pt modelId="{B5782AC7-1F34-A546-BB4B-7C4B462701F5}">
      <dgm:prSet custT="1"/>
      <dgm:spPr/>
      <dgm:t>
        <a:bodyPr/>
        <a:lstStyle/>
        <a:p>
          <a:r>
            <a:rPr lang="en-NZ" sz="2000" dirty="0"/>
            <a:t>One approach involves the use of special purpose machine instructions</a:t>
          </a:r>
        </a:p>
      </dgm:t>
    </dgm:pt>
    <dgm:pt modelId="{9E200E9D-AC29-294B-A768-E43CFC6FFC48}" type="parTrans" cxnId="{FDE1CDAF-0C8F-F543-BBD9-DBB591D85A85}">
      <dgm:prSet/>
      <dgm:spPr/>
      <dgm:t>
        <a:bodyPr/>
        <a:lstStyle/>
        <a:p>
          <a:endParaRPr lang="en-US"/>
        </a:p>
      </dgm:t>
    </dgm:pt>
    <dgm:pt modelId="{75B85CCE-5547-2E4B-9696-572D57DC5DD8}" type="sibTrans" cxnId="{FDE1CDAF-0C8F-F543-BBD9-DBB591D85A85}">
      <dgm:prSet/>
      <dgm:spPr/>
      <dgm:t>
        <a:bodyPr/>
        <a:lstStyle/>
        <a:p>
          <a:endParaRPr lang="en-US"/>
        </a:p>
      </dgm:t>
    </dgm:pt>
    <dgm:pt modelId="{BADF326F-E2B4-5A47-9BE5-EA189C22DAFC}">
      <dgm:prSet phldrT="[Text]" custT="1"/>
      <dgm:spPr>
        <a:blipFill rotWithShape="0">
          <a:blip xmlns:r="http://schemas.openxmlformats.org/officeDocument/2006/relationships" r:embed="rId1"/>
          <a:tile tx="0" ty="0" sx="100000" sy="100000" flip="none" algn="tl"/>
        </a:blipFill>
      </dgm:spPr>
      <dgm:t>
        <a:bodyPr/>
        <a:lstStyle/>
        <a:p>
          <a:pPr rtl="0"/>
          <a:r>
            <a:rPr lang="en-NZ" sz="2800" b="1" i="0" dirty="0">
              <a:solidFill>
                <a:schemeClr val="accent2">
                  <a:lumMod val="50000"/>
                </a:schemeClr>
              </a:solidFill>
            </a:rPr>
            <a:t>Semaphores</a:t>
          </a:r>
        </a:p>
      </dgm:t>
    </dgm:pt>
    <dgm:pt modelId="{32B21245-F900-D649-88C9-DAA3B717CB0E}" type="parTrans" cxnId="{58B5F7D6-CA19-BE44-83DD-D2718CBFAC5B}">
      <dgm:prSet/>
      <dgm:spPr/>
      <dgm:t>
        <a:bodyPr/>
        <a:lstStyle/>
        <a:p>
          <a:endParaRPr lang="en-US"/>
        </a:p>
      </dgm:t>
    </dgm:pt>
    <dgm:pt modelId="{105C21D2-FF88-C244-AA61-4020DB956444}" type="sibTrans" cxnId="{58B5F7D6-CA19-BE44-83DD-D2718CBFAC5B}">
      <dgm:prSet/>
      <dgm:spPr/>
      <dgm:t>
        <a:bodyPr/>
        <a:lstStyle/>
        <a:p>
          <a:endParaRPr lang="en-US"/>
        </a:p>
      </dgm:t>
    </dgm:pt>
    <dgm:pt modelId="{6B4AD971-24D1-3C46-BA23-0C3862D3CFA7}">
      <dgm:prSet custT="1"/>
      <dgm:spPr/>
      <dgm:t>
        <a:bodyPr/>
        <a:lstStyle/>
        <a:p>
          <a:r>
            <a:rPr lang="en-NZ" sz="2000" dirty="0"/>
            <a:t>Used for signaling among processes and can be readily used to enforce a mutual exclusion discipline</a:t>
          </a:r>
        </a:p>
      </dgm:t>
    </dgm:pt>
    <dgm:pt modelId="{3C8F744D-B623-BA45-9166-635FD3A29322}" type="parTrans" cxnId="{0F721008-BF64-9740-BC9D-34D5A9D6AF3E}">
      <dgm:prSet/>
      <dgm:spPr/>
      <dgm:t>
        <a:bodyPr/>
        <a:lstStyle/>
        <a:p>
          <a:endParaRPr lang="en-US"/>
        </a:p>
      </dgm:t>
    </dgm:pt>
    <dgm:pt modelId="{D4ECE38E-C5AA-DD41-BA4F-E56DD143CE3B}" type="sibTrans" cxnId="{0F721008-BF64-9740-BC9D-34D5A9D6AF3E}">
      <dgm:prSet/>
      <dgm:spPr/>
      <dgm:t>
        <a:bodyPr/>
        <a:lstStyle/>
        <a:p>
          <a:endParaRPr lang="en-US"/>
        </a:p>
      </dgm:t>
    </dgm:pt>
    <dgm:pt modelId="{96AB59AE-BFA6-1D48-8A36-F2BAF205148C}" type="pres">
      <dgm:prSet presAssocID="{3D3E3335-8FA7-D447-A971-ED743EABA84D}" presName="linear" presStyleCnt="0">
        <dgm:presLayoutVars>
          <dgm:animLvl val="lvl"/>
          <dgm:resizeHandles val="exact"/>
        </dgm:presLayoutVars>
      </dgm:prSet>
      <dgm:spPr/>
    </dgm:pt>
    <dgm:pt modelId="{8E18EEA1-4D9D-BA40-A54F-EBBF600C1F0D}" type="pres">
      <dgm:prSet presAssocID="{F5471D39-D60F-A344-8BC5-A060A714B72C}" presName="parentText" presStyleLbl="node1" presStyleIdx="0" presStyleCnt="4" custFlipHor="1" custScaleX="21429" custLinFactNeighborX="-33928" custLinFactNeighborY="7928">
        <dgm:presLayoutVars>
          <dgm:chMax val="0"/>
          <dgm:bulletEnabled val="1"/>
        </dgm:presLayoutVars>
      </dgm:prSet>
      <dgm:spPr/>
    </dgm:pt>
    <dgm:pt modelId="{1AA0D145-BAF9-AB45-9218-5222637AD0A7}" type="pres">
      <dgm:prSet presAssocID="{F5471D39-D60F-A344-8BC5-A060A714B72C}" presName="childText" presStyleLbl="revTx" presStyleIdx="0" presStyleCnt="4" custScaleX="94642" custLinFactNeighborX="3571" custLinFactNeighborY="9179">
        <dgm:presLayoutVars>
          <dgm:bulletEnabled val="1"/>
        </dgm:presLayoutVars>
      </dgm:prSet>
      <dgm:spPr/>
    </dgm:pt>
    <dgm:pt modelId="{39F79FF8-618D-3D47-BEF9-9B29B6C3E2C8}" type="pres">
      <dgm:prSet presAssocID="{1AF09498-8AA9-C74F-8679-9571AB5EB973}" presName="parentText" presStyleLbl="node1" presStyleIdx="1" presStyleCnt="4" custScaleX="58927" custLinFactNeighborX="-15179" custLinFactNeighborY="-20967">
        <dgm:presLayoutVars>
          <dgm:chMax val="0"/>
          <dgm:bulletEnabled val="1"/>
        </dgm:presLayoutVars>
      </dgm:prSet>
      <dgm:spPr/>
    </dgm:pt>
    <dgm:pt modelId="{B7BA34D4-2F33-CC43-9DC0-E08261428011}" type="pres">
      <dgm:prSet presAssocID="{1AF09498-8AA9-C74F-8679-9571AB5EB973}" presName="childText" presStyleLbl="revTx" presStyleIdx="1" presStyleCnt="4" custScaleX="94643" custScaleY="108636" custLinFactNeighborX="2679" custLinFactNeighborY="-26792">
        <dgm:presLayoutVars>
          <dgm:bulletEnabled val="1"/>
        </dgm:presLayoutVars>
      </dgm:prSet>
      <dgm:spPr/>
    </dgm:pt>
    <dgm:pt modelId="{678A52E5-79C0-6C43-9579-B04BA001439B}" type="pres">
      <dgm:prSet presAssocID="{C075402F-6A01-804D-B405-91AFAC7C57D5}" presName="parentText" presStyleLbl="node1" presStyleIdx="2" presStyleCnt="4" custScaleX="46428" custScaleY="83353" custLinFactNeighborX="-20536" custLinFactNeighborY="-32656">
        <dgm:presLayoutVars>
          <dgm:chMax val="0"/>
          <dgm:bulletEnabled val="1"/>
        </dgm:presLayoutVars>
      </dgm:prSet>
      <dgm:spPr/>
    </dgm:pt>
    <dgm:pt modelId="{C0B86D96-1539-9C44-B5AE-C49128619FD3}" type="pres">
      <dgm:prSet presAssocID="{C075402F-6A01-804D-B405-91AFAC7C57D5}" presName="childText" presStyleLbl="revTx" presStyleIdx="2" presStyleCnt="4" custScaleX="91071" custScaleY="153191" custLinFactNeighborX="1786" custLinFactNeighborY="-45880">
        <dgm:presLayoutVars>
          <dgm:bulletEnabled val="1"/>
        </dgm:presLayoutVars>
      </dgm:prSet>
      <dgm:spPr/>
    </dgm:pt>
    <dgm:pt modelId="{29787D3B-95CE-FA4A-AD8A-DC21D51C0619}" type="pres">
      <dgm:prSet presAssocID="{BADF326F-E2B4-5A47-9BE5-EA189C22DAFC}" presName="parentText" presStyleLbl="node1" presStyleIdx="3" presStyleCnt="4" custScaleX="35714" custScaleY="87870" custLinFactNeighborX="-25893" custLinFactNeighborY="-33737">
        <dgm:presLayoutVars>
          <dgm:chMax val="0"/>
          <dgm:bulletEnabled val="1"/>
        </dgm:presLayoutVars>
      </dgm:prSet>
      <dgm:spPr/>
    </dgm:pt>
    <dgm:pt modelId="{374ABFB9-0798-1149-9B46-963B5940BD3B}" type="pres">
      <dgm:prSet presAssocID="{BADF326F-E2B4-5A47-9BE5-EA189C22DAFC}" presName="childText" presStyleLbl="revTx" presStyleIdx="3" presStyleCnt="4" custScaleX="92856" custLinFactNeighborX="6250" custLinFactNeighborY="-26074">
        <dgm:presLayoutVars>
          <dgm:bulletEnabled val="1"/>
        </dgm:presLayoutVars>
      </dgm:prSet>
      <dgm:spPr/>
    </dgm:pt>
  </dgm:ptLst>
  <dgm:cxnLst>
    <dgm:cxn modelId="{BCD51802-F5CC-C749-AB95-EB56B9309C59}" type="presOf" srcId="{C075402F-6A01-804D-B405-91AFAC7C57D5}" destId="{678A52E5-79C0-6C43-9579-B04BA001439B}" srcOrd="0" destOrd="0" presId="urn:microsoft.com/office/officeart/2005/8/layout/vList2"/>
    <dgm:cxn modelId="{0F721008-BF64-9740-BC9D-34D5A9D6AF3E}" srcId="{BADF326F-E2B4-5A47-9BE5-EA189C22DAFC}" destId="{6B4AD971-24D1-3C46-BA23-0C3862D3CFA7}" srcOrd="0" destOrd="0" parTransId="{3C8F744D-B623-BA45-9166-635FD3A29322}" sibTransId="{D4ECE38E-C5AA-DD41-BA4F-E56DD143CE3B}"/>
    <dgm:cxn modelId="{A41E0012-627B-B84C-8887-8D3AFAA261C6}" type="presOf" srcId="{BADF326F-E2B4-5A47-9BE5-EA189C22DAFC}" destId="{29787D3B-95CE-FA4A-AD8A-DC21D51C0619}" srcOrd="0" destOrd="0" presId="urn:microsoft.com/office/officeart/2005/8/layout/vList2"/>
    <dgm:cxn modelId="{50484013-7407-6247-9DC0-16CA53A77A3C}" srcId="{7FC1A1E5-F337-3847-841F-3EC88C4E77D4}" destId="{23E83D9E-9CE4-8C40-A2B8-2F93A3D9901C}" srcOrd="0" destOrd="0" parTransId="{4BC83EAC-48AB-F94F-8CAE-FF1B3845EC03}" sibTransId="{CCC75EE4-82D6-CF42-A444-E5E8619109EA}"/>
    <dgm:cxn modelId="{9CF48817-B6C4-9349-B17D-99329E9B7152}" type="presOf" srcId="{07DF5946-F56F-B341-8A03-848318306C40}" destId="{B7BA34D4-2F33-CC43-9DC0-E08261428011}" srcOrd="0" destOrd="0" presId="urn:microsoft.com/office/officeart/2005/8/layout/vList2"/>
    <dgm:cxn modelId="{13AEC825-41CD-2344-BB83-737D9E29345A}" srcId="{C075402F-6A01-804D-B405-91AFAC7C57D5}" destId="{5F763A14-CC6B-974C-9364-A2685156575D}" srcOrd="0" destOrd="0" parTransId="{777EC8A3-BB7D-DD4A-BA1B-75EA0D2AAC5A}" sibTransId="{4305BA5D-57D0-5C46-B34C-206F07F96A69}"/>
    <dgm:cxn modelId="{C0A4D261-FD31-114C-98B5-50F741F4664A}" type="presOf" srcId="{23E83D9E-9CE4-8C40-A2B8-2F93A3D9901C}" destId="{B7BA34D4-2F33-CC43-9DC0-E08261428011}" srcOrd="0" destOrd="2" presId="urn:microsoft.com/office/officeart/2005/8/layout/vList2"/>
    <dgm:cxn modelId="{A0672A68-DAD6-5C45-B6CC-513237C2A5DB}" srcId="{F5471D39-D60F-A344-8BC5-A060A714B72C}" destId="{62FA935C-B9C3-6C41-95D0-88D5B0C66235}" srcOrd="0" destOrd="0" parTransId="{20DA2353-6B53-4D4E-8EFE-74354D286F46}" sibTransId="{D02B32B4-66BC-974C-9232-2B07E10646D2}"/>
    <dgm:cxn modelId="{0626176F-02C4-5448-81FC-AB4DB69C789B}" srcId="{3D3E3335-8FA7-D447-A971-ED743EABA84D}" destId="{1AF09498-8AA9-C74F-8679-9571AB5EB973}" srcOrd="1" destOrd="0" parTransId="{5E20C15E-9D90-C849-B2B0-DBB92576BBE1}" sibTransId="{4AC886B7-F3A7-FA4F-B9F4-7413D1FABA0B}"/>
    <dgm:cxn modelId="{2864F96F-2110-BA46-A70A-DD2B7AA079FC}" type="presOf" srcId="{3D3E3335-8FA7-D447-A971-ED743EABA84D}" destId="{96AB59AE-BFA6-1D48-8A36-F2BAF205148C}" srcOrd="0" destOrd="0" presId="urn:microsoft.com/office/officeart/2005/8/layout/vList2"/>
    <dgm:cxn modelId="{78C66374-A7F4-594F-B467-FE2BB821A738}" type="presOf" srcId="{B5782AC7-1F34-A546-BB4B-7C4B462701F5}" destId="{C0B86D96-1539-9C44-B5AE-C49128619FD3}" srcOrd="0" destOrd="1" presId="urn:microsoft.com/office/officeart/2005/8/layout/vList2"/>
    <dgm:cxn modelId="{88F11D88-28C9-2840-8893-B6F744B0CABB}" type="presOf" srcId="{F5471D39-D60F-A344-8BC5-A060A714B72C}" destId="{8E18EEA1-4D9D-BA40-A54F-EBBF600C1F0D}" srcOrd="0" destOrd="0" presId="urn:microsoft.com/office/officeart/2005/8/layout/vList2"/>
    <dgm:cxn modelId="{1B0B7AAF-6909-D84F-B41D-81FEA7DD3E5C}" srcId="{1AF09498-8AA9-C74F-8679-9571AB5EB973}" destId="{07DF5946-F56F-B341-8A03-848318306C40}" srcOrd="0" destOrd="0" parTransId="{4672F033-A4AB-E84F-BACA-6D394ED89C12}" sibTransId="{F5E67D90-CAE0-7541-8B21-75DD2FB6B657}"/>
    <dgm:cxn modelId="{FDE1CDAF-0C8F-F543-BBD9-DBB591D85A85}" srcId="{C075402F-6A01-804D-B405-91AFAC7C57D5}" destId="{B5782AC7-1F34-A546-BB4B-7C4B462701F5}" srcOrd="1" destOrd="0" parTransId="{9E200E9D-AC29-294B-A768-E43CFC6FFC48}" sibTransId="{75B85CCE-5547-2E4B-9696-572D57DC5DD8}"/>
    <dgm:cxn modelId="{C3972AB5-58F6-9942-9A6C-CE745647DCAE}" type="presOf" srcId="{5F763A14-CC6B-974C-9364-A2685156575D}" destId="{C0B86D96-1539-9C44-B5AE-C49128619FD3}" srcOrd="0" destOrd="0" presId="urn:microsoft.com/office/officeart/2005/8/layout/vList2"/>
    <dgm:cxn modelId="{8AFE58B8-55E0-1D47-98E2-E9713A985342}" srcId="{3D3E3335-8FA7-D447-A971-ED743EABA84D}" destId="{F5471D39-D60F-A344-8BC5-A060A714B72C}" srcOrd="0" destOrd="0" parTransId="{E70DA4A0-46F9-6247-8BA6-EE0D87215171}" sibTransId="{9CEC6DB9-C883-6E4A-82BE-E62AA6ED6CA6}"/>
    <dgm:cxn modelId="{F9B38CB9-B3E0-7247-A181-2EBDB7E37DF3}" srcId="{3D3E3335-8FA7-D447-A971-ED743EABA84D}" destId="{C075402F-6A01-804D-B405-91AFAC7C57D5}" srcOrd="2" destOrd="0" parTransId="{23E5F9CC-4E09-2541-A1ED-DE78E2D2DC39}" sibTransId="{A55C3B22-2887-8A4A-877E-7734EF315532}"/>
    <dgm:cxn modelId="{EF6C8EBC-AA28-0347-9655-E14A20594A87}" type="presOf" srcId="{6B4AD971-24D1-3C46-BA23-0C3862D3CFA7}" destId="{374ABFB9-0798-1149-9B46-963B5940BD3B}" srcOrd="0" destOrd="0" presId="urn:microsoft.com/office/officeart/2005/8/layout/vList2"/>
    <dgm:cxn modelId="{F0D6F3C4-B71E-F946-B3E3-001E0BDDA02B}" type="presOf" srcId="{7FC1A1E5-F337-3847-841F-3EC88C4E77D4}" destId="{B7BA34D4-2F33-CC43-9DC0-E08261428011}" srcOrd="0" destOrd="1" presId="urn:microsoft.com/office/officeart/2005/8/layout/vList2"/>
    <dgm:cxn modelId="{8043E8C7-F29E-E545-A04F-5A6E2CF22084}" type="presOf" srcId="{1AF09498-8AA9-C74F-8679-9571AB5EB973}" destId="{39F79FF8-618D-3D47-BEF9-9B29B6C3E2C8}" srcOrd="0" destOrd="0" presId="urn:microsoft.com/office/officeart/2005/8/layout/vList2"/>
    <dgm:cxn modelId="{58B5F7D6-CA19-BE44-83DD-D2718CBFAC5B}" srcId="{3D3E3335-8FA7-D447-A971-ED743EABA84D}" destId="{BADF326F-E2B4-5A47-9BE5-EA189C22DAFC}" srcOrd="3" destOrd="0" parTransId="{32B21245-F900-D649-88C9-DAA3B717CB0E}" sibTransId="{105C21D2-FF88-C244-AA61-4020DB956444}"/>
    <dgm:cxn modelId="{7B5D2BF9-AA1D-524C-AE4B-B9603FF97D73}" type="presOf" srcId="{62FA935C-B9C3-6C41-95D0-88D5B0C66235}" destId="{1AA0D145-BAF9-AB45-9218-5222637AD0A7}" srcOrd="0" destOrd="0" presId="urn:microsoft.com/office/officeart/2005/8/layout/vList2"/>
    <dgm:cxn modelId="{37FB0EFD-CB52-0F47-B614-89A68C414B6D}" srcId="{1AF09498-8AA9-C74F-8679-9571AB5EB973}" destId="{7FC1A1E5-F337-3847-841F-3EC88C4E77D4}" srcOrd="1" destOrd="0" parTransId="{C030CE38-31F9-8145-866E-0899317A2953}" sibTransId="{7CB6F66F-180C-D047-A8B5-84108DC64D11}"/>
    <dgm:cxn modelId="{7A74CF62-C5CC-F146-8CED-834D658409E8}" type="presParOf" srcId="{96AB59AE-BFA6-1D48-8A36-F2BAF205148C}" destId="{8E18EEA1-4D9D-BA40-A54F-EBBF600C1F0D}" srcOrd="0" destOrd="0" presId="urn:microsoft.com/office/officeart/2005/8/layout/vList2"/>
    <dgm:cxn modelId="{7656D6FE-9C65-A544-B3D4-4D9860EF0A71}" type="presParOf" srcId="{96AB59AE-BFA6-1D48-8A36-F2BAF205148C}" destId="{1AA0D145-BAF9-AB45-9218-5222637AD0A7}" srcOrd="1" destOrd="0" presId="urn:microsoft.com/office/officeart/2005/8/layout/vList2"/>
    <dgm:cxn modelId="{D2976E45-F436-2F48-ADB3-397EDA0514E7}" type="presParOf" srcId="{96AB59AE-BFA6-1D48-8A36-F2BAF205148C}" destId="{39F79FF8-618D-3D47-BEF9-9B29B6C3E2C8}" srcOrd="2" destOrd="0" presId="urn:microsoft.com/office/officeart/2005/8/layout/vList2"/>
    <dgm:cxn modelId="{B4713648-F7F7-B143-BA0B-EC9F00E74D05}" type="presParOf" srcId="{96AB59AE-BFA6-1D48-8A36-F2BAF205148C}" destId="{B7BA34D4-2F33-CC43-9DC0-E08261428011}" srcOrd="3" destOrd="0" presId="urn:microsoft.com/office/officeart/2005/8/layout/vList2"/>
    <dgm:cxn modelId="{2F31301D-6918-6144-A3F6-0D6F429EEFDA}" type="presParOf" srcId="{96AB59AE-BFA6-1D48-8A36-F2BAF205148C}" destId="{678A52E5-79C0-6C43-9579-B04BA001439B}" srcOrd="4" destOrd="0" presId="urn:microsoft.com/office/officeart/2005/8/layout/vList2"/>
    <dgm:cxn modelId="{0B9210BB-E508-364D-A51B-41B069E5D612}" type="presParOf" srcId="{96AB59AE-BFA6-1D48-8A36-F2BAF205148C}" destId="{C0B86D96-1539-9C44-B5AE-C49128619FD3}" srcOrd="5" destOrd="0" presId="urn:microsoft.com/office/officeart/2005/8/layout/vList2"/>
    <dgm:cxn modelId="{F730C5ED-AAB1-C04C-B816-27A8E5A2955E}" type="presParOf" srcId="{96AB59AE-BFA6-1D48-8A36-F2BAF205148C}" destId="{29787D3B-95CE-FA4A-AD8A-DC21D51C0619}" srcOrd="6" destOrd="0" presId="urn:microsoft.com/office/officeart/2005/8/layout/vList2"/>
    <dgm:cxn modelId="{CCC396FF-5FB2-F940-B567-6DF7B80B837D}" type="presParOf" srcId="{96AB59AE-BFA6-1D48-8A36-F2BAF205148C}" destId="{374ABFB9-0798-1149-9B46-963B5940BD3B}"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BF7410-2C70-2A4A-9A15-E018E4826824}">
      <dsp:nvSpPr>
        <dsp:cNvPr id="0" name=""/>
        <dsp:cNvSpPr/>
      </dsp:nvSpPr>
      <dsp:spPr>
        <a:xfrm>
          <a:off x="0" y="342906"/>
          <a:ext cx="2232273" cy="1116136"/>
        </a:xfrm>
        <a:prstGeom prst="roundRect">
          <a:avLst>
            <a:gd name="adj" fmla="val 10000"/>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Multiple Applications</a:t>
          </a:r>
        </a:p>
      </dsp:txBody>
      <dsp:txXfrm>
        <a:off x="32691" y="375597"/>
        <a:ext cx="2166891" cy="1050754"/>
      </dsp:txXfrm>
    </dsp:sp>
    <dsp:sp modelId="{88849F20-B33C-5C44-AFB9-0C414FE0E452}">
      <dsp:nvSpPr>
        <dsp:cNvPr id="0" name=""/>
        <dsp:cNvSpPr/>
      </dsp:nvSpPr>
      <dsp:spPr>
        <a:xfrm>
          <a:off x="223227" y="1459042"/>
          <a:ext cx="157766" cy="882456"/>
        </a:xfrm>
        <a:custGeom>
          <a:avLst/>
          <a:gdLst/>
          <a:ahLst/>
          <a:cxnLst/>
          <a:rect l="0" t="0" r="0" b="0"/>
          <a:pathLst>
            <a:path>
              <a:moveTo>
                <a:pt x="0" y="0"/>
              </a:moveTo>
              <a:lnTo>
                <a:pt x="0" y="882456"/>
              </a:lnTo>
              <a:lnTo>
                <a:pt x="157766" y="882456"/>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1F4C278-EA79-A24A-BF1A-FFED1F757D29}">
      <dsp:nvSpPr>
        <dsp:cNvPr id="0" name=""/>
        <dsp:cNvSpPr/>
      </dsp:nvSpPr>
      <dsp:spPr>
        <a:xfrm>
          <a:off x="380993" y="1638305"/>
          <a:ext cx="2185216" cy="1406387"/>
        </a:xfrm>
        <a:prstGeom prst="roundRect">
          <a:avLst>
            <a:gd name="adj" fmla="val 10000"/>
          </a:avLst>
        </a:prstGeom>
        <a:solidFill>
          <a:schemeClr val="bg2">
            <a:lumMod val="9000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invented to allow processing time to be shared among active applications</a:t>
          </a:r>
        </a:p>
      </dsp:txBody>
      <dsp:txXfrm>
        <a:off x="422185" y="1679497"/>
        <a:ext cx="2102832" cy="1324003"/>
      </dsp:txXfrm>
    </dsp:sp>
    <dsp:sp modelId="{0CE5ACD9-A885-F943-8BFF-063CFB705DFD}">
      <dsp:nvSpPr>
        <dsp:cNvPr id="0" name=""/>
        <dsp:cNvSpPr/>
      </dsp:nvSpPr>
      <dsp:spPr>
        <a:xfrm>
          <a:off x="2792384" y="847120"/>
          <a:ext cx="2232273" cy="1116136"/>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Structured Applications</a:t>
          </a:r>
        </a:p>
      </dsp:txBody>
      <dsp:txXfrm>
        <a:off x="2825075" y="879811"/>
        <a:ext cx="2166891" cy="1050754"/>
      </dsp:txXfrm>
    </dsp:sp>
    <dsp:sp modelId="{1ED9D157-9E28-F645-9843-B974AEE688A5}">
      <dsp:nvSpPr>
        <dsp:cNvPr id="0" name=""/>
        <dsp:cNvSpPr/>
      </dsp:nvSpPr>
      <dsp:spPr>
        <a:xfrm>
          <a:off x="3015611" y="1963257"/>
          <a:ext cx="223227" cy="979900"/>
        </a:xfrm>
        <a:custGeom>
          <a:avLst/>
          <a:gdLst/>
          <a:ahLst/>
          <a:cxnLst/>
          <a:rect l="0" t="0" r="0" b="0"/>
          <a:pathLst>
            <a:path>
              <a:moveTo>
                <a:pt x="0" y="0"/>
              </a:moveTo>
              <a:lnTo>
                <a:pt x="0" y="979900"/>
              </a:lnTo>
              <a:lnTo>
                <a:pt x="223227" y="97990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3885876-BC01-CE40-B4AF-B8DD35B11E00}">
      <dsp:nvSpPr>
        <dsp:cNvPr id="0" name=""/>
        <dsp:cNvSpPr/>
      </dsp:nvSpPr>
      <dsp:spPr>
        <a:xfrm>
          <a:off x="3238839" y="2242291"/>
          <a:ext cx="2060209" cy="1401733"/>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extension of modular design and structured programming</a:t>
          </a:r>
        </a:p>
      </dsp:txBody>
      <dsp:txXfrm>
        <a:off x="3279894" y="2283346"/>
        <a:ext cx="1978099" cy="1319623"/>
      </dsp:txXfrm>
    </dsp:sp>
    <dsp:sp modelId="{AB58CB0B-9A79-FB46-B44A-123C202FA944}">
      <dsp:nvSpPr>
        <dsp:cNvPr id="0" name=""/>
        <dsp:cNvSpPr/>
      </dsp:nvSpPr>
      <dsp:spPr>
        <a:xfrm>
          <a:off x="5791197" y="1409698"/>
          <a:ext cx="2232273" cy="1116136"/>
        </a:xfrm>
        <a:prstGeom prst="roundRect">
          <a:avLst>
            <a:gd name="adj" fmla="val 10000"/>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Operating System Structure</a:t>
          </a:r>
        </a:p>
      </dsp:txBody>
      <dsp:txXfrm>
        <a:off x="5823888" y="1442389"/>
        <a:ext cx="2166891" cy="1050754"/>
      </dsp:txXfrm>
    </dsp:sp>
    <dsp:sp modelId="{43D5D9E6-EF4D-F346-B286-0A0EDC9D6387}">
      <dsp:nvSpPr>
        <dsp:cNvPr id="0" name=""/>
        <dsp:cNvSpPr/>
      </dsp:nvSpPr>
      <dsp:spPr>
        <a:xfrm>
          <a:off x="5968705" y="2525834"/>
          <a:ext cx="91440" cy="1261133"/>
        </a:xfrm>
        <a:custGeom>
          <a:avLst/>
          <a:gdLst/>
          <a:ahLst/>
          <a:cxnLst/>
          <a:rect l="0" t="0" r="0" b="0"/>
          <a:pathLst>
            <a:path>
              <a:moveTo>
                <a:pt x="45720" y="0"/>
              </a:moveTo>
              <a:lnTo>
                <a:pt x="45720" y="1261133"/>
              </a:lnTo>
              <a:lnTo>
                <a:pt x="62518" y="1261133"/>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B128BA17-BE6B-384D-BBE0-54B7B122AB84}">
      <dsp:nvSpPr>
        <dsp:cNvPr id="0" name=""/>
        <dsp:cNvSpPr/>
      </dsp:nvSpPr>
      <dsp:spPr>
        <a:xfrm>
          <a:off x="6031223" y="3086101"/>
          <a:ext cx="2045976" cy="1401733"/>
        </a:xfrm>
        <a:prstGeom prst="roundRect">
          <a:avLst>
            <a:gd name="adj" fmla="val 10000"/>
          </a:avLst>
        </a:prstGeom>
        <a:solidFill>
          <a:schemeClr val="accent3">
            <a:lumMod val="60000"/>
            <a:lumOff val="4000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OS themselves implemented as a set of processes or threads</a:t>
          </a:r>
        </a:p>
      </dsp:txBody>
      <dsp:txXfrm>
        <a:off x="6072278" y="3127156"/>
        <a:ext cx="1963866" cy="13196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2FE9C-C5FA-5E46-ADCD-3ECA6CAD0E03}">
      <dsp:nvSpPr>
        <dsp:cNvPr id="0" name=""/>
        <dsp:cNvSpPr/>
      </dsp:nvSpPr>
      <dsp:spPr>
        <a:xfrm>
          <a:off x="225392" y="0"/>
          <a:ext cx="6861194" cy="1545085"/>
        </a:xfrm>
        <a:prstGeom prst="roundRect">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In the case of competing processes three control problems must be faced:</a:t>
          </a:r>
        </a:p>
      </dsp:txBody>
      <dsp:txXfrm>
        <a:off x="300817" y="75425"/>
        <a:ext cx="6710344" cy="1394235"/>
      </dsp:txXfrm>
    </dsp:sp>
    <dsp:sp modelId="{6A7F9969-6F05-5F41-88FE-250A770AADDF}">
      <dsp:nvSpPr>
        <dsp:cNvPr id="0" name=""/>
        <dsp:cNvSpPr/>
      </dsp:nvSpPr>
      <dsp:spPr>
        <a:xfrm>
          <a:off x="0" y="1548693"/>
          <a:ext cx="7162800" cy="12416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7419" tIns="35560" rIns="199136" bIns="35560" numCol="1" spcCol="1270" anchor="t" anchorCtr="0">
          <a:noAutofit/>
        </a:bodyPr>
        <a:lstStyle/>
        <a:p>
          <a:pPr marL="171450" lvl="1" indent="0" algn="l" defTabSz="711200">
            <a:lnSpc>
              <a:spcPct val="90000"/>
            </a:lnSpc>
            <a:spcBef>
              <a:spcPct val="0"/>
            </a:spcBef>
            <a:spcAft>
              <a:spcPct val="20000"/>
            </a:spcAft>
            <a:buChar char="•"/>
          </a:pPr>
          <a:endParaRPr lang="en-US" sz="1600" kern="1200" dirty="0"/>
        </a:p>
        <a:p>
          <a:pPr marL="514350" lvl="2" indent="744538" algn="l" defTabSz="1244600">
            <a:lnSpc>
              <a:spcPct val="90000"/>
            </a:lnSpc>
            <a:spcBef>
              <a:spcPct val="0"/>
            </a:spcBef>
            <a:spcAft>
              <a:spcPct val="20000"/>
            </a:spcAft>
            <a:buChar char="•"/>
          </a:pPr>
          <a:r>
            <a:rPr lang="en-US" sz="2800" b="1" i="0" kern="1200" dirty="0">
              <a:solidFill>
                <a:schemeClr val="accent3">
                  <a:lumMod val="50000"/>
                </a:schemeClr>
              </a:solidFill>
            </a:rPr>
            <a:t>   the need for mutual exclusion</a:t>
          </a:r>
        </a:p>
        <a:p>
          <a:pPr marL="514350" lvl="3" indent="744538" algn="l" defTabSz="1244600">
            <a:lnSpc>
              <a:spcPct val="90000"/>
            </a:lnSpc>
            <a:spcBef>
              <a:spcPct val="0"/>
            </a:spcBef>
            <a:spcAft>
              <a:spcPct val="20000"/>
            </a:spcAft>
            <a:buChar char="•"/>
          </a:pPr>
          <a:r>
            <a:rPr lang="en-US" sz="2800" b="1" i="0" kern="1200" dirty="0">
              <a:solidFill>
                <a:schemeClr val="accent3">
                  <a:lumMod val="50000"/>
                </a:schemeClr>
              </a:solidFill>
            </a:rPr>
            <a:t>   deadlock</a:t>
          </a:r>
        </a:p>
        <a:p>
          <a:pPr marL="685800" lvl="4" indent="573088" algn="l" defTabSz="1244600">
            <a:lnSpc>
              <a:spcPct val="90000"/>
            </a:lnSpc>
            <a:spcBef>
              <a:spcPct val="0"/>
            </a:spcBef>
            <a:spcAft>
              <a:spcPct val="20000"/>
            </a:spcAft>
            <a:buChar char="•"/>
          </a:pPr>
          <a:r>
            <a:rPr lang="en-US" sz="2800" b="1" i="0" kern="1200" dirty="0">
              <a:solidFill>
                <a:schemeClr val="accent3">
                  <a:lumMod val="50000"/>
                </a:schemeClr>
              </a:solidFill>
            </a:rPr>
            <a:t>   starvation</a:t>
          </a:r>
        </a:p>
      </dsp:txBody>
      <dsp:txXfrm>
        <a:off x="0" y="1548693"/>
        <a:ext cx="7162800" cy="12416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22F58D-B635-F14D-A7B0-F6371807DE43}">
      <dsp:nvSpPr>
        <dsp:cNvPr id="0" name=""/>
        <dsp:cNvSpPr/>
      </dsp:nvSpPr>
      <dsp:spPr>
        <a:xfrm>
          <a:off x="4419593" y="228600"/>
          <a:ext cx="3364185" cy="2018511"/>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en-US" sz="2500" kern="1200" dirty="0"/>
            <a:t>There is no way to inspect or manipulate semaphores other than these three operations</a:t>
          </a:r>
        </a:p>
      </dsp:txBody>
      <dsp:txXfrm>
        <a:off x="4478713" y="287720"/>
        <a:ext cx="3245945" cy="1900271"/>
      </dsp:txXfrm>
    </dsp:sp>
    <dsp:sp modelId="{2F146ECA-E547-3B4A-A33E-83CC028577F2}">
      <dsp:nvSpPr>
        <dsp:cNvPr id="0" name=""/>
        <dsp:cNvSpPr/>
      </dsp:nvSpPr>
      <dsp:spPr>
        <a:xfrm>
          <a:off x="3715242" y="820696"/>
          <a:ext cx="478597" cy="834317"/>
        </a:xfrm>
        <a:prstGeom prst="rightArrow">
          <a:avLst>
            <a:gd name="adj1" fmla="val 60000"/>
            <a:gd name="adj2" fmla="val 50000"/>
          </a:avLst>
        </a:prstGeom>
        <a:solidFill>
          <a:schemeClr val="bg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rot="10800000">
        <a:off x="3715242" y="987559"/>
        <a:ext cx="335018" cy="500591"/>
      </dsp:txXfrm>
    </dsp:sp>
    <dsp:sp modelId="{536CC010-3CA8-CD44-BED7-E2E67E4A6B14}">
      <dsp:nvSpPr>
        <dsp:cNvPr id="0" name=""/>
        <dsp:cNvSpPr/>
      </dsp:nvSpPr>
      <dsp:spPr>
        <a:xfrm>
          <a:off x="152394" y="228600"/>
          <a:ext cx="3364185" cy="201851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rtl="0">
            <a:lnSpc>
              <a:spcPct val="90000"/>
            </a:lnSpc>
            <a:spcBef>
              <a:spcPct val="0"/>
            </a:spcBef>
            <a:spcAft>
              <a:spcPct val="35000"/>
            </a:spcAft>
            <a:buNone/>
          </a:pPr>
          <a:r>
            <a:rPr lang="en-NZ" sz="2500" kern="1200" dirty="0"/>
            <a:t>A variable that has an integer value upon which only three operations are defined: </a:t>
          </a:r>
          <a:endParaRPr lang="en-US" sz="2500" kern="1200" dirty="0"/>
        </a:p>
      </dsp:txBody>
      <dsp:txXfrm>
        <a:off x="211514" y="287720"/>
        <a:ext cx="3245945" cy="190027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BA5E69-E325-F142-A0D4-B743109408EA}">
      <dsp:nvSpPr>
        <dsp:cNvPr id="0" name=""/>
        <dsp:cNvSpPr/>
      </dsp:nvSpPr>
      <dsp:spPr>
        <a:xfrm rot="16200000">
          <a:off x="-550467" y="634016"/>
          <a:ext cx="3840163" cy="2572129"/>
        </a:xfrm>
        <a:prstGeom prst="flowChartManualOperation">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0" rIns="134922" bIns="0" numCol="1" spcCol="1270" anchor="ctr" anchorCtr="0">
          <a:noAutofit/>
        </a:bodyPr>
        <a:lstStyle/>
        <a:p>
          <a:pPr marL="0" lvl="0" indent="0" algn="ctr" defTabSz="933450" rtl="0">
            <a:lnSpc>
              <a:spcPct val="90000"/>
            </a:lnSpc>
            <a:spcBef>
              <a:spcPct val="0"/>
            </a:spcBef>
            <a:spcAft>
              <a:spcPct val="35000"/>
            </a:spcAft>
            <a:buNone/>
          </a:pPr>
          <a:r>
            <a:rPr lang="en-US" sz="2100" kern="1200" dirty="0"/>
            <a:t>There is no way to know before a process decrements a semaphore whether it will block or not</a:t>
          </a:r>
        </a:p>
      </dsp:txBody>
      <dsp:txXfrm rot="5400000">
        <a:off x="83550" y="768032"/>
        <a:ext cx="2572129" cy="2304097"/>
      </dsp:txXfrm>
    </dsp:sp>
    <dsp:sp modelId="{49FA2FAC-FF0C-C14A-8048-646F866CB8A7}">
      <dsp:nvSpPr>
        <dsp:cNvPr id="0" name=""/>
        <dsp:cNvSpPr/>
      </dsp:nvSpPr>
      <dsp:spPr>
        <a:xfrm rot="16200000">
          <a:off x="2132012" y="634016"/>
          <a:ext cx="3840163" cy="2572129"/>
        </a:xfrm>
        <a:prstGeom prst="flowChartManualOperati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0" rIns="134922" bIns="0" numCol="1" spcCol="1270" anchor="ctr" anchorCtr="0">
          <a:noAutofit/>
        </a:bodyPr>
        <a:lstStyle/>
        <a:p>
          <a:pPr marL="0" lvl="0" indent="0" algn="ctr" defTabSz="933450" rtl="0">
            <a:lnSpc>
              <a:spcPct val="90000"/>
            </a:lnSpc>
            <a:spcBef>
              <a:spcPct val="0"/>
            </a:spcBef>
            <a:spcAft>
              <a:spcPct val="35000"/>
            </a:spcAft>
            <a:buNone/>
          </a:pPr>
          <a:r>
            <a:rPr lang="en-US" sz="2100" kern="1200" dirty="0"/>
            <a:t>There is no way to know which process will continue immediately on a </a:t>
          </a:r>
          <a:r>
            <a:rPr lang="en-US" sz="2100" kern="1200" dirty="0" err="1"/>
            <a:t>uniprocessor</a:t>
          </a:r>
          <a:r>
            <a:rPr lang="en-US" sz="2100" kern="1200" dirty="0"/>
            <a:t> system when two processes are running concurrently</a:t>
          </a:r>
        </a:p>
      </dsp:txBody>
      <dsp:txXfrm rot="5400000">
        <a:off x="2766029" y="768032"/>
        <a:ext cx="2572129" cy="2304097"/>
      </dsp:txXfrm>
    </dsp:sp>
    <dsp:sp modelId="{9BE6FA6B-34B4-C242-82E5-DC5F191FF1E9}">
      <dsp:nvSpPr>
        <dsp:cNvPr id="0" name=""/>
        <dsp:cNvSpPr/>
      </dsp:nvSpPr>
      <dsp:spPr>
        <a:xfrm rot="16200000">
          <a:off x="4897051" y="634016"/>
          <a:ext cx="3840163" cy="2572129"/>
        </a:xfrm>
        <a:prstGeom prst="flowChartManualOperation">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0" rIns="134922" bIns="0" numCol="1" spcCol="1270" anchor="ctr" anchorCtr="0">
          <a:noAutofit/>
        </a:bodyPr>
        <a:lstStyle/>
        <a:p>
          <a:pPr marL="0" lvl="0" indent="0" algn="ctr" defTabSz="933450" rtl="0">
            <a:lnSpc>
              <a:spcPct val="90000"/>
            </a:lnSpc>
            <a:spcBef>
              <a:spcPct val="0"/>
            </a:spcBef>
            <a:spcAft>
              <a:spcPct val="35000"/>
            </a:spcAft>
            <a:buNone/>
          </a:pPr>
          <a:r>
            <a:rPr lang="en-US" sz="2100" kern="1200" dirty="0"/>
            <a:t>You don’t know whether another process is waiting so the number of unblocked processes may be zero or one</a:t>
          </a:r>
        </a:p>
      </dsp:txBody>
      <dsp:txXfrm rot="5400000">
        <a:off x="5531068" y="768032"/>
        <a:ext cx="2572129" cy="23040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4B5A1A-5870-5C40-8ADE-32EFF8546961}">
      <dsp:nvSpPr>
        <dsp:cNvPr id="0" name=""/>
        <dsp:cNvSpPr/>
      </dsp:nvSpPr>
      <dsp:spPr>
        <a:xfrm>
          <a:off x="0" y="377500"/>
          <a:ext cx="8229600" cy="1323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499872" rIns="638708" bIns="170688" numCol="1" spcCol="1270" anchor="t" anchorCtr="0">
          <a:noAutofit/>
        </a:bodyPr>
        <a:lstStyle/>
        <a:p>
          <a:pPr marL="228600" lvl="1" indent="-228600" algn="l" defTabSz="1066800">
            <a:lnSpc>
              <a:spcPct val="90000"/>
            </a:lnSpc>
            <a:spcBef>
              <a:spcPct val="0"/>
            </a:spcBef>
            <a:spcAft>
              <a:spcPct val="15000"/>
            </a:spcAft>
            <a:buChar char="•"/>
          </a:pPr>
          <a:r>
            <a:rPr lang="en-NZ" sz="2400" kern="1200" dirty="0"/>
            <a:t>the process that has been blocked the longest is released from the queue first (FIFO)</a:t>
          </a:r>
        </a:p>
      </dsp:txBody>
      <dsp:txXfrm>
        <a:off x="0" y="377500"/>
        <a:ext cx="8229600" cy="1323000"/>
      </dsp:txXfrm>
    </dsp:sp>
    <dsp:sp modelId="{DD1D9237-EB74-E84E-AC7E-51428224DD48}">
      <dsp:nvSpPr>
        <dsp:cNvPr id="0" name=""/>
        <dsp:cNvSpPr/>
      </dsp:nvSpPr>
      <dsp:spPr>
        <a:xfrm>
          <a:off x="411480" y="23259"/>
          <a:ext cx="5760720" cy="70848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NZ" sz="2800" b="1" i="1" kern="1200" dirty="0"/>
            <a:t>Strong Semaphores</a:t>
          </a:r>
          <a:r>
            <a:rPr lang="en-NZ" sz="2800" kern="1200" dirty="0"/>
            <a:t> </a:t>
          </a:r>
          <a:endParaRPr lang="en-US" sz="2800" kern="1200" dirty="0"/>
        </a:p>
      </dsp:txBody>
      <dsp:txXfrm>
        <a:off x="446065" y="57844"/>
        <a:ext cx="5691550" cy="639310"/>
      </dsp:txXfrm>
    </dsp:sp>
    <dsp:sp modelId="{40B0B400-5226-0F4B-98AB-E6B21FAA5A13}">
      <dsp:nvSpPr>
        <dsp:cNvPr id="0" name=""/>
        <dsp:cNvSpPr/>
      </dsp:nvSpPr>
      <dsp:spPr>
        <a:xfrm>
          <a:off x="0" y="2184340"/>
          <a:ext cx="8229600" cy="13230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38708" tIns="499872" rIns="638708" bIns="170688" numCol="1" spcCol="1270" anchor="t" anchorCtr="0">
          <a:noAutofit/>
        </a:bodyPr>
        <a:lstStyle/>
        <a:p>
          <a:pPr marL="228600" lvl="1" indent="-228600" algn="l" defTabSz="1066800">
            <a:lnSpc>
              <a:spcPct val="90000"/>
            </a:lnSpc>
            <a:spcBef>
              <a:spcPct val="0"/>
            </a:spcBef>
            <a:spcAft>
              <a:spcPct val="15000"/>
            </a:spcAft>
            <a:buChar char="•"/>
          </a:pPr>
          <a:r>
            <a:rPr lang="en-NZ" sz="2400" kern="1200"/>
            <a:t>the order in which processes are removed from the queue is not specified</a:t>
          </a:r>
          <a:endParaRPr lang="en-NZ" sz="2400" kern="1200" dirty="0"/>
        </a:p>
      </dsp:txBody>
      <dsp:txXfrm>
        <a:off x="0" y="2184340"/>
        <a:ext cx="8229600" cy="1323000"/>
      </dsp:txXfrm>
    </dsp:sp>
    <dsp:sp modelId="{2E01E895-987A-1640-8719-30A986FB6C86}">
      <dsp:nvSpPr>
        <dsp:cNvPr id="0" name=""/>
        <dsp:cNvSpPr/>
      </dsp:nvSpPr>
      <dsp:spPr>
        <a:xfrm>
          <a:off x="411480" y="1830100"/>
          <a:ext cx="5760720" cy="70848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1244600">
            <a:lnSpc>
              <a:spcPct val="90000"/>
            </a:lnSpc>
            <a:spcBef>
              <a:spcPct val="0"/>
            </a:spcBef>
            <a:spcAft>
              <a:spcPct val="35000"/>
            </a:spcAft>
            <a:buNone/>
          </a:pPr>
          <a:r>
            <a:rPr lang="en-NZ" sz="2800" b="1" i="1" kern="1200" dirty="0"/>
            <a:t>Weak Semaphores </a:t>
          </a:r>
          <a:r>
            <a:rPr lang="en-NZ" sz="2300" kern="1200" dirty="0"/>
            <a:t> </a:t>
          </a:r>
        </a:p>
      </dsp:txBody>
      <dsp:txXfrm>
        <a:off x="446065" y="1864685"/>
        <a:ext cx="5691550" cy="6393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C6EB41-3B3B-EA42-AE9D-C2314DC42775}">
      <dsp:nvSpPr>
        <dsp:cNvPr id="0" name=""/>
        <dsp:cNvSpPr/>
      </dsp:nvSpPr>
      <dsp:spPr>
        <a:xfrm>
          <a:off x="134732" y="0"/>
          <a:ext cx="3591475" cy="4114800"/>
        </a:xfrm>
        <a:prstGeom prst="roundRect">
          <a:avLst>
            <a:gd name="adj" fmla="val 10000"/>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1600200">
            <a:lnSpc>
              <a:spcPct val="90000"/>
            </a:lnSpc>
            <a:spcBef>
              <a:spcPct val="0"/>
            </a:spcBef>
            <a:spcAft>
              <a:spcPct val="35000"/>
            </a:spcAft>
            <a:buNone/>
          </a:pPr>
          <a:r>
            <a:rPr lang="en-US" sz="3600" kern="1200" dirty="0"/>
            <a:t>General Situation:</a:t>
          </a:r>
        </a:p>
        <a:p>
          <a:pPr marL="228600" lvl="1" indent="-228600" algn="l" defTabSz="933450">
            <a:lnSpc>
              <a:spcPct val="90000"/>
            </a:lnSpc>
            <a:spcBef>
              <a:spcPct val="0"/>
            </a:spcBef>
            <a:spcAft>
              <a:spcPct val="15000"/>
            </a:spcAft>
            <a:buChar char="•"/>
          </a:pPr>
          <a:r>
            <a:rPr lang="en-US" sz="2100" kern="1200" dirty="0"/>
            <a:t>one or more producers are generating data and placing these in a buffer</a:t>
          </a:r>
        </a:p>
        <a:p>
          <a:pPr marL="228600" lvl="1" indent="-228600" algn="l" defTabSz="933450">
            <a:lnSpc>
              <a:spcPct val="90000"/>
            </a:lnSpc>
            <a:spcBef>
              <a:spcPct val="0"/>
            </a:spcBef>
            <a:spcAft>
              <a:spcPct val="15000"/>
            </a:spcAft>
            <a:buChar char="•"/>
          </a:pPr>
          <a:r>
            <a:rPr lang="en-US" sz="2100" kern="1200" dirty="0"/>
            <a:t>a single consumer is taking items out of the buffer one at time</a:t>
          </a:r>
        </a:p>
        <a:p>
          <a:pPr marL="228600" lvl="1" indent="-228600" algn="l" defTabSz="933450">
            <a:lnSpc>
              <a:spcPct val="90000"/>
            </a:lnSpc>
            <a:spcBef>
              <a:spcPct val="0"/>
            </a:spcBef>
            <a:spcAft>
              <a:spcPct val="15000"/>
            </a:spcAft>
            <a:buChar char="•"/>
          </a:pPr>
          <a:r>
            <a:rPr lang="en-US" sz="2100" kern="1200" dirty="0"/>
            <a:t>only one producer or consumer may access the buffer at any one time</a:t>
          </a:r>
        </a:p>
      </dsp:txBody>
      <dsp:txXfrm>
        <a:off x="239923" y="105191"/>
        <a:ext cx="3381093" cy="3904418"/>
      </dsp:txXfrm>
    </dsp:sp>
    <dsp:sp modelId="{2FC5CD5F-1F07-7F44-B8F2-45124A5E3E66}">
      <dsp:nvSpPr>
        <dsp:cNvPr id="0" name=""/>
        <dsp:cNvSpPr/>
      </dsp:nvSpPr>
      <dsp:spPr>
        <a:xfrm>
          <a:off x="3980019" y="1702494"/>
          <a:ext cx="538081" cy="709811"/>
        </a:xfrm>
        <a:prstGeom prst="rightArrow">
          <a:avLst>
            <a:gd name="adj1" fmla="val 60000"/>
            <a:gd name="adj2" fmla="val 50000"/>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980019" y="1844456"/>
        <a:ext cx="376657" cy="425887"/>
      </dsp:txXfrm>
    </dsp:sp>
    <dsp:sp modelId="{97C10248-49D4-BA42-A96D-F06C469FE9B5}">
      <dsp:nvSpPr>
        <dsp:cNvPr id="0" name=""/>
        <dsp:cNvSpPr/>
      </dsp:nvSpPr>
      <dsp:spPr>
        <a:xfrm>
          <a:off x="4741456" y="433138"/>
          <a:ext cx="2873420" cy="3248523"/>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The Problem:</a:t>
          </a:r>
        </a:p>
        <a:p>
          <a:pPr marL="228600" lvl="1" indent="-228600" algn="l" defTabSz="977900">
            <a:lnSpc>
              <a:spcPct val="90000"/>
            </a:lnSpc>
            <a:spcBef>
              <a:spcPct val="0"/>
            </a:spcBef>
            <a:spcAft>
              <a:spcPct val="15000"/>
            </a:spcAft>
            <a:buChar char="•"/>
          </a:pPr>
          <a:r>
            <a:rPr lang="en-US" sz="2200" kern="1200" dirty="0"/>
            <a:t>ensure that the producer can’t add data into full buffer and consumer can’t remove data from an empty buffer</a:t>
          </a:r>
        </a:p>
      </dsp:txBody>
      <dsp:txXfrm>
        <a:off x="4825616" y="517298"/>
        <a:ext cx="2705100" cy="308020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7ED8C3-E406-2842-BD01-BCFEA1E9CFC2}">
      <dsp:nvSpPr>
        <dsp:cNvPr id="0" name=""/>
        <dsp:cNvSpPr/>
      </dsp:nvSpPr>
      <dsp:spPr>
        <a:xfrm>
          <a:off x="0" y="1485900"/>
          <a:ext cx="8229600" cy="1981200"/>
        </a:xfrm>
        <a:prstGeom prst="notchedRightArrow">
          <a:avLst/>
        </a:prstGeom>
        <a:solidFill>
          <a:schemeClr val="accent5">
            <a:lumMod val="50000"/>
            <a:alpha val="73000"/>
          </a:schemeClr>
        </a:solidFill>
        <a:ln>
          <a:noFill/>
        </a:ln>
        <a:effectLst/>
      </dsp:spPr>
      <dsp:style>
        <a:lnRef idx="0">
          <a:scrgbClr r="0" g="0" b="0"/>
        </a:lnRef>
        <a:fillRef idx="1">
          <a:scrgbClr r="0" g="0" b="0"/>
        </a:fillRef>
        <a:effectRef idx="2">
          <a:scrgbClr r="0" g="0" b="0"/>
        </a:effectRef>
        <a:fontRef idx="minor"/>
      </dsp:style>
    </dsp:sp>
    <dsp:sp modelId="{58893B8B-7919-3541-8D99-D3AEC91FB799}">
      <dsp:nvSpPr>
        <dsp:cNvPr id="0" name=""/>
        <dsp:cNvSpPr/>
      </dsp:nvSpPr>
      <dsp:spPr>
        <a:xfrm>
          <a:off x="3616" y="0"/>
          <a:ext cx="2386905" cy="198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rtl="0">
            <a:lnSpc>
              <a:spcPct val="90000"/>
            </a:lnSpc>
            <a:spcBef>
              <a:spcPct val="0"/>
            </a:spcBef>
            <a:spcAft>
              <a:spcPct val="35000"/>
            </a:spcAft>
            <a:buNone/>
          </a:pPr>
          <a:r>
            <a:rPr lang="en-US" sz="1900" kern="1200" dirty="0"/>
            <a:t>Local data variables are accessible only by the monitor’s procedures and not by any external procedure</a:t>
          </a:r>
        </a:p>
      </dsp:txBody>
      <dsp:txXfrm>
        <a:off x="3616" y="0"/>
        <a:ext cx="2386905" cy="1981200"/>
      </dsp:txXfrm>
    </dsp:sp>
    <dsp:sp modelId="{A1A147BE-7D78-004C-B935-FAA4F498AEEE}">
      <dsp:nvSpPr>
        <dsp:cNvPr id="0" name=""/>
        <dsp:cNvSpPr/>
      </dsp:nvSpPr>
      <dsp:spPr>
        <a:xfrm>
          <a:off x="949419" y="2228849"/>
          <a:ext cx="495300" cy="495300"/>
        </a:xfrm>
        <a:prstGeom prst="ellipse">
          <a:avLst/>
        </a:prstGeom>
        <a:solidFill>
          <a:schemeClr val="bg1">
            <a:lumMod val="85000"/>
          </a:schemeClr>
        </a:solidFill>
        <a:ln>
          <a:noFill/>
        </a:ln>
        <a:effectLst/>
      </dsp:spPr>
      <dsp:style>
        <a:lnRef idx="0">
          <a:scrgbClr r="0" g="0" b="0"/>
        </a:lnRef>
        <a:fillRef idx="3">
          <a:scrgbClr r="0" g="0" b="0"/>
        </a:fillRef>
        <a:effectRef idx="2">
          <a:scrgbClr r="0" g="0" b="0"/>
        </a:effectRef>
        <a:fontRef idx="minor">
          <a:schemeClr val="lt1"/>
        </a:fontRef>
      </dsp:style>
    </dsp:sp>
    <dsp:sp modelId="{5F9EB354-648F-9643-A087-BCC60CED9639}">
      <dsp:nvSpPr>
        <dsp:cNvPr id="0" name=""/>
        <dsp:cNvSpPr/>
      </dsp:nvSpPr>
      <dsp:spPr>
        <a:xfrm>
          <a:off x="2509867" y="2971800"/>
          <a:ext cx="2386905" cy="198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t" anchorCtr="0">
          <a:noAutofit/>
        </a:bodyPr>
        <a:lstStyle/>
        <a:p>
          <a:pPr marL="0" lvl="0" indent="0" algn="ctr" defTabSz="844550" rtl="0">
            <a:lnSpc>
              <a:spcPct val="90000"/>
            </a:lnSpc>
            <a:spcBef>
              <a:spcPct val="0"/>
            </a:spcBef>
            <a:spcAft>
              <a:spcPct val="35000"/>
            </a:spcAft>
            <a:buNone/>
          </a:pPr>
          <a:r>
            <a:rPr lang="en-US" sz="1900" kern="1200" dirty="0"/>
            <a:t>Process enters monitor by invoking one of its procedures</a:t>
          </a:r>
        </a:p>
      </dsp:txBody>
      <dsp:txXfrm>
        <a:off x="2509867" y="2971800"/>
        <a:ext cx="2386905" cy="1981200"/>
      </dsp:txXfrm>
    </dsp:sp>
    <dsp:sp modelId="{5BF15F84-4D4A-644D-84F8-62271DC370A9}">
      <dsp:nvSpPr>
        <dsp:cNvPr id="0" name=""/>
        <dsp:cNvSpPr/>
      </dsp:nvSpPr>
      <dsp:spPr>
        <a:xfrm>
          <a:off x="3455669" y="2228849"/>
          <a:ext cx="495300" cy="495300"/>
        </a:xfrm>
        <a:prstGeom prst="ellipse">
          <a:avLst/>
        </a:prstGeom>
        <a:solidFill>
          <a:schemeClr val="bg1">
            <a:lumMod val="85000"/>
          </a:schemeClr>
        </a:solidFill>
        <a:ln>
          <a:noFill/>
        </a:ln>
        <a:effectLst/>
      </dsp:spPr>
      <dsp:style>
        <a:lnRef idx="0">
          <a:scrgbClr r="0" g="0" b="0"/>
        </a:lnRef>
        <a:fillRef idx="3">
          <a:scrgbClr r="0" g="0" b="0"/>
        </a:fillRef>
        <a:effectRef idx="2">
          <a:scrgbClr r="0" g="0" b="0"/>
        </a:effectRef>
        <a:fontRef idx="minor">
          <a:schemeClr val="lt1"/>
        </a:fontRef>
      </dsp:style>
    </dsp:sp>
    <dsp:sp modelId="{566C022D-D681-2E41-B689-7BBB02AA63E8}">
      <dsp:nvSpPr>
        <dsp:cNvPr id="0" name=""/>
        <dsp:cNvSpPr/>
      </dsp:nvSpPr>
      <dsp:spPr>
        <a:xfrm>
          <a:off x="5016118" y="0"/>
          <a:ext cx="2386905" cy="1981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5128" tIns="135128" rIns="135128" bIns="135128" numCol="1" spcCol="1270" anchor="b" anchorCtr="0">
          <a:noAutofit/>
        </a:bodyPr>
        <a:lstStyle/>
        <a:p>
          <a:pPr marL="0" lvl="0" indent="0" algn="ctr" defTabSz="844550" rtl="0">
            <a:lnSpc>
              <a:spcPct val="90000"/>
            </a:lnSpc>
            <a:spcBef>
              <a:spcPct val="0"/>
            </a:spcBef>
            <a:spcAft>
              <a:spcPct val="35000"/>
            </a:spcAft>
            <a:buNone/>
          </a:pPr>
          <a:r>
            <a:rPr lang="en-US" sz="1900" kern="1200" dirty="0"/>
            <a:t>Only one process may be executing in the monitor at a time</a:t>
          </a:r>
        </a:p>
      </dsp:txBody>
      <dsp:txXfrm>
        <a:off x="5016118" y="0"/>
        <a:ext cx="2386905" cy="1981200"/>
      </dsp:txXfrm>
    </dsp:sp>
    <dsp:sp modelId="{C07DF334-9E43-C046-A30B-E200F2167D98}">
      <dsp:nvSpPr>
        <dsp:cNvPr id="0" name=""/>
        <dsp:cNvSpPr/>
      </dsp:nvSpPr>
      <dsp:spPr>
        <a:xfrm>
          <a:off x="5961920" y="2228849"/>
          <a:ext cx="495300" cy="495300"/>
        </a:xfrm>
        <a:prstGeom prst="ellipse">
          <a:avLst/>
        </a:prstGeom>
        <a:solidFill>
          <a:schemeClr val="bg1">
            <a:lumMod val="85000"/>
          </a:schemeClr>
        </a:soli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516BB1-9D39-E449-8773-CABC43961BCF}">
      <dsp:nvSpPr>
        <dsp:cNvPr id="0" name=""/>
        <dsp:cNvSpPr/>
      </dsp:nvSpPr>
      <dsp:spPr>
        <a:xfrm>
          <a:off x="31" y="45240"/>
          <a:ext cx="3026605" cy="748800"/>
        </a:xfrm>
        <a:prstGeom prst="rect">
          <a:avLst/>
        </a:prstGeom>
        <a:solidFill>
          <a:schemeClr val="accent6">
            <a:lumMod val="75000"/>
          </a:schemeClr>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NZ" sz="2600" kern="1200" dirty="0"/>
            <a:t>synchronization</a:t>
          </a:r>
          <a:endParaRPr lang="en-US" sz="2600" kern="1200" dirty="0"/>
        </a:p>
      </dsp:txBody>
      <dsp:txXfrm>
        <a:off x="31" y="45240"/>
        <a:ext cx="3026605" cy="748800"/>
      </dsp:txXfrm>
    </dsp:sp>
    <dsp:sp modelId="{57087B52-C684-5341-9E12-7A8A7012CF46}">
      <dsp:nvSpPr>
        <dsp:cNvPr id="0" name=""/>
        <dsp:cNvSpPr/>
      </dsp:nvSpPr>
      <dsp:spPr>
        <a:xfrm>
          <a:off x="31" y="794040"/>
          <a:ext cx="3026605" cy="1141920"/>
        </a:xfrm>
        <a:prstGeom prst="rect">
          <a:avLst/>
        </a:prstGeom>
        <a:solidFill>
          <a:schemeClr val="accent5">
            <a:lumMod val="60000"/>
            <a:lumOff val="40000"/>
            <a:alpha val="46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NZ" sz="2600" kern="1200" dirty="0"/>
            <a:t>to enforce mutual exclusion</a:t>
          </a:r>
        </a:p>
      </dsp:txBody>
      <dsp:txXfrm>
        <a:off x="31" y="794040"/>
        <a:ext cx="3026605" cy="1141920"/>
      </dsp:txXfrm>
    </dsp:sp>
    <dsp:sp modelId="{58C9E88D-0AFF-9A46-9A58-7E5B47B8FB75}">
      <dsp:nvSpPr>
        <dsp:cNvPr id="0" name=""/>
        <dsp:cNvSpPr/>
      </dsp:nvSpPr>
      <dsp:spPr>
        <a:xfrm>
          <a:off x="3450362" y="45240"/>
          <a:ext cx="3026605" cy="748800"/>
        </a:xfrm>
        <a:prstGeom prst="rect">
          <a:avLst/>
        </a:prstGeom>
        <a:solidFill>
          <a:schemeClr val="accent6">
            <a:lumMod val="75000"/>
          </a:schemeClr>
        </a:soli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84912" tIns="105664" rIns="184912" bIns="105664" numCol="1" spcCol="1270" anchor="ctr" anchorCtr="0">
          <a:noAutofit/>
        </a:bodyPr>
        <a:lstStyle/>
        <a:p>
          <a:pPr marL="0" lvl="0" indent="0" algn="ctr" defTabSz="1155700">
            <a:lnSpc>
              <a:spcPct val="90000"/>
            </a:lnSpc>
            <a:spcBef>
              <a:spcPct val="0"/>
            </a:spcBef>
            <a:spcAft>
              <a:spcPct val="35000"/>
            </a:spcAft>
            <a:buNone/>
          </a:pPr>
          <a:r>
            <a:rPr lang="en-NZ" sz="2600" kern="1200"/>
            <a:t>communication  </a:t>
          </a:r>
          <a:endParaRPr lang="en-NZ" sz="2600" kern="1200" dirty="0"/>
        </a:p>
      </dsp:txBody>
      <dsp:txXfrm>
        <a:off x="3450362" y="45240"/>
        <a:ext cx="3026605" cy="748800"/>
      </dsp:txXfrm>
    </dsp:sp>
    <dsp:sp modelId="{DEB9BAE2-8339-A243-A12C-F23AFF408E60}">
      <dsp:nvSpPr>
        <dsp:cNvPr id="0" name=""/>
        <dsp:cNvSpPr/>
      </dsp:nvSpPr>
      <dsp:spPr>
        <a:xfrm>
          <a:off x="3450362" y="794040"/>
          <a:ext cx="3026605" cy="1141920"/>
        </a:xfrm>
        <a:prstGeom prst="rect">
          <a:avLst/>
        </a:prstGeom>
        <a:solidFill>
          <a:schemeClr val="accent5">
            <a:lumMod val="60000"/>
            <a:lumOff val="40000"/>
            <a:alpha val="46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8684" tIns="138684" rIns="184912" bIns="208026" numCol="1" spcCol="1270" anchor="t" anchorCtr="0">
          <a:noAutofit/>
        </a:bodyPr>
        <a:lstStyle/>
        <a:p>
          <a:pPr marL="228600" lvl="1" indent="-228600" algn="l" defTabSz="1155700">
            <a:lnSpc>
              <a:spcPct val="90000"/>
            </a:lnSpc>
            <a:spcBef>
              <a:spcPct val="0"/>
            </a:spcBef>
            <a:spcAft>
              <a:spcPct val="15000"/>
            </a:spcAft>
            <a:buChar char="•"/>
          </a:pPr>
          <a:r>
            <a:rPr lang="en-NZ" sz="2600" kern="1200"/>
            <a:t>to exchange information</a:t>
          </a:r>
          <a:endParaRPr lang="en-NZ" sz="2600" kern="1200" dirty="0"/>
        </a:p>
      </dsp:txBody>
      <dsp:txXfrm>
        <a:off x="3450362" y="794040"/>
        <a:ext cx="3026605" cy="11419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CE5C9F-7A29-B049-BF80-D80F2A8B9162}">
      <dsp:nvSpPr>
        <dsp:cNvPr id="0" name=""/>
        <dsp:cNvSpPr/>
      </dsp:nvSpPr>
      <dsp:spPr>
        <a:xfrm rot="21364723">
          <a:off x="727792" y="928327"/>
          <a:ext cx="2681113" cy="1320065"/>
        </a:xfrm>
        <a:prstGeom prst="roundRect">
          <a:avLst>
            <a:gd name="adj" fmla="val 10000"/>
          </a:avLst>
        </a:prstGeom>
        <a:solidFill>
          <a:schemeClr val="accent5">
            <a:lumMod val="5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Communication of a message between two processes implies synchronization between the two</a:t>
          </a:r>
        </a:p>
      </dsp:txBody>
      <dsp:txXfrm>
        <a:off x="766455" y="966990"/>
        <a:ext cx="2603787" cy="1242739"/>
      </dsp:txXfrm>
    </dsp:sp>
    <dsp:sp modelId="{B0876E2E-024F-E840-B429-8A6DDBD3C0B7}">
      <dsp:nvSpPr>
        <dsp:cNvPr id="0" name=""/>
        <dsp:cNvSpPr/>
      </dsp:nvSpPr>
      <dsp:spPr>
        <a:xfrm rot="469402">
          <a:off x="4699574" y="591669"/>
          <a:ext cx="3161805" cy="971147"/>
        </a:xfrm>
        <a:prstGeom prst="roundRect">
          <a:avLst>
            <a:gd name="adj" fmla="val 10000"/>
          </a:avLst>
        </a:prstGeom>
        <a:solidFill>
          <a:schemeClr val="accent5">
            <a:lumMod val="5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NZ" sz="1600" b="1" i="0" kern="1200" dirty="0">
              <a:solidFill>
                <a:schemeClr val="bg1"/>
              </a:solidFill>
            </a:rPr>
            <a:t>When a receive primitive is executed in a process there are two possibilities:</a:t>
          </a:r>
          <a:endParaRPr lang="en-US" sz="1600" b="1" i="0" kern="1200" dirty="0">
            <a:solidFill>
              <a:schemeClr val="bg1"/>
            </a:solidFill>
          </a:endParaRPr>
        </a:p>
      </dsp:txBody>
      <dsp:txXfrm>
        <a:off x="4728018" y="620113"/>
        <a:ext cx="3104917" cy="914259"/>
      </dsp:txXfrm>
    </dsp:sp>
    <dsp:sp modelId="{4F3C4FFF-DBC4-E343-860C-7EE99D254749}">
      <dsp:nvSpPr>
        <dsp:cNvPr id="0" name=""/>
        <dsp:cNvSpPr/>
      </dsp:nvSpPr>
      <dsp:spPr>
        <a:xfrm>
          <a:off x="3429002" y="4267200"/>
          <a:ext cx="677405" cy="677405"/>
        </a:xfrm>
        <a:prstGeom prst="triangle">
          <a:avLst/>
        </a:prstGeom>
        <a:solidFill>
          <a:schemeClr val="accent3">
            <a:lumMod val="5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DE958576-B4BC-E74E-86DC-B7A96B976014}">
      <dsp:nvSpPr>
        <dsp:cNvPr id="0" name=""/>
        <dsp:cNvSpPr/>
      </dsp:nvSpPr>
      <dsp:spPr>
        <a:xfrm rot="240000">
          <a:off x="1757585" y="4027654"/>
          <a:ext cx="4065677" cy="284299"/>
        </a:xfrm>
        <a:prstGeom prst="rect">
          <a:avLst/>
        </a:prstGeom>
        <a:solidFill>
          <a:schemeClr val="accent3">
            <a:lumMod val="5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E023CDB2-16FA-3B49-BF46-F81510603726}">
      <dsp:nvSpPr>
        <dsp:cNvPr id="0" name=""/>
        <dsp:cNvSpPr/>
      </dsp:nvSpPr>
      <dsp:spPr>
        <a:xfrm rot="510070">
          <a:off x="3894263" y="2946371"/>
          <a:ext cx="2810684" cy="1107253"/>
        </a:xfrm>
        <a:prstGeom prst="roundRect">
          <a:avLst/>
        </a:prstGeom>
        <a:solidFill>
          <a:schemeClr val="accent1">
            <a:alpha val="2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i="0" kern="1200" dirty="0">
              <a:solidFill>
                <a:schemeClr val="tx1"/>
              </a:solidFill>
            </a:rPr>
            <a:t>if a message has previously been sent the message is received and execution continues</a:t>
          </a:r>
        </a:p>
      </dsp:txBody>
      <dsp:txXfrm>
        <a:off x="3948315" y="3000423"/>
        <a:ext cx="2702580" cy="999149"/>
      </dsp:txXfrm>
    </dsp:sp>
    <dsp:sp modelId="{5EB8A7DA-62E2-E440-9AA1-AFABD63FDF67}">
      <dsp:nvSpPr>
        <dsp:cNvPr id="0" name=""/>
        <dsp:cNvSpPr/>
      </dsp:nvSpPr>
      <dsp:spPr>
        <a:xfrm rot="537530">
          <a:off x="4002361" y="1649870"/>
          <a:ext cx="3653134" cy="1273339"/>
        </a:xfrm>
        <a:prstGeom prst="roundRect">
          <a:avLst/>
        </a:prstGeom>
        <a:solidFill>
          <a:schemeClr val="accent1">
            <a:alpha val="2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i="0" kern="1200" dirty="0">
              <a:solidFill>
                <a:schemeClr val="tx1"/>
              </a:solidFill>
            </a:rPr>
            <a:t>if there is no waiting message the process is blocked until a message arrives or the process continues to execute, abandoning the attempt to receive</a:t>
          </a:r>
        </a:p>
      </dsp:txBody>
      <dsp:txXfrm>
        <a:off x="4064520" y="1712029"/>
        <a:ext cx="3528816" cy="1149021"/>
      </dsp:txXfrm>
    </dsp:sp>
    <dsp:sp modelId="{9C6B398F-15AB-5548-AB75-EDD00D3829AC}">
      <dsp:nvSpPr>
        <dsp:cNvPr id="0" name=""/>
        <dsp:cNvSpPr/>
      </dsp:nvSpPr>
      <dsp:spPr>
        <a:xfrm rot="21331824">
          <a:off x="1206728" y="2519659"/>
          <a:ext cx="2317665" cy="1141728"/>
        </a:xfrm>
        <a:prstGeom prst="roundRect">
          <a:avLst/>
        </a:prstGeom>
        <a:solidFill>
          <a:schemeClr val="accent1">
            <a:alpha val="2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b="1" i="0" kern="1200" dirty="0">
              <a:solidFill>
                <a:schemeClr val="tx1"/>
              </a:solidFill>
            </a:rPr>
            <a:t>the receiver cannot receive a message until it has been sent by another process</a:t>
          </a:r>
        </a:p>
      </dsp:txBody>
      <dsp:txXfrm>
        <a:off x="1262463" y="2575394"/>
        <a:ext cx="2206195" cy="103025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FC4253-C5DD-2F40-AF14-A6F8E87BF8EB}">
      <dsp:nvSpPr>
        <dsp:cNvPr id="0" name=""/>
        <dsp:cNvSpPr/>
      </dsp:nvSpPr>
      <dsp:spPr>
        <a:xfrm>
          <a:off x="0" y="320681"/>
          <a:ext cx="8077200" cy="2712149"/>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37388" rIns="626880"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sender continues on but receiver is blocked until the requested message arrives</a:t>
          </a:r>
        </a:p>
        <a:p>
          <a:pPr marL="228600" lvl="1" indent="-228600" algn="l" defTabSz="933450" rtl="0">
            <a:lnSpc>
              <a:spcPct val="90000"/>
            </a:lnSpc>
            <a:spcBef>
              <a:spcPct val="0"/>
            </a:spcBef>
            <a:spcAft>
              <a:spcPct val="15000"/>
            </a:spcAft>
            <a:buChar char="•"/>
          </a:pPr>
          <a:r>
            <a:rPr lang="en-US" sz="2100" kern="1200" dirty="0"/>
            <a:t>most useful combination</a:t>
          </a:r>
        </a:p>
        <a:p>
          <a:pPr marL="228600" lvl="1" indent="-228600" algn="l" defTabSz="933450" rtl="0">
            <a:lnSpc>
              <a:spcPct val="90000"/>
            </a:lnSpc>
            <a:spcBef>
              <a:spcPct val="0"/>
            </a:spcBef>
            <a:spcAft>
              <a:spcPct val="15000"/>
            </a:spcAft>
            <a:buChar char="•"/>
          </a:pPr>
          <a:r>
            <a:rPr lang="en-US" sz="2100" kern="1200" dirty="0"/>
            <a:t>sends one or more messages to a variety of destinations as quickly as possible</a:t>
          </a:r>
        </a:p>
        <a:p>
          <a:pPr marL="228600" lvl="1" indent="-228600" algn="l" defTabSz="933450" rtl="0">
            <a:lnSpc>
              <a:spcPct val="90000"/>
            </a:lnSpc>
            <a:spcBef>
              <a:spcPct val="0"/>
            </a:spcBef>
            <a:spcAft>
              <a:spcPct val="15000"/>
            </a:spcAft>
            <a:buChar char="•"/>
          </a:pPr>
          <a:r>
            <a:rPr lang="en-US" sz="2100" kern="1200" dirty="0"/>
            <a:t>example -- a service process that exists to provide a service or resource to other processes</a:t>
          </a:r>
        </a:p>
      </dsp:txBody>
      <dsp:txXfrm>
        <a:off x="0" y="320681"/>
        <a:ext cx="8077200" cy="2712149"/>
      </dsp:txXfrm>
    </dsp:sp>
    <dsp:sp modelId="{7C0D2C5B-322D-9045-B418-FF8D3F881A30}">
      <dsp:nvSpPr>
        <dsp:cNvPr id="0" name=""/>
        <dsp:cNvSpPr/>
      </dsp:nvSpPr>
      <dsp:spPr>
        <a:xfrm>
          <a:off x="403860" y="10721"/>
          <a:ext cx="5654040" cy="6199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rtl="0">
            <a:lnSpc>
              <a:spcPct val="90000"/>
            </a:lnSpc>
            <a:spcBef>
              <a:spcPct val="0"/>
            </a:spcBef>
            <a:spcAft>
              <a:spcPct val="35000"/>
            </a:spcAft>
            <a:buNone/>
          </a:pPr>
          <a:r>
            <a:rPr lang="en-US" sz="2400" kern="1200" dirty="0" err="1"/>
            <a:t>Nonblocking</a:t>
          </a:r>
          <a:r>
            <a:rPr lang="en-US" sz="2400" kern="1200" dirty="0"/>
            <a:t> send, blocking receive</a:t>
          </a:r>
        </a:p>
      </dsp:txBody>
      <dsp:txXfrm>
        <a:off x="434122" y="40983"/>
        <a:ext cx="5593516" cy="559396"/>
      </dsp:txXfrm>
    </dsp:sp>
    <dsp:sp modelId="{A84F03E2-F9EA-C94D-AD93-13923F0055A8}">
      <dsp:nvSpPr>
        <dsp:cNvPr id="0" name=""/>
        <dsp:cNvSpPr/>
      </dsp:nvSpPr>
      <dsp:spPr>
        <a:xfrm>
          <a:off x="0" y="3456191"/>
          <a:ext cx="8077200" cy="876487"/>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26880" tIns="437388" rIns="626880" bIns="149352" numCol="1" spcCol="1270" anchor="t" anchorCtr="0">
          <a:noAutofit/>
        </a:bodyPr>
        <a:lstStyle/>
        <a:p>
          <a:pPr marL="228600" lvl="1" indent="-228600" algn="l" defTabSz="933450" rtl="0">
            <a:lnSpc>
              <a:spcPct val="90000"/>
            </a:lnSpc>
            <a:spcBef>
              <a:spcPct val="0"/>
            </a:spcBef>
            <a:spcAft>
              <a:spcPct val="15000"/>
            </a:spcAft>
            <a:buChar char="•"/>
          </a:pPr>
          <a:r>
            <a:rPr lang="en-US" sz="2100" kern="1200" dirty="0"/>
            <a:t>neither party is required to wait</a:t>
          </a:r>
        </a:p>
      </dsp:txBody>
      <dsp:txXfrm>
        <a:off x="0" y="3456191"/>
        <a:ext cx="8077200" cy="876487"/>
      </dsp:txXfrm>
    </dsp:sp>
    <dsp:sp modelId="{FB5D3142-9F1C-A94D-A8A6-48AF5D364BD5}">
      <dsp:nvSpPr>
        <dsp:cNvPr id="0" name=""/>
        <dsp:cNvSpPr/>
      </dsp:nvSpPr>
      <dsp:spPr>
        <a:xfrm>
          <a:off x="403860" y="3146231"/>
          <a:ext cx="6187442" cy="6199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13709" tIns="0" rIns="213709" bIns="0" numCol="1" spcCol="1270" anchor="ctr" anchorCtr="0">
          <a:noAutofit/>
        </a:bodyPr>
        <a:lstStyle/>
        <a:p>
          <a:pPr marL="0" lvl="0" indent="0" algn="l" defTabSz="1066800" rtl="0">
            <a:lnSpc>
              <a:spcPct val="90000"/>
            </a:lnSpc>
            <a:spcBef>
              <a:spcPct val="0"/>
            </a:spcBef>
            <a:spcAft>
              <a:spcPct val="35000"/>
            </a:spcAft>
            <a:buNone/>
          </a:pPr>
          <a:r>
            <a:rPr lang="en-US" sz="2400" kern="1200" dirty="0" err="1"/>
            <a:t>Nonblocking</a:t>
          </a:r>
          <a:r>
            <a:rPr lang="en-US" sz="2400" kern="1200" dirty="0"/>
            <a:t> send, </a:t>
          </a:r>
          <a:r>
            <a:rPr lang="en-US" sz="2400" kern="1200" dirty="0" err="1"/>
            <a:t>nonblocking</a:t>
          </a:r>
          <a:r>
            <a:rPr lang="en-US" sz="2400" kern="1200" dirty="0"/>
            <a:t> receive</a:t>
          </a:r>
        </a:p>
      </dsp:txBody>
      <dsp:txXfrm>
        <a:off x="434122" y="3176493"/>
        <a:ext cx="6126918" cy="55939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5FB369-8671-004A-BE5D-38525B638D11}">
      <dsp:nvSpPr>
        <dsp:cNvPr id="0" name=""/>
        <dsp:cNvSpPr/>
      </dsp:nvSpPr>
      <dsp:spPr>
        <a:xfrm>
          <a:off x="974154" y="744"/>
          <a:ext cx="2918519" cy="1751111"/>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dirty="0"/>
            <a:t>Direct addressing</a:t>
          </a:r>
        </a:p>
      </dsp:txBody>
      <dsp:txXfrm>
        <a:off x="974154" y="744"/>
        <a:ext cx="2918519" cy="1751111"/>
      </dsp:txXfrm>
    </dsp:sp>
    <dsp:sp modelId="{AE4CBB04-19C2-F24F-B25B-9E2E283ED7DC}">
      <dsp:nvSpPr>
        <dsp:cNvPr id="0" name=""/>
        <dsp:cNvSpPr/>
      </dsp:nvSpPr>
      <dsp:spPr>
        <a:xfrm>
          <a:off x="4184525" y="744"/>
          <a:ext cx="2918519" cy="1751111"/>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1450" tIns="171450" rIns="171450" bIns="171450" numCol="1" spcCol="1270" anchor="ctr" anchorCtr="0">
          <a:noAutofit/>
        </a:bodyPr>
        <a:lstStyle/>
        <a:p>
          <a:pPr marL="0" lvl="0" indent="0" algn="ctr" defTabSz="2000250">
            <a:lnSpc>
              <a:spcPct val="90000"/>
            </a:lnSpc>
            <a:spcBef>
              <a:spcPct val="0"/>
            </a:spcBef>
            <a:spcAft>
              <a:spcPct val="35000"/>
            </a:spcAft>
            <a:buNone/>
          </a:pPr>
          <a:r>
            <a:rPr lang="en-US" sz="4500" kern="1200" dirty="0"/>
            <a:t>Indirect addressing</a:t>
          </a:r>
        </a:p>
      </dsp:txBody>
      <dsp:txXfrm>
        <a:off x="4184525" y="744"/>
        <a:ext cx="2918519" cy="1751111"/>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D35B85-3272-3842-B975-0D28FA12B9EA}">
      <dsp:nvSpPr>
        <dsp:cNvPr id="0" name=""/>
        <dsp:cNvSpPr/>
      </dsp:nvSpPr>
      <dsp:spPr>
        <a:xfrm>
          <a:off x="209483" y="2291"/>
          <a:ext cx="2899743" cy="148418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Messages are sent to a shared data structure consisting of queues that can temporarily hold messages</a:t>
          </a:r>
        </a:p>
      </dsp:txBody>
      <dsp:txXfrm>
        <a:off x="252953" y="45761"/>
        <a:ext cx="2812803" cy="1397241"/>
      </dsp:txXfrm>
    </dsp:sp>
    <dsp:sp modelId="{FD726207-BDF7-F648-8A1D-4792344EE082}">
      <dsp:nvSpPr>
        <dsp:cNvPr id="0" name=""/>
        <dsp:cNvSpPr/>
      </dsp:nvSpPr>
      <dsp:spPr>
        <a:xfrm>
          <a:off x="3326907" y="437651"/>
          <a:ext cx="524410" cy="613461"/>
        </a:xfrm>
        <a:prstGeom prst="rightArrow">
          <a:avLst>
            <a:gd name="adj1" fmla="val 60000"/>
            <a:gd name="adj2" fmla="val 50000"/>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3326907" y="560343"/>
        <a:ext cx="367087" cy="368077"/>
      </dsp:txXfrm>
    </dsp:sp>
    <dsp:sp modelId="{42A3B1B7-2198-FC48-81A1-C2AC20C0214A}">
      <dsp:nvSpPr>
        <dsp:cNvPr id="0" name=""/>
        <dsp:cNvSpPr/>
      </dsp:nvSpPr>
      <dsp:spPr>
        <a:xfrm>
          <a:off x="4098681" y="2291"/>
          <a:ext cx="2473635" cy="148418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Queues are referred to as </a:t>
          </a:r>
          <a:r>
            <a:rPr lang="en-US" sz="2300" i="1" kern="1200" dirty="0"/>
            <a:t>mailboxes</a:t>
          </a:r>
        </a:p>
      </dsp:txBody>
      <dsp:txXfrm>
        <a:off x="4142151" y="45761"/>
        <a:ext cx="2386695" cy="1397241"/>
      </dsp:txXfrm>
    </dsp:sp>
    <dsp:sp modelId="{7DC9C592-1D86-434A-96C8-545A7F4FECE4}">
      <dsp:nvSpPr>
        <dsp:cNvPr id="0" name=""/>
        <dsp:cNvSpPr/>
      </dsp:nvSpPr>
      <dsp:spPr>
        <a:xfrm rot="5400000">
          <a:off x="5002776" y="1659627"/>
          <a:ext cx="525272" cy="613461"/>
        </a:xfrm>
        <a:prstGeom prst="rightArrow">
          <a:avLst>
            <a:gd name="adj1" fmla="val 60000"/>
            <a:gd name="adj2" fmla="val 50000"/>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5081374" y="1703721"/>
        <a:ext cx="368077" cy="367690"/>
      </dsp:txXfrm>
    </dsp:sp>
    <dsp:sp modelId="{E66579B5-8437-6E47-9E7B-772C542E5672}">
      <dsp:nvSpPr>
        <dsp:cNvPr id="0" name=""/>
        <dsp:cNvSpPr/>
      </dsp:nvSpPr>
      <dsp:spPr>
        <a:xfrm>
          <a:off x="3814930" y="2475927"/>
          <a:ext cx="2757385" cy="148418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t>One process sends a message to the mailbox and the other process picks up the message from the mailbox</a:t>
          </a:r>
        </a:p>
      </dsp:txBody>
      <dsp:txXfrm>
        <a:off x="3858400" y="2519397"/>
        <a:ext cx="2670445" cy="1397241"/>
      </dsp:txXfrm>
    </dsp:sp>
    <dsp:sp modelId="{8C5B34E6-1EBB-5344-9E86-EF1BC7524739}">
      <dsp:nvSpPr>
        <dsp:cNvPr id="0" name=""/>
        <dsp:cNvSpPr/>
      </dsp:nvSpPr>
      <dsp:spPr>
        <a:xfrm rot="10800000">
          <a:off x="3072840" y="2911286"/>
          <a:ext cx="524410" cy="613461"/>
        </a:xfrm>
        <a:prstGeom prst="rightArrow">
          <a:avLst>
            <a:gd name="adj1" fmla="val 60000"/>
            <a:gd name="adj2" fmla="val 50000"/>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3230163" y="3033978"/>
        <a:ext cx="367087" cy="368077"/>
      </dsp:txXfrm>
    </dsp:sp>
    <dsp:sp modelId="{B17C5E11-C218-7B41-92DA-A351214BBDBE}">
      <dsp:nvSpPr>
        <dsp:cNvPr id="0" name=""/>
        <dsp:cNvSpPr/>
      </dsp:nvSpPr>
      <dsp:spPr>
        <a:xfrm>
          <a:off x="351841" y="2475927"/>
          <a:ext cx="2473635" cy="1484181"/>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kern="1200" dirty="0"/>
            <a:t>Allows for greater flexibility in the use of messages</a:t>
          </a:r>
        </a:p>
      </dsp:txBody>
      <dsp:txXfrm>
        <a:off x="395311" y="2519397"/>
        <a:ext cx="2386695" cy="139724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18EEA1-4D9D-BA40-A54F-EBBF600C1F0D}">
      <dsp:nvSpPr>
        <dsp:cNvPr id="0" name=""/>
        <dsp:cNvSpPr/>
      </dsp:nvSpPr>
      <dsp:spPr>
        <a:xfrm flipH="1">
          <a:off x="457230" y="107263"/>
          <a:ext cx="1828836" cy="691963"/>
        </a:xfrm>
        <a:prstGeom prst="roundRect">
          <a:avLst/>
        </a:prstGeom>
        <a:blipFill rotWithShape="0">
          <a:blip xmlns:r="http://schemas.openxmlformats.org/officeDocument/2006/relationships" r:embed="rId1"/>
          <a:tile tx="0" ty="0" sx="100000" sy="100000" flip="none" algn="tl"/>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NZ" sz="2800" b="1" i="0" kern="1200" dirty="0">
              <a:solidFill>
                <a:schemeClr val="tx2">
                  <a:lumMod val="75000"/>
                </a:schemeClr>
              </a:solidFill>
            </a:rPr>
            <a:t>Messages</a:t>
          </a:r>
          <a:endParaRPr lang="en-US" sz="2800" b="1" i="0" kern="1200" dirty="0">
            <a:solidFill>
              <a:schemeClr val="tx2">
                <a:lumMod val="75000"/>
              </a:schemeClr>
            </a:solidFill>
          </a:endParaRPr>
        </a:p>
      </dsp:txBody>
      <dsp:txXfrm>
        <a:off x="491009" y="141042"/>
        <a:ext cx="1761278" cy="624405"/>
      </dsp:txXfrm>
    </dsp:sp>
    <dsp:sp modelId="{1AA0D145-BAF9-AB45-9218-5222637AD0A7}">
      <dsp:nvSpPr>
        <dsp:cNvPr id="0" name=""/>
        <dsp:cNvSpPr/>
      </dsp:nvSpPr>
      <dsp:spPr>
        <a:xfrm>
          <a:off x="457273" y="814212"/>
          <a:ext cx="8077126" cy="612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967" tIns="25400" rIns="142240" bIns="25400" numCol="1" spcCol="1270" anchor="t" anchorCtr="0">
          <a:noAutofit/>
        </a:bodyPr>
        <a:lstStyle/>
        <a:p>
          <a:pPr marL="228600" lvl="1" indent="-228600" algn="l" defTabSz="889000" rtl="0">
            <a:lnSpc>
              <a:spcPct val="90000"/>
            </a:lnSpc>
            <a:spcBef>
              <a:spcPct val="0"/>
            </a:spcBef>
            <a:spcAft>
              <a:spcPct val="20000"/>
            </a:spcAft>
            <a:buChar char="•"/>
          </a:pPr>
          <a:r>
            <a:rPr lang="en-US" sz="2000" kern="1200" dirty="0"/>
            <a:t>Useful for the enforcement of mutual exclusion discipline</a:t>
          </a:r>
        </a:p>
      </dsp:txBody>
      <dsp:txXfrm>
        <a:off x="457273" y="814212"/>
        <a:ext cx="8077126" cy="612121"/>
      </dsp:txXfrm>
    </dsp:sp>
    <dsp:sp modelId="{39F79FF8-618D-3D47-BEF9-9B29B6C3E2C8}">
      <dsp:nvSpPr>
        <dsp:cNvPr id="0" name=""/>
        <dsp:cNvSpPr/>
      </dsp:nvSpPr>
      <dsp:spPr>
        <a:xfrm>
          <a:off x="457230" y="1150250"/>
          <a:ext cx="5029065" cy="691963"/>
        </a:xfrm>
        <a:prstGeom prst="roundRect">
          <a:avLst/>
        </a:prstGeom>
        <a:blipFill rotWithShape="0">
          <a:blip xmlns:r="http://schemas.openxmlformats.org/officeDocument/2006/relationships" r:embed="rId1"/>
          <a:tile tx="0" ty="0" sx="100000" sy="100000" flip="none" algn="tl"/>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NZ" sz="2800" b="1" i="0" kern="1200" dirty="0">
              <a:solidFill>
                <a:schemeClr val="accent2">
                  <a:lumMod val="50000"/>
                </a:schemeClr>
              </a:solidFill>
            </a:rPr>
            <a:t>Operating system themes are:</a:t>
          </a:r>
          <a:endParaRPr lang="en-US" sz="2800" b="1" i="0" kern="1200" dirty="0">
            <a:solidFill>
              <a:schemeClr val="accent2">
                <a:lumMod val="50000"/>
              </a:schemeClr>
            </a:solidFill>
          </a:endParaRPr>
        </a:p>
      </dsp:txBody>
      <dsp:txXfrm>
        <a:off x="491009" y="1184029"/>
        <a:ext cx="4961507" cy="624405"/>
      </dsp:txXfrm>
    </dsp:sp>
    <dsp:sp modelId="{B7BA34D4-2F33-CC43-9DC0-E08261428011}">
      <dsp:nvSpPr>
        <dsp:cNvPr id="0" name=""/>
        <dsp:cNvSpPr/>
      </dsp:nvSpPr>
      <dsp:spPr>
        <a:xfrm>
          <a:off x="457187" y="1869391"/>
          <a:ext cx="8077212" cy="11013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967"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NZ" sz="2000" kern="1200" dirty="0"/>
            <a:t>Multiprogramming, multiprocessing, distributed processing</a:t>
          </a:r>
        </a:p>
        <a:p>
          <a:pPr marL="228600" lvl="1" indent="-228600" algn="l" defTabSz="889000">
            <a:lnSpc>
              <a:spcPct val="90000"/>
            </a:lnSpc>
            <a:spcBef>
              <a:spcPct val="0"/>
            </a:spcBef>
            <a:spcAft>
              <a:spcPct val="20000"/>
            </a:spcAft>
            <a:buChar char="•"/>
          </a:pPr>
          <a:r>
            <a:rPr lang="en-NZ" sz="2000" kern="1200" dirty="0"/>
            <a:t>Fundamental to these themes is concurrency</a:t>
          </a:r>
        </a:p>
        <a:p>
          <a:pPr marL="457200" lvl="2" indent="-228600" algn="l" defTabSz="889000">
            <a:lnSpc>
              <a:spcPct val="90000"/>
            </a:lnSpc>
            <a:spcBef>
              <a:spcPct val="0"/>
            </a:spcBef>
            <a:spcAft>
              <a:spcPct val="20000"/>
            </a:spcAft>
            <a:buChar char="•"/>
          </a:pPr>
          <a:r>
            <a:rPr lang="en-NZ" sz="2000" kern="1200" dirty="0"/>
            <a:t>issues of conflict resolution and cooperation arise</a:t>
          </a:r>
        </a:p>
      </dsp:txBody>
      <dsp:txXfrm>
        <a:off x="457187" y="1869391"/>
        <a:ext cx="8077212" cy="1101380"/>
      </dsp:txXfrm>
    </dsp:sp>
    <dsp:sp modelId="{678A52E5-79C0-6C43-9579-B04BA001439B}">
      <dsp:nvSpPr>
        <dsp:cNvPr id="0" name=""/>
        <dsp:cNvSpPr/>
      </dsp:nvSpPr>
      <dsp:spPr>
        <a:xfrm>
          <a:off x="533399" y="2843828"/>
          <a:ext cx="3962351" cy="576772"/>
        </a:xfrm>
        <a:prstGeom prst="roundRect">
          <a:avLst/>
        </a:prstGeom>
        <a:blipFill rotWithShape="0">
          <a:blip xmlns:r="http://schemas.openxmlformats.org/officeDocument/2006/relationships" r:embed="rId1"/>
          <a:tile tx="0" ty="0" sx="100000" sy="100000" flip="none" algn="tl"/>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NZ" sz="2800" b="1" i="0" kern="1200" dirty="0">
              <a:solidFill>
                <a:schemeClr val="tx2">
                  <a:lumMod val="75000"/>
                </a:schemeClr>
              </a:solidFill>
            </a:rPr>
            <a:t>Mutual Exclusion</a:t>
          </a:r>
          <a:endParaRPr lang="en-US" sz="2800" b="1" i="0" kern="1200" dirty="0">
            <a:solidFill>
              <a:schemeClr val="tx2">
                <a:lumMod val="75000"/>
              </a:schemeClr>
            </a:solidFill>
          </a:endParaRPr>
        </a:p>
      </dsp:txBody>
      <dsp:txXfrm>
        <a:off x="561555" y="2871984"/>
        <a:ext cx="3906039" cy="520460"/>
      </dsp:txXfrm>
    </dsp:sp>
    <dsp:sp modelId="{C0B86D96-1539-9C44-B5AE-C49128619FD3}">
      <dsp:nvSpPr>
        <dsp:cNvPr id="0" name=""/>
        <dsp:cNvSpPr/>
      </dsp:nvSpPr>
      <dsp:spPr>
        <a:xfrm>
          <a:off x="533442" y="3415462"/>
          <a:ext cx="7772363" cy="1465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967"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NZ" sz="2000" kern="1200" dirty="0"/>
            <a:t>Condition in which there is a set of </a:t>
          </a:r>
          <a:r>
            <a:rPr lang="en-NZ" sz="2000" kern="1200"/>
            <a:t>concurrent processes, </a:t>
          </a:r>
          <a:r>
            <a:rPr lang="en-NZ" sz="2000" kern="1200" dirty="0"/>
            <a:t>only one of which is able to access a given resource or perform a given function at any time</a:t>
          </a:r>
        </a:p>
        <a:p>
          <a:pPr marL="228600" lvl="1" indent="-228600" algn="l" defTabSz="889000">
            <a:lnSpc>
              <a:spcPct val="90000"/>
            </a:lnSpc>
            <a:spcBef>
              <a:spcPct val="0"/>
            </a:spcBef>
            <a:spcAft>
              <a:spcPct val="20000"/>
            </a:spcAft>
            <a:buChar char="•"/>
          </a:pPr>
          <a:r>
            <a:rPr lang="en-NZ" sz="2000" kern="1200" dirty="0"/>
            <a:t>One approach involves the use of special purpose machine instructions</a:t>
          </a:r>
        </a:p>
      </dsp:txBody>
      <dsp:txXfrm>
        <a:off x="533442" y="3415462"/>
        <a:ext cx="7772363" cy="1465180"/>
      </dsp:txXfrm>
    </dsp:sp>
    <dsp:sp modelId="{29787D3B-95CE-FA4A-AD8A-DC21D51C0619}">
      <dsp:nvSpPr>
        <dsp:cNvPr id="0" name=""/>
        <dsp:cNvSpPr/>
      </dsp:nvSpPr>
      <dsp:spPr>
        <a:xfrm>
          <a:off x="533400" y="4991604"/>
          <a:ext cx="3047975" cy="608028"/>
        </a:xfrm>
        <a:prstGeom prst="roundRect">
          <a:avLst/>
        </a:prstGeom>
        <a:blipFill rotWithShape="0">
          <a:blip xmlns:r="http://schemas.openxmlformats.org/officeDocument/2006/relationships" r:embed="rId1"/>
          <a:tile tx="0" ty="0" sx="100000" sy="100000" flip="none" algn="tl"/>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en-NZ" sz="2800" b="1" i="0" kern="1200" dirty="0">
              <a:solidFill>
                <a:schemeClr val="accent2">
                  <a:lumMod val="50000"/>
                </a:schemeClr>
              </a:solidFill>
            </a:rPr>
            <a:t>Semaphores</a:t>
          </a:r>
        </a:p>
      </dsp:txBody>
      <dsp:txXfrm>
        <a:off x="563081" y="5021285"/>
        <a:ext cx="2988613" cy="548666"/>
      </dsp:txXfrm>
    </dsp:sp>
    <dsp:sp modelId="{374ABFB9-0798-1149-9B46-963B5940BD3B}">
      <dsp:nvSpPr>
        <dsp:cNvPr id="0" name=""/>
        <dsp:cNvSpPr/>
      </dsp:nvSpPr>
      <dsp:spPr>
        <a:xfrm>
          <a:off x="609697" y="5625721"/>
          <a:ext cx="7924702" cy="6121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0967"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NZ" sz="2000" kern="1200" dirty="0"/>
            <a:t>Used for signaling among processes and can be readily used to enforce a mutual exclusion discipline</a:t>
          </a:r>
        </a:p>
      </dsp:txBody>
      <dsp:txXfrm>
        <a:off x="609697" y="5625721"/>
        <a:ext cx="7924702" cy="61212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balance1">
  <dgm:title val=""/>
  <dgm:desc val=""/>
  <dgm:catLst>
    <dgm:cat type="relationship" pri="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23">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25" srcId="2" destId="23" srcOrd="0" destOrd="0"/>
      </dgm:cxnLst>
      <dgm:bg/>
      <dgm:whole/>
    </dgm:dataModel>
  </dgm:sampData>
  <dgm:styleData>
    <dgm:dataModel>
      <dgm:ptLst>
        <dgm:pt modelId="0" type="doc"/>
        <dgm:pt modelId="1"/>
        <dgm:pt modelId="11"/>
        <dgm:pt modelId="12"/>
        <dgm:pt modelId="2"/>
        <dgm:pt modelId="21"/>
        <dgm:pt modelId="22"/>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tyleData>
  <dgm:clrData>
    <dgm:dataModel>
      <dgm:ptLst>
        <dgm:pt modelId="0" type="doc"/>
        <dgm:pt modelId="1"/>
        <dgm:pt modelId="11"/>
        <dgm:pt modelId="12"/>
        <dgm:pt modelId="13"/>
        <dgm:pt modelId="2"/>
        <dgm:pt modelId="21"/>
        <dgm:pt modelId="22"/>
        <dgm:pt modelId="23"/>
      </dgm:ptLst>
      <dgm:cxnLst>
        <dgm:cxn modelId="4" srcId="0" destId="1" srcOrd="0" destOrd="0"/>
        <dgm:cxn modelId="5" srcId="0" destId="2" srcOrd="1" destOrd="0"/>
        <dgm:cxn modelId="15" srcId="1" destId="11" srcOrd="0" destOrd="0"/>
        <dgm:cxn modelId="16" srcId="1" destId="12" srcOrd="0" destOrd="0"/>
        <dgm:cxn modelId="17" srcId="1" destId="13" srcOrd="0" destOrd="0"/>
        <dgm:cxn modelId="25" srcId="2" destId="21" srcOrd="0" destOrd="0"/>
        <dgm:cxn modelId="26" srcId="2" destId="22" srcOrd="0" destOrd="0"/>
        <dgm:cxn modelId="27" srcId="2" destId="23" srcOrd="0" destOrd="0"/>
      </dgm:cxnLst>
      <dgm:bg/>
      <dgm:whole/>
    </dgm:dataModel>
  </dgm:clrData>
  <dgm:layoutNode name="outerComposite">
    <dgm:varLst>
      <dgm:chMax val="2"/>
      <dgm:animLvl val="lvl"/>
      <dgm:resizeHandles val="exact"/>
    </dgm:varLst>
    <dgm:alg type="composite">
      <dgm:param type="ar" val="1"/>
    </dgm:alg>
    <dgm:shape xmlns:r="http://schemas.openxmlformats.org/officeDocument/2006/relationships" r:blip="">
      <dgm:adjLst/>
    </dgm:shape>
    <dgm:presOf/>
    <dgm:constrLst>
      <dgm:constr type="h" for="ch" forName="parentComposite" refType="h" refFor="ch" refForName="dummyMaxCanvas" op="equ" fact="0.2"/>
      <dgm:constr type="t" for="ch" forName="parentComposite"/>
      <dgm:constr type="h" for="ch" forName="childrenComposite" refType="h" refFor="ch" refForName="dummyMaxCanvas" op="equ" fact="0.8"/>
      <dgm:constr type="t" for="ch" forName="childrenComposite" refType="h" refFor="ch" refForName="dummyMaxCanvas" fact="0.2"/>
    </dgm:constrLst>
    <dgm:ruleLst/>
    <dgm:layoutNode name="dummyMaxCanvas">
      <dgm:alg type="sp"/>
      <dgm:shape xmlns:r="http://schemas.openxmlformats.org/officeDocument/2006/relationships" r:blip="">
        <dgm:adjLst/>
      </dgm:shape>
      <dgm:presOf/>
      <dgm:constrLst/>
      <dgm:ruleLst/>
    </dgm:layoutNode>
    <dgm:layoutNode name="parentComposite">
      <dgm:alg type="composite"/>
      <dgm:shape xmlns:r="http://schemas.openxmlformats.org/officeDocument/2006/relationships" r:blip="">
        <dgm:adjLst/>
      </dgm:shape>
      <dgm:presOf/>
      <dgm:constrLst>
        <dgm:constr type="w" for="ch" forName="parent1" refType="w" fact="0.36"/>
        <dgm:constr type="ctrX" for="ch" forName="parent1" refType="w" fact="0.24"/>
        <dgm:constr type="w" for="ch" forName="parent2" refType="w" fact="0.36"/>
        <dgm:constr type="ctrX" for="ch" forName="parent2" refType="w" fact="0.76"/>
        <dgm:constr type="primFontSz" for="ch" ptType="node" op="equ"/>
      </dgm:constrLst>
      <dgm:ruleLst/>
      <dgm:layoutNode name="parent1" styleLbl="alignAccFollowNode1">
        <dgm:varLst>
          <dgm:chMax val="4"/>
        </dgm:varLst>
        <dgm:alg type="tx"/>
        <dgm:shape xmlns:r="http://schemas.openxmlformats.org/officeDocument/2006/relationships" type="roundRect" r:blip="">
          <dgm:adjLst>
            <dgm:adj idx="1" val="0.1"/>
          </dgm:adjLst>
        </dgm:shape>
        <dgm:presOf axis="ch" ptType="node"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2" styleLbl="alignAccFollowNode1">
        <dgm:varLst>
          <dgm:chMax val="4"/>
        </dgm:varLst>
        <dgm:alg type="tx"/>
        <dgm:shape xmlns:r="http://schemas.openxmlformats.org/officeDocument/2006/relationships" type="roundRect" r:blip="">
          <dgm:adjLst>
            <dgm:adj idx="1" val="0.1"/>
          </dgm:adjLst>
        </dgm:shape>
        <dgm:presOf axis="ch" ptType="node" st="2" cnt="1"/>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name="childrenComposite">
      <dgm:alg type="composite"/>
      <dgm:shape xmlns:r="http://schemas.openxmlformats.org/officeDocument/2006/relationships" r:blip="">
        <dgm:adjLst/>
      </dgm:shape>
      <dgm:presOf/>
      <dgm:constrLst>
        <dgm:constr type="primFontSz" for="ch" ptType="node" op="equ" val="65"/>
        <dgm:constr type="w" for="ch" forName="fulcrum" refType="w" fact="0.15"/>
        <dgm:constr type="h" for="ch" forName="fulcrum" refType="w" refFor="ch" refForName="fulcrum"/>
        <dgm:constr type="b" for="ch" forName="fulcrum" refType="h"/>
        <dgm:constr type="ctrX" for="ch" forName="fulcrum" refType="w" fact="0.5"/>
        <dgm:constr type="w" for="ch" forName="balance_00" refType="w" fact="0.9"/>
        <dgm:constr type="h" for="ch" forName="balance_00" refType="h" fact="0.076"/>
        <dgm:constr type="b" for="ch" forName="balance_00" refType="h" fact="0.81"/>
        <dgm:constr type="ctrX" for="ch" forName="balance_00" refType="w" fact="0.5"/>
        <dgm:constr type="w" for="ch" forName="balance_01" refType="w"/>
        <dgm:constr type="h" for="ch" forName="balance_01" refType="h" fact="0.157"/>
        <dgm:constr type="b" for="ch" forName="balance_01" refType="h" fact="0.85"/>
        <dgm:constr type="ctrX" for="ch" forName="balance_01" refType="w" fact="0.5"/>
        <dgm:constr type="w" for="ch" forName="balance_02" refType="w"/>
        <dgm:constr type="h" for="ch" forName="balance_02" refType="h" fact="0.157"/>
        <dgm:constr type="b" for="ch" forName="balance_02" refType="h" fact="0.85"/>
        <dgm:constr type="ctrX" for="ch" forName="balance_02" refType="w" fact="0.5"/>
        <dgm:constr type="w" for="ch" forName="balance_03" refType="w"/>
        <dgm:constr type="h" for="ch" forName="balance_03" refType="h" fact="0.157"/>
        <dgm:constr type="b" for="ch" forName="balance_03" refType="h" fact="0.85"/>
        <dgm:constr type="ctrX" for="ch" forName="balance_03" refType="w" fact="0.5"/>
        <dgm:constr type="w" for="ch" forName="balance_04" refType="w"/>
        <dgm:constr type="h" for="ch" forName="balance_04" refType="h" fact="0.157"/>
        <dgm:constr type="b" for="ch" forName="balance_04" refType="h" fact="0.85"/>
        <dgm:constr type="ctrX" for="ch" forName="balance_04" refType="w" fact="0.5"/>
        <dgm:constr type="w" for="ch" forName="balance_10" refType="w"/>
        <dgm:constr type="h" for="ch" forName="balance_10" refType="h" fact="0.157"/>
        <dgm:constr type="b" for="ch" forName="balance_10" refType="h" fact="0.85"/>
        <dgm:constr type="ctrX" for="ch" forName="balance_10" refType="w" fact="0.5"/>
        <dgm:constr type="w" for="ch" forName="balance_11" refType="w" fact="0.9"/>
        <dgm:constr type="h" for="ch" forName="balance_11" refType="h" fact="0.076"/>
        <dgm:constr type="b" for="ch" forName="balance_11" refType="h" fact="0.81"/>
        <dgm:constr type="ctrX" for="ch" forName="balance_11" refType="w" fact="0.5"/>
        <dgm:constr type="w" for="ch" forName="balance_12" refType="w"/>
        <dgm:constr type="h" for="ch" forName="balance_12" refType="h" fact="0.157"/>
        <dgm:constr type="b" for="ch" forName="balance_12" refType="h" fact="0.85"/>
        <dgm:constr type="ctrX" for="ch" forName="balance_12" refType="w" fact="0.5"/>
        <dgm:constr type="w" for="ch" forName="balance_13" refType="w"/>
        <dgm:constr type="h" for="ch" forName="balance_13" refType="h" fact="0.157"/>
        <dgm:constr type="b" for="ch" forName="balance_13" refType="h" fact="0.85"/>
        <dgm:constr type="ctrX" for="ch" forName="balance_13" refType="w" fact="0.5"/>
        <dgm:constr type="w" for="ch" forName="balance_14" refType="w"/>
        <dgm:constr type="h" for="ch" forName="balance_14" refType="h" fact="0.157"/>
        <dgm:constr type="b" for="ch" forName="balance_14" refType="h" fact="0.85"/>
        <dgm:constr type="ctrX" for="ch" forName="balance_14" refType="w" fact="0.5"/>
        <dgm:constr type="w" for="ch" forName="balance_20" refType="w"/>
        <dgm:constr type="h" for="ch" forName="balance_20" refType="h" fact="0.157"/>
        <dgm:constr type="b" for="ch" forName="balance_20" refType="h" fact="0.85"/>
        <dgm:constr type="ctrX" for="ch" forName="balance_20" refType="w" fact="0.5"/>
        <dgm:constr type="w" for="ch" forName="balance_21" refType="w"/>
        <dgm:constr type="h" for="ch" forName="balance_21" refType="h" fact="0.157"/>
        <dgm:constr type="b" for="ch" forName="balance_21" refType="h" fact="0.85"/>
        <dgm:constr type="ctrX" for="ch" forName="balance_21" refType="w" fact="0.5"/>
        <dgm:constr type="w" for="ch" forName="balance_22" refType="w" fact="0.9"/>
        <dgm:constr type="h" for="ch" forName="balance_22" refType="h" fact="0.076"/>
        <dgm:constr type="b" for="ch" forName="balance_22" refType="h" fact="0.81"/>
        <dgm:constr type="ctrX" for="ch" forName="balance_22" refType="w" fact="0.5"/>
        <dgm:constr type="w" for="ch" forName="balance_23" refType="w"/>
        <dgm:constr type="h" for="ch" forName="balance_23" refType="h" fact="0.157"/>
        <dgm:constr type="b" for="ch" forName="balance_23" refType="h" fact="0.85"/>
        <dgm:constr type="ctrX" for="ch" forName="balance_23" refType="w" fact="0.5"/>
        <dgm:constr type="w" for="ch" forName="balance_24" refType="w"/>
        <dgm:constr type="h" for="ch" forName="balance_24" refType="h" fact="0.157"/>
        <dgm:constr type="b" for="ch" forName="balance_24" refType="h" fact="0.85"/>
        <dgm:constr type="ctrX" for="ch" forName="balance_24" refType="w" fact="0.5"/>
        <dgm:constr type="w" for="ch" forName="balance_30" refType="w"/>
        <dgm:constr type="h" for="ch" forName="balance_30" refType="h" fact="0.157"/>
        <dgm:constr type="b" for="ch" forName="balance_30" refType="h" fact="0.85"/>
        <dgm:constr type="ctrX" for="ch" forName="balance_30" refType="w" fact="0.5"/>
        <dgm:constr type="w" for="ch" forName="balance_31" refType="w"/>
        <dgm:constr type="h" for="ch" forName="balance_31" refType="h" fact="0.157"/>
        <dgm:constr type="b" for="ch" forName="balance_31" refType="h" fact="0.85"/>
        <dgm:constr type="ctrX" for="ch" forName="balance_31" refType="w" fact="0.5"/>
        <dgm:constr type="w" for="ch" forName="balance_32" refType="w"/>
        <dgm:constr type="h" for="ch" forName="balance_32" refType="h" fact="0.157"/>
        <dgm:constr type="b" for="ch" forName="balance_32" refType="h" fact="0.85"/>
        <dgm:constr type="ctrX" for="ch" forName="balance_32" refType="w" fact="0.5"/>
        <dgm:constr type="w" for="ch" forName="balance_33" refType="w" fact="0.9"/>
        <dgm:constr type="h" for="ch" forName="balance_33" refType="h" fact="0.076"/>
        <dgm:constr type="b" for="ch" forName="balance_33" refType="h" fact="0.81"/>
        <dgm:constr type="ctrX" for="ch" forName="balance_33" refType="w" fact="0.5"/>
        <dgm:constr type="w" for="ch" forName="balance_34" refType="w"/>
        <dgm:constr type="h" for="ch" forName="balance_34" refType="h" fact="0.157"/>
        <dgm:constr type="b" for="ch" forName="balance_34" refType="h" fact="0.85"/>
        <dgm:constr type="ctrX" for="ch" forName="balance_34" refType="w" fact="0.5"/>
        <dgm:constr type="w" for="ch" forName="balance_40" refType="w"/>
        <dgm:constr type="h" for="ch" forName="balance_40" refType="h" fact="0.157"/>
        <dgm:constr type="b" for="ch" forName="balance_40" refType="h" fact="0.85"/>
        <dgm:constr type="ctrX" for="ch" forName="balance_40" refType="w" fact="0.5"/>
        <dgm:constr type="w" for="ch" forName="balance_41" refType="w"/>
        <dgm:constr type="h" for="ch" forName="balance_41" refType="h" fact="0.157"/>
        <dgm:constr type="b" for="ch" forName="balance_41" refType="h" fact="0.85"/>
        <dgm:constr type="ctrX" for="ch" forName="balance_41" refType="w" fact="0.5"/>
        <dgm:constr type="w" for="ch" forName="balance_42" refType="w"/>
        <dgm:constr type="h" for="ch" forName="balance_42" refType="h" fact="0.157"/>
        <dgm:constr type="b" for="ch" forName="balance_42" refType="h" fact="0.85"/>
        <dgm:constr type="ctrX" for="ch" forName="balance_42" refType="w" fact="0.5"/>
        <dgm:constr type="w" for="ch" forName="balance_43" refType="w"/>
        <dgm:constr type="h" for="ch" forName="balance_43" refType="h" fact="0.157"/>
        <dgm:constr type="b" for="ch" forName="balance_43" refType="h" fact="0.85"/>
        <dgm:constr type="ctrX" for="ch" forName="balance_43" refType="w" fact="0.5"/>
        <dgm:constr type="w" for="ch" forName="balance_44" refType="w" fact="0.9"/>
        <dgm:constr type="h" for="ch" forName="balance_44" refType="h" fact="0.076"/>
        <dgm:constr type="b" for="ch" forName="balance_44" refType="h" fact="0.81"/>
        <dgm:constr type="ctrX" for="ch" forName="balance_44" refType="w" fact="0.5"/>
        <dgm:constr type="w" for="ch" forName="right_01_1" refType="w" fact="0.4"/>
        <dgm:constr type="h" for="ch" forName="right_01_1" refType="h" fact="0.7"/>
        <dgm:constr type="b" for="ch" forName="right_01_1" refType="h" fact="0.76"/>
        <dgm:constr type="ctrX" for="ch" forName="right_01_1" refType="w" fact="0.78"/>
        <dgm:constr type="w" for="ch" forName="left_10_1" refType="w" fact="0.4"/>
        <dgm:constr type="h" for="ch" forName="left_10_1" refType="h" fact="0.7"/>
        <dgm:constr type="b" for="ch" forName="left_10_1" refType="h" fact="0.76"/>
        <dgm:constr type="ctrX" for="ch" forName="left_10_1" refType="w" fact="0.22"/>
        <dgm:constr type="w" for="ch" forName="right_11_1" refType="w" fact="0.36"/>
        <dgm:constr type="h" for="ch" forName="right_11_1" refType="h" fact="0.67"/>
        <dgm:constr type="b" for="ch" forName="right_11_1" refType="h" fact="0.725"/>
        <dgm:constr type="ctrX" for="ch" forName="right_11_1" refType="w" fact="0.76"/>
        <dgm:constr type="w" for="ch" forName="left_11_1" refType="w" fact="0.36"/>
        <dgm:constr type="h" for="ch" forName="left_11_1" refType="h" fact="0.67"/>
        <dgm:constr type="b" for="ch" forName="left_11_1" refType="h" fact="0.725"/>
        <dgm:constr type="ctrX" for="ch" forName="left_11_1" refType="w" fact="0.24"/>
        <dgm:constr type="w" for="ch" forName="right_02_1" refType="w" fact="0.388"/>
        <dgm:constr type="h" for="ch" forName="right_02_1" refType="h" fact="0.36"/>
        <dgm:constr type="b" for="ch" forName="right_02_1" refType="h" fact="0.76"/>
        <dgm:constr type="ctrX" for="ch" forName="right_02_1" refType="w" fact="0.77"/>
        <dgm:constr type="w" for="ch" forName="right_02_2" refType="w" fact="0.388"/>
        <dgm:constr type="h" for="ch" forName="right_02_2" refType="h" fact="0.36"/>
        <dgm:constr type="b" for="ch" forName="right_02_2" refType="h" fact="0.42"/>
        <dgm:constr type="ctrX" for="ch" forName="right_02_2" refType="w" fact="0.79"/>
        <dgm:constr type="w" for="ch" forName="left_20_1" refType="w" fact="0.388"/>
        <dgm:constr type="h" for="ch" forName="left_20_1" refType="h" fact="0.36"/>
        <dgm:constr type="b" for="ch" forName="left_20_1" refType="h" fact="0.76"/>
        <dgm:constr type="ctrX" for="ch" forName="left_20_1" refType="w" fact="0.23"/>
        <dgm:constr type="w" for="ch" forName="left_20_2" refType="w" fact="0.388"/>
        <dgm:constr type="h" for="ch" forName="left_20_2" refType="h" fact="0.36"/>
        <dgm:constr type="b" for="ch" forName="left_20_2" refType="h" fact="0.42"/>
        <dgm:constr type="ctrX" for="ch" forName="left_20_2" refType="w" fact="0.21"/>
        <dgm:constr type="w" for="ch" forName="right_12_1" refType="w" fact="0.388"/>
        <dgm:constr type="h" for="ch" forName="right_12_1" refType="h" fact="0.36"/>
        <dgm:constr type="b" for="ch" forName="right_12_1" refType="h" fact="0.76"/>
        <dgm:constr type="ctrX" for="ch" forName="right_12_1" refType="w" fact="0.77"/>
        <dgm:constr type="w" for="ch" forName="right_12_2" refType="w" fact="0.388"/>
        <dgm:constr type="h" for="ch" forName="right_12_2" refType="h" fact="0.36"/>
        <dgm:constr type="b" for="ch" forName="right_12_2" refType="h" fact="0.42"/>
        <dgm:constr type="ctrX" for="ch" forName="right_12_2" refType="w" fact="0.79"/>
        <dgm:constr type="w" for="ch" forName="left_12_1" refType="w" fact="0.388"/>
        <dgm:constr type="h" for="ch" forName="left_12_1" refType="h" fact="0.36"/>
        <dgm:constr type="b" for="ch" forName="left_12_1" refType="h" fact="0.715"/>
        <dgm:constr type="ctrX" for="ch" forName="left_12_1" refType="w" fact="0.255"/>
        <dgm:constr type="w" for="ch" forName="right_22_1" refType="w" fact="0.36"/>
        <dgm:constr type="h" for="ch" forName="right_22_1" refType="h" fact="0.32"/>
        <dgm:constr type="b" for="ch" forName="right_22_1" refType="h" fact="0.725"/>
        <dgm:constr type="ctrX" for="ch" forName="right_22_1" refType="w" fact="0.76"/>
        <dgm:constr type="w" for="ch" forName="right_22_2" refType="w" fact="0.36"/>
        <dgm:constr type="h" for="ch" forName="right_22_2" refType="h" fact="0.32"/>
        <dgm:constr type="b" for="ch" forName="right_22_2" refType="h" fact="0.39"/>
        <dgm:constr type="ctrX" for="ch" forName="right_22_2" refType="w" fact="0.76"/>
        <dgm:constr type="w" for="ch" forName="left_22_1" refType="w" fact="0.36"/>
        <dgm:constr type="h" for="ch" forName="left_22_1" refType="h" fact="0.32"/>
        <dgm:constr type="b" for="ch" forName="left_22_1" refType="h" fact="0.725"/>
        <dgm:constr type="ctrX" for="ch" forName="left_22_1" refType="w" fact="0.24"/>
        <dgm:constr type="w" for="ch" forName="left_22_2" refType="w" fact="0.36"/>
        <dgm:constr type="h" for="ch" forName="left_22_2" refType="h" fact="0.32"/>
        <dgm:constr type="b" for="ch" forName="left_22_2" refType="h" fact="0.39"/>
        <dgm:constr type="ctrX" for="ch" forName="left_22_2" refType="w" fact="0.24"/>
        <dgm:constr type="w" for="ch" forName="left_21_1" refType="w" fact="0.388"/>
        <dgm:constr type="h" for="ch" forName="left_21_1" refType="h" fact="0.36"/>
        <dgm:constr type="b" for="ch" forName="left_21_1" refType="h" fact="0.76"/>
        <dgm:constr type="ctrX" for="ch" forName="left_21_1" refType="w" fact="0.23"/>
        <dgm:constr type="w" for="ch" forName="left_21_2" refType="w" fact="0.388"/>
        <dgm:constr type="h" for="ch" forName="left_21_2" refType="h" fact="0.36"/>
        <dgm:constr type="b" for="ch" forName="left_21_2" refType="h" fact="0.42"/>
        <dgm:constr type="ctrX" for="ch" forName="left_21_2" refType="w" fact="0.21"/>
        <dgm:constr type="w" for="ch" forName="right_21_1" refType="w" fact="0.388"/>
        <dgm:constr type="h" for="ch" forName="right_21_1" refType="h" fact="0.36"/>
        <dgm:constr type="b" for="ch" forName="right_21_1" refType="h" fact="0.715"/>
        <dgm:constr type="ctrX" for="ch" forName="right_21_1" refType="w" fact="0.745"/>
        <dgm:constr type="w" for="ch" forName="right_03_1" refType="w" fact="0.37"/>
        <dgm:constr type="h" for="ch" forName="right_03_1" refType="h" fact="0.24"/>
        <dgm:constr type="b" for="ch" forName="right_03_1" refType="h" fact="0.76"/>
        <dgm:constr type="ctrX" for="ch" forName="right_03_1" refType="w" fact="0.77"/>
        <dgm:constr type="w" for="ch" forName="right_03_2" refType="w" fact="0.37"/>
        <dgm:constr type="h" for="ch" forName="right_03_2" refType="h" fact="0.24"/>
        <dgm:constr type="b" for="ch" forName="right_03_2" refType="h" fact="0.535"/>
        <dgm:constr type="ctrX" for="ch" forName="right_03_2" refType="w" fact="0.783"/>
        <dgm:constr type="w" for="ch" forName="right_03_3" refType="w" fact="0.37"/>
        <dgm:constr type="h" for="ch" forName="right_03_3" refType="h" fact="0.24"/>
        <dgm:constr type="b" for="ch" forName="right_03_3" refType="h" fact="0.315"/>
        <dgm:constr type="ctrX" for="ch" forName="right_03_3" refType="w" fact="0.796"/>
        <dgm:constr type="w" for="ch" forName="left_30_1" refType="w" fact="0.37"/>
        <dgm:constr type="h" for="ch" forName="left_30_1" refType="h" fact="0.24"/>
        <dgm:constr type="b" for="ch" forName="left_30_1" refType="h" fact="0.76"/>
        <dgm:constr type="ctrX" for="ch" forName="left_30_1" refType="w" fact="0.23"/>
        <dgm:constr type="w" for="ch" forName="left_30_2" refType="w" fact="0.37"/>
        <dgm:constr type="h" for="ch" forName="left_30_2" refType="h" fact="0.24"/>
        <dgm:constr type="b" for="ch" forName="left_30_2" refType="h" fact="0.535"/>
        <dgm:constr type="ctrX" for="ch" forName="left_30_2" refType="w" fact="0.217"/>
        <dgm:constr type="w" for="ch" forName="left_30_3" refType="w" fact="0.37"/>
        <dgm:constr type="h" for="ch" forName="left_30_3" refType="h" fact="0.24"/>
        <dgm:constr type="b" for="ch" forName="left_30_3" refType="h" fact="0.315"/>
        <dgm:constr type="ctrX" for="ch" forName="left_30_3" refType="w" fact="0.204"/>
        <dgm:constr type="w" for="ch" forName="right_13_1" refType="w" fact="0.37"/>
        <dgm:constr type="h" for="ch" forName="right_13_1" refType="h" fact="0.24"/>
        <dgm:constr type="b" for="ch" forName="right_13_1" refType="h" fact="0.76"/>
        <dgm:constr type="ctrX" for="ch" forName="right_13_1" refType="w" fact="0.77"/>
        <dgm:constr type="w" for="ch" forName="right_13_2" refType="w" fact="0.37"/>
        <dgm:constr type="h" for="ch" forName="right_13_2" refType="h" fact="0.24"/>
        <dgm:constr type="b" for="ch" forName="right_13_2" refType="h" fact="0.535"/>
        <dgm:constr type="ctrX" for="ch" forName="right_13_2" refType="w" fact="0.783"/>
        <dgm:constr type="w" for="ch" forName="right_13_3" refType="w" fact="0.37"/>
        <dgm:constr type="h" for="ch" forName="right_13_3" refType="h" fact="0.24"/>
        <dgm:constr type="b" for="ch" forName="right_13_3" refType="h" fact="0.315"/>
        <dgm:constr type="ctrX" for="ch" forName="right_13_3" refType="w" fact="0.796"/>
        <dgm:constr type="w" for="ch" forName="left_13_1" refType="w" fact="0.37"/>
        <dgm:constr type="h" for="ch" forName="left_13_1" refType="h" fact="0.24"/>
        <dgm:constr type="b" for="ch" forName="left_13_1" refType="h" fact="0.715"/>
        <dgm:constr type="ctrX" for="ch" forName="left_13_1" refType="w" fact="0.255"/>
        <dgm:constr type="w" for="ch" forName="left_31_1" refType="w" fact="0.37"/>
        <dgm:constr type="h" for="ch" forName="left_31_1" refType="h" fact="0.24"/>
        <dgm:constr type="b" for="ch" forName="left_31_1" refType="h" fact="0.76"/>
        <dgm:constr type="ctrX" for="ch" forName="left_31_1" refType="w" fact="0.23"/>
        <dgm:constr type="w" for="ch" forName="left_31_2" refType="w" fact="0.37"/>
        <dgm:constr type="h" for="ch" forName="left_31_2" refType="h" fact="0.24"/>
        <dgm:constr type="b" for="ch" forName="left_31_2" refType="h" fact="0.535"/>
        <dgm:constr type="ctrX" for="ch" forName="left_31_2" refType="w" fact="0.217"/>
        <dgm:constr type="w" for="ch" forName="left_31_3" refType="w" fact="0.37"/>
        <dgm:constr type="h" for="ch" forName="left_31_3" refType="h" fact="0.24"/>
        <dgm:constr type="b" for="ch" forName="left_31_3" refType="h" fact="0.315"/>
        <dgm:constr type="ctrX" for="ch" forName="left_31_3" refType="w" fact="0.204"/>
        <dgm:constr type="w" for="ch" forName="right_31_1" refType="w" fact="0.37"/>
        <dgm:constr type="h" for="ch" forName="right_31_1" refType="h" fact="0.24"/>
        <dgm:constr type="b" for="ch" forName="right_31_1" refType="h" fact="0.715"/>
        <dgm:constr type="ctrX" for="ch" forName="right_31_1" refType="w" fact="0.745"/>
        <dgm:constr type="w" for="ch" forName="right_23_1" refType="w" fact="0.37"/>
        <dgm:constr type="h" for="ch" forName="right_23_1" refType="h" fact="0.24"/>
        <dgm:constr type="b" for="ch" forName="right_23_1" refType="h" fact="0.76"/>
        <dgm:constr type="ctrX" for="ch" forName="right_23_1" refType="w" fact="0.77"/>
        <dgm:constr type="w" for="ch" forName="right_23_2" refType="w" fact="0.37"/>
        <dgm:constr type="h" for="ch" forName="right_23_2" refType="h" fact="0.24"/>
        <dgm:constr type="b" for="ch" forName="right_23_2" refType="h" fact="0.535"/>
        <dgm:constr type="ctrX" for="ch" forName="right_23_2" refType="w" fact="0.783"/>
        <dgm:constr type="w" for="ch" forName="right_23_3" refType="w" fact="0.37"/>
        <dgm:constr type="h" for="ch" forName="right_23_3" refType="h" fact="0.24"/>
        <dgm:constr type="b" for="ch" forName="right_23_3" refType="h" fact="0.315"/>
        <dgm:constr type="ctrX" for="ch" forName="right_23_3" refType="w" fact="0.796"/>
        <dgm:constr type="w" for="ch" forName="left_23_1" refType="w" fact="0.37"/>
        <dgm:constr type="h" for="ch" forName="left_23_1" refType="h" fact="0.24"/>
        <dgm:constr type="b" for="ch" forName="left_23_1" refType="h" fact="0.715"/>
        <dgm:constr type="ctrX" for="ch" forName="left_23_1" refType="w" fact="0.255"/>
        <dgm:constr type="w" for="ch" forName="left_23_2" refType="w" fact="0.37"/>
        <dgm:constr type="h" for="ch" forName="left_23_2" refType="h" fact="0.24"/>
        <dgm:constr type="b" for="ch" forName="left_23_2" refType="h" fact="0.49"/>
        <dgm:constr type="ctrX" for="ch" forName="left_23_2" refType="w" fact="0.268"/>
        <dgm:constr type="w" for="ch" forName="left_32_1" refType="w" fact="0.37"/>
        <dgm:constr type="h" for="ch" forName="left_32_1" refType="h" fact="0.24"/>
        <dgm:constr type="b" for="ch" forName="left_32_1" refType="h" fact="0.76"/>
        <dgm:constr type="ctrX" for="ch" forName="left_32_1" refType="w" fact="0.23"/>
        <dgm:constr type="w" for="ch" forName="left_32_2" refType="w" fact="0.37"/>
        <dgm:constr type="h" for="ch" forName="left_32_2" refType="h" fact="0.24"/>
        <dgm:constr type="b" for="ch" forName="left_32_2" refType="h" fact="0.535"/>
        <dgm:constr type="ctrX" for="ch" forName="left_32_2" refType="w" fact="0.217"/>
        <dgm:constr type="w" for="ch" forName="left_32_3" refType="w" fact="0.37"/>
        <dgm:constr type="h" for="ch" forName="left_32_3" refType="h" fact="0.24"/>
        <dgm:constr type="b" for="ch" forName="left_32_3" refType="h" fact="0.315"/>
        <dgm:constr type="ctrX" for="ch" forName="left_32_3" refType="w" fact="0.204"/>
        <dgm:constr type="w" for="ch" forName="right_32_1" refType="w" fact="0.37"/>
        <dgm:constr type="h" for="ch" forName="right_32_1" refType="h" fact="0.24"/>
        <dgm:constr type="b" for="ch" forName="right_32_1" refType="h" fact="0.715"/>
        <dgm:constr type="ctrX" for="ch" forName="right_32_1" refType="w" fact="0.745"/>
        <dgm:constr type="w" for="ch" forName="right_32_2" refType="w" fact="0.37"/>
        <dgm:constr type="h" for="ch" forName="right_32_2" refType="h" fact="0.24"/>
        <dgm:constr type="b" for="ch" forName="right_32_2" refType="h" fact="0.49"/>
        <dgm:constr type="ctrX" for="ch" forName="right_32_2" refType="w" fact="0.732"/>
        <dgm:constr type="w" for="ch" forName="right_33_1" refType="w" fact="0.36"/>
        <dgm:constr type="h" for="ch" forName="right_33_1" refType="h" fact="0.21"/>
        <dgm:constr type="b" for="ch" forName="right_33_1" refType="h" fact="0.725"/>
        <dgm:constr type="ctrX" for="ch" forName="right_33_1" refType="w" fact="0.76"/>
        <dgm:constr type="w" for="ch" forName="right_33_2" refType="w" fact="0.36"/>
        <dgm:constr type="h" for="ch" forName="right_33_2" refType="h" fact="0.21"/>
        <dgm:constr type="b" for="ch" forName="right_33_2" refType="h" fact="0.5"/>
        <dgm:constr type="ctrX" for="ch" forName="right_33_2" refType="w" fact="0.76"/>
        <dgm:constr type="w" for="ch" forName="right_33_3" refType="w" fact="0.36"/>
        <dgm:constr type="h" for="ch" forName="right_33_3" refType="h" fact="0.21"/>
        <dgm:constr type="b" for="ch" forName="right_33_3" refType="h" fact="0.275"/>
        <dgm:constr type="ctrX" for="ch" forName="right_33_3" refType="w" fact="0.76"/>
        <dgm:constr type="w" for="ch" forName="left_33_1" refType="w" fact="0.36"/>
        <dgm:constr type="h" for="ch" forName="left_33_1" refType="h" fact="0.21"/>
        <dgm:constr type="b" for="ch" forName="left_33_1" refType="h" fact="0.725"/>
        <dgm:constr type="ctrX" for="ch" forName="left_33_1" refType="w" fact="0.24"/>
        <dgm:constr type="w" for="ch" forName="left_33_2" refType="w" fact="0.36"/>
        <dgm:constr type="h" for="ch" forName="left_33_2" refType="h" fact="0.21"/>
        <dgm:constr type="b" for="ch" forName="left_33_2" refType="h" fact="0.5"/>
        <dgm:constr type="ctrX" for="ch" forName="left_33_2" refType="w" fact="0.24"/>
        <dgm:constr type="w" for="ch" forName="left_33_3" refType="w" fact="0.36"/>
        <dgm:constr type="h" for="ch" forName="left_33_3" refType="h" fact="0.21"/>
        <dgm:constr type="b" for="ch" forName="left_33_3" refType="h" fact="0.275"/>
        <dgm:constr type="ctrX" for="ch" forName="left_33_3" refType="w" fact="0.24"/>
        <dgm:constr type="w" for="ch" forName="right_04_1" refType="w" fact="0.365"/>
        <dgm:constr type="h" for="ch" forName="right_04_1" refType="h" fact="0.185"/>
        <dgm:constr type="b" for="ch" forName="right_04_1" refType="h" fact="0.76"/>
        <dgm:constr type="ctrX" for="ch" forName="right_04_1" refType="w" fact="0.77"/>
        <dgm:constr type="w" for="ch" forName="right_04_2" refType="w" fact="0.365"/>
        <dgm:constr type="h" for="ch" forName="right_04_2" refType="h" fact="0.185"/>
        <dgm:constr type="b" for="ch" forName="right_04_2" refType="h" fact="0.595"/>
        <dgm:constr type="ctrX" for="ch" forName="right_04_2" refType="w" fact="0.78"/>
        <dgm:constr type="w" for="ch" forName="right_04_3" refType="w" fact="0.365"/>
        <dgm:constr type="h" for="ch" forName="right_04_3" refType="h" fact="0.185"/>
        <dgm:constr type="b" for="ch" forName="right_04_3" refType="h" fact="0.43"/>
        <dgm:constr type="ctrX" for="ch" forName="right_04_3" refType="w" fact="0.79"/>
        <dgm:constr type="w" for="ch" forName="right_04_4" refType="w" fact="0.365"/>
        <dgm:constr type="h" for="ch" forName="right_04_4" refType="h" fact="0.185"/>
        <dgm:constr type="b" for="ch" forName="right_04_4" refType="h" fact="0.265"/>
        <dgm:constr type="ctrX" for="ch" forName="right_04_4" refType="w" fact="0.8"/>
        <dgm:constr type="w" for="ch" forName="left_40_1" refType="w" fact="0.365"/>
        <dgm:constr type="h" for="ch" forName="left_40_1" refType="h" fact="0.185"/>
        <dgm:constr type="b" for="ch" forName="left_40_1" refType="h" fact="0.76"/>
        <dgm:constr type="ctrX" for="ch" forName="left_40_1" refType="w" fact="0.23"/>
        <dgm:constr type="w" for="ch" forName="left_40_2" refType="w" fact="0.365"/>
        <dgm:constr type="h" for="ch" forName="left_40_2" refType="h" fact="0.185"/>
        <dgm:constr type="b" for="ch" forName="left_40_2" refType="h" fact="0.595"/>
        <dgm:constr type="ctrX" for="ch" forName="left_40_2" refType="w" fact="0.22"/>
        <dgm:constr type="w" for="ch" forName="left_40_3" refType="w" fact="0.365"/>
        <dgm:constr type="h" for="ch" forName="left_40_3" refType="h" fact="0.185"/>
        <dgm:constr type="b" for="ch" forName="left_40_3" refType="h" fact="0.43"/>
        <dgm:constr type="ctrX" for="ch" forName="left_40_3" refType="w" fact="0.21"/>
        <dgm:constr type="w" for="ch" forName="left_40_4" refType="w" fact="0.365"/>
        <dgm:constr type="h" for="ch" forName="left_40_4" refType="h" fact="0.185"/>
        <dgm:constr type="b" for="ch" forName="left_40_4" refType="h" fact="0.265"/>
        <dgm:constr type="ctrX" for="ch" forName="left_40_4" refType="w" fact="0.2"/>
        <dgm:constr type="w" for="ch" forName="right_14_1" refType="w" fact="0.365"/>
        <dgm:constr type="h" for="ch" forName="right_14_1" refType="h" fact="0.185"/>
        <dgm:constr type="b" for="ch" forName="right_14_1" refType="h" fact="0.76"/>
        <dgm:constr type="ctrX" for="ch" forName="right_14_1" refType="w" fact="0.77"/>
        <dgm:constr type="w" for="ch" forName="right_14_2" refType="w" fact="0.365"/>
        <dgm:constr type="h" for="ch" forName="right_14_2" refType="h" fact="0.185"/>
        <dgm:constr type="b" for="ch" forName="right_14_2" refType="h" fact="0.595"/>
        <dgm:constr type="ctrX" for="ch" forName="right_14_2" refType="w" fact="0.78"/>
        <dgm:constr type="w" for="ch" forName="right_14_3" refType="w" fact="0.365"/>
        <dgm:constr type="h" for="ch" forName="right_14_3" refType="h" fact="0.185"/>
        <dgm:constr type="b" for="ch" forName="right_14_3" refType="h" fact="0.43"/>
        <dgm:constr type="ctrX" for="ch" forName="right_14_3" refType="w" fact="0.79"/>
        <dgm:constr type="w" for="ch" forName="right_14_4" refType="w" fact="0.365"/>
        <dgm:constr type="h" for="ch" forName="right_14_4" refType="h" fact="0.185"/>
        <dgm:constr type="b" for="ch" forName="right_14_4" refType="h" fact="0.265"/>
        <dgm:constr type="ctrX" for="ch" forName="right_14_4" refType="w" fact="0.8"/>
        <dgm:constr type="w" for="ch" forName="left_14_1" refType="w" fact="0.365"/>
        <dgm:constr type="h" for="ch" forName="left_14_1" refType="h" fact="0.185"/>
        <dgm:constr type="b" for="ch" forName="left_14_1" refType="h" fact="0.715"/>
        <dgm:constr type="ctrX" for="ch" forName="left_14_1" refType="w" fact="0.25"/>
        <dgm:constr type="w" for="ch" forName="left_41_1" refType="w" fact="0.365"/>
        <dgm:constr type="h" for="ch" forName="left_41_1" refType="h" fact="0.185"/>
        <dgm:constr type="b" for="ch" forName="left_41_1" refType="h" fact="0.76"/>
        <dgm:constr type="ctrX" for="ch" forName="left_41_1" refType="w" fact="0.23"/>
        <dgm:constr type="w" for="ch" forName="left_41_2" refType="w" fact="0.365"/>
        <dgm:constr type="h" for="ch" forName="left_41_2" refType="h" fact="0.185"/>
        <dgm:constr type="b" for="ch" forName="left_41_2" refType="h" fact="0.595"/>
        <dgm:constr type="ctrX" for="ch" forName="left_41_2" refType="w" fact="0.22"/>
        <dgm:constr type="w" for="ch" forName="left_41_3" refType="w" fact="0.365"/>
        <dgm:constr type="h" for="ch" forName="left_41_3" refType="h" fact="0.185"/>
        <dgm:constr type="b" for="ch" forName="left_41_3" refType="h" fact="0.43"/>
        <dgm:constr type="ctrX" for="ch" forName="left_41_3" refType="w" fact="0.21"/>
        <dgm:constr type="w" for="ch" forName="left_41_4" refType="w" fact="0.365"/>
        <dgm:constr type="h" for="ch" forName="left_41_4" refType="h" fact="0.185"/>
        <dgm:constr type="b" for="ch" forName="left_41_4" refType="h" fact="0.265"/>
        <dgm:constr type="ctrX" for="ch" forName="left_41_4" refType="w" fact="0.2"/>
        <dgm:constr type="w" for="ch" forName="right_41_1" refType="w" fact="0.365"/>
        <dgm:constr type="h" for="ch" forName="right_41_1" refType="h" fact="0.185"/>
        <dgm:constr type="b" for="ch" forName="right_41_1" refType="h" fact="0.715"/>
        <dgm:constr type="ctrX" for="ch" forName="right_41_1" refType="w" fact="0.75"/>
        <dgm:constr type="w" for="ch" forName="right_24_1" refType="w" fact="0.365"/>
        <dgm:constr type="h" for="ch" forName="right_24_1" refType="h" fact="0.185"/>
        <dgm:constr type="b" for="ch" forName="right_24_1" refType="h" fact="0.76"/>
        <dgm:constr type="ctrX" for="ch" forName="right_24_1" refType="w" fact="0.77"/>
        <dgm:constr type="w" for="ch" forName="right_24_2" refType="w" fact="0.365"/>
        <dgm:constr type="h" for="ch" forName="right_24_2" refType="h" fact="0.185"/>
        <dgm:constr type="b" for="ch" forName="right_24_2" refType="h" fact="0.595"/>
        <dgm:constr type="ctrX" for="ch" forName="right_24_2" refType="w" fact="0.78"/>
        <dgm:constr type="w" for="ch" forName="right_24_3" refType="w" fact="0.365"/>
        <dgm:constr type="h" for="ch" forName="right_24_3" refType="h" fact="0.185"/>
        <dgm:constr type="b" for="ch" forName="right_24_3" refType="h" fact="0.43"/>
        <dgm:constr type="ctrX" for="ch" forName="right_24_3" refType="w" fact="0.79"/>
        <dgm:constr type="w" for="ch" forName="right_24_4" refType="w" fact="0.365"/>
        <dgm:constr type="h" for="ch" forName="right_24_4" refType="h" fact="0.185"/>
        <dgm:constr type="b" for="ch" forName="right_24_4" refType="h" fact="0.265"/>
        <dgm:constr type="ctrX" for="ch" forName="right_24_4" refType="w" fact="0.8"/>
        <dgm:constr type="w" for="ch" forName="left_24_1" refType="w" fact="0.365"/>
        <dgm:constr type="h" for="ch" forName="left_24_1" refType="h" fact="0.185"/>
        <dgm:constr type="b" for="ch" forName="left_24_1" refType="h" fact="0.715"/>
        <dgm:constr type="ctrX" for="ch" forName="left_24_1" refType="w" fact="0.25"/>
        <dgm:constr type="w" for="ch" forName="left_24_2" refType="w" fact="0.365"/>
        <dgm:constr type="h" for="ch" forName="left_24_2" refType="h" fact="0.185"/>
        <dgm:constr type="b" for="ch" forName="left_24_2" refType="h" fact="0.55"/>
        <dgm:constr type="ctrX" for="ch" forName="left_24_2" refType="w" fact="0.26"/>
        <dgm:constr type="w" for="ch" forName="left_42_1" refType="w" fact="0.365"/>
        <dgm:constr type="h" for="ch" forName="left_42_1" refType="h" fact="0.185"/>
        <dgm:constr type="b" for="ch" forName="left_42_1" refType="h" fact="0.76"/>
        <dgm:constr type="ctrX" for="ch" forName="left_42_1" refType="w" fact="0.23"/>
        <dgm:constr type="w" for="ch" forName="left_42_2" refType="w" fact="0.365"/>
        <dgm:constr type="h" for="ch" forName="left_42_2" refType="h" fact="0.185"/>
        <dgm:constr type="b" for="ch" forName="left_42_2" refType="h" fact="0.595"/>
        <dgm:constr type="ctrX" for="ch" forName="left_42_2" refType="w" fact="0.22"/>
        <dgm:constr type="w" for="ch" forName="left_42_3" refType="w" fact="0.365"/>
        <dgm:constr type="h" for="ch" forName="left_42_3" refType="h" fact="0.185"/>
        <dgm:constr type="b" for="ch" forName="left_42_3" refType="h" fact="0.43"/>
        <dgm:constr type="ctrX" for="ch" forName="left_42_3" refType="w" fact="0.21"/>
        <dgm:constr type="w" for="ch" forName="left_42_4" refType="w" fact="0.365"/>
        <dgm:constr type="h" for="ch" forName="left_42_4" refType="h" fact="0.185"/>
        <dgm:constr type="b" for="ch" forName="left_42_4" refType="h" fact="0.265"/>
        <dgm:constr type="ctrX" for="ch" forName="left_42_4" refType="w" fact="0.2"/>
        <dgm:constr type="w" for="ch" forName="right_42_1" refType="w" fact="0.365"/>
        <dgm:constr type="h" for="ch" forName="right_42_1" refType="h" fact="0.185"/>
        <dgm:constr type="b" for="ch" forName="right_42_1" refType="h" fact="0.715"/>
        <dgm:constr type="ctrX" for="ch" forName="right_42_1" refType="w" fact="0.75"/>
        <dgm:constr type="w" for="ch" forName="right_42_2" refType="w" fact="0.365"/>
        <dgm:constr type="h" for="ch" forName="right_42_2" refType="h" fact="0.185"/>
        <dgm:constr type="b" for="ch" forName="right_42_2" refType="h" fact="0.55"/>
        <dgm:constr type="ctrX" for="ch" forName="right_42_2" refType="w" fact="0.74"/>
        <dgm:constr type="w" for="ch" forName="right_34_1" refType="w" fact="0.365"/>
        <dgm:constr type="h" for="ch" forName="right_34_1" refType="h" fact="0.185"/>
        <dgm:constr type="b" for="ch" forName="right_34_1" refType="h" fact="0.76"/>
        <dgm:constr type="ctrX" for="ch" forName="right_34_1" refType="w" fact="0.77"/>
        <dgm:constr type="w" for="ch" forName="right_34_2" refType="w" fact="0.365"/>
        <dgm:constr type="h" for="ch" forName="right_34_2" refType="h" fact="0.185"/>
        <dgm:constr type="b" for="ch" forName="right_34_2" refType="h" fact="0.595"/>
        <dgm:constr type="ctrX" for="ch" forName="right_34_2" refType="w" fact="0.78"/>
        <dgm:constr type="w" for="ch" forName="right_34_3" refType="w" fact="0.365"/>
        <dgm:constr type="h" for="ch" forName="right_34_3" refType="h" fact="0.185"/>
        <dgm:constr type="b" for="ch" forName="right_34_3" refType="h" fact="0.43"/>
        <dgm:constr type="ctrX" for="ch" forName="right_34_3" refType="w" fact="0.79"/>
        <dgm:constr type="w" for="ch" forName="right_34_4" refType="w" fact="0.365"/>
        <dgm:constr type="h" for="ch" forName="right_34_4" refType="h" fact="0.185"/>
        <dgm:constr type="b" for="ch" forName="right_34_4" refType="h" fact="0.265"/>
        <dgm:constr type="ctrX" for="ch" forName="right_34_4" refType="w" fact="0.8"/>
        <dgm:constr type="w" for="ch" forName="left_34_1" refType="w" fact="0.365"/>
        <dgm:constr type="h" for="ch" forName="left_34_1" refType="h" fact="0.185"/>
        <dgm:constr type="b" for="ch" forName="left_34_1" refType="h" fact="0.715"/>
        <dgm:constr type="ctrX" for="ch" forName="left_34_1" refType="w" fact="0.25"/>
        <dgm:constr type="w" for="ch" forName="left_34_2" refType="w" fact="0.365"/>
        <dgm:constr type="h" for="ch" forName="left_34_2" refType="h" fact="0.185"/>
        <dgm:constr type="b" for="ch" forName="left_34_2" refType="h" fact="0.55"/>
        <dgm:constr type="ctrX" for="ch" forName="left_34_2" refType="w" fact="0.26"/>
        <dgm:constr type="w" for="ch" forName="left_34_3" refType="w" fact="0.365"/>
        <dgm:constr type="h" for="ch" forName="left_34_3" refType="h" fact="0.185"/>
        <dgm:constr type="b" for="ch" forName="left_34_3" refType="h" fact="0.385"/>
        <dgm:constr type="ctrX" for="ch" forName="left_34_3" refType="w" fact="0.27"/>
        <dgm:constr type="w" for="ch" forName="left_43_1" refType="w" fact="0.365"/>
        <dgm:constr type="h" for="ch" forName="left_43_1" refType="h" fact="0.185"/>
        <dgm:constr type="b" for="ch" forName="left_43_1" refType="h" fact="0.76"/>
        <dgm:constr type="ctrX" for="ch" forName="left_43_1" refType="w" fact="0.23"/>
        <dgm:constr type="w" for="ch" forName="left_43_2" refType="w" fact="0.365"/>
        <dgm:constr type="h" for="ch" forName="left_43_2" refType="h" fact="0.185"/>
        <dgm:constr type="b" for="ch" forName="left_43_2" refType="h" fact="0.595"/>
        <dgm:constr type="ctrX" for="ch" forName="left_43_2" refType="w" fact="0.22"/>
        <dgm:constr type="w" for="ch" forName="left_43_3" refType="w" fact="0.365"/>
        <dgm:constr type="h" for="ch" forName="left_43_3" refType="h" fact="0.185"/>
        <dgm:constr type="b" for="ch" forName="left_43_3" refType="h" fact="0.43"/>
        <dgm:constr type="ctrX" for="ch" forName="left_43_3" refType="w" fact="0.21"/>
        <dgm:constr type="w" for="ch" forName="left_43_4" refType="w" fact="0.365"/>
        <dgm:constr type="h" for="ch" forName="left_43_4" refType="h" fact="0.185"/>
        <dgm:constr type="b" for="ch" forName="left_43_4" refType="h" fact="0.265"/>
        <dgm:constr type="ctrX" for="ch" forName="left_43_4" refType="w" fact="0.2"/>
        <dgm:constr type="w" for="ch" forName="right_43_1" refType="w" fact="0.365"/>
        <dgm:constr type="h" for="ch" forName="right_43_1" refType="h" fact="0.185"/>
        <dgm:constr type="b" for="ch" forName="right_43_1" refType="h" fact="0.715"/>
        <dgm:constr type="ctrX" for="ch" forName="right_43_1" refType="w" fact="0.75"/>
        <dgm:constr type="w" for="ch" forName="right_43_2" refType="w" fact="0.365"/>
        <dgm:constr type="h" for="ch" forName="right_43_2" refType="h" fact="0.185"/>
        <dgm:constr type="b" for="ch" forName="right_43_2" refType="h" fact="0.55"/>
        <dgm:constr type="ctrX" for="ch" forName="right_43_2" refType="w" fact="0.74"/>
        <dgm:constr type="w" for="ch" forName="right_43_3" refType="w" fact="0.365"/>
        <dgm:constr type="h" for="ch" forName="right_43_3" refType="h" fact="0.185"/>
        <dgm:constr type="b" for="ch" forName="right_43_3" refType="h" fact="0.385"/>
        <dgm:constr type="ctrX" for="ch" forName="right_43_3" refType="w" fact="0.73"/>
        <dgm:constr type="w" for="ch" forName="right_44_1" refType="w" fact="0.36"/>
        <dgm:constr type="h" for="ch" forName="right_44_1" refType="h" fact="0.154"/>
        <dgm:constr type="b" for="ch" forName="right_44_1" refType="h" fact="0.725"/>
        <dgm:constr type="ctrX" for="ch" forName="right_44_1" refType="w" fact="0.76"/>
        <dgm:constr type="w" for="ch" forName="right_44_2" refType="w" fact="0.36"/>
        <dgm:constr type="h" for="ch" forName="right_44_2" refType="h" fact="0.154"/>
        <dgm:constr type="b" for="ch" forName="right_44_2" refType="h" fact="0.559"/>
        <dgm:constr type="ctrX" for="ch" forName="right_44_2" refType="w" fact="0.76"/>
        <dgm:constr type="w" for="ch" forName="right_44_3" refType="w" fact="0.36"/>
        <dgm:constr type="h" for="ch" forName="right_44_3" refType="h" fact="0.154"/>
        <dgm:constr type="b" for="ch" forName="right_44_3" refType="h" fact="0.393"/>
        <dgm:constr type="ctrX" for="ch" forName="right_44_3" refType="w" fact="0.76"/>
        <dgm:constr type="w" for="ch" forName="right_44_4" refType="w" fact="0.36"/>
        <dgm:constr type="h" for="ch" forName="right_44_4" refType="h" fact="0.154"/>
        <dgm:constr type="b" for="ch" forName="right_44_4" refType="h" fact="0.224"/>
        <dgm:constr type="ctrX" for="ch" forName="right_44_4" refType="w" fact="0.76"/>
        <dgm:constr type="w" for="ch" forName="left_44_1" refType="w" fact="0.36"/>
        <dgm:constr type="h" for="ch" forName="left_44_1" refType="h" fact="0.154"/>
        <dgm:constr type="b" for="ch" forName="left_44_1" refType="h" fact="0.725"/>
        <dgm:constr type="ctrX" for="ch" forName="left_44_1" refType="w" fact="0.24"/>
        <dgm:constr type="w" for="ch" forName="left_44_2" refType="w" fact="0.36"/>
        <dgm:constr type="h" for="ch" forName="left_44_2" refType="h" fact="0.154"/>
        <dgm:constr type="b" for="ch" forName="left_44_2" refType="h" fact="0.559"/>
        <dgm:constr type="ctrX" for="ch" forName="left_44_2" refType="w" fact="0.24"/>
        <dgm:constr type="w" for="ch" forName="left_44_3" refType="w" fact="0.36"/>
        <dgm:constr type="h" for="ch" forName="left_44_3" refType="h" fact="0.154"/>
        <dgm:constr type="b" for="ch" forName="left_44_3" refType="h" fact="0.393"/>
        <dgm:constr type="ctrX" for="ch" forName="left_44_3" refType="w" fact="0.24"/>
        <dgm:constr type="w" for="ch" forName="left_44_4" refType="w" fact="0.36"/>
        <dgm:constr type="h" for="ch" forName="left_44_4" refType="h" fact="0.154"/>
        <dgm:constr type="b" for="ch" forName="left_44_4" refType="h" fact="0.224"/>
        <dgm:constr type="ctrX" for="ch" forName="left_44_4" refType="w" fact="0.24"/>
      </dgm:constrLst>
      <dgm:ruleLst/>
      <dgm:layoutNode name="dummyMaxCanvas_ChildArea">
        <dgm:alg type="sp"/>
        <dgm:shape xmlns:r="http://schemas.openxmlformats.org/officeDocument/2006/relationships" r:blip="">
          <dgm:adjLst/>
        </dgm:shape>
        <dgm:presOf/>
        <dgm:constrLst/>
        <dgm:ruleLst/>
      </dgm:layoutNode>
      <dgm:layoutNode name="fulcrum" styleLbl="alignAccFollowNode1">
        <dgm:alg type="sp"/>
        <dgm:shape xmlns:r="http://schemas.openxmlformats.org/officeDocument/2006/relationships" type="triangle" r:blip="">
          <dgm:adjLst/>
        </dgm:shape>
        <dgm:presOf/>
        <dgm:constrLst/>
        <dgm:ruleLst/>
      </dgm:layoutNode>
      <dgm:choose name="Name0">
        <dgm:if name="Name1" axis="ch ch" ptType="node node" st="1 1" cnt="1 0" func="cnt" op="equ" val="0">
          <dgm:choose name="Name2">
            <dgm:if name="Name3" axis="ch ch" ptType="node node" st="2 1" cnt="1 0" func="cnt" op="equ" val="0">
              <dgm:layoutNode name="balance_00" styleLbl="alignAccFollowNode1">
                <dgm:varLst>
                  <dgm:bulletEnabled val="1"/>
                </dgm:varLst>
                <dgm:alg type="sp"/>
                <dgm:shape xmlns:r="http://schemas.openxmlformats.org/officeDocument/2006/relationships" type="rect" r:blip="">
                  <dgm:adjLst/>
                </dgm:shape>
                <dgm:presOf/>
                <dgm:constrLst/>
                <dgm:ruleLst/>
              </dgm:layoutNode>
            </dgm:if>
            <dgm:else name="Name4">
              <dgm:choose name="Name5">
                <dgm:if name="Name6" axis="ch ch" ptType="node node" st="2 1" cnt="1 0" func="cnt" op="equ" val="1">
                  <dgm:layoutNode name="balance_01" styleLbl="alignAccFollowNode1">
                    <dgm:varLst>
                      <dgm:bulletEnabled val="1"/>
                    </dgm:varLst>
                    <dgm:alg type="sp"/>
                    <dgm:shape xmlns:r="http://schemas.openxmlformats.org/officeDocument/2006/relationships" rot="4" type="rect" r:blip="">
                      <dgm:adjLst/>
                    </dgm:shape>
                    <dgm:presOf/>
                    <dgm:constrLst/>
                    <dgm:ruleLst/>
                  </dgm:layoutNode>
                  <dgm:layoutNode name="right_0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
                  <dgm:choose name="Name8">
                    <dgm:if name="Name9" axis="ch ch" ptType="node node" st="2 1" cnt="1 0" func="cnt" op="equ" val="2">
                      <dgm:layoutNode name="balance_02" styleLbl="alignAccFollowNode1">
                        <dgm:varLst>
                          <dgm:bulletEnabled val="1"/>
                        </dgm:varLst>
                        <dgm:alg type="sp"/>
                        <dgm:shape xmlns:r="http://schemas.openxmlformats.org/officeDocument/2006/relationships" rot="4" type="rect" r:blip="">
                          <dgm:adjLst/>
                        </dgm:shape>
                        <dgm:presOf/>
                        <dgm:constrLst/>
                        <dgm:ruleLst/>
                      </dgm:layoutNode>
                      <dgm:layoutNode name="right_0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
                      <dgm:choose name="Name11">
                        <dgm:if name="Name12" axis="ch ch" ptType="node node" st="2 1" cnt="1 0" func="cnt" op="equ" val="3">
                          <dgm:layoutNode name="balance_03" styleLbl="alignAccFollowNode1">
                            <dgm:varLst>
                              <dgm:bulletEnabled val="1"/>
                            </dgm:varLst>
                            <dgm:alg type="sp"/>
                            <dgm:shape xmlns:r="http://schemas.openxmlformats.org/officeDocument/2006/relationships" rot="4" type="rect" r:blip="">
                              <dgm:adjLst/>
                            </dgm:shape>
                            <dgm:presOf/>
                            <dgm:constrLst/>
                            <dgm:ruleLst/>
                          </dgm:layoutNode>
                          <dgm:layoutNode name="right_0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3">
                          <dgm:choose name="Name14">
                            <dgm:if name="Name15" axis="ch ch" ptType="node node" st="2 1" cnt="1 0" func="cnt" op="gte" val="4">
                              <dgm:layoutNode name="balance_04" styleLbl="alignAccFollowNode1">
                                <dgm:varLst>
                                  <dgm:bulletEnabled val="1"/>
                                </dgm:varLst>
                                <dgm:alg type="sp"/>
                                <dgm:shape xmlns:r="http://schemas.openxmlformats.org/officeDocument/2006/relationships" rot="4" type="rect" r:blip="">
                                  <dgm:adjLst/>
                                </dgm:shape>
                                <dgm:presOf/>
                                <dgm:constrLst/>
                                <dgm:ruleLst/>
                              </dgm:layoutNode>
                              <dgm:layoutNode name="right_0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0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6"/>
                          </dgm:choose>
                        </dgm:else>
                      </dgm:choose>
                    </dgm:else>
                  </dgm:choose>
                </dgm:else>
              </dgm:choose>
            </dgm:else>
          </dgm:choose>
        </dgm:if>
        <dgm:else name="Name17">
          <dgm:choose name="Name18">
            <dgm:if name="Name19" axis="ch ch" ptType="node node" st="1 1" cnt="1 0" func="cnt" op="equ" val="1">
              <dgm:choose name="Name20">
                <dgm:if name="Name21" axis="ch ch" ptType="node node" st="2 1" cnt="1 0" func="cnt" op="equ" val="0">
                  <dgm:layoutNode name="balance_10" styleLbl="alignAccFollowNode1">
                    <dgm:varLst>
                      <dgm:bulletEnabled val="1"/>
                    </dgm:varLst>
                    <dgm:alg type="sp"/>
                    <dgm:shape xmlns:r="http://schemas.openxmlformats.org/officeDocument/2006/relationships" rot="-4" type="rect" r:blip="">
                      <dgm:adjLst/>
                    </dgm:shape>
                    <dgm:presOf/>
                    <dgm:constrLst/>
                    <dgm:ruleLst/>
                  </dgm:layoutNode>
                  <dgm:layoutNode name="left_1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2">
                  <dgm:choose name="Name23">
                    <dgm:if name="Name24" axis="ch ch" ptType="node node" st="2 1" cnt="1 0" func="cnt" op="equ" val="1">
                      <dgm:layoutNode name="balance_11" styleLbl="alignAccFollowNode1">
                        <dgm:varLst>
                          <dgm:bulletEnabled val="1"/>
                        </dgm:varLst>
                        <dgm:alg type="sp"/>
                        <dgm:shape xmlns:r="http://schemas.openxmlformats.org/officeDocument/2006/relationships" type="rect" r:blip="">
                          <dgm:adjLst/>
                        </dgm:shape>
                        <dgm:presOf/>
                        <dgm:constrLst/>
                        <dgm:ruleLst/>
                      </dgm:layoutNode>
                      <dgm:layoutNode name="left_11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1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5">
                      <dgm:choose name="Name26">
                        <dgm:if name="Name27" axis="ch ch" ptType="node node" st="2 1" cnt="1 0" func="cnt" op="equ" val="2">
                          <dgm:layoutNode name="balance_12" styleLbl="alignAccFollowNode1">
                            <dgm:varLst>
                              <dgm:bulletEnabled val="1"/>
                            </dgm:varLst>
                            <dgm:alg type="sp"/>
                            <dgm:shape xmlns:r="http://schemas.openxmlformats.org/officeDocument/2006/relationships" rot="4" type="rect" r:blip="">
                              <dgm:adjLst/>
                            </dgm:shape>
                            <dgm:presOf/>
                            <dgm:constrLst/>
                            <dgm:ruleLst/>
                          </dgm:layoutNode>
                          <dgm:layoutNode name="right_1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8">
                          <dgm:choose name="Name29">
                            <dgm:if name="Name30" axis="ch ch" ptType="node node" st="2 1" cnt="1 0" func="cnt" op="equ" val="3">
                              <dgm:layoutNode name="balance_13" styleLbl="alignAccFollowNode1">
                                <dgm:varLst>
                                  <dgm:bulletEnabled val="1"/>
                                </dgm:varLst>
                                <dgm:alg type="sp"/>
                                <dgm:shape xmlns:r="http://schemas.openxmlformats.org/officeDocument/2006/relationships" rot="4" type="rect" r:blip="">
                                  <dgm:adjLst/>
                                </dgm:shape>
                                <dgm:presOf/>
                                <dgm:constrLst/>
                                <dgm:ruleLst/>
                              </dgm:layoutNode>
                              <dgm:layoutNode name="right_1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1">
                              <dgm:choose name="Name32">
                                <dgm:if name="Name33" axis="ch ch" ptType="node node" st="2 1" cnt="1 0" func="cnt" op="gte" val="4">
                                  <dgm:layoutNode name="balance_14" styleLbl="alignAccFollowNode1">
                                    <dgm:varLst>
                                      <dgm:bulletEnabled val="1"/>
                                    </dgm:varLst>
                                    <dgm:alg type="sp"/>
                                    <dgm:shape xmlns:r="http://schemas.openxmlformats.org/officeDocument/2006/relationships" rot="4" type="rect" r:blip="">
                                      <dgm:adjLst/>
                                    </dgm:shape>
                                    <dgm:presOf/>
                                    <dgm:constrLst/>
                                    <dgm:ruleLst/>
                                  </dgm:layoutNode>
                                  <dgm:layoutNode name="right_1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1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1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34"/>
                              </dgm:choose>
                            </dgm:else>
                          </dgm:choose>
                        </dgm:else>
                      </dgm:choose>
                    </dgm:else>
                  </dgm:choose>
                </dgm:else>
              </dgm:choose>
            </dgm:if>
            <dgm:else name="Name35">
              <dgm:choose name="Name36">
                <dgm:if name="Name37" axis="ch ch" ptType="node node" st="1 1" cnt="1 0" func="cnt" op="equ" val="2">
                  <dgm:choose name="Name38">
                    <dgm:if name="Name39" axis="ch ch" ptType="node node" st="2 1" cnt="1 0" func="cnt" op="equ" val="0">
                      <dgm:layoutNode name="balance_20" styleLbl="alignAccFollowNode1">
                        <dgm:varLst>
                          <dgm:bulletEnabled val="1"/>
                        </dgm:varLst>
                        <dgm:alg type="sp"/>
                        <dgm:shape xmlns:r="http://schemas.openxmlformats.org/officeDocument/2006/relationships" rot="-4" type="rect" r:blip="">
                          <dgm:adjLst/>
                        </dgm:shape>
                        <dgm:presOf/>
                        <dgm:constrLst/>
                        <dgm:ruleLst/>
                      </dgm:layoutNode>
                      <dgm:layoutNode name="left_2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0">
                      <dgm:choose name="Name41">
                        <dgm:if name="Name42" axis="ch ch" ptType="node node" st="2 1" cnt="1 0" func="cnt" op="equ" val="1">
                          <dgm:layoutNode name="balance_21" styleLbl="alignAccFollowNode1">
                            <dgm:varLst>
                              <dgm:bulletEnabled val="1"/>
                            </dgm:varLst>
                            <dgm:alg type="sp"/>
                            <dgm:shape xmlns:r="http://schemas.openxmlformats.org/officeDocument/2006/relationships" rot="-4" type="rect" r:blip="">
                              <dgm:adjLst/>
                            </dgm:shape>
                            <dgm:presOf/>
                            <dgm:constrLst/>
                            <dgm:ruleLst/>
                          </dgm:layoutNode>
                          <dgm:layoutNode name="left_2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3">
                          <dgm:choose name="Name44">
                            <dgm:if name="Name45" axis="ch ch" ptType="node node" st="2 1" cnt="1 0" func="cnt" op="equ" val="2">
                              <dgm:layoutNode name="balance_22" styleLbl="alignAccFollowNode1">
                                <dgm:varLst>
                                  <dgm:bulletEnabled val="1"/>
                                </dgm:varLst>
                                <dgm:alg type="sp"/>
                                <dgm:shape xmlns:r="http://schemas.openxmlformats.org/officeDocument/2006/relationships" type="rect" r:blip="">
                                  <dgm:adjLst/>
                                </dgm:shape>
                                <dgm:presOf/>
                                <dgm:constrLst/>
                                <dgm:ruleLst/>
                              </dgm:layoutNode>
                              <dgm:layoutNode name="right_22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2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2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6">
                              <dgm:choose name="Name47">
                                <dgm:if name="Name48" axis="ch ch" ptType="node node" st="2 1" cnt="1 0" func="cnt" op="equ" val="3">
                                  <dgm:layoutNode name="balance_23" styleLbl="alignAccFollowNode1">
                                    <dgm:varLst>
                                      <dgm:bulletEnabled val="1"/>
                                    </dgm:varLst>
                                    <dgm:alg type="sp"/>
                                    <dgm:shape xmlns:r="http://schemas.openxmlformats.org/officeDocument/2006/relationships" rot="4" type="rect" r:blip="">
                                      <dgm:adjLst/>
                                    </dgm:shape>
                                    <dgm:presOf/>
                                    <dgm:constrLst/>
                                    <dgm:ruleLst/>
                                  </dgm:layoutNode>
                                  <dgm:layoutNode name="right_2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9">
                                  <dgm:choose name="Name50">
                                    <dgm:if name="Name51" axis="ch ch" ptType="node node" st="2 1" cnt="1 0" func="cnt" op="gte" val="4">
                                      <dgm:layoutNode name="balance_24" styleLbl="alignAccFollowNode1">
                                        <dgm:varLst>
                                          <dgm:bulletEnabled val="1"/>
                                        </dgm:varLst>
                                        <dgm:alg type="sp"/>
                                        <dgm:shape xmlns:r="http://schemas.openxmlformats.org/officeDocument/2006/relationships" rot="4" type="rect" r:blip="">
                                          <dgm:adjLst/>
                                        </dgm:shape>
                                        <dgm:presOf/>
                                        <dgm:constrLst/>
                                        <dgm:ruleLst/>
                                      </dgm:layoutNode>
                                      <dgm:layoutNode name="right_2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2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2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2"/>
                                  </dgm:choose>
                                </dgm:else>
                              </dgm:choose>
                            </dgm:else>
                          </dgm:choose>
                        </dgm:else>
                      </dgm:choose>
                    </dgm:else>
                  </dgm:choose>
                </dgm:if>
                <dgm:else name="Name53">
                  <dgm:choose name="Name54">
                    <dgm:if name="Name55" axis="ch ch" ptType="node node" st="1 1" cnt="1 0" func="cnt" op="equ" val="3">
                      <dgm:choose name="Name56">
                        <dgm:if name="Name57" axis="ch ch" ptType="node node" st="2 1" cnt="1 0" func="cnt" op="equ" val="0">
                          <dgm:layoutNode name="balance_30" styleLbl="alignAccFollowNode1">
                            <dgm:varLst>
                              <dgm:bulletEnabled val="1"/>
                            </dgm:varLst>
                            <dgm:alg type="sp"/>
                            <dgm:shape xmlns:r="http://schemas.openxmlformats.org/officeDocument/2006/relationships" rot="-4" type="rect" r:blip="">
                              <dgm:adjLst/>
                            </dgm:shape>
                            <dgm:presOf/>
                            <dgm:constrLst/>
                            <dgm:ruleLst/>
                          </dgm:layoutNode>
                          <dgm:layoutNode name="left_3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name="Name59">
                            <dgm:if name="Name60" axis="ch ch" ptType="node node" st="2 1" cnt="1 0" func="cnt" op="equ" val="1">
                              <dgm:layoutNode name="balance_31" styleLbl="alignAccFollowNode1">
                                <dgm:varLst>
                                  <dgm:bulletEnabled val="1"/>
                                </dgm:varLst>
                                <dgm:alg type="sp"/>
                                <dgm:shape xmlns:r="http://schemas.openxmlformats.org/officeDocument/2006/relationships" rot="-4" type="rect" r:blip="">
                                  <dgm:adjLst/>
                                </dgm:shape>
                                <dgm:presOf/>
                                <dgm:constrLst/>
                                <dgm:ruleLst/>
                              </dgm:layoutNode>
                              <dgm:layoutNode name="left_3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1">
                              <dgm:choose name="Name62">
                                <dgm:if name="Name63" axis="ch ch" ptType="node node" st="2 1" cnt="1 0" func="cnt" op="equ" val="2">
                                  <dgm:layoutNode name="balance_32" styleLbl="alignAccFollowNode1">
                                    <dgm:varLst>
                                      <dgm:bulletEnabled val="1"/>
                                    </dgm:varLst>
                                    <dgm:alg type="sp"/>
                                    <dgm:shape xmlns:r="http://schemas.openxmlformats.org/officeDocument/2006/relationships" rot="-4" type="rect" r:blip="">
                                      <dgm:adjLst/>
                                    </dgm:shape>
                                    <dgm:presOf/>
                                    <dgm:constrLst/>
                                    <dgm:ruleLst/>
                                  </dgm:layoutNode>
                                  <dgm:layoutNode name="left_3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4">
                                  <dgm:choose name="Name65">
                                    <dgm:if name="Name66" axis="ch ch" ptType="node node" st="2 1" cnt="1 0" func="cnt" op="equ" val="3">
                                      <dgm:layoutNode name="balance_33" styleLbl="alignAccFollowNode1">
                                        <dgm:varLst>
                                          <dgm:bulletEnabled val="1"/>
                                        </dgm:varLst>
                                        <dgm:alg type="sp"/>
                                        <dgm:shape xmlns:r="http://schemas.openxmlformats.org/officeDocument/2006/relationships" type="rect" r:blip="">
                                          <dgm:adjLst/>
                                        </dgm:shape>
                                        <dgm:presOf/>
                                        <dgm:constrLst/>
                                        <dgm:ruleLst/>
                                      </dgm:layoutNode>
                                      <dgm:layoutNode name="right_33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3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3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7">
                                      <dgm:choose name="Name68">
                                        <dgm:if name="Name69" axis="ch ch" ptType="node node" st="2 1" cnt="1 0" func="cnt" op="gte" val="4">
                                          <dgm:layoutNode name="balance_34" styleLbl="alignAccFollowNode1">
                                            <dgm:varLst>
                                              <dgm:bulletEnabled val="1"/>
                                            </dgm:varLst>
                                            <dgm:alg type="sp"/>
                                            <dgm:shape xmlns:r="http://schemas.openxmlformats.org/officeDocument/2006/relationships" rot="4" type="rect" r:blip="">
                                              <dgm:adjLst/>
                                            </dgm:shape>
                                            <dgm:presOf/>
                                            <dgm:constrLst/>
                                            <dgm:ruleLst/>
                                          </dgm:layoutNode>
                                          <dgm:layoutNode name="right_34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34_4" styleLbl="node1">
                                            <dgm:varLst>
                                              <dgm:bulletEnabled val="1"/>
                                            </dgm:varLst>
                                            <dgm:alg type="tx"/>
                                            <dgm:shape xmlns:r="http://schemas.openxmlformats.org/officeDocument/2006/relationships" rot="4"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34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0"/>
                                      </dgm:choose>
                                    </dgm:else>
                                  </dgm:choose>
                                </dgm:else>
                              </dgm:choose>
                            </dgm:else>
                          </dgm:choose>
                        </dgm:else>
                      </dgm:choose>
                    </dgm:if>
                    <dgm:else name="Name71">
                      <dgm:choose name="Name72">
                        <dgm:if name="Name73" axis="ch ch" ptType="node node" st="1 1" cnt="1 0" func="cnt" op="gte" val="4">
                          <dgm:choose name="Name74">
                            <dgm:if name="Name75" axis="ch ch" ptType="node node" st="2 1" cnt="1 0" func="cnt" op="equ" val="0">
                              <dgm:layoutNode name="balance_40" styleLbl="alignAccFollowNode1">
                                <dgm:varLst>
                                  <dgm:bulletEnabled val="1"/>
                                </dgm:varLst>
                                <dgm:alg type="sp"/>
                                <dgm:shape xmlns:r="http://schemas.openxmlformats.org/officeDocument/2006/relationships" rot="-4" type="rect" r:blip="">
                                  <dgm:adjLst/>
                                </dgm:shape>
                                <dgm:presOf/>
                                <dgm:constrLst/>
                                <dgm:ruleLst/>
                              </dgm:layoutNode>
                              <dgm:layoutNode name="left_40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0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6">
                              <dgm:choose name="Name77">
                                <dgm:if name="Name78" axis="ch ch" ptType="node node" st="2 1" cnt="1 0" func="cnt" op="equ" val="1">
                                  <dgm:layoutNode name="balance_41" styleLbl="alignAccFollowNode1">
                                    <dgm:varLst>
                                      <dgm:bulletEnabled val="1"/>
                                    </dgm:varLst>
                                    <dgm:alg type="sp"/>
                                    <dgm:shape xmlns:r="http://schemas.openxmlformats.org/officeDocument/2006/relationships" rot="-4" type="rect" r:blip="">
                                      <dgm:adjLst/>
                                    </dgm:shape>
                                    <dgm:presOf/>
                                    <dgm:constrLst/>
                                    <dgm:ruleLst/>
                                  </dgm:layoutNode>
                                  <dgm:layoutNode name="left_41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1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1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name="Name80">
                                    <dgm:if name="Name81" axis="ch ch" ptType="node node" st="2 1" cnt="1 0" func="cnt" op="equ" val="2">
                                      <dgm:layoutNode name="balance_42" styleLbl="alignAccFollowNode1">
                                        <dgm:varLst>
                                          <dgm:bulletEnabled val="1"/>
                                        </dgm:varLst>
                                        <dgm:alg type="sp"/>
                                        <dgm:shape xmlns:r="http://schemas.openxmlformats.org/officeDocument/2006/relationships" rot="-4" type="rect" r:blip="">
                                          <dgm:adjLst/>
                                        </dgm:shape>
                                        <dgm:presOf/>
                                        <dgm:constrLst/>
                                        <dgm:ruleLst/>
                                      </dgm:layoutNode>
                                      <dgm:layoutNode name="left_42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2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2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2">
                                      <dgm:choose name="Name83">
                                        <dgm:if name="Name84" axis="ch ch" ptType="node node" st="2 1" cnt="1 0" func="cnt" op="equ" val="3">
                                          <dgm:layoutNode name="balance_43" styleLbl="alignAccFollowNode1">
                                            <dgm:varLst>
                                              <dgm:bulletEnabled val="1"/>
                                            </dgm:varLst>
                                            <dgm:alg type="sp"/>
                                            <dgm:shape xmlns:r="http://schemas.openxmlformats.org/officeDocument/2006/relationships" rot="-4" type="rect" r:blip="">
                                              <dgm:adjLst/>
                                            </dgm:shape>
                                            <dgm:presOf/>
                                            <dgm:constrLst/>
                                            <dgm:ruleLst/>
                                          </dgm:layoutNode>
                                          <dgm:layoutNode name="left_43_1" styleLbl="node1">
                                            <dgm:varLst>
                                              <dgm:bulletEnabled val="1"/>
                                            </dgm:varLst>
                                            <dgm:alg type="tx"/>
                                            <dgm:shape xmlns:r="http://schemas.openxmlformats.org/officeDocument/2006/relationships" rot="-4"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2" styleLbl="node1">
                                            <dgm:varLst>
                                              <dgm:bulletEnabled val="1"/>
                                            </dgm:varLst>
                                            <dgm:alg type="tx"/>
                                            <dgm:shape xmlns:r="http://schemas.openxmlformats.org/officeDocument/2006/relationships" rot="-4"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3" styleLbl="node1">
                                            <dgm:varLst>
                                              <dgm:bulletEnabled val="1"/>
                                            </dgm:varLst>
                                            <dgm:alg type="tx"/>
                                            <dgm:shape xmlns:r="http://schemas.openxmlformats.org/officeDocument/2006/relationships" rot="-4"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3_4" styleLbl="node1">
                                            <dgm:varLst>
                                              <dgm:bulletEnabled val="1"/>
                                            </dgm:varLst>
                                            <dgm:alg type="tx"/>
                                            <dgm:shape xmlns:r="http://schemas.openxmlformats.org/officeDocument/2006/relationships" rot="-4"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1" styleLbl="node1">
                                            <dgm:varLst>
                                              <dgm:bulletEnabled val="1"/>
                                            </dgm:varLst>
                                            <dgm:alg type="tx"/>
                                            <dgm:shape xmlns:r="http://schemas.openxmlformats.org/officeDocument/2006/relationships" rot="-4"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2" styleLbl="node1">
                                            <dgm:varLst>
                                              <dgm:bulletEnabled val="1"/>
                                            </dgm:varLst>
                                            <dgm:alg type="tx"/>
                                            <dgm:shape xmlns:r="http://schemas.openxmlformats.org/officeDocument/2006/relationships" rot="-4"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3_3" styleLbl="node1">
                                            <dgm:varLst>
                                              <dgm:bulletEnabled val="1"/>
                                            </dgm:varLst>
                                            <dgm:alg type="tx"/>
                                            <dgm:shape xmlns:r="http://schemas.openxmlformats.org/officeDocument/2006/relationships" rot="-4"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5">
                                          <dgm:choose name="Name86">
                                            <dgm:if name="Name87" axis="ch ch" ptType="node node" st="2 1" cnt="1 0" func="cnt" op="gte" val="4">
                                              <dgm:layoutNode name="balance_44" styleLbl="alignAccFollowNode1">
                                                <dgm:varLst>
                                                  <dgm:bulletEnabled val="1"/>
                                                </dgm:varLst>
                                                <dgm:alg type="sp"/>
                                                <dgm:shape xmlns:r="http://schemas.openxmlformats.org/officeDocument/2006/relationships" type="rect" r:blip="">
                                                  <dgm:adjLst/>
                                                </dgm:shape>
                                                <dgm:presOf/>
                                                <dgm:constrLst/>
                                                <dgm:ruleLst/>
                                              </dgm:layoutNode>
                                              <dgm:layoutNode name="right_44_1" styleLbl="node1">
                                                <dgm:varLst>
                                                  <dgm:bulletEnabled val="1"/>
                                                </dgm:varLst>
                                                <dgm:alg type="tx"/>
                                                <dgm:shape xmlns:r="http://schemas.openxmlformats.org/officeDocument/2006/relationships" type="roundRect" r:blip="">
                                                  <dgm:adjLst/>
                                                </dgm:shape>
                                                <dgm:presOf axis="ch ch desOrSelf" ptType="node node node" st="2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2" styleLbl="node1">
                                                <dgm:varLst>
                                                  <dgm:bulletEnabled val="1"/>
                                                </dgm:varLst>
                                                <dgm:alg type="tx"/>
                                                <dgm:shape xmlns:r="http://schemas.openxmlformats.org/officeDocument/2006/relationships" type="roundRect" r:blip="">
                                                  <dgm:adjLst/>
                                                </dgm:shape>
                                                <dgm:presOf axis="ch ch desOrSelf" ptType="node node node" st="2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3" styleLbl="node1">
                                                <dgm:varLst>
                                                  <dgm:bulletEnabled val="1"/>
                                                </dgm:varLst>
                                                <dgm:alg type="tx"/>
                                                <dgm:shape xmlns:r="http://schemas.openxmlformats.org/officeDocument/2006/relationships" type="roundRect" r:blip="">
                                                  <dgm:adjLst/>
                                                </dgm:shape>
                                                <dgm:presOf axis="ch ch desOrSelf" ptType="node node node" st="2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ight_44_4" styleLbl="node1">
                                                <dgm:varLst>
                                                  <dgm:bulletEnabled val="1"/>
                                                </dgm:varLst>
                                                <dgm:alg type="tx"/>
                                                <dgm:shape xmlns:r="http://schemas.openxmlformats.org/officeDocument/2006/relationships" type="roundRect" r:blip="">
                                                  <dgm:adjLst/>
                                                </dgm:shape>
                                                <dgm:presOf axis="ch ch desOrSelf" ptType="node node node" st="2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1" styleLbl="node1">
                                                <dgm:varLst>
                                                  <dgm:bulletEnabled val="1"/>
                                                </dgm:varLst>
                                                <dgm:alg type="tx"/>
                                                <dgm:shape xmlns:r="http://schemas.openxmlformats.org/officeDocument/2006/relationships" type="roundRect" r:blip="">
                                                  <dgm:adjLst/>
                                                </dgm:shape>
                                                <dgm:presOf axis="ch ch desOrSelf" ptType="node node node" st="1 1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2" styleLbl="node1">
                                                <dgm:varLst>
                                                  <dgm:bulletEnabled val="1"/>
                                                </dgm:varLst>
                                                <dgm:alg type="tx"/>
                                                <dgm:shape xmlns:r="http://schemas.openxmlformats.org/officeDocument/2006/relationships" type="roundRect" r:blip="">
                                                  <dgm:adjLst/>
                                                </dgm:shape>
                                                <dgm:presOf axis="ch ch desOrSelf" ptType="node node node" st="1 2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3" styleLbl="node1">
                                                <dgm:varLst>
                                                  <dgm:bulletEnabled val="1"/>
                                                </dgm:varLst>
                                                <dgm:alg type="tx"/>
                                                <dgm:shape xmlns:r="http://schemas.openxmlformats.org/officeDocument/2006/relationships" type="roundRect" r:blip="">
                                                  <dgm:adjLst/>
                                                </dgm:shape>
                                                <dgm:presOf axis="ch ch desOrSelf" ptType="node node node" st="1 3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left_44_4" styleLbl="node1">
                                                <dgm:varLst>
                                                  <dgm:bulletEnabled val="1"/>
                                                </dgm:varLst>
                                                <dgm:alg type="tx"/>
                                                <dgm:shape xmlns:r="http://schemas.openxmlformats.org/officeDocument/2006/relationships" type="roundRect" r:blip="">
                                                  <dgm:adjLst/>
                                                </dgm:shape>
                                                <dgm:presOf axis="ch ch desOrSelf" ptType="node node node" st="1 4 1" cnt="1 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8"/>
                                          </dgm:choose>
                                        </dgm:else>
                                      </dgm:choose>
                                    </dgm:else>
                                  </dgm:choose>
                                </dgm:else>
                              </dgm:choose>
                            </dgm:else>
                          </dgm:choose>
                        </dgm:if>
                        <dgm:else name="Name89"/>
                      </dgm:choose>
                    </dgm:else>
                  </dgm:choose>
                </dgm:else>
              </dgm:choose>
            </dgm:else>
          </dgm:choose>
        </dgm:else>
      </dgm:choose>
    </dgm:layoutNode>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2/20/2024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central themes of operating system design are all concerned with the management of processes and threads:</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Multiprogramming: </a:t>
            </a:r>
            <a:r>
              <a:rPr lang="en-US" sz="1200" b="0" kern="1200" baseline="0" dirty="0">
                <a:solidFill>
                  <a:schemeClr val="tx1"/>
                </a:solidFill>
                <a:latin typeface="+mn-lt"/>
                <a:ea typeface="+mn-ea"/>
                <a:cs typeface="+mn-cs"/>
              </a:rPr>
              <a:t>The management of multiple processes within a </a:t>
            </a:r>
            <a:r>
              <a:rPr lang="en-US" sz="1200" b="0" kern="1200" baseline="0" dirty="0" err="1">
                <a:solidFill>
                  <a:schemeClr val="tx1"/>
                </a:solidFill>
                <a:latin typeface="+mn-lt"/>
                <a:ea typeface="+mn-ea"/>
                <a:cs typeface="+mn-cs"/>
              </a:rPr>
              <a:t>uniprocessor</a:t>
            </a:r>
            <a:r>
              <a:rPr lang="en-US" sz="1200" b="0"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system</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Multiprocessing : </a:t>
            </a:r>
            <a:r>
              <a:rPr lang="en-US" sz="1200" b="0" kern="1200" baseline="0" dirty="0">
                <a:solidFill>
                  <a:schemeClr val="tx1"/>
                </a:solidFill>
                <a:latin typeface="+mn-lt"/>
                <a:ea typeface="+mn-ea"/>
                <a:cs typeface="+mn-cs"/>
              </a:rPr>
              <a:t>The management of multiple processes within a multiprocessor</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Distributed processing: </a:t>
            </a:r>
            <a:r>
              <a:rPr lang="en-US" sz="1200" b="0" kern="1200" baseline="0" dirty="0">
                <a:solidFill>
                  <a:schemeClr val="tx1"/>
                </a:solidFill>
                <a:latin typeface="+mn-lt"/>
                <a:ea typeface="+mn-ea"/>
                <a:cs typeface="+mn-cs"/>
              </a:rPr>
              <a:t>The management of multiple processes executing on </a:t>
            </a:r>
            <a:r>
              <a:rPr lang="en-US" sz="1200" kern="1200" baseline="0" dirty="0">
                <a:solidFill>
                  <a:schemeClr val="tx1"/>
                </a:solidFill>
                <a:latin typeface="+mn-lt"/>
                <a:ea typeface="+mn-ea"/>
                <a:cs typeface="+mn-cs"/>
              </a:rPr>
              <a:t>multiple, distributed computer systems. The recent proliferation of clusters is a prime example of this type of system.</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Fundamental to all of these areas, and fundamental to OS design, is concurrency. Concurrency encompasses a host of design issues, including communication among processes, sharing of and competing for resources (such as memory, files, and I/O access), synchronization of the activities of multiple processes, and allocation of processor time to processes. We shall see that these issues arise not just in multiprocessing and distributed processing environments but even in single-processor multiprogramming systems.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Concurrency arises in three different contexts:</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Multiple applications: </a:t>
            </a:r>
            <a:r>
              <a:rPr lang="en-US" sz="1200" b="0" kern="1200" baseline="0" dirty="0">
                <a:solidFill>
                  <a:schemeClr val="tx1"/>
                </a:solidFill>
                <a:latin typeface="+mn-lt"/>
                <a:ea typeface="+mn-ea"/>
                <a:cs typeface="+mn-cs"/>
              </a:rPr>
              <a:t>Multiprogramming was invented to allow processing </a:t>
            </a:r>
            <a:r>
              <a:rPr lang="en-US" sz="1200" kern="1200" baseline="0" dirty="0">
                <a:solidFill>
                  <a:schemeClr val="tx1"/>
                </a:solidFill>
                <a:latin typeface="+mn-lt"/>
                <a:ea typeface="+mn-ea"/>
                <a:cs typeface="+mn-cs"/>
              </a:rPr>
              <a:t>time to be dynamically shared among a number of active applications.</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Structured applications: </a:t>
            </a:r>
            <a:r>
              <a:rPr lang="en-US" sz="1200" b="0" kern="1200" baseline="0" dirty="0">
                <a:solidFill>
                  <a:schemeClr val="tx1"/>
                </a:solidFill>
                <a:latin typeface="+mn-lt"/>
                <a:ea typeface="+mn-ea"/>
                <a:cs typeface="+mn-cs"/>
              </a:rPr>
              <a:t>As an extension of the principles of modular design </a:t>
            </a:r>
            <a:r>
              <a:rPr lang="en-US" sz="1200" kern="1200" baseline="0" dirty="0">
                <a:solidFill>
                  <a:schemeClr val="tx1"/>
                </a:solidFill>
                <a:latin typeface="+mn-lt"/>
                <a:ea typeface="+mn-ea"/>
                <a:cs typeface="+mn-cs"/>
              </a:rPr>
              <a:t>and structured programming, some applications can be effectively programmed as a set of concurrent processes.</a:t>
            </a:r>
          </a:p>
          <a:p>
            <a:r>
              <a:rPr lang="en-US" sz="1200" b="1" kern="1200" baseline="0" dirty="0">
                <a:solidFill>
                  <a:schemeClr val="tx1"/>
                </a:solidFill>
                <a:latin typeface="+mn-lt"/>
                <a:ea typeface="+mn-ea"/>
                <a:cs typeface="+mn-cs"/>
              </a:rPr>
              <a:t>Operating system structure: </a:t>
            </a:r>
            <a:r>
              <a:rPr lang="en-US" sz="1200" b="0" kern="1200" baseline="0" dirty="0">
                <a:solidFill>
                  <a:schemeClr val="tx1"/>
                </a:solidFill>
                <a:latin typeface="+mn-lt"/>
                <a:ea typeface="+mn-ea"/>
                <a:cs typeface="+mn-cs"/>
              </a:rPr>
              <a:t>The same structuring advantages apply to systems </a:t>
            </a:r>
            <a:r>
              <a:rPr lang="en-US" sz="1200" kern="1200" baseline="0" dirty="0">
                <a:solidFill>
                  <a:schemeClr val="tx1"/>
                </a:solidFill>
                <a:latin typeface="+mn-lt"/>
                <a:ea typeface="+mn-ea"/>
                <a:cs typeface="+mn-cs"/>
              </a:rPr>
              <a:t>programs, and we have seen that operating systems are themselves often implemented as a set of processes or threads.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At first glance, it may seem that interleaving and overlapping represent fundamentally different modes of execution and present different problems. In fact, both techniques can be viewed as examples of concurrent processing, and both present the same problems. In the case of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the problems stem from a basic characteristic of multiprogramming systems: The relative speed of execution of processes cannot be predicted. It depends on the activities of other processes, the way in which the OS handles interrupts, and the scheduling policies of the OS.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following difficulties arise:</a:t>
            </a:r>
          </a:p>
          <a:p>
            <a:r>
              <a:rPr lang="en-US" sz="1200" b="1" kern="1200" baseline="0" dirty="0">
                <a:solidFill>
                  <a:schemeClr val="tx1"/>
                </a:solidFill>
                <a:latin typeface="+mn-lt"/>
                <a:ea typeface="+mn-ea"/>
                <a:cs typeface="+mn-cs"/>
              </a:rPr>
              <a:t>1. The sharing of global resources is fraught with peril. </a:t>
            </a:r>
            <a:r>
              <a:rPr lang="en-US" sz="1200" b="0" kern="1200" baseline="0" dirty="0">
                <a:solidFill>
                  <a:schemeClr val="tx1"/>
                </a:solidFill>
                <a:latin typeface="+mn-lt"/>
                <a:ea typeface="+mn-ea"/>
                <a:cs typeface="+mn-cs"/>
              </a:rPr>
              <a:t>For example, if two processes </a:t>
            </a:r>
            <a:r>
              <a:rPr lang="en-US" sz="1200" kern="1200" baseline="0" dirty="0">
                <a:solidFill>
                  <a:schemeClr val="tx1"/>
                </a:solidFill>
                <a:latin typeface="+mn-lt"/>
                <a:ea typeface="+mn-ea"/>
                <a:cs typeface="+mn-cs"/>
              </a:rPr>
              <a:t>both make use of the same global variable and both perform reads and writes on that variable, then the order in which the various reads and writes are executed is critical. An example of this problem is shown in the following subsection.</a:t>
            </a:r>
          </a:p>
          <a:p>
            <a:r>
              <a:rPr lang="en-US" sz="1200" b="1" kern="1200" baseline="0" dirty="0">
                <a:solidFill>
                  <a:schemeClr val="tx1"/>
                </a:solidFill>
                <a:latin typeface="+mn-lt"/>
                <a:ea typeface="+mn-ea"/>
                <a:cs typeface="+mn-cs"/>
              </a:rPr>
              <a:t>2. It is difficult for the OS to manage the allocation of resources optimally. </a:t>
            </a:r>
            <a:r>
              <a:rPr lang="en-US" sz="1200" b="0" kern="1200" baseline="0" dirty="0">
                <a:solidFill>
                  <a:schemeClr val="tx1"/>
                </a:solidFill>
                <a:latin typeface="+mn-lt"/>
                <a:ea typeface="+mn-ea"/>
                <a:cs typeface="+mn-cs"/>
              </a:rPr>
              <a:t>For</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example, process A may request use of, and be granted control of, a particular I/O channel and then be suspended before using that channel. It may be undesirable for the OS simply to lock the channel and prevent its use by other processes; indeed this may lead to a deadlock condition, as described in Chapter 6 .</a:t>
            </a:r>
          </a:p>
          <a:p>
            <a:r>
              <a:rPr lang="en-US" sz="1200" b="1" kern="1200" baseline="0" dirty="0">
                <a:solidFill>
                  <a:schemeClr val="tx1"/>
                </a:solidFill>
                <a:latin typeface="+mn-lt"/>
                <a:ea typeface="+mn-ea"/>
                <a:cs typeface="+mn-cs"/>
              </a:rPr>
              <a:t>3. It becomes very difficult to locate a programming error </a:t>
            </a:r>
            <a:r>
              <a:rPr lang="en-US" sz="1200" b="0" kern="1200" baseline="0" dirty="0">
                <a:solidFill>
                  <a:schemeClr val="tx1"/>
                </a:solidFill>
                <a:latin typeface="+mn-lt"/>
                <a:ea typeface="+mn-ea"/>
                <a:cs typeface="+mn-cs"/>
              </a:rPr>
              <a:t>because results are </a:t>
            </a:r>
            <a:r>
              <a:rPr lang="en-US" sz="1200" kern="1200" baseline="0" dirty="0">
                <a:solidFill>
                  <a:schemeClr val="tx1"/>
                </a:solidFill>
                <a:latin typeface="+mn-lt"/>
                <a:ea typeface="+mn-ea"/>
                <a:cs typeface="+mn-cs"/>
              </a:rPr>
              <a:t>typically not deterministic and reproducible (e.g., see [LEBL87, CARR89, SHEN02] for a discussion of this point).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All of the foregoing difficulties present themselves in a multiprocessor system as well, because here too the relative speed of execution of processes is unpredictable. A multiprocessor system must also deal with problems arising from the simultaneous execution of multiple processes. Fundamentally, however, the problems are the same as those for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systems. This should become clear as the discussion proceeds.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race condition occurs when multiple processes or threads read and write data items so that the final result depends on the order of execution of instructions in the multiple processes. Let us consider two simple examples.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a first example, suppose that two processes, P1 and P2, share the global variable a . At some point in its execution, P1 updates a to the value 1, and at some point in its execution, P2 updates a to the value 2. Thus, the two tasks are in a race to write variable a . In this example, the “loser” of the race (the process that updates last) determines the final value of a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our second example, consider two process, P3 and P4, that share global variables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and c , with initial values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1 and c = 2 . At some point in its execution, P3 executes the assignment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c , and at some point in its execution, P4 executes the assignment c =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c . Note that the two processes update different variables. However, the final values of the two variables depend on the order in which the two processes execute these two assignments. If P3 executes its assignment statement first, then the final values are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3 and c = 5 . If P4 executes its assignment statement first, then the final values are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4 and c = 3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Appendix A includes a discussion of race conditions using semaphores as an example.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What design and management issues are raised by the existence of concurrency?</a:t>
            </a:r>
          </a:p>
          <a:p>
            <a:r>
              <a:rPr lang="en-US" sz="1200" kern="1200" baseline="0" dirty="0">
                <a:solidFill>
                  <a:schemeClr val="tx1"/>
                </a:solidFill>
                <a:latin typeface="+mn-lt"/>
                <a:ea typeface="+mn-ea"/>
                <a:cs typeface="+mn-cs"/>
              </a:rPr>
              <a:t>We can list the following concerns:</a:t>
            </a:r>
          </a:p>
          <a:p>
            <a:r>
              <a:rPr lang="en-US" sz="1200" b="1" kern="1200" baseline="0" dirty="0">
                <a:solidFill>
                  <a:schemeClr val="tx1"/>
                </a:solidFill>
                <a:latin typeface="+mn-lt"/>
                <a:ea typeface="+mn-ea"/>
                <a:cs typeface="+mn-cs"/>
              </a:rPr>
              <a:t>1. The OS must be able to keep track of the various processes. </a:t>
            </a:r>
            <a:r>
              <a:rPr lang="en-US" sz="1200" b="0" kern="1200" baseline="0" dirty="0">
                <a:solidFill>
                  <a:schemeClr val="tx1"/>
                </a:solidFill>
                <a:latin typeface="+mn-lt"/>
                <a:ea typeface="+mn-ea"/>
                <a:cs typeface="+mn-cs"/>
              </a:rPr>
              <a:t>This is done with </a:t>
            </a:r>
            <a:r>
              <a:rPr lang="en-US" sz="1200" kern="1200" baseline="0" dirty="0">
                <a:solidFill>
                  <a:schemeClr val="tx1"/>
                </a:solidFill>
                <a:latin typeface="+mn-lt"/>
                <a:ea typeface="+mn-ea"/>
                <a:cs typeface="+mn-cs"/>
              </a:rPr>
              <a:t>the use of process control blocks and was described in Chapter 4 .</a:t>
            </a:r>
          </a:p>
          <a:p>
            <a:r>
              <a:rPr lang="en-US" sz="1200" b="1" kern="1200" baseline="0" dirty="0">
                <a:solidFill>
                  <a:schemeClr val="tx1"/>
                </a:solidFill>
                <a:latin typeface="+mn-lt"/>
                <a:ea typeface="+mn-ea"/>
                <a:cs typeface="+mn-cs"/>
              </a:rPr>
              <a:t>2. The OS must allocate and de-allocate various resources for each active process.</a:t>
            </a:r>
          </a:p>
          <a:p>
            <a:r>
              <a:rPr lang="en-US" sz="1200" kern="1200" baseline="0" dirty="0">
                <a:solidFill>
                  <a:schemeClr val="tx1"/>
                </a:solidFill>
                <a:latin typeface="+mn-lt"/>
                <a:ea typeface="+mn-ea"/>
                <a:cs typeface="+mn-cs"/>
              </a:rPr>
              <a:t>At times, multiple processes want access to the same resource. These resources include</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Processor time: </a:t>
            </a:r>
            <a:r>
              <a:rPr lang="en-US" sz="1200" b="0" kern="1200" baseline="0" dirty="0">
                <a:solidFill>
                  <a:schemeClr val="tx1"/>
                </a:solidFill>
                <a:latin typeface="+mn-lt"/>
                <a:ea typeface="+mn-ea"/>
                <a:cs typeface="+mn-cs"/>
              </a:rPr>
              <a:t>This is the scheduling function, discussed in Part Four.</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Memory</a:t>
            </a:r>
            <a:r>
              <a:rPr lang="en-US" sz="1200" b="0" kern="1200" baseline="0" dirty="0">
                <a:solidFill>
                  <a:schemeClr val="tx1"/>
                </a:solidFill>
                <a:latin typeface="+mn-lt"/>
                <a:ea typeface="+mn-ea"/>
                <a:cs typeface="+mn-cs"/>
              </a:rPr>
              <a:t>: Most operating systems use a virtual memory scheme. The topic </a:t>
            </a:r>
            <a:r>
              <a:rPr lang="en-US" sz="1200" kern="1200" baseline="0" dirty="0">
                <a:solidFill>
                  <a:schemeClr val="tx1"/>
                </a:solidFill>
                <a:latin typeface="+mn-lt"/>
                <a:ea typeface="+mn-ea"/>
                <a:cs typeface="+mn-cs"/>
              </a:rPr>
              <a:t>is addressed in Part Three.</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Files: </a:t>
            </a:r>
            <a:r>
              <a:rPr lang="en-US" sz="1200" b="0" kern="1200" baseline="0" dirty="0">
                <a:solidFill>
                  <a:schemeClr val="tx1"/>
                </a:solidFill>
                <a:latin typeface="+mn-lt"/>
                <a:ea typeface="+mn-ea"/>
                <a:cs typeface="+mn-cs"/>
              </a:rPr>
              <a:t>Discussed in Chapter 12 .</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I/O devices: </a:t>
            </a:r>
            <a:r>
              <a:rPr lang="en-US" sz="1200" b="0" kern="1200" baseline="0" dirty="0">
                <a:solidFill>
                  <a:schemeClr val="tx1"/>
                </a:solidFill>
                <a:latin typeface="+mn-lt"/>
                <a:ea typeface="+mn-ea"/>
                <a:cs typeface="+mn-cs"/>
              </a:rPr>
              <a:t>Discussed in Chapter 11 .</a:t>
            </a:r>
          </a:p>
          <a:p>
            <a:r>
              <a:rPr lang="en-US" sz="1200" b="1" kern="1200" baseline="0" dirty="0">
                <a:solidFill>
                  <a:schemeClr val="tx1"/>
                </a:solidFill>
                <a:latin typeface="+mn-lt"/>
                <a:ea typeface="+mn-ea"/>
                <a:cs typeface="+mn-cs"/>
              </a:rPr>
              <a:t>3. The OS must protect the data and physical resources of each process against</a:t>
            </a:r>
          </a:p>
          <a:p>
            <a:r>
              <a:rPr lang="en-US" sz="1200" kern="1200" baseline="0" dirty="0">
                <a:solidFill>
                  <a:schemeClr val="tx1"/>
                </a:solidFill>
                <a:latin typeface="+mn-lt"/>
                <a:ea typeface="+mn-ea"/>
                <a:cs typeface="+mn-cs"/>
              </a:rPr>
              <a:t>unintended interference by other processes. This involves techniques that relate to memory, files, and I/O devices. A general treatment of protection is found in Chapter 14 .</a:t>
            </a:r>
          </a:p>
          <a:p>
            <a:r>
              <a:rPr lang="en-US" sz="1200" b="1" kern="1200" baseline="0" dirty="0">
                <a:solidFill>
                  <a:schemeClr val="tx1"/>
                </a:solidFill>
                <a:latin typeface="+mn-lt"/>
                <a:ea typeface="+mn-ea"/>
                <a:cs typeface="+mn-cs"/>
              </a:rPr>
              <a:t>4. The functioning of a process, and the output it produces, must be independent </a:t>
            </a:r>
          </a:p>
          <a:p>
            <a:r>
              <a:rPr lang="en-US" sz="1200" kern="1200" baseline="0" dirty="0">
                <a:solidFill>
                  <a:schemeClr val="tx1"/>
                </a:solidFill>
                <a:latin typeface="+mn-lt"/>
                <a:ea typeface="+mn-ea"/>
                <a:cs typeface="+mn-cs"/>
              </a:rPr>
              <a:t>of the speed at which its execution is carried out relative to the speed of other</a:t>
            </a:r>
          </a:p>
          <a:p>
            <a:r>
              <a:rPr lang="en-US" sz="1200" kern="1200" baseline="0" dirty="0">
                <a:solidFill>
                  <a:schemeClr val="tx1"/>
                </a:solidFill>
                <a:latin typeface="+mn-lt"/>
                <a:ea typeface="+mn-ea"/>
                <a:cs typeface="+mn-cs"/>
              </a:rPr>
              <a:t>concurrent processes. This is the subject of this chapter.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Concurrent processes come into conflict with each other when they are competing for the use of the same resource. In its pure form, we can describe the situation as follows. Two or more processes need to access a resource during the course of their execution. Each process is unaware of the existence of other processes, and each is to be unaffected by the execution of the other processes. It follows from this that each process should leave the state of any resource that it uses unaffected. Examples of resources include I/O devices, memory, processor time, and the clock.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is no exchange of information between the competing processes. However, the execution of one process may affect the behavior of competing processes. In particular, if two processes both wish access to a single resource, then one process will be allocated that resource by the OS, and the other will have to wait. Therefore, the process that is denied access will be slowed down. In an extreme case, the blocked process may never get access to the resource and hence will never terminate successfully.</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the case of competing processes three control problems must be faced. First is the need for </a:t>
            </a:r>
            <a:r>
              <a:rPr lang="en-US" sz="1200" b="1" kern="1200" baseline="0" dirty="0">
                <a:solidFill>
                  <a:schemeClr val="tx1"/>
                </a:solidFill>
                <a:latin typeface="+mn-lt"/>
                <a:ea typeface="+mn-ea"/>
                <a:cs typeface="+mn-cs"/>
              </a:rPr>
              <a:t>mutual exclusion . </a:t>
            </a:r>
            <a:r>
              <a:rPr lang="en-US" sz="1200" b="0" kern="1200" baseline="0" dirty="0">
                <a:solidFill>
                  <a:schemeClr val="tx1"/>
                </a:solidFill>
                <a:latin typeface="+mn-lt"/>
                <a:ea typeface="+mn-ea"/>
                <a:cs typeface="+mn-cs"/>
              </a:rPr>
              <a:t>Suppose two or more processes require </a:t>
            </a:r>
            <a:r>
              <a:rPr lang="en-US" sz="1200" kern="1200" baseline="0" dirty="0">
                <a:solidFill>
                  <a:schemeClr val="tx1"/>
                </a:solidFill>
                <a:latin typeface="+mn-lt"/>
                <a:ea typeface="+mn-ea"/>
                <a:cs typeface="+mn-cs"/>
              </a:rPr>
              <a:t>access to a single non-sharable resource, such as a printer. During the course of execution, each process will be sending commands to the I/O device, receiving</a:t>
            </a:r>
          </a:p>
          <a:p>
            <a:r>
              <a:rPr lang="en-US" sz="1200" kern="1200" baseline="0" dirty="0">
                <a:solidFill>
                  <a:schemeClr val="tx1"/>
                </a:solidFill>
                <a:latin typeface="+mn-lt"/>
                <a:ea typeface="+mn-ea"/>
                <a:cs typeface="+mn-cs"/>
              </a:rPr>
              <a:t>status information, sending data, and/or receiving data. We will refer to such a resource as a </a:t>
            </a:r>
            <a:r>
              <a:rPr lang="en-US" sz="1200" b="1" kern="1200" baseline="0" dirty="0">
                <a:solidFill>
                  <a:schemeClr val="tx1"/>
                </a:solidFill>
                <a:latin typeface="+mn-lt"/>
                <a:ea typeface="+mn-ea"/>
                <a:cs typeface="+mn-cs"/>
              </a:rPr>
              <a:t>critical resource , </a:t>
            </a:r>
            <a:r>
              <a:rPr lang="en-US" sz="1200" b="0" kern="1200" baseline="0" dirty="0">
                <a:solidFill>
                  <a:schemeClr val="tx1"/>
                </a:solidFill>
                <a:latin typeface="+mn-lt"/>
                <a:ea typeface="+mn-ea"/>
                <a:cs typeface="+mn-cs"/>
              </a:rPr>
              <a:t>and the portion of the program that uses it as a </a:t>
            </a:r>
            <a:r>
              <a:rPr lang="en-US" sz="1200" b="1" kern="1200" baseline="0" dirty="0">
                <a:solidFill>
                  <a:schemeClr val="tx1"/>
                </a:solidFill>
                <a:latin typeface="+mn-lt"/>
                <a:ea typeface="+mn-ea"/>
                <a:cs typeface="+mn-cs"/>
              </a:rPr>
              <a:t>critical section </a:t>
            </a:r>
            <a:r>
              <a:rPr lang="en-US" sz="1200" b="0" kern="1200" baseline="0" dirty="0">
                <a:solidFill>
                  <a:schemeClr val="tx1"/>
                </a:solidFill>
                <a:latin typeface="+mn-lt"/>
                <a:ea typeface="+mn-ea"/>
                <a:cs typeface="+mn-cs"/>
              </a:rPr>
              <a:t>of the program. It is important that only one program at a time be </a:t>
            </a:r>
            <a:r>
              <a:rPr lang="en-US" sz="1200" kern="1200" baseline="0" dirty="0">
                <a:solidFill>
                  <a:schemeClr val="tx1"/>
                </a:solidFill>
                <a:latin typeface="+mn-lt"/>
                <a:ea typeface="+mn-ea"/>
                <a:cs typeface="+mn-cs"/>
              </a:rPr>
              <a:t>allowed in its critical section. We cannot simply rely on the OS to understand and enforce this restriction because the detailed requirements may not be obvious. In the case of the printer, for example, we want any individual process to have control of the printer while it prints an entire file. Otherwise, lines from competing processes will be interleaved.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enforcement of mutual exclusion creates two additional control problems. One is that of </a:t>
            </a:r>
            <a:r>
              <a:rPr lang="en-US" sz="1200" b="1" kern="1200" baseline="0" dirty="0">
                <a:solidFill>
                  <a:schemeClr val="tx1"/>
                </a:solidFill>
                <a:latin typeface="+mn-lt"/>
                <a:ea typeface="+mn-ea"/>
                <a:cs typeface="+mn-cs"/>
              </a:rPr>
              <a:t>deadlock . </a:t>
            </a:r>
            <a:r>
              <a:rPr lang="en-US" sz="1200" b="0" kern="1200" baseline="0" dirty="0">
                <a:solidFill>
                  <a:schemeClr val="tx1"/>
                </a:solidFill>
                <a:latin typeface="+mn-lt"/>
                <a:ea typeface="+mn-ea"/>
                <a:cs typeface="+mn-cs"/>
              </a:rPr>
              <a:t>For example, consider two processes, P1 and P2, and two </a:t>
            </a:r>
            <a:r>
              <a:rPr lang="en-US" sz="1200" kern="1200" baseline="0" dirty="0">
                <a:solidFill>
                  <a:schemeClr val="tx1"/>
                </a:solidFill>
                <a:latin typeface="+mn-lt"/>
                <a:ea typeface="+mn-ea"/>
                <a:cs typeface="+mn-cs"/>
              </a:rPr>
              <a:t>resources, R1 and R2. Suppose that each process needs access to both resources to perform part of its function. Then it is possible to have the following situation: the OS assigns R1 to P2, and R2 to P1. Each process is waiting for one of the two resources. Neither will release the resource that it already owns until it has acquired the other resource and performed the function requiring both resources. The two processes are deadlocked.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final control problem is </a:t>
            </a:r>
            <a:r>
              <a:rPr lang="en-US" sz="1200" b="1" kern="1200" baseline="0" dirty="0">
                <a:solidFill>
                  <a:schemeClr val="tx1"/>
                </a:solidFill>
                <a:latin typeface="+mn-lt"/>
                <a:ea typeface="+mn-ea"/>
                <a:cs typeface="+mn-cs"/>
              </a:rPr>
              <a:t>starvation . </a:t>
            </a:r>
            <a:r>
              <a:rPr lang="en-US" sz="1200" b="0" kern="1200" baseline="0" dirty="0">
                <a:solidFill>
                  <a:schemeClr val="tx1"/>
                </a:solidFill>
                <a:latin typeface="+mn-lt"/>
                <a:ea typeface="+mn-ea"/>
                <a:cs typeface="+mn-cs"/>
              </a:rPr>
              <a:t>Suppose that three processes (P1, P2</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P3) each require periodic access to resource R. Consider the situation in which P1 is in possession of the resource, and both P2 and P3 are delayed, waiting for that resource. When P1 exits its critical section, either P2 or P3 should be allowed access to R. Assume that the OS grants access to P3 and that P1 again requires access before P3 completes its critical section. If the OS grants access to P1 after P3 has finished, and subsequently alternately grants access to P1 and P3, then P2 may indefinitely be denied access to the resource, even though there is no deadlock situation. </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Any facility or capability that is to provide support for mutual exclusion should</a:t>
            </a:r>
          </a:p>
          <a:p>
            <a:r>
              <a:rPr lang="en-US" sz="1200" kern="1200" baseline="0" dirty="0">
                <a:solidFill>
                  <a:schemeClr val="tx1"/>
                </a:solidFill>
                <a:latin typeface="+mn-lt"/>
                <a:ea typeface="+mn-ea"/>
                <a:cs typeface="+mn-cs"/>
              </a:rPr>
              <a:t>meet the following requirements:</a:t>
            </a:r>
          </a:p>
          <a:p>
            <a:r>
              <a:rPr lang="en-US" sz="1200" b="1" kern="1200" baseline="0" dirty="0">
                <a:solidFill>
                  <a:schemeClr val="tx1"/>
                </a:solidFill>
                <a:latin typeface="+mn-lt"/>
                <a:ea typeface="+mn-ea"/>
                <a:cs typeface="+mn-cs"/>
              </a:rPr>
              <a:t>1. Mutual exclusion must be enforced: Only one process at a time is allowed into</a:t>
            </a:r>
          </a:p>
          <a:p>
            <a:r>
              <a:rPr lang="en-US" sz="1200" kern="1200" baseline="0" dirty="0">
                <a:solidFill>
                  <a:schemeClr val="tx1"/>
                </a:solidFill>
                <a:latin typeface="+mn-lt"/>
                <a:ea typeface="+mn-ea"/>
                <a:cs typeface="+mn-cs"/>
              </a:rPr>
              <a:t>its critical section, among all processes that have critical sections for the same resource or shared object.</a:t>
            </a:r>
          </a:p>
          <a:p>
            <a:r>
              <a:rPr lang="en-US" sz="1200" b="1" kern="1200" baseline="0" dirty="0">
                <a:solidFill>
                  <a:schemeClr val="tx1"/>
                </a:solidFill>
                <a:latin typeface="+mn-lt"/>
                <a:ea typeface="+mn-ea"/>
                <a:cs typeface="+mn-cs"/>
              </a:rPr>
              <a:t>2. A process that halts in its noncritical section must do so without interfering</a:t>
            </a:r>
          </a:p>
          <a:p>
            <a:r>
              <a:rPr lang="en-US" sz="1200" kern="1200" baseline="0" dirty="0">
                <a:solidFill>
                  <a:schemeClr val="tx1"/>
                </a:solidFill>
                <a:latin typeface="+mn-lt"/>
                <a:ea typeface="+mn-ea"/>
                <a:cs typeface="+mn-cs"/>
              </a:rPr>
              <a:t>with other processes.</a:t>
            </a:r>
          </a:p>
          <a:p>
            <a:r>
              <a:rPr lang="en-US" sz="1200" b="1" kern="1200" baseline="0" dirty="0">
                <a:solidFill>
                  <a:schemeClr val="tx1"/>
                </a:solidFill>
                <a:latin typeface="+mn-lt"/>
                <a:ea typeface="+mn-ea"/>
                <a:cs typeface="+mn-cs"/>
              </a:rPr>
              <a:t>3. It must not be possible for a process requiring access to a critical section to be</a:t>
            </a:r>
          </a:p>
          <a:p>
            <a:r>
              <a:rPr lang="en-US" sz="1200" kern="1200" baseline="0" dirty="0">
                <a:solidFill>
                  <a:schemeClr val="tx1"/>
                </a:solidFill>
                <a:latin typeface="+mn-lt"/>
                <a:ea typeface="+mn-ea"/>
                <a:cs typeface="+mn-cs"/>
              </a:rPr>
              <a:t>delayed indefinitely: no deadlock or starvation.</a:t>
            </a:r>
          </a:p>
          <a:p>
            <a:r>
              <a:rPr lang="en-US" sz="1200" b="1" kern="1200" baseline="0" dirty="0">
                <a:solidFill>
                  <a:schemeClr val="tx1"/>
                </a:solidFill>
                <a:latin typeface="+mn-lt"/>
                <a:ea typeface="+mn-ea"/>
                <a:cs typeface="+mn-cs"/>
              </a:rPr>
              <a:t>4. When no process is in a critical section, any process that requests entry to its</a:t>
            </a:r>
          </a:p>
          <a:p>
            <a:r>
              <a:rPr lang="en-US" sz="1200" kern="1200" baseline="0" dirty="0">
                <a:solidFill>
                  <a:schemeClr val="tx1"/>
                </a:solidFill>
                <a:latin typeface="+mn-lt"/>
                <a:ea typeface="+mn-ea"/>
                <a:cs typeface="+mn-cs"/>
              </a:rPr>
              <a:t>critical section must be permitted to enter without delay.</a:t>
            </a:r>
          </a:p>
          <a:p>
            <a:r>
              <a:rPr lang="en-US" sz="1200" b="1" kern="1200" baseline="0" dirty="0">
                <a:solidFill>
                  <a:schemeClr val="tx1"/>
                </a:solidFill>
                <a:latin typeface="+mn-lt"/>
                <a:ea typeface="+mn-ea"/>
                <a:cs typeface="+mn-cs"/>
              </a:rPr>
              <a:t>5. No assumptions are made about relative process speeds or number of processors.</a:t>
            </a:r>
          </a:p>
          <a:p>
            <a:r>
              <a:rPr lang="en-US" sz="1200" b="1" kern="1200" baseline="0" dirty="0">
                <a:solidFill>
                  <a:schemeClr val="tx1"/>
                </a:solidFill>
                <a:latin typeface="+mn-lt"/>
                <a:ea typeface="+mn-ea"/>
                <a:cs typeface="+mn-cs"/>
              </a:rPr>
              <a:t>6. A process remains inside its critical section for a finite time only.</a:t>
            </a:r>
          </a:p>
          <a:p>
            <a:endParaRPr lang="en-US" sz="1200" b="1"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are a number of ways in which the requirements for mutual exclusion can be satisfied. One approach is to leave the responsibility with the processes that wish to execute concurrently. Processes, whether they are system programs or application programs, would be required to coordinate with one another to enforce mutual exclusion, with no support from the programming language or the OS. We can refer to these as software approaches. Although this approach is prone to high processing overhead and bugs, it is nevertheless useful to examine such approaches to gain a better understanding of the complexity of concurrent processing. This topic is covered in Appendix A . A second approach involves the use of special purpose machine instructions. These have the advantage of reducing overhead but nevertheless will be shown to be unattractive as a general-purpose solution; they are covered in Section 5.2 . A third approach is to provide some level of support within the OS or a programming language. Three of the most important such approaches are examined in Sections 5.3 through 5.5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1" kern="1200" baseline="0" dirty="0">
                <a:solidFill>
                  <a:schemeClr val="tx1"/>
                </a:solidFill>
                <a:latin typeface="+mn-lt"/>
                <a:ea typeface="+mn-ea"/>
                <a:cs typeface="+mn-cs"/>
              </a:rPr>
              <a:t>COMPARE&amp;SWAP INSTRUCTION</a:t>
            </a:r>
          </a:p>
          <a:p>
            <a:r>
              <a:rPr lang="en-US" sz="1200" kern="1200" baseline="0" dirty="0">
                <a:solidFill>
                  <a:schemeClr val="tx1"/>
                </a:solidFill>
                <a:latin typeface="+mn-lt"/>
                <a:ea typeface="+mn-ea"/>
                <a:cs typeface="+mn-cs"/>
              </a:rPr>
              <a:t>This version of the instruction checks a memory location ( *word ) against a test value ( </a:t>
            </a:r>
            <a:r>
              <a:rPr lang="en-US" sz="1200" kern="1200" baseline="0" dirty="0" err="1">
                <a:solidFill>
                  <a:schemeClr val="tx1"/>
                </a:solidFill>
                <a:latin typeface="+mn-lt"/>
                <a:ea typeface="+mn-ea"/>
                <a:cs typeface="+mn-cs"/>
              </a:rPr>
              <a:t>testval</a:t>
            </a:r>
            <a:r>
              <a:rPr lang="en-US" sz="1200" kern="1200" baseline="0" dirty="0">
                <a:solidFill>
                  <a:schemeClr val="tx1"/>
                </a:solidFill>
                <a:latin typeface="+mn-lt"/>
                <a:ea typeface="+mn-ea"/>
                <a:cs typeface="+mn-cs"/>
              </a:rPr>
              <a:t> ). If the memory location’s current value is </a:t>
            </a:r>
            <a:r>
              <a:rPr lang="en-US" sz="1200" kern="1200" baseline="0" dirty="0" err="1">
                <a:solidFill>
                  <a:schemeClr val="tx1"/>
                </a:solidFill>
                <a:latin typeface="+mn-lt"/>
                <a:ea typeface="+mn-ea"/>
                <a:cs typeface="+mn-cs"/>
              </a:rPr>
              <a:t>testval</a:t>
            </a:r>
            <a:r>
              <a:rPr lang="en-US" sz="1200" kern="1200" baseline="0" dirty="0">
                <a:solidFill>
                  <a:schemeClr val="tx1"/>
                </a:solidFill>
                <a:latin typeface="+mn-lt"/>
                <a:ea typeface="+mn-ea"/>
                <a:cs typeface="+mn-cs"/>
              </a:rPr>
              <a:t>, it is replaced with </a:t>
            </a:r>
            <a:r>
              <a:rPr lang="en-US" sz="1200" kern="1200" baseline="0" dirty="0" err="1">
                <a:solidFill>
                  <a:schemeClr val="tx1"/>
                </a:solidFill>
                <a:latin typeface="+mn-lt"/>
                <a:ea typeface="+mn-ea"/>
                <a:cs typeface="+mn-cs"/>
              </a:rPr>
              <a:t>newval</a:t>
            </a:r>
            <a:r>
              <a:rPr lang="en-US" sz="1200" kern="1200" baseline="0" dirty="0">
                <a:solidFill>
                  <a:schemeClr val="tx1"/>
                </a:solidFill>
                <a:latin typeface="+mn-lt"/>
                <a:ea typeface="+mn-ea"/>
                <a:cs typeface="+mn-cs"/>
              </a:rPr>
              <a:t> ; otherwise it is left unchanged. The old memory value is always returned; thus, the memory location has been updated if the returned value is the same as the test value. This atomic instruction therefore has two parts: A </a:t>
            </a:r>
            <a:r>
              <a:rPr lang="en-US" sz="1200" b="1" kern="1200" baseline="0" dirty="0">
                <a:solidFill>
                  <a:schemeClr val="tx1"/>
                </a:solidFill>
                <a:latin typeface="+mn-lt"/>
                <a:ea typeface="+mn-ea"/>
                <a:cs typeface="+mn-cs"/>
              </a:rPr>
              <a:t>compare is made </a:t>
            </a:r>
            <a:r>
              <a:rPr lang="en-US" sz="1200" kern="1200" baseline="0" dirty="0">
                <a:solidFill>
                  <a:schemeClr val="tx1"/>
                </a:solidFill>
                <a:latin typeface="+mn-lt"/>
                <a:ea typeface="+mn-ea"/>
                <a:cs typeface="+mn-cs"/>
              </a:rPr>
              <a:t>between a memory value and a test value; if the values are the same, a </a:t>
            </a:r>
            <a:r>
              <a:rPr lang="en-US" sz="1200" b="1" kern="1200" baseline="0" dirty="0">
                <a:solidFill>
                  <a:schemeClr val="tx1"/>
                </a:solidFill>
                <a:latin typeface="+mn-lt"/>
                <a:ea typeface="+mn-ea"/>
                <a:cs typeface="+mn-cs"/>
              </a:rPr>
              <a:t>swap occurs. </a:t>
            </a:r>
            <a:r>
              <a:rPr lang="en-US" sz="1200" kern="1200" baseline="0" dirty="0">
                <a:solidFill>
                  <a:schemeClr val="tx1"/>
                </a:solidFill>
                <a:latin typeface="+mn-lt"/>
                <a:ea typeface="+mn-ea"/>
                <a:cs typeface="+mn-cs"/>
              </a:rPr>
              <a:t>The entire </a:t>
            </a:r>
            <a:r>
              <a:rPr lang="en-US" sz="1200" kern="1200" baseline="0" dirty="0" err="1">
                <a:solidFill>
                  <a:schemeClr val="tx1"/>
                </a:solidFill>
                <a:latin typeface="+mn-lt"/>
                <a:ea typeface="+mn-ea"/>
                <a:cs typeface="+mn-cs"/>
              </a:rPr>
              <a:t>compare&amp;swap</a:t>
            </a:r>
            <a:r>
              <a:rPr lang="en-US" sz="1200" kern="1200" baseline="0" dirty="0">
                <a:solidFill>
                  <a:schemeClr val="tx1"/>
                </a:solidFill>
                <a:latin typeface="+mn-lt"/>
                <a:ea typeface="+mn-ea"/>
                <a:cs typeface="+mn-cs"/>
              </a:rPr>
              <a:t> function is carried out atomically—that is, it is not subject to interruption.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version of this instruction returns a Boolean value: true if the swap occurred; false otherwise. Some version of this instruction is available on nearly all processor families (x86, IA64, </a:t>
            </a:r>
            <a:r>
              <a:rPr lang="en-US" sz="1200" kern="1200" baseline="0" dirty="0" err="1">
                <a:solidFill>
                  <a:schemeClr val="tx1"/>
                </a:solidFill>
                <a:latin typeface="+mn-lt"/>
                <a:ea typeface="+mn-ea"/>
                <a:cs typeface="+mn-cs"/>
              </a:rPr>
              <a:t>sparc</a:t>
            </a:r>
            <a:r>
              <a:rPr lang="en-US" sz="1200" kern="1200" baseline="0" dirty="0">
                <a:solidFill>
                  <a:schemeClr val="tx1"/>
                </a:solidFill>
                <a:latin typeface="+mn-lt"/>
                <a:ea typeface="+mn-ea"/>
                <a:cs typeface="+mn-cs"/>
              </a:rPr>
              <a:t>, /390, etc.), and most operating systems use this instruction for support of concurrency.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use of a special machine instruction to enforce mutual exclusion has a number of advantages:</a:t>
            </a:r>
          </a:p>
          <a:p>
            <a:r>
              <a:rPr lang="en-US" sz="1200" kern="1200" baseline="0" dirty="0">
                <a:solidFill>
                  <a:schemeClr val="tx1"/>
                </a:solidFill>
                <a:latin typeface="+mn-lt"/>
                <a:ea typeface="+mn-ea"/>
                <a:cs typeface="+mn-cs"/>
              </a:rPr>
              <a:t>• It is applicable to any number of processes on either a single processor or multiple processors sharing main memory.</a:t>
            </a:r>
          </a:p>
          <a:p>
            <a:r>
              <a:rPr lang="en-US" sz="1200" kern="1200" baseline="0" dirty="0">
                <a:solidFill>
                  <a:schemeClr val="tx1"/>
                </a:solidFill>
                <a:latin typeface="+mn-lt"/>
                <a:ea typeface="+mn-ea"/>
                <a:cs typeface="+mn-cs"/>
              </a:rPr>
              <a:t>• It is simple and therefore easy to verify.</a:t>
            </a:r>
          </a:p>
          <a:p>
            <a:r>
              <a:rPr lang="en-US" sz="1200" kern="1200" baseline="0" dirty="0">
                <a:solidFill>
                  <a:schemeClr val="tx1"/>
                </a:solidFill>
                <a:latin typeface="+mn-lt"/>
                <a:ea typeface="+mn-ea"/>
                <a:cs typeface="+mn-cs"/>
              </a:rPr>
              <a:t>• It can be used to support multiple critical sections; each critical section can be defined by its own variable.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some serious disadvantages: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Busy waiting is employed: </a:t>
            </a:r>
            <a:r>
              <a:rPr lang="en-US" sz="1200" b="0" kern="1200" baseline="0" dirty="0">
                <a:solidFill>
                  <a:schemeClr val="tx1"/>
                </a:solidFill>
                <a:latin typeface="+mn-lt"/>
                <a:ea typeface="+mn-ea"/>
                <a:cs typeface="+mn-cs"/>
              </a:rPr>
              <a:t>Thus, while a process is waiting for access to a critical </a:t>
            </a:r>
            <a:r>
              <a:rPr lang="en-US" sz="1200" kern="1200" baseline="0" dirty="0">
                <a:solidFill>
                  <a:schemeClr val="tx1"/>
                </a:solidFill>
                <a:latin typeface="+mn-lt"/>
                <a:ea typeface="+mn-ea"/>
                <a:cs typeface="+mn-cs"/>
              </a:rPr>
              <a:t>section, it continues to consume processor time.</a:t>
            </a:r>
          </a:p>
          <a:p>
            <a:pPr>
              <a:buFont typeface="Arial"/>
              <a:buChar char="•"/>
            </a:pPr>
            <a:r>
              <a:rPr lang="en-US" sz="1200" b="1" kern="1200" baseline="0" dirty="0">
                <a:solidFill>
                  <a:schemeClr val="tx1"/>
                </a:solidFill>
                <a:latin typeface="+mn-lt"/>
                <a:ea typeface="+mn-ea"/>
                <a:cs typeface="+mn-cs"/>
              </a:rPr>
              <a:t>Starvation is possible: </a:t>
            </a:r>
            <a:r>
              <a:rPr lang="en-US" sz="1200" b="0" kern="1200" baseline="0" dirty="0">
                <a:solidFill>
                  <a:schemeClr val="tx1"/>
                </a:solidFill>
                <a:latin typeface="+mn-lt"/>
                <a:ea typeface="+mn-ea"/>
                <a:cs typeface="+mn-cs"/>
              </a:rPr>
              <a:t>When a process leaves a critical section and more than </a:t>
            </a:r>
            <a:r>
              <a:rPr lang="en-US" sz="1200" kern="1200" baseline="0" dirty="0">
                <a:solidFill>
                  <a:schemeClr val="tx1"/>
                </a:solidFill>
                <a:latin typeface="+mn-lt"/>
                <a:ea typeface="+mn-ea"/>
                <a:cs typeface="+mn-cs"/>
              </a:rPr>
              <a:t>one process is waiting, the selection of a waiting process is arbitrary. Thus, some process could indefinitely be denied access.</a:t>
            </a: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Deadlock is possible: </a:t>
            </a:r>
            <a:r>
              <a:rPr lang="en-US" sz="1200" b="0" kern="1200" baseline="0" dirty="0">
                <a:solidFill>
                  <a:schemeClr val="tx1"/>
                </a:solidFill>
                <a:latin typeface="+mn-lt"/>
                <a:ea typeface="+mn-ea"/>
                <a:cs typeface="+mn-cs"/>
              </a:rPr>
              <a:t>Consider the following scenario on a single-processor </a:t>
            </a:r>
            <a:r>
              <a:rPr lang="en-US" sz="1200" kern="1200" baseline="0" dirty="0">
                <a:solidFill>
                  <a:schemeClr val="tx1"/>
                </a:solidFill>
                <a:latin typeface="+mn-lt"/>
                <a:ea typeface="+mn-ea"/>
                <a:cs typeface="+mn-cs"/>
              </a:rPr>
              <a:t>system. Process P1 executes the special instruction (e.g., compare &amp; swap, exchange ) and enters its critical section. P1 is then interrupted to give the processor to P2, which has higher priority. If P2 now attempts to use the same resource as P1, it will be denied access because of the mutual exclusion mechanism. Thus, it will go into a busy waiting loop. However, P1 will never be dispatched</a:t>
            </a:r>
          </a:p>
          <a:p>
            <a:r>
              <a:rPr lang="en-US" sz="1200" kern="1200" baseline="0" dirty="0">
                <a:solidFill>
                  <a:schemeClr val="tx1"/>
                </a:solidFill>
                <a:latin typeface="+mn-lt"/>
                <a:ea typeface="+mn-ea"/>
                <a:cs typeface="+mn-cs"/>
              </a:rPr>
              <a:t>because it is of lower priority than another ready process, P2.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Because of the drawbacks of both the software and hardware solutions just outlined, we need to look for other mechanisms.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mn-lt"/>
                <a:ea typeface="+mn-ea"/>
                <a:cs typeface="+mn-cs"/>
              </a:rPr>
              <a:t>The fundamental principle is this: Two or more processes can cooperate by means of simple signals, such that a process can be forced to stop at a specified place until it has received a specific signal. Any complex coordination requirement can be satisfied by the appropriate structure of signals. For signaling, special variables called semaphores are used. To transmit a signal via semaphore </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 a process executes the primitive </a:t>
            </a:r>
            <a:r>
              <a:rPr lang="en-US" sz="1200" kern="1200" baseline="0" dirty="0" err="1">
                <a:solidFill>
                  <a:schemeClr val="tx1"/>
                </a:solidFill>
                <a:latin typeface="+mn-lt"/>
                <a:ea typeface="+mn-ea"/>
                <a:cs typeface="+mn-cs"/>
              </a:rPr>
              <a:t>semSignal(s</a:t>
            </a:r>
            <a:r>
              <a:rPr lang="en-US" sz="1200" kern="1200" baseline="0" dirty="0">
                <a:solidFill>
                  <a:schemeClr val="tx1"/>
                </a:solidFill>
                <a:latin typeface="+mn-lt"/>
                <a:ea typeface="+mn-ea"/>
                <a:cs typeface="+mn-cs"/>
              </a:rPr>
              <a:t>) . To receive a signal via semaphore </a:t>
            </a:r>
            <a:r>
              <a:rPr lang="en-US" sz="1200" kern="1200" baseline="0" dirty="0" err="1">
                <a:solidFill>
                  <a:schemeClr val="tx1"/>
                </a:solidFill>
                <a:latin typeface="+mn-lt"/>
                <a:ea typeface="+mn-ea"/>
                <a:cs typeface="+mn-cs"/>
              </a:rPr>
              <a:t>s</a:t>
            </a:r>
            <a:r>
              <a:rPr lang="en-US" sz="1200" kern="1200" baseline="0" dirty="0">
                <a:solidFill>
                  <a:schemeClr val="tx1"/>
                </a:solidFill>
                <a:latin typeface="+mn-lt"/>
                <a:ea typeface="+mn-ea"/>
                <a:cs typeface="+mn-cs"/>
              </a:rPr>
              <a:t> , a process executes the primitive </a:t>
            </a:r>
            <a:r>
              <a:rPr lang="en-US" sz="1200" kern="1200" baseline="0" dirty="0" err="1">
                <a:solidFill>
                  <a:schemeClr val="tx1"/>
                </a:solidFill>
                <a:latin typeface="+mn-lt"/>
                <a:ea typeface="+mn-ea"/>
                <a:cs typeface="+mn-cs"/>
              </a:rPr>
              <a:t>semWait(s</a:t>
            </a:r>
            <a:r>
              <a:rPr lang="en-US" sz="1200" kern="1200" baseline="0" dirty="0">
                <a:solidFill>
                  <a:schemeClr val="tx1"/>
                </a:solidFill>
                <a:latin typeface="+mn-lt"/>
                <a:ea typeface="+mn-ea"/>
                <a:cs typeface="+mn-cs"/>
              </a:rPr>
              <a:t>) ; if the corresponding signal has not yet been transmitted, the process is suspended until the transmission takes place.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achieve the desired effect, we can view the semaphore as a variable that has an integer value upon which only three operations are defined:</a:t>
            </a:r>
          </a:p>
          <a:p>
            <a:r>
              <a:rPr lang="en-US" sz="1200" b="1" kern="1200" baseline="0" dirty="0">
                <a:solidFill>
                  <a:schemeClr val="tx1"/>
                </a:solidFill>
                <a:latin typeface="+mn-lt"/>
                <a:ea typeface="+mn-ea"/>
                <a:cs typeface="+mn-cs"/>
              </a:rPr>
              <a:t>1. A semaphore may be initialized to a nonnegative integer value.</a:t>
            </a:r>
          </a:p>
          <a:p>
            <a:r>
              <a:rPr lang="en-US" sz="1200" b="1" kern="1200" baseline="0" dirty="0">
                <a:solidFill>
                  <a:schemeClr val="tx1"/>
                </a:solidFill>
                <a:latin typeface="+mn-lt"/>
                <a:ea typeface="+mn-ea"/>
                <a:cs typeface="+mn-cs"/>
              </a:rPr>
              <a:t>2. The </a:t>
            </a:r>
            <a:r>
              <a:rPr lang="en-US" sz="1200" b="1" kern="1200" baseline="0" dirty="0" err="1">
                <a:solidFill>
                  <a:schemeClr val="tx1"/>
                </a:solidFill>
                <a:latin typeface="+mn-lt"/>
                <a:ea typeface="+mn-ea"/>
                <a:cs typeface="+mn-cs"/>
              </a:rPr>
              <a:t>semWait</a:t>
            </a:r>
            <a:r>
              <a:rPr lang="en-US" sz="1200" b="1" kern="1200" baseline="0" dirty="0">
                <a:solidFill>
                  <a:schemeClr val="tx1"/>
                </a:solidFill>
                <a:latin typeface="+mn-lt"/>
                <a:ea typeface="+mn-ea"/>
                <a:cs typeface="+mn-cs"/>
              </a:rPr>
              <a:t> operation decrements the semaphore value. </a:t>
            </a:r>
            <a:r>
              <a:rPr lang="en-US" sz="1200" b="0" kern="1200" baseline="0" dirty="0">
                <a:solidFill>
                  <a:schemeClr val="tx1"/>
                </a:solidFill>
                <a:latin typeface="+mn-lt"/>
                <a:ea typeface="+mn-ea"/>
                <a:cs typeface="+mn-cs"/>
              </a:rPr>
              <a:t>If the value </a:t>
            </a:r>
            <a:r>
              <a:rPr lang="en-US" sz="1200" kern="1200" baseline="0" dirty="0">
                <a:solidFill>
                  <a:schemeClr val="tx1"/>
                </a:solidFill>
                <a:latin typeface="+mn-lt"/>
                <a:ea typeface="+mn-ea"/>
                <a:cs typeface="+mn-cs"/>
              </a:rPr>
              <a:t>becomes negative, then the process executing the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is blocked.</a:t>
            </a:r>
          </a:p>
          <a:p>
            <a:r>
              <a:rPr lang="en-US" sz="1200" kern="1200" baseline="0" dirty="0">
                <a:solidFill>
                  <a:schemeClr val="tx1"/>
                </a:solidFill>
                <a:latin typeface="+mn-lt"/>
                <a:ea typeface="+mn-ea"/>
                <a:cs typeface="+mn-cs"/>
              </a:rPr>
              <a:t>Otherwise, the process continues execution.</a:t>
            </a:r>
          </a:p>
          <a:p>
            <a:r>
              <a:rPr lang="en-US" sz="1200" b="1" kern="1200" baseline="0" dirty="0">
                <a:solidFill>
                  <a:schemeClr val="tx1"/>
                </a:solidFill>
                <a:latin typeface="+mn-lt"/>
                <a:ea typeface="+mn-ea"/>
                <a:cs typeface="+mn-cs"/>
              </a:rPr>
              <a:t>3. The </a:t>
            </a:r>
            <a:r>
              <a:rPr lang="en-US" sz="1200" b="1" kern="1200" baseline="0" dirty="0" err="1">
                <a:solidFill>
                  <a:schemeClr val="tx1"/>
                </a:solidFill>
                <a:latin typeface="+mn-lt"/>
                <a:ea typeface="+mn-ea"/>
                <a:cs typeface="+mn-cs"/>
              </a:rPr>
              <a:t>semSignal</a:t>
            </a:r>
            <a:r>
              <a:rPr lang="en-US" sz="1200" b="1" kern="1200" baseline="0" dirty="0">
                <a:solidFill>
                  <a:schemeClr val="tx1"/>
                </a:solidFill>
                <a:latin typeface="+mn-lt"/>
                <a:ea typeface="+mn-ea"/>
                <a:cs typeface="+mn-cs"/>
              </a:rPr>
              <a:t> operation increments the semaphore value</a:t>
            </a:r>
            <a:r>
              <a:rPr lang="en-US" sz="1200" b="0" kern="1200" baseline="0" dirty="0">
                <a:solidFill>
                  <a:schemeClr val="tx1"/>
                </a:solidFill>
                <a:latin typeface="+mn-lt"/>
                <a:ea typeface="+mn-ea"/>
                <a:cs typeface="+mn-cs"/>
              </a:rPr>
              <a:t>. If the resulting </a:t>
            </a:r>
            <a:r>
              <a:rPr lang="en-US" sz="1200" kern="1200" baseline="0" dirty="0">
                <a:solidFill>
                  <a:schemeClr val="tx1"/>
                </a:solidFill>
                <a:latin typeface="+mn-lt"/>
                <a:ea typeface="+mn-ea"/>
                <a:cs typeface="+mn-cs"/>
              </a:rPr>
              <a:t>value is less than or equal to zero, then a process blocked by a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operation,</a:t>
            </a:r>
          </a:p>
          <a:p>
            <a:r>
              <a:rPr lang="en-US" sz="1200" kern="1200" baseline="0" dirty="0">
                <a:solidFill>
                  <a:schemeClr val="tx1"/>
                </a:solidFill>
                <a:latin typeface="+mn-lt"/>
                <a:ea typeface="+mn-ea"/>
                <a:cs typeface="+mn-cs"/>
              </a:rPr>
              <a:t>if any, is unblocked. Other than these three operations, there is no way to inspect or manipulate semaphores.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explain these operations as follows. To begin, the semaphore has a zero or positive value. If the value is positive, that value equals the number of processes that can issue a wait and immediately continue to execute. If the value is zero, either by initialization or because a number of processes equal to the initial semaphore value have issued a wait, the next process to issue a wait is blocked, and the semaphore value goes negative. Each subsequent wait drives the semaphore value further into minus territory. The negative value equals the number of processes waiting to be unblocked. Each signal unblocks one of the waiting processes when the semaphore value is negative.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[DOWN08] points out three interesting consequences of the semaphore definition:</a:t>
            </a:r>
          </a:p>
          <a:p>
            <a:r>
              <a:rPr lang="en-US" sz="1200" kern="1200" baseline="0" dirty="0">
                <a:solidFill>
                  <a:schemeClr val="tx1"/>
                </a:solidFill>
                <a:latin typeface="+mn-lt"/>
                <a:ea typeface="+mn-ea"/>
                <a:cs typeface="+mn-cs"/>
              </a:rPr>
              <a:t>• In general, there is no way to know before a process decrements a semaphore whether it will block or not.</a:t>
            </a:r>
          </a:p>
          <a:p>
            <a:pPr>
              <a:buFont typeface="Arial"/>
              <a:buChar char="•"/>
            </a:pPr>
            <a:r>
              <a:rPr lang="en-US" sz="1200" kern="1200" baseline="0" dirty="0">
                <a:solidFill>
                  <a:schemeClr val="tx1"/>
                </a:solidFill>
                <a:latin typeface="+mn-lt"/>
                <a:ea typeface="+mn-ea"/>
                <a:cs typeface="+mn-cs"/>
              </a:rPr>
              <a:t>After a process increments a semaphore and another process gets woken up, both processes continue running concurrently. There is no way to know which process, if either, will continue immediately on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a:t>
            </a:r>
          </a:p>
          <a:p>
            <a:r>
              <a:rPr lang="en-US" sz="1200" kern="1200" baseline="0" dirty="0">
                <a:solidFill>
                  <a:schemeClr val="tx1"/>
                </a:solidFill>
                <a:latin typeface="+mn-lt"/>
                <a:ea typeface="+mn-ea"/>
                <a:cs typeface="+mn-cs"/>
              </a:rPr>
              <a:t>• When you signal a semaphore, you don’t necessarily know whether another process is waiting, so the number of unblocked processes may be zero or one.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For both counting semaphores and binary semaphores, a queue is used to hold processes waiting on the semaphore. The question arises of the order in which processes are removed from such a queue. The fairest removal policy is first-in-first-out (FIFO): The process that has been blocked the longest is released from the queue first; a semaphore whose definition includes this policy is called a </a:t>
            </a:r>
            <a:r>
              <a:rPr lang="en-US" sz="1200" b="1" kern="1200" baseline="0" dirty="0">
                <a:solidFill>
                  <a:schemeClr val="tx1"/>
                </a:solidFill>
                <a:latin typeface="+mn-lt"/>
                <a:ea typeface="+mn-ea"/>
                <a:cs typeface="+mn-cs"/>
              </a:rPr>
              <a:t>strong semaphore . </a:t>
            </a:r>
            <a:r>
              <a:rPr lang="en-US" sz="1200" b="0" kern="1200" baseline="0" dirty="0">
                <a:solidFill>
                  <a:schemeClr val="tx1"/>
                </a:solidFill>
                <a:latin typeface="+mn-lt"/>
                <a:ea typeface="+mn-ea"/>
                <a:cs typeface="+mn-cs"/>
              </a:rPr>
              <a:t>A semaphore that does not specify the order in which processes </a:t>
            </a:r>
            <a:r>
              <a:rPr lang="en-US" sz="1200" kern="1200" baseline="0" dirty="0">
                <a:solidFill>
                  <a:schemeClr val="tx1"/>
                </a:solidFill>
                <a:latin typeface="+mn-lt"/>
                <a:ea typeface="+mn-ea"/>
                <a:cs typeface="+mn-cs"/>
              </a:rPr>
              <a:t>are removed from the queue is a </a:t>
            </a:r>
            <a:r>
              <a:rPr lang="en-US" sz="1200" b="1" kern="1200" baseline="0" dirty="0">
                <a:solidFill>
                  <a:schemeClr val="tx1"/>
                </a:solidFill>
                <a:latin typeface="+mn-lt"/>
                <a:ea typeface="+mn-ea"/>
                <a:cs typeface="+mn-cs"/>
              </a:rPr>
              <a:t>weak semaphore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To begin, let us assume that the buffer is infinite and consists of a linear array of elements.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now examine one of the most common problems faced in concurrent processing: the producer/consumer problem. The general statement is this: There are one or more producers generating some type of data (records, characters) and placing these in a buffer. There is a single consumer that is taking items out of the buffer one at a time. The system is to be constrained to prevent the overlap of buffer operations. That is, only one agent (producer or consumer) may access the buffer at any one time. The problem is to make sure that the producer won’t try to add data into the buffer if it’s full and that the consumer won’t try to remove data from an empty buffer. We will look at a number of solutions to this problem to illustrate both the power and the pitfalls of semaphores.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5.8 illustrates the structure of buffer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 The producer can generate items and store them in the buffer at its own pace. Each time, an index ( </a:t>
            </a:r>
            <a:r>
              <a:rPr lang="en-US" sz="1200" i="1" kern="1200" baseline="0" dirty="0">
                <a:solidFill>
                  <a:schemeClr val="tx1"/>
                </a:solidFill>
                <a:latin typeface="+mn-lt"/>
                <a:ea typeface="+mn-ea"/>
                <a:cs typeface="+mn-cs"/>
              </a:rPr>
              <a:t>in ) into the </a:t>
            </a:r>
            <a:r>
              <a:rPr lang="en-US" sz="1200" kern="1200" baseline="0" dirty="0">
                <a:solidFill>
                  <a:schemeClr val="tx1"/>
                </a:solidFill>
                <a:latin typeface="+mn-lt"/>
                <a:ea typeface="+mn-ea"/>
                <a:cs typeface="+mn-cs"/>
              </a:rPr>
              <a:t>buffer is incremented. The consumer proceeds in a similar fashion but must make sure that it does not attempt to read from an empty buffer. Hence, the consumer makes sure that the producer has advanced beyond it ( </a:t>
            </a:r>
            <a:r>
              <a:rPr lang="en-US" sz="1200" i="1" kern="1200" baseline="0" dirty="0">
                <a:solidFill>
                  <a:schemeClr val="tx1"/>
                </a:solidFill>
                <a:latin typeface="+mn-lt"/>
                <a:ea typeface="+mn-ea"/>
                <a:cs typeface="+mn-cs"/>
              </a:rPr>
              <a:t>in &gt; out ) before proceeding.</a:t>
            </a:r>
            <a:endParaRPr lang="en-NZ" dirty="0"/>
          </a:p>
          <a:p>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was mentioned earlier, it is imperative that the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operations be implemented as atomic primitives. One obvious way is to implement them in hardware or firmware. Failing this, a variety of schemes have been suggested. The essence of the problem is one of mutual exclusion: Only one process at a time may manipulate a semaphore with either a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or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operation. Thus, any of the software schemes, such as Dekker’s algorithm or Peterson’s algorithm ( Appendix A ), could be used; this would entail a substantial processing overhead.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alternative is to use one of the hardware-supported schemes for mutual exclusion.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monitor is a programming-language construct that provides equivalent functionality to that of semaphores and that is easier to control. The concept was first formally defined in [HOAR74]. The monitor construct has been implemented in a number of programming languages, including Concurrent Pascal, Pascal-Plus, Modula-2, Modula-3, and Java. It has also been implemented as a program library. This allows programmers to put a monitor lock on any object. In particular, for something like a linked list, you may want to lock all linked lists with one lock, or have one lock for each list, or have one lock for each element of each list.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monitor is a software module consisting of one or more procedures, an initialization sequence, and local data.</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chief characteristics of a monitor are the following:</a:t>
            </a:r>
          </a:p>
          <a:p>
            <a:r>
              <a:rPr lang="en-US" sz="1200" b="0" kern="1200" baseline="0" dirty="0">
                <a:solidFill>
                  <a:schemeClr val="tx1"/>
                </a:solidFill>
                <a:latin typeface="+mn-lt"/>
                <a:ea typeface="+mn-ea"/>
                <a:cs typeface="+mn-cs"/>
              </a:rPr>
              <a:t>1. The local data variables are accessible only by the monitor’s procedures and</a:t>
            </a:r>
          </a:p>
          <a:p>
            <a:r>
              <a:rPr lang="en-US" sz="1200" kern="1200" baseline="0" dirty="0">
                <a:solidFill>
                  <a:schemeClr val="tx1"/>
                </a:solidFill>
                <a:latin typeface="+mn-lt"/>
                <a:ea typeface="+mn-ea"/>
                <a:cs typeface="+mn-cs"/>
              </a:rPr>
              <a:t>not by any external procedure.</a:t>
            </a:r>
          </a:p>
          <a:p>
            <a:r>
              <a:rPr lang="en-US" sz="1200" b="0" kern="1200" baseline="0" dirty="0">
                <a:solidFill>
                  <a:schemeClr val="tx1"/>
                </a:solidFill>
                <a:latin typeface="+mn-lt"/>
                <a:ea typeface="+mn-ea"/>
                <a:cs typeface="+mn-cs"/>
              </a:rPr>
              <a:t>2. A process enters the monitor by invoking one of its procedures.</a:t>
            </a:r>
          </a:p>
          <a:p>
            <a:r>
              <a:rPr lang="en-US" sz="1200" b="0" kern="1200" baseline="0" dirty="0">
                <a:solidFill>
                  <a:schemeClr val="tx1"/>
                </a:solidFill>
                <a:latin typeface="+mn-lt"/>
                <a:ea typeface="+mn-ea"/>
                <a:cs typeface="+mn-cs"/>
              </a:rPr>
              <a:t>3. Only one process may be executing in the monitor at a time; any other processes</a:t>
            </a:r>
          </a:p>
          <a:p>
            <a:r>
              <a:rPr lang="en-US" sz="1200" kern="1200" baseline="0" dirty="0">
                <a:solidFill>
                  <a:schemeClr val="tx1"/>
                </a:solidFill>
                <a:latin typeface="+mn-lt"/>
                <a:ea typeface="+mn-ea"/>
                <a:cs typeface="+mn-cs"/>
              </a:rPr>
              <a:t>that have invoked the monitor are blocked, waiting for the monitor to become available.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first two characteristics are reminiscent of those for objects in object-oriented software. Indeed, an object-oriented OS or programming language can readily implement a monitor as an object with special characteristics.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By enforcing the discipline of one process at a time, the monitor is able to provide a mutual exclusion facility. The data variables in the monitor can be accessed by only one process at a time. Thus, a shared data structure can be protected by placing it in a monitor. If the data in a monitor represent some resource, then the monitor provides a mutual exclusion facility for accessing the resource.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be useful for concurrent processing, the monitor must include synchronization tools. For example, suppose a process invokes the monitor and, while in the</a:t>
            </a:r>
          </a:p>
          <a:p>
            <a:r>
              <a:rPr lang="en-US" sz="1200" kern="1200" baseline="0" dirty="0">
                <a:solidFill>
                  <a:schemeClr val="tx1"/>
                </a:solidFill>
                <a:latin typeface="+mn-lt"/>
                <a:ea typeface="+mn-ea"/>
                <a:cs typeface="+mn-cs"/>
              </a:rPr>
              <a:t>monitor, must be blocked until some condition is satisfied. A facility is needed by which the process is not only blocked but releases the monitor so that some other process may enter it. Later, when the condition is satisfied and the monitor is again available, the process needs to be resumed and allowed to reenter the monitor at the point of its suspension.</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monitor supports synchronization by the use of </a:t>
            </a:r>
            <a:r>
              <a:rPr lang="en-US" sz="1200" b="1" kern="1200" baseline="0" dirty="0">
                <a:solidFill>
                  <a:schemeClr val="tx1"/>
                </a:solidFill>
                <a:latin typeface="+mn-lt"/>
                <a:ea typeface="+mn-ea"/>
                <a:cs typeface="+mn-cs"/>
              </a:rPr>
              <a:t>condition variables that are </a:t>
            </a:r>
            <a:r>
              <a:rPr lang="en-US" sz="1200" kern="1200" baseline="0" dirty="0">
                <a:solidFill>
                  <a:schemeClr val="tx1"/>
                </a:solidFill>
                <a:latin typeface="+mn-lt"/>
                <a:ea typeface="+mn-ea"/>
                <a:cs typeface="+mn-cs"/>
              </a:rPr>
              <a:t>contained within the monitor and accessible only within the monitor. Condition variables are a special data type in monitors, which are operated on by two functions:</a:t>
            </a: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cwait(c</a:t>
            </a:r>
            <a:r>
              <a:rPr lang="en-US" sz="1200" kern="1200" baseline="0" dirty="0">
                <a:solidFill>
                  <a:schemeClr val="tx1"/>
                </a:solidFill>
                <a:latin typeface="+mn-lt"/>
                <a:ea typeface="+mn-ea"/>
                <a:cs typeface="+mn-cs"/>
              </a:rPr>
              <a:t>) : Suspend execution of the calling process on condition </a:t>
            </a:r>
            <a:r>
              <a:rPr lang="en-US" sz="1200" i="1" kern="1200" baseline="0" dirty="0">
                <a:solidFill>
                  <a:schemeClr val="tx1"/>
                </a:solidFill>
                <a:latin typeface="+mn-lt"/>
                <a:ea typeface="+mn-ea"/>
                <a:cs typeface="+mn-cs"/>
              </a:rPr>
              <a:t>c . The monitor </a:t>
            </a:r>
            <a:r>
              <a:rPr lang="en-US" sz="1200" kern="1200" baseline="0" dirty="0">
                <a:solidFill>
                  <a:schemeClr val="tx1"/>
                </a:solidFill>
                <a:latin typeface="+mn-lt"/>
                <a:ea typeface="+mn-ea"/>
                <a:cs typeface="+mn-cs"/>
              </a:rPr>
              <a:t>is now available for use by another process.</a:t>
            </a: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csignal(c</a:t>
            </a:r>
            <a:r>
              <a:rPr lang="en-US" sz="1200" kern="1200" baseline="0" dirty="0">
                <a:solidFill>
                  <a:schemeClr val="tx1"/>
                </a:solidFill>
                <a:latin typeface="+mn-lt"/>
                <a:ea typeface="+mn-ea"/>
                <a:cs typeface="+mn-cs"/>
              </a:rPr>
              <a:t>) : Resume execution of some process blocked after a </a:t>
            </a:r>
            <a:r>
              <a:rPr lang="en-US" sz="1200" kern="1200" baseline="0" dirty="0" err="1">
                <a:solidFill>
                  <a:schemeClr val="tx1"/>
                </a:solidFill>
                <a:latin typeface="+mn-lt"/>
                <a:ea typeface="+mn-ea"/>
                <a:cs typeface="+mn-cs"/>
              </a:rPr>
              <a:t>cwait</a:t>
            </a:r>
            <a:r>
              <a:rPr lang="en-US" sz="1200" kern="1200" baseline="0" dirty="0">
                <a:solidFill>
                  <a:schemeClr val="tx1"/>
                </a:solidFill>
                <a:latin typeface="+mn-lt"/>
                <a:ea typeface="+mn-ea"/>
                <a:cs typeface="+mn-cs"/>
              </a:rPr>
              <a:t> on the same condition. If there are several such processes, choose one of them; if there is no such process, do nothing.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monitor </a:t>
            </a:r>
            <a:r>
              <a:rPr lang="en-US" sz="1200" i="1" kern="1200" baseline="0" dirty="0">
                <a:solidFill>
                  <a:schemeClr val="tx1"/>
                </a:solidFill>
                <a:latin typeface="+mn-lt"/>
                <a:ea typeface="+mn-ea"/>
                <a:cs typeface="+mn-cs"/>
              </a:rPr>
              <a:t>wait and signal operations are different from those for the </a:t>
            </a:r>
            <a:r>
              <a:rPr lang="en-US" sz="1200" kern="1200" baseline="0" dirty="0">
                <a:solidFill>
                  <a:schemeClr val="tx1"/>
                </a:solidFill>
                <a:latin typeface="+mn-lt"/>
                <a:ea typeface="+mn-ea"/>
                <a:cs typeface="+mn-cs"/>
              </a:rPr>
              <a:t>semaphore. If a process in a monitor signals and no task is waiting on the condition variable, the signal is lost.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5.15 illustrates the structure of a monitor. Although a process can enter the monitor by invoking any of its procedures, we can think of the monitor as having a single entry point that is guarded so that only one process may be in the monitor at a time. Other processes that attempt to enter the monitor join a queue of processes blocked waiting for monitor availability. Once a process is in the monitor, it may temporarily block itself on condition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by issuing </a:t>
            </a:r>
            <a:r>
              <a:rPr lang="en-US" sz="1200" i="1" kern="1200" baseline="0" dirty="0" err="1">
                <a:solidFill>
                  <a:schemeClr val="tx1"/>
                </a:solidFill>
                <a:latin typeface="+mn-lt"/>
                <a:ea typeface="+mn-ea"/>
                <a:cs typeface="+mn-cs"/>
              </a:rPr>
              <a:t>cwait(x</a:t>
            </a:r>
            <a:r>
              <a:rPr lang="en-US" sz="1200" i="1" kern="1200" baseline="0" dirty="0">
                <a:solidFill>
                  <a:schemeClr val="tx1"/>
                </a:solidFill>
                <a:latin typeface="+mn-lt"/>
                <a:ea typeface="+mn-ea"/>
                <a:cs typeface="+mn-cs"/>
              </a:rPr>
              <a:t>) ; it is then placed </a:t>
            </a:r>
            <a:r>
              <a:rPr lang="en-US" sz="1200" kern="1200" baseline="0" dirty="0">
                <a:solidFill>
                  <a:schemeClr val="tx1"/>
                </a:solidFill>
                <a:latin typeface="+mn-lt"/>
                <a:ea typeface="+mn-ea"/>
                <a:cs typeface="+mn-cs"/>
              </a:rPr>
              <a:t>in a queue of processes waiting to reenter the monitor when the condition changes, and resume execution at the point in its program following the </a:t>
            </a:r>
            <a:r>
              <a:rPr lang="en-US" sz="1200" kern="1200" baseline="0" dirty="0" err="1">
                <a:solidFill>
                  <a:schemeClr val="tx1"/>
                </a:solidFill>
                <a:latin typeface="+mn-lt"/>
                <a:ea typeface="+mn-ea"/>
                <a:cs typeface="+mn-cs"/>
              </a:rPr>
              <a:t>cwait(x</a:t>
            </a:r>
            <a:r>
              <a:rPr lang="en-US" sz="1200" kern="1200" baseline="0" dirty="0">
                <a:solidFill>
                  <a:schemeClr val="tx1"/>
                </a:solidFill>
                <a:latin typeface="+mn-lt"/>
                <a:ea typeface="+mn-ea"/>
                <a:cs typeface="+mn-cs"/>
              </a:rPr>
              <a:t>) call. If a process that is executing in the monitor detects a change in the condition variable </a:t>
            </a:r>
            <a:r>
              <a:rPr lang="en-US" sz="1200" kern="1200" baseline="0" dirty="0" err="1">
                <a:solidFill>
                  <a:schemeClr val="tx1"/>
                </a:solidFill>
                <a:latin typeface="+mn-lt"/>
                <a:ea typeface="+mn-ea"/>
                <a:cs typeface="+mn-cs"/>
              </a:rPr>
              <a:t>x</a:t>
            </a:r>
            <a:r>
              <a:rPr lang="en-US" sz="1200" kern="1200" baseline="0" dirty="0">
                <a:solidFill>
                  <a:schemeClr val="tx1"/>
                </a:solidFill>
                <a:latin typeface="+mn-lt"/>
                <a:ea typeface="+mn-ea"/>
                <a:cs typeface="+mn-cs"/>
              </a:rPr>
              <a:t> , it issues </a:t>
            </a:r>
            <a:r>
              <a:rPr lang="en-US" sz="1200" kern="1200" baseline="0" dirty="0" err="1">
                <a:solidFill>
                  <a:schemeClr val="tx1"/>
                </a:solidFill>
                <a:latin typeface="+mn-lt"/>
                <a:ea typeface="+mn-ea"/>
                <a:cs typeface="+mn-cs"/>
              </a:rPr>
              <a:t>csignal(x</a:t>
            </a:r>
            <a:r>
              <a:rPr lang="en-US" sz="1200" kern="1200" baseline="0" dirty="0">
                <a:solidFill>
                  <a:schemeClr val="tx1"/>
                </a:solidFill>
                <a:latin typeface="+mn-lt"/>
                <a:ea typeface="+mn-ea"/>
                <a:cs typeface="+mn-cs"/>
              </a:rPr>
              <a:t>) , which alerts the corresponding condition queue that the condition has changed.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When processes interact with one another, two fundamental requirements must be satisfied: synchronization and communication. Processes need to be synchronized to enforce mutual exclusion; cooperating processes may need to exchange information. One approach to providing both of these functions is message passing. Message passing has the further advantage that it lends itself to implementation in distributed systems as well as in shared-memory multiprocessor and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Message-passing systems come in many forms. In this section, we provide a general introduction that discusses features typically found in such systems. The actual function of message passing is normally provided in the form of a pair of primitives: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send (destination, message)</a:t>
            </a:r>
          </a:p>
          <a:p>
            <a:r>
              <a:rPr lang="en-US" sz="1200" kern="1200" baseline="0" dirty="0">
                <a:solidFill>
                  <a:schemeClr val="tx1"/>
                </a:solidFill>
                <a:latin typeface="+mn-lt"/>
                <a:ea typeface="+mn-ea"/>
                <a:cs typeface="+mn-cs"/>
              </a:rPr>
              <a:t>receive (source, message)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is the minimum set of operations needed for processes to engage in message passing. A process sends information in the form of a </a:t>
            </a:r>
            <a:r>
              <a:rPr lang="en-US" sz="1200" i="1" kern="1200" baseline="0" dirty="0">
                <a:solidFill>
                  <a:schemeClr val="tx1"/>
                </a:solidFill>
                <a:latin typeface="+mn-lt"/>
                <a:ea typeface="+mn-ea"/>
                <a:cs typeface="+mn-cs"/>
              </a:rPr>
              <a:t>message to another process </a:t>
            </a:r>
            <a:r>
              <a:rPr lang="en-US" sz="1200" kern="1200" baseline="0" dirty="0">
                <a:solidFill>
                  <a:schemeClr val="tx1"/>
                </a:solidFill>
                <a:latin typeface="+mn-lt"/>
                <a:ea typeface="+mn-ea"/>
                <a:cs typeface="+mn-cs"/>
              </a:rPr>
              <a:t>designated by a </a:t>
            </a:r>
            <a:r>
              <a:rPr lang="en-US" sz="1200" i="1" kern="1200" baseline="0" dirty="0">
                <a:solidFill>
                  <a:schemeClr val="tx1"/>
                </a:solidFill>
                <a:latin typeface="+mn-lt"/>
                <a:ea typeface="+mn-ea"/>
                <a:cs typeface="+mn-cs"/>
              </a:rPr>
              <a:t>destination . A process receives information by executing the </a:t>
            </a:r>
            <a:r>
              <a:rPr lang="en-US" sz="1200" kern="1200" baseline="0" dirty="0">
                <a:solidFill>
                  <a:schemeClr val="tx1"/>
                </a:solidFill>
                <a:latin typeface="+mn-lt"/>
                <a:ea typeface="+mn-ea"/>
                <a:cs typeface="+mn-cs"/>
              </a:rPr>
              <a:t>receive primitive, indicating the </a:t>
            </a:r>
            <a:r>
              <a:rPr lang="en-US" sz="1200" i="1" kern="1200" baseline="0" dirty="0">
                <a:solidFill>
                  <a:schemeClr val="tx1"/>
                </a:solidFill>
                <a:latin typeface="+mn-lt"/>
                <a:ea typeface="+mn-ea"/>
                <a:cs typeface="+mn-cs"/>
              </a:rPr>
              <a:t>source and the message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communication of a message between two processes implies some level of synchronization between the two: The receiver cannot receive a message until it has been sent by another process. In addition, we need to specify what happens to a process after it issues a send or receive primitive. Consider the send primitive first. When a send primitive is executed in a process, there are two possibilities: Either the sending process is blocked until the message is received, or it is not. Similarly, when a process issues a receive primitive, there are two possibilities:</a:t>
            </a:r>
          </a:p>
          <a:p>
            <a:r>
              <a:rPr lang="en-US" sz="1200" b="0" kern="1200" baseline="0" dirty="0">
                <a:solidFill>
                  <a:schemeClr val="tx1"/>
                </a:solidFill>
                <a:latin typeface="+mn-lt"/>
                <a:ea typeface="+mn-ea"/>
                <a:cs typeface="+mn-cs"/>
              </a:rPr>
              <a:t>1. If a message has previously been sent, the message is received and execution </a:t>
            </a:r>
            <a:r>
              <a:rPr lang="en-US" sz="1200" kern="1200" baseline="0" dirty="0">
                <a:solidFill>
                  <a:schemeClr val="tx1"/>
                </a:solidFill>
                <a:latin typeface="+mn-lt"/>
                <a:ea typeface="+mn-ea"/>
                <a:cs typeface="+mn-cs"/>
              </a:rPr>
              <a:t>continues.</a:t>
            </a:r>
          </a:p>
          <a:p>
            <a:r>
              <a:rPr lang="en-US" sz="1200" b="0" kern="1200" baseline="0" dirty="0">
                <a:solidFill>
                  <a:schemeClr val="tx1"/>
                </a:solidFill>
                <a:latin typeface="+mn-lt"/>
                <a:ea typeface="+mn-ea"/>
                <a:cs typeface="+mn-cs"/>
              </a:rPr>
              <a:t>2. If there is no waiting message, then either (a) the process is blocked until</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a message arrives, or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the process continues to execute, abandoning the attempt to receive.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Thus, both the sender and receiver can be blocking or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Three combinations are common, although any particular system will usually have only one or two combinations implemented: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Blocking send, blocking receive: </a:t>
            </a:r>
            <a:r>
              <a:rPr lang="en-US" sz="1200" b="0" kern="1200" baseline="0" dirty="0">
                <a:solidFill>
                  <a:schemeClr val="tx1"/>
                </a:solidFill>
                <a:latin typeface="+mn-lt"/>
                <a:ea typeface="+mn-ea"/>
                <a:cs typeface="+mn-cs"/>
              </a:rPr>
              <a:t>Both the sender and receiver are blocked until </a:t>
            </a:r>
            <a:r>
              <a:rPr lang="en-US" sz="1200" kern="1200" baseline="0" dirty="0">
                <a:solidFill>
                  <a:schemeClr val="tx1"/>
                </a:solidFill>
                <a:latin typeface="+mn-lt"/>
                <a:ea typeface="+mn-ea"/>
                <a:cs typeface="+mn-cs"/>
              </a:rPr>
              <a:t>the message is delivered; this is sometimes referred to as a </a:t>
            </a:r>
            <a:r>
              <a:rPr lang="en-US" sz="1200" i="1" kern="1200" baseline="0" dirty="0">
                <a:solidFill>
                  <a:schemeClr val="tx1"/>
                </a:solidFill>
                <a:latin typeface="+mn-lt"/>
                <a:ea typeface="+mn-ea"/>
                <a:cs typeface="+mn-cs"/>
              </a:rPr>
              <a:t>rendezvous . This </a:t>
            </a:r>
            <a:r>
              <a:rPr lang="en-US" sz="1200" kern="1200" baseline="0" dirty="0">
                <a:solidFill>
                  <a:schemeClr val="tx1"/>
                </a:solidFill>
                <a:latin typeface="+mn-lt"/>
                <a:ea typeface="+mn-ea"/>
                <a:cs typeface="+mn-cs"/>
              </a:rPr>
              <a:t>combination allows for tight synchronization between processes.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b="1" kern="1200" baseline="0" dirty="0" err="1">
                <a:solidFill>
                  <a:schemeClr val="tx1"/>
                </a:solidFill>
                <a:latin typeface="+mn-lt"/>
                <a:ea typeface="+mn-ea"/>
                <a:cs typeface="+mn-cs"/>
              </a:rPr>
              <a:t>Nonblocking</a:t>
            </a:r>
            <a:r>
              <a:rPr lang="en-US" sz="1200" b="1" kern="1200" baseline="0" dirty="0">
                <a:solidFill>
                  <a:schemeClr val="tx1"/>
                </a:solidFill>
                <a:latin typeface="+mn-lt"/>
                <a:ea typeface="+mn-ea"/>
                <a:cs typeface="+mn-cs"/>
              </a:rPr>
              <a:t> send, blocking receive: </a:t>
            </a:r>
            <a:r>
              <a:rPr lang="en-US" sz="1200" b="0" kern="1200" baseline="0" dirty="0">
                <a:solidFill>
                  <a:schemeClr val="tx1"/>
                </a:solidFill>
                <a:latin typeface="+mn-lt"/>
                <a:ea typeface="+mn-ea"/>
                <a:cs typeface="+mn-cs"/>
              </a:rPr>
              <a:t>Although the sender may continue on, </a:t>
            </a:r>
            <a:r>
              <a:rPr lang="en-US" sz="1200" kern="1200" baseline="0" dirty="0">
                <a:solidFill>
                  <a:schemeClr val="tx1"/>
                </a:solidFill>
                <a:latin typeface="+mn-lt"/>
                <a:ea typeface="+mn-ea"/>
                <a:cs typeface="+mn-cs"/>
              </a:rPr>
              <a:t>the receiver is blocked until the requested message arrives. This is probably the most useful combination. It allows a process to send one or more messages to a variety of destinations as quickly as possible. A process that must receive a message before it can do useful work needs to be blocked until such a message arrives. An example is a server process that exists to provide a service or resource to other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err="1">
                <a:solidFill>
                  <a:schemeClr val="tx1"/>
                </a:solidFill>
                <a:latin typeface="+mn-lt"/>
                <a:ea typeface="+mn-ea"/>
                <a:cs typeface="+mn-cs"/>
              </a:rPr>
              <a:t>Nonblocking</a:t>
            </a:r>
            <a:r>
              <a:rPr lang="en-US" sz="1200" b="1" kern="1200" baseline="0" dirty="0">
                <a:solidFill>
                  <a:schemeClr val="tx1"/>
                </a:solidFill>
                <a:latin typeface="+mn-lt"/>
                <a:ea typeface="+mn-ea"/>
                <a:cs typeface="+mn-cs"/>
              </a:rPr>
              <a:t> send, </a:t>
            </a:r>
            <a:r>
              <a:rPr lang="en-US" sz="1200" b="1" kern="1200" baseline="0" dirty="0" err="1">
                <a:solidFill>
                  <a:schemeClr val="tx1"/>
                </a:solidFill>
                <a:latin typeface="+mn-lt"/>
                <a:ea typeface="+mn-ea"/>
                <a:cs typeface="+mn-cs"/>
              </a:rPr>
              <a:t>nonblocking</a:t>
            </a:r>
            <a:r>
              <a:rPr lang="en-US" sz="1200" b="1" kern="1200" baseline="0" dirty="0">
                <a:solidFill>
                  <a:schemeClr val="tx1"/>
                </a:solidFill>
                <a:latin typeface="+mn-lt"/>
                <a:ea typeface="+mn-ea"/>
                <a:cs typeface="+mn-cs"/>
              </a:rPr>
              <a:t> receive: </a:t>
            </a:r>
            <a:r>
              <a:rPr lang="en-US" sz="1200" b="0" kern="1200" baseline="0" dirty="0">
                <a:solidFill>
                  <a:schemeClr val="tx1"/>
                </a:solidFill>
                <a:latin typeface="+mn-lt"/>
                <a:ea typeface="+mn-ea"/>
                <a:cs typeface="+mn-cs"/>
              </a:rPr>
              <a:t>Neither party is required to wait.</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send is more natural for many concurrent programming tasks. For example, if it is used to request an output operation, such as printing, it allows the requesting process to issue the request in the form of a message and then carry on. One potential danger of the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send is that an error could lead to a situation in which a process repeatedly generates messages. Because there is no blocking to discipline the process, these messages could consume system resources, including processor time and buffer space, to the detriment of other processes and the OS. Also, the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send places the burden on the programmer to determine that a message has been received: Processes must employ reply messages to acknowledge receipt of a message.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the receive primitive, the blocking version appears to be more natural for many concurrent programming tasks. Generally, a process that requests a message will need the expected information before proceeding. However, if a message is lost, which can happen in a distributed system, or if a process fails before it sends an anticipated message, a receiving process could be blocked indefinitely. This problem can be solved by the use of the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receive . However, the danger of this approach is that if a message is sent after a process has already executed a matching receive , the message will be lost. Other possible approaches are to allow a process to test whether a message is waiting before issuing a receive and</a:t>
            </a:r>
          </a:p>
          <a:p>
            <a:r>
              <a:rPr lang="en-US" sz="1200" kern="1200" baseline="0" dirty="0">
                <a:solidFill>
                  <a:schemeClr val="tx1"/>
                </a:solidFill>
                <a:latin typeface="+mn-lt"/>
                <a:ea typeface="+mn-ea"/>
                <a:cs typeface="+mn-cs"/>
              </a:rPr>
              <a:t>allow a process to specify more than one source in a receive primitive. The latter approach is useful if a process is waiting for messages from more than one source</a:t>
            </a:r>
          </a:p>
          <a:p>
            <a:r>
              <a:rPr lang="en-US" sz="1200" kern="1200" baseline="0" dirty="0">
                <a:solidFill>
                  <a:schemeClr val="tx1"/>
                </a:solidFill>
                <a:latin typeface="+mn-lt"/>
                <a:ea typeface="+mn-ea"/>
                <a:cs typeface="+mn-cs"/>
              </a:rPr>
              <a:t>and can proceed if any of these messages arrive.</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Clearly, it is necessary to have a way of specifying in the send primitive which process is to receive the message. Similarly, most implementations allow a receiving process to indicate the source of a message to be received.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various schemes for specifying processes in send and receive primitives fall into two categories: direct addressing and indirect addressing.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 </a:t>
            </a:r>
            <a:r>
              <a:rPr lang="en-US" sz="1200" b="0" kern="1200" baseline="0" dirty="0">
                <a:solidFill>
                  <a:schemeClr val="tx1"/>
                </a:solidFill>
                <a:latin typeface="+mn-lt"/>
                <a:ea typeface="+mn-ea"/>
                <a:cs typeface="+mn-cs"/>
              </a:rPr>
              <a:t>direct addressing , the send primitive includes a specific identifier of the destination process. </a:t>
            </a:r>
            <a:r>
              <a:rPr lang="en-US" sz="1200" kern="1200" baseline="0" dirty="0">
                <a:solidFill>
                  <a:schemeClr val="tx1"/>
                </a:solidFill>
                <a:latin typeface="+mn-lt"/>
                <a:ea typeface="+mn-ea"/>
                <a:cs typeface="+mn-cs"/>
              </a:rPr>
              <a:t>The receive primitive can be handled in one of two ways. One possibility is to require that the process explicitly designate a sending process. Thus, the process must know ahead of time from which process a message is expected. This will often be effective for cooperating concurrent processes. In other cases, however, it is impossible to specify the anticipated source process. An example is a printer server process, which will accept a print request message from any other process. For such applications, a more effective approach is the use of implicit addressing. In this case, the </a:t>
            </a:r>
            <a:r>
              <a:rPr lang="en-US" sz="1200" i="1" kern="1200" baseline="0" dirty="0">
                <a:solidFill>
                  <a:schemeClr val="tx1"/>
                </a:solidFill>
                <a:latin typeface="+mn-lt"/>
                <a:ea typeface="+mn-ea"/>
                <a:cs typeface="+mn-cs"/>
              </a:rPr>
              <a:t>source parameter of the receive primitive possesses a value returned </a:t>
            </a:r>
            <a:r>
              <a:rPr lang="en-US" sz="1200" kern="1200" baseline="0" dirty="0">
                <a:solidFill>
                  <a:schemeClr val="tx1"/>
                </a:solidFill>
                <a:latin typeface="+mn-lt"/>
                <a:ea typeface="+mn-ea"/>
                <a:cs typeface="+mn-cs"/>
              </a:rPr>
              <a:t>when the receive operation has been performed.</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other general approach is </a:t>
            </a:r>
            <a:r>
              <a:rPr lang="en-US" sz="1200" b="1" kern="1200" baseline="0" dirty="0">
                <a:solidFill>
                  <a:schemeClr val="tx1"/>
                </a:solidFill>
                <a:latin typeface="+mn-lt"/>
                <a:ea typeface="+mn-ea"/>
                <a:cs typeface="+mn-cs"/>
              </a:rPr>
              <a:t>indirect addressing . </a:t>
            </a:r>
            <a:r>
              <a:rPr lang="en-US" sz="1200" b="0" kern="1200" baseline="0" dirty="0">
                <a:solidFill>
                  <a:schemeClr val="tx1"/>
                </a:solidFill>
                <a:latin typeface="+mn-lt"/>
                <a:ea typeface="+mn-ea"/>
                <a:cs typeface="+mn-cs"/>
              </a:rPr>
              <a:t>In this case, messages are</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not sent directly from sender to receiver but rather are sent to a shared data structure consisting of queues that can temporarily hold messages. Such queues are generally referred to as </a:t>
            </a:r>
            <a:r>
              <a:rPr lang="en-US" sz="1200" i="1" kern="1200" baseline="0" dirty="0">
                <a:solidFill>
                  <a:schemeClr val="tx1"/>
                </a:solidFill>
                <a:latin typeface="+mn-lt"/>
                <a:ea typeface="+mn-ea"/>
                <a:cs typeface="+mn-cs"/>
              </a:rPr>
              <a:t>mailboxes . Thus, for two processes to communicate, one process </a:t>
            </a:r>
            <a:r>
              <a:rPr lang="en-US" sz="1200" kern="1200" baseline="0" dirty="0">
                <a:solidFill>
                  <a:schemeClr val="tx1"/>
                </a:solidFill>
                <a:latin typeface="+mn-lt"/>
                <a:ea typeface="+mn-ea"/>
                <a:cs typeface="+mn-cs"/>
              </a:rPr>
              <a:t>sends a message to the appropriate mailbox and the other process picks up the message from the mailbox.</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strength of the use of indirect addressing is that, by decoupling the sender and receiver, it allows for greater flexibility in the use of messages.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The relationship between senders and receivers can be one to one, many to one, one to many, or many to many ( Figure 5.18 ). A </a:t>
            </a:r>
            <a:r>
              <a:rPr lang="en-US" sz="1200" b="1" kern="1200" baseline="0" dirty="0">
                <a:solidFill>
                  <a:schemeClr val="tx1"/>
                </a:solidFill>
                <a:latin typeface="+mn-lt"/>
                <a:ea typeface="+mn-ea"/>
                <a:cs typeface="+mn-cs"/>
              </a:rPr>
              <a:t>one-to-one </a:t>
            </a:r>
            <a:r>
              <a:rPr lang="en-US" sz="1200" b="0" kern="1200" baseline="0" dirty="0">
                <a:solidFill>
                  <a:schemeClr val="tx1"/>
                </a:solidFill>
                <a:latin typeface="+mn-lt"/>
                <a:ea typeface="+mn-ea"/>
                <a:cs typeface="+mn-cs"/>
              </a:rPr>
              <a:t>relationship allows a private communications </a:t>
            </a:r>
            <a:r>
              <a:rPr lang="en-US" sz="1200" kern="1200" baseline="0" dirty="0">
                <a:solidFill>
                  <a:schemeClr val="tx1"/>
                </a:solidFill>
                <a:latin typeface="+mn-lt"/>
                <a:ea typeface="+mn-ea"/>
                <a:cs typeface="+mn-cs"/>
              </a:rPr>
              <a:t>link to be set up between two processes. This insulates their interaction from erroneous interference from other processes. A </a:t>
            </a:r>
            <a:r>
              <a:rPr lang="en-US" sz="1200" b="1" kern="1200" baseline="0" dirty="0">
                <a:solidFill>
                  <a:schemeClr val="tx1"/>
                </a:solidFill>
                <a:latin typeface="+mn-lt"/>
                <a:ea typeface="+mn-ea"/>
                <a:cs typeface="+mn-cs"/>
              </a:rPr>
              <a:t>many-to-one </a:t>
            </a:r>
            <a:r>
              <a:rPr lang="en-US" sz="1200" b="0" kern="1200" baseline="0" dirty="0">
                <a:solidFill>
                  <a:schemeClr val="tx1"/>
                </a:solidFill>
                <a:latin typeface="+mn-lt"/>
                <a:ea typeface="+mn-ea"/>
                <a:cs typeface="+mn-cs"/>
              </a:rPr>
              <a:t>relationship is useful</a:t>
            </a:r>
          </a:p>
          <a:p>
            <a:r>
              <a:rPr lang="en-US" sz="1200" kern="1200" baseline="0" dirty="0">
                <a:solidFill>
                  <a:schemeClr val="tx1"/>
                </a:solidFill>
                <a:latin typeface="+mn-lt"/>
                <a:ea typeface="+mn-ea"/>
                <a:cs typeface="+mn-cs"/>
              </a:rPr>
              <a:t>for client/server interaction; one process provides service to a number of other processes. In this case, the mailbox is often referred to as a </a:t>
            </a:r>
            <a:r>
              <a:rPr lang="en-US" sz="1200" i="1" kern="1200" baseline="0" dirty="0">
                <a:solidFill>
                  <a:schemeClr val="tx1"/>
                </a:solidFill>
                <a:latin typeface="+mn-lt"/>
                <a:ea typeface="+mn-ea"/>
                <a:cs typeface="+mn-cs"/>
              </a:rPr>
              <a:t>port . A </a:t>
            </a:r>
            <a:r>
              <a:rPr lang="en-US" sz="1200" b="1" i="1" kern="1200" baseline="0" dirty="0">
                <a:solidFill>
                  <a:schemeClr val="tx1"/>
                </a:solidFill>
                <a:latin typeface="+mn-lt"/>
                <a:ea typeface="+mn-ea"/>
                <a:cs typeface="+mn-cs"/>
              </a:rPr>
              <a:t>one-to-many </a:t>
            </a:r>
            <a:r>
              <a:rPr lang="en-US" sz="1200" kern="1200" baseline="0" dirty="0">
                <a:solidFill>
                  <a:schemeClr val="tx1"/>
                </a:solidFill>
                <a:latin typeface="+mn-lt"/>
                <a:ea typeface="+mn-ea"/>
                <a:cs typeface="+mn-cs"/>
              </a:rPr>
              <a:t>relationship allows for one sender and multiple receivers; it is useful for applications where a message or some information is to be broadcast to a set of processes. A </a:t>
            </a:r>
            <a:r>
              <a:rPr lang="en-US" sz="1200" b="1" kern="1200" baseline="0" dirty="0">
                <a:solidFill>
                  <a:schemeClr val="tx1"/>
                </a:solidFill>
                <a:latin typeface="+mn-lt"/>
                <a:ea typeface="+mn-ea"/>
                <a:cs typeface="+mn-cs"/>
              </a:rPr>
              <a:t>many-to-many </a:t>
            </a:r>
            <a:r>
              <a:rPr lang="en-US" sz="1200" b="0" kern="1200" baseline="0" dirty="0">
                <a:solidFill>
                  <a:schemeClr val="tx1"/>
                </a:solidFill>
                <a:latin typeface="+mn-lt"/>
                <a:ea typeface="+mn-ea"/>
                <a:cs typeface="+mn-cs"/>
              </a:rPr>
              <a:t>relationship allows multiple server processes to provide concurrent </a:t>
            </a:r>
            <a:r>
              <a:rPr lang="en-US" sz="1200" kern="1200" baseline="0" dirty="0">
                <a:solidFill>
                  <a:schemeClr val="tx1"/>
                </a:solidFill>
                <a:latin typeface="+mn-lt"/>
                <a:ea typeface="+mn-ea"/>
                <a:cs typeface="+mn-cs"/>
              </a:rPr>
              <a:t>service to multiple clients.</a:t>
            </a:r>
          </a:p>
          <a:p>
            <a:endParaRPr lang="en-NZ" b="1" dirty="0"/>
          </a:p>
          <a:p>
            <a:r>
              <a:rPr lang="en-NZ" b="1" dirty="0"/>
              <a:t>1) A one-to-one relationship </a:t>
            </a:r>
          </a:p>
          <a:p>
            <a:pPr lvl="1">
              <a:buFont typeface="Arial" pitchFamily="34" charset="0"/>
              <a:buChar char="•"/>
            </a:pPr>
            <a:r>
              <a:rPr lang="en-NZ" b="1" dirty="0"/>
              <a:t> </a:t>
            </a:r>
            <a:r>
              <a:rPr lang="en-NZ" dirty="0"/>
              <a:t>allows a private communications link to be set up between two processes. </a:t>
            </a:r>
          </a:p>
          <a:p>
            <a:pPr lvl="1">
              <a:buFont typeface="Arial" pitchFamily="34" charset="0"/>
              <a:buChar char="•"/>
            </a:pPr>
            <a:r>
              <a:rPr lang="en-NZ" dirty="0"/>
              <a:t>This insulates their interaction from erroneous interference from other processes.</a:t>
            </a:r>
          </a:p>
          <a:p>
            <a:pPr lvl="0">
              <a:buFont typeface="Arial" pitchFamily="34" charset="0"/>
              <a:buNone/>
            </a:pPr>
            <a:endParaRPr lang="en-NZ" dirty="0"/>
          </a:p>
          <a:p>
            <a:r>
              <a:rPr lang="en-NZ" sz="1200" b="1" kern="1200" baseline="0" dirty="0">
                <a:solidFill>
                  <a:schemeClr val="tx1"/>
                </a:solidFill>
                <a:latin typeface="+mn-lt"/>
                <a:ea typeface="+mn-ea"/>
                <a:cs typeface="+mn-cs"/>
              </a:rPr>
              <a:t>2) A many-to-one relationship is useful for client/server interaction;</a:t>
            </a:r>
          </a:p>
          <a:p>
            <a:pPr lvl="1">
              <a:buFont typeface="Arial" pitchFamily="34" charset="0"/>
              <a:buChar char="•"/>
            </a:pPr>
            <a:r>
              <a:rPr lang="en-NZ" sz="1200" kern="1200" baseline="0" dirty="0">
                <a:solidFill>
                  <a:schemeClr val="tx1"/>
                </a:solidFill>
                <a:latin typeface="+mn-lt"/>
                <a:ea typeface="+mn-ea"/>
                <a:cs typeface="+mn-cs"/>
              </a:rPr>
              <a:t> one process provides service to a number of other processes. </a:t>
            </a:r>
          </a:p>
          <a:p>
            <a:pPr lvl="1">
              <a:buFont typeface="Arial" pitchFamily="34" charset="0"/>
              <a:buChar char="•"/>
            </a:pPr>
            <a:r>
              <a:rPr lang="en-NZ" sz="1200" kern="1200" baseline="0" dirty="0">
                <a:solidFill>
                  <a:schemeClr val="tx1"/>
                </a:solidFill>
                <a:latin typeface="+mn-lt"/>
                <a:ea typeface="+mn-ea"/>
                <a:cs typeface="+mn-cs"/>
              </a:rPr>
              <a:t> In this case, the mailbox is often referred to as a </a:t>
            </a:r>
            <a:r>
              <a:rPr lang="en-NZ" sz="1200" i="1" kern="1200" baseline="0" dirty="0">
                <a:solidFill>
                  <a:schemeClr val="tx1"/>
                </a:solidFill>
                <a:latin typeface="+mn-lt"/>
                <a:ea typeface="+mn-ea"/>
                <a:cs typeface="+mn-cs"/>
              </a:rPr>
              <a:t>port.</a:t>
            </a:r>
          </a:p>
          <a:p>
            <a:endParaRPr lang="en-NZ" sz="1200" b="1" kern="1200" baseline="0" dirty="0">
              <a:solidFill>
                <a:schemeClr val="tx1"/>
              </a:solidFill>
              <a:latin typeface="+mn-lt"/>
              <a:ea typeface="+mn-ea"/>
              <a:cs typeface="+mn-cs"/>
            </a:endParaRPr>
          </a:p>
          <a:p>
            <a:r>
              <a:rPr lang="en-NZ" sz="1200" b="1" kern="1200" baseline="0" dirty="0">
                <a:solidFill>
                  <a:schemeClr val="tx1"/>
                </a:solidFill>
                <a:latin typeface="+mn-lt"/>
                <a:ea typeface="+mn-ea"/>
                <a:cs typeface="+mn-cs"/>
              </a:rPr>
              <a:t>3) A one-to-many relationship allows for one sender and multiple receivers; </a:t>
            </a:r>
          </a:p>
          <a:p>
            <a:pPr lvl="1">
              <a:buFont typeface="Arial" pitchFamily="34" charset="0"/>
              <a:buChar char="•"/>
            </a:pPr>
            <a:r>
              <a:rPr lang="en-NZ" sz="1200" b="1" kern="1200" baseline="0" dirty="0">
                <a:solidFill>
                  <a:schemeClr val="tx1"/>
                </a:solidFill>
                <a:latin typeface="+mn-lt"/>
                <a:ea typeface="+mn-ea"/>
                <a:cs typeface="+mn-cs"/>
              </a:rPr>
              <a:t> </a:t>
            </a:r>
            <a:r>
              <a:rPr lang="en-NZ" sz="1200" kern="1200" baseline="0" dirty="0">
                <a:solidFill>
                  <a:schemeClr val="tx1"/>
                </a:solidFill>
                <a:latin typeface="+mn-lt"/>
                <a:ea typeface="+mn-ea"/>
                <a:cs typeface="+mn-cs"/>
              </a:rPr>
              <a:t>it is useful for applications where a message or some information is to be broadcast to a set of processes.</a:t>
            </a:r>
          </a:p>
          <a:p>
            <a:pPr lvl="0">
              <a:buFont typeface="Arial" pitchFamily="34" charset="0"/>
              <a:buNone/>
            </a:pPr>
            <a:endParaRPr lang="en-NZ" sz="1200" kern="1200" baseline="0" dirty="0">
              <a:solidFill>
                <a:schemeClr val="tx1"/>
              </a:solidFill>
              <a:latin typeface="+mn-lt"/>
              <a:ea typeface="+mn-ea"/>
              <a:cs typeface="+mn-cs"/>
            </a:endParaRPr>
          </a:p>
          <a:p>
            <a:pPr lvl="0">
              <a:buFont typeface="Arial" pitchFamily="34" charset="0"/>
              <a:buNone/>
            </a:pPr>
            <a:r>
              <a:rPr lang="en-NZ" sz="1200" b="1" kern="1200" baseline="0" dirty="0">
                <a:solidFill>
                  <a:schemeClr val="tx1"/>
                </a:solidFill>
                <a:latin typeface="+mn-lt"/>
                <a:ea typeface="+mn-ea"/>
                <a:cs typeface="+mn-cs"/>
              </a:rPr>
              <a:t>4) A many-to-many relationship </a:t>
            </a:r>
          </a:p>
          <a:p>
            <a:pPr lvl="1">
              <a:buFont typeface="Arial" pitchFamily="34" charset="0"/>
              <a:buChar char="•"/>
            </a:pPr>
            <a:r>
              <a:rPr lang="en-NZ" sz="1200" b="0" kern="1200" baseline="0" dirty="0">
                <a:solidFill>
                  <a:schemeClr val="tx1"/>
                </a:solidFill>
                <a:latin typeface="+mn-lt"/>
                <a:ea typeface="+mn-ea"/>
                <a:cs typeface="+mn-cs"/>
              </a:rPr>
              <a:t>allows multiple server processes </a:t>
            </a:r>
            <a:r>
              <a:rPr lang="en-NZ" sz="1200" kern="1200" baseline="0" dirty="0">
                <a:solidFill>
                  <a:schemeClr val="tx1"/>
                </a:solidFill>
                <a:latin typeface="+mn-lt"/>
                <a:ea typeface="+mn-ea"/>
                <a:cs typeface="+mn-cs"/>
              </a:rPr>
              <a:t>to provide concurrent service to multiple clients.</a:t>
            </a:r>
          </a:p>
          <a:p>
            <a:pPr lvl="0">
              <a:buFont typeface="Arial" pitchFamily="34" charset="0"/>
              <a:buNone/>
            </a:pPr>
            <a:endParaRPr lang="en-US" dirty="0"/>
          </a:p>
          <a:p>
            <a:r>
              <a:rPr lang="en-US" sz="1200" kern="1200" baseline="0" dirty="0">
                <a:solidFill>
                  <a:schemeClr val="tx1"/>
                </a:solidFill>
                <a:latin typeface="+mn-lt"/>
                <a:ea typeface="+mn-ea"/>
                <a:cs typeface="+mn-cs"/>
              </a:rPr>
              <a:t>The association of processes to mailboxes can be either static or dynamic. Ports are often statically associated with a particular process; that is, the port is created and assigned to the process permanently. Similarly, a one-to-one relationship is typically defined statically and permanently. When there are many senders, the association of a sender to a mailbox may occur dynamically. Primitives such as connect and disconnect may be used for this purpose.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related issue has to do with the ownership of a mailbox. In the case of a port, it is typically owned by and created by the receiving process. Thus, when the process is destroyed, the port is also destroyed. For the general mailbox case, the OS may offer a create-mailbox service. Such mailboxes can be viewed either as being owned by the creating process, in which case they terminate with the process, or as being owned by the OS, in which case an explicit command will be required to destroy the mailbox.</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format of the message depends on the objectives of the messaging facility and whether the facility runs on a single computer or on a distributed system. For some</a:t>
            </a:r>
          </a:p>
          <a:p>
            <a:r>
              <a:rPr lang="en-US" sz="1200" kern="1200" baseline="0" dirty="0">
                <a:solidFill>
                  <a:schemeClr val="tx1"/>
                </a:solidFill>
                <a:latin typeface="+mn-lt"/>
                <a:ea typeface="+mn-ea"/>
                <a:cs typeface="+mn-cs"/>
              </a:rPr>
              <a:t>operating systems, designers have preferred short, fixed-length messages to minimize processing and storage overhead. If a large amount of data is to be passed, the data can be placed in a file and the message then simply references that file. A more flexible approach is to allow variable-length messages.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5.19 shows a typical message format for operating systems that support variable-length messages.</a:t>
            </a:r>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The message is divided into two parts: </a:t>
            </a:r>
          </a:p>
          <a:p>
            <a:pPr lvl="1"/>
            <a:r>
              <a:rPr lang="en-NZ" sz="1200" b="1" kern="1200" baseline="0" dirty="0">
                <a:solidFill>
                  <a:schemeClr val="tx1"/>
                </a:solidFill>
                <a:latin typeface="+mn-lt"/>
                <a:ea typeface="+mn-ea"/>
                <a:cs typeface="+mn-cs"/>
              </a:rPr>
              <a:t>a header</a:t>
            </a:r>
            <a:r>
              <a:rPr lang="en-NZ" sz="1200" kern="1200" baseline="0" dirty="0">
                <a:solidFill>
                  <a:schemeClr val="tx1"/>
                </a:solidFill>
                <a:latin typeface="+mn-lt"/>
                <a:ea typeface="+mn-ea"/>
                <a:cs typeface="+mn-cs"/>
              </a:rPr>
              <a:t>, which contains information about the message. </a:t>
            </a:r>
          </a:p>
          <a:p>
            <a:pPr lvl="2">
              <a:buFont typeface="Arial" pitchFamily="34" charset="0"/>
              <a:buChar char="•"/>
            </a:pPr>
            <a:r>
              <a:rPr lang="en-NZ" sz="1200" kern="1200" baseline="0" dirty="0">
                <a:solidFill>
                  <a:schemeClr val="tx1"/>
                </a:solidFill>
                <a:latin typeface="+mn-lt"/>
                <a:ea typeface="+mn-ea"/>
                <a:cs typeface="+mn-cs"/>
              </a:rPr>
              <a:t> The header may contain an identification of the source and intended destination of the message, a length field, and a type field to discriminate among various types of messages.</a:t>
            </a:r>
          </a:p>
          <a:p>
            <a:pPr lvl="2">
              <a:buFont typeface="Arial" pitchFamily="34" charset="0"/>
              <a:buChar char="•"/>
            </a:pPr>
            <a:r>
              <a:rPr lang="en-NZ" sz="1200" kern="1200" baseline="0" dirty="0">
                <a:solidFill>
                  <a:schemeClr val="tx1"/>
                </a:solidFill>
                <a:latin typeface="+mn-lt"/>
                <a:ea typeface="+mn-ea"/>
                <a:cs typeface="+mn-cs"/>
              </a:rPr>
              <a:t>additional control information, e.g. pointer field so a linked list of messages can be created; a sequence number, to keep track of the number and order of messages passed between source and destination; and a priority field.</a:t>
            </a:r>
          </a:p>
          <a:p>
            <a:pPr lvl="1"/>
            <a:r>
              <a:rPr lang="en-NZ" sz="1200" b="1" kern="1200" baseline="0" dirty="0">
                <a:solidFill>
                  <a:schemeClr val="tx1"/>
                </a:solidFill>
                <a:latin typeface="+mn-lt"/>
                <a:ea typeface="+mn-ea"/>
                <a:cs typeface="+mn-cs"/>
              </a:rPr>
              <a:t>a body</a:t>
            </a:r>
            <a:r>
              <a:rPr lang="en-NZ" sz="1200" kern="1200" baseline="0" dirty="0">
                <a:solidFill>
                  <a:schemeClr val="tx1"/>
                </a:solidFill>
                <a:latin typeface="+mn-lt"/>
                <a:ea typeface="+mn-ea"/>
                <a:cs typeface="+mn-cs"/>
              </a:rPr>
              <a:t>, which contains the actual contents of the message.</a:t>
            </a:r>
          </a:p>
          <a:p>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readers/writers problem is defined as follows: There is a data area shared among a number of processes. The data area could be a file, a block of main memory, or even a bank of processor registers. There are a number of processes that only read the data area (readers) and a number that only write to the data area (writers). The conditions that must be satisfied are as follows:</a:t>
            </a:r>
          </a:p>
          <a:p>
            <a:r>
              <a:rPr lang="en-US" sz="1200" b="1" kern="1200" baseline="0" dirty="0">
                <a:solidFill>
                  <a:schemeClr val="tx1"/>
                </a:solidFill>
                <a:latin typeface="+mn-lt"/>
                <a:ea typeface="+mn-ea"/>
                <a:cs typeface="+mn-cs"/>
              </a:rPr>
              <a:t>1. Any number of readers may simultaneously read the file.</a:t>
            </a:r>
          </a:p>
          <a:p>
            <a:r>
              <a:rPr lang="en-US" sz="1200" b="1" kern="1200" baseline="0" dirty="0">
                <a:solidFill>
                  <a:schemeClr val="tx1"/>
                </a:solidFill>
                <a:latin typeface="+mn-lt"/>
                <a:ea typeface="+mn-ea"/>
                <a:cs typeface="+mn-cs"/>
              </a:rPr>
              <a:t>2. Only one writer at a time may write to the file.</a:t>
            </a:r>
          </a:p>
          <a:p>
            <a:r>
              <a:rPr lang="en-US" sz="1200" b="1" kern="1200" baseline="0" dirty="0">
                <a:solidFill>
                  <a:schemeClr val="tx1"/>
                </a:solidFill>
                <a:latin typeface="+mn-lt"/>
                <a:ea typeface="+mn-ea"/>
                <a:cs typeface="+mn-cs"/>
              </a:rPr>
              <a:t>3. If a writer is writing to the file, no reader may read 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readers are processes that are not required to exclude one another and writers are processes that are required to exclude all other processes, readers and writers alike.</a:t>
            </a:r>
            <a:endParaRPr lang="en-NZ" sz="240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Chapter 5 Summary.</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56CD45C-81C4-4E27-A18A-8835B7066D8D}" type="datetimeFigureOut">
              <a:rPr lang="en-US"/>
              <a:pPr>
                <a:defRPr/>
              </a:pPr>
              <a:t>2/20/2024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4DF4F1D-9F1B-4CA4-932E-311654E99826}" type="datetimeFigureOut">
              <a:rPr lang="en-US"/>
              <a:pPr>
                <a:defRPr/>
              </a:pPr>
              <a:t>2/20/2024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A0E4233-E030-4D82-AE1D-06E871FCE686}" type="datetimeFigureOut">
              <a:rPr lang="en-US"/>
              <a:pPr>
                <a:defRPr/>
              </a:pPr>
              <a:t>2/20/2024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C5EE9E-C85E-43CC-91D6-50F7B4961BB7}" type="datetimeFigureOut">
              <a:rPr lang="en-US"/>
              <a:pPr>
                <a:defRPr/>
              </a:pPr>
              <a:t>2/20/2024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19F8884-1DEA-4C84-A489-E724713CC95E}" type="datetimeFigureOut">
              <a:rPr lang="en-US"/>
              <a:pPr>
                <a:defRPr/>
              </a:pPr>
              <a:t>2/20/2024</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02DFE5A-BFC9-454A-A87C-69BA4FE25A0F}" type="datetimeFigureOut">
              <a:rPr lang="en-US"/>
              <a:pPr>
                <a:defRPr/>
              </a:pPr>
              <a:t>2/20/2024</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B4A6603-BAC9-4FFA-BE72-57B7C0EDA50D}" type="datetimeFigureOut">
              <a:rPr lang="en-US"/>
              <a:pPr>
                <a:defRPr/>
              </a:pPr>
              <a:t>2/20/2024</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56F2E53-C0F0-49CC-8B3F-6BA3D019B99D}" type="datetimeFigureOut">
              <a:rPr lang="en-US"/>
              <a:pPr>
                <a:defRPr/>
              </a:pPr>
              <a:t>2/20/2024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44AA9AB-7925-475F-87E4-57F6EF092961}" type="datetimeFigureOut">
              <a:rPr lang="en-US"/>
              <a:pPr>
                <a:defRPr/>
              </a:pPr>
              <a:t>2/20/2024</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A9C3780-DD3C-46A5-8303-4579155A8DB3}" type="datetimeFigureOut">
              <a:rPr lang="en-US"/>
              <a:pPr>
                <a:defRPr/>
              </a:pPr>
              <a:t>2/20/2024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33C4502-BF88-49E9-A189-5718D68C95C9}" type="datetimeFigureOut">
              <a:rPr lang="en-US"/>
              <a:pPr>
                <a:defRPr/>
              </a:pPr>
              <a:t>2/20/2024</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EF5D2D3F-B0F1-446B-B7CC-19B90EB0017B}" type="datetimeFigureOut">
              <a:rPr lang="en-US" smtClean="0"/>
              <a:pPr>
                <a:defRPr/>
              </a:pPr>
              <a:t>2/20/2024</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5120D744-A176-4DCB-9147-2AE7B7E87481}" type="datetimeFigureOut">
              <a:rPr lang="en-US"/>
              <a:pPr/>
              <a:t>2/20/2024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60F29AB0-274B-47BE-985F-46164E2F9B8D}" type="datetimeFigureOut">
              <a:rPr lang="en-US" smtClean="0"/>
              <a:pPr>
                <a:defRPr/>
              </a:pPr>
              <a:t>2/20/2024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76F0B030-1580-4866-BCBB-5B9DCBDFAB68}" type="datetimeFigureOut">
              <a:rPr lang="en-US" smtClean="0"/>
              <a:pPr>
                <a:defRPr/>
              </a:pPr>
              <a:t>2/20/2024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70FF0F97-1060-4EBF-B543-874A8397FCDC}" type="datetimeFigureOut">
              <a:rPr lang="en-US" smtClean="0"/>
              <a:pPr>
                <a:defRPr/>
              </a:pPr>
              <a:t>2/20/2024</a:t>
            </a:fld>
            <a:endParaRPr lang="en-US" dirty="0"/>
          </a:p>
        </p:txBody>
      </p:sp>
      <p:sp>
        <p:nvSpPr>
          <p:cNvPr id="8" name="Footer Placeholder 7"/>
          <p:cNvSpPr>
            <a:spLocks noGrp="1"/>
          </p:cNvSpPr>
          <p:nvPr>
            <p:ph type="ftr" sz="quarter" idx="11"/>
          </p:nvPr>
        </p:nvSpPr>
        <p:spPr/>
        <p:txBody>
          <a:bodyPr/>
          <a:lstStyle/>
          <a:p>
            <a:pPr>
              <a:defRPr/>
            </a:pP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2/20/2024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2/20/2024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5E62B1BE-7229-4612-B077-302E9FB27D58}" type="datetimeFigureOut">
              <a:rPr lang="en-US" smtClean="0"/>
              <a:pPr>
                <a:defRPr/>
              </a:pPr>
              <a:t>2/20/2024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E848A180-20FC-43E6-ACF2-E4D2D7D4238C}" type="datetimeFigureOut">
              <a:rPr lang="en-US" smtClean="0"/>
              <a:pPr>
                <a:defRPr/>
              </a:pPr>
              <a:t>2/20/2024</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5B242E86-E886-49FE-9E81-CBA74FDF21F4}" type="datetimeFigureOut">
              <a:rPr lang="en-US" smtClean="0"/>
              <a:pPr>
                <a:defRPr/>
              </a:pPr>
              <a:t>2/20/2024</a:t>
            </a:fld>
            <a:endParaRPr lang="en-US" dirty="0"/>
          </a:p>
        </p:txBody>
      </p:sp>
      <p:sp>
        <p:nvSpPr>
          <p:cNvPr id="3" name="Footer Placeholder 2"/>
          <p:cNvSpPr>
            <a:spLocks noGrp="1"/>
          </p:cNvSpPr>
          <p:nvPr>
            <p:ph type="ftr" sz="quarter" idx="11"/>
          </p:nvPr>
        </p:nvSpPr>
        <p:spPr/>
        <p:txBody>
          <a:bodyPr/>
          <a:lstStyle/>
          <a:p>
            <a:pPr>
              <a:defRPr/>
            </a:pP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35E854A5-A6D3-4FF2-A83D-4A92E35723B6}" type="datetimeFigureOut">
              <a:rPr lang="en-US" smtClean="0"/>
              <a:pPr>
                <a:defRPr/>
              </a:pPr>
              <a:t>2/20/2024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4BFCA2E3-A4EC-4D3C-A723-C30C7527518B}" type="datetimeFigureOut">
              <a:rPr lang="en-US" smtClean="0"/>
              <a:pPr>
                <a:defRPr/>
              </a:pPr>
              <a:t>2/20/2024</a:t>
            </a:fld>
            <a:endParaRPr lang="en-US" dirty="0"/>
          </a:p>
        </p:txBody>
      </p:sp>
      <p:sp>
        <p:nvSpPr>
          <p:cNvPr id="6" name="Footer Placeholder 5"/>
          <p:cNvSpPr>
            <a:spLocks noGrp="1"/>
          </p:cNvSpPr>
          <p:nvPr>
            <p:ph type="ftr" sz="quarter" idx="11"/>
          </p:nvPr>
        </p:nvSpPr>
        <p:spPr/>
        <p:txBody>
          <a:bodyPr/>
          <a:lstStyle/>
          <a:p>
            <a:pPr>
              <a:defRPr/>
            </a:pP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a:t>Click icon to add picture</a:t>
            </a:r>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C2AEB11F-C391-4BDD-82EB-6F3E13A9F9E1}" type="datetimeFigureOut">
              <a:rPr lang="en-US" smtClean="0"/>
              <a:pPr>
                <a:defRPr/>
              </a:pPr>
              <a:t>2/20/2024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42669FE-0345-4152-A335-E3D8B60CD5FA}" type="datetimeFigureOut">
              <a:rPr lang="en-US" smtClean="0"/>
              <a:pPr>
                <a:defRPr/>
              </a:pPr>
              <a:t>2/20/2024</a:t>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01CF5B1-68BC-4F44-89BE-2F24F67B5729}" type="datetimeFigureOut">
              <a:rPr lang="en-US"/>
              <a:pPr>
                <a:defRPr/>
              </a:pPr>
              <a:t>2/20/2024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5E62B1BE-7229-4612-B077-302E9FB27D58}" type="datetimeFigureOut">
              <a:rPr lang="en-US" smtClean="0"/>
              <a:pPr>
                <a:defRPr/>
              </a:pPr>
              <a:t>2/20/2024</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ransition/>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10.pdf"/><Relationship Id="rId2" Type="http://schemas.openxmlformats.org/officeDocument/2006/relationships/notesSlide" Target="../notesSlides/notesSlide2.xml"/><Relationship Id="rId1" Type="http://schemas.openxmlformats.org/officeDocument/2006/relationships/slideLayout" Target="../slideLayouts/slideLayout20.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6.pdf"/><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17.wmf"/></Relationships>
</file>

<file path=ppt/slides/_rels/slide10.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jpe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7.pdf"/><Relationship Id="rId2" Type="http://schemas.openxmlformats.org/officeDocument/2006/relationships/notesSlide" Target="../notesSlides/notesSlide11.xml"/><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7.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1.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23.xml"/><Relationship Id="rId1" Type="http://schemas.openxmlformats.org/officeDocument/2006/relationships/slideLayout" Target="../slideLayouts/slideLayout21.xml"/><Relationship Id="rId5" Type="http://schemas.openxmlformats.org/officeDocument/2006/relationships/image" Target="../media/image29.wmf"/><Relationship Id="rId4" Type="http://schemas.openxmlformats.org/officeDocument/2006/relationships/image" Target="../media/image25.wmf"/></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4.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6.xml"/><Relationship Id="rId1" Type="http://schemas.openxmlformats.org/officeDocument/2006/relationships/slideLayout" Target="../slideLayouts/slideLayout2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8" Type="http://schemas.openxmlformats.org/officeDocument/2006/relationships/image" Target="../media/image63.pdf"/><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8.xml"/><Relationship Id="rId1" Type="http://schemas.openxmlformats.org/officeDocument/2006/relationships/slideLayout" Target="../slideLayouts/slideLayout20.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 Id="rId9" Type="http://schemas.openxmlformats.org/officeDocument/2006/relationships/image" Target="../media/image32.png"/></Relationships>
</file>

<file path=ppt/slides/_rels/slide30.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9.xml"/><Relationship Id="rId1" Type="http://schemas.openxmlformats.org/officeDocument/2006/relationships/slideLayout" Target="../slideLayouts/slideLayout20.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 Id="rId9" Type="http://schemas.openxmlformats.org/officeDocument/2006/relationships/image" Target="../media/image34.wmf"/></Relationships>
</file>

<file path=ppt/slides/_rels/slide31.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30.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1.xml"/><Relationship Id="rId1" Type="http://schemas.openxmlformats.org/officeDocument/2006/relationships/slideLayout" Target="../slideLayouts/slideLayout2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2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33.xml"/><Relationship Id="rId1" Type="http://schemas.openxmlformats.org/officeDocument/2006/relationships/slideLayout" Target="../slideLayouts/slideLayout21.xml"/><Relationship Id="rId5" Type="http://schemas.openxmlformats.org/officeDocument/2006/relationships/image" Target="../media/image40.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r>
              <a:rPr lang="en-US" dirty="0"/>
              <a:t>Week-5</a:t>
            </a:r>
            <a:br>
              <a:rPr lang="en-US" dirty="0"/>
            </a:br>
            <a:r>
              <a:rPr lang="en-US" dirty="0"/>
              <a:t>Concurrency: Mutual Exclusion and Synchronization</a:t>
            </a:r>
          </a:p>
        </p:txBody>
      </p:sp>
      <p:sp>
        <p:nvSpPr>
          <p:cNvPr id="3" name="Subtitle 2"/>
          <p:cNvSpPr>
            <a:spLocks noGrp="1"/>
          </p:cNvSpPr>
          <p:nvPr>
            <p:ph type="body" idx="1"/>
          </p:nvPr>
        </p:nvSpPr>
        <p:spPr>
          <a:xfrm>
            <a:off x="457200" y="1905000"/>
            <a:ext cx="2133601" cy="4191000"/>
          </a:xfrm>
        </p:spPr>
        <p:txBody>
          <a:bodyPr rtlCol="0">
            <a:normAutofit/>
          </a:bodyPr>
          <a:lstStyle/>
          <a:p>
            <a:pPr algn="ctr">
              <a:spcBef>
                <a:spcPct val="20000"/>
              </a:spcBef>
              <a:buClrTx/>
              <a:buSzTx/>
              <a:defRPr/>
            </a:pPr>
            <a:r>
              <a:rPr lang="en-US" sz="3200" i="1" dirty="0">
                <a:solidFill>
                  <a:schemeClr val="bg2">
                    <a:lumMod val="25000"/>
                  </a:schemeClr>
                </a:solidFill>
              </a:rPr>
              <a:t>Operating Systems:</a:t>
            </a:r>
            <a:br>
              <a:rPr lang="en-US" sz="3200" i="1" dirty="0">
                <a:solidFill>
                  <a:schemeClr val="bg2">
                    <a:lumMod val="25000"/>
                  </a:schemeClr>
                </a:solidFill>
              </a:rPr>
            </a:br>
            <a:r>
              <a:rPr lang="en-US" sz="3200" i="1" dirty="0">
                <a:solidFill>
                  <a:schemeClr val="bg2">
                    <a:lumMod val="25000"/>
                  </a:schemeClr>
                </a:solidFill>
              </a:rPr>
              <a:t>Internals and Design Principles</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Operating Systems:</a:t>
            </a:r>
            <a:br>
              <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Internals and Design Principles</a:t>
            </a:r>
          </a:p>
        </p:txBody>
      </p:sp>
      <p:sp>
        <p:nvSpPr>
          <p:cNvPr id="3" name="Content Placeholder 2"/>
          <p:cNvSpPr>
            <a:spLocks noGrp="1"/>
          </p:cNvSpPr>
          <p:nvPr>
            <p:ph type="body" orient="vert" idx="4294967295"/>
          </p:nvPr>
        </p:nvSpPr>
        <p:spPr>
          <a:xfrm>
            <a:off x="533400" y="1981200"/>
            <a:ext cx="7924800" cy="4724400"/>
          </a:xfrm>
        </p:spPr>
        <p:txBody>
          <a:bodyPr>
            <a:normAutofit fontScale="25000" lnSpcReduction="20000"/>
          </a:bodyPr>
          <a:lstStyle/>
          <a:p>
            <a:pPr>
              <a:buNone/>
            </a:pPr>
            <a:r>
              <a:rPr lang="en-US" sz="7385" i="1" dirty="0"/>
              <a:t>  </a:t>
            </a:r>
          </a:p>
          <a:p>
            <a:pPr>
              <a:spcBef>
                <a:spcPts val="0"/>
              </a:spcBef>
              <a:buNone/>
            </a:pPr>
            <a:r>
              <a:rPr lang="en-US" sz="8800" i="1" dirty="0">
                <a:latin typeface="Calibri"/>
              </a:rPr>
              <a:t>  “ Designing correct routines for controlling concurrent activities proved to be one of the most difficult aspects of systems programming. The ad hoc techniques used by programmers of early multiprogramming and real-time systems were always vulnerable to subtle programming errors whose effects could be observed only when certain relatively rare sequences of actions occurred. The errors are particularly difficult to locate, since the precise conditions under which they appear are very hard to reproduce.”</a:t>
            </a:r>
            <a:r>
              <a:rPr lang="en-US" sz="10400" i="1" dirty="0">
                <a:latin typeface="Calibri"/>
              </a:rPr>
              <a:t>	</a:t>
            </a:r>
            <a:r>
              <a:rPr lang="en-US" sz="10400" dirty="0">
                <a:latin typeface="Calibri"/>
              </a:rPr>
              <a:t>	</a:t>
            </a:r>
          </a:p>
          <a:p>
            <a:pPr algn="r">
              <a:lnSpc>
                <a:spcPct val="120000"/>
              </a:lnSpc>
              <a:spcBef>
                <a:spcPts val="0"/>
              </a:spcBef>
              <a:buNone/>
            </a:pPr>
            <a:endParaRPr lang="en-US" sz="10400" dirty="0">
              <a:latin typeface="Calibri"/>
            </a:endParaRPr>
          </a:p>
          <a:p>
            <a:pPr algn="r">
              <a:lnSpc>
                <a:spcPct val="120000"/>
              </a:lnSpc>
              <a:spcBef>
                <a:spcPts val="0"/>
              </a:spcBef>
              <a:buNone/>
            </a:pPr>
            <a:r>
              <a:rPr lang="en-US" sz="5600" dirty="0">
                <a:latin typeface="Arial Rounded MT Bold"/>
              </a:rPr>
              <a:t>—THE COMPUTER SCIENCE AND </a:t>
            </a:r>
          </a:p>
          <a:p>
            <a:pPr algn="r">
              <a:lnSpc>
                <a:spcPct val="120000"/>
              </a:lnSpc>
              <a:spcBef>
                <a:spcPts val="0"/>
              </a:spcBef>
              <a:buNone/>
            </a:pPr>
            <a:r>
              <a:rPr lang="en-US" sz="5600" dirty="0">
                <a:latin typeface="Arial Rounded MT Bold"/>
              </a:rPr>
              <a:t>ENGINEERING RESEARCH STUDY</a:t>
            </a:r>
            <a:r>
              <a:rPr lang="en-US" sz="5600" dirty="0"/>
              <a:t>, </a:t>
            </a:r>
          </a:p>
          <a:p>
            <a:pPr algn="r">
              <a:lnSpc>
                <a:spcPct val="120000"/>
              </a:lnSpc>
              <a:spcBef>
                <a:spcPts val="0"/>
              </a:spcBef>
              <a:buNone/>
            </a:pPr>
            <a:endParaRPr lang="en-US" sz="5600" dirty="0">
              <a:latin typeface="Arial Rounded MT Bold"/>
            </a:endParaRPr>
          </a:p>
          <a:p>
            <a:pPr algn="r">
              <a:lnSpc>
                <a:spcPct val="120000"/>
              </a:lnSpc>
              <a:spcBef>
                <a:spcPts val="0"/>
              </a:spcBef>
              <a:buNone/>
            </a:pPr>
            <a:r>
              <a:rPr lang="en-US" sz="5600" dirty="0">
                <a:latin typeface="Arial Rounded MT Bold"/>
              </a:rPr>
              <a:t>MIT Press, 1980</a:t>
            </a:r>
          </a:p>
          <a:p>
            <a:pPr algn="r">
              <a:lnSpc>
                <a:spcPct val="120000"/>
              </a:lnSpc>
              <a:spcBef>
                <a:spcPts val="0"/>
              </a:spcBef>
              <a:buNone/>
            </a:pPr>
            <a:r>
              <a:rPr lang="en-US" sz="10400" dirty="0">
                <a:latin typeface="Calibri"/>
              </a:rPr>
              <a:t>					</a:t>
            </a:r>
            <a:endParaRPr lang="en-US" sz="4923" dirty="0">
              <a:latin typeface="Arial Rounded MT Bold"/>
            </a:endParaRPr>
          </a:p>
        </p:txBody>
      </p:sp>
      <p:pic>
        <p:nvPicPr>
          <p:cNvPr id="5" name="Picture 4"/>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alphaModFix amt="55000"/>
                <a:lum bright="16000" contrast="31000"/>
              </a:blip>
              <a:stretch>
                <a:fillRect/>
              </a:stretch>
            </p:blipFill>
          </mc:Choice>
          <mc:Fallback>
            <p:blipFill>
              <a:blip r:embed="rId4">
                <a:alphaModFix amt="55000"/>
                <a:lum bright="16000" contrast="31000"/>
              </a:blip>
              <a:stretch>
                <a:fillRect/>
              </a:stretch>
            </p:blipFill>
          </mc:Fallback>
        </mc:AlternateContent>
        <p:spPr>
          <a:xfrm>
            <a:off x="2133600" y="4800600"/>
            <a:ext cx="2362200" cy="161010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Multiple  Processes</a:t>
            </a:r>
          </a:p>
        </p:txBody>
      </p:sp>
      <p:sp>
        <p:nvSpPr>
          <p:cNvPr id="4" name="Content Placeholder 3"/>
          <p:cNvSpPr>
            <a:spLocks noGrp="1"/>
          </p:cNvSpPr>
          <p:nvPr>
            <p:ph sz="half" idx="1"/>
          </p:nvPr>
        </p:nvSpPr>
        <p:spPr>
          <a:xfrm>
            <a:off x="658904" y="2286000"/>
            <a:ext cx="8027896" cy="4267200"/>
          </a:xfrm>
        </p:spPr>
        <p:txBody>
          <a:bodyPr>
            <a:normAutofit/>
          </a:bodyPr>
          <a:lstStyle/>
          <a:p>
            <a:r>
              <a:rPr lang="en-US" sz="3600" dirty="0"/>
              <a:t>Operating System design is concerned with the management of processes and threads:</a:t>
            </a:r>
          </a:p>
          <a:p>
            <a:pPr lvl="2"/>
            <a:r>
              <a:rPr lang="en-US" sz="3600" dirty="0"/>
              <a:t>Multiprogramming</a:t>
            </a:r>
          </a:p>
          <a:p>
            <a:pPr lvl="2"/>
            <a:r>
              <a:rPr lang="en-US" sz="3600" dirty="0"/>
              <a:t>Multiprocessing</a:t>
            </a:r>
          </a:p>
          <a:p>
            <a:pPr lvl="2"/>
            <a:r>
              <a:rPr lang="en-US" sz="3600" dirty="0"/>
              <a:t>Distributed Processing</a:t>
            </a:r>
          </a:p>
        </p:txBody>
      </p:sp>
      <p:pic>
        <p:nvPicPr>
          <p:cNvPr id="5" name="Picture 4"/>
          <p:cNvPicPr>
            <a:picLocks noChangeAspect="1"/>
          </p:cNvPicPr>
          <p:nvPr/>
        </p:nvPicPr>
        <p:blipFill>
          <a:blip r:embed="rId3"/>
          <a:stretch>
            <a:fillRect/>
          </a:stretch>
        </p:blipFill>
        <p:spPr>
          <a:xfrm>
            <a:off x="6553200" y="4114800"/>
            <a:ext cx="1962379" cy="227965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iterate type="lt">
                                    <p:tmPct val="10000"/>
                                  </p:iterate>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anim calcmode="lin" valueType="num">
                                      <p:cBhvr>
                                        <p:cTn id="8" dur="500" fill="hold"/>
                                        <p:tgtEl>
                                          <p:spTgt spid="4">
                                            <p:txEl>
                                              <p:pRg st="1" end="1"/>
                                            </p:txEl>
                                          </p:spTgt>
                                        </p:tgtEl>
                                        <p:attrNameLst>
                                          <p:attrName>ppt_w</p:attrName>
                                        </p:attrNameLst>
                                      </p:cBhvr>
                                      <p:tavLst>
                                        <p:tav tm="0" fmla="#ppt_w*sin(2.5*pi*$)">
                                          <p:val>
                                            <p:fltVal val="0"/>
                                          </p:val>
                                        </p:tav>
                                        <p:tav tm="100000">
                                          <p:val>
                                            <p:fltVal val="1"/>
                                          </p:val>
                                        </p:tav>
                                      </p:tavLst>
                                    </p:anim>
                                    <p:anim calcmode="lin" valueType="num">
                                      <p:cBhvr>
                                        <p:cTn id="9" dur="500" fill="hold"/>
                                        <p:tgtEl>
                                          <p:spTgt spid="4">
                                            <p:txEl>
                                              <p:pRg st="1" end="1"/>
                                            </p:txEl>
                                          </p:spTgt>
                                        </p:tgtEl>
                                        <p:attrNameLst>
                                          <p:attrName>ppt_h</p:attrName>
                                        </p:attrNameLst>
                                      </p:cBhvr>
                                      <p:tavLst>
                                        <p:tav tm="0">
                                          <p:val>
                                            <p:strVal val="#ppt_h"/>
                                          </p:val>
                                        </p:tav>
                                        <p:tav tm="100000">
                                          <p:val>
                                            <p:strVal val="#ppt_h"/>
                                          </p:val>
                                        </p:tav>
                                      </p:tavLst>
                                    </p:anim>
                                  </p:childTnLst>
                                </p:cTn>
                              </p:par>
                            </p:childTnLst>
                          </p:cTn>
                        </p:par>
                        <p:par>
                          <p:cTn id="10" fill="hold">
                            <p:stCondLst>
                              <p:cond delay="1250"/>
                            </p:stCondLst>
                            <p:childTnLst>
                              <p:par>
                                <p:cTn id="11" presetID="45" presetClass="entr" presetSubtype="0" fill="hold" grpId="0" nodeType="afterEffect">
                                  <p:stCondLst>
                                    <p:cond delay="0"/>
                                  </p:stCondLst>
                                  <p:iterate type="lt">
                                    <p:tmPct val="10000"/>
                                  </p:iterate>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anim calcmode="lin" valueType="num">
                                      <p:cBhvr>
                                        <p:cTn id="14" dur="500" fill="hold"/>
                                        <p:tgtEl>
                                          <p:spTgt spid="4">
                                            <p:txEl>
                                              <p:pRg st="2" end="2"/>
                                            </p:txEl>
                                          </p:spTgt>
                                        </p:tgtEl>
                                        <p:attrNameLst>
                                          <p:attrName>ppt_w</p:attrName>
                                        </p:attrNameLst>
                                      </p:cBhvr>
                                      <p:tavLst>
                                        <p:tav tm="0" fmla="#ppt_w*sin(2.5*pi*$)">
                                          <p:val>
                                            <p:fltVal val="0"/>
                                          </p:val>
                                        </p:tav>
                                        <p:tav tm="100000">
                                          <p:val>
                                            <p:fltVal val="1"/>
                                          </p:val>
                                        </p:tav>
                                      </p:tavLst>
                                    </p:anim>
                                    <p:anim calcmode="lin" valueType="num">
                                      <p:cBhvr>
                                        <p:cTn id="15" dur="500" fill="hold"/>
                                        <p:tgtEl>
                                          <p:spTgt spid="4">
                                            <p:txEl>
                                              <p:pRg st="2" end="2"/>
                                            </p:txEl>
                                          </p:spTgt>
                                        </p:tgtEl>
                                        <p:attrNameLst>
                                          <p:attrName>ppt_h</p:attrName>
                                        </p:attrNameLst>
                                      </p:cBhvr>
                                      <p:tavLst>
                                        <p:tav tm="0">
                                          <p:val>
                                            <p:strVal val="#ppt_h"/>
                                          </p:val>
                                        </p:tav>
                                        <p:tav tm="100000">
                                          <p:val>
                                            <p:strVal val="#ppt_h"/>
                                          </p:val>
                                        </p:tav>
                                      </p:tavLst>
                                    </p:anim>
                                  </p:childTnLst>
                                </p:cTn>
                              </p:par>
                            </p:childTnLst>
                          </p:cTn>
                        </p:par>
                        <p:par>
                          <p:cTn id="16" fill="hold">
                            <p:stCondLst>
                              <p:cond delay="2450"/>
                            </p:stCondLst>
                            <p:childTnLst>
                              <p:par>
                                <p:cTn id="17" presetID="45" presetClass="entr" presetSubtype="0" fill="hold" grpId="0" nodeType="afterEffect">
                                  <p:stCondLst>
                                    <p:cond delay="0"/>
                                  </p:stCondLst>
                                  <p:iterate type="lt">
                                    <p:tmPct val="10000"/>
                                  </p:iterate>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500"/>
                                        <p:tgtEl>
                                          <p:spTgt spid="4">
                                            <p:txEl>
                                              <p:pRg st="3" end="3"/>
                                            </p:txEl>
                                          </p:spTgt>
                                        </p:tgtEl>
                                      </p:cBhvr>
                                    </p:animEffect>
                                    <p:anim calcmode="lin" valueType="num">
                                      <p:cBhvr>
                                        <p:cTn id="20" dur="500" fill="hold"/>
                                        <p:tgtEl>
                                          <p:spTgt spid="4">
                                            <p:txEl>
                                              <p:pRg st="3" end="3"/>
                                            </p:txEl>
                                          </p:spTgt>
                                        </p:tgtEl>
                                        <p:attrNameLst>
                                          <p:attrName>ppt_w</p:attrName>
                                        </p:attrNameLst>
                                      </p:cBhvr>
                                      <p:tavLst>
                                        <p:tav tm="0" fmla="#ppt_w*sin(2.5*pi*$)">
                                          <p:val>
                                            <p:fltVal val="0"/>
                                          </p:val>
                                        </p:tav>
                                        <p:tav tm="100000">
                                          <p:val>
                                            <p:fltVal val="1"/>
                                          </p:val>
                                        </p:tav>
                                      </p:tavLst>
                                    </p:anim>
                                    <p:anim calcmode="lin" valueType="num">
                                      <p:cBhvr>
                                        <p:cTn id="21" dur="500" fill="hold"/>
                                        <p:tgtEl>
                                          <p:spTgt spid="4">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algn="ctr"/>
            <a:r>
              <a:rPr lang="en-US" sz="3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Concurrency</a:t>
            </a:r>
            <a:br>
              <a:rPr lang="en-US" sz="3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3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Arises in Three Different Contexts</a:t>
            </a: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t>
            </a:r>
          </a:p>
        </p:txBody>
      </p:sp>
      <p:sp>
        <p:nvSpPr>
          <p:cNvPr id="4" name="Content Placeholder 3"/>
          <p:cNvSpPr>
            <a:spLocks noGrp="1"/>
          </p:cNvSpPr>
          <p:nvPr>
            <p:ph idx="4294967295"/>
          </p:nvPr>
        </p:nvSpPr>
        <p:spPr>
          <a:xfrm>
            <a:off x="1524000" y="1447800"/>
            <a:ext cx="7620000" cy="4953000"/>
          </a:xfrm>
        </p:spPr>
        <p:txBody>
          <a:bodyPr/>
          <a:lstStyle/>
          <a:p>
            <a:pPr>
              <a:buNone/>
            </a:pPr>
            <a:r>
              <a:rPr lang="en-NZ" dirty="0"/>
              <a:t>             </a:t>
            </a:r>
          </a:p>
          <a:p>
            <a:endParaRPr lang="en-US" dirty="0"/>
          </a:p>
        </p:txBody>
      </p:sp>
      <p:graphicFrame>
        <p:nvGraphicFramePr>
          <p:cNvPr id="5" name="Diagram 4"/>
          <p:cNvGraphicFramePr/>
          <p:nvPr/>
        </p:nvGraphicFramePr>
        <p:xfrm>
          <a:off x="457200" y="1905000"/>
          <a:ext cx="80772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Principles of Concurrency</a:t>
            </a:r>
          </a:p>
        </p:txBody>
      </p:sp>
      <p:sp>
        <p:nvSpPr>
          <p:cNvPr id="3" name="Content Placeholder 2"/>
          <p:cNvSpPr>
            <a:spLocks noGrp="1"/>
          </p:cNvSpPr>
          <p:nvPr>
            <p:ph sz="half" idx="1"/>
          </p:nvPr>
        </p:nvSpPr>
        <p:spPr>
          <a:xfrm>
            <a:off x="658904" y="2286000"/>
            <a:ext cx="8027896" cy="3840163"/>
          </a:xfrm>
        </p:spPr>
        <p:txBody>
          <a:bodyPr>
            <a:noAutofit/>
          </a:bodyPr>
          <a:lstStyle/>
          <a:p>
            <a:r>
              <a:rPr lang="en-US" sz="2800" dirty="0"/>
              <a:t>Interleaving and overlapping </a:t>
            </a:r>
          </a:p>
          <a:p>
            <a:pPr lvl="2"/>
            <a:r>
              <a:rPr lang="en-US" sz="2400" dirty="0"/>
              <a:t>can be viewed as examples of concurrent processing</a:t>
            </a:r>
          </a:p>
          <a:p>
            <a:pPr lvl="2"/>
            <a:r>
              <a:rPr lang="en-US" sz="2400" dirty="0"/>
              <a:t>both present the same problems</a:t>
            </a:r>
          </a:p>
          <a:p>
            <a:pPr marL="282575" lvl="2">
              <a:spcBef>
                <a:spcPts val="1800"/>
              </a:spcBef>
            </a:pPr>
            <a:r>
              <a:rPr lang="en-US" sz="2800" dirty="0" err="1"/>
              <a:t>Uniprocessor</a:t>
            </a:r>
            <a:r>
              <a:rPr lang="en-US" sz="2800" dirty="0"/>
              <a:t> – the relative speed of execution of processes cannot be predicted</a:t>
            </a:r>
          </a:p>
          <a:p>
            <a:pPr lvl="2"/>
            <a:r>
              <a:rPr lang="en-US" sz="2400" dirty="0"/>
              <a:t>depends on activities of other processes</a:t>
            </a:r>
          </a:p>
          <a:p>
            <a:pPr lvl="2"/>
            <a:r>
              <a:rPr lang="en-US" sz="2400" dirty="0"/>
              <a:t>the way the OS handles interrupts</a:t>
            </a:r>
          </a:p>
          <a:p>
            <a:pPr lvl="2"/>
            <a:r>
              <a:rPr lang="en-US" sz="2400" dirty="0"/>
              <a:t>scheduling policies of the OS</a:t>
            </a:r>
          </a:p>
        </p:txBody>
      </p:sp>
      <p:pic>
        <p:nvPicPr>
          <p:cNvPr id="6" name="Picture 5"/>
          <p:cNvPicPr>
            <a:picLocks noChangeAspect="1"/>
          </p:cNvPicPr>
          <p:nvPr/>
        </p:nvPicPr>
        <p:blipFill>
          <a:blip r:embed="rId3"/>
          <a:stretch>
            <a:fillRect/>
          </a:stretch>
        </p:blipFill>
        <p:spPr>
          <a:xfrm rot="865002">
            <a:off x="7018415" y="4977805"/>
            <a:ext cx="1612269" cy="1492533"/>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1"/>
            <a:ext cx="8332787" cy="1143000"/>
          </a:xfrm>
        </p:spPr>
        <p:txBody>
          <a:bodyPr/>
          <a:lstStyle/>
          <a:p>
            <a:pPr algn="ctr"/>
            <a:r>
              <a:rPr lang="en-US" sz="4800" b="1" dirty="0">
                <a:solidFill>
                  <a:schemeClr val="accent6">
                    <a:lumMod val="50000"/>
                  </a:schemeClr>
                </a:solidFill>
              </a:rPr>
              <a:t>Difficulties of Concurrency</a:t>
            </a:r>
          </a:p>
        </p:txBody>
      </p:sp>
      <p:sp>
        <p:nvSpPr>
          <p:cNvPr id="3" name="Content Placeholder 2"/>
          <p:cNvSpPr>
            <a:spLocks noGrp="1"/>
          </p:cNvSpPr>
          <p:nvPr>
            <p:ph sz="half" idx="1"/>
          </p:nvPr>
        </p:nvSpPr>
        <p:spPr>
          <a:xfrm>
            <a:off x="658904" y="2286000"/>
            <a:ext cx="8180296" cy="3840163"/>
          </a:xfrm>
        </p:spPr>
        <p:txBody>
          <a:bodyPr/>
          <a:lstStyle/>
          <a:p>
            <a:r>
              <a:rPr lang="en-US" sz="3200" dirty="0"/>
              <a:t>Sharing of global resources</a:t>
            </a:r>
          </a:p>
          <a:p>
            <a:r>
              <a:rPr lang="en-US" sz="3200" dirty="0"/>
              <a:t>Difficult for the OS to manage the allocation of resources optimally</a:t>
            </a:r>
          </a:p>
          <a:p>
            <a:r>
              <a:rPr lang="en-US" sz="3200" dirty="0"/>
              <a:t>Difficult to locate programming errors as results are not deterministic and reproducible</a:t>
            </a:r>
          </a:p>
          <a:p>
            <a:endParaRPr lang="en-US" dirty="0"/>
          </a:p>
        </p:txBody>
      </p:sp>
      <p:pic>
        <p:nvPicPr>
          <p:cNvPr id="5" name="Picture 4"/>
          <p:cNvPicPr>
            <a:picLocks noChangeAspect="1"/>
          </p:cNvPicPr>
          <p:nvPr/>
        </p:nvPicPr>
        <p:blipFill>
          <a:blip r:embed="rId3"/>
          <a:stretch>
            <a:fillRect/>
          </a:stretch>
        </p:blipFill>
        <p:spPr>
          <a:xfrm>
            <a:off x="7239000" y="5029200"/>
            <a:ext cx="1387045" cy="14478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accel="50000" decel="5000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0-#ppt_h/2"/>
                                          </p:val>
                                        </p:tav>
                                        <p:tav tm="100000">
                                          <p:val>
                                            <p:strVal val="#ppt_y"/>
                                          </p:val>
                                        </p:tav>
                                      </p:tavLst>
                                    </p:anim>
                                  </p:childTnLst>
                                </p:cTn>
                              </p:par>
                              <p:par>
                                <p:cTn id="9" presetID="2" presetClass="entr" presetSubtype="8" accel="50000" decel="50000"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2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2" dur="2000" fill="hold"/>
                                        <p:tgtEl>
                                          <p:spTgt spid="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4" accel="50000" decel="5000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3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3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Race Condition</a:t>
            </a:r>
          </a:p>
        </p:txBody>
      </p:sp>
      <p:sp>
        <p:nvSpPr>
          <p:cNvPr id="3" name="Content Placeholder 2"/>
          <p:cNvSpPr>
            <a:spLocks noGrp="1"/>
          </p:cNvSpPr>
          <p:nvPr>
            <p:ph sz="half" idx="1"/>
          </p:nvPr>
        </p:nvSpPr>
        <p:spPr>
          <a:xfrm>
            <a:off x="658904" y="2286000"/>
            <a:ext cx="6961096" cy="3840163"/>
          </a:xfrm>
        </p:spPr>
        <p:txBody>
          <a:bodyPr>
            <a:normAutofit/>
          </a:bodyPr>
          <a:lstStyle/>
          <a:p>
            <a:r>
              <a:rPr lang="en-NZ" sz="3000" dirty="0"/>
              <a:t>Occurs when multiple processes or threads read and write data items</a:t>
            </a:r>
          </a:p>
          <a:p>
            <a:r>
              <a:rPr lang="en-NZ" sz="3000" dirty="0"/>
              <a:t>The final result depends on the order of execution</a:t>
            </a:r>
          </a:p>
          <a:p>
            <a:pPr lvl="3"/>
            <a:r>
              <a:rPr lang="en-NZ" sz="2600" dirty="0"/>
              <a:t>the “loser” of the race is the process that updates last and will determine the final value of the variable</a:t>
            </a:r>
          </a:p>
        </p:txBody>
      </p:sp>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7315200" y="4876800"/>
            <a:ext cx="1323565" cy="1490313"/>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wipe(down)">
                                      <p:cBhvr>
                                        <p:cTn id="23" dur="580">
                                          <p:stCondLst>
                                            <p:cond delay="0"/>
                                          </p:stCondLst>
                                        </p:cTn>
                                        <p:tgtEl>
                                          <p:spTgt spid="3">
                                            <p:txEl>
                                              <p:pRg st="1" end="1"/>
                                            </p:txEl>
                                          </p:spTgt>
                                        </p:tgtEl>
                                      </p:cBhvr>
                                    </p:animEffect>
                                    <p:anim calcmode="lin" valueType="num">
                                      <p:cBhvr>
                                        <p:cTn id="24"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3">
                                            <p:txEl>
                                              <p:pRg st="1" end="1"/>
                                            </p:txEl>
                                          </p:spTgt>
                                        </p:tgtEl>
                                      </p:cBhvr>
                                      <p:to x="100000" y="60000"/>
                                    </p:animScale>
                                    <p:animScale>
                                      <p:cBhvr>
                                        <p:cTn id="30" dur="166" decel="50000">
                                          <p:stCondLst>
                                            <p:cond delay="676"/>
                                          </p:stCondLst>
                                        </p:cTn>
                                        <p:tgtEl>
                                          <p:spTgt spid="3">
                                            <p:txEl>
                                              <p:pRg st="1" end="1"/>
                                            </p:txEl>
                                          </p:spTgt>
                                        </p:tgtEl>
                                      </p:cBhvr>
                                      <p:to x="100000" y="100000"/>
                                    </p:animScale>
                                    <p:animScale>
                                      <p:cBhvr>
                                        <p:cTn id="31" dur="26">
                                          <p:stCondLst>
                                            <p:cond delay="1312"/>
                                          </p:stCondLst>
                                        </p:cTn>
                                        <p:tgtEl>
                                          <p:spTgt spid="3">
                                            <p:txEl>
                                              <p:pRg st="1" end="1"/>
                                            </p:txEl>
                                          </p:spTgt>
                                        </p:tgtEl>
                                      </p:cBhvr>
                                      <p:to x="100000" y="80000"/>
                                    </p:animScale>
                                    <p:animScale>
                                      <p:cBhvr>
                                        <p:cTn id="32" dur="166" decel="50000">
                                          <p:stCondLst>
                                            <p:cond delay="1338"/>
                                          </p:stCondLst>
                                        </p:cTn>
                                        <p:tgtEl>
                                          <p:spTgt spid="3">
                                            <p:txEl>
                                              <p:pRg st="1" end="1"/>
                                            </p:txEl>
                                          </p:spTgt>
                                        </p:tgtEl>
                                      </p:cBhvr>
                                      <p:to x="100000" y="100000"/>
                                    </p:animScale>
                                    <p:animScale>
                                      <p:cBhvr>
                                        <p:cTn id="33" dur="26">
                                          <p:stCondLst>
                                            <p:cond delay="1642"/>
                                          </p:stCondLst>
                                        </p:cTn>
                                        <p:tgtEl>
                                          <p:spTgt spid="3">
                                            <p:txEl>
                                              <p:pRg st="1" end="1"/>
                                            </p:txEl>
                                          </p:spTgt>
                                        </p:tgtEl>
                                      </p:cBhvr>
                                      <p:to x="100000" y="90000"/>
                                    </p:animScale>
                                    <p:animScale>
                                      <p:cBhvr>
                                        <p:cTn id="34" dur="166" decel="50000">
                                          <p:stCondLst>
                                            <p:cond delay="1668"/>
                                          </p:stCondLst>
                                        </p:cTn>
                                        <p:tgtEl>
                                          <p:spTgt spid="3">
                                            <p:txEl>
                                              <p:pRg st="1" end="1"/>
                                            </p:txEl>
                                          </p:spTgt>
                                        </p:tgtEl>
                                      </p:cBhvr>
                                      <p:to x="100000" y="100000"/>
                                    </p:animScale>
                                    <p:animScale>
                                      <p:cBhvr>
                                        <p:cTn id="35" dur="26">
                                          <p:stCondLst>
                                            <p:cond delay="1808"/>
                                          </p:stCondLst>
                                        </p:cTn>
                                        <p:tgtEl>
                                          <p:spTgt spid="3">
                                            <p:txEl>
                                              <p:pRg st="1" end="1"/>
                                            </p:txEl>
                                          </p:spTgt>
                                        </p:tgtEl>
                                      </p:cBhvr>
                                      <p:to x="100000" y="95000"/>
                                    </p:animScale>
                                    <p:animScale>
                                      <p:cBhvr>
                                        <p:cTn id="36" dur="166" decel="50000">
                                          <p:stCondLst>
                                            <p:cond delay="1834"/>
                                          </p:stCondLst>
                                        </p:cTn>
                                        <p:tgtEl>
                                          <p:spTgt spid="3">
                                            <p:txEl>
                                              <p:pRg st="1" end="1"/>
                                            </p:txEl>
                                          </p:spTgt>
                                        </p:tgtEl>
                                      </p:cBhvr>
                                      <p:to x="100000" y="100000"/>
                                    </p:animScale>
                                  </p:childTnLst>
                                </p:cTn>
                              </p:par>
                              <p:par>
                                <p:cTn id="37" presetID="26" presetClass="entr" presetSubtype="0" fill="hold" grpId="0" nodeType="with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wipe(down)">
                                      <p:cBhvr>
                                        <p:cTn id="39" dur="580">
                                          <p:stCondLst>
                                            <p:cond delay="0"/>
                                          </p:stCondLst>
                                        </p:cTn>
                                        <p:tgtEl>
                                          <p:spTgt spid="3">
                                            <p:txEl>
                                              <p:pRg st="2" end="2"/>
                                            </p:txEl>
                                          </p:spTgt>
                                        </p:tgtEl>
                                      </p:cBhvr>
                                    </p:animEffect>
                                    <p:anim calcmode="lin" valueType="num">
                                      <p:cBhvr>
                                        <p:cTn id="40"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2" end="2"/>
                                            </p:txEl>
                                          </p:spTgt>
                                        </p:tgtEl>
                                      </p:cBhvr>
                                      <p:to x="100000" y="60000"/>
                                    </p:animScale>
                                    <p:animScale>
                                      <p:cBhvr>
                                        <p:cTn id="46" dur="166" decel="50000">
                                          <p:stCondLst>
                                            <p:cond delay="676"/>
                                          </p:stCondLst>
                                        </p:cTn>
                                        <p:tgtEl>
                                          <p:spTgt spid="3">
                                            <p:txEl>
                                              <p:pRg st="2" end="2"/>
                                            </p:txEl>
                                          </p:spTgt>
                                        </p:tgtEl>
                                      </p:cBhvr>
                                      <p:to x="100000" y="100000"/>
                                    </p:animScale>
                                    <p:animScale>
                                      <p:cBhvr>
                                        <p:cTn id="47" dur="26">
                                          <p:stCondLst>
                                            <p:cond delay="1312"/>
                                          </p:stCondLst>
                                        </p:cTn>
                                        <p:tgtEl>
                                          <p:spTgt spid="3">
                                            <p:txEl>
                                              <p:pRg st="2" end="2"/>
                                            </p:txEl>
                                          </p:spTgt>
                                        </p:tgtEl>
                                      </p:cBhvr>
                                      <p:to x="100000" y="80000"/>
                                    </p:animScale>
                                    <p:animScale>
                                      <p:cBhvr>
                                        <p:cTn id="48" dur="166" decel="50000">
                                          <p:stCondLst>
                                            <p:cond delay="1338"/>
                                          </p:stCondLst>
                                        </p:cTn>
                                        <p:tgtEl>
                                          <p:spTgt spid="3">
                                            <p:txEl>
                                              <p:pRg st="2" end="2"/>
                                            </p:txEl>
                                          </p:spTgt>
                                        </p:tgtEl>
                                      </p:cBhvr>
                                      <p:to x="100000" y="100000"/>
                                    </p:animScale>
                                    <p:animScale>
                                      <p:cBhvr>
                                        <p:cTn id="49" dur="26">
                                          <p:stCondLst>
                                            <p:cond delay="1642"/>
                                          </p:stCondLst>
                                        </p:cTn>
                                        <p:tgtEl>
                                          <p:spTgt spid="3">
                                            <p:txEl>
                                              <p:pRg st="2" end="2"/>
                                            </p:txEl>
                                          </p:spTgt>
                                        </p:tgtEl>
                                      </p:cBhvr>
                                      <p:to x="100000" y="90000"/>
                                    </p:animScale>
                                    <p:animScale>
                                      <p:cBhvr>
                                        <p:cTn id="50" dur="166" decel="50000">
                                          <p:stCondLst>
                                            <p:cond delay="1668"/>
                                          </p:stCondLst>
                                        </p:cTn>
                                        <p:tgtEl>
                                          <p:spTgt spid="3">
                                            <p:txEl>
                                              <p:pRg st="2" end="2"/>
                                            </p:txEl>
                                          </p:spTgt>
                                        </p:tgtEl>
                                      </p:cBhvr>
                                      <p:to x="100000" y="100000"/>
                                    </p:animScale>
                                    <p:animScale>
                                      <p:cBhvr>
                                        <p:cTn id="51" dur="26">
                                          <p:stCondLst>
                                            <p:cond delay="1808"/>
                                          </p:stCondLst>
                                        </p:cTn>
                                        <p:tgtEl>
                                          <p:spTgt spid="3">
                                            <p:txEl>
                                              <p:pRg st="2" end="2"/>
                                            </p:txEl>
                                          </p:spTgt>
                                        </p:tgtEl>
                                      </p:cBhvr>
                                      <p:to x="100000" y="95000"/>
                                    </p:animScale>
                                    <p:animScale>
                                      <p:cBhvr>
                                        <p:cTn id="52"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ctr"/>
            <a:r>
              <a:rPr lang="en-US" sz="4600" b="1" dirty="0">
                <a:solidFill>
                  <a:schemeClr val="accent6">
                    <a:lumMod val="75000"/>
                  </a:schemeClr>
                </a:solidFill>
              </a:rPr>
              <a:t>Operating System Concerns</a:t>
            </a:r>
          </a:p>
        </p:txBody>
      </p:sp>
      <p:sp>
        <p:nvSpPr>
          <p:cNvPr id="3" name="Content Placeholder 2"/>
          <p:cNvSpPr>
            <a:spLocks noGrp="1"/>
          </p:cNvSpPr>
          <p:nvPr>
            <p:ph sz="half" idx="1"/>
          </p:nvPr>
        </p:nvSpPr>
        <p:spPr>
          <a:xfrm>
            <a:off x="533400" y="2133600"/>
            <a:ext cx="7924800" cy="4343400"/>
          </a:xfrm>
        </p:spPr>
        <p:txBody>
          <a:bodyPr>
            <a:normAutofit/>
          </a:bodyPr>
          <a:lstStyle/>
          <a:p>
            <a:r>
              <a:rPr lang="en-NZ" sz="2400" dirty="0"/>
              <a:t>Design and management issues raised by the existence of concurrency:</a:t>
            </a:r>
          </a:p>
          <a:p>
            <a:pPr lvl="1"/>
            <a:r>
              <a:rPr lang="en-NZ" sz="2400" dirty="0"/>
              <a:t>T</a:t>
            </a:r>
            <a:r>
              <a:rPr lang="en-US" sz="2400" dirty="0"/>
              <a:t>he OS must: </a:t>
            </a:r>
          </a:p>
          <a:p>
            <a:pPr lvl="3"/>
            <a:r>
              <a:rPr lang="en-US" sz="2200" dirty="0"/>
              <a:t>be able to keep track of various processes</a:t>
            </a:r>
          </a:p>
          <a:p>
            <a:pPr lvl="3"/>
            <a:r>
              <a:rPr lang="en-US" sz="2200" dirty="0"/>
              <a:t>allocate and de-allocate resources for each              active process</a:t>
            </a:r>
          </a:p>
          <a:p>
            <a:pPr lvl="3"/>
            <a:r>
              <a:rPr lang="en-NZ" sz="2200" dirty="0"/>
              <a:t>protect the data and physical resources of each process against interference by other processes</a:t>
            </a:r>
            <a:endParaRPr lang="en-US" sz="2200" dirty="0"/>
          </a:p>
          <a:p>
            <a:pPr lvl="3"/>
            <a:r>
              <a:rPr lang="en-US" sz="2200" dirty="0"/>
              <a:t>ensure that the processes and outputs are independent of the processing speed</a:t>
            </a:r>
          </a:p>
        </p:txBody>
      </p:sp>
      <p:pic>
        <p:nvPicPr>
          <p:cNvPr id="4" name="Picture 3"/>
          <p:cNvPicPr>
            <a:picLocks noChangeAspect="1"/>
          </p:cNvPicPr>
          <p:nvPr/>
        </p:nvPicPr>
        <p:blipFill>
          <a:blip r:embed="rId3"/>
          <a:stretch>
            <a:fillRect/>
          </a:stretch>
        </p:blipFill>
        <p:spPr>
          <a:xfrm rot="21305445">
            <a:off x="6978619" y="3019167"/>
            <a:ext cx="1713492" cy="1170886"/>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1" presetClass="entr" presetSubtype="0" fill="hold" grpId="0" nodeType="afterEffect">
                                  <p:stCondLst>
                                    <p:cond delay="30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385" decel="100000"/>
                                        <p:tgtEl>
                                          <p:spTgt spid="3">
                                            <p:txEl>
                                              <p:pRg st="2" end="2"/>
                                            </p:txEl>
                                          </p:spTgt>
                                        </p:tgtEl>
                                      </p:cBhvr>
                                    </p:animEffect>
                                    <p:animScale>
                                      <p:cBhvr>
                                        <p:cTn id="8" dur="385" decel="100000"/>
                                        <p:tgtEl>
                                          <p:spTgt spid="3">
                                            <p:txEl>
                                              <p:pRg st="2" end="2"/>
                                            </p:txEl>
                                          </p:spTgt>
                                        </p:tgtEl>
                                      </p:cBhvr>
                                      <p:from x="10000" y="10000"/>
                                      <p:to x="200000" y="450000"/>
                                    </p:animScale>
                                    <p:animScale>
                                      <p:cBhvr>
                                        <p:cTn id="9" dur="615" accel="100000" fill="hold">
                                          <p:stCondLst>
                                            <p:cond delay="385"/>
                                          </p:stCondLst>
                                        </p:cTn>
                                        <p:tgtEl>
                                          <p:spTgt spid="3">
                                            <p:txEl>
                                              <p:pRg st="2" end="2"/>
                                            </p:txEl>
                                          </p:spTgt>
                                        </p:tgtEl>
                                      </p:cBhvr>
                                      <p:from x="200000" y="450000"/>
                                      <p:to x="100000" y="100000"/>
                                    </p:animScale>
                                    <p:set>
                                      <p:cBhvr>
                                        <p:cTn id="10" dur="385" fill="hold"/>
                                        <p:tgtEl>
                                          <p:spTgt spid="3">
                                            <p:txEl>
                                              <p:pRg st="2" end="2"/>
                                            </p:txEl>
                                          </p:spTgt>
                                        </p:tgtEl>
                                        <p:attrNameLst>
                                          <p:attrName>ppt_x</p:attrName>
                                        </p:attrNameLst>
                                      </p:cBhvr>
                                      <p:to>
                                        <p:strVal val="(0.5)"/>
                                      </p:to>
                                    </p:set>
                                    <p:anim from="(0.5)" to="(#ppt_x)" calcmode="lin" valueType="num">
                                      <p:cBhvr>
                                        <p:cTn id="11" dur="615" accel="100000" fill="hold">
                                          <p:stCondLst>
                                            <p:cond delay="385"/>
                                          </p:stCondLst>
                                        </p:cTn>
                                        <p:tgtEl>
                                          <p:spTgt spid="3">
                                            <p:txEl>
                                              <p:pRg st="2" end="2"/>
                                            </p:txEl>
                                          </p:spTgt>
                                        </p:tgtEl>
                                        <p:attrNameLst>
                                          <p:attrName>ppt_x</p:attrName>
                                        </p:attrNameLst>
                                      </p:cBhvr>
                                    </p:anim>
                                    <p:set>
                                      <p:cBhvr>
                                        <p:cTn id="12" dur="385" fill="hold"/>
                                        <p:tgtEl>
                                          <p:spTgt spid="3">
                                            <p:txEl>
                                              <p:pRg st="2" end="2"/>
                                            </p:txEl>
                                          </p:spTgt>
                                        </p:tgtEl>
                                        <p:attrNameLst>
                                          <p:attrName>ppt_y</p:attrName>
                                        </p:attrNameLst>
                                      </p:cBhvr>
                                      <p:to>
                                        <p:strVal val="(#ppt_y+0.4)"/>
                                      </p:to>
                                    </p:set>
                                    <p:anim from="(#ppt_y+0.4)" to="(#ppt_y)" calcmode="lin" valueType="num">
                                      <p:cBhvr>
                                        <p:cTn id="13" dur="615" accel="100000" fill="hold">
                                          <p:stCondLst>
                                            <p:cond delay="385"/>
                                          </p:stCondLst>
                                        </p:cTn>
                                        <p:tgtEl>
                                          <p:spTgt spid="3">
                                            <p:txEl>
                                              <p:pRg st="2" end="2"/>
                                            </p:txEl>
                                          </p:spTgt>
                                        </p:tgtEl>
                                        <p:attrNameLst>
                                          <p:attrName>ppt_y</p:attrName>
                                        </p:attrNameLst>
                                      </p:cBhvr>
                                    </p:anim>
                                  </p:childTnLst>
                                </p:cTn>
                              </p:par>
                              <p:par>
                                <p:cTn id="14" presetID="51"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385" decel="100000"/>
                                        <p:tgtEl>
                                          <p:spTgt spid="3">
                                            <p:txEl>
                                              <p:pRg st="3" end="3"/>
                                            </p:txEl>
                                          </p:spTgt>
                                        </p:tgtEl>
                                      </p:cBhvr>
                                    </p:animEffect>
                                    <p:animScale>
                                      <p:cBhvr>
                                        <p:cTn id="17" dur="385" decel="100000"/>
                                        <p:tgtEl>
                                          <p:spTgt spid="3">
                                            <p:txEl>
                                              <p:pRg st="3" end="3"/>
                                            </p:txEl>
                                          </p:spTgt>
                                        </p:tgtEl>
                                      </p:cBhvr>
                                      <p:from x="10000" y="10000"/>
                                      <p:to x="200000" y="450000"/>
                                    </p:animScale>
                                    <p:animScale>
                                      <p:cBhvr>
                                        <p:cTn id="18" dur="615" accel="100000" fill="hold">
                                          <p:stCondLst>
                                            <p:cond delay="385"/>
                                          </p:stCondLst>
                                        </p:cTn>
                                        <p:tgtEl>
                                          <p:spTgt spid="3">
                                            <p:txEl>
                                              <p:pRg st="3" end="3"/>
                                            </p:txEl>
                                          </p:spTgt>
                                        </p:tgtEl>
                                      </p:cBhvr>
                                      <p:from x="200000" y="450000"/>
                                      <p:to x="100000" y="100000"/>
                                    </p:animScale>
                                    <p:set>
                                      <p:cBhvr>
                                        <p:cTn id="19" dur="385" fill="hold"/>
                                        <p:tgtEl>
                                          <p:spTgt spid="3">
                                            <p:txEl>
                                              <p:pRg st="3" end="3"/>
                                            </p:txEl>
                                          </p:spTgt>
                                        </p:tgtEl>
                                        <p:attrNameLst>
                                          <p:attrName>ppt_x</p:attrName>
                                        </p:attrNameLst>
                                      </p:cBhvr>
                                      <p:to>
                                        <p:strVal val="(0.5)"/>
                                      </p:to>
                                    </p:set>
                                    <p:anim from="(0.5)" to="(#ppt_x)" calcmode="lin" valueType="num">
                                      <p:cBhvr>
                                        <p:cTn id="20" dur="615" accel="100000" fill="hold">
                                          <p:stCondLst>
                                            <p:cond delay="385"/>
                                          </p:stCondLst>
                                        </p:cTn>
                                        <p:tgtEl>
                                          <p:spTgt spid="3">
                                            <p:txEl>
                                              <p:pRg st="3" end="3"/>
                                            </p:txEl>
                                          </p:spTgt>
                                        </p:tgtEl>
                                        <p:attrNameLst>
                                          <p:attrName>ppt_x</p:attrName>
                                        </p:attrNameLst>
                                      </p:cBhvr>
                                    </p:anim>
                                    <p:set>
                                      <p:cBhvr>
                                        <p:cTn id="21" dur="385" fill="hold"/>
                                        <p:tgtEl>
                                          <p:spTgt spid="3">
                                            <p:txEl>
                                              <p:pRg st="3" end="3"/>
                                            </p:txEl>
                                          </p:spTgt>
                                        </p:tgtEl>
                                        <p:attrNameLst>
                                          <p:attrName>ppt_y</p:attrName>
                                        </p:attrNameLst>
                                      </p:cBhvr>
                                      <p:to>
                                        <p:strVal val="(#ppt_y+0.4)"/>
                                      </p:to>
                                    </p:set>
                                    <p:anim from="(#ppt_y+0.4)" to="(#ppt_y)" calcmode="lin" valueType="num">
                                      <p:cBhvr>
                                        <p:cTn id="22" dur="615" accel="100000" fill="hold">
                                          <p:stCondLst>
                                            <p:cond delay="385"/>
                                          </p:stCondLst>
                                        </p:cTn>
                                        <p:tgtEl>
                                          <p:spTgt spid="3">
                                            <p:txEl>
                                              <p:pRg st="3" end="3"/>
                                            </p:txEl>
                                          </p:spTgt>
                                        </p:tgtEl>
                                        <p:attrNameLst>
                                          <p:attrName>ppt_y</p:attrName>
                                        </p:attrNameLst>
                                      </p:cBhvr>
                                    </p:anim>
                                  </p:childTnLst>
                                </p:cTn>
                              </p:par>
                              <p:par>
                                <p:cTn id="23" presetID="51"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385" decel="100000"/>
                                        <p:tgtEl>
                                          <p:spTgt spid="3">
                                            <p:txEl>
                                              <p:pRg st="4" end="4"/>
                                            </p:txEl>
                                          </p:spTgt>
                                        </p:tgtEl>
                                      </p:cBhvr>
                                    </p:animEffect>
                                    <p:animScale>
                                      <p:cBhvr>
                                        <p:cTn id="26" dur="385" decel="100000"/>
                                        <p:tgtEl>
                                          <p:spTgt spid="3">
                                            <p:txEl>
                                              <p:pRg st="4" end="4"/>
                                            </p:txEl>
                                          </p:spTgt>
                                        </p:tgtEl>
                                      </p:cBhvr>
                                      <p:from x="10000" y="10000"/>
                                      <p:to x="200000" y="450000"/>
                                    </p:animScale>
                                    <p:animScale>
                                      <p:cBhvr>
                                        <p:cTn id="27" dur="615" accel="100000" fill="hold">
                                          <p:stCondLst>
                                            <p:cond delay="385"/>
                                          </p:stCondLst>
                                        </p:cTn>
                                        <p:tgtEl>
                                          <p:spTgt spid="3">
                                            <p:txEl>
                                              <p:pRg st="4" end="4"/>
                                            </p:txEl>
                                          </p:spTgt>
                                        </p:tgtEl>
                                      </p:cBhvr>
                                      <p:from x="200000" y="450000"/>
                                      <p:to x="100000" y="100000"/>
                                    </p:animScale>
                                    <p:set>
                                      <p:cBhvr>
                                        <p:cTn id="28" dur="385" fill="hold"/>
                                        <p:tgtEl>
                                          <p:spTgt spid="3">
                                            <p:txEl>
                                              <p:pRg st="4" end="4"/>
                                            </p:txEl>
                                          </p:spTgt>
                                        </p:tgtEl>
                                        <p:attrNameLst>
                                          <p:attrName>ppt_x</p:attrName>
                                        </p:attrNameLst>
                                      </p:cBhvr>
                                      <p:to>
                                        <p:strVal val="(0.5)"/>
                                      </p:to>
                                    </p:set>
                                    <p:anim from="(0.5)" to="(#ppt_x)" calcmode="lin" valueType="num">
                                      <p:cBhvr>
                                        <p:cTn id="29" dur="615" accel="100000" fill="hold">
                                          <p:stCondLst>
                                            <p:cond delay="385"/>
                                          </p:stCondLst>
                                        </p:cTn>
                                        <p:tgtEl>
                                          <p:spTgt spid="3">
                                            <p:txEl>
                                              <p:pRg st="4" end="4"/>
                                            </p:txEl>
                                          </p:spTgt>
                                        </p:tgtEl>
                                        <p:attrNameLst>
                                          <p:attrName>ppt_x</p:attrName>
                                        </p:attrNameLst>
                                      </p:cBhvr>
                                    </p:anim>
                                    <p:set>
                                      <p:cBhvr>
                                        <p:cTn id="30" dur="385" fill="hold"/>
                                        <p:tgtEl>
                                          <p:spTgt spid="3">
                                            <p:txEl>
                                              <p:pRg st="4" end="4"/>
                                            </p:txEl>
                                          </p:spTgt>
                                        </p:tgtEl>
                                        <p:attrNameLst>
                                          <p:attrName>ppt_y</p:attrName>
                                        </p:attrNameLst>
                                      </p:cBhvr>
                                      <p:to>
                                        <p:strVal val="(#ppt_y+0.4)"/>
                                      </p:to>
                                    </p:set>
                                    <p:anim from="(#ppt_y+0.4)" to="(#ppt_y)" calcmode="lin" valueType="num">
                                      <p:cBhvr>
                                        <p:cTn id="31" dur="615" accel="100000" fill="hold">
                                          <p:stCondLst>
                                            <p:cond delay="385"/>
                                          </p:stCondLst>
                                        </p:cTn>
                                        <p:tgtEl>
                                          <p:spTgt spid="3">
                                            <p:txEl>
                                              <p:pRg st="4" end="4"/>
                                            </p:txEl>
                                          </p:spTgt>
                                        </p:tgtEl>
                                        <p:attrNameLst>
                                          <p:attrName>ppt_y</p:attrName>
                                        </p:attrNameLst>
                                      </p:cBhvr>
                                    </p:anim>
                                  </p:childTnLst>
                                </p:cTn>
                              </p:par>
                              <p:par>
                                <p:cTn id="32" presetID="51" presetClass="entr" presetSubtype="0" fill="hold" grpId="0"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385" decel="100000"/>
                                        <p:tgtEl>
                                          <p:spTgt spid="3">
                                            <p:txEl>
                                              <p:pRg st="5" end="5"/>
                                            </p:txEl>
                                          </p:spTgt>
                                        </p:tgtEl>
                                      </p:cBhvr>
                                    </p:animEffect>
                                    <p:animScale>
                                      <p:cBhvr>
                                        <p:cTn id="35" dur="385" decel="100000"/>
                                        <p:tgtEl>
                                          <p:spTgt spid="3">
                                            <p:txEl>
                                              <p:pRg st="5" end="5"/>
                                            </p:txEl>
                                          </p:spTgt>
                                        </p:tgtEl>
                                      </p:cBhvr>
                                      <p:from x="10000" y="10000"/>
                                      <p:to x="200000" y="450000"/>
                                    </p:animScale>
                                    <p:animScale>
                                      <p:cBhvr>
                                        <p:cTn id="36" dur="615" accel="100000" fill="hold">
                                          <p:stCondLst>
                                            <p:cond delay="385"/>
                                          </p:stCondLst>
                                        </p:cTn>
                                        <p:tgtEl>
                                          <p:spTgt spid="3">
                                            <p:txEl>
                                              <p:pRg st="5" end="5"/>
                                            </p:txEl>
                                          </p:spTgt>
                                        </p:tgtEl>
                                      </p:cBhvr>
                                      <p:from x="200000" y="450000"/>
                                      <p:to x="100000" y="100000"/>
                                    </p:animScale>
                                    <p:set>
                                      <p:cBhvr>
                                        <p:cTn id="37" dur="385" fill="hold"/>
                                        <p:tgtEl>
                                          <p:spTgt spid="3">
                                            <p:txEl>
                                              <p:pRg st="5" end="5"/>
                                            </p:txEl>
                                          </p:spTgt>
                                        </p:tgtEl>
                                        <p:attrNameLst>
                                          <p:attrName>ppt_x</p:attrName>
                                        </p:attrNameLst>
                                      </p:cBhvr>
                                      <p:to>
                                        <p:strVal val="(0.5)"/>
                                      </p:to>
                                    </p:set>
                                    <p:anim from="(0.5)" to="(#ppt_x)" calcmode="lin" valueType="num">
                                      <p:cBhvr>
                                        <p:cTn id="38" dur="615" accel="100000" fill="hold">
                                          <p:stCondLst>
                                            <p:cond delay="385"/>
                                          </p:stCondLst>
                                        </p:cTn>
                                        <p:tgtEl>
                                          <p:spTgt spid="3">
                                            <p:txEl>
                                              <p:pRg st="5" end="5"/>
                                            </p:txEl>
                                          </p:spTgt>
                                        </p:tgtEl>
                                        <p:attrNameLst>
                                          <p:attrName>ppt_x</p:attrName>
                                        </p:attrNameLst>
                                      </p:cBhvr>
                                    </p:anim>
                                    <p:set>
                                      <p:cBhvr>
                                        <p:cTn id="39" dur="385" fill="hold"/>
                                        <p:tgtEl>
                                          <p:spTgt spid="3">
                                            <p:txEl>
                                              <p:pRg st="5" end="5"/>
                                            </p:txEl>
                                          </p:spTgt>
                                        </p:tgtEl>
                                        <p:attrNameLst>
                                          <p:attrName>ppt_y</p:attrName>
                                        </p:attrNameLst>
                                      </p:cBhvr>
                                      <p:to>
                                        <p:strVal val="(#ppt_y+0.4)"/>
                                      </p:to>
                                    </p:set>
                                    <p:anim from="(#ppt_y+0.4)" to="(#ppt_y)" calcmode="lin" valueType="num">
                                      <p:cBhvr>
                                        <p:cTn id="40" dur="615" accel="100000" fill="hold">
                                          <p:stCondLst>
                                            <p:cond delay="385"/>
                                          </p:stCondLst>
                                        </p:cTn>
                                        <p:tgtEl>
                                          <p:spTgt spid="3">
                                            <p:txEl>
                                              <p:pRg st="5" end="5"/>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
            <a:ext cx="7696200" cy="990600"/>
          </a:xfrm>
        </p:spPr>
        <p:txBody>
          <a:bodyPr/>
          <a:lstStyle/>
          <a:p>
            <a:pPr algn="ctr"/>
            <a:r>
              <a:rPr lang="en-US" sz="4800" b="1" dirty="0">
                <a:ln w="1905"/>
                <a:solidFill>
                  <a:schemeClr val="accent6">
                    <a:lumMod val="50000"/>
                  </a:schemeClr>
                </a:solidFill>
                <a:effectLst>
                  <a:innerShdw blurRad="69850" dist="43180" dir="5400000">
                    <a:srgbClr val="000000">
                      <a:alpha val="65000"/>
                    </a:srgbClr>
                  </a:innerShdw>
                </a:effectLst>
              </a:rPr>
              <a:t>Resource Competition</a:t>
            </a:r>
          </a:p>
        </p:txBody>
      </p:sp>
      <p:sp>
        <p:nvSpPr>
          <p:cNvPr id="3" name="Content Placeholder 2"/>
          <p:cNvSpPr>
            <a:spLocks noGrp="1"/>
          </p:cNvSpPr>
          <p:nvPr>
            <p:ph sz="half" idx="1"/>
          </p:nvPr>
        </p:nvSpPr>
        <p:spPr>
          <a:xfrm>
            <a:off x="381000" y="2057400"/>
            <a:ext cx="8382000" cy="1828800"/>
          </a:xfrm>
        </p:spPr>
        <p:txBody>
          <a:bodyPr/>
          <a:lstStyle/>
          <a:p>
            <a:pPr>
              <a:buClr>
                <a:schemeClr val="accent3">
                  <a:lumMod val="50000"/>
                </a:schemeClr>
              </a:buClr>
              <a:buSzPct val="150000"/>
              <a:buFont typeface="Wingdings" charset="2"/>
              <a:buChar char="§"/>
            </a:pPr>
            <a:r>
              <a:rPr lang="en-US" sz="2800" dirty="0"/>
              <a:t>Concurrent processes come into conflict when they are competing for use of the same resource</a:t>
            </a:r>
          </a:p>
          <a:p>
            <a:pPr lvl="2">
              <a:buClr>
                <a:schemeClr val="accent3">
                  <a:lumMod val="50000"/>
                </a:schemeClr>
              </a:buClr>
              <a:buSzPct val="150000"/>
              <a:buFont typeface="Wingdings" charset="2"/>
              <a:buChar char="§"/>
            </a:pPr>
            <a:r>
              <a:rPr lang="en-US" sz="2000" dirty="0"/>
              <a:t> for example: I/O devices, memory, processor time, clock</a:t>
            </a:r>
          </a:p>
        </p:txBody>
      </p:sp>
      <p:graphicFrame>
        <p:nvGraphicFramePr>
          <p:cNvPr id="4" name="Diagram 3"/>
          <p:cNvGraphicFramePr/>
          <p:nvPr/>
        </p:nvGraphicFramePr>
        <p:xfrm>
          <a:off x="990600" y="3505200"/>
          <a:ext cx="7162800" cy="279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457200" y="4800600"/>
            <a:ext cx="1295400" cy="1756850"/>
          </a:xfrm>
          <a:prstGeom prst="rect">
            <a:avLst/>
          </a:prstGeom>
        </p:spPr>
      </p:pic>
      <p:pic>
        <p:nvPicPr>
          <p:cNvPr id="10" name="Picture 9"/>
          <p:cNvPicPr>
            <a:picLocks noChangeAspect="1"/>
          </p:cNvPicPr>
          <p:nvPr/>
        </p:nvPicPr>
        <p:blipFill>
          <a:blip r:embed="rId9"/>
          <a:stretch>
            <a:fillRect/>
          </a:stretch>
        </p:blipFill>
        <p:spPr>
          <a:xfrm>
            <a:off x="7772400" y="4876800"/>
            <a:ext cx="2057400" cy="1666009"/>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Requirements for Mutual Exclusion</a:t>
            </a:r>
          </a:p>
        </p:txBody>
      </p:sp>
      <p:sp>
        <p:nvSpPr>
          <p:cNvPr id="3" name="Content Placeholder 2"/>
          <p:cNvSpPr>
            <a:spLocks noGrp="1"/>
          </p:cNvSpPr>
          <p:nvPr>
            <p:ph sz="half" idx="1"/>
          </p:nvPr>
        </p:nvSpPr>
        <p:spPr>
          <a:xfrm>
            <a:off x="457200" y="2057400"/>
            <a:ext cx="8153400" cy="4419600"/>
          </a:xfrm>
        </p:spPr>
        <p:txBody>
          <a:bodyPr>
            <a:normAutofit fontScale="62500" lnSpcReduction="20000"/>
          </a:bodyPr>
          <a:lstStyle/>
          <a:p>
            <a:r>
              <a:rPr lang="en-US" sz="4000" dirty="0"/>
              <a:t>Must be enforced</a:t>
            </a:r>
          </a:p>
          <a:p>
            <a:r>
              <a:rPr lang="en-US" sz="4000" dirty="0"/>
              <a:t>A process that halts must do so without             interfering with other processes</a:t>
            </a:r>
          </a:p>
          <a:p>
            <a:r>
              <a:rPr lang="en-US" sz="4000" dirty="0"/>
              <a:t>No deadlock or starvation</a:t>
            </a:r>
          </a:p>
          <a:p>
            <a:r>
              <a:rPr lang="en-US" sz="4000" dirty="0"/>
              <a:t>A process must not be denied access to a critical section when there is no other process using it</a:t>
            </a:r>
          </a:p>
          <a:p>
            <a:r>
              <a:rPr lang="en-US" sz="4000" dirty="0"/>
              <a:t>No assumptions are made about relative process speeds or number of processes</a:t>
            </a:r>
          </a:p>
          <a:p>
            <a:r>
              <a:rPr lang="en-US" sz="4000" dirty="0"/>
              <a:t>A process remains inside its critical section for a finite time only</a:t>
            </a:r>
          </a:p>
          <a:p>
            <a:endParaRPr lang="en-US" sz="2400" dirty="0"/>
          </a:p>
        </p:txBody>
      </p:sp>
      <p:pic>
        <p:nvPicPr>
          <p:cNvPr id="4" name="Picture 3"/>
          <p:cNvPicPr>
            <a:picLocks noChangeAspect="1"/>
          </p:cNvPicPr>
          <p:nvPr/>
        </p:nvPicPr>
        <p:blipFill>
          <a:blip r:embed="rId3"/>
          <a:stretch>
            <a:fillRect/>
          </a:stretch>
        </p:blipFill>
        <p:spPr>
          <a:xfrm>
            <a:off x="6629400" y="2362200"/>
            <a:ext cx="1968500" cy="153272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0" end="0"/>
                                            </p:txEl>
                                          </p:spTgt>
                                        </p:tgtEl>
                                      </p:cBhvr>
                                    </p:animEffect>
                                  </p:childTnLst>
                                </p:cTn>
                              </p:par>
                            </p:childTnLst>
                          </p:cTn>
                        </p:par>
                        <p:par>
                          <p:cTn id="10" fill="hold">
                            <p:stCondLst>
                              <p:cond delay="1000"/>
                            </p:stCondLst>
                            <p:childTnLst>
                              <p:par>
                                <p:cTn id="11" presetID="50" presetClass="entr" presetSubtype="0" decel="10000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1000" fill="hold"/>
                                        <p:tgtEl>
                                          <p:spTgt spid="3">
                                            <p:txEl>
                                              <p:pRg st="1" end="1"/>
                                            </p:txEl>
                                          </p:spTgt>
                                        </p:tgtEl>
                                        <p:attrNameLst>
                                          <p:attrName>ppt_w</p:attrName>
                                        </p:attrNameLst>
                                      </p:cBhvr>
                                      <p:tavLst>
                                        <p:tav tm="0">
                                          <p:val>
                                            <p:strVal val="#ppt_w+.3"/>
                                          </p:val>
                                        </p:tav>
                                        <p:tav tm="100000">
                                          <p:val>
                                            <p:strVal val="#ppt_w"/>
                                          </p:val>
                                        </p:tav>
                                      </p:tavLst>
                                    </p:anim>
                                    <p:anim calcmode="lin" valueType="num">
                                      <p:cBhvr>
                                        <p:cTn id="14"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15" dur="1000"/>
                                        <p:tgtEl>
                                          <p:spTgt spid="3">
                                            <p:txEl>
                                              <p:pRg st="1" end="1"/>
                                            </p:txEl>
                                          </p:spTgt>
                                        </p:tgtEl>
                                      </p:cBhvr>
                                    </p:animEffect>
                                  </p:childTnLst>
                                </p:cTn>
                              </p:par>
                            </p:childTnLst>
                          </p:cTn>
                        </p:par>
                        <p:par>
                          <p:cTn id="16" fill="hold">
                            <p:stCondLst>
                              <p:cond delay="2000"/>
                            </p:stCondLst>
                            <p:childTnLst>
                              <p:par>
                                <p:cTn id="17" presetID="50" presetClass="entr" presetSubtype="0" decel="10000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ppt_w</p:attrName>
                                        </p:attrNameLst>
                                      </p:cBhvr>
                                      <p:tavLst>
                                        <p:tav tm="0">
                                          <p:val>
                                            <p:strVal val="#ppt_w+.3"/>
                                          </p:val>
                                        </p:tav>
                                        <p:tav tm="100000">
                                          <p:val>
                                            <p:strVal val="#ppt_w"/>
                                          </p:val>
                                        </p:tav>
                                      </p:tavLst>
                                    </p:anim>
                                    <p:anim calcmode="lin" valueType="num">
                                      <p:cBhvr>
                                        <p:cTn id="20" dur="1000" fill="hold"/>
                                        <p:tgtEl>
                                          <p:spTgt spid="3">
                                            <p:txEl>
                                              <p:pRg st="2" end="2"/>
                                            </p:txEl>
                                          </p:spTgt>
                                        </p:tgtEl>
                                        <p:attrNameLst>
                                          <p:attrName>ppt_h</p:attrName>
                                        </p:attrNameLst>
                                      </p:cBhvr>
                                      <p:tavLst>
                                        <p:tav tm="0">
                                          <p:val>
                                            <p:strVal val="#ppt_h"/>
                                          </p:val>
                                        </p:tav>
                                        <p:tav tm="100000">
                                          <p:val>
                                            <p:strVal val="#ppt_h"/>
                                          </p:val>
                                        </p:tav>
                                      </p:tavLst>
                                    </p:anim>
                                    <p:animEffect transition="in" filter="fade">
                                      <p:cBhvr>
                                        <p:cTn id="21" dur="1000"/>
                                        <p:tgtEl>
                                          <p:spTgt spid="3">
                                            <p:txEl>
                                              <p:pRg st="2" end="2"/>
                                            </p:txEl>
                                          </p:spTgt>
                                        </p:tgtEl>
                                      </p:cBhvr>
                                    </p:animEffect>
                                  </p:childTnLst>
                                </p:cTn>
                              </p:par>
                            </p:childTnLst>
                          </p:cTn>
                        </p:par>
                        <p:par>
                          <p:cTn id="22" fill="hold">
                            <p:stCondLst>
                              <p:cond delay="3000"/>
                            </p:stCondLst>
                            <p:childTnLst>
                              <p:par>
                                <p:cTn id="23" presetID="50" presetClass="entr" presetSubtype="0" decel="10000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p:cTn id="25" dur="1000" fill="hold"/>
                                        <p:tgtEl>
                                          <p:spTgt spid="3">
                                            <p:txEl>
                                              <p:pRg st="3" end="3"/>
                                            </p:txEl>
                                          </p:spTgt>
                                        </p:tgtEl>
                                        <p:attrNameLst>
                                          <p:attrName>ppt_w</p:attrName>
                                        </p:attrNameLst>
                                      </p:cBhvr>
                                      <p:tavLst>
                                        <p:tav tm="0">
                                          <p:val>
                                            <p:strVal val="#ppt_w+.3"/>
                                          </p:val>
                                        </p:tav>
                                        <p:tav tm="100000">
                                          <p:val>
                                            <p:strVal val="#ppt_w"/>
                                          </p:val>
                                        </p:tav>
                                      </p:tavLst>
                                    </p:anim>
                                    <p:anim calcmode="lin" valueType="num">
                                      <p:cBhvr>
                                        <p:cTn id="26" dur="1000" fill="hold"/>
                                        <p:tgtEl>
                                          <p:spTgt spid="3">
                                            <p:txEl>
                                              <p:pRg st="3" end="3"/>
                                            </p:txEl>
                                          </p:spTgt>
                                        </p:tgtEl>
                                        <p:attrNameLst>
                                          <p:attrName>ppt_h</p:attrName>
                                        </p:attrNameLst>
                                      </p:cBhvr>
                                      <p:tavLst>
                                        <p:tav tm="0">
                                          <p:val>
                                            <p:strVal val="#ppt_h"/>
                                          </p:val>
                                        </p:tav>
                                        <p:tav tm="100000">
                                          <p:val>
                                            <p:strVal val="#ppt_h"/>
                                          </p:val>
                                        </p:tav>
                                      </p:tavLst>
                                    </p:anim>
                                    <p:animEffect transition="in" filter="fade">
                                      <p:cBhvr>
                                        <p:cTn id="27" dur="1000"/>
                                        <p:tgtEl>
                                          <p:spTgt spid="3">
                                            <p:txEl>
                                              <p:pRg st="3" end="3"/>
                                            </p:txEl>
                                          </p:spTgt>
                                        </p:tgtEl>
                                      </p:cBhvr>
                                    </p:animEffect>
                                  </p:childTnLst>
                                </p:cTn>
                              </p:par>
                            </p:childTnLst>
                          </p:cTn>
                        </p:par>
                        <p:par>
                          <p:cTn id="28" fill="hold">
                            <p:stCondLst>
                              <p:cond delay="4000"/>
                            </p:stCondLst>
                            <p:childTnLst>
                              <p:par>
                                <p:cTn id="29" presetID="50" presetClass="entr" presetSubtype="0" decel="10000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p:cTn id="31" dur="1000" fill="hold"/>
                                        <p:tgtEl>
                                          <p:spTgt spid="3">
                                            <p:txEl>
                                              <p:pRg st="4" end="4"/>
                                            </p:txEl>
                                          </p:spTgt>
                                        </p:tgtEl>
                                        <p:attrNameLst>
                                          <p:attrName>ppt_w</p:attrName>
                                        </p:attrNameLst>
                                      </p:cBhvr>
                                      <p:tavLst>
                                        <p:tav tm="0">
                                          <p:val>
                                            <p:strVal val="#ppt_w+.3"/>
                                          </p:val>
                                        </p:tav>
                                        <p:tav tm="100000">
                                          <p:val>
                                            <p:strVal val="#ppt_w"/>
                                          </p:val>
                                        </p:tav>
                                      </p:tavLst>
                                    </p:anim>
                                    <p:anim calcmode="lin" valueType="num">
                                      <p:cBhvr>
                                        <p:cTn id="32"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3" dur="1000"/>
                                        <p:tgtEl>
                                          <p:spTgt spid="3">
                                            <p:txEl>
                                              <p:pRg st="4" end="4"/>
                                            </p:txEl>
                                          </p:spTgt>
                                        </p:tgtEl>
                                      </p:cBhvr>
                                    </p:animEffect>
                                  </p:childTnLst>
                                </p:cTn>
                              </p:par>
                            </p:childTnLst>
                          </p:cTn>
                        </p:par>
                        <p:par>
                          <p:cTn id="34" fill="hold">
                            <p:stCondLst>
                              <p:cond delay="5000"/>
                            </p:stCondLst>
                            <p:childTnLst>
                              <p:par>
                                <p:cTn id="35" presetID="50" presetClass="entr" presetSubtype="0" decel="100000"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p:cTn id="37" dur="1000" fill="hold"/>
                                        <p:tgtEl>
                                          <p:spTgt spid="3">
                                            <p:txEl>
                                              <p:pRg st="5" end="5"/>
                                            </p:txEl>
                                          </p:spTgt>
                                        </p:tgtEl>
                                        <p:attrNameLst>
                                          <p:attrName>ppt_w</p:attrName>
                                        </p:attrNameLst>
                                      </p:cBhvr>
                                      <p:tavLst>
                                        <p:tav tm="0">
                                          <p:val>
                                            <p:strVal val="#ppt_w+.3"/>
                                          </p:val>
                                        </p:tav>
                                        <p:tav tm="100000">
                                          <p:val>
                                            <p:strVal val="#ppt_w"/>
                                          </p:val>
                                        </p:tav>
                                      </p:tavLst>
                                    </p:anim>
                                    <p:anim calcmode="lin" valueType="num">
                                      <p:cBhvr>
                                        <p:cTn id="38"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39"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Mutual Exclusion: </a:t>
            </a:r>
            <a:b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4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Hardware Support</a:t>
            </a:r>
          </a:p>
        </p:txBody>
      </p:sp>
      <p:sp>
        <p:nvSpPr>
          <p:cNvPr id="8" name="TextBox 7"/>
          <p:cNvSpPr txBox="1"/>
          <p:nvPr/>
        </p:nvSpPr>
        <p:spPr>
          <a:xfrm>
            <a:off x="304800" y="2209800"/>
            <a:ext cx="4191000" cy="2800767"/>
          </a:xfrm>
          <a:prstGeom prst="rect">
            <a:avLst/>
          </a:prstGeom>
          <a:noFill/>
        </p:spPr>
        <p:txBody>
          <a:bodyPr wrap="square" rtlCol="0">
            <a:spAutoFit/>
          </a:bodyPr>
          <a:lstStyle/>
          <a:p>
            <a:pPr marL="342900" lvl="1" indent="-342900">
              <a:buFont typeface="Arial"/>
              <a:buChar char="•"/>
            </a:pPr>
            <a:r>
              <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Interrupt Disabling</a:t>
            </a:r>
          </a:p>
          <a:p>
            <a:pPr marL="342900" lvl="1" indent="-342900"/>
            <a:endParaRPr lang="en-US" sz="1600" b="1" dirty="0">
              <a:solidFill>
                <a:schemeClr val="accent4">
                  <a:lumMod val="50000"/>
                </a:schemeClr>
              </a:solidFill>
            </a:endParaRPr>
          </a:p>
          <a:p>
            <a:pPr lvl="1">
              <a:buFont typeface="Lucida Grande"/>
              <a:buChar char="–"/>
            </a:pPr>
            <a:r>
              <a:rPr lang="en-US" sz="2400" dirty="0"/>
              <a:t> </a:t>
            </a:r>
            <a:r>
              <a:rPr lang="en-US" sz="2400" dirty="0" err="1"/>
              <a:t>uniprocessor</a:t>
            </a:r>
            <a:r>
              <a:rPr lang="en-US" sz="2400" dirty="0"/>
              <a:t> system</a:t>
            </a:r>
          </a:p>
          <a:p>
            <a:pPr lvl="1"/>
            <a:endParaRPr lang="en-US" sz="1400" dirty="0"/>
          </a:p>
          <a:p>
            <a:pPr lvl="1">
              <a:buFont typeface="Lucida Grande"/>
              <a:buChar char="–"/>
            </a:pPr>
            <a:r>
              <a:rPr lang="en-US" sz="2400" dirty="0"/>
              <a:t> disabling interrupts guarantees mutual exclusion</a:t>
            </a:r>
          </a:p>
          <a:p>
            <a:endParaRPr lang="en-US" dirty="0"/>
          </a:p>
        </p:txBody>
      </p:sp>
      <p:sp>
        <p:nvSpPr>
          <p:cNvPr id="9" name="TextBox 8"/>
          <p:cNvSpPr txBox="1"/>
          <p:nvPr/>
        </p:nvSpPr>
        <p:spPr>
          <a:xfrm>
            <a:off x="4800600" y="2209800"/>
            <a:ext cx="3962400" cy="3447098"/>
          </a:xfrm>
          <a:prstGeom prst="rect">
            <a:avLst/>
          </a:prstGeom>
          <a:noFill/>
        </p:spPr>
        <p:txBody>
          <a:bodyPr wrap="square" rtlCol="0">
            <a:spAutoFit/>
          </a:bodyPr>
          <a:lstStyle/>
          <a:p>
            <a:pPr marL="342900" lvl="1" indent="-342900">
              <a:buFont typeface="Arial"/>
              <a:buChar char="•"/>
            </a:pPr>
            <a:r>
              <a:rPr lang="en-US" sz="3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Disadvantages:</a:t>
            </a:r>
            <a:endParaRPr lang="en-US" sz="3200" b="1" dirty="0">
              <a:solidFill>
                <a:schemeClr val="accent4">
                  <a:lumMod val="50000"/>
                </a:schemeClr>
              </a:solidFill>
            </a:endParaRPr>
          </a:p>
          <a:p>
            <a:pPr marL="342900" lvl="1" indent="-342900"/>
            <a:endParaRPr lang="en-US" sz="1200" dirty="0"/>
          </a:p>
          <a:p>
            <a:pPr lvl="1">
              <a:buFont typeface="Lucida Grande"/>
              <a:buChar char="–"/>
            </a:pPr>
            <a:r>
              <a:rPr lang="en-US" sz="2400" dirty="0"/>
              <a:t> the efficiency of execution could be noticeably degraded</a:t>
            </a:r>
          </a:p>
          <a:p>
            <a:pPr lvl="1"/>
            <a:endParaRPr lang="en-US" sz="1200" dirty="0"/>
          </a:p>
          <a:p>
            <a:pPr lvl="1">
              <a:buFont typeface="Lucida Grande"/>
              <a:buChar char="–"/>
            </a:pPr>
            <a:r>
              <a:rPr lang="en-US" sz="2400" dirty="0"/>
              <a:t> this approach will not work in a multiprocessor architecture</a:t>
            </a:r>
          </a:p>
          <a:p>
            <a:endParaRPr lang="en-US" dirty="0"/>
          </a:p>
        </p:txBody>
      </p:sp>
      <p:cxnSp>
        <p:nvCxnSpPr>
          <p:cNvPr id="11" name="Straight Connector 10"/>
          <p:cNvCxnSpPr/>
          <p:nvPr/>
        </p:nvCxnSpPr>
        <p:spPr>
          <a:xfrm rot="5400000">
            <a:off x="2858294" y="4228306"/>
            <a:ext cx="3581400" cy="1588"/>
          </a:xfrm>
          <a:prstGeom prst="line">
            <a:avLst/>
          </a:prstGeom>
          <a:ln w="34925">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pic>
        <p:nvPicPr>
          <p:cNvPr id="18" name="Picture 17"/>
          <p:cNvPicPr>
            <a:picLocks noChangeAspect="1"/>
          </p:cNvPicPr>
          <p:nvPr/>
        </p:nvPicPr>
        <p:blipFill>
          <a:blip r:embed="rId2"/>
          <a:stretch>
            <a:fillRect/>
          </a:stretch>
        </p:blipFill>
        <p:spPr>
          <a:xfrm>
            <a:off x="1219200" y="4953000"/>
            <a:ext cx="1981200" cy="1390904"/>
          </a:xfrm>
          <a:prstGeom prst="rect">
            <a:avLst/>
          </a:prstGeom>
        </p:spPr>
      </p:pic>
      <p:pic>
        <p:nvPicPr>
          <p:cNvPr id="12" name="Picture 11"/>
          <p:cNvPicPr>
            <a:picLocks noChangeAspect="1"/>
          </p:cNvPicPr>
          <p:nvPr/>
        </p:nvPicPr>
        <p:blipFill>
          <a:blip r:embed="rId3"/>
          <a:stretch>
            <a:fillRect/>
          </a:stretch>
        </p:blipFill>
        <p:spPr>
          <a:xfrm>
            <a:off x="7543800" y="5029200"/>
            <a:ext cx="1137356" cy="147233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Mutual Exclusion: </a:t>
            </a:r>
            <a:b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Hardware Support</a:t>
            </a:r>
            <a:endParaRPr lang="en-NZ"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sz="half" idx="1"/>
          </p:nvPr>
        </p:nvSpPr>
        <p:spPr>
          <a:xfrm>
            <a:off x="381000" y="2209800"/>
            <a:ext cx="8305800" cy="4419600"/>
          </a:xfrm>
        </p:spPr>
        <p:txBody>
          <a:bodyPr>
            <a:noAutofit/>
          </a:bodyPr>
          <a:lstStyle/>
          <a:p>
            <a:pPr lvl="1"/>
            <a:r>
              <a:rPr lang="en-NZ" sz="3600" dirty="0"/>
              <a:t>Special Machine Instructions</a:t>
            </a:r>
          </a:p>
          <a:p>
            <a:pPr lvl="2"/>
            <a:r>
              <a:rPr lang="en-NZ" sz="3400" dirty="0"/>
              <a:t>Compare&amp;Swap Instruction </a:t>
            </a:r>
          </a:p>
          <a:p>
            <a:pPr lvl="4"/>
            <a:r>
              <a:rPr lang="en-NZ" sz="2800" dirty="0"/>
              <a:t>also called a “compare and exchange instruction”</a:t>
            </a:r>
          </a:p>
          <a:p>
            <a:pPr lvl="4"/>
            <a:r>
              <a:rPr lang="en-NZ" sz="2800" dirty="0"/>
              <a:t>a </a:t>
            </a:r>
            <a:r>
              <a:rPr lang="en-NZ" sz="2800" b="1" dirty="0"/>
              <a:t>compare </a:t>
            </a:r>
            <a:r>
              <a:rPr lang="en-NZ" sz="2800" dirty="0"/>
              <a:t>is made between a memory value and a test value</a:t>
            </a:r>
          </a:p>
          <a:p>
            <a:pPr lvl="4"/>
            <a:r>
              <a:rPr lang="en-NZ" sz="2800" dirty="0"/>
              <a:t>if the values are the same a </a:t>
            </a:r>
            <a:r>
              <a:rPr lang="en-NZ" sz="2800" b="1" dirty="0"/>
              <a:t>swap </a:t>
            </a:r>
            <a:r>
              <a:rPr lang="en-NZ" sz="2800" dirty="0"/>
              <a:t>occurs</a:t>
            </a:r>
          </a:p>
          <a:p>
            <a:pPr lvl="4"/>
            <a:r>
              <a:rPr lang="en-NZ" sz="2800" dirty="0"/>
              <a:t>carried out atomically</a:t>
            </a:r>
          </a:p>
        </p:txBody>
      </p:sp>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rot="1357152">
            <a:off x="7325432" y="2330015"/>
            <a:ext cx="1240129" cy="109372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8" presetClass="entr" presetSubtype="0" accel="50000" fill="hold" grpId="0" nodeType="after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 calcmode="lin" valueType="num">
                                      <p:cBhvr>
                                        <p:cTn id="7" dur="1000" fill="hold"/>
                                        <p:tgtEl>
                                          <p:spTgt spid="3">
                                            <p:txEl>
                                              <p:pRg st="5" end="5"/>
                                            </p:txEl>
                                          </p:spTgt>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3">
                                            <p:txEl>
                                              <p:pRg st="5" end="5"/>
                                            </p:txEl>
                                          </p:spTgt>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
                                          </p:val>
                                        </p:tav>
                                        <p:tav tm="100000">
                                          <p:val>
                                            <p:strVal val="#ppt_y"/>
                                          </p:val>
                                        </p:tav>
                                      </p:tavLst>
                                    </p:anim>
                                    <p:animEffect transition="in" filter="fade">
                                      <p:cBhvr>
                                        <p:cTn id="10"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dirty="0">
                <a:ln w="1905">
                  <a:solidFill>
                    <a:schemeClr val="accent1">
                      <a:lumMod val="75000"/>
                    </a:schemeClr>
                  </a:solidFill>
                </a:ln>
                <a:solidFill>
                  <a:schemeClr val="accent4">
                    <a:lumMod val="50000"/>
                  </a:schemeClr>
                </a:solidFill>
                <a:effectLst>
                  <a:innerShdw blurRad="69850" dist="43180" dir="5400000">
                    <a:srgbClr val="000000">
                      <a:alpha val="65000"/>
                    </a:srgbClr>
                  </a:innerShdw>
                </a:effectLst>
              </a:rPr>
              <a:t>Special Machine Instruction:</a:t>
            </a:r>
            <a:br>
              <a:rPr lang="en-US" sz="4400" dirty="0">
                <a:ln w="1905">
                  <a:solidFill>
                    <a:schemeClr val="accent1">
                      <a:lumMod val="75000"/>
                    </a:schemeClr>
                  </a:solidFill>
                </a:ln>
                <a:solidFill>
                  <a:schemeClr val="accent4">
                    <a:lumMod val="50000"/>
                  </a:schemeClr>
                </a:solidFill>
                <a:effectLst>
                  <a:innerShdw blurRad="69850" dist="43180" dir="5400000">
                    <a:srgbClr val="000000">
                      <a:alpha val="65000"/>
                    </a:srgbClr>
                  </a:innerShdw>
                </a:effectLst>
              </a:rPr>
            </a:br>
            <a:r>
              <a:rPr lang="en-US" sz="4400" dirty="0">
                <a:ln w="1905">
                  <a:solidFill>
                    <a:schemeClr val="accent1">
                      <a:lumMod val="75000"/>
                    </a:schemeClr>
                  </a:solidFill>
                </a:ln>
                <a:solidFill>
                  <a:schemeClr val="accent4">
                    <a:lumMod val="50000"/>
                  </a:schemeClr>
                </a:solidFill>
                <a:effectLst>
                  <a:innerShdw blurRad="69850" dist="43180" dir="5400000">
                    <a:srgbClr val="000000">
                      <a:alpha val="65000"/>
                    </a:srgbClr>
                  </a:innerShdw>
                </a:effectLst>
              </a:rPr>
              <a:t>Advantages</a:t>
            </a:r>
          </a:p>
        </p:txBody>
      </p:sp>
      <p:sp>
        <p:nvSpPr>
          <p:cNvPr id="3" name="Content Placeholder 2"/>
          <p:cNvSpPr>
            <a:spLocks noGrp="1"/>
          </p:cNvSpPr>
          <p:nvPr>
            <p:ph sz="half" idx="1"/>
          </p:nvPr>
        </p:nvSpPr>
        <p:spPr>
          <a:xfrm>
            <a:off x="658904" y="2286000"/>
            <a:ext cx="8180296" cy="3840163"/>
          </a:xfrm>
        </p:spPr>
        <p:txBody>
          <a:bodyPr>
            <a:normAutofit fontScale="40000" lnSpcReduction="20000"/>
          </a:bodyPr>
          <a:lstStyle/>
          <a:p>
            <a:r>
              <a:rPr lang="en-US" sz="8800" dirty="0"/>
              <a:t> </a:t>
            </a:r>
            <a:r>
              <a:rPr lang="en-US" sz="8000" dirty="0">
                <a:latin typeface="Calibri"/>
              </a:rPr>
              <a:t>Applicable to any number of processes on     either a single processor or multiple   processors sharing main memory</a:t>
            </a:r>
          </a:p>
          <a:p>
            <a:r>
              <a:rPr lang="en-US" sz="8000" dirty="0">
                <a:latin typeface="Calibri"/>
              </a:rPr>
              <a:t> Simple and easy to verify</a:t>
            </a:r>
          </a:p>
          <a:p>
            <a:r>
              <a:rPr lang="en-US" sz="8000" dirty="0">
                <a:latin typeface="Calibri"/>
              </a:rPr>
              <a:t> It can be used to support multiple critical sections; each critical section can be defined by its own variable</a:t>
            </a:r>
          </a:p>
          <a:p>
            <a:endParaRPr lang="en-US" dirty="0"/>
          </a:p>
        </p:txBody>
      </p:sp>
      <p:sp>
        <p:nvSpPr>
          <p:cNvPr id="4" name="Up Arrow 3"/>
          <p:cNvSpPr/>
          <p:nvPr/>
        </p:nvSpPr>
        <p:spPr>
          <a:xfrm>
            <a:off x="685800" y="2286000"/>
            <a:ext cx="381000" cy="457200"/>
          </a:xfrm>
          <a:prstGeom prst="upArrow">
            <a:avLst>
              <a:gd name="adj1" fmla="val 50000"/>
              <a:gd name="adj2" fmla="val 50000"/>
            </a:avLst>
          </a:prstGeom>
          <a:solidFill>
            <a:schemeClr val="accent4">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Up Arrow 7"/>
          <p:cNvSpPr/>
          <p:nvPr/>
        </p:nvSpPr>
        <p:spPr>
          <a:xfrm>
            <a:off x="685800" y="3657600"/>
            <a:ext cx="381000" cy="457200"/>
          </a:xfrm>
          <a:prstGeom prst="upArrow">
            <a:avLst>
              <a:gd name="adj1" fmla="val 50000"/>
              <a:gd name="adj2" fmla="val 50000"/>
            </a:avLst>
          </a:prstGeom>
          <a:solidFill>
            <a:schemeClr val="accent4">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Up Arrow 8"/>
          <p:cNvSpPr/>
          <p:nvPr/>
        </p:nvSpPr>
        <p:spPr>
          <a:xfrm>
            <a:off x="685800" y="4343400"/>
            <a:ext cx="381000" cy="457200"/>
          </a:xfrm>
          <a:prstGeom prst="upArrow">
            <a:avLst>
              <a:gd name="adj1" fmla="val 50000"/>
              <a:gd name="adj2" fmla="val 50000"/>
            </a:avLst>
          </a:prstGeom>
          <a:solidFill>
            <a:schemeClr val="accent4">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p:cNvPicPr>
            <a:picLocks noChangeAspect="1"/>
          </p:cNvPicPr>
          <p:nvPr/>
        </p:nvPicPr>
        <p:blipFill>
          <a:blip r:embed="rId3"/>
          <a:stretch>
            <a:fillRect/>
          </a:stretch>
        </p:blipFill>
        <p:spPr>
          <a:xfrm rot="258191">
            <a:off x="6858000" y="5257800"/>
            <a:ext cx="1524000" cy="1289538"/>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dirty="0">
                <a:ln w="1905"/>
                <a:solidFill>
                  <a:schemeClr val="accent1">
                    <a:lumMod val="75000"/>
                  </a:schemeClr>
                </a:solidFill>
                <a:effectLst>
                  <a:innerShdw blurRad="69850" dist="43180" dir="5400000">
                    <a:srgbClr val="000000">
                      <a:alpha val="65000"/>
                    </a:srgbClr>
                  </a:innerShdw>
                </a:effectLst>
              </a:rPr>
              <a:t>Special Machine Instruction:</a:t>
            </a:r>
            <a:br>
              <a:rPr lang="en-US" sz="4400" b="1" dirty="0">
                <a:ln w="1905"/>
                <a:solidFill>
                  <a:schemeClr val="accent1">
                    <a:lumMod val="75000"/>
                  </a:schemeClr>
                </a:solidFill>
                <a:effectLst>
                  <a:innerShdw blurRad="69850" dist="43180" dir="5400000">
                    <a:srgbClr val="000000">
                      <a:alpha val="65000"/>
                    </a:srgbClr>
                  </a:innerShdw>
                </a:effectLst>
              </a:rPr>
            </a:br>
            <a:r>
              <a:rPr lang="en-US" sz="4400" b="1" dirty="0">
                <a:ln w="1905"/>
                <a:solidFill>
                  <a:schemeClr val="accent1">
                    <a:lumMod val="75000"/>
                  </a:schemeClr>
                </a:solidFill>
                <a:effectLst>
                  <a:innerShdw blurRad="69850" dist="43180" dir="5400000">
                    <a:srgbClr val="000000">
                      <a:alpha val="65000"/>
                    </a:srgbClr>
                  </a:innerShdw>
                </a:effectLst>
              </a:rPr>
              <a:t>Disadvantages</a:t>
            </a:r>
          </a:p>
        </p:txBody>
      </p:sp>
      <p:sp>
        <p:nvSpPr>
          <p:cNvPr id="3" name="Content Placeholder 2"/>
          <p:cNvSpPr>
            <a:spLocks noGrp="1"/>
          </p:cNvSpPr>
          <p:nvPr>
            <p:ph sz="half" idx="1"/>
          </p:nvPr>
        </p:nvSpPr>
        <p:spPr>
          <a:xfrm>
            <a:off x="457200" y="2057400"/>
            <a:ext cx="8229600" cy="4495800"/>
          </a:xfrm>
        </p:spPr>
        <p:txBody>
          <a:bodyPr>
            <a:noAutofit/>
          </a:bodyPr>
          <a:lstStyle/>
          <a:p>
            <a:pPr marL="274320" indent="-457200">
              <a:spcBef>
                <a:spcPts val="600"/>
              </a:spcBef>
            </a:pPr>
            <a:r>
              <a:rPr lang="en-US" sz="3200" dirty="0">
                <a:latin typeface="Calibri"/>
              </a:rPr>
              <a:t>  Busy-waiting is employed, thus while a                      process is waiting for access to a critical section it continues to consume processor time</a:t>
            </a:r>
          </a:p>
          <a:p>
            <a:pPr marL="274320" indent="-457200">
              <a:spcBef>
                <a:spcPts val="600"/>
              </a:spcBef>
            </a:pPr>
            <a:r>
              <a:rPr lang="en-US" sz="3200" dirty="0">
                <a:latin typeface="Calibri"/>
              </a:rPr>
              <a:t>  Starvation is possible when a process leaves a critical section and more than one process is waiting</a:t>
            </a:r>
            <a:endParaRPr lang="en-NZ" sz="3200" dirty="0">
              <a:latin typeface="Calibri"/>
            </a:endParaRPr>
          </a:p>
          <a:p>
            <a:pPr marL="274320" indent="-457200">
              <a:spcBef>
                <a:spcPts val="600"/>
              </a:spcBef>
            </a:pPr>
            <a:r>
              <a:rPr lang="en-US" sz="3200" dirty="0">
                <a:latin typeface="Calibri"/>
              </a:rPr>
              <a:t> Deadlock is possible</a:t>
            </a:r>
          </a:p>
        </p:txBody>
      </p:sp>
      <p:sp>
        <p:nvSpPr>
          <p:cNvPr id="4" name="Down Arrow 3"/>
          <p:cNvSpPr/>
          <p:nvPr/>
        </p:nvSpPr>
        <p:spPr>
          <a:xfrm>
            <a:off x="457200" y="4343400"/>
            <a:ext cx="457200" cy="533400"/>
          </a:xfrm>
          <a:prstGeom prst="downArrow">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stretch>
            <a:fillRect/>
          </a:stretch>
        </p:blipFill>
        <p:spPr>
          <a:xfrm>
            <a:off x="6629400" y="5181600"/>
            <a:ext cx="1638300" cy="1333500"/>
          </a:xfrm>
          <a:prstGeom prst="rect">
            <a:avLst/>
          </a:prstGeom>
        </p:spPr>
      </p:pic>
      <p:sp>
        <p:nvSpPr>
          <p:cNvPr id="8" name="Down Arrow 7"/>
          <p:cNvSpPr/>
          <p:nvPr/>
        </p:nvSpPr>
        <p:spPr>
          <a:xfrm>
            <a:off x="457200" y="5867400"/>
            <a:ext cx="457200" cy="533400"/>
          </a:xfrm>
          <a:prstGeom prst="downArrow">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Down Arrow 8"/>
          <p:cNvSpPr/>
          <p:nvPr/>
        </p:nvSpPr>
        <p:spPr>
          <a:xfrm>
            <a:off x="457200" y="2209800"/>
            <a:ext cx="457200" cy="533400"/>
          </a:xfrm>
          <a:prstGeom prst="downArrow">
            <a:avLst/>
          </a:prstGeom>
          <a:solidFill>
            <a:schemeClr val="accent1">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381000"/>
            <a:ext cx="4648200" cy="1142999"/>
          </a:xfrm>
        </p:spPr>
        <p:txBody>
          <a:bodyPr/>
          <a:lstStyle/>
          <a:p>
            <a:r>
              <a:rPr lang="en-NZ" sz="5400" b="1" spc="200" dirty="0">
                <a:ln w="1905"/>
                <a:solidFill>
                  <a:schemeClr val="bg2">
                    <a:lumMod val="10000"/>
                  </a:schemeClr>
                </a:solidFill>
                <a:effectLst>
                  <a:innerShdw blurRad="69850" dist="43180" dir="5400000">
                    <a:srgbClr val="000000">
                      <a:alpha val="65000"/>
                    </a:srgbClr>
                  </a:innerShdw>
                </a:effectLst>
              </a:rPr>
              <a:t>Semaphore</a:t>
            </a:r>
          </a:p>
        </p:txBody>
      </p:sp>
      <p:graphicFrame>
        <p:nvGraphicFramePr>
          <p:cNvPr id="4" name="Content Placeholder 3"/>
          <p:cNvGraphicFramePr>
            <a:graphicFrameLocks noGrp="1"/>
          </p:cNvGraphicFramePr>
          <p:nvPr>
            <p:ph sz="half" idx="1"/>
          </p:nvPr>
        </p:nvGraphicFramePr>
        <p:xfrm>
          <a:off x="533400" y="2057400"/>
          <a:ext cx="80772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457200" y="4572000"/>
            <a:ext cx="8229600" cy="1831271"/>
          </a:xfrm>
          <a:prstGeom prst="rect">
            <a:avLst/>
          </a:prstGeom>
          <a:blipFill rotWithShape="1">
            <a:blip r:embed="rId8"/>
            <a:tile tx="0" ty="0" sx="100000" sy="100000" flip="none" algn="tl"/>
          </a:blipFill>
        </p:spPr>
        <p:txBody>
          <a:bodyPr wrap="square" rtlCol="0">
            <a:spAutoFit/>
          </a:bodyPr>
          <a:lstStyle/>
          <a:p>
            <a:pPr marL="919163" lvl="0" indent="-457200">
              <a:spcBef>
                <a:spcPts val="1200"/>
              </a:spcBef>
              <a:buFont typeface="+mj-lt"/>
              <a:buAutoNum type="arabicParenR"/>
            </a:pPr>
            <a:r>
              <a:rPr lang="en-US" sz="2500" b="1" dirty="0">
                <a:solidFill>
                  <a:schemeClr val="bg2">
                    <a:lumMod val="25000"/>
                  </a:schemeClr>
                </a:solidFill>
                <a:latin typeface="Cambria"/>
              </a:rPr>
              <a:t>May be initialized to a nonnegative integer value</a:t>
            </a:r>
          </a:p>
          <a:p>
            <a:pPr marL="919163" lvl="0" indent="-457200">
              <a:spcBef>
                <a:spcPts val="1200"/>
              </a:spcBef>
              <a:buFont typeface="+mj-lt"/>
              <a:buAutoNum type="arabicParenR"/>
            </a:pPr>
            <a:r>
              <a:rPr lang="en-US" sz="2500" b="1" dirty="0">
                <a:solidFill>
                  <a:schemeClr val="bg2">
                    <a:lumMod val="25000"/>
                  </a:schemeClr>
                </a:solidFill>
                <a:latin typeface="Cambria"/>
              </a:rPr>
              <a:t>The </a:t>
            </a:r>
            <a:r>
              <a:rPr lang="en-US" sz="2500" b="1" dirty="0" err="1">
                <a:solidFill>
                  <a:schemeClr val="bg2">
                    <a:lumMod val="25000"/>
                  </a:schemeClr>
                </a:solidFill>
                <a:latin typeface="Cambria"/>
              </a:rPr>
              <a:t>semWait</a:t>
            </a:r>
            <a:r>
              <a:rPr lang="en-US" sz="2500" b="1" dirty="0">
                <a:solidFill>
                  <a:schemeClr val="bg2">
                    <a:lumMod val="25000"/>
                  </a:schemeClr>
                </a:solidFill>
                <a:latin typeface="Cambria"/>
              </a:rPr>
              <a:t> operation decrements the value</a:t>
            </a:r>
          </a:p>
          <a:p>
            <a:pPr marL="919163" lvl="0" indent="-457200">
              <a:spcBef>
                <a:spcPts val="1200"/>
              </a:spcBef>
              <a:buFont typeface="+mj-lt"/>
              <a:buAutoNum type="arabicParenR"/>
            </a:pPr>
            <a:r>
              <a:rPr lang="en-US" sz="2500" b="1" dirty="0">
                <a:solidFill>
                  <a:schemeClr val="bg2">
                    <a:lumMod val="25000"/>
                  </a:schemeClr>
                </a:solidFill>
                <a:latin typeface="Cambria"/>
              </a:rPr>
              <a:t>The </a:t>
            </a:r>
            <a:r>
              <a:rPr lang="en-US" sz="2500" b="1" dirty="0" err="1">
                <a:solidFill>
                  <a:schemeClr val="bg2">
                    <a:lumMod val="25000"/>
                  </a:schemeClr>
                </a:solidFill>
                <a:latin typeface="Cambria"/>
              </a:rPr>
              <a:t>semSignal</a:t>
            </a:r>
            <a:r>
              <a:rPr lang="en-US" sz="2500" b="1" dirty="0">
                <a:solidFill>
                  <a:schemeClr val="bg2">
                    <a:lumMod val="25000"/>
                  </a:schemeClr>
                </a:solidFill>
                <a:latin typeface="Cambria"/>
              </a:rPr>
              <a:t> operation increments the value</a:t>
            </a:r>
          </a:p>
          <a:p>
            <a:endParaRPr 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sz="5400" b="1" spc="200" dirty="0">
                <a:ln w="1905"/>
                <a:solidFill>
                  <a:schemeClr val="bg2">
                    <a:lumMod val="10000"/>
                  </a:schemeClr>
                </a:solidFill>
                <a:effectLst>
                  <a:innerShdw blurRad="69850" dist="43180" dir="5400000">
                    <a:srgbClr val="000000">
                      <a:alpha val="65000"/>
                    </a:srgbClr>
                  </a:innerShdw>
                </a:effectLst>
              </a:rPr>
              <a:t>Consequences</a:t>
            </a:r>
          </a:p>
        </p:txBody>
      </p:sp>
      <p:graphicFrame>
        <p:nvGraphicFramePr>
          <p:cNvPr id="8" name="Content Placeholder 7"/>
          <p:cNvGraphicFramePr>
            <a:graphicFrameLocks noGrp="1"/>
          </p:cNvGraphicFramePr>
          <p:nvPr>
            <p:ph sz="half" idx="1"/>
          </p:nvPr>
        </p:nvGraphicFramePr>
        <p:xfrm>
          <a:off x="658812" y="2286000"/>
          <a:ext cx="8104187" cy="3840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r>
              <a:rPr lang="en-NZ" b="1" dirty="0">
                <a:ln w="10541" cmpd="sng">
                  <a:solidFill>
                    <a:schemeClr val="accent1">
                      <a:shade val="88000"/>
                      <a:satMod val="110000"/>
                    </a:schemeClr>
                  </a:solidFill>
                  <a:prstDash val="solid"/>
                </a:ln>
                <a:solidFill>
                  <a:schemeClr val="accent6">
                    <a:lumMod val="50000"/>
                  </a:schemeClr>
                </a:solidFill>
                <a:effectLst/>
              </a:rPr>
              <a:t>Strong/Weak Semaphores</a:t>
            </a:r>
          </a:p>
        </p:txBody>
      </p:sp>
      <p:sp>
        <p:nvSpPr>
          <p:cNvPr id="3" name="Content Placeholder 2"/>
          <p:cNvSpPr>
            <a:spLocks noGrp="1"/>
          </p:cNvSpPr>
          <p:nvPr>
            <p:ph sz="half" idx="1"/>
          </p:nvPr>
        </p:nvSpPr>
        <p:spPr>
          <a:xfrm>
            <a:off x="381000" y="2209799"/>
            <a:ext cx="9067800" cy="609601"/>
          </a:xfrm>
        </p:spPr>
        <p:txBody>
          <a:bodyPr>
            <a:noAutofit/>
          </a:bodyPr>
          <a:lstStyle/>
          <a:p>
            <a:pPr>
              <a:buClr>
                <a:schemeClr val="accent1">
                  <a:lumMod val="75000"/>
                </a:schemeClr>
              </a:buClr>
              <a:buSzPct val="92000"/>
              <a:buFont typeface="Wingdings" charset="2"/>
              <a:buChar char="❋"/>
            </a:pPr>
            <a:r>
              <a:rPr lang="en-NZ" sz="2400" dirty="0"/>
              <a:t>A queue is used to hold processes waiting on the semaphore</a:t>
            </a:r>
          </a:p>
          <a:p>
            <a:endParaRPr lang="en-NZ" sz="2800" dirty="0"/>
          </a:p>
        </p:txBody>
      </p:sp>
      <p:graphicFrame>
        <p:nvGraphicFramePr>
          <p:cNvPr id="4" name="Diagram 3"/>
          <p:cNvGraphicFramePr/>
          <p:nvPr/>
        </p:nvGraphicFramePr>
        <p:xfrm>
          <a:off x="457200" y="2895600"/>
          <a:ext cx="8229600" cy="3530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0"/>
            <a:ext cx="7824788" cy="685801"/>
          </a:xfrm>
        </p:spPr>
        <p:txBody>
          <a:bodyPr/>
          <a:lstStyle/>
          <a:p>
            <a:pPr algn="ctr"/>
            <a:r>
              <a:rPr lang="en-US" sz="4400" b="1" dirty="0">
                <a:solidFill>
                  <a:schemeClr val="accent6">
                    <a:lumMod val="50000"/>
                  </a:schemeClr>
                </a:solidFill>
              </a:rPr>
              <a:t>Producer/Consumer Problem</a:t>
            </a:r>
          </a:p>
        </p:txBody>
      </p:sp>
      <p:graphicFrame>
        <p:nvGraphicFramePr>
          <p:cNvPr id="5" name="Diagram 4"/>
          <p:cNvGraphicFramePr/>
          <p:nvPr/>
        </p:nvGraphicFramePr>
        <p:xfrm>
          <a:off x="762000" y="2362200"/>
          <a:ext cx="76200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90600" y="0"/>
            <a:ext cx="7824788" cy="1323975"/>
          </a:xfrm>
        </p:spPr>
        <p:txBody>
          <a:bodyPr/>
          <a:lstStyle/>
          <a:p>
            <a:pPr algn="ctr"/>
            <a:r>
              <a:rPr lang="en-US" sz="4800" b="1" dirty="0">
                <a:solidFill>
                  <a:schemeClr val="accent6">
                    <a:lumMod val="50000"/>
                  </a:schemeClr>
                </a:solidFill>
              </a:rPr>
              <a:t>Buffer Structure</a:t>
            </a:r>
          </a:p>
        </p:txBody>
      </p:sp>
      <p:pic>
        <p:nvPicPr>
          <p:cNvPr id="4" name="Content Placeholder 3" descr="Fig05_08.gif"/>
          <p:cNvPicPr>
            <a:picLocks noGrp="1" noChangeAspect="1"/>
          </p:cNvPicPr>
          <p:nvPr>
            <p:ph idx="4294967295"/>
          </p:nvPr>
        </p:nvPicPr>
        <p:blipFill>
          <a:blip r:embed="rId3"/>
          <a:stretch>
            <a:fillRect/>
          </a:stretch>
        </p:blipFill>
        <p:spPr>
          <a:xfrm>
            <a:off x="990600" y="1600200"/>
            <a:ext cx="7472465" cy="4929188"/>
          </a:xfrm>
        </p:spPr>
      </p:pic>
    </p:spTree>
  </p:cSld>
  <p:clrMapOvr>
    <a:masterClrMapping/>
  </p:clrMapOvr>
  <p:transition spd="med">
    <p:check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800" b="1" dirty="0">
                <a:ln w="1905"/>
                <a:solidFill>
                  <a:schemeClr val="accent6">
                    <a:lumMod val="75000"/>
                  </a:schemeClr>
                </a:solidFill>
                <a:effectLst>
                  <a:innerShdw blurRad="69850" dist="43180" dir="5400000">
                    <a:srgbClr val="000000">
                      <a:alpha val="65000"/>
                    </a:srgbClr>
                  </a:innerShdw>
                </a:effectLst>
              </a:rPr>
              <a:t>Implementation of Semaphores</a:t>
            </a:r>
          </a:p>
        </p:txBody>
      </p:sp>
      <p:sp>
        <p:nvSpPr>
          <p:cNvPr id="3" name="Content Placeholder 2"/>
          <p:cNvSpPr>
            <a:spLocks noGrp="1"/>
          </p:cNvSpPr>
          <p:nvPr>
            <p:ph sz="half" idx="1"/>
          </p:nvPr>
        </p:nvSpPr>
        <p:spPr>
          <a:xfrm>
            <a:off x="457200" y="2133600"/>
            <a:ext cx="8153400" cy="4267200"/>
          </a:xfrm>
        </p:spPr>
        <p:txBody>
          <a:bodyPr>
            <a:normAutofit lnSpcReduction="10000"/>
          </a:bodyPr>
          <a:lstStyle/>
          <a:p>
            <a:r>
              <a:rPr lang="en-US" sz="3100" dirty="0"/>
              <a:t>Imperative that the </a:t>
            </a:r>
            <a:r>
              <a:rPr lang="en-US" sz="3100" dirty="0" err="1">
                <a:latin typeface="Courier New"/>
              </a:rPr>
              <a:t>semWait</a:t>
            </a:r>
            <a:r>
              <a:rPr lang="en-US" sz="3100" dirty="0"/>
              <a:t> and </a:t>
            </a:r>
            <a:r>
              <a:rPr lang="en-US" sz="3100" dirty="0" err="1">
                <a:latin typeface="Courier New"/>
              </a:rPr>
              <a:t>semSignal</a:t>
            </a:r>
            <a:r>
              <a:rPr lang="en-US" sz="3100" dirty="0"/>
              <a:t> operations be implemented as atomic primitives</a:t>
            </a:r>
          </a:p>
          <a:p>
            <a:r>
              <a:rPr lang="en-US" sz="3100" dirty="0"/>
              <a:t>Can be implemented in hardware or firmware</a:t>
            </a:r>
          </a:p>
          <a:p>
            <a:r>
              <a:rPr lang="en-US" sz="3100" dirty="0"/>
              <a:t>Software schemes such as Dekker’s or Peterson’s algorithms can be used</a:t>
            </a:r>
          </a:p>
          <a:p>
            <a:r>
              <a:rPr lang="en-US" sz="3100" dirty="0"/>
              <a:t>Use one of the hardware-supported     schemes for mutual exclusion</a:t>
            </a:r>
          </a:p>
        </p:txBody>
      </p:sp>
      <p:pic>
        <p:nvPicPr>
          <p:cNvPr id="10" name="Picture 9"/>
          <p:cNvPicPr>
            <a:picLocks noChangeAspect="1"/>
          </p:cNvPicPr>
          <p:nvPr/>
        </p:nvPicPr>
        <p:blipFill>
          <a:blip r:embed="rId3"/>
          <a:stretch>
            <a:fillRect/>
          </a:stretch>
        </p:blipFill>
        <p:spPr>
          <a:xfrm>
            <a:off x="7221713" y="5029200"/>
            <a:ext cx="1465087" cy="1506357"/>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457200"/>
            <a:ext cx="7824788" cy="1067748"/>
          </a:xfrm>
        </p:spPr>
        <p:txBody>
          <a:bodyPr/>
          <a:lstStyle/>
          <a:p>
            <a:pPr algn="l"/>
            <a:r>
              <a:rPr lang="en-US" b="1" dirty="0">
                <a:ln w="1905"/>
                <a:solidFill>
                  <a:schemeClr val="accent6">
                    <a:lumMod val="75000"/>
                  </a:schemeClr>
                </a:solidFill>
                <a:effectLst>
                  <a:innerShdw blurRad="69850" dist="43180" dir="5400000">
                    <a:srgbClr val="000000">
                      <a:alpha val="65000"/>
                    </a:srgbClr>
                  </a:innerShdw>
                </a:effectLst>
              </a:rPr>
              <a:t>Monitors</a:t>
            </a:r>
          </a:p>
        </p:txBody>
      </p:sp>
      <p:sp>
        <p:nvSpPr>
          <p:cNvPr id="5" name="Content Placeholder 4"/>
          <p:cNvSpPr>
            <a:spLocks noGrp="1"/>
          </p:cNvSpPr>
          <p:nvPr>
            <p:ph sz="half" idx="1"/>
          </p:nvPr>
        </p:nvSpPr>
        <p:spPr>
          <a:xfrm>
            <a:off x="381000" y="2057400"/>
            <a:ext cx="8382000" cy="4800600"/>
          </a:xfrm>
        </p:spPr>
        <p:txBody>
          <a:bodyPr>
            <a:normAutofit lnSpcReduction="10000"/>
          </a:bodyPr>
          <a:lstStyle/>
          <a:p>
            <a:pPr>
              <a:spcBef>
                <a:spcPts val="600"/>
              </a:spcBef>
            </a:pPr>
            <a:r>
              <a:rPr lang="en-US" sz="2800" dirty="0"/>
              <a:t>Programming language construct that provides equivalent functionality to that of semaphores and is easier to control</a:t>
            </a:r>
          </a:p>
          <a:p>
            <a:pPr>
              <a:spcBef>
                <a:spcPts val="600"/>
              </a:spcBef>
            </a:pPr>
            <a:r>
              <a:rPr lang="en-US" sz="2800" dirty="0"/>
              <a:t>Implemented in a number of programming languages</a:t>
            </a:r>
            <a:endParaRPr lang="en-US" dirty="0"/>
          </a:p>
          <a:p>
            <a:pPr lvl="2"/>
            <a:r>
              <a:rPr lang="en-US" sz="2400" dirty="0"/>
              <a:t>including Concurrent Pascal, Pascal-Plus, Modula-2, Modula-3, and Java</a:t>
            </a:r>
          </a:p>
          <a:p>
            <a:pPr marL="342900" lvl="2" indent="-342900"/>
            <a:r>
              <a:rPr lang="en-US" sz="2800" dirty="0"/>
              <a:t>Has also been implemented as a program library</a:t>
            </a:r>
          </a:p>
          <a:p>
            <a:pPr marL="342900" lvl="2" indent="-342900"/>
            <a:r>
              <a:rPr lang="en-US" sz="2800" dirty="0"/>
              <a:t>Software module consisting of one or more procedures, an initialization sequence, and local data</a:t>
            </a:r>
          </a:p>
        </p:txBody>
      </p:sp>
      <p:pic>
        <p:nvPicPr>
          <p:cNvPr id="6" name="Picture 5"/>
          <p:cNvPicPr>
            <a:picLocks noChangeAspect="1"/>
          </p:cNvPicPr>
          <p:nvPr/>
        </p:nvPicPr>
        <p:blipFill>
          <a:blip r:embed="rId3"/>
          <a:stretch>
            <a:fillRect/>
          </a:stretch>
        </p:blipFill>
        <p:spPr>
          <a:xfrm>
            <a:off x="6019800" y="609600"/>
            <a:ext cx="2476788" cy="11430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5">
                                            <p:txEl>
                                              <p:pRg st="0" end="0"/>
                                            </p:txEl>
                                          </p:spTgt>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p:cTn id="11"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2" dur="1000" fill="hold"/>
                                        <p:tgtEl>
                                          <p:spTgt spid="5">
                                            <p:txEl>
                                              <p:pRg st="1" end="1"/>
                                            </p:txEl>
                                          </p:spTgt>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p:cTn id="15" dur="1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16" dur="1000" fill="hold"/>
                                        <p:tgtEl>
                                          <p:spTgt spid="5">
                                            <p:txEl>
                                              <p:pRg st="2" end="2"/>
                                            </p:txEl>
                                          </p:spTgt>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p:cTn id="19" dur="1000" fill="hold"/>
                                        <p:tgtEl>
                                          <p:spTgt spid="5">
                                            <p:txEl>
                                              <p:pRg st="3" end="3"/>
                                            </p:txEl>
                                          </p:spTgt>
                                        </p:tgtEl>
                                        <p:attrNameLst>
                                          <p:attrName>ppt_w</p:attrName>
                                        </p:attrNameLst>
                                      </p:cBhvr>
                                      <p:tavLst>
                                        <p:tav tm="0">
                                          <p:val>
                                            <p:fltVal val="0"/>
                                          </p:val>
                                        </p:tav>
                                        <p:tav tm="100000">
                                          <p:val>
                                            <p:strVal val="#ppt_w"/>
                                          </p:val>
                                        </p:tav>
                                      </p:tavLst>
                                    </p:anim>
                                    <p:anim calcmode="lin" valueType="num">
                                      <p:cBhvr>
                                        <p:cTn id="20" dur="1000" fill="hold"/>
                                        <p:tgtEl>
                                          <p:spTgt spid="5">
                                            <p:txEl>
                                              <p:pRg st="3" end="3"/>
                                            </p:txEl>
                                          </p:spTgt>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p:cTn id="23" dur="1000" fill="hold"/>
                                        <p:tgtEl>
                                          <p:spTgt spid="5">
                                            <p:txEl>
                                              <p:pRg st="4" end="4"/>
                                            </p:txEl>
                                          </p:spTgt>
                                        </p:tgtEl>
                                        <p:attrNameLst>
                                          <p:attrName>ppt_w</p:attrName>
                                        </p:attrNameLst>
                                      </p:cBhvr>
                                      <p:tavLst>
                                        <p:tav tm="0">
                                          <p:val>
                                            <p:fltVal val="0"/>
                                          </p:val>
                                        </p:tav>
                                        <p:tav tm="100000">
                                          <p:val>
                                            <p:strVal val="#ppt_w"/>
                                          </p:val>
                                        </p:tav>
                                      </p:tavLst>
                                    </p:anim>
                                    <p:anim calcmode="lin" valueType="num">
                                      <p:cBhvr>
                                        <p:cTn id="24" dur="1000" fill="hold"/>
                                        <p:tgtEl>
                                          <p:spTgt spid="5">
                                            <p:txEl>
                                              <p:pRg st="4" end="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077200" cy="1219200"/>
          </a:xfrm>
        </p:spPr>
        <p:txBody>
          <a:bodyPr/>
          <a:lstStyle/>
          <a:p>
            <a:r>
              <a:rPr lang="en-US" b="1" dirty="0">
                <a:solidFill>
                  <a:schemeClr val="tx2">
                    <a:lumMod val="50000"/>
                  </a:schemeClr>
                </a:solidFill>
              </a:rPr>
              <a:t>Monitor Characteristics</a:t>
            </a:r>
            <a:endParaRPr lang="en-NZ" b="1" dirty="0">
              <a:solidFill>
                <a:schemeClr val="tx2">
                  <a:lumMod val="50000"/>
                </a:schemeClr>
              </a:solidFill>
            </a:endParaRPr>
          </a:p>
        </p:txBody>
      </p:sp>
      <p:graphicFrame>
        <p:nvGraphicFramePr>
          <p:cNvPr id="4" name="Content Placeholder 3"/>
          <p:cNvGraphicFramePr>
            <a:graphicFrameLocks noGrp="1"/>
          </p:cNvGraphicFramePr>
          <p:nvPr>
            <p:ph idx="4294967295"/>
          </p:nvPr>
        </p:nvGraphicFramePr>
        <p:xfrm>
          <a:off x="457200" y="1905000"/>
          <a:ext cx="82296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296347"/>
          </a:xfrm>
        </p:spPr>
        <p:txBody>
          <a:bodyPr/>
          <a:lstStyle/>
          <a:p>
            <a:r>
              <a:rPr lang="en-NZ" b="1" dirty="0">
                <a:ln w="1905"/>
                <a:solidFill>
                  <a:schemeClr val="accent6">
                    <a:lumMod val="75000"/>
                  </a:schemeClr>
                </a:solidFill>
                <a:effectLst>
                  <a:innerShdw blurRad="69850" dist="43180" dir="5400000">
                    <a:srgbClr val="000000">
                      <a:alpha val="65000"/>
                    </a:srgbClr>
                  </a:innerShdw>
                </a:effectLst>
              </a:rPr>
              <a:t>Synchronization</a:t>
            </a:r>
          </a:p>
        </p:txBody>
      </p:sp>
      <p:sp>
        <p:nvSpPr>
          <p:cNvPr id="3" name="Content Placeholder 2"/>
          <p:cNvSpPr>
            <a:spLocks noGrp="1"/>
          </p:cNvSpPr>
          <p:nvPr>
            <p:ph sz="half" idx="1"/>
          </p:nvPr>
        </p:nvSpPr>
        <p:spPr>
          <a:xfrm>
            <a:off x="381000" y="2209800"/>
            <a:ext cx="8305800" cy="4191000"/>
          </a:xfrm>
        </p:spPr>
        <p:txBody>
          <a:bodyPr>
            <a:normAutofit/>
          </a:bodyPr>
          <a:lstStyle/>
          <a:p>
            <a:r>
              <a:rPr lang="en-NZ" sz="2800" dirty="0"/>
              <a:t>Achieved by the use of </a:t>
            </a:r>
            <a:r>
              <a:rPr lang="en-NZ" sz="2800" b="1" dirty="0"/>
              <a:t>condition variables </a:t>
            </a:r>
            <a:r>
              <a:rPr lang="en-NZ" sz="2800" dirty="0"/>
              <a:t>that are contained within the monitor and accessible only within the monitor</a:t>
            </a:r>
          </a:p>
          <a:p>
            <a:pPr lvl="2"/>
            <a:r>
              <a:rPr lang="en-NZ" sz="2600" dirty="0"/>
              <a:t>Condition variables are operated on by two functions:</a:t>
            </a:r>
          </a:p>
          <a:p>
            <a:pPr marL="1662113" lvl="4" indent="-284163"/>
            <a:r>
              <a:rPr lang="en-NZ" sz="2200" dirty="0"/>
              <a:t>cwait(c): suspend execution of the calling process on condition c</a:t>
            </a:r>
          </a:p>
          <a:p>
            <a:pPr marL="1662113" lvl="4" indent="-284163"/>
            <a:r>
              <a:rPr lang="en-NZ" sz="2200" dirty="0"/>
              <a:t>csignal(c): resume execution of some process blocked after a cwait on the same condition</a:t>
            </a:r>
          </a:p>
          <a:p>
            <a:endParaRPr lang="en-NZ" dirty="0"/>
          </a:p>
        </p:txBody>
      </p:sp>
      <p:pic>
        <p:nvPicPr>
          <p:cNvPr id="5" name="Picture 4"/>
          <p:cNvPicPr>
            <a:picLocks noChangeAspect="1"/>
          </p:cNvPicPr>
          <p:nvPr/>
        </p:nvPicPr>
        <p:blipFill>
          <a:blip r:embed="rId3"/>
          <a:stretch>
            <a:fillRect/>
          </a:stretch>
        </p:blipFill>
        <p:spPr>
          <a:xfrm>
            <a:off x="381000" y="4724400"/>
            <a:ext cx="1665514" cy="175260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304800"/>
            <a:ext cx="8610600" cy="1143000"/>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Structure of a Monitor</a:t>
            </a:r>
          </a:p>
        </p:txBody>
      </p:sp>
      <p:pic>
        <p:nvPicPr>
          <p:cNvPr id="4" name="Content Placeholder 3" descr="Fig05_15.gif"/>
          <p:cNvPicPr>
            <a:picLocks noGrp="1" noChangeAspect="1"/>
          </p:cNvPicPr>
          <p:nvPr>
            <p:ph idx="4294967295"/>
          </p:nvPr>
        </p:nvPicPr>
        <p:blipFill>
          <a:blip r:embed="rId3"/>
          <a:stretch>
            <a:fillRect/>
          </a:stretch>
        </p:blipFill>
        <p:spPr>
          <a:xfrm>
            <a:off x="838200" y="1447800"/>
            <a:ext cx="4343400" cy="5035686"/>
          </a:xfrm>
        </p:spPr>
      </p:pic>
      <p:sp>
        <p:nvSpPr>
          <p:cNvPr id="5" name="TextBox 4"/>
          <p:cNvSpPr txBox="1"/>
          <p:nvPr/>
        </p:nvSpPr>
        <p:spPr>
          <a:xfrm>
            <a:off x="1295400" y="6553200"/>
            <a:ext cx="3505200" cy="304800"/>
          </a:xfrm>
          <a:prstGeom prst="rect">
            <a:avLst/>
          </a:prstGeom>
          <a:noFill/>
        </p:spPr>
        <p:txBody>
          <a:bodyPr wrap="square" rtlCol="0">
            <a:spAutoFit/>
          </a:bodyPr>
          <a:lstStyle/>
          <a:p>
            <a:r>
              <a:rPr lang="en-US" sz="1400" dirty="0"/>
              <a:t>Figure 5.15   Structure of a Monitor</a:t>
            </a:r>
          </a:p>
        </p:txBody>
      </p:sp>
      <p:pic>
        <p:nvPicPr>
          <p:cNvPr id="6" name="Picture 5"/>
          <p:cNvPicPr>
            <a:picLocks noChangeAspect="1"/>
          </p:cNvPicPr>
          <p:nvPr/>
        </p:nvPicPr>
        <p:blipFill>
          <a:blip r:embed="rId4"/>
          <a:stretch>
            <a:fillRect/>
          </a:stretch>
        </p:blipFill>
        <p:spPr>
          <a:xfrm>
            <a:off x="7537536" y="5334000"/>
            <a:ext cx="1149263" cy="1181637"/>
          </a:xfrm>
          <a:prstGeom prst="rect">
            <a:avLst/>
          </a:prstGeom>
        </p:spPr>
      </p:pic>
      <p:pic>
        <p:nvPicPr>
          <p:cNvPr id="20" name="Picture 19"/>
          <p:cNvPicPr>
            <a:picLocks noChangeAspect="1"/>
          </p:cNvPicPr>
          <p:nvPr/>
        </p:nvPicPr>
        <p:blipFill>
          <a:blip r:embed="rId5"/>
          <a:stretch>
            <a:fillRect/>
          </a:stretch>
        </p:blipFill>
        <p:spPr>
          <a:xfrm>
            <a:off x="5867400" y="2743200"/>
            <a:ext cx="2506487" cy="2653388"/>
          </a:xfrm>
          <a:prstGeom prst="rect">
            <a:avLst/>
          </a:prstGeom>
        </p:spPr>
      </p:pic>
    </p:spTree>
  </p:cSld>
  <p:clrMapOvr>
    <a:masterClrMapping/>
  </p:clrMapOvr>
  <p:transition spd="med">
    <p:check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Message Passing</a:t>
            </a:r>
          </a:p>
        </p:txBody>
      </p:sp>
      <p:sp>
        <p:nvSpPr>
          <p:cNvPr id="3" name="Content Placeholder 2"/>
          <p:cNvSpPr>
            <a:spLocks noGrp="1"/>
          </p:cNvSpPr>
          <p:nvPr>
            <p:ph idx="4294967295"/>
          </p:nvPr>
        </p:nvSpPr>
        <p:spPr>
          <a:xfrm>
            <a:off x="533400" y="1981200"/>
            <a:ext cx="8229600" cy="5181600"/>
          </a:xfrm>
        </p:spPr>
        <p:txBody>
          <a:bodyPr/>
          <a:lstStyle/>
          <a:p>
            <a:r>
              <a:rPr lang="en-NZ" sz="2800" dirty="0"/>
              <a:t>When processes interact with one another two fundamental requirements must be satisfied: </a:t>
            </a:r>
          </a:p>
          <a:p>
            <a:endParaRPr lang="en-NZ" sz="2900" dirty="0"/>
          </a:p>
          <a:p>
            <a:endParaRPr lang="en-NZ" sz="2900" dirty="0"/>
          </a:p>
          <a:p>
            <a:endParaRPr lang="en-NZ" sz="2900" dirty="0"/>
          </a:p>
          <a:p>
            <a:pPr>
              <a:spcBef>
                <a:spcPts val="1000"/>
              </a:spcBef>
            </a:pPr>
            <a:r>
              <a:rPr lang="en-NZ" sz="2800" dirty="0"/>
              <a:t>Message Passing is one approach to providing both of these functions</a:t>
            </a:r>
          </a:p>
          <a:p>
            <a:pPr lvl="2">
              <a:spcBef>
                <a:spcPts val="1000"/>
              </a:spcBef>
            </a:pPr>
            <a:r>
              <a:rPr lang="en-NZ" dirty="0"/>
              <a:t>works with distributed systems </a:t>
            </a:r>
            <a:r>
              <a:rPr lang="en-NZ" i="1" dirty="0"/>
              <a:t>and</a:t>
            </a:r>
            <a:r>
              <a:rPr lang="en-NZ" dirty="0"/>
              <a:t> shared memory multiprocessor and uniprocessor systems</a:t>
            </a:r>
          </a:p>
        </p:txBody>
      </p:sp>
      <p:graphicFrame>
        <p:nvGraphicFramePr>
          <p:cNvPr id="4" name="Diagram 3"/>
          <p:cNvGraphicFramePr/>
          <p:nvPr/>
        </p:nvGraphicFramePr>
        <p:xfrm>
          <a:off x="1295400" y="3048000"/>
          <a:ext cx="6477000" cy="198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l"/>
            <a:r>
              <a:rPr lang="en-US" b="1" dirty="0">
                <a:solidFill>
                  <a:schemeClr val="accent6"/>
                </a:solidFill>
              </a:rPr>
              <a:t>Message Passing</a:t>
            </a:r>
          </a:p>
        </p:txBody>
      </p:sp>
      <p:sp>
        <p:nvSpPr>
          <p:cNvPr id="3" name="Content Placeholder 2"/>
          <p:cNvSpPr>
            <a:spLocks noGrp="1"/>
          </p:cNvSpPr>
          <p:nvPr>
            <p:ph idx="4294967295"/>
          </p:nvPr>
        </p:nvSpPr>
        <p:spPr>
          <a:xfrm>
            <a:off x="304800" y="2057400"/>
            <a:ext cx="8534400" cy="5867400"/>
          </a:xfrm>
        </p:spPr>
        <p:txBody>
          <a:bodyPr/>
          <a:lstStyle/>
          <a:p>
            <a:r>
              <a:rPr lang="en-NZ" sz="2800" dirty="0"/>
              <a:t>The actual function is normally provided in the form of a pair of primitives:</a:t>
            </a:r>
            <a:endParaRPr lang="en-US" sz="2800" dirty="0"/>
          </a:p>
          <a:p>
            <a:pPr lvl="4">
              <a:buNone/>
            </a:pPr>
            <a:r>
              <a:rPr lang="en-US" sz="2800" dirty="0"/>
              <a:t>send (destination, message)</a:t>
            </a:r>
          </a:p>
          <a:p>
            <a:pPr lvl="4">
              <a:buNone/>
            </a:pPr>
            <a:r>
              <a:rPr lang="en-US" sz="2800" dirty="0"/>
              <a:t>receive (source, message)</a:t>
            </a:r>
          </a:p>
          <a:p>
            <a:pPr marL="374904" lvl="4">
              <a:spcBef>
                <a:spcPts val="1200"/>
              </a:spcBef>
            </a:pPr>
            <a:r>
              <a:rPr lang="en-US" sz="2800" dirty="0"/>
              <a:t>A process sends information in the form of a </a:t>
            </a:r>
            <a:r>
              <a:rPr lang="en-US" sz="2800" i="1" dirty="0"/>
              <a:t>message</a:t>
            </a:r>
            <a:r>
              <a:rPr lang="en-US" sz="2800" dirty="0"/>
              <a:t> to another process designated by a </a:t>
            </a:r>
            <a:r>
              <a:rPr lang="en-US" sz="2800" i="1" dirty="0"/>
              <a:t>destination</a:t>
            </a:r>
          </a:p>
          <a:p>
            <a:pPr marL="374904" lvl="4">
              <a:spcBef>
                <a:spcPts val="1200"/>
              </a:spcBef>
            </a:pPr>
            <a:r>
              <a:rPr lang="en-US" sz="2800" dirty="0"/>
              <a:t>A process receives information by executing the </a:t>
            </a:r>
            <a:r>
              <a:rPr lang="en-US" sz="2800" dirty="0">
                <a:latin typeface="Courier New"/>
              </a:rPr>
              <a:t>receive</a:t>
            </a:r>
            <a:r>
              <a:rPr lang="en-US" sz="2800" dirty="0"/>
              <a:t> primitive, indicating the </a:t>
            </a:r>
            <a:r>
              <a:rPr lang="en-US" sz="2800" i="1" dirty="0"/>
              <a:t>source</a:t>
            </a:r>
            <a:r>
              <a:rPr lang="en-US" sz="2800" dirty="0"/>
              <a:t> and the </a:t>
            </a:r>
            <a:r>
              <a:rPr lang="en-US" sz="2800" i="1" dirty="0"/>
              <a:t>message</a:t>
            </a:r>
            <a:r>
              <a:rPr lang="en-US" sz="2800" dirty="0"/>
              <a:t> </a:t>
            </a:r>
          </a:p>
          <a:p>
            <a:endParaRPr lang="en-US" dirty="0"/>
          </a:p>
        </p:txBody>
      </p:sp>
      <p:pic>
        <p:nvPicPr>
          <p:cNvPr id="6" name="Picture 5"/>
          <p:cNvPicPr>
            <a:picLocks noChangeAspect="1"/>
          </p:cNvPicPr>
          <p:nvPr/>
        </p:nvPicPr>
        <p:blipFill>
          <a:blip r:embed="rId3"/>
          <a:stretch>
            <a:fillRect/>
          </a:stretch>
        </p:blipFill>
        <p:spPr>
          <a:xfrm>
            <a:off x="6324600" y="457200"/>
            <a:ext cx="1752600" cy="17526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ntr" presetSubtype="0" fill="hold" grpId="0" nodeType="afterEffect">
                                  <p:stCondLst>
                                    <p:cond delay="500"/>
                                  </p:stCondLst>
                                  <p:childTnLst>
                                    <p:set>
                                      <p:cBhvr>
                                        <p:cTn id="6" dur="1" fill="hold">
                                          <p:stCondLst>
                                            <p:cond delay="0"/>
                                          </p:stCondLst>
                                        </p:cTn>
                                        <p:tgtEl>
                                          <p:spTgt spid="3">
                                            <p:txEl>
                                              <p:pRg st="1" end="1"/>
                                            </p:txEl>
                                          </p:spTgt>
                                        </p:tgtEl>
                                        <p:attrNameLst>
                                          <p:attrName>style.visibility</p:attrName>
                                        </p:attrNameLst>
                                      </p:cBhvr>
                                      <p:to>
                                        <p:strVal val="visible"/>
                                      </p:to>
                                    </p:set>
                                    <p:anim from="(-#ppt_w/2)" to="(#ppt_x)" calcmode="lin" valueType="num">
                                      <p:cBhvr>
                                        <p:cTn id="7" dur="600" fill="hold">
                                          <p:stCondLst>
                                            <p:cond delay="0"/>
                                          </p:stCondLst>
                                        </p:cTn>
                                        <p:tgtEl>
                                          <p:spTgt spid="3">
                                            <p:txEl>
                                              <p:pRg st="1" end="1"/>
                                            </p:txEl>
                                          </p:spTgt>
                                        </p:tgtEl>
                                        <p:attrNameLst>
                                          <p:attrName>ppt_x</p:attrName>
                                        </p:attrNameLst>
                                      </p:cBhvr>
                                    </p:anim>
                                    <p:anim from="0" to="-1.0" calcmode="lin" valueType="num">
                                      <p:cBhvr>
                                        <p:cTn id="8" dur="200" decel="50000" autoRev="1" fill="hold">
                                          <p:stCondLst>
                                            <p:cond delay="600"/>
                                          </p:stCondLst>
                                        </p:cTn>
                                        <p:tgtEl>
                                          <p:spTgt spid="3">
                                            <p:txEl>
                                              <p:pRg st="1" end="1"/>
                                            </p:txEl>
                                          </p:spTgt>
                                        </p:tgtEl>
                                        <p:attrNameLst>
                                          <p:attrName>xshear</p:attrName>
                                        </p:attrNameLst>
                                      </p:cBhvr>
                                    </p:anim>
                                    <p:animScale>
                                      <p:cBhvr>
                                        <p:cTn id="9" dur="200" decel="100000" autoRev="1" fill="hold">
                                          <p:stCondLst>
                                            <p:cond delay="600"/>
                                          </p:stCondLst>
                                        </p:cTn>
                                        <p:tgtEl>
                                          <p:spTgt spid="3">
                                            <p:txEl>
                                              <p:pRg st="1" end="1"/>
                                            </p:txEl>
                                          </p:spTgt>
                                        </p:tgtEl>
                                      </p:cBhvr>
                                      <p:from x="100000" y="100000"/>
                                      <p:to x="80000" y="100000"/>
                                    </p:animScale>
                                    <p:anim by="(#ppt_h/3+#ppt_w*0.1)" calcmode="lin" valueType="num">
                                      <p:cBhvr additive="sum">
                                        <p:cTn id="10" dur="200" decel="100000" autoRev="1" fill="hold">
                                          <p:stCondLst>
                                            <p:cond delay="600"/>
                                          </p:stCondLst>
                                        </p:cTn>
                                        <p:tgtEl>
                                          <p:spTgt spid="3">
                                            <p:txEl>
                                              <p:pRg st="1" end="1"/>
                                            </p:txEl>
                                          </p:spTgt>
                                        </p:tgtEl>
                                        <p:attrNameLst>
                                          <p:attrName>ppt_x</p:attrName>
                                        </p:attrNameLst>
                                      </p:cBhvr>
                                    </p:anim>
                                  </p:childTnLst>
                                </p:cTn>
                              </p:par>
                            </p:childTnLst>
                          </p:cTn>
                        </p:par>
                        <p:par>
                          <p:cTn id="11" fill="hold">
                            <p:stCondLst>
                              <p:cond delay="1500"/>
                            </p:stCondLst>
                            <p:childTnLst>
                              <p:par>
                                <p:cTn id="12" presetID="34" presetClass="entr" presetSubtype="0" fill="hold" grpId="0" nodeType="afterEffect">
                                  <p:stCondLst>
                                    <p:cond delay="500"/>
                                  </p:stCondLst>
                                  <p:childTnLst>
                                    <p:set>
                                      <p:cBhvr>
                                        <p:cTn id="13" dur="1" fill="hold">
                                          <p:stCondLst>
                                            <p:cond delay="0"/>
                                          </p:stCondLst>
                                        </p:cTn>
                                        <p:tgtEl>
                                          <p:spTgt spid="3">
                                            <p:txEl>
                                              <p:pRg st="2" end="2"/>
                                            </p:txEl>
                                          </p:spTgt>
                                        </p:tgtEl>
                                        <p:attrNameLst>
                                          <p:attrName>style.visibility</p:attrName>
                                        </p:attrNameLst>
                                      </p:cBhvr>
                                      <p:to>
                                        <p:strVal val="visible"/>
                                      </p:to>
                                    </p:set>
                                    <p:anim from="(-#ppt_w/2)" to="(#ppt_x)" calcmode="lin" valueType="num">
                                      <p:cBhvr>
                                        <p:cTn id="14" dur="600" fill="hold">
                                          <p:stCondLst>
                                            <p:cond delay="0"/>
                                          </p:stCondLst>
                                        </p:cTn>
                                        <p:tgtEl>
                                          <p:spTgt spid="3">
                                            <p:txEl>
                                              <p:pRg st="2" end="2"/>
                                            </p:txEl>
                                          </p:spTgt>
                                        </p:tgtEl>
                                        <p:attrNameLst>
                                          <p:attrName>ppt_x</p:attrName>
                                        </p:attrNameLst>
                                      </p:cBhvr>
                                    </p:anim>
                                    <p:anim from="0" to="-1.0" calcmode="lin" valueType="num">
                                      <p:cBhvr>
                                        <p:cTn id="15" dur="200" decel="50000" autoRev="1" fill="hold">
                                          <p:stCondLst>
                                            <p:cond delay="600"/>
                                          </p:stCondLst>
                                        </p:cTn>
                                        <p:tgtEl>
                                          <p:spTgt spid="3">
                                            <p:txEl>
                                              <p:pRg st="2" end="2"/>
                                            </p:txEl>
                                          </p:spTgt>
                                        </p:tgtEl>
                                        <p:attrNameLst>
                                          <p:attrName>xshear</p:attrName>
                                        </p:attrNameLst>
                                      </p:cBhvr>
                                    </p:anim>
                                    <p:animScale>
                                      <p:cBhvr>
                                        <p:cTn id="16" dur="200" decel="100000" autoRev="1" fill="hold">
                                          <p:stCondLst>
                                            <p:cond delay="600"/>
                                          </p:stCondLst>
                                        </p:cTn>
                                        <p:tgtEl>
                                          <p:spTgt spid="3">
                                            <p:txEl>
                                              <p:pRg st="2" end="2"/>
                                            </p:txEl>
                                          </p:spTgt>
                                        </p:tgtEl>
                                      </p:cBhvr>
                                      <p:from x="100000" y="100000"/>
                                      <p:to x="80000" y="100000"/>
                                    </p:animScale>
                                    <p:anim by="(#ppt_h/3+#ppt_w*0.1)" calcmode="lin" valueType="num">
                                      <p:cBhvr additive="sum">
                                        <p:cTn id="17" dur="200" decel="100000" autoRev="1" fill="hold">
                                          <p:stCondLst>
                                            <p:cond delay="600"/>
                                          </p:stCondLst>
                                        </p:cTn>
                                        <p:tgtEl>
                                          <p:spTgt spid="3">
                                            <p:txEl>
                                              <p:pRg st="2" end="2"/>
                                            </p:txEl>
                                          </p:spTgt>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
            <a:ext cx="7824788" cy="990600"/>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Synchronization</a:t>
            </a:r>
          </a:p>
        </p:txBody>
      </p:sp>
      <p:graphicFrame>
        <p:nvGraphicFramePr>
          <p:cNvPr id="4" name="Content Placeholder 3"/>
          <p:cNvGraphicFramePr>
            <a:graphicFrameLocks noGrp="1"/>
          </p:cNvGraphicFramePr>
          <p:nvPr>
            <p:ph idx="4294967295"/>
          </p:nvPr>
        </p:nvGraphicFramePr>
        <p:xfrm>
          <a:off x="304800" y="1600200"/>
          <a:ext cx="84582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Blocking Send, </a:t>
            </a:r>
            <a:b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Blocking Receive</a:t>
            </a:r>
            <a:endPar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ndParaRPr>
          </a:p>
        </p:txBody>
      </p:sp>
      <p:sp>
        <p:nvSpPr>
          <p:cNvPr id="3" name="Content Placeholder 2"/>
          <p:cNvSpPr>
            <a:spLocks noGrp="1"/>
          </p:cNvSpPr>
          <p:nvPr>
            <p:ph idx="4294967295"/>
          </p:nvPr>
        </p:nvSpPr>
        <p:spPr>
          <a:xfrm>
            <a:off x="533400" y="2209800"/>
            <a:ext cx="8229600" cy="5562600"/>
          </a:xfrm>
        </p:spPr>
        <p:txBody>
          <a:bodyPr/>
          <a:lstStyle/>
          <a:p>
            <a:r>
              <a:rPr lang="en-US" sz="3200" dirty="0"/>
              <a:t>Both sender and receiver are blocked until the message is delivered</a:t>
            </a:r>
          </a:p>
          <a:p>
            <a:r>
              <a:rPr lang="en-US" sz="3200" dirty="0"/>
              <a:t>Sometimes referred to as a </a:t>
            </a:r>
            <a:r>
              <a:rPr lang="en-US" sz="3200" i="1" dirty="0"/>
              <a:t>rendezvous</a:t>
            </a:r>
          </a:p>
          <a:p>
            <a:r>
              <a:rPr lang="en-NZ" sz="3200" dirty="0"/>
              <a:t>Allows for tight synchronization between processes</a:t>
            </a:r>
            <a:endParaRPr lang="en-US" sz="3200" dirty="0"/>
          </a:p>
          <a:p>
            <a:endParaRPr lang="en-NZ" dirty="0"/>
          </a:p>
        </p:txBody>
      </p:sp>
      <p:pic>
        <p:nvPicPr>
          <p:cNvPr id="4" name="Picture 3"/>
          <p:cNvPicPr>
            <a:picLocks noChangeAspect="1"/>
          </p:cNvPicPr>
          <p:nvPr/>
        </p:nvPicPr>
        <p:blipFill>
          <a:blip r:embed="rId3"/>
          <a:stretch>
            <a:fillRect/>
          </a:stretch>
        </p:blipFill>
        <p:spPr>
          <a:xfrm>
            <a:off x="4114800" y="4800600"/>
            <a:ext cx="1981200" cy="1521279"/>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b="1" dirty="0" err="1">
                <a:ln w="1905"/>
                <a:solidFill>
                  <a:schemeClr val="accent6">
                    <a:lumMod val="50000"/>
                  </a:schemeClr>
                </a:solidFill>
                <a:effectLst>
                  <a:innerShdw blurRad="69850" dist="43180" dir="5400000">
                    <a:srgbClr val="000000">
                      <a:alpha val="65000"/>
                    </a:srgbClr>
                  </a:innerShdw>
                </a:effectLst>
              </a:rPr>
              <a:t>Nonblocking</a:t>
            </a:r>
            <a:r>
              <a:rPr lang="en-US" b="1" dirty="0">
                <a:ln w="1905"/>
                <a:solidFill>
                  <a:schemeClr val="accent6">
                    <a:lumMod val="50000"/>
                  </a:schemeClr>
                </a:solidFill>
                <a:effectLst>
                  <a:innerShdw blurRad="69850" dist="43180" dir="5400000">
                    <a:srgbClr val="000000">
                      <a:alpha val="65000"/>
                    </a:srgbClr>
                  </a:innerShdw>
                </a:effectLst>
              </a:rPr>
              <a:t> Send</a:t>
            </a:r>
          </a:p>
        </p:txBody>
      </p:sp>
      <p:graphicFrame>
        <p:nvGraphicFramePr>
          <p:cNvPr id="4" name="Content Placeholder 3"/>
          <p:cNvGraphicFramePr>
            <a:graphicFrameLocks noGrp="1"/>
          </p:cNvGraphicFramePr>
          <p:nvPr>
            <p:ph idx="4294967295"/>
          </p:nvPr>
        </p:nvGraphicFramePr>
        <p:xfrm>
          <a:off x="533400" y="2057400"/>
          <a:ext cx="80772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8"/>
              <a:stretch>
                <a:fillRect/>
              </a:stretch>
            </p:blipFill>
          </mc:Choice>
          <mc:Fallback>
            <p:blipFill>
              <a:blip r:embed="rId9"/>
              <a:stretch>
                <a:fillRect/>
              </a:stretch>
            </p:blipFill>
          </mc:Fallback>
        </mc:AlternateContent>
        <p:spPr>
          <a:xfrm>
            <a:off x="6858000" y="5334001"/>
            <a:ext cx="2037433" cy="1523999"/>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ctr"/>
            <a:r>
              <a:rPr lang="en-US" sz="5400" b="1" dirty="0">
                <a:ln>
                  <a:solidFill>
                    <a:schemeClr val="tx1"/>
                  </a:solidFill>
                </a:ln>
                <a:solidFill>
                  <a:schemeClr val="accent1">
                    <a:lumMod val="50000"/>
                  </a:schemeClr>
                </a:solidFill>
              </a:rPr>
              <a:t>    Addressing</a:t>
            </a:r>
          </a:p>
        </p:txBody>
      </p:sp>
      <p:sp>
        <p:nvSpPr>
          <p:cNvPr id="3" name="Content Placeholder 2"/>
          <p:cNvSpPr>
            <a:spLocks noGrp="1"/>
          </p:cNvSpPr>
          <p:nvPr>
            <p:ph idx="4294967295"/>
          </p:nvPr>
        </p:nvSpPr>
        <p:spPr>
          <a:xfrm>
            <a:off x="228600" y="2286000"/>
            <a:ext cx="8763000" cy="1828800"/>
          </a:xfrm>
        </p:spPr>
        <p:txBody>
          <a:bodyPr>
            <a:normAutofit/>
          </a:bodyPr>
          <a:lstStyle/>
          <a:p>
            <a:pPr lvl="1">
              <a:buClr>
                <a:schemeClr val="accent6">
                  <a:lumMod val="75000"/>
                </a:schemeClr>
              </a:buClr>
              <a:buSzPct val="85000"/>
              <a:buFont typeface="Wingdings" charset="2"/>
              <a:buChar char=""/>
            </a:pPr>
            <a:r>
              <a:rPr lang="en-US" sz="3400" dirty="0"/>
              <a:t> Schemes for specifying processes in </a:t>
            </a:r>
            <a:r>
              <a:rPr lang="en-US" sz="3400" dirty="0">
                <a:latin typeface="Courier New"/>
              </a:rPr>
              <a:t>send</a:t>
            </a:r>
            <a:r>
              <a:rPr lang="en-US" sz="3400" dirty="0"/>
              <a:t>       and </a:t>
            </a:r>
            <a:r>
              <a:rPr lang="en-US" sz="3400" dirty="0">
                <a:latin typeface="Courier New"/>
              </a:rPr>
              <a:t>receive</a:t>
            </a:r>
            <a:r>
              <a:rPr lang="en-US" sz="3400" dirty="0"/>
              <a:t> primitives fall into two categories:</a:t>
            </a:r>
          </a:p>
        </p:txBody>
      </p:sp>
      <p:graphicFrame>
        <p:nvGraphicFramePr>
          <p:cNvPr id="6" name="Diagram 5"/>
          <p:cNvGraphicFramePr/>
          <p:nvPr/>
        </p:nvGraphicFramePr>
        <p:xfrm>
          <a:off x="457200" y="4267200"/>
          <a:ext cx="8077200" cy="1752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p:cNvPicPr>
            <a:picLocks noChangeAspect="1"/>
          </p:cNvPicPr>
          <p:nvPr/>
        </p:nvPicPr>
        <p:blipFill>
          <a:blip r:embed="rId8"/>
          <a:stretch>
            <a:fillRect/>
          </a:stretch>
        </p:blipFill>
        <p:spPr>
          <a:xfrm>
            <a:off x="762000" y="533400"/>
            <a:ext cx="1600200" cy="1282700"/>
          </a:xfrm>
          <a:prstGeom prst="rect">
            <a:avLst/>
          </a:prstGeom>
        </p:spPr>
      </p:pic>
      <p:pic>
        <p:nvPicPr>
          <p:cNvPr id="11" name="Picture 10"/>
          <p:cNvPicPr>
            <a:picLocks noChangeAspect="1"/>
          </p:cNvPicPr>
          <p:nvPr/>
        </p:nvPicPr>
        <p:blipFill>
          <a:blip r:embed="rId9"/>
          <a:stretch>
            <a:fillRect/>
          </a:stretch>
        </p:blipFill>
        <p:spPr>
          <a:xfrm>
            <a:off x="8076591" y="5618163"/>
            <a:ext cx="1067409" cy="1239837"/>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50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solidFill>
                  <a:schemeClr val="accent6">
                    <a:lumMod val="75000"/>
                  </a:schemeClr>
                </a:solidFill>
                <a:effectLst>
                  <a:innerShdw blurRad="69850" dist="43180" dir="5400000">
                    <a:srgbClr val="000000">
                      <a:alpha val="65000"/>
                    </a:srgbClr>
                  </a:innerShdw>
                </a:effectLst>
              </a:rPr>
              <a:t>Direct Addressing</a:t>
            </a:r>
          </a:p>
        </p:txBody>
      </p:sp>
      <p:sp>
        <p:nvSpPr>
          <p:cNvPr id="3" name="Content Placeholder 2"/>
          <p:cNvSpPr>
            <a:spLocks noGrp="1"/>
          </p:cNvSpPr>
          <p:nvPr>
            <p:ph idx="4294967295"/>
          </p:nvPr>
        </p:nvSpPr>
        <p:spPr>
          <a:xfrm>
            <a:off x="228600" y="1981200"/>
            <a:ext cx="8382000" cy="4876800"/>
          </a:xfrm>
        </p:spPr>
        <p:txBody>
          <a:bodyPr>
            <a:normAutofit lnSpcReduction="10000"/>
          </a:bodyPr>
          <a:lstStyle/>
          <a:p>
            <a:pPr marL="627063" lvl="2" indent="-454025">
              <a:spcBef>
                <a:spcPts val="400"/>
              </a:spcBef>
            </a:pPr>
            <a:r>
              <a:rPr lang="en-US" sz="3200" dirty="0"/>
              <a:t>Send primitive includes a specific identifier of the destination process</a:t>
            </a:r>
          </a:p>
          <a:p>
            <a:pPr marL="627063" lvl="2" indent="-454025">
              <a:spcBef>
                <a:spcPts val="400"/>
              </a:spcBef>
            </a:pPr>
            <a:r>
              <a:rPr lang="en-US" sz="3200" dirty="0"/>
              <a:t>Receive primitive can be handled in one of two ways:</a:t>
            </a:r>
          </a:p>
          <a:p>
            <a:pPr lvl="3">
              <a:spcBef>
                <a:spcPts val="400"/>
              </a:spcBef>
            </a:pPr>
            <a:r>
              <a:rPr lang="en-US" sz="3200" dirty="0"/>
              <a:t>require that the process explicitly designate a sending process</a:t>
            </a:r>
          </a:p>
          <a:p>
            <a:pPr marL="1835150" lvl="3" indent="-236538">
              <a:spcBef>
                <a:spcPts val="400"/>
              </a:spcBef>
            </a:pPr>
            <a:r>
              <a:rPr lang="en-US" sz="2162" dirty="0"/>
              <a:t>effective for cooperating concurrent processes</a:t>
            </a:r>
          </a:p>
          <a:p>
            <a:pPr lvl="3">
              <a:spcBef>
                <a:spcPts val="400"/>
              </a:spcBef>
            </a:pPr>
            <a:r>
              <a:rPr lang="en-US" sz="3200" dirty="0"/>
              <a:t>implicit addressing</a:t>
            </a:r>
          </a:p>
          <a:p>
            <a:pPr marL="1835150" lvl="3" indent="-236538">
              <a:spcBef>
                <a:spcPts val="400"/>
              </a:spcBef>
            </a:pPr>
            <a:r>
              <a:rPr lang="en-US" sz="2162" dirty="0"/>
              <a:t>source parameter of the receive primitive possesses a value returned when the receive operation has been performed</a:t>
            </a:r>
          </a:p>
          <a:p>
            <a:pPr lvl="2"/>
            <a:endParaRPr lang="en-US" sz="3200" dirty="0"/>
          </a:p>
          <a:p>
            <a:pPr lvl="2"/>
            <a:endParaRPr lang="en-US" sz="3000" dirty="0"/>
          </a:p>
          <a:p>
            <a:endParaRPr lang="en-US" sz="3000" dirty="0"/>
          </a:p>
        </p:txBody>
      </p:sp>
      <p:pic>
        <p:nvPicPr>
          <p:cNvPr id="15" name="Picture 14"/>
          <p:cNvPicPr>
            <a:picLocks noChangeAspect="1"/>
          </p:cNvPicPr>
          <p:nvPr/>
        </p:nvPicPr>
        <p:blipFill>
          <a:blip r:embed="rId3"/>
          <a:stretch>
            <a:fillRect/>
          </a:stretch>
        </p:blipFill>
        <p:spPr>
          <a:xfrm>
            <a:off x="762000" y="533400"/>
            <a:ext cx="1600200" cy="128270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 presetClass="entr" presetSubtype="8" accel="50000" decel="50000" fill="hold" grpId="0"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10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3"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8" accel="50000" decel="50000" fill="hold" grpId="0" nodeType="after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10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18"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3000"/>
                            </p:stCondLst>
                            <p:childTnLst>
                              <p:par>
                                <p:cTn id="20" presetID="2" presetClass="entr" presetSubtype="8" accel="50000" decel="50000" fill="hold" grpId="0" nodeType="after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additive="base">
                                        <p:cTn id="22" dur="10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3" dur="10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par>
                          <p:cTn id="24" fill="hold">
                            <p:stCondLst>
                              <p:cond delay="4000"/>
                            </p:stCondLst>
                            <p:childTnLst>
                              <p:par>
                                <p:cTn id="25" presetID="2" presetClass="entr" presetSubtype="8" accel="50000" decel="50000" fill="hold" grpId="0" nodeType="after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10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28" dur="10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par>
                          <p:cTn id="29" fill="hold">
                            <p:stCondLst>
                              <p:cond delay="5000"/>
                            </p:stCondLst>
                            <p:childTnLst>
                              <p:par>
                                <p:cTn id="30" presetID="2" presetClass="entr" presetSubtype="8" accel="50000" decel="50000" fill="hold" grpId="0" nodeType="after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10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3" dur="10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381000"/>
            <a:ext cx="7824788" cy="1067748"/>
          </a:xfrm>
        </p:spPr>
        <p:txBody>
          <a:bodyPr/>
          <a:lstStyle/>
          <a:p>
            <a:pPr algn="ctr"/>
            <a:r>
              <a:rPr lang="en-US" b="1" dirty="0">
                <a:ln w="1905"/>
                <a:solidFill>
                  <a:schemeClr val="accent6">
                    <a:lumMod val="75000"/>
                  </a:schemeClr>
                </a:solidFill>
                <a:effectLst>
                  <a:innerShdw blurRad="69850" dist="43180" dir="5400000">
                    <a:srgbClr val="000000">
                      <a:alpha val="65000"/>
                    </a:srgbClr>
                  </a:innerShdw>
                </a:effectLst>
              </a:rPr>
              <a:t>Indirect Addressing</a:t>
            </a:r>
          </a:p>
        </p:txBody>
      </p:sp>
      <p:graphicFrame>
        <p:nvGraphicFramePr>
          <p:cNvPr id="4" name="Content Placeholder 3"/>
          <p:cNvGraphicFramePr>
            <a:graphicFrameLocks noGrp="1"/>
          </p:cNvGraphicFramePr>
          <p:nvPr>
            <p:ph idx="4294967295"/>
          </p:nvPr>
        </p:nvGraphicFramePr>
        <p:xfrm>
          <a:off x="1219200" y="2438400"/>
          <a:ext cx="6781800" cy="396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p:cNvPicPr>
            <a:picLocks noChangeAspect="1"/>
          </p:cNvPicPr>
          <p:nvPr/>
        </p:nvPicPr>
        <p:blipFill>
          <a:blip r:embed="rId8"/>
          <a:stretch>
            <a:fillRect/>
          </a:stretch>
        </p:blipFill>
        <p:spPr>
          <a:xfrm>
            <a:off x="609600" y="533400"/>
            <a:ext cx="1600200" cy="1282700"/>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609600"/>
            <a:ext cx="6705600" cy="533400"/>
          </a:xfrm>
        </p:spPr>
        <p:txBody>
          <a:bodyPr vert="horz" anchor="ctr" anchorCtr="0"/>
          <a:lstStyle/>
          <a:p>
            <a:r>
              <a:rPr lang="en-US" sz="4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Indirect Process</a:t>
            </a:r>
          </a:p>
        </p:txBody>
      </p:sp>
      <p:pic>
        <p:nvPicPr>
          <p:cNvPr id="1026" name="Picture 2"/>
          <p:cNvPicPr>
            <a:picLocks noChangeAspect="1" noChangeArrowheads="1"/>
          </p:cNvPicPr>
          <p:nvPr/>
        </p:nvPicPr>
        <p:blipFill>
          <a:blip r:embed="rId3"/>
          <a:srcRect/>
          <a:stretch>
            <a:fillRect/>
          </a:stretch>
        </p:blipFill>
        <p:spPr bwMode="auto">
          <a:xfrm>
            <a:off x="533400" y="1295400"/>
            <a:ext cx="3505200" cy="2339975"/>
          </a:xfrm>
          <a:prstGeom prst="rect">
            <a:avLst/>
          </a:prstGeom>
          <a:noFill/>
          <a:ln w="9525">
            <a:noFill/>
            <a:miter lim="800000"/>
            <a:headEnd/>
            <a:tailEnd/>
          </a:ln>
          <a:effectLst/>
        </p:spPr>
      </p:pic>
      <p:pic>
        <p:nvPicPr>
          <p:cNvPr id="1027" name="Picture 3"/>
          <p:cNvPicPr>
            <a:picLocks noChangeAspect="1" noChangeArrowheads="1"/>
          </p:cNvPicPr>
          <p:nvPr/>
        </p:nvPicPr>
        <p:blipFill>
          <a:blip r:embed="rId4"/>
          <a:srcRect/>
          <a:stretch>
            <a:fillRect/>
          </a:stretch>
        </p:blipFill>
        <p:spPr bwMode="auto">
          <a:xfrm>
            <a:off x="5105400" y="1295400"/>
            <a:ext cx="3505200" cy="23304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5"/>
          <a:srcRect/>
          <a:stretch>
            <a:fillRect/>
          </a:stretch>
        </p:blipFill>
        <p:spPr bwMode="auto">
          <a:xfrm>
            <a:off x="533400" y="3733800"/>
            <a:ext cx="3505200" cy="2667000"/>
          </a:xfrm>
          <a:prstGeom prst="rect">
            <a:avLst/>
          </a:prstGeom>
          <a:noFill/>
          <a:ln w="9525">
            <a:noFill/>
            <a:miter lim="800000"/>
            <a:headEnd/>
            <a:tailEnd/>
          </a:ln>
          <a:effectLst/>
        </p:spPr>
      </p:pic>
      <p:pic>
        <p:nvPicPr>
          <p:cNvPr id="1029" name="Picture 5"/>
          <p:cNvPicPr>
            <a:picLocks noChangeAspect="1" noChangeArrowheads="1"/>
          </p:cNvPicPr>
          <p:nvPr/>
        </p:nvPicPr>
        <p:blipFill>
          <a:blip r:embed="rId6"/>
          <a:srcRect/>
          <a:stretch>
            <a:fillRect/>
          </a:stretch>
        </p:blipFill>
        <p:spPr bwMode="auto">
          <a:xfrm>
            <a:off x="5105400" y="3810000"/>
            <a:ext cx="3533775" cy="2549525"/>
          </a:xfrm>
          <a:prstGeom prst="rect">
            <a:avLst/>
          </a:prstGeom>
          <a:noFill/>
          <a:ln w="9525">
            <a:noFill/>
            <a:miter lim="800000"/>
            <a:headEnd/>
            <a:tailEnd/>
          </a:ln>
          <a:effectLst/>
        </p:spPr>
      </p:pic>
      <p:sp>
        <p:nvSpPr>
          <p:cNvPr id="8" name="TextBox 7"/>
          <p:cNvSpPr txBox="1"/>
          <p:nvPr/>
        </p:nvSpPr>
        <p:spPr>
          <a:xfrm>
            <a:off x="4191000" y="1524000"/>
            <a:ext cx="830997" cy="4648200"/>
          </a:xfrm>
          <a:prstGeom prst="rect">
            <a:avLst/>
          </a:prstGeom>
          <a:noFill/>
        </p:spPr>
        <p:txBody>
          <a:bodyPr vert="wordArtVert" wrap="square" rtlCol="0" anchor="ctr" anchorCtr="0">
            <a:spAutoFit/>
          </a:bodyPr>
          <a:lstStyle/>
          <a:p>
            <a:r>
              <a:rPr lang="en-US" sz="4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ea typeface="+mj-ea"/>
                <a:cs typeface="+mj-cs"/>
              </a:rPr>
              <a:t>Communication</a:t>
            </a:r>
          </a:p>
        </p:txBody>
      </p:sp>
    </p:spTree>
  </p:cSld>
  <p:clrMapOvr>
    <a:masterClrMapping/>
  </p:clrMapOvr>
  <p:transition spd="med">
    <p:check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228600"/>
            <a:ext cx="8686800" cy="1066800"/>
          </a:xfrm>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General Message Format</a:t>
            </a:r>
          </a:p>
        </p:txBody>
      </p:sp>
      <p:pic>
        <p:nvPicPr>
          <p:cNvPr id="4" name="Content Placeholder 3" descr="Fig05_19.gif"/>
          <p:cNvPicPr>
            <a:picLocks noGrp="1" noChangeAspect="1"/>
          </p:cNvPicPr>
          <p:nvPr>
            <p:ph idx="4294967295"/>
          </p:nvPr>
        </p:nvPicPr>
        <p:blipFill>
          <a:blip r:embed="rId3"/>
          <a:stretch>
            <a:fillRect/>
          </a:stretch>
        </p:blipFill>
        <p:spPr>
          <a:xfrm>
            <a:off x="2514601" y="1371600"/>
            <a:ext cx="4267200" cy="5151045"/>
          </a:xfrm>
        </p:spPr>
      </p:pic>
      <p:pic>
        <p:nvPicPr>
          <p:cNvPr id="6" name="Picture 5"/>
          <p:cNvPicPr>
            <a:picLocks noChangeAspect="1"/>
          </p:cNvPicPr>
          <p:nvPr/>
        </p:nvPicPr>
        <p:blipFill>
          <a:blip r:embed="rId4"/>
          <a:stretch>
            <a:fillRect/>
          </a:stretch>
        </p:blipFill>
        <p:spPr>
          <a:xfrm>
            <a:off x="457200" y="1676400"/>
            <a:ext cx="1752600" cy="1752600"/>
          </a:xfrm>
          <a:prstGeom prst="rect">
            <a:avLst/>
          </a:prstGeom>
        </p:spPr>
      </p:pic>
      <p:pic>
        <p:nvPicPr>
          <p:cNvPr id="8" name="Picture 7"/>
          <p:cNvPicPr>
            <a:picLocks noChangeAspect="1"/>
          </p:cNvPicPr>
          <p:nvPr/>
        </p:nvPicPr>
        <p:blipFill>
          <a:blip r:embed="rId5"/>
          <a:stretch>
            <a:fillRect/>
          </a:stretch>
        </p:blipFill>
        <p:spPr>
          <a:xfrm>
            <a:off x="7543800" y="5257800"/>
            <a:ext cx="1219200" cy="1219200"/>
          </a:xfrm>
          <a:prstGeom prst="rect">
            <a:avLst/>
          </a:prstGeom>
        </p:spPr>
      </p:pic>
    </p:spTree>
  </p:cSld>
  <p:clrMapOvr>
    <a:masterClrMapping/>
  </p:clrMapOvr>
  <p:transition spd="med">
    <p:check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7848600" cy="1067748"/>
          </a:xfrm>
        </p:spPr>
        <p:txBody>
          <a:bodyPr/>
          <a:lstStyle/>
          <a:p>
            <a:r>
              <a:rPr lang="en-US" b="1" dirty="0">
                <a:ln w="1905"/>
                <a:solidFill>
                  <a:schemeClr val="accent6">
                    <a:lumMod val="75000"/>
                  </a:schemeClr>
                </a:solidFill>
                <a:effectLst>
                  <a:innerShdw blurRad="69850" dist="43180" dir="5400000">
                    <a:srgbClr val="000000">
                      <a:alpha val="65000"/>
                    </a:srgbClr>
                  </a:innerShdw>
                </a:effectLst>
              </a:rPr>
              <a:t>Readers/Writers Problem</a:t>
            </a:r>
          </a:p>
        </p:txBody>
      </p:sp>
      <p:sp>
        <p:nvSpPr>
          <p:cNvPr id="3" name="Content Placeholder 2"/>
          <p:cNvSpPr>
            <a:spLocks noGrp="1"/>
          </p:cNvSpPr>
          <p:nvPr>
            <p:ph idx="4294967295"/>
          </p:nvPr>
        </p:nvSpPr>
        <p:spPr>
          <a:xfrm>
            <a:off x="457200" y="1981200"/>
            <a:ext cx="8382000" cy="4572000"/>
          </a:xfrm>
        </p:spPr>
        <p:txBody>
          <a:bodyPr>
            <a:normAutofit/>
          </a:bodyPr>
          <a:lstStyle/>
          <a:p>
            <a:r>
              <a:rPr lang="en-US" sz="2800" dirty="0"/>
              <a:t>A data area is shared among many processes</a:t>
            </a:r>
          </a:p>
          <a:p>
            <a:pPr lvl="2"/>
            <a:r>
              <a:rPr lang="en-US" sz="2600" dirty="0"/>
              <a:t>some processes only read the data area, (readers) and some only write to the data area (writers)</a:t>
            </a:r>
          </a:p>
          <a:p>
            <a:r>
              <a:rPr lang="en-US" sz="2800" dirty="0"/>
              <a:t>Conditions that must be satisfied:</a:t>
            </a:r>
          </a:p>
          <a:p>
            <a:pPr marL="1371600" lvl="2" indent="-514350">
              <a:buSzPct val="100000"/>
              <a:buFont typeface="+mj-lt"/>
              <a:buAutoNum type="arabicPeriod"/>
            </a:pPr>
            <a:r>
              <a:rPr lang="en-NZ" sz="2800" dirty="0"/>
              <a:t>any number of readers may simultaneously read the file</a:t>
            </a:r>
          </a:p>
          <a:p>
            <a:pPr marL="1371600" lvl="2" indent="-514350">
              <a:buSzPct val="100000"/>
              <a:buFont typeface="+mj-lt"/>
              <a:buAutoNum type="arabicPeriod"/>
            </a:pPr>
            <a:r>
              <a:rPr lang="en-NZ" sz="2800" dirty="0"/>
              <a:t>only one writer at a time may write to the file</a:t>
            </a:r>
          </a:p>
          <a:p>
            <a:pPr marL="1371600" lvl="2" indent="-514350">
              <a:buSzPct val="100000"/>
              <a:buFont typeface="+mj-lt"/>
              <a:buAutoNum type="arabicPeriod"/>
            </a:pPr>
            <a:r>
              <a:rPr lang="en-NZ" sz="2800" dirty="0"/>
              <a:t>if a writer is writing to the file, no reader may  read it</a:t>
            </a:r>
            <a:endParaRPr lang="en-US" sz="2800" dirty="0"/>
          </a:p>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50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
                                            <p:txEl>
                                              <p:pRg st="3" end="3"/>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
                                            <p:txEl>
                                              <p:pRg st="3" end="3"/>
                                            </p:txEl>
                                          </p:spTgt>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1000"/>
                                        <p:tgtEl>
                                          <p:spTgt spid="3">
                                            <p:txEl>
                                              <p:pRg st="4" end="4"/>
                                            </p:txEl>
                                          </p:spTgt>
                                        </p:tgtEl>
                                      </p:cBhvr>
                                    </p:animEffect>
                                    <p:anim calcmode="lin" valueType="num">
                                      <p:cBhvr>
                                        <p:cTn id="1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5" dur="900" decel="100000" fill="hold"/>
                                        <p:tgtEl>
                                          <p:spTgt spid="3">
                                            <p:txEl>
                                              <p:pRg st="4" end="4"/>
                                            </p:txEl>
                                          </p:spTgt>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3">
                                            <p:txEl>
                                              <p:pRg st="4" end="4"/>
                                            </p:txEl>
                                          </p:spTgt>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1000"/>
                                        <p:tgtEl>
                                          <p:spTgt spid="3">
                                            <p:txEl>
                                              <p:pRg st="5" end="5"/>
                                            </p:txEl>
                                          </p:spTgt>
                                        </p:tgtEl>
                                      </p:cBhvr>
                                    </p:animEffect>
                                    <p:anim calcmode="lin" valueType="num">
                                      <p:cBhvr>
                                        <p:cTn id="2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1" dur="900" decel="100000" fill="hold"/>
                                        <p:tgtEl>
                                          <p:spTgt spid="3">
                                            <p:txEl>
                                              <p:pRg st="5" end="5"/>
                                            </p:txEl>
                                          </p:spTgt>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3">
                                            <p:txEl>
                                              <p:pRg st="5" end="5"/>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152400"/>
            <a:ext cx="4114800" cy="838200"/>
          </a:xfrm>
        </p:spPr>
        <p:txBody>
          <a:bodyPr/>
          <a:lstStyle/>
          <a:p>
            <a:r>
              <a:rPr lang="en-NZ" sz="5800" b="1" dirty="0">
                <a:ln w="10541" cmpd="sng">
                  <a:solidFill>
                    <a:schemeClr val="accent2">
                      <a:lumMod val="50000"/>
                    </a:schemeClr>
                  </a:solidFill>
                  <a:prstDash val="solid"/>
                </a:ln>
                <a:solidFill>
                  <a:schemeClr val="accent2">
                    <a:lumMod val="50000"/>
                  </a:schemeClr>
                </a:solidFill>
              </a:rPr>
              <a:t>Summary</a:t>
            </a:r>
          </a:p>
        </p:txBody>
      </p:sp>
      <p:graphicFrame>
        <p:nvGraphicFramePr>
          <p:cNvPr id="10" name="Content Placeholder 9"/>
          <p:cNvGraphicFramePr>
            <a:graphicFrameLocks noGrp="1"/>
          </p:cNvGraphicFramePr>
          <p:nvPr>
            <p:ph sz="half" idx="4294967295"/>
          </p:nvPr>
        </p:nvGraphicFramePr>
        <p:xfrm>
          <a:off x="304800" y="381000"/>
          <a:ext cx="8534400" cy="647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7" name="Picture 26"/>
          <p:cNvPicPr>
            <a:picLocks noChangeAspect="1"/>
          </p:cNvPicPr>
          <p:nvPr/>
        </p:nvPicPr>
        <p:blipFill>
          <a:blip r:embed="rId8"/>
          <a:stretch>
            <a:fillRect/>
          </a:stretch>
        </p:blipFill>
        <p:spPr>
          <a:xfrm rot="376620">
            <a:off x="7397357" y="453035"/>
            <a:ext cx="1404302" cy="1579841"/>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A371E-3534-4AA3-B016-91DD5C67F7BC}"/>
              </a:ext>
            </a:extLst>
          </p:cNvPr>
          <p:cNvSpPr>
            <a:spLocks noGrp="1"/>
          </p:cNvSpPr>
          <p:nvPr>
            <p:ph type="title"/>
          </p:nvPr>
        </p:nvSpPr>
        <p:spPr/>
        <p:txBody>
          <a:bodyPr/>
          <a:lstStyle/>
          <a:p>
            <a:pPr algn="ctr"/>
            <a:r>
              <a:rPr lang="en-US"/>
              <a:t>End </a:t>
            </a:r>
            <a:endParaRPr lang="en-PK" dirty="0"/>
          </a:p>
        </p:txBody>
      </p:sp>
      <p:sp>
        <p:nvSpPr>
          <p:cNvPr id="3" name="Content Placeholder 2">
            <a:extLst>
              <a:ext uri="{FF2B5EF4-FFF2-40B4-BE49-F238E27FC236}">
                <a16:creationId xmlns:a16="http://schemas.microsoft.com/office/drawing/2014/main" id="{FC2C5B03-8D52-48A4-8FFE-790B837D002A}"/>
              </a:ext>
            </a:extLst>
          </p:cNvPr>
          <p:cNvSpPr>
            <a:spLocks noGrp="1"/>
          </p:cNvSpPr>
          <p:nvPr>
            <p:ph sz="half" idx="1"/>
          </p:nvPr>
        </p:nvSpPr>
        <p:spPr/>
        <p:txBody>
          <a:bodyPr/>
          <a:lstStyle/>
          <a:p>
            <a:endParaRPr lang="en-PK" dirty="0"/>
          </a:p>
        </p:txBody>
      </p:sp>
      <p:sp>
        <p:nvSpPr>
          <p:cNvPr id="4" name="Content Placeholder 3">
            <a:extLst>
              <a:ext uri="{FF2B5EF4-FFF2-40B4-BE49-F238E27FC236}">
                <a16:creationId xmlns:a16="http://schemas.microsoft.com/office/drawing/2014/main" id="{C141C308-BEC4-4ED8-9420-CB8DEEB9E4E5}"/>
              </a:ext>
            </a:extLst>
          </p:cNvPr>
          <p:cNvSpPr>
            <a:spLocks noGrp="1"/>
          </p:cNvSpPr>
          <p:nvPr>
            <p:ph sz="half" idx="2"/>
          </p:nvPr>
        </p:nvSpPr>
        <p:spPr/>
        <p:txBody>
          <a:bodyPr/>
          <a:lstStyle/>
          <a:p>
            <a:endParaRPr lang="en-PK"/>
          </a:p>
        </p:txBody>
      </p:sp>
    </p:spTree>
    <p:extLst>
      <p:ext uri="{BB962C8B-B14F-4D97-AF65-F5344CB8AC3E}">
        <p14:creationId xmlns:p14="http://schemas.microsoft.com/office/powerpoint/2010/main" val="838266888"/>
      </p:ext>
    </p:extLst>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7867</Words>
  <Application>Microsoft Office PowerPoint</Application>
  <PresentationFormat>On-screen Show (4:3)</PresentationFormat>
  <Paragraphs>430</Paragraphs>
  <Slides>37</Slides>
  <Notes>35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37</vt:i4>
      </vt:variant>
    </vt:vector>
  </HeadingPairs>
  <TitlesOfParts>
    <vt:vector size="47" baseType="lpstr">
      <vt:lpstr>Arial</vt:lpstr>
      <vt:lpstr>Arial Rounded MT Bold</vt:lpstr>
      <vt:lpstr>Calibri</vt:lpstr>
      <vt:lpstr>Calisto MT</vt:lpstr>
      <vt:lpstr>Cambria</vt:lpstr>
      <vt:lpstr>Courier New</vt:lpstr>
      <vt:lpstr>Lucida Grande</vt:lpstr>
      <vt:lpstr>Wingdings</vt:lpstr>
      <vt:lpstr>Custom Design</vt:lpstr>
      <vt:lpstr>Codex</vt:lpstr>
      <vt:lpstr>Week-5 Concurrency: Mutual Exclusion and Synchronization</vt:lpstr>
      <vt:lpstr>Operating Systems: Internals and Design Principles</vt:lpstr>
      <vt:lpstr>Multiple  Processes</vt:lpstr>
      <vt:lpstr>Concurrency Arises in Three Different Contexts:</vt:lpstr>
      <vt:lpstr>Principles of Concurrency</vt:lpstr>
      <vt:lpstr>Difficulties of Concurrency</vt:lpstr>
      <vt:lpstr>Race Condition</vt:lpstr>
      <vt:lpstr>Operating System Concerns</vt:lpstr>
      <vt:lpstr>Resource Competition</vt:lpstr>
      <vt:lpstr>Requirements for Mutual Exclusion</vt:lpstr>
      <vt:lpstr>Mutual Exclusion:  Hardware Support</vt:lpstr>
      <vt:lpstr>Mutual Exclusion:  Hardware Support</vt:lpstr>
      <vt:lpstr>Special Machine Instruction: Advantages</vt:lpstr>
      <vt:lpstr>Special Machine Instruction: Disadvantages</vt:lpstr>
      <vt:lpstr>Semaphore</vt:lpstr>
      <vt:lpstr>Consequences</vt:lpstr>
      <vt:lpstr>Strong/Weak Semaphores</vt:lpstr>
      <vt:lpstr>Producer/Consumer Problem</vt:lpstr>
      <vt:lpstr>Buffer Structure</vt:lpstr>
      <vt:lpstr>Implementation of Semaphores</vt:lpstr>
      <vt:lpstr>Monitors</vt:lpstr>
      <vt:lpstr>Monitor Characteristics</vt:lpstr>
      <vt:lpstr>Synchronization</vt:lpstr>
      <vt:lpstr>Structure of a Monitor</vt:lpstr>
      <vt:lpstr>Message Passing</vt:lpstr>
      <vt:lpstr>Message Passing</vt:lpstr>
      <vt:lpstr>Synchronization</vt:lpstr>
      <vt:lpstr>Blocking Send,  Blocking Receive</vt:lpstr>
      <vt:lpstr>Nonblocking Send</vt:lpstr>
      <vt:lpstr>    Addressing</vt:lpstr>
      <vt:lpstr>Direct Addressing</vt:lpstr>
      <vt:lpstr>Indirect Addressing</vt:lpstr>
      <vt:lpstr>Indirect Process</vt:lpstr>
      <vt:lpstr>General Message Format</vt:lpstr>
      <vt:lpstr>Readers/Writers Problem</vt:lpstr>
      <vt:lpstr>Summary</vt:lpstr>
      <vt:lpstr>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cp:lastPrinted>2011-02-18T21:50:36Z</cp:lastPrinted>
  <dcterms:created xsi:type="dcterms:W3CDTF">2011-03-15T17:05:26Z</dcterms:created>
  <dcterms:modified xsi:type="dcterms:W3CDTF">2024-02-20T08:18:06Z</dcterms:modified>
</cp:coreProperties>
</file>