
<file path=[Content_Types].xml><?xml version="1.0" encoding="utf-8"?>
<Types xmlns="http://schemas.openxmlformats.org/package/2006/content-types">
  <Default Extension="png" ContentType="image/png"/>
  <Default Extension="pdf" ContentType="application/pdf"/>
  <Default Extension="jpeg" ContentType="image/jpeg"/>
  <Default Extension="wmf" ContentType="image/x-w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 id="2147483741" r:id="rId2"/>
  </p:sldMasterIdLst>
  <p:notesMasterIdLst>
    <p:notesMasterId r:id="rId21"/>
  </p:notesMasterIdLst>
  <p:sldIdLst>
    <p:sldId id="256" r:id="rId3"/>
    <p:sldId id="305" r:id="rId4"/>
    <p:sldId id="297" r:id="rId5"/>
    <p:sldId id="258" r:id="rId6"/>
    <p:sldId id="259" r:id="rId7"/>
    <p:sldId id="260" r:id="rId8"/>
    <p:sldId id="261" r:id="rId9"/>
    <p:sldId id="262" r:id="rId10"/>
    <p:sldId id="263" r:id="rId11"/>
    <p:sldId id="299" r:id="rId12"/>
    <p:sldId id="264" r:id="rId13"/>
    <p:sldId id="265" r:id="rId14"/>
    <p:sldId id="301" r:id="rId15"/>
    <p:sldId id="302" r:id="rId16"/>
    <p:sldId id="269" r:id="rId17"/>
    <p:sldId id="308" r:id="rId18"/>
    <p:sldId id="303" r:id="rId19"/>
    <p:sldId id="272" r:id="rId2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36" autoAdjust="0"/>
    <p:restoredTop sz="97152" autoAdjust="0"/>
  </p:normalViewPr>
  <p:slideViewPr>
    <p:cSldViewPr>
      <p:cViewPr varScale="1">
        <p:scale>
          <a:sx n="103" d="100"/>
          <a:sy n="103" d="100"/>
        </p:scale>
        <p:origin x="240" y="10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4781B9-B76E-DE48-B6CD-1871E6686F03}"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F7D9E317-E96A-8F48-9BFD-FBD175380725}">
      <dgm:prSet phldrT="[Text]" custT="1"/>
      <dgm:spPr>
        <a:solidFill>
          <a:schemeClr val="accent4">
            <a:lumMod val="75000"/>
          </a:schemeClr>
        </a:solidFill>
        <a:ln>
          <a:solidFill>
            <a:schemeClr val="accent4">
              <a:lumMod val="75000"/>
            </a:schemeClr>
          </a:solidFill>
        </a:ln>
      </dgm:spPr>
      <dgm:t>
        <a:bodyPr/>
        <a:lstStyle/>
        <a:p>
          <a:r>
            <a:rPr lang="en-US" sz="2500" dirty="0"/>
            <a:t>Programs are written in modules</a:t>
          </a:r>
        </a:p>
      </dgm:t>
    </dgm:pt>
    <dgm:pt modelId="{3F4CFE7A-5820-7E42-BB25-B05B712121FB}" type="parTrans" cxnId="{D9947A88-8D99-3B4B-8191-74BDAA1EE1C5}">
      <dgm:prSet/>
      <dgm:spPr/>
      <dgm:t>
        <a:bodyPr/>
        <a:lstStyle/>
        <a:p>
          <a:endParaRPr lang="en-US"/>
        </a:p>
      </dgm:t>
    </dgm:pt>
    <dgm:pt modelId="{0A488997-47DE-2048-8169-AD6C50AAF938}" type="sibTrans" cxnId="{D9947A88-8D99-3B4B-8191-74BDAA1EE1C5}">
      <dgm:prSet/>
      <dgm:spPr/>
      <dgm:t>
        <a:bodyPr/>
        <a:lstStyle/>
        <a:p>
          <a:endParaRPr lang="en-US"/>
        </a:p>
      </dgm:t>
    </dgm:pt>
    <dgm:pt modelId="{1C7C63AB-06D3-0241-920D-B97768525412}">
      <dgm:prSet/>
      <dgm:spPr/>
      <dgm:t>
        <a:bodyPr/>
        <a:lstStyle/>
        <a:p>
          <a:r>
            <a:rPr lang="en-US" dirty="0"/>
            <a:t>modules can be written and compiled independently</a:t>
          </a:r>
        </a:p>
      </dgm:t>
    </dgm:pt>
    <dgm:pt modelId="{F741D7E0-A918-2841-8387-EEE252900975}" type="parTrans" cxnId="{B6C2FE04-64F9-7943-BFD4-434D29EA826D}">
      <dgm:prSet/>
      <dgm:spPr/>
      <dgm:t>
        <a:bodyPr/>
        <a:lstStyle/>
        <a:p>
          <a:endParaRPr lang="en-US"/>
        </a:p>
      </dgm:t>
    </dgm:pt>
    <dgm:pt modelId="{CF58A067-688F-2744-AE12-E10F8E99A363}" type="sibTrans" cxnId="{B6C2FE04-64F9-7943-BFD4-434D29EA826D}">
      <dgm:prSet/>
      <dgm:spPr/>
      <dgm:t>
        <a:bodyPr/>
        <a:lstStyle/>
        <a:p>
          <a:endParaRPr lang="en-US"/>
        </a:p>
      </dgm:t>
    </dgm:pt>
    <dgm:pt modelId="{5B87985D-768B-DC44-8FF5-B494D1A296E1}">
      <dgm:prSet/>
      <dgm:spPr/>
      <dgm:t>
        <a:bodyPr/>
        <a:lstStyle/>
        <a:p>
          <a:r>
            <a:rPr lang="en-US" dirty="0"/>
            <a:t>different degrees of protection given to modules (read-only, execute-only)</a:t>
          </a:r>
        </a:p>
      </dgm:t>
    </dgm:pt>
    <dgm:pt modelId="{E7DDB814-C877-4A46-88E6-5D1B71686589}" type="parTrans" cxnId="{1E56D556-3062-9444-8320-202CE9C86A2D}">
      <dgm:prSet/>
      <dgm:spPr/>
      <dgm:t>
        <a:bodyPr/>
        <a:lstStyle/>
        <a:p>
          <a:endParaRPr lang="en-US"/>
        </a:p>
      </dgm:t>
    </dgm:pt>
    <dgm:pt modelId="{96556E07-6761-CF4F-9301-87BF281EB7B1}" type="sibTrans" cxnId="{1E56D556-3062-9444-8320-202CE9C86A2D}">
      <dgm:prSet/>
      <dgm:spPr/>
      <dgm:t>
        <a:bodyPr/>
        <a:lstStyle/>
        <a:p>
          <a:endParaRPr lang="en-US"/>
        </a:p>
      </dgm:t>
    </dgm:pt>
    <dgm:pt modelId="{D44BB826-6576-BF41-8AE1-1F4600BE09C9}">
      <dgm:prSet/>
      <dgm:spPr/>
      <dgm:t>
        <a:bodyPr/>
        <a:lstStyle/>
        <a:p>
          <a:r>
            <a:rPr lang="en-US" dirty="0"/>
            <a:t>sharing on a module level corresponds to the user’s way of viewing the problem</a:t>
          </a:r>
        </a:p>
      </dgm:t>
    </dgm:pt>
    <dgm:pt modelId="{D89F9484-23F6-CD46-86C8-729273D1EC45}" type="parTrans" cxnId="{57A3FDD5-4B35-6E43-8396-107CF947B4D0}">
      <dgm:prSet/>
      <dgm:spPr/>
      <dgm:t>
        <a:bodyPr/>
        <a:lstStyle/>
        <a:p>
          <a:endParaRPr lang="en-US"/>
        </a:p>
      </dgm:t>
    </dgm:pt>
    <dgm:pt modelId="{D07EFE69-3DF6-7D43-A066-AD2373878422}" type="sibTrans" cxnId="{57A3FDD5-4B35-6E43-8396-107CF947B4D0}">
      <dgm:prSet/>
      <dgm:spPr/>
      <dgm:t>
        <a:bodyPr/>
        <a:lstStyle/>
        <a:p>
          <a:endParaRPr lang="en-US"/>
        </a:p>
      </dgm:t>
    </dgm:pt>
    <dgm:pt modelId="{3E1BEDC8-350A-874B-8364-625D062A1AF4}" type="pres">
      <dgm:prSet presAssocID="{914781B9-B76E-DE48-B6CD-1871E6686F03}" presName="Name0" presStyleCnt="0">
        <dgm:presLayoutVars>
          <dgm:dir/>
          <dgm:animLvl val="lvl"/>
          <dgm:resizeHandles val="exact"/>
        </dgm:presLayoutVars>
      </dgm:prSet>
      <dgm:spPr/>
    </dgm:pt>
    <dgm:pt modelId="{27A62740-23BB-9348-9B74-BD00C3F5D9C1}" type="pres">
      <dgm:prSet presAssocID="{F7D9E317-E96A-8F48-9BFD-FBD175380725}" presName="composite" presStyleCnt="0"/>
      <dgm:spPr/>
    </dgm:pt>
    <dgm:pt modelId="{334D193C-839A-0E44-B28B-3AFED529D922}" type="pres">
      <dgm:prSet presAssocID="{F7D9E317-E96A-8F48-9BFD-FBD175380725}" presName="parTx" presStyleLbl="alignNode1" presStyleIdx="0" presStyleCnt="1" custLinFactNeighborX="-10465" custLinFactNeighborY="-20191">
        <dgm:presLayoutVars>
          <dgm:chMax val="0"/>
          <dgm:chPref val="0"/>
          <dgm:bulletEnabled val="1"/>
        </dgm:presLayoutVars>
      </dgm:prSet>
      <dgm:spPr/>
    </dgm:pt>
    <dgm:pt modelId="{7B231396-7652-0541-A496-2537BE7F010F}" type="pres">
      <dgm:prSet presAssocID="{F7D9E317-E96A-8F48-9BFD-FBD175380725}" presName="desTx" presStyleLbl="alignAccFollowNode1" presStyleIdx="0" presStyleCnt="1">
        <dgm:presLayoutVars>
          <dgm:bulletEnabled val="1"/>
        </dgm:presLayoutVars>
      </dgm:prSet>
      <dgm:spPr/>
    </dgm:pt>
  </dgm:ptLst>
  <dgm:cxnLst>
    <dgm:cxn modelId="{B6C2FE04-64F9-7943-BFD4-434D29EA826D}" srcId="{F7D9E317-E96A-8F48-9BFD-FBD175380725}" destId="{1C7C63AB-06D3-0241-920D-B97768525412}" srcOrd="0" destOrd="0" parTransId="{F741D7E0-A918-2841-8387-EEE252900975}" sibTransId="{CF58A067-688F-2744-AE12-E10F8E99A363}"/>
    <dgm:cxn modelId="{5A54DD07-AB5B-5248-95A6-7C2EBEDC1608}" type="presOf" srcId="{1C7C63AB-06D3-0241-920D-B97768525412}" destId="{7B231396-7652-0541-A496-2537BE7F010F}" srcOrd="0" destOrd="0" presId="urn:microsoft.com/office/officeart/2005/8/layout/hList1"/>
    <dgm:cxn modelId="{1E56D556-3062-9444-8320-202CE9C86A2D}" srcId="{F7D9E317-E96A-8F48-9BFD-FBD175380725}" destId="{5B87985D-768B-DC44-8FF5-B494D1A296E1}" srcOrd="1" destOrd="0" parTransId="{E7DDB814-C877-4A46-88E6-5D1B71686589}" sibTransId="{96556E07-6761-CF4F-9301-87BF281EB7B1}"/>
    <dgm:cxn modelId="{D5B26882-86D4-0749-83E0-57270AFD8817}" type="presOf" srcId="{D44BB826-6576-BF41-8AE1-1F4600BE09C9}" destId="{7B231396-7652-0541-A496-2537BE7F010F}" srcOrd="0" destOrd="2" presId="urn:microsoft.com/office/officeart/2005/8/layout/hList1"/>
    <dgm:cxn modelId="{D9947A88-8D99-3B4B-8191-74BDAA1EE1C5}" srcId="{914781B9-B76E-DE48-B6CD-1871E6686F03}" destId="{F7D9E317-E96A-8F48-9BFD-FBD175380725}" srcOrd="0" destOrd="0" parTransId="{3F4CFE7A-5820-7E42-BB25-B05B712121FB}" sibTransId="{0A488997-47DE-2048-8169-AD6C50AAF938}"/>
    <dgm:cxn modelId="{7D20A988-C1F2-AF4A-B9D5-D78BC8454577}" type="presOf" srcId="{914781B9-B76E-DE48-B6CD-1871E6686F03}" destId="{3E1BEDC8-350A-874B-8364-625D062A1AF4}" srcOrd="0" destOrd="0" presId="urn:microsoft.com/office/officeart/2005/8/layout/hList1"/>
    <dgm:cxn modelId="{857EF8BE-BADD-CB4C-A55E-FA0AFCC012EE}" type="presOf" srcId="{5B87985D-768B-DC44-8FF5-B494D1A296E1}" destId="{7B231396-7652-0541-A496-2537BE7F010F}" srcOrd="0" destOrd="1" presId="urn:microsoft.com/office/officeart/2005/8/layout/hList1"/>
    <dgm:cxn modelId="{05C698C1-6351-AB40-91FB-B5A285653ADF}" type="presOf" srcId="{F7D9E317-E96A-8F48-9BFD-FBD175380725}" destId="{334D193C-839A-0E44-B28B-3AFED529D922}" srcOrd="0" destOrd="0" presId="urn:microsoft.com/office/officeart/2005/8/layout/hList1"/>
    <dgm:cxn modelId="{57A3FDD5-4B35-6E43-8396-107CF947B4D0}" srcId="{F7D9E317-E96A-8F48-9BFD-FBD175380725}" destId="{D44BB826-6576-BF41-8AE1-1F4600BE09C9}" srcOrd="2" destOrd="0" parTransId="{D89F9484-23F6-CD46-86C8-729273D1EC45}" sibTransId="{D07EFE69-3DF6-7D43-A066-AD2373878422}"/>
    <dgm:cxn modelId="{EA0CAE30-534E-0F4C-91C5-53D40509E0FA}" type="presParOf" srcId="{3E1BEDC8-350A-874B-8364-625D062A1AF4}" destId="{27A62740-23BB-9348-9B74-BD00C3F5D9C1}" srcOrd="0" destOrd="0" presId="urn:microsoft.com/office/officeart/2005/8/layout/hList1"/>
    <dgm:cxn modelId="{8597EA63-EEC1-F747-9FEB-A52B7D50DD63}" type="presParOf" srcId="{27A62740-23BB-9348-9B74-BD00C3F5D9C1}" destId="{334D193C-839A-0E44-B28B-3AFED529D922}" srcOrd="0" destOrd="0" presId="urn:microsoft.com/office/officeart/2005/8/layout/hList1"/>
    <dgm:cxn modelId="{5E6E9569-DB14-C74D-A477-822DB65580EB}" type="presParOf" srcId="{27A62740-23BB-9348-9B74-BD00C3F5D9C1}" destId="{7B231396-7652-0541-A496-2537BE7F010F}"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E8F8C9F-57D8-AE42-81D9-B91C0DAF6E39}" type="doc">
      <dgm:prSet loTypeId="urn:microsoft.com/office/officeart/2005/8/layout/hierarchy1" loCatId="hierarchy" qsTypeId="urn:microsoft.com/office/officeart/2005/8/quickstyle/simple4" qsCatId="simple" csTypeId="urn:microsoft.com/office/officeart/2005/8/colors/accent1_2" csCatId="accent1"/>
      <dgm:spPr/>
      <dgm:t>
        <a:bodyPr/>
        <a:lstStyle/>
        <a:p>
          <a:endParaRPr lang="en-US"/>
        </a:p>
      </dgm:t>
    </dgm:pt>
    <dgm:pt modelId="{B2FD33C0-9D90-E448-99A8-39F24AC271E8}">
      <dgm:prSet/>
      <dgm:spPr/>
      <dgm:t>
        <a:bodyPr/>
        <a:lstStyle/>
        <a:p>
          <a:pPr rtl="0"/>
          <a:r>
            <a:rPr lang="en-US" dirty="0"/>
            <a:t>Cannot leave the programmer with the responsibility to manage memory</a:t>
          </a:r>
        </a:p>
      </dgm:t>
    </dgm:pt>
    <dgm:pt modelId="{D29B1C74-5419-744E-AB83-4797593DDD29}" type="parTrans" cxnId="{B8051F1C-7620-6247-B847-90B3A680EF8E}">
      <dgm:prSet/>
      <dgm:spPr/>
      <dgm:t>
        <a:bodyPr/>
        <a:lstStyle/>
        <a:p>
          <a:endParaRPr lang="en-US"/>
        </a:p>
      </dgm:t>
    </dgm:pt>
    <dgm:pt modelId="{F9E3CB12-2C6D-D44D-A453-DBD5391E2C72}" type="sibTrans" cxnId="{B8051F1C-7620-6247-B847-90B3A680EF8E}">
      <dgm:prSet/>
      <dgm:spPr/>
      <dgm:t>
        <a:bodyPr/>
        <a:lstStyle/>
        <a:p>
          <a:endParaRPr lang="en-US"/>
        </a:p>
      </dgm:t>
    </dgm:pt>
    <dgm:pt modelId="{BA275269-8790-2648-BB18-E82260BC0144}">
      <dgm:prSet/>
      <dgm:spPr/>
      <dgm:t>
        <a:bodyPr/>
        <a:lstStyle/>
        <a:p>
          <a:pPr rtl="0"/>
          <a:r>
            <a:rPr lang="en-US" dirty="0"/>
            <a:t>Memory available for a program plus its data may be insufficient</a:t>
          </a:r>
        </a:p>
      </dgm:t>
    </dgm:pt>
    <dgm:pt modelId="{86DE4C53-D0E6-7247-A76C-943011D05056}" type="parTrans" cxnId="{8A933E08-4422-FF45-B60E-0D7959400A98}">
      <dgm:prSet/>
      <dgm:spPr/>
      <dgm:t>
        <a:bodyPr/>
        <a:lstStyle/>
        <a:p>
          <a:endParaRPr lang="en-US"/>
        </a:p>
      </dgm:t>
    </dgm:pt>
    <dgm:pt modelId="{AABBC9DC-68C3-6F46-B732-B6C7DC689FC0}" type="sibTrans" cxnId="{8A933E08-4422-FF45-B60E-0D7959400A98}">
      <dgm:prSet/>
      <dgm:spPr/>
      <dgm:t>
        <a:bodyPr/>
        <a:lstStyle/>
        <a:p>
          <a:endParaRPr lang="en-US"/>
        </a:p>
      </dgm:t>
    </dgm:pt>
    <dgm:pt modelId="{90223A1A-F998-AD4B-B5EA-B1841813D9D0}">
      <dgm:prSet/>
      <dgm:spPr/>
      <dgm:t>
        <a:bodyPr/>
        <a:lstStyle/>
        <a:p>
          <a:pPr rtl="0"/>
          <a:r>
            <a:rPr lang="en-US" i="1" dirty="0"/>
            <a:t>overlaying</a:t>
          </a:r>
          <a:r>
            <a:rPr lang="en-US" dirty="0"/>
            <a:t> allows various modules to be assigned the same region of memory but is time consuming to program</a:t>
          </a:r>
        </a:p>
      </dgm:t>
    </dgm:pt>
    <dgm:pt modelId="{05585182-54FE-5441-A3DC-E97E0B33673B}" type="parTrans" cxnId="{86C39DC5-3674-634C-80DC-408EA7507149}">
      <dgm:prSet/>
      <dgm:spPr/>
      <dgm:t>
        <a:bodyPr/>
        <a:lstStyle/>
        <a:p>
          <a:endParaRPr lang="en-US" dirty="0"/>
        </a:p>
      </dgm:t>
    </dgm:pt>
    <dgm:pt modelId="{5E4A9523-B14F-6C4D-93EF-9870D62B9D09}" type="sibTrans" cxnId="{86C39DC5-3674-634C-80DC-408EA7507149}">
      <dgm:prSet/>
      <dgm:spPr/>
      <dgm:t>
        <a:bodyPr/>
        <a:lstStyle/>
        <a:p>
          <a:endParaRPr lang="en-US"/>
        </a:p>
      </dgm:t>
    </dgm:pt>
    <dgm:pt modelId="{339CD5B9-B496-F944-B7FF-858ACFA82FEF}">
      <dgm:prSet/>
      <dgm:spPr/>
      <dgm:t>
        <a:bodyPr/>
        <a:lstStyle/>
        <a:p>
          <a:pPr rtl="0"/>
          <a:r>
            <a:rPr lang="en-US" dirty="0"/>
            <a:t>Programmer does not know how much space will be available</a:t>
          </a:r>
        </a:p>
      </dgm:t>
    </dgm:pt>
    <dgm:pt modelId="{0F3C152E-618B-DA41-B2DB-48DC7B7FC8F1}" type="parTrans" cxnId="{435901A0-276A-704C-B707-1F8DBA33CFE0}">
      <dgm:prSet/>
      <dgm:spPr/>
      <dgm:t>
        <a:bodyPr/>
        <a:lstStyle/>
        <a:p>
          <a:endParaRPr lang="en-US"/>
        </a:p>
      </dgm:t>
    </dgm:pt>
    <dgm:pt modelId="{70990F35-F2A7-0C48-8E1C-2D1CE3FD11B6}" type="sibTrans" cxnId="{435901A0-276A-704C-B707-1F8DBA33CFE0}">
      <dgm:prSet/>
      <dgm:spPr/>
      <dgm:t>
        <a:bodyPr/>
        <a:lstStyle/>
        <a:p>
          <a:endParaRPr lang="en-US"/>
        </a:p>
      </dgm:t>
    </dgm:pt>
    <dgm:pt modelId="{51804E1D-7DB7-1A4C-99B9-995C996B94D5}" type="pres">
      <dgm:prSet presAssocID="{AE8F8C9F-57D8-AE42-81D9-B91C0DAF6E39}" presName="hierChild1" presStyleCnt="0">
        <dgm:presLayoutVars>
          <dgm:chPref val="1"/>
          <dgm:dir/>
          <dgm:animOne val="branch"/>
          <dgm:animLvl val="lvl"/>
          <dgm:resizeHandles/>
        </dgm:presLayoutVars>
      </dgm:prSet>
      <dgm:spPr/>
    </dgm:pt>
    <dgm:pt modelId="{9476E45A-7745-1144-92A1-56BE3F8C40EF}" type="pres">
      <dgm:prSet presAssocID="{B2FD33C0-9D90-E448-99A8-39F24AC271E8}" presName="hierRoot1" presStyleCnt="0"/>
      <dgm:spPr/>
    </dgm:pt>
    <dgm:pt modelId="{5406ED74-D085-E94B-93D4-FA6BEAA49B5B}" type="pres">
      <dgm:prSet presAssocID="{B2FD33C0-9D90-E448-99A8-39F24AC271E8}" presName="composite" presStyleCnt="0"/>
      <dgm:spPr/>
    </dgm:pt>
    <dgm:pt modelId="{84D7EA67-4406-8541-ABBC-797C1A1BEB53}" type="pres">
      <dgm:prSet presAssocID="{B2FD33C0-9D90-E448-99A8-39F24AC271E8}" presName="background" presStyleLbl="node0" presStyleIdx="0" presStyleCnt="3"/>
      <dgm:spPr>
        <a:solidFill>
          <a:schemeClr val="accent4">
            <a:lumMod val="75000"/>
          </a:schemeClr>
        </a:solidFill>
      </dgm:spPr>
    </dgm:pt>
    <dgm:pt modelId="{79BC6BEE-B67A-394A-8158-298CBF1B4197}" type="pres">
      <dgm:prSet presAssocID="{B2FD33C0-9D90-E448-99A8-39F24AC271E8}" presName="text" presStyleLbl="fgAcc0" presStyleIdx="0" presStyleCnt="3">
        <dgm:presLayoutVars>
          <dgm:chPref val="3"/>
        </dgm:presLayoutVars>
      </dgm:prSet>
      <dgm:spPr/>
    </dgm:pt>
    <dgm:pt modelId="{D457C0EC-0C25-664C-9A7F-5F6E2A4A559F}" type="pres">
      <dgm:prSet presAssocID="{B2FD33C0-9D90-E448-99A8-39F24AC271E8}" presName="hierChild2" presStyleCnt="0"/>
      <dgm:spPr/>
    </dgm:pt>
    <dgm:pt modelId="{40CC0D38-F1DA-894B-87BF-311B804ABD43}" type="pres">
      <dgm:prSet presAssocID="{BA275269-8790-2648-BB18-E82260BC0144}" presName="hierRoot1" presStyleCnt="0"/>
      <dgm:spPr/>
    </dgm:pt>
    <dgm:pt modelId="{BBFB715D-AD16-8145-AA16-11967E3367FD}" type="pres">
      <dgm:prSet presAssocID="{BA275269-8790-2648-BB18-E82260BC0144}" presName="composite" presStyleCnt="0"/>
      <dgm:spPr/>
    </dgm:pt>
    <dgm:pt modelId="{AC4EFED8-83BB-B440-A52A-0D2D9C2EFA39}" type="pres">
      <dgm:prSet presAssocID="{BA275269-8790-2648-BB18-E82260BC0144}" presName="background" presStyleLbl="node0" presStyleIdx="1" presStyleCnt="3"/>
      <dgm:spPr>
        <a:solidFill>
          <a:schemeClr val="accent4">
            <a:lumMod val="75000"/>
          </a:schemeClr>
        </a:solidFill>
      </dgm:spPr>
    </dgm:pt>
    <dgm:pt modelId="{2D0F6A76-242F-F443-BCBE-F5935F9E9F58}" type="pres">
      <dgm:prSet presAssocID="{BA275269-8790-2648-BB18-E82260BC0144}" presName="text" presStyleLbl="fgAcc0" presStyleIdx="1" presStyleCnt="3">
        <dgm:presLayoutVars>
          <dgm:chPref val="3"/>
        </dgm:presLayoutVars>
      </dgm:prSet>
      <dgm:spPr/>
    </dgm:pt>
    <dgm:pt modelId="{EB207078-D21A-4C4F-8B66-C3E806F011DC}" type="pres">
      <dgm:prSet presAssocID="{BA275269-8790-2648-BB18-E82260BC0144}" presName="hierChild2" presStyleCnt="0"/>
      <dgm:spPr/>
    </dgm:pt>
    <dgm:pt modelId="{B2ECD4BF-89FC-B24D-97F4-8FF30634CA4A}" type="pres">
      <dgm:prSet presAssocID="{05585182-54FE-5441-A3DC-E97E0B33673B}" presName="Name10" presStyleLbl="parChTrans1D2" presStyleIdx="0" presStyleCnt="1"/>
      <dgm:spPr/>
    </dgm:pt>
    <dgm:pt modelId="{901613D6-62ED-8B42-AA4E-D70D841A6C5D}" type="pres">
      <dgm:prSet presAssocID="{90223A1A-F998-AD4B-B5EA-B1841813D9D0}" presName="hierRoot2" presStyleCnt="0"/>
      <dgm:spPr/>
    </dgm:pt>
    <dgm:pt modelId="{11EDFD13-8881-9546-84D7-90BCA9CC85EA}" type="pres">
      <dgm:prSet presAssocID="{90223A1A-F998-AD4B-B5EA-B1841813D9D0}" presName="composite2" presStyleCnt="0"/>
      <dgm:spPr/>
    </dgm:pt>
    <dgm:pt modelId="{C6ABFF53-0685-2942-9C0C-09E3B98E9335}" type="pres">
      <dgm:prSet presAssocID="{90223A1A-F998-AD4B-B5EA-B1841813D9D0}" presName="background2" presStyleLbl="node2" presStyleIdx="0" presStyleCnt="1"/>
      <dgm:spPr>
        <a:solidFill>
          <a:schemeClr val="accent4">
            <a:lumMod val="75000"/>
          </a:schemeClr>
        </a:solidFill>
      </dgm:spPr>
    </dgm:pt>
    <dgm:pt modelId="{7F9F8578-2F5D-3F45-B52D-7BB5EC4A2206}" type="pres">
      <dgm:prSet presAssocID="{90223A1A-F998-AD4B-B5EA-B1841813D9D0}" presName="text2" presStyleLbl="fgAcc2" presStyleIdx="0" presStyleCnt="1">
        <dgm:presLayoutVars>
          <dgm:chPref val="3"/>
        </dgm:presLayoutVars>
      </dgm:prSet>
      <dgm:spPr/>
    </dgm:pt>
    <dgm:pt modelId="{821C9E5A-E58B-F84C-AB9A-2E491BA62C3C}" type="pres">
      <dgm:prSet presAssocID="{90223A1A-F998-AD4B-B5EA-B1841813D9D0}" presName="hierChild3" presStyleCnt="0"/>
      <dgm:spPr/>
    </dgm:pt>
    <dgm:pt modelId="{324ABE12-4450-3545-B05B-5AF972265CF5}" type="pres">
      <dgm:prSet presAssocID="{339CD5B9-B496-F944-B7FF-858ACFA82FEF}" presName="hierRoot1" presStyleCnt="0"/>
      <dgm:spPr/>
    </dgm:pt>
    <dgm:pt modelId="{44E4EEE9-6E6D-D445-96E4-992A74348E3D}" type="pres">
      <dgm:prSet presAssocID="{339CD5B9-B496-F944-B7FF-858ACFA82FEF}" presName="composite" presStyleCnt="0"/>
      <dgm:spPr/>
    </dgm:pt>
    <dgm:pt modelId="{CB460CD4-8724-EA4D-9689-CF20B06B4820}" type="pres">
      <dgm:prSet presAssocID="{339CD5B9-B496-F944-B7FF-858ACFA82FEF}" presName="background" presStyleLbl="node0" presStyleIdx="2" presStyleCnt="3"/>
      <dgm:spPr>
        <a:solidFill>
          <a:schemeClr val="accent4">
            <a:lumMod val="75000"/>
          </a:schemeClr>
        </a:solidFill>
      </dgm:spPr>
    </dgm:pt>
    <dgm:pt modelId="{E9B4E0B0-ABEC-5142-9A88-22961B116F14}" type="pres">
      <dgm:prSet presAssocID="{339CD5B9-B496-F944-B7FF-858ACFA82FEF}" presName="text" presStyleLbl="fgAcc0" presStyleIdx="2" presStyleCnt="3">
        <dgm:presLayoutVars>
          <dgm:chPref val="3"/>
        </dgm:presLayoutVars>
      </dgm:prSet>
      <dgm:spPr/>
    </dgm:pt>
    <dgm:pt modelId="{B3789610-2E99-7D46-AD31-BB1D9AA6CA3B}" type="pres">
      <dgm:prSet presAssocID="{339CD5B9-B496-F944-B7FF-858ACFA82FEF}" presName="hierChild2" presStyleCnt="0"/>
      <dgm:spPr/>
    </dgm:pt>
  </dgm:ptLst>
  <dgm:cxnLst>
    <dgm:cxn modelId="{9F802F03-7255-D84F-B1E8-38AE94C7BA70}" type="presOf" srcId="{339CD5B9-B496-F944-B7FF-858ACFA82FEF}" destId="{E9B4E0B0-ABEC-5142-9A88-22961B116F14}" srcOrd="0" destOrd="0" presId="urn:microsoft.com/office/officeart/2005/8/layout/hierarchy1"/>
    <dgm:cxn modelId="{8A933E08-4422-FF45-B60E-0D7959400A98}" srcId="{AE8F8C9F-57D8-AE42-81D9-B91C0DAF6E39}" destId="{BA275269-8790-2648-BB18-E82260BC0144}" srcOrd="1" destOrd="0" parTransId="{86DE4C53-D0E6-7247-A76C-943011D05056}" sibTransId="{AABBC9DC-68C3-6F46-B732-B6C7DC689FC0}"/>
    <dgm:cxn modelId="{B8051F1C-7620-6247-B847-90B3A680EF8E}" srcId="{AE8F8C9F-57D8-AE42-81D9-B91C0DAF6E39}" destId="{B2FD33C0-9D90-E448-99A8-39F24AC271E8}" srcOrd="0" destOrd="0" parTransId="{D29B1C74-5419-744E-AB83-4797593DDD29}" sibTransId="{F9E3CB12-2C6D-D44D-A453-DBD5391E2C72}"/>
    <dgm:cxn modelId="{16F37467-F896-B143-8CE8-EA9515DAEA00}" type="presOf" srcId="{AE8F8C9F-57D8-AE42-81D9-B91C0DAF6E39}" destId="{51804E1D-7DB7-1A4C-99B9-995C996B94D5}" srcOrd="0" destOrd="0" presId="urn:microsoft.com/office/officeart/2005/8/layout/hierarchy1"/>
    <dgm:cxn modelId="{48C07548-2FF6-4544-93AB-53D254DD8058}" type="presOf" srcId="{B2FD33C0-9D90-E448-99A8-39F24AC271E8}" destId="{79BC6BEE-B67A-394A-8158-298CBF1B4197}" srcOrd="0" destOrd="0" presId="urn:microsoft.com/office/officeart/2005/8/layout/hierarchy1"/>
    <dgm:cxn modelId="{86299D88-936B-F345-9829-8AE25A86FA9A}" type="presOf" srcId="{05585182-54FE-5441-A3DC-E97E0B33673B}" destId="{B2ECD4BF-89FC-B24D-97F4-8FF30634CA4A}" srcOrd="0" destOrd="0" presId="urn:microsoft.com/office/officeart/2005/8/layout/hierarchy1"/>
    <dgm:cxn modelId="{435901A0-276A-704C-B707-1F8DBA33CFE0}" srcId="{AE8F8C9F-57D8-AE42-81D9-B91C0DAF6E39}" destId="{339CD5B9-B496-F944-B7FF-858ACFA82FEF}" srcOrd="2" destOrd="0" parTransId="{0F3C152E-618B-DA41-B2DB-48DC7B7FC8F1}" sibTransId="{70990F35-F2A7-0C48-8E1C-2D1CE3FD11B6}"/>
    <dgm:cxn modelId="{86C39DC5-3674-634C-80DC-408EA7507149}" srcId="{BA275269-8790-2648-BB18-E82260BC0144}" destId="{90223A1A-F998-AD4B-B5EA-B1841813D9D0}" srcOrd="0" destOrd="0" parTransId="{05585182-54FE-5441-A3DC-E97E0B33673B}" sibTransId="{5E4A9523-B14F-6C4D-93EF-9870D62B9D09}"/>
    <dgm:cxn modelId="{73C642DB-4AA9-5E4C-80B1-CAC93552D1A4}" type="presOf" srcId="{90223A1A-F998-AD4B-B5EA-B1841813D9D0}" destId="{7F9F8578-2F5D-3F45-B52D-7BB5EC4A2206}" srcOrd="0" destOrd="0" presId="urn:microsoft.com/office/officeart/2005/8/layout/hierarchy1"/>
    <dgm:cxn modelId="{97AB90F8-FFD2-6444-B4D9-EE8A8621835A}" type="presOf" srcId="{BA275269-8790-2648-BB18-E82260BC0144}" destId="{2D0F6A76-242F-F443-BCBE-F5935F9E9F58}" srcOrd="0" destOrd="0" presId="urn:microsoft.com/office/officeart/2005/8/layout/hierarchy1"/>
    <dgm:cxn modelId="{6D5BBDCB-D550-B349-BCA7-2AFF2C14BAEF}" type="presParOf" srcId="{51804E1D-7DB7-1A4C-99B9-995C996B94D5}" destId="{9476E45A-7745-1144-92A1-56BE3F8C40EF}" srcOrd="0" destOrd="0" presId="urn:microsoft.com/office/officeart/2005/8/layout/hierarchy1"/>
    <dgm:cxn modelId="{5F324C71-E208-6E47-997A-30ADC30D9318}" type="presParOf" srcId="{9476E45A-7745-1144-92A1-56BE3F8C40EF}" destId="{5406ED74-D085-E94B-93D4-FA6BEAA49B5B}" srcOrd="0" destOrd="0" presId="urn:microsoft.com/office/officeart/2005/8/layout/hierarchy1"/>
    <dgm:cxn modelId="{FBAC7EA8-A0EA-A64F-BA9F-EEB5D92DC1F5}" type="presParOf" srcId="{5406ED74-D085-E94B-93D4-FA6BEAA49B5B}" destId="{84D7EA67-4406-8541-ABBC-797C1A1BEB53}" srcOrd="0" destOrd="0" presId="urn:microsoft.com/office/officeart/2005/8/layout/hierarchy1"/>
    <dgm:cxn modelId="{6E849B08-6B7C-0B45-BD34-30BCBB836540}" type="presParOf" srcId="{5406ED74-D085-E94B-93D4-FA6BEAA49B5B}" destId="{79BC6BEE-B67A-394A-8158-298CBF1B4197}" srcOrd="1" destOrd="0" presId="urn:microsoft.com/office/officeart/2005/8/layout/hierarchy1"/>
    <dgm:cxn modelId="{F074C290-27A5-174E-A9A2-A78A8D4AD967}" type="presParOf" srcId="{9476E45A-7745-1144-92A1-56BE3F8C40EF}" destId="{D457C0EC-0C25-664C-9A7F-5F6E2A4A559F}" srcOrd="1" destOrd="0" presId="urn:microsoft.com/office/officeart/2005/8/layout/hierarchy1"/>
    <dgm:cxn modelId="{6037CD7E-593F-E64B-AC86-978CC133FF39}" type="presParOf" srcId="{51804E1D-7DB7-1A4C-99B9-995C996B94D5}" destId="{40CC0D38-F1DA-894B-87BF-311B804ABD43}" srcOrd="1" destOrd="0" presId="urn:microsoft.com/office/officeart/2005/8/layout/hierarchy1"/>
    <dgm:cxn modelId="{979D3C74-344F-754C-8470-3861A87AC6BC}" type="presParOf" srcId="{40CC0D38-F1DA-894B-87BF-311B804ABD43}" destId="{BBFB715D-AD16-8145-AA16-11967E3367FD}" srcOrd="0" destOrd="0" presId="urn:microsoft.com/office/officeart/2005/8/layout/hierarchy1"/>
    <dgm:cxn modelId="{1691653B-53E8-9A48-BBD3-2264AB827370}" type="presParOf" srcId="{BBFB715D-AD16-8145-AA16-11967E3367FD}" destId="{AC4EFED8-83BB-B440-A52A-0D2D9C2EFA39}" srcOrd="0" destOrd="0" presId="urn:microsoft.com/office/officeart/2005/8/layout/hierarchy1"/>
    <dgm:cxn modelId="{8B5EE566-C0C0-2947-B42E-8992C2D0465B}" type="presParOf" srcId="{BBFB715D-AD16-8145-AA16-11967E3367FD}" destId="{2D0F6A76-242F-F443-BCBE-F5935F9E9F58}" srcOrd="1" destOrd="0" presId="urn:microsoft.com/office/officeart/2005/8/layout/hierarchy1"/>
    <dgm:cxn modelId="{FAE6D64D-AA05-D24D-B241-90B171CDC50D}" type="presParOf" srcId="{40CC0D38-F1DA-894B-87BF-311B804ABD43}" destId="{EB207078-D21A-4C4F-8B66-C3E806F011DC}" srcOrd="1" destOrd="0" presId="urn:microsoft.com/office/officeart/2005/8/layout/hierarchy1"/>
    <dgm:cxn modelId="{0A861A55-E9D9-8342-BB6D-5A2562222120}" type="presParOf" srcId="{EB207078-D21A-4C4F-8B66-C3E806F011DC}" destId="{B2ECD4BF-89FC-B24D-97F4-8FF30634CA4A}" srcOrd="0" destOrd="0" presId="urn:microsoft.com/office/officeart/2005/8/layout/hierarchy1"/>
    <dgm:cxn modelId="{7488149B-7DA9-814E-8E57-B297AEED26C5}" type="presParOf" srcId="{EB207078-D21A-4C4F-8B66-C3E806F011DC}" destId="{901613D6-62ED-8B42-AA4E-D70D841A6C5D}" srcOrd="1" destOrd="0" presId="urn:microsoft.com/office/officeart/2005/8/layout/hierarchy1"/>
    <dgm:cxn modelId="{99C9F7B4-8C1D-F349-95F3-3730B3730107}" type="presParOf" srcId="{901613D6-62ED-8B42-AA4E-D70D841A6C5D}" destId="{11EDFD13-8881-9546-84D7-90BCA9CC85EA}" srcOrd="0" destOrd="0" presId="urn:microsoft.com/office/officeart/2005/8/layout/hierarchy1"/>
    <dgm:cxn modelId="{6758B2F9-10BC-FE42-ACCD-56B626844594}" type="presParOf" srcId="{11EDFD13-8881-9546-84D7-90BCA9CC85EA}" destId="{C6ABFF53-0685-2942-9C0C-09E3B98E9335}" srcOrd="0" destOrd="0" presId="urn:microsoft.com/office/officeart/2005/8/layout/hierarchy1"/>
    <dgm:cxn modelId="{F9673165-83A2-8147-BF1C-55C01345949F}" type="presParOf" srcId="{11EDFD13-8881-9546-84D7-90BCA9CC85EA}" destId="{7F9F8578-2F5D-3F45-B52D-7BB5EC4A2206}" srcOrd="1" destOrd="0" presId="urn:microsoft.com/office/officeart/2005/8/layout/hierarchy1"/>
    <dgm:cxn modelId="{E34B47BE-C5F8-BD4B-BDE3-E979249E82D9}" type="presParOf" srcId="{901613D6-62ED-8B42-AA4E-D70D841A6C5D}" destId="{821C9E5A-E58B-F84C-AB9A-2E491BA62C3C}" srcOrd="1" destOrd="0" presId="urn:microsoft.com/office/officeart/2005/8/layout/hierarchy1"/>
    <dgm:cxn modelId="{72BE33B5-0F7E-D141-8637-2C74B0BD6B85}" type="presParOf" srcId="{51804E1D-7DB7-1A4C-99B9-995C996B94D5}" destId="{324ABE12-4450-3545-B05B-5AF972265CF5}" srcOrd="2" destOrd="0" presId="urn:microsoft.com/office/officeart/2005/8/layout/hierarchy1"/>
    <dgm:cxn modelId="{8BFBFF34-ECB6-2148-9EF2-6F08FCA2AD8D}" type="presParOf" srcId="{324ABE12-4450-3545-B05B-5AF972265CF5}" destId="{44E4EEE9-6E6D-D445-96E4-992A74348E3D}" srcOrd="0" destOrd="0" presId="urn:microsoft.com/office/officeart/2005/8/layout/hierarchy1"/>
    <dgm:cxn modelId="{91C8700E-E0BD-D34B-8D56-B75581E430CF}" type="presParOf" srcId="{44E4EEE9-6E6D-D445-96E4-992A74348E3D}" destId="{CB460CD4-8724-EA4D-9689-CF20B06B4820}" srcOrd="0" destOrd="0" presId="urn:microsoft.com/office/officeart/2005/8/layout/hierarchy1"/>
    <dgm:cxn modelId="{2578B01F-B590-D34E-9995-13E2CE6A9D1B}" type="presParOf" srcId="{44E4EEE9-6E6D-D445-96E4-992A74348E3D}" destId="{E9B4E0B0-ABEC-5142-9A88-22961B116F14}" srcOrd="1" destOrd="0" presId="urn:microsoft.com/office/officeart/2005/8/layout/hierarchy1"/>
    <dgm:cxn modelId="{295D51C6-86F0-5541-B45C-947BD4C69E93}" type="presParOf" srcId="{324ABE12-4450-3545-B05B-5AF972265CF5}" destId="{B3789610-2E99-7D46-AD31-BB1D9AA6CA3B}"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415E6DC-9DD3-0642-8F56-4D3A35AC3679}"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A8FC406A-186F-1F4E-96E1-B75D1DA97A3E}">
      <dgm:prSet phldrT="[Text]" custT="1"/>
      <dgm:spPr>
        <a:solidFill>
          <a:schemeClr val="accent4">
            <a:lumMod val="50000"/>
          </a:schemeClr>
        </a:solidFill>
      </dgm:spPr>
      <dgm:t>
        <a:bodyPr/>
        <a:lstStyle/>
        <a:p>
          <a:r>
            <a:rPr lang="en-NZ" sz="2400" b="1" i="1" dirty="0"/>
            <a:t>External Fragmentation</a:t>
          </a:r>
          <a:endParaRPr lang="en-US" sz="2400" i="1" dirty="0"/>
        </a:p>
      </dgm:t>
    </dgm:pt>
    <dgm:pt modelId="{B9BAEC2A-811B-E043-BE36-55D3BF1C400B}" type="parTrans" cxnId="{323C02D0-485E-C844-826A-5AD40BCC539B}">
      <dgm:prSet/>
      <dgm:spPr/>
      <dgm:t>
        <a:bodyPr/>
        <a:lstStyle/>
        <a:p>
          <a:endParaRPr lang="en-US"/>
        </a:p>
      </dgm:t>
    </dgm:pt>
    <dgm:pt modelId="{069E2B24-96F3-4441-BD96-3D16DD060F92}" type="sibTrans" cxnId="{323C02D0-485E-C844-826A-5AD40BCC539B}">
      <dgm:prSet/>
      <dgm:spPr/>
      <dgm:t>
        <a:bodyPr/>
        <a:lstStyle/>
        <a:p>
          <a:endParaRPr lang="en-US"/>
        </a:p>
      </dgm:t>
    </dgm:pt>
    <dgm:pt modelId="{5BA5D4FC-88C5-694E-8CDC-E40067D32F36}">
      <dgm:prSet/>
      <dgm:spPr/>
      <dgm:t>
        <a:bodyPr/>
        <a:lstStyle/>
        <a:p>
          <a:r>
            <a:rPr lang="en-NZ"/>
            <a:t>memory becomes more and more fragmented</a:t>
          </a:r>
          <a:endParaRPr lang="en-NZ" dirty="0"/>
        </a:p>
      </dgm:t>
    </dgm:pt>
    <dgm:pt modelId="{BE21D45E-8E33-BE49-9CD3-E872A85A0F27}" type="parTrans" cxnId="{410958C4-C3C2-DC46-9444-FF2FD680407F}">
      <dgm:prSet/>
      <dgm:spPr/>
      <dgm:t>
        <a:bodyPr/>
        <a:lstStyle/>
        <a:p>
          <a:endParaRPr lang="en-US"/>
        </a:p>
      </dgm:t>
    </dgm:pt>
    <dgm:pt modelId="{4A925EC8-FAD4-1F41-BE7E-6151B0FC3B95}" type="sibTrans" cxnId="{410958C4-C3C2-DC46-9444-FF2FD680407F}">
      <dgm:prSet/>
      <dgm:spPr/>
      <dgm:t>
        <a:bodyPr/>
        <a:lstStyle/>
        <a:p>
          <a:endParaRPr lang="en-US"/>
        </a:p>
      </dgm:t>
    </dgm:pt>
    <dgm:pt modelId="{0DE43C26-AC74-1A44-B67B-60C02D894803}">
      <dgm:prSet/>
      <dgm:spPr/>
      <dgm:t>
        <a:bodyPr/>
        <a:lstStyle/>
        <a:p>
          <a:r>
            <a:rPr lang="en-NZ"/>
            <a:t>memory utilization declines</a:t>
          </a:r>
          <a:endParaRPr lang="en-NZ" dirty="0"/>
        </a:p>
      </dgm:t>
    </dgm:pt>
    <dgm:pt modelId="{EC4A4E06-99F8-534D-B5B7-835F30950EC2}" type="parTrans" cxnId="{C952E714-6445-174D-AC31-2A6A9C201910}">
      <dgm:prSet/>
      <dgm:spPr/>
      <dgm:t>
        <a:bodyPr/>
        <a:lstStyle/>
        <a:p>
          <a:endParaRPr lang="en-US"/>
        </a:p>
      </dgm:t>
    </dgm:pt>
    <dgm:pt modelId="{6D348F38-F0EB-9747-8C19-09C132882EFA}" type="sibTrans" cxnId="{C952E714-6445-174D-AC31-2A6A9C201910}">
      <dgm:prSet/>
      <dgm:spPr/>
      <dgm:t>
        <a:bodyPr/>
        <a:lstStyle/>
        <a:p>
          <a:endParaRPr lang="en-US"/>
        </a:p>
      </dgm:t>
    </dgm:pt>
    <dgm:pt modelId="{CFA757D8-5B4A-8344-844C-50374B0AA18A}">
      <dgm:prSet custT="1"/>
      <dgm:spPr/>
      <dgm:t>
        <a:bodyPr/>
        <a:lstStyle/>
        <a:p>
          <a:r>
            <a:rPr lang="en-NZ" sz="2400" b="1" i="1" dirty="0"/>
            <a:t>Compaction</a:t>
          </a:r>
        </a:p>
      </dgm:t>
    </dgm:pt>
    <dgm:pt modelId="{7F660C03-3DC7-E241-A21F-3D5B9DAD5D7C}" type="parTrans" cxnId="{6D9D9B5C-A232-8A40-805D-6696A698083D}">
      <dgm:prSet/>
      <dgm:spPr/>
      <dgm:t>
        <a:bodyPr/>
        <a:lstStyle/>
        <a:p>
          <a:endParaRPr lang="en-US"/>
        </a:p>
      </dgm:t>
    </dgm:pt>
    <dgm:pt modelId="{3F71CEBA-59C4-F14E-AEE9-C080D58E3B16}" type="sibTrans" cxnId="{6D9D9B5C-A232-8A40-805D-6696A698083D}">
      <dgm:prSet/>
      <dgm:spPr/>
      <dgm:t>
        <a:bodyPr/>
        <a:lstStyle/>
        <a:p>
          <a:endParaRPr lang="en-US"/>
        </a:p>
      </dgm:t>
    </dgm:pt>
    <dgm:pt modelId="{9E92A628-284B-0A4D-AF4A-A3E0CC5903D2}">
      <dgm:prSet/>
      <dgm:spPr/>
      <dgm:t>
        <a:bodyPr/>
        <a:lstStyle/>
        <a:p>
          <a:r>
            <a:rPr lang="en-NZ"/>
            <a:t>technique for overcoming external fragmentation</a:t>
          </a:r>
          <a:endParaRPr lang="en-NZ" dirty="0"/>
        </a:p>
      </dgm:t>
    </dgm:pt>
    <dgm:pt modelId="{B89EFC6D-CA01-B246-9B67-51FE6E8B70BB}" type="parTrans" cxnId="{7C568239-7FB0-D14E-87D1-6C892FE9DC01}">
      <dgm:prSet/>
      <dgm:spPr/>
      <dgm:t>
        <a:bodyPr/>
        <a:lstStyle/>
        <a:p>
          <a:endParaRPr lang="en-US"/>
        </a:p>
      </dgm:t>
    </dgm:pt>
    <dgm:pt modelId="{8D5778BE-8C45-DA4F-921B-A6D186764DDD}" type="sibTrans" cxnId="{7C568239-7FB0-D14E-87D1-6C892FE9DC01}">
      <dgm:prSet/>
      <dgm:spPr/>
      <dgm:t>
        <a:bodyPr/>
        <a:lstStyle/>
        <a:p>
          <a:endParaRPr lang="en-US"/>
        </a:p>
      </dgm:t>
    </dgm:pt>
    <dgm:pt modelId="{EDD23089-E723-7049-A4E0-037CCF801387}">
      <dgm:prSet/>
      <dgm:spPr/>
      <dgm:t>
        <a:bodyPr/>
        <a:lstStyle/>
        <a:p>
          <a:r>
            <a:rPr lang="en-NZ"/>
            <a:t>OS shifts processes so that they are contiguous</a:t>
          </a:r>
          <a:endParaRPr lang="en-NZ" dirty="0"/>
        </a:p>
      </dgm:t>
    </dgm:pt>
    <dgm:pt modelId="{D860A06A-1E31-FE4E-B9C6-5BD39D3D7A02}" type="parTrans" cxnId="{B8C69940-40E4-D547-A640-55444ED6BFBF}">
      <dgm:prSet/>
      <dgm:spPr/>
      <dgm:t>
        <a:bodyPr/>
        <a:lstStyle/>
        <a:p>
          <a:endParaRPr lang="en-US"/>
        </a:p>
      </dgm:t>
    </dgm:pt>
    <dgm:pt modelId="{C8A50628-5281-E64F-AC9D-907DA8DC9C2E}" type="sibTrans" cxnId="{B8C69940-40E4-D547-A640-55444ED6BFBF}">
      <dgm:prSet/>
      <dgm:spPr/>
      <dgm:t>
        <a:bodyPr/>
        <a:lstStyle/>
        <a:p>
          <a:endParaRPr lang="en-US"/>
        </a:p>
      </dgm:t>
    </dgm:pt>
    <dgm:pt modelId="{925627CF-133A-A441-9898-007F531F1EB1}">
      <dgm:prSet/>
      <dgm:spPr/>
      <dgm:t>
        <a:bodyPr/>
        <a:lstStyle/>
        <a:p>
          <a:r>
            <a:rPr lang="en-NZ"/>
            <a:t>free memory is together in one block</a:t>
          </a:r>
          <a:endParaRPr lang="en-NZ" dirty="0"/>
        </a:p>
      </dgm:t>
    </dgm:pt>
    <dgm:pt modelId="{47141E66-9456-EC45-88EE-857DEAA9E1EE}" type="parTrans" cxnId="{3AE4CC3A-EB4A-B841-8E4D-F9BE839FDA41}">
      <dgm:prSet/>
      <dgm:spPr/>
      <dgm:t>
        <a:bodyPr/>
        <a:lstStyle/>
        <a:p>
          <a:endParaRPr lang="en-US"/>
        </a:p>
      </dgm:t>
    </dgm:pt>
    <dgm:pt modelId="{DF6EE691-4A99-2A4D-9960-054228732BAD}" type="sibTrans" cxnId="{3AE4CC3A-EB4A-B841-8E4D-F9BE839FDA41}">
      <dgm:prSet/>
      <dgm:spPr/>
      <dgm:t>
        <a:bodyPr/>
        <a:lstStyle/>
        <a:p>
          <a:endParaRPr lang="en-US"/>
        </a:p>
      </dgm:t>
    </dgm:pt>
    <dgm:pt modelId="{C656067F-6308-0946-9224-7579E500CA19}">
      <dgm:prSet/>
      <dgm:spPr/>
      <dgm:t>
        <a:bodyPr/>
        <a:lstStyle/>
        <a:p>
          <a:r>
            <a:rPr lang="en-NZ"/>
            <a:t>time consuming and wastes CPU time</a:t>
          </a:r>
          <a:endParaRPr lang="en-NZ" dirty="0"/>
        </a:p>
      </dgm:t>
    </dgm:pt>
    <dgm:pt modelId="{62D77508-CA8A-5841-AD30-C46EEE506234}" type="parTrans" cxnId="{77546FE6-4B29-8848-87C8-93AFD1BF7CBD}">
      <dgm:prSet/>
      <dgm:spPr/>
      <dgm:t>
        <a:bodyPr/>
        <a:lstStyle/>
        <a:p>
          <a:endParaRPr lang="en-US"/>
        </a:p>
      </dgm:t>
    </dgm:pt>
    <dgm:pt modelId="{CA49C167-079C-B94F-B053-F5BD6714EFBD}" type="sibTrans" cxnId="{77546FE6-4B29-8848-87C8-93AFD1BF7CBD}">
      <dgm:prSet/>
      <dgm:spPr/>
      <dgm:t>
        <a:bodyPr/>
        <a:lstStyle/>
        <a:p>
          <a:endParaRPr lang="en-US"/>
        </a:p>
      </dgm:t>
    </dgm:pt>
    <dgm:pt modelId="{E79C046D-0599-6A47-B1B9-B02280642755}" type="pres">
      <dgm:prSet presAssocID="{1415E6DC-9DD3-0642-8F56-4D3A35AC3679}" presName="linear" presStyleCnt="0">
        <dgm:presLayoutVars>
          <dgm:dir/>
          <dgm:animLvl val="lvl"/>
          <dgm:resizeHandles val="exact"/>
        </dgm:presLayoutVars>
      </dgm:prSet>
      <dgm:spPr/>
    </dgm:pt>
    <dgm:pt modelId="{ED7E813C-A380-6940-A7FA-2307673F69C1}" type="pres">
      <dgm:prSet presAssocID="{A8FC406A-186F-1F4E-96E1-B75D1DA97A3E}" presName="parentLin" presStyleCnt="0"/>
      <dgm:spPr/>
    </dgm:pt>
    <dgm:pt modelId="{AC90047A-3CB1-3B4B-9B72-82F93A5A00C5}" type="pres">
      <dgm:prSet presAssocID="{A8FC406A-186F-1F4E-96E1-B75D1DA97A3E}" presName="parentLeftMargin" presStyleLbl="node1" presStyleIdx="0" presStyleCnt="2"/>
      <dgm:spPr/>
    </dgm:pt>
    <dgm:pt modelId="{E3F070B9-6919-BD46-80FE-BAF6D53D2FD9}" type="pres">
      <dgm:prSet presAssocID="{A8FC406A-186F-1F4E-96E1-B75D1DA97A3E}" presName="parentText" presStyleLbl="node1" presStyleIdx="0" presStyleCnt="2">
        <dgm:presLayoutVars>
          <dgm:chMax val="0"/>
          <dgm:bulletEnabled val="1"/>
        </dgm:presLayoutVars>
      </dgm:prSet>
      <dgm:spPr/>
    </dgm:pt>
    <dgm:pt modelId="{E32CE21C-9557-E74A-B2E0-1B6259F7BD19}" type="pres">
      <dgm:prSet presAssocID="{A8FC406A-186F-1F4E-96E1-B75D1DA97A3E}" presName="negativeSpace" presStyleCnt="0"/>
      <dgm:spPr/>
    </dgm:pt>
    <dgm:pt modelId="{AF2C0A7A-BF2F-CB4A-AE7D-877EB948880B}" type="pres">
      <dgm:prSet presAssocID="{A8FC406A-186F-1F4E-96E1-B75D1DA97A3E}" presName="childText" presStyleLbl="conFgAcc1" presStyleIdx="0" presStyleCnt="2">
        <dgm:presLayoutVars>
          <dgm:bulletEnabled val="1"/>
        </dgm:presLayoutVars>
      </dgm:prSet>
      <dgm:spPr/>
    </dgm:pt>
    <dgm:pt modelId="{96E8863F-22C9-504D-B9E7-EA2755E72788}" type="pres">
      <dgm:prSet presAssocID="{069E2B24-96F3-4441-BD96-3D16DD060F92}" presName="spaceBetweenRectangles" presStyleCnt="0"/>
      <dgm:spPr/>
    </dgm:pt>
    <dgm:pt modelId="{C4D9122B-CCB5-A84D-8022-84A14CD7D0E7}" type="pres">
      <dgm:prSet presAssocID="{CFA757D8-5B4A-8344-844C-50374B0AA18A}" presName="parentLin" presStyleCnt="0"/>
      <dgm:spPr/>
    </dgm:pt>
    <dgm:pt modelId="{78569E4E-ADA1-6D4A-B56A-01059BBD2C01}" type="pres">
      <dgm:prSet presAssocID="{CFA757D8-5B4A-8344-844C-50374B0AA18A}" presName="parentLeftMargin" presStyleLbl="node1" presStyleIdx="0" presStyleCnt="2"/>
      <dgm:spPr/>
    </dgm:pt>
    <dgm:pt modelId="{6ED051DD-8E06-014D-A56B-AECC9C897179}" type="pres">
      <dgm:prSet presAssocID="{CFA757D8-5B4A-8344-844C-50374B0AA18A}" presName="parentText" presStyleLbl="node1" presStyleIdx="1" presStyleCnt="2">
        <dgm:presLayoutVars>
          <dgm:chMax val="0"/>
          <dgm:bulletEnabled val="1"/>
        </dgm:presLayoutVars>
      </dgm:prSet>
      <dgm:spPr/>
    </dgm:pt>
    <dgm:pt modelId="{8B1C0B79-89BC-FB49-9028-CAA73E45B55A}" type="pres">
      <dgm:prSet presAssocID="{CFA757D8-5B4A-8344-844C-50374B0AA18A}" presName="negativeSpace" presStyleCnt="0"/>
      <dgm:spPr/>
    </dgm:pt>
    <dgm:pt modelId="{4B6B4C5E-5223-0843-B5C6-1C59E8EA8399}" type="pres">
      <dgm:prSet presAssocID="{CFA757D8-5B4A-8344-844C-50374B0AA18A}" presName="childText" presStyleLbl="conFgAcc1" presStyleIdx="1" presStyleCnt="2">
        <dgm:presLayoutVars>
          <dgm:bulletEnabled val="1"/>
        </dgm:presLayoutVars>
      </dgm:prSet>
      <dgm:spPr/>
    </dgm:pt>
  </dgm:ptLst>
  <dgm:cxnLst>
    <dgm:cxn modelId="{A3BF8D00-71A0-FD46-A722-96E5F874B9BA}" type="presOf" srcId="{A8FC406A-186F-1F4E-96E1-B75D1DA97A3E}" destId="{E3F070B9-6919-BD46-80FE-BAF6D53D2FD9}" srcOrd="1" destOrd="0" presId="urn:microsoft.com/office/officeart/2005/8/layout/list1"/>
    <dgm:cxn modelId="{ABFFF813-24B3-8F4A-A499-07947C93F2B2}" type="presOf" srcId="{1415E6DC-9DD3-0642-8F56-4D3A35AC3679}" destId="{E79C046D-0599-6A47-B1B9-B02280642755}" srcOrd="0" destOrd="0" presId="urn:microsoft.com/office/officeart/2005/8/layout/list1"/>
    <dgm:cxn modelId="{C952E714-6445-174D-AC31-2A6A9C201910}" srcId="{A8FC406A-186F-1F4E-96E1-B75D1DA97A3E}" destId="{0DE43C26-AC74-1A44-B67B-60C02D894803}" srcOrd="1" destOrd="0" parTransId="{EC4A4E06-99F8-534D-B5B7-835F30950EC2}" sibTransId="{6D348F38-F0EB-9747-8C19-09C132882EFA}"/>
    <dgm:cxn modelId="{18891A17-0924-D94D-9E94-DC76F2AFCA95}" type="presOf" srcId="{CFA757D8-5B4A-8344-844C-50374B0AA18A}" destId="{78569E4E-ADA1-6D4A-B56A-01059BBD2C01}" srcOrd="0" destOrd="0" presId="urn:microsoft.com/office/officeart/2005/8/layout/list1"/>
    <dgm:cxn modelId="{7C568239-7FB0-D14E-87D1-6C892FE9DC01}" srcId="{CFA757D8-5B4A-8344-844C-50374B0AA18A}" destId="{9E92A628-284B-0A4D-AF4A-A3E0CC5903D2}" srcOrd="0" destOrd="0" parTransId="{B89EFC6D-CA01-B246-9B67-51FE6E8B70BB}" sibTransId="{8D5778BE-8C45-DA4F-921B-A6D186764DDD}"/>
    <dgm:cxn modelId="{3AE4CC3A-EB4A-B841-8E4D-F9BE839FDA41}" srcId="{CFA757D8-5B4A-8344-844C-50374B0AA18A}" destId="{925627CF-133A-A441-9898-007F531F1EB1}" srcOrd="2" destOrd="0" parTransId="{47141E66-9456-EC45-88EE-857DEAA9E1EE}" sibTransId="{DF6EE691-4A99-2A4D-9960-054228732BAD}"/>
    <dgm:cxn modelId="{7AA5633D-27A6-2542-BA5D-BD0F3D48967E}" type="presOf" srcId="{CFA757D8-5B4A-8344-844C-50374B0AA18A}" destId="{6ED051DD-8E06-014D-A56B-AECC9C897179}" srcOrd="1" destOrd="0" presId="urn:microsoft.com/office/officeart/2005/8/layout/list1"/>
    <dgm:cxn modelId="{B8C69940-40E4-D547-A640-55444ED6BFBF}" srcId="{CFA757D8-5B4A-8344-844C-50374B0AA18A}" destId="{EDD23089-E723-7049-A4E0-037CCF801387}" srcOrd="1" destOrd="0" parTransId="{D860A06A-1E31-FE4E-B9C6-5BD39D3D7A02}" sibTransId="{C8A50628-5281-E64F-AC9D-907DA8DC9C2E}"/>
    <dgm:cxn modelId="{6D9D9B5C-A232-8A40-805D-6696A698083D}" srcId="{1415E6DC-9DD3-0642-8F56-4D3A35AC3679}" destId="{CFA757D8-5B4A-8344-844C-50374B0AA18A}" srcOrd="1" destOrd="0" parTransId="{7F660C03-3DC7-E241-A21F-3D5B9DAD5D7C}" sibTransId="{3F71CEBA-59C4-F14E-AEE9-C080D58E3B16}"/>
    <dgm:cxn modelId="{AC52A857-1045-D547-AAEC-467B1D6175AE}" type="presOf" srcId="{5BA5D4FC-88C5-694E-8CDC-E40067D32F36}" destId="{AF2C0A7A-BF2F-CB4A-AE7D-877EB948880B}" srcOrd="0" destOrd="0" presId="urn:microsoft.com/office/officeart/2005/8/layout/list1"/>
    <dgm:cxn modelId="{91626B90-22E5-EE47-B3C0-E1DAC5626635}" type="presOf" srcId="{EDD23089-E723-7049-A4E0-037CCF801387}" destId="{4B6B4C5E-5223-0843-B5C6-1C59E8EA8399}" srcOrd="0" destOrd="1" presId="urn:microsoft.com/office/officeart/2005/8/layout/list1"/>
    <dgm:cxn modelId="{5C11A3B7-9566-0848-A98D-30CB1C2B5091}" type="presOf" srcId="{C656067F-6308-0946-9224-7579E500CA19}" destId="{4B6B4C5E-5223-0843-B5C6-1C59E8EA8399}" srcOrd="0" destOrd="3" presId="urn:microsoft.com/office/officeart/2005/8/layout/list1"/>
    <dgm:cxn modelId="{C114D3C1-627F-A246-AACD-328C92F4C7B3}" type="presOf" srcId="{925627CF-133A-A441-9898-007F531F1EB1}" destId="{4B6B4C5E-5223-0843-B5C6-1C59E8EA8399}" srcOrd="0" destOrd="2" presId="urn:microsoft.com/office/officeart/2005/8/layout/list1"/>
    <dgm:cxn modelId="{410958C4-C3C2-DC46-9444-FF2FD680407F}" srcId="{A8FC406A-186F-1F4E-96E1-B75D1DA97A3E}" destId="{5BA5D4FC-88C5-694E-8CDC-E40067D32F36}" srcOrd="0" destOrd="0" parTransId="{BE21D45E-8E33-BE49-9CD3-E872A85A0F27}" sibTransId="{4A925EC8-FAD4-1F41-BE7E-6151B0FC3B95}"/>
    <dgm:cxn modelId="{9286BAC5-53B7-AA47-B6FB-4B5D9AC4E481}" type="presOf" srcId="{A8FC406A-186F-1F4E-96E1-B75D1DA97A3E}" destId="{AC90047A-3CB1-3B4B-9B72-82F93A5A00C5}" srcOrd="0" destOrd="0" presId="urn:microsoft.com/office/officeart/2005/8/layout/list1"/>
    <dgm:cxn modelId="{323C02D0-485E-C844-826A-5AD40BCC539B}" srcId="{1415E6DC-9DD3-0642-8F56-4D3A35AC3679}" destId="{A8FC406A-186F-1F4E-96E1-B75D1DA97A3E}" srcOrd="0" destOrd="0" parTransId="{B9BAEC2A-811B-E043-BE36-55D3BF1C400B}" sibTransId="{069E2B24-96F3-4441-BD96-3D16DD060F92}"/>
    <dgm:cxn modelId="{77546FE6-4B29-8848-87C8-93AFD1BF7CBD}" srcId="{CFA757D8-5B4A-8344-844C-50374B0AA18A}" destId="{C656067F-6308-0946-9224-7579E500CA19}" srcOrd="3" destOrd="0" parTransId="{62D77508-CA8A-5841-AD30-C46EEE506234}" sibTransId="{CA49C167-079C-B94F-B053-F5BD6714EFBD}"/>
    <dgm:cxn modelId="{136194E7-4526-7548-9470-6704CAD2B02D}" type="presOf" srcId="{0DE43C26-AC74-1A44-B67B-60C02D894803}" destId="{AF2C0A7A-BF2F-CB4A-AE7D-877EB948880B}" srcOrd="0" destOrd="1" presId="urn:microsoft.com/office/officeart/2005/8/layout/list1"/>
    <dgm:cxn modelId="{DDAEEFFC-E8DF-A948-9186-35E0044B0AAE}" type="presOf" srcId="{9E92A628-284B-0A4D-AF4A-A3E0CC5903D2}" destId="{4B6B4C5E-5223-0843-B5C6-1C59E8EA8399}" srcOrd="0" destOrd="0" presId="urn:microsoft.com/office/officeart/2005/8/layout/list1"/>
    <dgm:cxn modelId="{42D98CD7-181B-5B47-9A07-291305EE740E}" type="presParOf" srcId="{E79C046D-0599-6A47-B1B9-B02280642755}" destId="{ED7E813C-A380-6940-A7FA-2307673F69C1}" srcOrd="0" destOrd="0" presId="urn:microsoft.com/office/officeart/2005/8/layout/list1"/>
    <dgm:cxn modelId="{1EC5A249-1A3B-E945-B39E-BAD77F977A84}" type="presParOf" srcId="{ED7E813C-A380-6940-A7FA-2307673F69C1}" destId="{AC90047A-3CB1-3B4B-9B72-82F93A5A00C5}" srcOrd="0" destOrd="0" presId="urn:microsoft.com/office/officeart/2005/8/layout/list1"/>
    <dgm:cxn modelId="{D973F049-1D05-D343-9894-368C4F493D68}" type="presParOf" srcId="{ED7E813C-A380-6940-A7FA-2307673F69C1}" destId="{E3F070B9-6919-BD46-80FE-BAF6D53D2FD9}" srcOrd="1" destOrd="0" presId="urn:microsoft.com/office/officeart/2005/8/layout/list1"/>
    <dgm:cxn modelId="{028EA59D-30BD-A84D-9D51-F85BEE5B4BFC}" type="presParOf" srcId="{E79C046D-0599-6A47-B1B9-B02280642755}" destId="{E32CE21C-9557-E74A-B2E0-1B6259F7BD19}" srcOrd="1" destOrd="0" presId="urn:microsoft.com/office/officeart/2005/8/layout/list1"/>
    <dgm:cxn modelId="{1222147B-4C32-6743-98F8-F517E73E4C40}" type="presParOf" srcId="{E79C046D-0599-6A47-B1B9-B02280642755}" destId="{AF2C0A7A-BF2F-CB4A-AE7D-877EB948880B}" srcOrd="2" destOrd="0" presId="urn:microsoft.com/office/officeart/2005/8/layout/list1"/>
    <dgm:cxn modelId="{72B090D5-00B7-DC43-A559-CC52924EE92C}" type="presParOf" srcId="{E79C046D-0599-6A47-B1B9-B02280642755}" destId="{96E8863F-22C9-504D-B9E7-EA2755E72788}" srcOrd="3" destOrd="0" presId="urn:microsoft.com/office/officeart/2005/8/layout/list1"/>
    <dgm:cxn modelId="{183DC1F9-77A4-EB4D-A7A4-1A6C68394A5A}" type="presParOf" srcId="{E79C046D-0599-6A47-B1B9-B02280642755}" destId="{C4D9122B-CCB5-A84D-8022-84A14CD7D0E7}" srcOrd="4" destOrd="0" presId="urn:microsoft.com/office/officeart/2005/8/layout/list1"/>
    <dgm:cxn modelId="{9463DFB9-A996-4647-AE6D-072DD477D640}" type="presParOf" srcId="{C4D9122B-CCB5-A84D-8022-84A14CD7D0E7}" destId="{78569E4E-ADA1-6D4A-B56A-01059BBD2C01}" srcOrd="0" destOrd="0" presId="urn:microsoft.com/office/officeart/2005/8/layout/list1"/>
    <dgm:cxn modelId="{1CFDCE86-68BB-1A48-AB8B-A73B13D61643}" type="presParOf" srcId="{C4D9122B-CCB5-A84D-8022-84A14CD7D0E7}" destId="{6ED051DD-8E06-014D-A56B-AECC9C897179}" srcOrd="1" destOrd="0" presId="urn:microsoft.com/office/officeart/2005/8/layout/list1"/>
    <dgm:cxn modelId="{175FC22E-E25A-034C-ABFC-3BF4FBA64F71}" type="presParOf" srcId="{E79C046D-0599-6A47-B1B9-B02280642755}" destId="{8B1C0B79-89BC-FB49-9028-CAA73E45B55A}" srcOrd="5" destOrd="0" presId="urn:microsoft.com/office/officeart/2005/8/layout/list1"/>
    <dgm:cxn modelId="{003230FE-53E3-9C4E-BB81-50F2E927A41C}" type="presParOf" srcId="{E79C046D-0599-6A47-B1B9-B02280642755}" destId="{4B6B4C5E-5223-0843-B5C6-1C59E8EA8399}"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C1194C7-6483-D74A-B3EE-E7C2B2CD1382}"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67F380B8-4A46-A940-A35E-A8E090324DD2}">
      <dgm:prSet phldrT="[Text]"/>
      <dgm:spPr>
        <a:solidFill>
          <a:schemeClr val="accent6">
            <a:lumMod val="50000"/>
          </a:schemeClr>
        </a:solidFill>
        <a:ln>
          <a:solidFill>
            <a:schemeClr val="accent6">
              <a:lumMod val="75000"/>
            </a:schemeClr>
          </a:solidFill>
        </a:ln>
      </dgm:spPr>
      <dgm:t>
        <a:bodyPr/>
        <a:lstStyle/>
        <a:p>
          <a:r>
            <a:rPr lang="en-US" b="1" dirty="0"/>
            <a:t>Best-fit</a:t>
          </a:r>
          <a:endParaRPr lang="en-US" dirty="0"/>
        </a:p>
      </dgm:t>
    </dgm:pt>
    <dgm:pt modelId="{DCDEEE8D-7E75-5443-B673-0CE1E4FDA5E4}" type="parTrans" cxnId="{7F06866E-8471-9A48-BE1B-D1139AE27F24}">
      <dgm:prSet/>
      <dgm:spPr/>
      <dgm:t>
        <a:bodyPr/>
        <a:lstStyle/>
        <a:p>
          <a:endParaRPr lang="en-US"/>
        </a:p>
      </dgm:t>
    </dgm:pt>
    <dgm:pt modelId="{B5CF5095-BF26-D648-B0A9-81F01ABABF07}" type="sibTrans" cxnId="{7F06866E-8471-9A48-BE1B-D1139AE27F24}">
      <dgm:prSet/>
      <dgm:spPr/>
      <dgm:t>
        <a:bodyPr/>
        <a:lstStyle/>
        <a:p>
          <a:endParaRPr lang="en-US"/>
        </a:p>
      </dgm:t>
    </dgm:pt>
    <dgm:pt modelId="{58147522-5139-114D-8051-5D74E57ED8DC}">
      <dgm:prSet/>
      <dgm:spPr/>
      <dgm:t>
        <a:bodyPr/>
        <a:lstStyle/>
        <a:p>
          <a:r>
            <a:rPr lang="en-US" dirty="0"/>
            <a:t>chooses the block that is closest in size to the request</a:t>
          </a:r>
        </a:p>
      </dgm:t>
    </dgm:pt>
    <dgm:pt modelId="{DDA5EE8E-C3C3-5A47-B7EC-E385293B5E08}" type="parTrans" cxnId="{4C725DE3-3289-8946-9390-0B065E2AD422}">
      <dgm:prSet/>
      <dgm:spPr/>
      <dgm:t>
        <a:bodyPr/>
        <a:lstStyle/>
        <a:p>
          <a:endParaRPr lang="en-US"/>
        </a:p>
      </dgm:t>
    </dgm:pt>
    <dgm:pt modelId="{6E9268CF-ED15-324D-8D31-B6967B1F94C4}" type="sibTrans" cxnId="{4C725DE3-3289-8946-9390-0B065E2AD422}">
      <dgm:prSet/>
      <dgm:spPr/>
      <dgm:t>
        <a:bodyPr/>
        <a:lstStyle/>
        <a:p>
          <a:endParaRPr lang="en-US"/>
        </a:p>
      </dgm:t>
    </dgm:pt>
    <dgm:pt modelId="{DB9EFF8C-196F-5247-B65F-3BF933E46C11}">
      <dgm:prSet/>
      <dgm:spPr>
        <a:solidFill>
          <a:schemeClr val="accent4">
            <a:lumMod val="50000"/>
          </a:schemeClr>
        </a:solidFill>
        <a:ln>
          <a:solidFill>
            <a:schemeClr val="accent4">
              <a:lumMod val="50000"/>
            </a:schemeClr>
          </a:solidFill>
        </a:ln>
      </dgm:spPr>
      <dgm:t>
        <a:bodyPr/>
        <a:lstStyle/>
        <a:p>
          <a:r>
            <a:rPr lang="en-US" b="1" dirty="0"/>
            <a:t>First-fit</a:t>
          </a:r>
        </a:p>
      </dgm:t>
    </dgm:pt>
    <dgm:pt modelId="{6654E155-8899-0846-9A7A-E07F2DF62F08}" type="parTrans" cxnId="{2B5EC8A2-166E-D247-8591-8D5C2C718D5A}">
      <dgm:prSet/>
      <dgm:spPr/>
      <dgm:t>
        <a:bodyPr/>
        <a:lstStyle/>
        <a:p>
          <a:endParaRPr lang="en-US"/>
        </a:p>
      </dgm:t>
    </dgm:pt>
    <dgm:pt modelId="{3DE89FF0-3342-C74B-BA12-A92C830754F3}" type="sibTrans" cxnId="{2B5EC8A2-166E-D247-8591-8D5C2C718D5A}">
      <dgm:prSet/>
      <dgm:spPr/>
      <dgm:t>
        <a:bodyPr/>
        <a:lstStyle/>
        <a:p>
          <a:endParaRPr lang="en-US"/>
        </a:p>
      </dgm:t>
    </dgm:pt>
    <dgm:pt modelId="{E2ADB8C5-0282-CE4E-87DC-7D9DB70729D2}">
      <dgm:prSet/>
      <dgm:spPr/>
      <dgm:t>
        <a:bodyPr/>
        <a:lstStyle/>
        <a:p>
          <a:r>
            <a:rPr lang="en-US" dirty="0"/>
            <a:t>begins to scan memory from the beginning and chooses the first available block that is large enough </a:t>
          </a:r>
        </a:p>
      </dgm:t>
    </dgm:pt>
    <dgm:pt modelId="{0A229719-E780-C449-950C-B0CE4CEA3D5B}" type="parTrans" cxnId="{E60ED3ED-F5FB-3046-9789-552FCB24B45C}">
      <dgm:prSet/>
      <dgm:spPr/>
      <dgm:t>
        <a:bodyPr/>
        <a:lstStyle/>
        <a:p>
          <a:endParaRPr lang="en-US"/>
        </a:p>
      </dgm:t>
    </dgm:pt>
    <dgm:pt modelId="{D50F23DB-9898-2342-99A8-D76576ED5BD1}" type="sibTrans" cxnId="{E60ED3ED-F5FB-3046-9789-552FCB24B45C}">
      <dgm:prSet/>
      <dgm:spPr/>
      <dgm:t>
        <a:bodyPr/>
        <a:lstStyle/>
        <a:p>
          <a:endParaRPr lang="en-US"/>
        </a:p>
      </dgm:t>
    </dgm:pt>
    <dgm:pt modelId="{46AD3565-A1BA-784F-AD34-7E4BF4E37363}">
      <dgm:prSet/>
      <dgm:spPr>
        <a:solidFill>
          <a:schemeClr val="accent2">
            <a:lumMod val="50000"/>
          </a:schemeClr>
        </a:solidFill>
        <a:ln>
          <a:solidFill>
            <a:schemeClr val="accent2">
              <a:lumMod val="50000"/>
            </a:schemeClr>
          </a:solidFill>
        </a:ln>
      </dgm:spPr>
      <dgm:t>
        <a:bodyPr/>
        <a:lstStyle/>
        <a:p>
          <a:r>
            <a:rPr lang="en-US" b="1" dirty="0"/>
            <a:t>Next-fit</a:t>
          </a:r>
        </a:p>
      </dgm:t>
    </dgm:pt>
    <dgm:pt modelId="{AF95370A-D1BB-744D-ABB3-5CAAA82ECE28}" type="parTrans" cxnId="{F25C1679-0DE1-6242-A25A-396C202B5060}">
      <dgm:prSet/>
      <dgm:spPr/>
      <dgm:t>
        <a:bodyPr/>
        <a:lstStyle/>
        <a:p>
          <a:endParaRPr lang="en-US"/>
        </a:p>
      </dgm:t>
    </dgm:pt>
    <dgm:pt modelId="{DEE5CC9A-6ED0-744B-852F-450F8A409ACD}" type="sibTrans" cxnId="{F25C1679-0DE1-6242-A25A-396C202B5060}">
      <dgm:prSet/>
      <dgm:spPr/>
      <dgm:t>
        <a:bodyPr/>
        <a:lstStyle/>
        <a:p>
          <a:endParaRPr lang="en-US"/>
        </a:p>
      </dgm:t>
    </dgm:pt>
    <dgm:pt modelId="{4F95C141-C594-A941-B7CC-A6387EF3D1A9}">
      <dgm:prSet/>
      <dgm:spPr/>
      <dgm:t>
        <a:bodyPr/>
        <a:lstStyle/>
        <a:p>
          <a:r>
            <a:rPr lang="en-US" dirty="0"/>
            <a:t>begins to scan memory from the location of the last placement and chooses the next available block that is large enough</a:t>
          </a:r>
        </a:p>
      </dgm:t>
    </dgm:pt>
    <dgm:pt modelId="{3939E570-EBCF-DD48-9709-D33AA4E5685A}" type="parTrans" cxnId="{E7DAB58A-1C69-DA4B-B3B1-255CC6148713}">
      <dgm:prSet/>
      <dgm:spPr/>
      <dgm:t>
        <a:bodyPr/>
        <a:lstStyle/>
        <a:p>
          <a:endParaRPr lang="en-US"/>
        </a:p>
      </dgm:t>
    </dgm:pt>
    <dgm:pt modelId="{830D0157-0623-004B-8B71-8237449FE54B}" type="sibTrans" cxnId="{E7DAB58A-1C69-DA4B-B3B1-255CC6148713}">
      <dgm:prSet/>
      <dgm:spPr/>
      <dgm:t>
        <a:bodyPr/>
        <a:lstStyle/>
        <a:p>
          <a:endParaRPr lang="en-US"/>
        </a:p>
      </dgm:t>
    </dgm:pt>
    <dgm:pt modelId="{E17189DE-CD6F-C941-875A-D5F01CE45548}" type="pres">
      <dgm:prSet presAssocID="{DC1194C7-6483-D74A-B3EE-E7C2B2CD1382}" presName="Name0" presStyleCnt="0">
        <dgm:presLayoutVars>
          <dgm:dir/>
          <dgm:animLvl val="lvl"/>
          <dgm:resizeHandles val="exact"/>
        </dgm:presLayoutVars>
      </dgm:prSet>
      <dgm:spPr/>
    </dgm:pt>
    <dgm:pt modelId="{DBB53FED-FC7A-3F4D-A7F1-B2865894ECDB}" type="pres">
      <dgm:prSet presAssocID="{67F380B8-4A46-A940-A35E-A8E090324DD2}" presName="composite" presStyleCnt="0"/>
      <dgm:spPr/>
    </dgm:pt>
    <dgm:pt modelId="{3AEB0A5F-B44A-0440-8E3D-4AA0FF30DE58}" type="pres">
      <dgm:prSet presAssocID="{67F380B8-4A46-A940-A35E-A8E090324DD2}" presName="parTx" presStyleLbl="alignNode1" presStyleIdx="0" presStyleCnt="3">
        <dgm:presLayoutVars>
          <dgm:chMax val="0"/>
          <dgm:chPref val="0"/>
          <dgm:bulletEnabled val="1"/>
        </dgm:presLayoutVars>
      </dgm:prSet>
      <dgm:spPr/>
    </dgm:pt>
    <dgm:pt modelId="{4D33AD13-58A2-6C4C-8ED2-4EC037E1447F}" type="pres">
      <dgm:prSet presAssocID="{67F380B8-4A46-A940-A35E-A8E090324DD2}" presName="desTx" presStyleLbl="alignAccFollowNode1" presStyleIdx="0" presStyleCnt="3">
        <dgm:presLayoutVars>
          <dgm:bulletEnabled val="1"/>
        </dgm:presLayoutVars>
      </dgm:prSet>
      <dgm:spPr/>
    </dgm:pt>
    <dgm:pt modelId="{8B18329D-C6F2-754C-9B93-889659D94782}" type="pres">
      <dgm:prSet presAssocID="{B5CF5095-BF26-D648-B0A9-81F01ABABF07}" presName="space" presStyleCnt="0"/>
      <dgm:spPr/>
    </dgm:pt>
    <dgm:pt modelId="{5C587A37-99A1-3E4A-8958-78E1CF8479BF}" type="pres">
      <dgm:prSet presAssocID="{DB9EFF8C-196F-5247-B65F-3BF933E46C11}" presName="composite" presStyleCnt="0"/>
      <dgm:spPr/>
    </dgm:pt>
    <dgm:pt modelId="{861E1F7D-27A7-E044-A6C8-58B87E7DADD2}" type="pres">
      <dgm:prSet presAssocID="{DB9EFF8C-196F-5247-B65F-3BF933E46C11}" presName="parTx" presStyleLbl="alignNode1" presStyleIdx="1" presStyleCnt="3">
        <dgm:presLayoutVars>
          <dgm:chMax val="0"/>
          <dgm:chPref val="0"/>
          <dgm:bulletEnabled val="1"/>
        </dgm:presLayoutVars>
      </dgm:prSet>
      <dgm:spPr/>
    </dgm:pt>
    <dgm:pt modelId="{5A54EFAA-A113-0C47-AF78-4821543B24FF}" type="pres">
      <dgm:prSet presAssocID="{DB9EFF8C-196F-5247-B65F-3BF933E46C11}" presName="desTx" presStyleLbl="alignAccFollowNode1" presStyleIdx="1" presStyleCnt="3">
        <dgm:presLayoutVars>
          <dgm:bulletEnabled val="1"/>
        </dgm:presLayoutVars>
      </dgm:prSet>
      <dgm:spPr/>
    </dgm:pt>
    <dgm:pt modelId="{D7662487-F169-6C49-B3F0-3B0DECD25D92}" type="pres">
      <dgm:prSet presAssocID="{3DE89FF0-3342-C74B-BA12-A92C830754F3}" presName="space" presStyleCnt="0"/>
      <dgm:spPr/>
    </dgm:pt>
    <dgm:pt modelId="{5730B196-C788-0C42-BCEB-B904B2C0FC4E}" type="pres">
      <dgm:prSet presAssocID="{46AD3565-A1BA-784F-AD34-7E4BF4E37363}" presName="composite" presStyleCnt="0"/>
      <dgm:spPr/>
    </dgm:pt>
    <dgm:pt modelId="{265FA6A5-EDA7-7A42-B476-3F18F161237D}" type="pres">
      <dgm:prSet presAssocID="{46AD3565-A1BA-784F-AD34-7E4BF4E37363}" presName="parTx" presStyleLbl="alignNode1" presStyleIdx="2" presStyleCnt="3">
        <dgm:presLayoutVars>
          <dgm:chMax val="0"/>
          <dgm:chPref val="0"/>
          <dgm:bulletEnabled val="1"/>
        </dgm:presLayoutVars>
      </dgm:prSet>
      <dgm:spPr/>
    </dgm:pt>
    <dgm:pt modelId="{F02FE02C-078E-2342-80A7-769674C16284}" type="pres">
      <dgm:prSet presAssocID="{46AD3565-A1BA-784F-AD34-7E4BF4E37363}" presName="desTx" presStyleLbl="alignAccFollowNode1" presStyleIdx="2" presStyleCnt="3">
        <dgm:presLayoutVars>
          <dgm:bulletEnabled val="1"/>
        </dgm:presLayoutVars>
      </dgm:prSet>
      <dgm:spPr/>
    </dgm:pt>
  </dgm:ptLst>
  <dgm:cxnLst>
    <dgm:cxn modelId="{3AADAB1B-BC1B-204D-810F-B2F5AB74FFC0}" type="presOf" srcId="{DC1194C7-6483-D74A-B3EE-E7C2B2CD1382}" destId="{E17189DE-CD6F-C941-875A-D5F01CE45548}" srcOrd="0" destOrd="0" presId="urn:microsoft.com/office/officeart/2005/8/layout/hList1"/>
    <dgm:cxn modelId="{E847003D-D77C-724F-B08D-0E844B3AE947}" type="presOf" srcId="{E2ADB8C5-0282-CE4E-87DC-7D9DB70729D2}" destId="{5A54EFAA-A113-0C47-AF78-4821543B24FF}" srcOrd="0" destOrd="0" presId="urn:microsoft.com/office/officeart/2005/8/layout/hList1"/>
    <dgm:cxn modelId="{0A48DA3E-F7BD-2048-80B4-EB4A561FF14D}" type="presOf" srcId="{67F380B8-4A46-A940-A35E-A8E090324DD2}" destId="{3AEB0A5F-B44A-0440-8E3D-4AA0FF30DE58}" srcOrd="0" destOrd="0" presId="urn:microsoft.com/office/officeart/2005/8/layout/hList1"/>
    <dgm:cxn modelId="{BF517144-8102-7041-B61C-8974C5414136}" type="presOf" srcId="{46AD3565-A1BA-784F-AD34-7E4BF4E37363}" destId="{265FA6A5-EDA7-7A42-B476-3F18F161237D}" srcOrd="0" destOrd="0" presId="urn:microsoft.com/office/officeart/2005/8/layout/hList1"/>
    <dgm:cxn modelId="{7F06866E-8471-9A48-BE1B-D1139AE27F24}" srcId="{DC1194C7-6483-D74A-B3EE-E7C2B2CD1382}" destId="{67F380B8-4A46-A940-A35E-A8E090324DD2}" srcOrd="0" destOrd="0" parTransId="{DCDEEE8D-7E75-5443-B673-0CE1E4FDA5E4}" sibTransId="{B5CF5095-BF26-D648-B0A9-81F01ABABF07}"/>
    <dgm:cxn modelId="{C61EC451-1BD8-B24B-BD01-AB754379B80B}" type="presOf" srcId="{58147522-5139-114D-8051-5D74E57ED8DC}" destId="{4D33AD13-58A2-6C4C-8ED2-4EC037E1447F}" srcOrd="0" destOrd="0" presId="urn:microsoft.com/office/officeart/2005/8/layout/hList1"/>
    <dgm:cxn modelId="{F25C1679-0DE1-6242-A25A-396C202B5060}" srcId="{DC1194C7-6483-D74A-B3EE-E7C2B2CD1382}" destId="{46AD3565-A1BA-784F-AD34-7E4BF4E37363}" srcOrd="2" destOrd="0" parTransId="{AF95370A-D1BB-744D-ABB3-5CAAA82ECE28}" sibTransId="{DEE5CC9A-6ED0-744B-852F-450F8A409ACD}"/>
    <dgm:cxn modelId="{E7DAB58A-1C69-DA4B-B3B1-255CC6148713}" srcId="{46AD3565-A1BA-784F-AD34-7E4BF4E37363}" destId="{4F95C141-C594-A941-B7CC-A6387EF3D1A9}" srcOrd="0" destOrd="0" parTransId="{3939E570-EBCF-DD48-9709-D33AA4E5685A}" sibTransId="{830D0157-0623-004B-8B71-8237449FE54B}"/>
    <dgm:cxn modelId="{77EBC9A1-3C1A-B545-B1C1-385D5002B58C}" type="presOf" srcId="{4F95C141-C594-A941-B7CC-A6387EF3D1A9}" destId="{F02FE02C-078E-2342-80A7-769674C16284}" srcOrd="0" destOrd="0" presId="urn:microsoft.com/office/officeart/2005/8/layout/hList1"/>
    <dgm:cxn modelId="{2B5EC8A2-166E-D247-8591-8D5C2C718D5A}" srcId="{DC1194C7-6483-D74A-B3EE-E7C2B2CD1382}" destId="{DB9EFF8C-196F-5247-B65F-3BF933E46C11}" srcOrd="1" destOrd="0" parTransId="{6654E155-8899-0846-9A7A-E07F2DF62F08}" sibTransId="{3DE89FF0-3342-C74B-BA12-A92C830754F3}"/>
    <dgm:cxn modelId="{0ADE20D8-8DDC-EE4C-92FF-42FB575A8471}" type="presOf" srcId="{DB9EFF8C-196F-5247-B65F-3BF933E46C11}" destId="{861E1F7D-27A7-E044-A6C8-58B87E7DADD2}" srcOrd="0" destOrd="0" presId="urn:microsoft.com/office/officeart/2005/8/layout/hList1"/>
    <dgm:cxn modelId="{4C725DE3-3289-8946-9390-0B065E2AD422}" srcId="{67F380B8-4A46-A940-A35E-A8E090324DD2}" destId="{58147522-5139-114D-8051-5D74E57ED8DC}" srcOrd="0" destOrd="0" parTransId="{DDA5EE8E-C3C3-5A47-B7EC-E385293B5E08}" sibTransId="{6E9268CF-ED15-324D-8D31-B6967B1F94C4}"/>
    <dgm:cxn modelId="{E60ED3ED-F5FB-3046-9789-552FCB24B45C}" srcId="{DB9EFF8C-196F-5247-B65F-3BF933E46C11}" destId="{E2ADB8C5-0282-CE4E-87DC-7D9DB70729D2}" srcOrd="0" destOrd="0" parTransId="{0A229719-E780-C449-950C-B0CE4CEA3D5B}" sibTransId="{D50F23DB-9898-2342-99A8-D76576ED5BD1}"/>
    <dgm:cxn modelId="{03414833-8998-6849-897F-7C27394E794A}" type="presParOf" srcId="{E17189DE-CD6F-C941-875A-D5F01CE45548}" destId="{DBB53FED-FC7A-3F4D-A7F1-B2865894ECDB}" srcOrd="0" destOrd="0" presId="urn:microsoft.com/office/officeart/2005/8/layout/hList1"/>
    <dgm:cxn modelId="{27C03637-643C-DB43-981D-5C91CB1327EA}" type="presParOf" srcId="{DBB53FED-FC7A-3F4D-A7F1-B2865894ECDB}" destId="{3AEB0A5F-B44A-0440-8E3D-4AA0FF30DE58}" srcOrd="0" destOrd="0" presId="urn:microsoft.com/office/officeart/2005/8/layout/hList1"/>
    <dgm:cxn modelId="{618EE42C-1EDC-0345-BDD0-2EFF79E25492}" type="presParOf" srcId="{DBB53FED-FC7A-3F4D-A7F1-B2865894ECDB}" destId="{4D33AD13-58A2-6C4C-8ED2-4EC037E1447F}" srcOrd="1" destOrd="0" presId="urn:microsoft.com/office/officeart/2005/8/layout/hList1"/>
    <dgm:cxn modelId="{41F50267-5C66-1E48-A7BC-59D350B0F2BC}" type="presParOf" srcId="{E17189DE-CD6F-C941-875A-D5F01CE45548}" destId="{8B18329D-C6F2-754C-9B93-889659D94782}" srcOrd="1" destOrd="0" presId="urn:microsoft.com/office/officeart/2005/8/layout/hList1"/>
    <dgm:cxn modelId="{B2CE4F53-EAF6-3A4C-9D07-3CBB1971B498}" type="presParOf" srcId="{E17189DE-CD6F-C941-875A-D5F01CE45548}" destId="{5C587A37-99A1-3E4A-8958-78E1CF8479BF}" srcOrd="2" destOrd="0" presId="urn:microsoft.com/office/officeart/2005/8/layout/hList1"/>
    <dgm:cxn modelId="{98900B1D-6E80-7B47-B610-59790AF62C31}" type="presParOf" srcId="{5C587A37-99A1-3E4A-8958-78E1CF8479BF}" destId="{861E1F7D-27A7-E044-A6C8-58B87E7DADD2}" srcOrd="0" destOrd="0" presId="urn:microsoft.com/office/officeart/2005/8/layout/hList1"/>
    <dgm:cxn modelId="{E8E21DE4-9E3C-794B-B03C-01E579B0DADF}" type="presParOf" srcId="{5C587A37-99A1-3E4A-8958-78E1CF8479BF}" destId="{5A54EFAA-A113-0C47-AF78-4821543B24FF}" srcOrd="1" destOrd="0" presId="urn:microsoft.com/office/officeart/2005/8/layout/hList1"/>
    <dgm:cxn modelId="{06411D03-0C60-3549-AB31-0FAB6936AEDB}" type="presParOf" srcId="{E17189DE-CD6F-C941-875A-D5F01CE45548}" destId="{D7662487-F169-6C49-B3F0-3B0DECD25D92}" srcOrd="3" destOrd="0" presId="urn:microsoft.com/office/officeart/2005/8/layout/hList1"/>
    <dgm:cxn modelId="{6A252E22-8703-FA46-A92E-DF21FE0E721A}" type="presParOf" srcId="{E17189DE-CD6F-C941-875A-D5F01CE45548}" destId="{5730B196-C788-0C42-BCEB-B904B2C0FC4E}" srcOrd="4" destOrd="0" presId="urn:microsoft.com/office/officeart/2005/8/layout/hList1"/>
    <dgm:cxn modelId="{5FE96275-69BD-F54A-B807-F06FF070DF44}" type="presParOf" srcId="{5730B196-C788-0C42-BCEB-B904B2C0FC4E}" destId="{265FA6A5-EDA7-7A42-B476-3F18F161237D}" srcOrd="0" destOrd="0" presId="urn:microsoft.com/office/officeart/2005/8/layout/hList1"/>
    <dgm:cxn modelId="{1038686E-96A3-FA45-9CAC-53FF0AD4CE2C}" type="presParOf" srcId="{5730B196-C788-0C42-BCEB-B904B2C0FC4E}" destId="{F02FE02C-078E-2342-80A7-769674C1628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4D193C-839A-0E44-B28B-3AFED529D922}">
      <dsp:nvSpPr>
        <dsp:cNvPr id="0" name=""/>
        <dsp:cNvSpPr/>
      </dsp:nvSpPr>
      <dsp:spPr>
        <a:xfrm>
          <a:off x="0" y="0"/>
          <a:ext cx="6553200" cy="604800"/>
        </a:xfrm>
        <a:prstGeom prst="rect">
          <a:avLst/>
        </a:prstGeom>
        <a:solidFill>
          <a:schemeClr val="accent4">
            <a:lumMod val="75000"/>
          </a:schemeClr>
        </a:solidFill>
        <a:ln w="15875" cap="flat" cmpd="sng" algn="ctr">
          <a:solidFill>
            <a:schemeClr val="accent4">
              <a:lumMod val="7500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kern="1200" dirty="0"/>
            <a:t>Programs are written in modules</a:t>
          </a:r>
        </a:p>
      </dsp:txBody>
      <dsp:txXfrm>
        <a:off x="0" y="0"/>
        <a:ext cx="6553200" cy="604800"/>
      </dsp:txXfrm>
    </dsp:sp>
    <dsp:sp modelId="{7B231396-7652-0541-A496-2537BE7F010F}">
      <dsp:nvSpPr>
        <dsp:cNvPr id="0" name=""/>
        <dsp:cNvSpPr/>
      </dsp:nvSpPr>
      <dsp:spPr>
        <a:xfrm>
          <a:off x="0" y="629813"/>
          <a:ext cx="6553200" cy="1758172"/>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kern="1200" dirty="0"/>
            <a:t>modules can be written and compiled independently</a:t>
          </a:r>
        </a:p>
        <a:p>
          <a:pPr marL="228600" lvl="1" indent="-228600" algn="l" defTabSz="933450">
            <a:lnSpc>
              <a:spcPct val="90000"/>
            </a:lnSpc>
            <a:spcBef>
              <a:spcPct val="0"/>
            </a:spcBef>
            <a:spcAft>
              <a:spcPct val="15000"/>
            </a:spcAft>
            <a:buChar char="•"/>
          </a:pPr>
          <a:r>
            <a:rPr lang="en-US" sz="2100" kern="1200" dirty="0"/>
            <a:t>different degrees of protection given to modules (read-only, execute-only)</a:t>
          </a:r>
        </a:p>
        <a:p>
          <a:pPr marL="228600" lvl="1" indent="-228600" algn="l" defTabSz="933450">
            <a:lnSpc>
              <a:spcPct val="90000"/>
            </a:lnSpc>
            <a:spcBef>
              <a:spcPct val="0"/>
            </a:spcBef>
            <a:spcAft>
              <a:spcPct val="15000"/>
            </a:spcAft>
            <a:buChar char="•"/>
          </a:pPr>
          <a:r>
            <a:rPr lang="en-US" sz="2100" kern="1200" dirty="0"/>
            <a:t>sharing on a module level corresponds to the user’s way of viewing the problem</a:t>
          </a:r>
        </a:p>
      </dsp:txBody>
      <dsp:txXfrm>
        <a:off x="0" y="629813"/>
        <a:ext cx="6553200" cy="17581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ECD4BF-89FC-B24D-97F4-8FF30634CA4A}">
      <dsp:nvSpPr>
        <dsp:cNvPr id="0" name=""/>
        <dsp:cNvSpPr/>
      </dsp:nvSpPr>
      <dsp:spPr>
        <a:xfrm>
          <a:off x="3940492" y="2093964"/>
          <a:ext cx="91440" cy="673155"/>
        </a:xfrm>
        <a:custGeom>
          <a:avLst/>
          <a:gdLst/>
          <a:ahLst/>
          <a:cxnLst/>
          <a:rect l="0" t="0" r="0" b="0"/>
          <a:pathLst>
            <a:path>
              <a:moveTo>
                <a:pt x="45720" y="0"/>
              </a:moveTo>
              <a:lnTo>
                <a:pt x="45720" y="673155"/>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4D7EA67-4406-8541-ABBC-797C1A1BEB53}">
      <dsp:nvSpPr>
        <dsp:cNvPr id="0" name=""/>
        <dsp:cNvSpPr/>
      </dsp:nvSpPr>
      <dsp:spPr>
        <a:xfrm>
          <a:off x="0" y="624208"/>
          <a:ext cx="2314575" cy="1469755"/>
        </a:xfrm>
        <a:prstGeom prst="roundRect">
          <a:avLst>
            <a:gd name="adj" fmla="val 10000"/>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79BC6BEE-B67A-394A-8158-298CBF1B4197}">
      <dsp:nvSpPr>
        <dsp:cNvPr id="0" name=""/>
        <dsp:cNvSpPr/>
      </dsp:nvSpPr>
      <dsp:spPr>
        <a:xfrm>
          <a:off x="257174" y="868525"/>
          <a:ext cx="2314575" cy="14697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dirty="0"/>
            <a:t>Cannot leave the programmer with the responsibility to manage memory</a:t>
          </a:r>
        </a:p>
      </dsp:txBody>
      <dsp:txXfrm>
        <a:off x="300222" y="911573"/>
        <a:ext cx="2228479" cy="1383659"/>
      </dsp:txXfrm>
    </dsp:sp>
    <dsp:sp modelId="{AC4EFED8-83BB-B440-A52A-0D2D9C2EFA39}">
      <dsp:nvSpPr>
        <dsp:cNvPr id="0" name=""/>
        <dsp:cNvSpPr/>
      </dsp:nvSpPr>
      <dsp:spPr>
        <a:xfrm>
          <a:off x="2828924" y="624208"/>
          <a:ext cx="2314575" cy="1469755"/>
        </a:xfrm>
        <a:prstGeom prst="roundRect">
          <a:avLst>
            <a:gd name="adj" fmla="val 10000"/>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2D0F6A76-242F-F443-BCBE-F5935F9E9F58}">
      <dsp:nvSpPr>
        <dsp:cNvPr id="0" name=""/>
        <dsp:cNvSpPr/>
      </dsp:nvSpPr>
      <dsp:spPr>
        <a:xfrm>
          <a:off x="3086099" y="868525"/>
          <a:ext cx="2314575" cy="14697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dirty="0"/>
            <a:t>Memory available for a program plus its data may be insufficient</a:t>
          </a:r>
        </a:p>
      </dsp:txBody>
      <dsp:txXfrm>
        <a:off x="3129147" y="911573"/>
        <a:ext cx="2228479" cy="1383659"/>
      </dsp:txXfrm>
    </dsp:sp>
    <dsp:sp modelId="{C6ABFF53-0685-2942-9C0C-09E3B98E9335}">
      <dsp:nvSpPr>
        <dsp:cNvPr id="0" name=""/>
        <dsp:cNvSpPr/>
      </dsp:nvSpPr>
      <dsp:spPr>
        <a:xfrm>
          <a:off x="2828924" y="2767119"/>
          <a:ext cx="2314575" cy="1469755"/>
        </a:xfrm>
        <a:prstGeom prst="roundRect">
          <a:avLst>
            <a:gd name="adj" fmla="val 10000"/>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7F9F8578-2F5D-3F45-B52D-7BB5EC4A2206}">
      <dsp:nvSpPr>
        <dsp:cNvPr id="0" name=""/>
        <dsp:cNvSpPr/>
      </dsp:nvSpPr>
      <dsp:spPr>
        <a:xfrm>
          <a:off x="3086099" y="3011435"/>
          <a:ext cx="2314575" cy="14697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i="1" kern="1200" dirty="0"/>
            <a:t>overlaying</a:t>
          </a:r>
          <a:r>
            <a:rPr lang="en-US" sz="1500" kern="1200" dirty="0"/>
            <a:t> allows various modules to be assigned the same region of memory but is time consuming to program</a:t>
          </a:r>
        </a:p>
      </dsp:txBody>
      <dsp:txXfrm>
        <a:off x="3129147" y="3054483"/>
        <a:ext cx="2228479" cy="1383659"/>
      </dsp:txXfrm>
    </dsp:sp>
    <dsp:sp modelId="{CB460CD4-8724-EA4D-9689-CF20B06B4820}">
      <dsp:nvSpPr>
        <dsp:cNvPr id="0" name=""/>
        <dsp:cNvSpPr/>
      </dsp:nvSpPr>
      <dsp:spPr>
        <a:xfrm>
          <a:off x="5657850" y="624208"/>
          <a:ext cx="2314575" cy="1469755"/>
        </a:xfrm>
        <a:prstGeom prst="roundRect">
          <a:avLst>
            <a:gd name="adj" fmla="val 10000"/>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E9B4E0B0-ABEC-5142-9A88-22961B116F14}">
      <dsp:nvSpPr>
        <dsp:cNvPr id="0" name=""/>
        <dsp:cNvSpPr/>
      </dsp:nvSpPr>
      <dsp:spPr>
        <a:xfrm>
          <a:off x="5915024" y="868525"/>
          <a:ext cx="2314575" cy="14697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dirty="0"/>
            <a:t>Programmer does not know how much space will be available</a:t>
          </a:r>
        </a:p>
      </dsp:txBody>
      <dsp:txXfrm>
        <a:off x="5958072" y="911573"/>
        <a:ext cx="2228479" cy="138365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2C0A7A-BF2F-CB4A-AE7D-877EB948880B}">
      <dsp:nvSpPr>
        <dsp:cNvPr id="0" name=""/>
        <dsp:cNvSpPr/>
      </dsp:nvSpPr>
      <dsp:spPr>
        <a:xfrm>
          <a:off x="0" y="378699"/>
          <a:ext cx="8077200" cy="12474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26880" tIns="458216" rIns="626880" bIns="156464" numCol="1" spcCol="1270" anchor="t" anchorCtr="0">
          <a:noAutofit/>
        </a:bodyPr>
        <a:lstStyle/>
        <a:p>
          <a:pPr marL="228600" lvl="1" indent="-228600" algn="l" defTabSz="977900">
            <a:lnSpc>
              <a:spcPct val="90000"/>
            </a:lnSpc>
            <a:spcBef>
              <a:spcPct val="0"/>
            </a:spcBef>
            <a:spcAft>
              <a:spcPct val="15000"/>
            </a:spcAft>
            <a:buChar char="•"/>
          </a:pPr>
          <a:r>
            <a:rPr lang="en-NZ" sz="2200" kern="1200"/>
            <a:t>memory becomes more and more fragmented</a:t>
          </a:r>
          <a:endParaRPr lang="en-NZ" sz="2200" kern="1200" dirty="0"/>
        </a:p>
        <a:p>
          <a:pPr marL="228600" lvl="1" indent="-228600" algn="l" defTabSz="977900">
            <a:lnSpc>
              <a:spcPct val="90000"/>
            </a:lnSpc>
            <a:spcBef>
              <a:spcPct val="0"/>
            </a:spcBef>
            <a:spcAft>
              <a:spcPct val="15000"/>
            </a:spcAft>
            <a:buChar char="•"/>
          </a:pPr>
          <a:r>
            <a:rPr lang="en-NZ" sz="2200" kern="1200"/>
            <a:t>memory utilization declines</a:t>
          </a:r>
          <a:endParaRPr lang="en-NZ" sz="2200" kern="1200" dirty="0"/>
        </a:p>
      </dsp:txBody>
      <dsp:txXfrm>
        <a:off x="0" y="378699"/>
        <a:ext cx="8077200" cy="1247400"/>
      </dsp:txXfrm>
    </dsp:sp>
    <dsp:sp modelId="{E3F070B9-6919-BD46-80FE-BAF6D53D2FD9}">
      <dsp:nvSpPr>
        <dsp:cNvPr id="0" name=""/>
        <dsp:cNvSpPr/>
      </dsp:nvSpPr>
      <dsp:spPr>
        <a:xfrm>
          <a:off x="403860" y="53979"/>
          <a:ext cx="5654040" cy="649440"/>
        </a:xfrm>
        <a:prstGeom prst="roundRect">
          <a:avLst/>
        </a:prstGeom>
        <a:solidFill>
          <a:schemeClr val="accent4">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3709" tIns="0" rIns="213709" bIns="0" numCol="1" spcCol="1270" anchor="ctr" anchorCtr="0">
          <a:noAutofit/>
        </a:bodyPr>
        <a:lstStyle/>
        <a:p>
          <a:pPr marL="0" lvl="0" indent="0" algn="l" defTabSz="1066800">
            <a:lnSpc>
              <a:spcPct val="90000"/>
            </a:lnSpc>
            <a:spcBef>
              <a:spcPct val="0"/>
            </a:spcBef>
            <a:spcAft>
              <a:spcPct val="35000"/>
            </a:spcAft>
            <a:buNone/>
          </a:pPr>
          <a:r>
            <a:rPr lang="en-NZ" sz="2400" b="1" i="1" kern="1200" dirty="0"/>
            <a:t>External Fragmentation</a:t>
          </a:r>
          <a:endParaRPr lang="en-US" sz="2400" i="1" kern="1200" dirty="0"/>
        </a:p>
      </dsp:txBody>
      <dsp:txXfrm>
        <a:off x="435563" y="85682"/>
        <a:ext cx="5590634" cy="586034"/>
      </dsp:txXfrm>
    </dsp:sp>
    <dsp:sp modelId="{4B6B4C5E-5223-0843-B5C6-1C59E8EA8399}">
      <dsp:nvSpPr>
        <dsp:cNvPr id="0" name=""/>
        <dsp:cNvSpPr/>
      </dsp:nvSpPr>
      <dsp:spPr>
        <a:xfrm>
          <a:off x="0" y="2069619"/>
          <a:ext cx="8077200" cy="19404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26880" tIns="458216" rIns="626880" bIns="156464" numCol="1" spcCol="1270" anchor="t" anchorCtr="0">
          <a:noAutofit/>
        </a:bodyPr>
        <a:lstStyle/>
        <a:p>
          <a:pPr marL="228600" lvl="1" indent="-228600" algn="l" defTabSz="977900">
            <a:lnSpc>
              <a:spcPct val="90000"/>
            </a:lnSpc>
            <a:spcBef>
              <a:spcPct val="0"/>
            </a:spcBef>
            <a:spcAft>
              <a:spcPct val="15000"/>
            </a:spcAft>
            <a:buChar char="•"/>
          </a:pPr>
          <a:r>
            <a:rPr lang="en-NZ" sz="2200" kern="1200"/>
            <a:t>technique for overcoming external fragmentation</a:t>
          </a:r>
          <a:endParaRPr lang="en-NZ" sz="2200" kern="1200" dirty="0"/>
        </a:p>
        <a:p>
          <a:pPr marL="228600" lvl="1" indent="-228600" algn="l" defTabSz="977900">
            <a:lnSpc>
              <a:spcPct val="90000"/>
            </a:lnSpc>
            <a:spcBef>
              <a:spcPct val="0"/>
            </a:spcBef>
            <a:spcAft>
              <a:spcPct val="15000"/>
            </a:spcAft>
            <a:buChar char="•"/>
          </a:pPr>
          <a:r>
            <a:rPr lang="en-NZ" sz="2200" kern="1200"/>
            <a:t>OS shifts processes so that they are contiguous</a:t>
          </a:r>
          <a:endParaRPr lang="en-NZ" sz="2200" kern="1200" dirty="0"/>
        </a:p>
        <a:p>
          <a:pPr marL="228600" lvl="1" indent="-228600" algn="l" defTabSz="977900">
            <a:lnSpc>
              <a:spcPct val="90000"/>
            </a:lnSpc>
            <a:spcBef>
              <a:spcPct val="0"/>
            </a:spcBef>
            <a:spcAft>
              <a:spcPct val="15000"/>
            </a:spcAft>
            <a:buChar char="•"/>
          </a:pPr>
          <a:r>
            <a:rPr lang="en-NZ" sz="2200" kern="1200"/>
            <a:t>free memory is together in one block</a:t>
          </a:r>
          <a:endParaRPr lang="en-NZ" sz="2200" kern="1200" dirty="0"/>
        </a:p>
        <a:p>
          <a:pPr marL="228600" lvl="1" indent="-228600" algn="l" defTabSz="977900">
            <a:lnSpc>
              <a:spcPct val="90000"/>
            </a:lnSpc>
            <a:spcBef>
              <a:spcPct val="0"/>
            </a:spcBef>
            <a:spcAft>
              <a:spcPct val="15000"/>
            </a:spcAft>
            <a:buChar char="•"/>
          </a:pPr>
          <a:r>
            <a:rPr lang="en-NZ" sz="2200" kern="1200"/>
            <a:t>time consuming and wastes CPU time</a:t>
          </a:r>
          <a:endParaRPr lang="en-NZ" sz="2200" kern="1200" dirty="0"/>
        </a:p>
      </dsp:txBody>
      <dsp:txXfrm>
        <a:off x="0" y="2069619"/>
        <a:ext cx="8077200" cy="1940400"/>
      </dsp:txXfrm>
    </dsp:sp>
    <dsp:sp modelId="{6ED051DD-8E06-014D-A56B-AECC9C897179}">
      <dsp:nvSpPr>
        <dsp:cNvPr id="0" name=""/>
        <dsp:cNvSpPr/>
      </dsp:nvSpPr>
      <dsp:spPr>
        <a:xfrm>
          <a:off x="403860" y="1744899"/>
          <a:ext cx="5654040" cy="64944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3709" tIns="0" rIns="213709" bIns="0" numCol="1" spcCol="1270" anchor="ctr" anchorCtr="0">
          <a:noAutofit/>
        </a:bodyPr>
        <a:lstStyle/>
        <a:p>
          <a:pPr marL="0" lvl="0" indent="0" algn="l" defTabSz="1066800">
            <a:lnSpc>
              <a:spcPct val="90000"/>
            </a:lnSpc>
            <a:spcBef>
              <a:spcPct val="0"/>
            </a:spcBef>
            <a:spcAft>
              <a:spcPct val="35000"/>
            </a:spcAft>
            <a:buNone/>
          </a:pPr>
          <a:r>
            <a:rPr lang="en-NZ" sz="2400" b="1" i="1" kern="1200" dirty="0"/>
            <a:t>Compaction</a:t>
          </a:r>
        </a:p>
      </dsp:txBody>
      <dsp:txXfrm>
        <a:off x="435563" y="1776602"/>
        <a:ext cx="5590634" cy="58603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EB0A5F-B44A-0440-8E3D-4AA0FF30DE58}">
      <dsp:nvSpPr>
        <dsp:cNvPr id="0" name=""/>
        <dsp:cNvSpPr/>
      </dsp:nvSpPr>
      <dsp:spPr>
        <a:xfrm>
          <a:off x="2357" y="21819"/>
          <a:ext cx="2298501" cy="662400"/>
        </a:xfrm>
        <a:prstGeom prst="rect">
          <a:avLst/>
        </a:prstGeom>
        <a:solidFill>
          <a:schemeClr val="accent6">
            <a:lumMod val="50000"/>
          </a:schemeClr>
        </a:solidFill>
        <a:ln w="15875" cap="flat" cmpd="sng" algn="ctr">
          <a:solidFill>
            <a:schemeClr val="accent6">
              <a:lumMod val="7500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b="1" kern="1200" dirty="0"/>
            <a:t>Best-fit</a:t>
          </a:r>
          <a:endParaRPr lang="en-US" sz="2300" kern="1200" dirty="0"/>
        </a:p>
      </dsp:txBody>
      <dsp:txXfrm>
        <a:off x="2357" y="21819"/>
        <a:ext cx="2298501" cy="662400"/>
      </dsp:txXfrm>
    </dsp:sp>
    <dsp:sp modelId="{4D33AD13-58A2-6C4C-8ED2-4EC037E1447F}">
      <dsp:nvSpPr>
        <dsp:cNvPr id="0" name=""/>
        <dsp:cNvSpPr/>
      </dsp:nvSpPr>
      <dsp:spPr>
        <a:xfrm>
          <a:off x="2357" y="684219"/>
          <a:ext cx="2298501" cy="3357961"/>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chooses the block that is closest in size to the request</a:t>
          </a:r>
        </a:p>
      </dsp:txBody>
      <dsp:txXfrm>
        <a:off x="2357" y="684219"/>
        <a:ext cx="2298501" cy="3357961"/>
      </dsp:txXfrm>
    </dsp:sp>
    <dsp:sp modelId="{861E1F7D-27A7-E044-A6C8-58B87E7DADD2}">
      <dsp:nvSpPr>
        <dsp:cNvPr id="0" name=""/>
        <dsp:cNvSpPr/>
      </dsp:nvSpPr>
      <dsp:spPr>
        <a:xfrm>
          <a:off x="2622649" y="21819"/>
          <a:ext cx="2298501" cy="662400"/>
        </a:xfrm>
        <a:prstGeom prst="rect">
          <a:avLst/>
        </a:prstGeom>
        <a:solidFill>
          <a:schemeClr val="accent4">
            <a:lumMod val="50000"/>
          </a:schemeClr>
        </a:solidFill>
        <a:ln w="15875" cap="flat" cmpd="sng" algn="ctr">
          <a:solidFill>
            <a:schemeClr val="accent4">
              <a:lumMod val="5000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b="1" kern="1200" dirty="0"/>
            <a:t>First-fit</a:t>
          </a:r>
        </a:p>
      </dsp:txBody>
      <dsp:txXfrm>
        <a:off x="2622649" y="21819"/>
        <a:ext cx="2298501" cy="662400"/>
      </dsp:txXfrm>
    </dsp:sp>
    <dsp:sp modelId="{5A54EFAA-A113-0C47-AF78-4821543B24FF}">
      <dsp:nvSpPr>
        <dsp:cNvPr id="0" name=""/>
        <dsp:cNvSpPr/>
      </dsp:nvSpPr>
      <dsp:spPr>
        <a:xfrm>
          <a:off x="2622649" y="684219"/>
          <a:ext cx="2298501" cy="3357961"/>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begins to scan memory from the beginning and chooses the first available block that is large enough </a:t>
          </a:r>
        </a:p>
      </dsp:txBody>
      <dsp:txXfrm>
        <a:off x="2622649" y="684219"/>
        <a:ext cx="2298501" cy="3357961"/>
      </dsp:txXfrm>
    </dsp:sp>
    <dsp:sp modelId="{265FA6A5-EDA7-7A42-B476-3F18F161237D}">
      <dsp:nvSpPr>
        <dsp:cNvPr id="0" name=""/>
        <dsp:cNvSpPr/>
      </dsp:nvSpPr>
      <dsp:spPr>
        <a:xfrm>
          <a:off x="5242941" y="21819"/>
          <a:ext cx="2298501" cy="662400"/>
        </a:xfrm>
        <a:prstGeom prst="rect">
          <a:avLst/>
        </a:prstGeom>
        <a:solidFill>
          <a:schemeClr val="accent2">
            <a:lumMod val="50000"/>
          </a:schemeClr>
        </a:solidFill>
        <a:ln w="15875" cap="flat" cmpd="sng" algn="ctr">
          <a:solidFill>
            <a:schemeClr val="accent2">
              <a:lumMod val="5000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b="1" kern="1200" dirty="0"/>
            <a:t>Next-fit</a:t>
          </a:r>
        </a:p>
      </dsp:txBody>
      <dsp:txXfrm>
        <a:off x="5242941" y="21819"/>
        <a:ext cx="2298501" cy="662400"/>
      </dsp:txXfrm>
    </dsp:sp>
    <dsp:sp modelId="{F02FE02C-078E-2342-80A7-769674C16284}">
      <dsp:nvSpPr>
        <dsp:cNvPr id="0" name=""/>
        <dsp:cNvSpPr/>
      </dsp:nvSpPr>
      <dsp:spPr>
        <a:xfrm>
          <a:off x="5242941" y="684219"/>
          <a:ext cx="2298501" cy="3357961"/>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begins to scan memory from the location of the last placement and chooses the next available block that is large enough</a:t>
          </a:r>
        </a:p>
      </dsp:txBody>
      <dsp:txXfrm>
        <a:off x="5242941" y="684219"/>
        <a:ext cx="2298501" cy="3357961"/>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0118C455-DCBE-41F6-9A52-324D6BC54AEC}" type="datetimeFigureOut">
              <a:rPr lang="en-US"/>
              <a:pPr>
                <a:defRPr/>
              </a:pPr>
              <a:t>30-Apr-2024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B1F781F4-099F-4112-9B1E-8A4E4163911A}" type="slidenum">
              <a:rPr lang="en-US"/>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06" charset="0"/>
                <a:ea typeface="ＭＳ Ｐゴシック" pitchFamily="-106" charset="-128"/>
                <a:cs typeface="ＭＳ Ｐゴシック" pitchFamily="-106" charset="-128"/>
              </a:rPr>
              <a:t>“</a:t>
            </a:r>
            <a:r>
              <a:rPr kumimoji="1" lang="en-US" dirty="0">
                <a:latin typeface="Times New Roman" pitchFamily="-106" charset="0"/>
                <a:ea typeface="ＭＳ Ｐゴシック" pitchFamily="-106" charset="-128"/>
                <a:cs typeface="ＭＳ Ｐゴシック" pitchFamily="-106" charset="-128"/>
              </a:rPr>
              <a:t>Operating</a:t>
            </a:r>
            <a:r>
              <a:rPr kumimoji="1" lang="en-US" baseline="0" dirty="0">
                <a:latin typeface="Times New Roman" pitchFamily="-106" charset="0"/>
                <a:ea typeface="ＭＳ Ｐゴシック" pitchFamily="-106" charset="-128"/>
                <a:cs typeface="ＭＳ Ｐゴシック" pitchFamily="-106" charset="-128"/>
              </a:rPr>
              <a:t> Systems: Internal and Design Principles</a:t>
            </a:r>
            <a:r>
              <a:rPr lang="en-US" dirty="0">
                <a:latin typeface="Times New Roman" pitchFamily="-106" charset="0"/>
                <a:ea typeface="ＭＳ Ｐゴシック" pitchFamily="-106" charset="-128"/>
                <a:cs typeface="ＭＳ Ｐゴシック" pitchFamily="-106" charset="-128"/>
              </a:rPr>
              <a:t>”, 7/e, by William Stallings, Chapter 7 “</a:t>
            </a:r>
            <a:r>
              <a:rPr kumimoji="1" lang="en-GB" dirty="0">
                <a:latin typeface="Times New Roman" pitchFamily="-106" charset="0"/>
                <a:ea typeface="ＭＳ Ｐゴシック" pitchFamily="-106" charset="-128"/>
                <a:cs typeface="ＭＳ Ｐゴシック" pitchFamily="-106" charset="-128"/>
              </a:rPr>
              <a:t>Memory</a:t>
            </a:r>
            <a:r>
              <a:rPr kumimoji="1" lang="en-GB" baseline="0" dirty="0">
                <a:latin typeface="Times New Roman" pitchFamily="-106" charset="0"/>
                <a:ea typeface="ＭＳ Ｐゴシック" pitchFamily="-106" charset="-128"/>
                <a:cs typeface="ＭＳ Ｐゴシック" pitchFamily="-106" charset="-128"/>
              </a:rPr>
              <a:t> Management</a:t>
            </a:r>
            <a:r>
              <a:rPr lang="en-US" dirty="0">
                <a:latin typeface="Times New Roman" pitchFamily="-106" charset="0"/>
                <a:ea typeface="ＭＳ Ｐゴシック" pitchFamily="-106" charset="-128"/>
                <a:cs typeface="ＭＳ Ｐゴシック" pitchFamily="-106" charset="-128"/>
              </a:rPr>
              <a:t>”.</a:t>
            </a:r>
            <a:endParaRPr lang="en-AU" dirty="0">
              <a:latin typeface="Times New Roman" pitchFamily="-106" charset="0"/>
              <a:ea typeface="ＭＳ Ｐゴシック" pitchFamily="-106" charset="-128"/>
              <a:cs typeface="ＭＳ Ｐゴシック" pitchFamily="-106" charset="-128"/>
            </a:endParaRP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a uniprogramming system, main memory is divided into two parts: one part for the operating system (resident monitor, kernel) and one part for the program currently being executed. In a multiprogramming system, the “user” part of memory must be further subdivided to accommodate multiple processes. The task of subdivision is carried out dynamically by the operating system and is known as </a:t>
            </a:r>
            <a:r>
              <a:rPr lang="en-US" sz="1200" b="1" kern="1200" baseline="0" dirty="0">
                <a:solidFill>
                  <a:schemeClr val="tx1"/>
                </a:solidFill>
                <a:latin typeface="+mn-lt"/>
                <a:ea typeface="+mn-ea"/>
                <a:cs typeface="+mn-cs"/>
              </a:rPr>
              <a:t>memory management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Effective memory management is vital in a multiprogramming system. If only a few processes are in memory, then for much of the time all of the processes will be waiting for I/O and the processor will be idle. Thus memory needs to be allocated to ensure a reasonable supply of ready processes to consume available processor time.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We begin this chapter with a look at the requirements that memory management is intended to satisfy. Next, we approach the technology of memory management by looking at a variety of simple schemes that have been used. Our focus is the requirement that a program must be loaded into main memory to be executed. This discussion introduces some of the fundamental principles of memory management.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While surveying the various mechanisms and policies associated with memory management, it is helpful to keep in mind the requirements that memory management is intended to satisfy. These requirements include the following:</a:t>
            </a:r>
          </a:p>
          <a:p>
            <a:r>
              <a:rPr lang="en-US" sz="1200" kern="1200" baseline="0" dirty="0">
                <a:solidFill>
                  <a:schemeClr val="tx1"/>
                </a:solidFill>
                <a:latin typeface="+mn-lt"/>
                <a:ea typeface="+mn-ea"/>
                <a:cs typeface="+mn-cs"/>
              </a:rPr>
              <a:t>• Relocation</a:t>
            </a:r>
          </a:p>
          <a:p>
            <a:r>
              <a:rPr lang="en-US" sz="1200" kern="1200" baseline="0" dirty="0">
                <a:solidFill>
                  <a:schemeClr val="tx1"/>
                </a:solidFill>
                <a:latin typeface="+mn-lt"/>
                <a:ea typeface="+mn-ea"/>
                <a:cs typeface="+mn-cs"/>
              </a:rPr>
              <a:t>• Protection</a:t>
            </a:r>
          </a:p>
          <a:p>
            <a:r>
              <a:rPr lang="en-US" sz="1200" kern="1200" baseline="0" dirty="0">
                <a:solidFill>
                  <a:schemeClr val="tx1"/>
                </a:solidFill>
                <a:latin typeface="+mn-lt"/>
                <a:ea typeface="+mn-ea"/>
                <a:cs typeface="+mn-cs"/>
              </a:rPr>
              <a:t>• Sharing</a:t>
            </a:r>
          </a:p>
          <a:p>
            <a:r>
              <a:rPr lang="en-US" sz="1200" kern="1200" baseline="0" dirty="0">
                <a:solidFill>
                  <a:schemeClr val="tx1"/>
                </a:solidFill>
                <a:latin typeface="+mn-lt"/>
                <a:ea typeface="+mn-ea"/>
                <a:cs typeface="+mn-cs"/>
              </a:rPr>
              <a:t>• Logical organization</a:t>
            </a:r>
          </a:p>
          <a:p>
            <a:r>
              <a:rPr lang="en-US" sz="1200" kern="1200" baseline="0" dirty="0">
                <a:solidFill>
                  <a:schemeClr val="tx1"/>
                </a:solidFill>
                <a:latin typeface="+mn-lt"/>
                <a:ea typeface="+mn-ea"/>
                <a:cs typeface="+mn-cs"/>
              </a:rPr>
              <a:t>• Physical organization</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a multiprogramming system, the available main memory is generally shared among a number of processes. Typically, it is not possible for the programmer to know in advance which other programs will be resident in main memory at the time of execution of his or her program. In addition, we would like to be able to swap active processes in and out of main memory to maximize processor utilization by providing a large pool of ready processes to execute. Once a program is swapped out to disk, it would be quite limiting to specify that when it is next swapped back in, it must be placed in the same main memory region as before. Instead, we may need to </a:t>
            </a:r>
            <a:r>
              <a:rPr lang="en-US" sz="1200" b="1" kern="1200" baseline="0" dirty="0">
                <a:solidFill>
                  <a:schemeClr val="tx1"/>
                </a:solidFill>
                <a:latin typeface="+mn-lt"/>
                <a:ea typeface="+mn-ea"/>
                <a:cs typeface="+mn-cs"/>
              </a:rPr>
              <a:t>relocate </a:t>
            </a:r>
            <a:r>
              <a:rPr lang="en-US" sz="1200" b="0" kern="1200" baseline="0" dirty="0">
                <a:solidFill>
                  <a:schemeClr val="tx1"/>
                </a:solidFill>
                <a:latin typeface="+mn-lt"/>
                <a:ea typeface="+mn-ea"/>
                <a:cs typeface="+mn-cs"/>
              </a:rPr>
              <a:t>the process to a different area of memory.</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Thus, we cannot know ahead of time where a program will be placed, and we must allow for the possibility that the program may be moved about in main memory due to swapping. These facts raise some technical concerns related to addressing, as illustrated in Figure 7.1 . The figure depicts a process image. For simplicity, let us assume that the process image occupies a contiguous region of main memory. Clearly, the operating system will need to know the location of process control information and of the execution stack, as well as the entry point to begin execution of the program for this process. Because the operating system is managing memory and is responsible for bringing this process into main memory, these addresses are easy to come by. In addition, however, the processor must deal with memory references within the program. Branch instructions contain an address to reference</a:t>
            </a:r>
          </a:p>
          <a:p>
            <a:r>
              <a:rPr lang="en-US" sz="1200" kern="1200" baseline="0" dirty="0">
                <a:solidFill>
                  <a:schemeClr val="tx1"/>
                </a:solidFill>
                <a:latin typeface="+mn-lt"/>
                <a:ea typeface="+mn-ea"/>
                <a:cs typeface="+mn-cs"/>
              </a:rPr>
              <a:t>the instruction to be executed next. Data reference instructions contain the address of the byte or word of data referenced. Somehow, the processor hardware and operating system software must be able to translate the memory references found in the code of the program into actual physical memory addresses, reflecting the current location of the program in main memory.</a:t>
            </a:r>
            <a:endParaRPr lang="en-US" sz="1200" b="1"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Each process should be protected against unwanted interference by other processes, whether accidental or intentional. Thus, programs in other processes should not be able to reference memory locations in a process for reading or writing purposes without permission. In one sense, satisfaction of the relocation requirement increases the difficulty of satisfying the protection requirement. Because the location of a program in main memory is unpredictable, it is impossible to check absolute addresses at compile time to assure protection. Furthermore, most programming languages allow the dynamic calculation of addresses at run time (e.g., by computing an array subscript or a pointer into a data structure). Hence all</a:t>
            </a:r>
          </a:p>
          <a:p>
            <a:r>
              <a:rPr lang="en-US" sz="1200" kern="1200" baseline="0" dirty="0">
                <a:solidFill>
                  <a:schemeClr val="tx1"/>
                </a:solidFill>
                <a:latin typeface="+mn-lt"/>
                <a:ea typeface="+mn-ea"/>
                <a:cs typeface="+mn-cs"/>
              </a:rPr>
              <a:t>memory references generated by a process must be checked at run time to ensure that they refer only to the memory space allocated to that process. Fortunately, we shall see that mechanisms that support relocation also support the protection requirement.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Normally, a user process cannot access any portion of the operating system, neither program nor data. Again, usually a program in one process cannot branch to an instruction in another process. Without special arrangement, a program in one process cannot access the data area of another process. The processor must be able to abort such instructions at the point of execution.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Note that the memory protection requirement must be satisfied by the processor (hardware) rather than the operating system (software). This is because the OS cannot anticipate all of the memory references that a program will make. Even if such anticipation were possible, it would be prohibitively time consuming to screen each program in advance for possible memory-reference violations. Thus, it is only possible to assess the permissibility of a memory reference (data access or branch) at the time of execution of the instruction making the reference. To accomplish this, the processor hardware must have that capability.</a:t>
            </a:r>
          </a:p>
          <a:p>
            <a:endParaRPr lang="en-US" sz="1200" kern="1200" baseline="0" dirty="0">
              <a:solidFill>
                <a:schemeClr val="tx1"/>
              </a:solidFill>
              <a:latin typeface="+mn-lt"/>
              <a:ea typeface="+mn-ea"/>
              <a:cs typeface="+mn-cs"/>
            </a:endParaRPr>
          </a:p>
          <a:p>
            <a:endParaRPr lang="en-US" baseline="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Any protection mechanism must have the flexibility to allow several processes to access the same portion of main memory. For example, if a number of processes are executing the same program, it is advantageous to allow each process to access the same copy of the program rather than have its own separate copy. Processes that are cooperating on some task may need to share access to the same data structure. The memory management system must therefore allow controlled access to shared areas of memory without compromising essential protection. Again, we will see that the mechanisms used to support relocation support sharing capabilities.</a:t>
            </a:r>
            <a:endParaRPr lang="en-NZ"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Almost invariably, main memory in a computer system is organized as a linear, or one-dimensional, address space, consisting of a sequence of bytes or words. Secondary memory, at its physical level, is similarly organized. While this organization closely mirrors the actual machine hardware, it does not correspond to the way in which programs are typically constructed. Most programs are organized into modules, some of which are unmodifiable (read only, execute only) and some of which contain data that may be modified. If the operating system and computer hardware can effectively deal with user programs and data in the form of modules of some sort, then a number of advantages can be realized:</a:t>
            </a:r>
          </a:p>
          <a:p>
            <a:r>
              <a:rPr lang="en-US" sz="1200" b="1" kern="1200" baseline="0" dirty="0">
                <a:solidFill>
                  <a:schemeClr val="tx1"/>
                </a:solidFill>
                <a:latin typeface="+mn-lt"/>
                <a:ea typeface="+mn-ea"/>
                <a:cs typeface="+mn-cs"/>
              </a:rPr>
              <a:t>1. Modules can be written and compiled independently, with all references from</a:t>
            </a:r>
          </a:p>
          <a:p>
            <a:r>
              <a:rPr lang="en-US" sz="1200" kern="1200" baseline="0" dirty="0">
                <a:solidFill>
                  <a:schemeClr val="tx1"/>
                </a:solidFill>
                <a:latin typeface="+mn-lt"/>
                <a:ea typeface="+mn-ea"/>
                <a:cs typeface="+mn-cs"/>
              </a:rPr>
              <a:t>one module to another resolved by the system at run time.</a:t>
            </a:r>
          </a:p>
          <a:p>
            <a:r>
              <a:rPr lang="en-US" sz="1200" b="1" kern="1200" baseline="0" dirty="0">
                <a:solidFill>
                  <a:schemeClr val="tx1"/>
                </a:solidFill>
                <a:latin typeface="+mn-lt"/>
                <a:ea typeface="+mn-ea"/>
                <a:cs typeface="+mn-cs"/>
              </a:rPr>
              <a:t>2. With modest additional overhead, different degrees of protection (read only,</a:t>
            </a:r>
          </a:p>
          <a:p>
            <a:r>
              <a:rPr lang="en-US" sz="1200" kern="1200" baseline="0" dirty="0">
                <a:solidFill>
                  <a:schemeClr val="tx1"/>
                </a:solidFill>
                <a:latin typeface="+mn-lt"/>
                <a:ea typeface="+mn-ea"/>
                <a:cs typeface="+mn-cs"/>
              </a:rPr>
              <a:t>execute only) can be given to different modules.</a:t>
            </a:r>
          </a:p>
          <a:p>
            <a:r>
              <a:rPr lang="en-US" sz="1200" b="1" kern="1200" baseline="0" dirty="0">
                <a:solidFill>
                  <a:schemeClr val="tx1"/>
                </a:solidFill>
                <a:latin typeface="+mn-lt"/>
                <a:ea typeface="+mn-ea"/>
                <a:cs typeface="+mn-cs"/>
              </a:rPr>
              <a:t>3. It is possible to introduce mechanisms by which modules can be shared among</a:t>
            </a:r>
          </a:p>
          <a:p>
            <a:r>
              <a:rPr lang="en-US" sz="1200" kern="1200" baseline="0" dirty="0">
                <a:solidFill>
                  <a:schemeClr val="tx1"/>
                </a:solidFill>
                <a:latin typeface="+mn-lt"/>
                <a:ea typeface="+mn-ea"/>
                <a:cs typeface="+mn-cs"/>
              </a:rPr>
              <a:t>processes. The advantage of providing sharing on a module level is that this corresponds to the user’s way of viewing the problem, and hence it is easy for</a:t>
            </a:r>
          </a:p>
          <a:p>
            <a:r>
              <a:rPr lang="en-US" sz="1200" kern="1200" baseline="0" dirty="0">
                <a:solidFill>
                  <a:schemeClr val="tx1"/>
                </a:solidFill>
                <a:latin typeface="+mn-lt"/>
                <a:ea typeface="+mn-ea"/>
                <a:cs typeface="+mn-cs"/>
              </a:rPr>
              <a:t>the user to specify the sharing that is desired. The tool that most readily satisfies these requirements is segmentation, which is one of the memory management techniques explored in this chapter.</a:t>
            </a:r>
            <a:endParaRPr lang="en-NZ"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As we discussed in Section 1.5 , computer memory is organized into at least two levels, referred to as main memory and secondary memory. Main memory provides fast access at relatively high cost. In addition, main memory is volatile; that is, it does not provide permanent storage. Secondary memory is slower and cheaper than</a:t>
            </a:r>
          </a:p>
          <a:p>
            <a:r>
              <a:rPr lang="en-US" sz="1200" kern="1200" baseline="0" dirty="0">
                <a:solidFill>
                  <a:schemeClr val="tx1"/>
                </a:solidFill>
                <a:latin typeface="+mn-lt"/>
                <a:ea typeface="+mn-ea"/>
                <a:cs typeface="+mn-cs"/>
              </a:rPr>
              <a:t>main memory and is usually not volatile. Thus secondary memory of large capacity can be provided for long-term storage of programs and data, while a smaller main memory holds programs and data currently in use. In this two-level scheme, the organization of the flow of information between main and secondary memory is a major system concern. The responsibility for this flow could be assigned to the individual programmer, but this is impractical and undesirable for two reasons:</a:t>
            </a:r>
          </a:p>
          <a:p>
            <a:r>
              <a:rPr lang="en-US" sz="1200" b="1" kern="1200" baseline="0" dirty="0">
                <a:solidFill>
                  <a:schemeClr val="tx1"/>
                </a:solidFill>
                <a:latin typeface="+mn-lt"/>
                <a:ea typeface="+mn-ea"/>
                <a:cs typeface="+mn-cs"/>
              </a:rPr>
              <a:t>1. The main memory available for a program plus its data may be insufficient. In</a:t>
            </a:r>
          </a:p>
          <a:p>
            <a:r>
              <a:rPr lang="en-US" sz="1200" kern="1200" baseline="0" dirty="0">
                <a:solidFill>
                  <a:schemeClr val="tx1"/>
                </a:solidFill>
                <a:latin typeface="+mn-lt"/>
                <a:ea typeface="+mn-ea"/>
                <a:cs typeface="+mn-cs"/>
              </a:rPr>
              <a:t>that case, the programmer must engage in a practice known as </a:t>
            </a:r>
            <a:r>
              <a:rPr lang="en-US" sz="1200" b="1" kern="1200" baseline="0" dirty="0">
                <a:solidFill>
                  <a:schemeClr val="tx1"/>
                </a:solidFill>
                <a:latin typeface="+mn-lt"/>
                <a:ea typeface="+mn-ea"/>
                <a:cs typeface="+mn-cs"/>
              </a:rPr>
              <a:t>overlaying , in </a:t>
            </a:r>
            <a:r>
              <a:rPr lang="en-US" sz="1200" kern="1200" baseline="0" dirty="0">
                <a:solidFill>
                  <a:schemeClr val="tx1"/>
                </a:solidFill>
                <a:latin typeface="+mn-lt"/>
                <a:ea typeface="+mn-ea"/>
                <a:cs typeface="+mn-cs"/>
              </a:rPr>
              <a:t>which the program and data are organized in such a way that various modules can be assigned the same region of memory, with a main program responsible for switching the modules in and out as needed. Even with the aid of compiler tools, overlay programming wastes programmer time.</a:t>
            </a:r>
          </a:p>
          <a:p>
            <a:r>
              <a:rPr lang="en-US" sz="1200" b="1" kern="1200" baseline="0" dirty="0">
                <a:solidFill>
                  <a:schemeClr val="tx1"/>
                </a:solidFill>
                <a:latin typeface="+mn-lt"/>
                <a:ea typeface="+mn-ea"/>
                <a:cs typeface="+mn-cs"/>
              </a:rPr>
              <a:t>2. In a multiprogramming environment, the programmer does not know at the </a:t>
            </a:r>
            <a:r>
              <a:rPr lang="en-US" sz="1200" kern="1200" baseline="0" dirty="0">
                <a:solidFill>
                  <a:schemeClr val="tx1"/>
                </a:solidFill>
                <a:latin typeface="+mn-lt"/>
                <a:ea typeface="+mn-ea"/>
                <a:cs typeface="+mn-cs"/>
              </a:rPr>
              <a:t>time of coding how much space will be available or where that space will be. It is clear, then, that the task of moving information between the two levels of memory should be a system responsibility. This task is the essence of memory management.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principal operation of memory management is to bring processes into main memory for execution by the processor. In almost all modern multiprogramming systems, this involves a sophisticated scheme known as virtual memory. Virtual memory is, in turn, based on the use of one or both of two basic techniques: segmentation and paging. Before we can look at these virtual memory techniques, we must prepare the ground by looking at simpler techniques that do not involve virtual memory ( Table 7.2 summarizes all the techniques examined in this chapter and the next). One of these techniques, partitioning, has been used in several variations in some now-obsolete operating systems. The other two techniques, simple paging and simple segmentation, are not used by themselves. However, it will clarify the discussion of virtual memory if we look first at these two techniques in the absence of virtual memory considerations.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most schemes for memory management, we can assume that the OS occupies some fixed portion of main memory and that the rest of main memory is available for use by multiple processes. The simplest scheme for managing this available memory is to partition it into regions with fixed boundaries.</a:t>
            </a:r>
          </a:p>
          <a:p>
            <a:endParaRPr lang="en-US" sz="1200" kern="1200" baseline="0" dirty="0">
              <a:solidFill>
                <a:schemeClr val="tx1"/>
              </a:solidFill>
              <a:latin typeface="+mn-lt"/>
              <a:ea typeface="+mn-ea"/>
              <a:cs typeface="+mn-cs"/>
            </a:endParaRPr>
          </a:p>
          <a:p>
            <a:r>
              <a:rPr lang="en-US" sz="1200" b="1" i="1" kern="1200" baseline="0" dirty="0">
                <a:solidFill>
                  <a:schemeClr val="tx1"/>
                </a:solidFill>
                <a:latin typeface="+mn-lt"/>
                <a:ea typeface="+mn-ea"/>
                <a:cs typeface="+mn-cs"/>
              </a:rPr>
              <a:t>PARTITION SIZES </a:t>
            </a:r>
            <a:r>
              <a:rPr lang="en-US" sz="1200" b="0" i="1" kern="1200" baseline="0" dirty="0">
                <a:solidFill>
                  <a:schemeClr val="tx1"/>
                </a:solidFill>
                <a:latin typeface="+mn-lt"/>
                <a:ea typeface="+mn-ea"/>
                <a:cs typeface="+mn-cs"/>
              </a:rPr>
              <a:t>Figure 7.2 shows examples of two alternatives for fixed </a:t>
            </a:r>
            <a:r>
              <a:rPr lang="en-US" sz="1200" kern="1200" baseline="0" dirty="0">
                <a:solidFill>
                  <a:schemeClr val="tx1"/>
                </a:solidFill>
                <a:latin typeface="+mn-lt"/>
                <a:ea typeface="+mn-ea"/>
                <a:cs typeface="+mn-cs"/>
              </a:rPr>
              <a:t>partitioning. One possibility is to make use of equal-size partitions. In this case, any process whose size is less than or equal to the partition size can be loaded into any available partition. If all partitions are full and no process is in the Ready or Running state, the operating system can swap a process out of any of the partitions and load in another process, so that there is some work for the processor.</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There are two difficulties with the use of equal-size fixed partitions:</a:t>
            </a:r>
          </a:p>
          <a:p>
            <a:r>
              <a:rPr lang="en-US" sz="1200" kern="1200" baseline="0" dirty="0">
                <a:solidFill>
                  <a:schemeClr val="tx1"/>
                </a:solidFill>
                <a:latin typeface="+mn-lt"/>
                <a:ea typeface="+mn-ea"/>
                <a:cs typeface="+mn-cs"/>
              </a:rPr>
              <a:t>• A program may be too big to fit into a partition. In this case, the programmer must design the program with the use of overlays so that only a portion of the program need be in main memory at any one time. When a module is needed that is not present, the user’s program must load that module into the program’s partition, overlaying whatever programs or data are there.</a:t>
            </a:r>
          </a:p>
          <a:p>
            <a:r>
              <a:rPr lang="en-US" sz="1200" kern="1200" baseline="0" dirty="0">
                <a:solidFill>
                  <a:schemeClr val="tx1"/>
                </a:solidFill>
                <a:latin typeface="+mn-lt"/>
                <a:ea typeface="+mn-ea"/>
                <a:cs typeface="+mn-cs"/>
              </a:rPr>
              <a:t>• Main memory utilization is extremely inefficient. Any program, no matter how small, occupies an entire partition. In our example, there may be a program whose length is less than 2 Mbytes; yet it occupies an 8-Mbyte partition whenever it is swapped in. This phenomenon, in which there is wasted space internal to a partition due to the fact that the block of data loaded is smaller than the partition, is referred to as </a:t>
            </a:r>
            <a:r>
              <a:rPr lang="en-US" sz="1200" b="1" kern="1200" baseline="0" dirty="0">
                <a:solidFill>
                  <a:schemeClr val="tx1"/>
                </a:solidFill>
                <a:latin typeface="+mn-lt"/>
                <a:ea typeface="+mn-ea"/>
                <a:cs typeface="+mn-cs"/>
              </a:rPr>
              <a:t>internal fragmentation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Both of these problems can be lessened, though not solved, by using unequal size partitions ( Figure 7.2b ). In this example, programs as large as 16 Mbytes can be accommodated without overlays. Partitions smaller than 8 Mbytes allow smaller programs to be accommodated with less internal fragmentation.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use of unequal-size partitions provides a degree of flexibility to fixed partitioning. In addition, it can be said that fixed-partitioning schemes are relatively simple and require minimal OS software and processing overhead. However, there are disadvantages: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number of partitions specified at system generation time limits the number of active (not suspended) processes in the system.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Because partition sizes are preset at system generation time, small jobs will not utilize partition space efficiently. In an environment where the main storage requirement of all jobs is known beforehand, this may be reasonable, but in most cases, it is an inefficient technique.</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To overcome some of the difficulties with fixed partitioning, an approach known as dynamic partitioning was developed. Again, this approach has been supplanted by more sophisticated memory management techniques. An important operating system that used this technique was IBM’s mainframe operating system, OS/MVT (Multiprogramming with a Variable Number of Tasks).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With dynamic partitioning, the partitions are of variable length and number. When a process is brought into main memory, it is allocated exactly as much memory as it requires and no more.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An example, using 64 Mbytes of main memory, is shown in Figure 7.4 . Initially, main memory is empty, except for the OS (a). The first three processes are loaded in, starting where the operating system ends and occupying just enough space for each process (b, c, d). This leaves a “hole” at the end of memory that is too small for a fourth process. At some point, none of</a:t>
            </a:r>
          </a:p>
          <a:p>
            <a:r>
              <a:rPr lang="en-US" sz="1200" kern="1200" baseline="0" dirty="0">
                <a:solidFill>
                  <a:schemeClr val="tx1"/>
                </a:solidFill>
                <a:latin typeface="+mn-lt"/>
                <a:ea typeface="+mn-ea"/>
                <a:cs typeface="+mn-cs"/>
              </a:rPr>
              <a:t>the processes in memory is ready. The operating system swaps out process 2 (e), which leaves sufficient room to load a new process, process 4 (f). Because process 4 is smaller than process 2, another small hole is created. Later, a point is reached at which none of the processes in main memory is ready, but process 2, in the Ready-Suspend state, is available. Because there is insufficient room in memory for process 2, the operating system swaps process 1 out (g) and swaps process 2 back in (h).</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As this example shows, this method starts out well, but eventually it leads to a situation in which there are a lot of small holes in memory. As time goes on, memory becomes more and more fragmented, and memory utilization declines. This phenomenon is referred to as </a:t>
            </a:r>
            <a:r>
              <a:rPr lang="en-US" sz="1200" b="1" kern="1200" baseline="0" dirty="0">
                <a:solidFill>
                  <a:schemeClr val="tx1"/>
                </a:solidFill>
                <a:latin typeface="+mn-lt"/>
                <a:ea typeface="+mn-ea"/>
                <a:cs typeface="+mn-cs"/>
              </a:rPr>
              <a:t>external fragmentation </a:t>
            </a:r>
            <a:r>
              <a:rPr lang="en-US" sz="1200" b="0" kern="1200" baseline="0" dirty="0">
                <a:solidFill>
                  <a:schemeClr val="tx1"/>
                </a:solidFill>
                <a:latin typeface="+mn-lt"/>
                <a:ea typeface="+mn-ea"/>
                <a:cs typeface="+mn-cs"/>
              </a:rPr>
              <a:t>, indicating that the memory </a:t>
            </a:r>
            <a:r>
              <a:rPr lang="en-US" sz="1200" kern="1200" baseline="0" dirty="0">
                <a:solidFill>
                  <a:schemeClr val="tx1"/>
                </a:solidFill>
                <a:latin typeface="+mn-lt"/>
                <a:ea typeface="+mn-ea"/>
                <a:cs typeface="+mn-cs"/>
              </a:rPr>
              <a:t>that is external to all partitions becomes increasingly fragmented. This is in contrast to internal fragmentation, referred to earlier.</a:t>
            </a: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marR="0" lvl="0" indent="-228600" algn="l" defTabSz="914400" rtl="0" eaLnBrk="0" fontAlgn="base" latinLnBrk="0" hangingPunct="0">
              <a:lnSpc>
                <a:spcPct val="100000"/>
              </a:lnSpc>
              <a:spcBef>
                <a:spcPct val="30000"/>
              </a:spcBef>
              <a:spcAft>
                <a:spcPct val="0"/>
              </a:spcAft>
              <a:buClrTx/>
              <a:buSzTx/>
              <a:buFont typeface="+mj-lt"/>
              <a:buNone/>
              <a:tabLst/>
              <a:defRPr/>
            </a:pPr>
            <a:r>
              <a:rPr lang="en-US" sz="1200" kern="1200" baseline="0" dirty="0">
                <a:solidFill>
                  <a:schemeClr val="tx1"/>
                </a:solidFill>
                <a:latin typeface="+mn-lt"/>
                <a:ea typeface="+mn-ea"/>
                <a:cs typeface="+mn-cs"/>
              </a:rPr>
              <a:t>One technique for overcoming external fragmentation is </a:t>
            </a:r>
            <a:r>
              <a:rPr lang="en-US" sz="1200" b="1" kern="1200" baseline="0" dirty="0">
                <a:solidFill>
                  <a:schemeClr val="tx1"/>
                </a:solidFill>
                <a:latin typeface="+mn-lt"/>
                <a:ea typeface="+mn-ea"/>
                <a:cs typeface="+mn-cs"/>
              </a:rPr>
              <a:t>compaction : </a:t>
            </a:r>
            <a:r>
              <a:rPr lang="en-US" sz="1200" b="0" kern="1200" baseline="0" dirty="0">
                <a:solidFill>
                  <a:schemeClr val="tx1"/>
                </a:solidFill>
                <a:latin typeface="+mn-lt"/>
                <a:ea typeface="+mn-ea"/>
                <a:cs typeface="+mn-cs"/>
              </a:rPr>
              <a:t>From</a:t>
            </a:r>
            <a:r>
              <a:rPr lang="en-US" sz="1200" b="1"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time to time, the OS shifts the processes so that they are contiguous and so that all of the free memory is together in one block. For example, in Figure 7.4h , compaction will result in a block of free memory of length 16M. This may well be sufficient to load in an additional process. The difficulty with compaction is that it is a time-consuming procedure and wasteful of processor time. Note that compaction implies the need for a dynamic relocation capability. That is, it must be possible to move a program from one region to another in main memory without invalidating the memory references in the program (see Appendix 7A).</a:t>
            </a:r>
            <a:endParaRPr lang="en-US" dirty="0"/>
          </a:p>
          <a:p>
            <a:pPr marL="228600" lvl="0" indent="-228600">
              <a:buFont typeface="+mj-lt"/>
              <a:buAutoNum type="arabicPeriod"/>
            </a:pP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1" kern="1200" baseline="0" dirty="0">
                <a:solidFill>
                  <a:schemeClr val="tx1"/>
                </a:solidFill>
                <a:latin typeface="+mn-lt"/>
                <a:ea typeface="+mn-ea"/>
                <a:cs typeface="+mn-cs"/>
              </a:rPr>
              <a:t>PLACEMENT ALGORITHM </a:t>
            </a:r>
            <a:r>
              <a:rPr lang="en-US" sz="1200" b="0" i="1" kern="1200" baseline="0" dirty="0">
                <a:solidFill>
                  <a:schemeClr val="tx1"/>
                </a:solidFill>
                <a:latin typeface="+mn-lt"/>
                <a:ea typeface="+mn-ea"/>
                <a:cs typeface="+mn-cs"/>
              </a:rPr>
              <a:t>Because memory compaction is time consuming, the OS </a:t>
            </a:r>
            <a:r>
              <a:rPr lang="en-US" sz="1200" kern="1200" baseline="0" dirty="0">
                <a:solidFill>
                  <a:schemeClr val="tx1"/>
                </a:solidFill>
                <a:latin typeface="+mn-lt"/>
                <a:ea typeface="+mn-ea"/>
                <a:cs typeface="+mn-cs"/>
              </a:rPr>
              <a:t>designer must be clever in deciding how to assign processes to memory (how to plug the holes). When it is time to load or swap a process into main memory, and if there is more than one free block of memory of sufficient size, then the operating system must decide which free block to allocate.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Three placement algorithms that might be considered are best-fit, first-fit, and next-fit. All, of course, are limited to choosing among free blocks of main memory that are equal to or larger than the process to be brought in. </a:t>
            </a:r>
            <a:r>
              <a:rPr lang="en-US" sz="1200" b="1" kern="1200" baseline="0" dirty="0">
                <a:solidFill>
                  <a:schemeClr val="tx1"/>
                </a:solidFill>
                <a:latin typeface="+mn-lt"/>
                <a:ea typeface="+mn-ea"/>
                <a:cs typeface="+mn-cs"/>
              </a:rPr>
              <a:t>Best-fit </a:t>
            </a:r>
            <a:r>
              <a:rPr lang="en-US" sz="1200" b="0" kern="1200" baseline="0" dirty="0">
                <a:solidFill>
                  <a:schemeClr val="tx1"/>
                </a:solidFill>
                <a:latin typeface="+mn-lt"/>
                <a:ea typeface="+mn-ea"/>
                <a:cs typeface="+mn-cs"/>
              </a:rPr>
              <a:t>chooses the </a:t>
            </a:r>
            <a:r>
              <a:rPr lang="en-US" sz="1200" kern="1200" baseline="0" dirty="0">
                <a:solidFill>
                  <a:schemeClr val="tx1"/>
                </a:solidFill>
                <a:latin typeface="+mn-lt"/>
                <a:ea typeface="+mn-ea"/>
                <a:cs typeface="+mn-cs"/>
              </a:rPr>
              <a:t>block that is closest in size to the request. </a:t>
            </a:r>
            <a:r>
              <a:rPr lang="en-US" sz="1200" b="1" kern="1200" baseline="0" dirty="0">
                <a:solidFill>
                  <a:schemeClr val="tx1"/>
                </a:solidFill>
                <a:latin typeface="+mn-lt"/>
                <a:ea typeface="+mn-ea"/>
                <a:cs typeface="+mn-cs"/>
              </a:rPr>
              <a:t>First-fit </a:t>
            </a:r>
            <a:r>
              <a:rPr lang="en-US" sz="1200" b="0" kern="1200" baseline="0" dirty="0">
                <a:solidFill>
                  <a:schemeClr val="tx1"/>
                </a:solidFill>
                <a:latin typeface="+mn-lt"/>
                <a:ea typeface="+mn-ea"/>
                <a:cs typeface="+mn-cs"/>
              </a:rPr>
              <a:t>begins to scan memory from the </a:t>
            </a:r>
            <a:r>
              <a:rPr lang="en-US" sz="1200" kern="1200" baseline="0" dirty="0">
                <a:solidFill>
                  <a:schemeClr val="tx1"/>
                </a:solidFill>
                <a:latin typeface="+mn-lt"/>
                <a:ea typeface="+mn-ea"/>
                <a:cs typeface="+mn-cs"/>
              </a:rPr>
              <a:t>beginning and chooses the first available block that is large enough. </a:t>
            </a:r>
            <a:r>
              <a:rPr lang="en-US" sz="1200" b="1" kern="1200" baseline="0" dirty="0">
                <a:solidFill>
                  <a:schemeClr val="tx1"/>
                </a:solidFill>
                <a:latin typeface="+mn-lt"/>
                <a:ea typeface="+mn-ea"/>
                <a:cs typeface="+mn-cs"/>
              </a:rPr>
              <a:t>Next-fit </a:t>
            </a:r>
            <a:r>
              <a:rPr lang="en-US" sz="1200" b="0" kern="1200" baseline="0" dirty="0">
                <a:solidFill>
                  <a:schemeClr val="tx1"/>
                </a:solidFill>
                <a:latin typeface="+mn-lt"/>
                <a:ea typeface="+mn-ea"/>
                <a:cs typeface="+mn-cs"/>
              </a:rPr>
              <a:t>begins </a:t>
            </a:r>
            <a:r>
              <a:rPr lang="en-US" sz="1200" kern="1200" baseline="0" dirty="0">
                <a:solidFill>
                  <a:schemeClr val="tx1"/>
                </a:solidFill>
                <a:latin typeface="+mn-lt"/>
                <a:ea typeface="+mn-ea"/>
                <a:cs typeface="+mn-cs"/>
              </a:rPr>
              <a:t>to scan memory from the location of the last placement, and chooses the next available block that is large enough.</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18</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356CD45C-81C4-4E27-A18A-8835B7066D8D}" type="datetimeFigureOut">
              <a:rPr lang="en-US"/>
              <a:pPr>
                <a:defRPr/>
              </a:pPr>
              <a:t>30-Apr-2024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AF246AB-72DE-4829-A3EE-183283F17E51}" type="slidenum">
              <a:rPr lang="en-US"/>
              <a:pPr>
                <a:defRPr/>
              </a:pPr>
              <a:t>‹#›</a:t>
            </a:fld>
            <a:endParaRPr 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4DF4F1D-9F1B-4CA4-932E-311654E99826}" type="datetimeFigureOut">
              <a:rPr lang="en-US"/>
              <a:pPr>
                <a:defRPr/>
              </a:pPr>
              <a:t>30-Apr-2024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9217303-0E5B-4E24-BCA3-62F5881C102C}" type="slidenum">
              <a:rPr lang="en-US"/>
              <a:pPr>
                <a:defRPr/>
              </a:pPr>
              <a:t>‹#›</a:t>
            </a:fld>
            <a:endParaRPr 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BA0E4233-E030-4D82-AE1D-06E871FCE686}" type="datetimeFigureOut">
              <a:rPr lang="en-US"/>
              <a:pPr>
                <a:defRPr/>
              </a:pPr>
              <a:t>30-Apr-2024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DF17966-739A-4E4E-BEF8-5E9D65CAA6DD}" type="slidenum">
              <a:rPr lang="en-US"/>
              <a:pPr>
                <a:defRPr/>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C7C5EE9E-C85E-43CC-91D6-50F7B4961BB7}" type="datetimeFigureOut">
              <a:rPr lang="en-US"/>
              <a:pPr>
                <a:defRPr/>
              </a:pPr>
              <a:t>30-Apr-2024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9B75778-597E-43D2-A71E-341C60964EE0}" type="slidenum">
              <a:rPr lang="en-US"/>
              <a:pPr>
                <a:defRPr/>
              </a:pPr>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E19F8884-1DEA-4C84-A489-E724713CC95E}" type="datetimeFigureOut">
              <a:rPr lang="en-US"/>
              <a:pPr>
                <a:defRPr/>
              </a:pPr>
              <a:t>30-Apr-2024</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F8D71189-8D0B-455A-87B2-3A89DCBF685D}" type="slidenum">
              <a:rPr lang="en-US"/>
              <a:pPr>
                <a:defRPr/>
              </a:pPr>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502DFE5A-BFC9-454A-A87C-69BA4FE25A0F}" type="datetimeFigureOut">
              <a:rPr lang="en-US"/>
              <a:pPr>
                <a:defRPr/>
              </a:pPr>
              <a:t>30-Apr-2024</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F5D2254-A369-4EE7-927D-AE713623071A}" type="slidenum">
              <a:rPr lang="en-US"/>
              <a:pPr>
                <a:defRPr/>
              </a:pPr>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B4A6603-BAC9-4FFA-BE72-57B7C0EDA50D}" type="datetimeFigureOut">
              <a:rPr lang="en-US"/>
              <a:pPr>
                <a:defRPr/>
              </a:pPr>
              <a:t>30-Apr-2024</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269E04E-7B9E-40CB-AECA-9BEEF7D4B165}" type="slidenum">
              <a:rPr lang="en-US"/>
              <a:pPr>
                <a:defRPr/>
              </a:pPr>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056F2E53-C0F0-49CC-8B3F-6BA3D019B99D}" type="datetimeFigureOut">
              <a:rPr lang="en-US"/>
              <a:pPr>
                <a:defRPr/>
              </a:pPr>
              <a:t>30-Apr-2024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A175EC1-C65E-447A-8CAE-CC74F7243464}" type="slidenum">
              <a:rPr lang="en-US"/>
              <a:pPr>
                <a:defRPr/>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44AA9AB-7925-475F-87E4-57F6EF092961}" type="datetimeFigureOut">
              <a:rPr lang="en-US"/>
              <a:pPr>
                <a:defRPr/>
              </a:pPr>
              <a:t>30-Apr-2024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4A6BC3C-EF4C-4932-8208-7FBB5701A0AF}" type="slidenum">
              <a:rPr lang="en-US"/>
              <a:pPr>
                <a:defRPr/>
              </a:pPr>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A9C3780-DD3C-46A5-8303-4579155A8DB3}" type="datetimeFigureOut">
              <a:rPr lang="en-US"/>
              <a:pPr>
                <a:defRPr/>
              </a:pPr>
              <a:t>30-Apr-2024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12BAF33-582B-4B0D-B27A-32E91EEEB040}" type="slidenum">
              <a:rPr lang="en-US"/>
              <a:pPr>
                <a:defRPr/>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33C4502-BF88-49E9-A189-5718D68C95C9}" type="datetimeFigureOut">
              <a:rPr lang="en-US"/>
              <a:pPr>
                <a:defRPr/>
              </a:pPr>
              <a:t>30-Apr-2024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A835F4E-BD93-49E1-84D0-363BA31979D7}" type="slidenum">
              <a:rPr lang="en-US"/>
              <a:pPr>
                <a:defRPr/>
              </a:pPr>
              <a:t>‹#›</a:t>
            </a:fld>
            <a:endParaRPr 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12" name="Rectangle 11"/>
          <p:cNvSpPr/>
          <p:nvPr/>
        </p:nvSpPr>
        <p:spPr>
          <a:xfrm>
            <a:off x="341086" y="928914"/>
            <a:ext cx="8432800" cy="17707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685707" y="968189"/>
            <a:ext cx="7799387" cy="1237130"/>
          </a:xfrm>
        </p:spPr>
        <p:txBody>
          <a:bodyPr anchor="b" anchorCtr="0"/>
          <a:lstStyle>
            <a:lvl1pPr algn="r">
              <a:lnSpc>
                <a:spcPts val="5000"/>
              </a:lnSpc>
              <a:defRPr sz="4600">
                <a:solidFill>
                  <a:schemeClr val="accent1"/>
                </a:solidFill>
                <a:effectLst/>
              </a:defRPr>
            </a:lvl1pPr>
          </a:lstStyle>
          <a:p>
            <a:r>
              <a:rPr lang="en-US"/>
              <a:t>Click to edit Master title style</a:t>
            </a:r>
            <a:endParaRPr/>
          </a:p>
        </p:txBody>
      </p:sp>
      <p:sp>
        <p:nvSpPr>
          <p:cNvPr id="3" name="Subtitle 2"/>
          <p:cNvSpPr>
            <a:spLocks noGrp="1"/>
          </p:cNvSpPr>
          <p:nvPr>
            <p:ph type="subTitle" idx="1"/>
          </p:nvPr>
        </p:nvSpPr>
        <p:spPr>
          <a:xfrm>
            <a:off x="685707" y="2209799"/>
            <a:ext cx="7799387" cy="466165"/>
          </a:xfrm>
        </p:spPr>
        <p:txBody>
          <a:bodyPr/>
          <a:lstStyle>
            <a:lvl1pPr marL="0" indent="0" algn="r">
              <a:lnSpc>
                <a:spcPct val="100000"/>
              </a:lnSpc>
              <a:spcBef>
                <a:spcPts val="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pPr>
              <a:defRPr/>
            </a:pPr>
            <a:fld id="{EF5D2D3F-B0F1-446B-B7CC-19B90EB0017B}" type="datetimeFigureOut">
              <a:rPr lang="en-US" smtClean="0"/>
              <a:pPr>
                <a:defRPr/>
              </a:pPr>
              <a:t>30-Apr-2024</a:t>
            </a:fld>
            <a:endParaRPr lang="en-US" dirty="0"/>
          </a:p>
        </p:txBody>
      </p:sp>
      <p:sp>
        <p:nvSpPr>
          <p:cNvPr id="6" name="Slide Number Placeholder 5"/>
          <p:cNvSpPr>
            <a:spLocks noGrp="1"/>
          </p:cNvSpPr>
          <p:nvPr>
            <p:ph type="sldNum" sz="quarter" idx="12"/>
          </p:nvPr>
        </p:nvSpPr>
        <p:spPr>
          <a:xfrm>
            <a:off x="4305300" y="6492875"/>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46FA4F69-47FA-46CC-8030-E13D0EF9E852}"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57200" y="816802"/>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TitleSlideTop.jpg"/>
          <p:cNvPicPr>
            <a:picLocks noChangeAspect="1"/>
          </p:cNvPicPr>
          <p:nvPr/>
        </p:nvPicPr>
        <p:blipFill>
          <a:blip r:embed="rId2"/>
          <a:stretch>
            <a:fillRect/>
          </a:stretch>
        </p:blipFill>
        <p:spPr>
          <a:xfrm>
            <a:off x="457200" y="457200"/>
            <a:ext cx="8229600" cy="356646"/>
          </a:xfrm>
          <a:prstGeom prst="rect">
            <a:avLst/>
          </a:prstGeom>
        </p:spPr>
      </p:pic>
      <p:pic>
        <p:nvPicPr>
          <p:cNvPr id="10" name="Picture 9" descr="TitleSlideBottom.jpg"/>
          <p:cNvPicPr>
            <a:picLocks noChangeAspect="1"/>
          </p:cNvPicPr>
          <p:nvPr/>
        </p:nvPicPr>
        <p:blipFill>
          <a:blip r:embed="rId3"/>
          <a:stretch>
            <a:fillRect/>
          </a:stretch>
        </p:blipFill>
        <p:spPr>
          <a:xfrm>
            <a:off x="457200" y="2700601"/>
            <a:ext cx="8229600" cy="3700199"/>
          </a:xfrm>
          <a:prstGeom prst="rect">
            <a:avLst/>
          </a:prstGeom>
        </p:spPr>
      </p:pic>
      <p:sp>
        <p:nvSpPr>
          <p:cNvPr id="11"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5120D744-A176-4DCB-9147-2AE7B7E87481}" type="datetimeFigureOut">
              <a:rPr lang="en-US"/>
              <a:pPr/>
              <a:t>30-Apr-2024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3FFF1679-83E0-4571-98D7-4BB535B5F505}" type="slidenum">
              <a:rPr/>
              <a:pPr/>
              <a:t>‹#›</a:t>
            </a:fld>
            <a:endParaRPr/>
          </a:p>
        </p:txBody>
      </p:sp>
      <p:pic>
        <p:nvPicPr>
          <p:cNvPr id="7" name="Picture 6" descr="green.gif"/>
          <p:cNvPicPr>
            <a:picLocks noChangeAspect="1"/>
          </p:cNvPicPr>
          <p:nvPr userDrawn="1"/>
        </p:nvPicPr>
        <p:blipFill>
          <a:blip r:embed="rId2"/>
          <a:srcRect/>
          <a:stretch>
            <a:fillRect/>
          </a:stretch>
        </p:blipFill>
        <p:spPr bwMode="auto">
          <a:xfrm>
            <a:off x="8429625" y="5562600"/>
            <a:ext cx="714375" cy="838200"/>
          </a:xfrm>
          <a:prstGeom prst="rect">
            <a:avLst/>
          </a:prstGeom>
          <a:noFill/>
          <a:ln w="9525">
            <a:noFill/>
            <a:miter lim="800000"/>
            <a:headEnd/>
            <a:tailEnd/>
          </a:ln>
        </p:spPr>
      </p:pic>
      <p:pic>
        <p:nvPicPr>
          <p:cNvPr id="8" name="Picture 7" descr="hand.gif"/>
          <p:cNvPicPr>
            <a:picLocks noChangeAspect="1"/>
          </p:cNvPicPr>
          <p:nvPr userDrawn="1"/>
        </p:nvPicPr>
        <p:blipFill>
          <a:blip r:embed="rId3"/>
          <a:srcRect/>
          <a:stretch>
            <a:fillRect/>
          </a:stretch>
        </p:blipFill>
        <p:spPr bwMode="auto">
          <a:xfrm>
            <a:off x="0" y="6115050"/>
            <a:ext cx="1190625" cy="742950"/>
          </a:xfrm>
          <a:prstGeom prst="rect">
            <a:avLst/>
          </a:prstGeom>
          <a:noFill/>
          <a:ln w="9525">
            <a:noFill/>
            <a:miter lim="800000"/>
            <a:headEnd/>
            <a:tailEnd/>
          </a:ln>
        </p:spPr>
      </p:pic>
      <p:sp>
        <p:nvSpPr>
          <p:cNvPr id="9" name="Freeform 8"/>
          <p:cNvSpPr/>
          <p:nvPr userDrawn="1"/>
        </p:nvSpPr>
        <p:spPr>
          <a:xfrm>
            <a:off x="1171575" y="6124575"/>
            <a:ext cx="7286625"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10" name="Picture 9" descr="top.gif"/>
          <p:cNvPicPr>
            <a:picLocks noChangeAspect="1"/>
          </p:cNvPicPr>
          <p:nvPr userDrawn="1"/>
        </p:nvPicPr>
        <p:blipFill>
          <a:blip r:embed="rId4"/>
          <a:srcRect/>
          <a:stretch>
            <a:fillRect/>
          </a:stretch>
        </p:blipFill>
        <p:spPr bwMode="auto">
          <a:xfrm rot="18850181">
            <a:off x="-155575" y="330200"/>
            <a:ext cx="2000250" cy="1047750"/>
          </a:xfrm>
          <a:prstGeom prst="rect">
            <a:avLst/>
          </a:prstGeom>
          <a:noFill/>
          <a:ln w="9525">
            <a:noFill/>
            <a:miter lim="800000"/>
            <a:headEnd/>
            <a:tailEnd/>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10" name="Rectangle 9"/>
          <p:cNvSpPr/>
          <p:nvPr/>
        </p:nvSpPr>
        <p:spPr>
          <a:xfrm>
            <a:off x="326571" y="362857"/>
            <a:ext cx="8440058" cy="25182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098041" y="3575712"/>
            <a:ext cx="5396671" cy="1340467"/>
          </a:xfrm>
        </p:spPr>
        <p:txBody>
          <a:bodyPr tIns="0" bIns="0" anchor="b" anchorCtr="0"/>
          <a:lstStyle>
            <a:lvl1pPr algn="r">
              <a:defRPr sz="4600" b="0" cap="none" baseline="0">
                <a:solidFill>
                  <a:schemeClr val="accent1"/>
                </a:solidFill>
                <a:effectLst/>
              </a:defRPr>
            </a:lvl1pPr>
          </a:lstStyle>
          <a:p>
            <a:r>
              <a:rPr lang="en-US"/>
              <a:t>Click to edit Master title style</a:t>
            </a:r>
            <a:endParaRPr/>
          </a:p>
        </p:txBody>
      </p:sp>
      <p:sp>
        <p:nvSpPr>
          <p:cNvPr id="3" name="Text Placeholder 2"/>
          <p:cNvSpPr>
            <a:spLocks noGrp="1"/>
          </p:cNvSpPr>
          <p:nvPr>
            <p:ph type="body" idx="1"/>
          </p:nvPr>
        </p:nvSpPr>
        <p:spPr>
          <a:xfrm>
            <a:off x="3098041" y="4980297"/>
            <a:ext cx="5396671" cy="810904"/>
          </a:xfrm>
        </p:spPr>
        <p:txBody>
          <a:bodyPr tIns="0" bIns="0" anchor="t" anchorCtr="0">
            <a:normAutofit/>
          </a:bodyPr>
          <a:lstStyle>
            <a:lvl1pPr marL="0" indent="0" algn="r">
              <a:spcBef>
                <a:spcPts val="300"/>
              </a:spcBef>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60F29AB0-274B-47BE-985F-46164E2F9B8D}" type="datetimeFigureOut">
              <a:rPr lang="en-US" smtClean="0"/>
              <a:pPr>
                <a:defRPr/>
              </a:pPr>
              <a:t>30-Apr-2024</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a:xfrm>
            <a:off x="4306824" y="6492240"/>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93238FDB-2D8C-4804-B582-7DB90366B95F}" type="slidenum">
              <a:rPr lang="en-US" smtClean="0"/>
              <a:pPr>
                <a:defRPr/>
              </a:pPr>
              <a:t>‹#›</a:t>
            </a:fld>
            <a:endParaRPr lang="en-US" dirty="0"/>
          </a:p>
        </p:txBody>
      </p:sp>
      <p:pic>
        <p:nvPicPr>
          <p:cNvPr id="7" name="Picture 6" descr="SectionHeaderLeft.jpg"/>
          <p:cNvPicPr>
            <a:picLocks noChangeAspect="1"/>
          </p:cNvPicPr>
          <p:nvPr/>
        </p:nvPicPr>
        <p:blipFill>
          <a:blip r:embed="rId2"/>
          <a:stretch>
            <a:fillRect/>
          </a:stretch>
        </p:blipFill>
        <p:spPr>
          <a:xfrm>
            <a:off x="470647" y="457200"/>
            <a:ext cx="2216561" cy="5943600"/>
          </a:xfrm>
          <a:prstGeom prst="rect">
            <a:avLst/>
          </a:prstGeom>
        </p:spPr>
      </p:pic>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222366"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8904"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831308" y="2286000"/>
            <a:ext cx="3657600" cy="3840163"/>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76F0B030-1580-4866-BCBB-5B9DCBDFAB68}" type="datetimeFigureOut">
              <a:rPr lang="en-US" smtClean="0"/>
              <a:pPr>
                <a:defRPr/>
              </a:pPr>
              <a:t>30-Apr-2024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FD77EB8B-B6EB-443D-9CB4-B019CEC8F476}" type="slidenum">
              <a:rPr lang="en-US" smtClean="0"/>
              <a:pPr>
                <a:defRPr/>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63388"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63388"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828032"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8032"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fld id="{70FF0F97-1060-4EBF-B543-874A8397FCDC}" type="datetimeFigureOut">
              <a:rPr lang="en-US" smtClean="0"/>
              <a:pPr>
                <a:defRPr/>
              </a:pPr>
              <a:t>30-Apr-2024</a:t>
            </a:fld>
            <a:endParaRPr lang="en-US" dirty="0"/>
          </a:p>
        </p:txBody>
      </p:sp>
      <p:sp>
        <p:nvSpPr>
          <p:cNvPr id="8" name="Footer Placeholder 7"/>
          <p:cNvSpPr>
            <a:spLocks noGrp="1"/>
          </p:cNvSpPr>
          <p:nvPr>
            <p:ph type="ftr" sz="quarter" idx="11"/>
          </p:nvPr>
        </p:nvSpPr>
        <p:spPr/>
        <p:txBody>
          <a:bodyPr/>
          <a:lstStyle/>
          <a:p>
            <a:pPr>
              <a:defRPr/>
            </a:pPr>
            <a:endParaRPr lang="en-US" dirty="0"/>
          </a:p>
        </p:txBody>
      </p:sp>
      <p:sp>
        <p:nvSpPr>
          <p:cNvPr id="9" name="Slide Number Placeholder 8"/>
          <p:cNvSpPr>
            <a:spLocks noGrp="1"/>
          </p:cNvSpPr>
          <p:nvPr>
            <p:ph type="sldNum" sz="quarter" idx="12"/>
          </p:nvPr>
        </p:nvSpPr>
        <p:spPr/>
        <p:txBody>
          <a:bodyPr/>
          <a:lstStyle/>
          <a:p>
            <a:pPr>
              <a:defRPr/>
            </a:pPr>
            <a:fld id="{D56104A5-FF6A-4891-8FE3-D539A7A66E05}" type="slidenum">
              <a:rPr lang="en-US" smtClean="0"/>
              <a:pPr>
                <a:defRPr/>
              </a:pPr>
              <a:t>‹#›</a:t>
            </a:fld>
            <a:endParaRPr lang="en-US" dirty="0"/>
          </a:p>
        </p:txBody>
      </p:sp>
      <p:cxnSp>
        <p:nvCxnSpPr>
          <p:cNvPr id="11" name="Straight Connector 10"/>
          <p:cNvCxnSpPr/>
          <p:nvPr/>
        </p:nvCxnSpPr>
        <p:spPr>
          <a:xfrm rot="5400000">
            <a:off x="2884488" y="4484687"/>
            <a:ext cx="3375025" cy="1588"/>
          </a:xfrm>
          <a:prstGeom prst="lin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4050" y="2286001"/>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5E62B1BE-7229-4612-B077-302E9FB27D58}" type="datetimeFigureOut">
              <a:rPr lang="en-US" smtClean="0"/>
              <a:pPr>
                <a:defRPr/>
              </a:pPr>
              <a:t>30-Apr-2024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654050" y="4302966"/>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5E62B1BE-7229-4612-B077-302E9FB27D58}" type="datetimeFigureOut">
              <a:rPr lang="en-US" smtClean="0"/>
              <a:pPr>
                <a:defRPr/>
              </a:pPr>
              <a:t>30-Apr-2024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Content Placeholder 2"/>
          <p:cNvSpPr>
            <a:spLocks noGrp="1"/>
          </p:cNvSpPr>
          <p:nvPr>
            <p:ph sz="half" idx="14"/>
          </p:nvPr>
        </p:nvSpPr>
        <p:spPr>
          <a:xfrm>
            <a:off x="654085"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5E62B1BE-7229-4612-B077-302E9FB27D58}" type="datetimeFigureOut">
              <a:rPr lang="en-US" smtClean="0"/>
              <a:pPr>
                <a:defRPr/>
              </a:pPr>
              <a:t>30-Apr-2024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658906"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658906"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fld id="{E848A180-20FC-43E6-ACF2-E4D2D7D4238C}" type="datetimeFigureOut">
              <a:rPr lang="en-US" smtClean="0"/>
              <a:pPr>
                <a:defRPr/>
              </a:pPr>
              <a:t>30-Apr-2024</a:t>
            </a:fld>
            <a:endParaRPr lang="en-US" dirty="0"/>
          </a:p>
        </p:txBody>
      </p:sp>
      <p:sp>
        <p:nvSpPr>
          <p:cNvPr id="4" name="Footer Placeholder 3"/>
          <p:cNvSpPr>
            <a:spLocks noGrp="1"/>
          </p:cNvSpPr>
          <p:nvPr>
            <p:ph type="ftr" sz="quarter" idx="11"/>
          </p:nvPr>
        </p:nvSpPr>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97012834-41A2-49E3-8762-B14EE3F5CFB1}" type="slidenum">
              <a:rPr lang="en-US" smtClean="0"/>
              <a:pPr>
                <a:defRPr/>
              </a:pPr>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7" name="Rectangle 6"/>
          <p:cNvSpPr/>
          <p:nvPr/>
        </p:nvSpPr>
        <p:spPr>
          <a:xfrm>
            <a:off x="355600" y="566057"/>
            <a:ext cx="8396514" cy="2598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ectangle 5"/>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pPr>
              <a:defRPr/>
            </a:pPr>
            <a:fld id="{5B242E86-E886-49FE-9E81-CBA74FDF21F4}" type="datetimeFigureOut">
              <a:rPr lang="en-US" smtClean="0"/>
              <a:pPr>
                <a:defRPr/>
              </a:pPr>
              <a:t>30-Apr-2024</a:t>
            </a:fld>
            <a:endParaRPr lang="en-US" dirty="0"/>
          </a:p>
        </p:txBody>
      </p:sp>
      <p:sp>
        <p:nvSpPr>
          <p:cNvPr id="3" name="Footer Placeholder 2"/>
          <p:cNvSpPr>
            <a:spLocks noGrp="1"/>
          </p:cNvSpPr>
          <p:nvPr>
            <p:ph type="ftr" sz="quarter" idx="11"/>
          </p:nvPr>
        </p:nvSpPr>
        <p:spPr/>
        <p:txBody>
          <a:bodyPr/>
          <a:lstStyle/>
          <a:p>
            <a:pPr>
              <a:defRPr/>
            </a:pPr>
            <a:endParaRPr lang="en-US" dirty="0"/>
          </a:p>
        </p:txBody>
      </p:sp>
      <p:sp>
        <p:nvSpPr>
          <p:cNvPr id="4" name="Slide Number Placeholder 3"/>
          <p:cNvSpPr>
            <a:spLocks noGrp="1"/>
          </p:cNvSpPr>
          <p:nvPr>
            <p:ph type="sldNum" sz="quarter" idx="12"/>
          </p:nvPr>
        </p:nvSpPr>
        <p:spPr/>
        <p:txBody>
          <a:bodyPr/>
          <a:lstStyle/>
          <a:p>
            <a:pPr>
              <a:defRPr/>
            </a:pPr>
            <a:fld id="{0A9A6F0D-A611-4358-861D-7B01E8303898}" type="slidenum">
              <a:rPr lang="en-US" smtClean="0"/>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10" name="Rectangle 9"/>
          <p:cNvSpPr/>
          <p:nvPr/>
        </p:nvSpPr>
        <p:spPr>
          <a:xfrm>
            <a:off x="333828" y="566057"/>
            <a:ext cx="8454571" cy="21335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3" name="Content Placeholder 2"/>
          <p:cNvSpPr>
            <a:spLocks noGrp="1"/>
          </p:cNvSpPr>
          <p:nvPr>
            <p:ph idx="1"/>
          </p:nvPr>
        </p:nvSpPr>
        <p:spPr>
          <a:xfrm>
            <a:off x="4828032" y="654268"/>
            <a:ext cx="3657600" cy="5486400"/>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35E854A5-A6D3-4FF2-A83D-4A92E35723B6}" type="datetimeFigureOut">
              <a:rPr lang="en-US" smtClean="0"/>
              <a:pPr>
                <a:defRPr/>
              </a:pPr>
              <a:t>30-Apr-2024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BAB79F47-3AF0-4617-BC60-2E592392BB48}" type="slidenum">
              <a:rPr lang="en-US" smtClean="0"/>
              <a:pPr>
                <a:defRPr/>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useBgFill="1">
        <p:nvSpPr>
          <p:cNvPr id="10" name="Rectangle 9"/>
          <p:cNvSpPr/>
          <p:nvPr/>
        </p:nvSpPr>
        <p:spPr>
          <a:xfrm>
            <a:off x="355600" y="348343"/>
            <a:ext cx="8432800" cy="23513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5598058" y="3310469"/>
            <a:ext cx="5943600" cy="237061"/>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4BFCA2E3-A4EC-4D3C-A723-C30C7527518B}" type="datetimeFigureOut">
              <a:rPr lang="en-US" smtClean="0"/>
              <a:pPr>
                <a:defRPr/>
              </a:pPr>
              <a:t>30-Apr-2024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CADF8B95-FD24-4BC4-B430-69A3136D11E0}" type="slidenum">
              <a:rPr lang="en-US" smtClean="0"/>
              <a:pPr>
                <a:defRPr/>
              </a:pPr>
              <a:t>‹#›</a:t>
            </a:fld>
            <a:endParaRPr lang="en-US" dirty="0"/>
          </a:p>
        </p:txBody>
      </p:sp>
      <p:sp>
        <p:nvSpPr>
          <p:cNvPr id="11" name="Picture Placeholder 10"/>
          <p:cNvSpPr>
            <a:spLocks noGrp="1"/>
          </p:cNvSpPr>
          <p:nvPr>
            <p:ph type="pic" sz="quarter" idx="13"/>
          </p:nvPr>
        </p:nvSpPr>
        <p:spPr>
          <a:xfrm>
            <a:off x="4828032" y="457200"/>
            <a:ext cx="3621024" cy="5943600"/>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609600" y="2286000"/>
            <a:ext cx="7874000" cy="3840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C2AEB11F-C391-4BDD-82EB-6F3E13A9F9E1}" type="datetimeFigureOut">
              <a:rPr lang="en-US" smtClean="0"/>
              <a:pPr>
                <a:defRPr/>
              </a:pPr>
              <a:t>30-Apr-2024</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FBF0D068-AB96-40B8-9FAA-4228627632C0}" type="slidenum">
              <a:rPr lang="en-US" smtClean="0"/>
              <a:pPr>
                <a:defRPr/>
              </a:pPr>
              <a:t>‹#›</a:t>
            </a:fld>
            <a:endParaRPr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1" name="Rectangle 10"/>
          <p:cNvSpPr/>
          <p:nvPr/>
        </p:nvSpPr>
        <p:spPr>
          <a:xfrm>
            <a:off x="348342" y="362857"/>
            <a:ext cx="8440057" cy="233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VerticalRight.jpg"/>
          <p:cNvPicPr>
            <a:picLocks noChangeAspect="1"/>
          </p:cNvPicPr>
          <p:nvPr/>
        </p:nvPicPr>
        <p:blipFill>
          <a:blip r:embed="rId2"/>
          <a:stretch>
            <a:fillRect/>
          </a:stretch>
        </p:blipFill>
        <p:spPr>
          <a:xfrm>
            <a:off x="7111668" y="457200"/>
            <a:ext cx="1546230" cy="5943600"/>
          </a:xfrm>
          <a:prstGeom prst="rect">
            <a:avLst/>
          </a:prstGeom>
        </p:spPr>
      </p:pic>
      <p:sp>
        <p:nvSpPr>
          <p:cNvPr id="10" name="Rectangle 9"/>
          <p:cNvSpPr/>
          <p:nvPr/>
        </p:nvSpPr>
        <p:spPr>
          <a:xfrm rot="5400000">
            <a:off x="4074414"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119582" y="693738"/>
            <a:ext cx="1491018" cy="5432425"/>
          </a:xfrm>
        </p:spPr>
        <p:txBody>
          <a:bodyPr vert="eaVert" tIns="45720" bIns="45720"/>
          <a:lstStyle>
            <a:lvl1pPr algn="l">
              <a:defRPr/>
            </a:lvl1pPr>
          </a:lstStyle>
          <a:p>
            <a:r>
              <a:rPr lang="en-US"/>
              <a:t>Click to edit Master title style</a:t>
            </a:r>
            <a:endParaRPr/>
          </a:p>
        </p:txBody>
      </p:sp>
      <p:sp>
        <p:nvSpPr>
          <p:cNvPr id="3" name="Vertical Text Placeholder 2"/>
          <p:cNvSpPr>
            <a:spLocks noGrp="1"/>
          </p:cNvSpPr>
          <p:nvPr>
            <p:ph type="body" orient="vert" idx="1"/>
          </p:nvPr>
        </p:nvSpPr>
        <p:spPr>
          <a:xfrm>
            <a:off x="457200" y="693738"/>
            <a:ext cx="6019800" cy="54324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042669FE-0345-4152-A335-E3D8B60CD5FA}" type="datetimeFigureOut">
              <a:rPr lang="en-US" smtClean="0"/>
              <a:pPr>
                <a:defRPr/>
              </a:pPr>
              <a:t>30-Apr-2024</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0E7040A0-6A5C-4BDA-AED7-03967CF0473B}"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image" Target="../media/image2.jpeg"/><Relationship Id="rId2" Type="http://schemas.openxmlformats.org/officeDocument/2006/relationships/slideLayout" Target="../slideLayouts/slideLayout13.xml"/><Relationship Id="rId16"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201CF5B1-68BC-4F44-89BE-2F24F67B5729}" type="datetimeFigureOut">
              <a:rPr lang="en-US"/>
              <a:pPr>
                <a:defRPr/>
              </a:pPr>
              <a:t>30-Apr-2024</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F69DAB5F-4C32-47E8-A254-E438E2D0D3F6}"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ransition/>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srcRect/>
          <a:tile tx="0" ty="0" sx="100000" sy="100000" flip="none" algn="tl"/>
        </a:blipFill>
        <a:effectLst/>
      </p:bgPr>
    </p:bg>
    <p:spTree>
      <p:nvGrpSpPr>
        <p:cNvPr id="1" name=""/>
        <p:cNvGrpSpPr/>
        <p:nvPr/>
      </p:nvGrpSpPr>
      <p:grpSpPr>
        <a:xfrm>
          <a:off x="0" y="0"/>
          <a:ext cx="0" cy="0"/>
          <a:chOff x="0" y="0"/>
          <a:chExt cx="0" cy="0"/>
        </a:xfrm>
      </p:grpSpPr>
      <p:pic>
        <p:nvPicPr>
          <p:cNvPr id="11" name="Picture 10" descr="RunningTop-R.jpg"/>
          <p:cNvPicPr>
            <a:picLocks noChangeAspect="1"/>
          </p:cNvPicPr>
          <p:nvPr/>
        </p:nvPicPr>
        <p:blipFill>
          <a:blip r:embed="rId17"/>
          <a:stretch>
            <a:fillRect/>
          </a:stretch>
        </p:blipFill>
        <p:spPr>
          <a:xfrm>
            <a:off x="457200" y="457200"/>
            <a:ext cx="8229600" cy="1382002"/>
          </a:xfrm>
          <a:prstGeom prst="rect">
            <a:avLst/>
          </a:prstGeom>
        </p:spPr>
      </p:pic>
      <p:sp>
        <p:nvSpPr>
          <p:cNvPr id="2" name="Title Placeholder 1"/>
          <p:cNvSpPr>
            <a:spLocks noGrp="1"/>
          </p:cNvSpPr>
          <p:nvPr>
            <p:ph type="title"/>
          </p:nvPr>
        </p:nvSpPr>
        <p:spPr>
          <a:xfrm>
            <a:off x="658813" y="456252"/>
            <a:ext cx="7824788" cy="1323041"/>
          </a:xfrm>
          <a:prstGeom prst="rect">
            <a:avLst/>
          </a:prstGeom>
          <a:effectLst/>
        </p:spPr>
        <p:txBody>
          <a:bodyPr vert="horz" lIns="91440" tIns="0" rIns="91440" bIns="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2286000" y="2286000"/>
            <a:ext cx="6197600" cy="3840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690360" y="6492875"/>
            <a:ext cx="2133600" cy="365125"/>
          </a:xfrm>
          <a:prstGeom prst="rect">
            <a:avLst/>
          </a:prstGeom>
        </p:spPr>
        <p:txBody>
          <a:bodyPr vert="horz" lIns="91440" tIns="45720" rIns="91440" bIns="45720" rtlCol="0" anchor="ctr"/>
          <a:lstStyle>
            <a:lvl1pPr algn="r">
              <a:defRPr sz="1100" b="1">
                <a:solidFill>
                  <a:schemeClr val="bg1">
                    <a:lumMod val="65000"/>
                  </a:schemeClr>
                </a:solidFill>
                <a:latin typeface="Calibri" pitchFamily="34" charset="0"/>
              </a:defRPr>
            </a:lvl1pPr>
          </a:lstStyle>
          <a:p>
            <a:pPr>
              <a:defRPr/>
            </a:pPr>
            <a:fld id="{5E62B1BE-7229-4612-B077-302E9FB27D58}" type="datetimeFigureOut">
              <a:rPr lang="en-US" smtClean="0"/>
              <a:pPr>
                <a:defRPr/>
              </a:pPr>
              <a:t>30-Apr-2024</a:t>
            </a:fld>
            <a:endParaRPr lang="en-US" dirty="0"/>
          </a:p>
        </p:txBody>
      </p:sp>
      <p:sp>
        <p:nvSpPr>
          <p:cNvPr id="5"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endParaRPr lang="en-US" dirty="0"/>
          </a:p>
        </p:txBody>
      </p:sp>
      <p:sp>
        <p:nvSpPr>
          <p:cNvPr id="6" name="Slide Number Placeholder 5"/>
          <p:cNvSpPr>
            <a:spLocks noGrp="1"/>
          </p:cNvSpPr>
          <p:nvPr>
            <p:ph type="sldNum" sz="quarter" idx="4"/>
          </p:nvPr>
        </p:nvSpPr>
        <p:spPr>
          <a:xfrm>
            <a:off x="378666" y="6149788"/>
            <a:ext cx="533400" cy="365125"/>
          </a:xfrm>
          <a:prstGeom prst="rect">
            <a:avLst/>
          </a:prstGeom>
        </p:spPr>
        <p:txBody>
          <a:bodyPr vert="horz" lIns="91440" tIns="91440" rIns="91440" bIns="91440" rtlCol="0" anchor="ctr"/>
          <a:lstStyle>
            <a:lvl1pPr algn="l">
              <a:defRPr sz="1800" b="0">
                <a:solidFill>
                  <a:schemeClr val="accent1"/>
                </a:solidFill>
                <a:latin typeface="Calibri" pitchFamily="34" charset="0"/>
              </a:defRPr>
            </a:lvl1pPr>
          </a:lstStyle>
          <a:p>
            <a:pPr>
              <a:defRPr/>
            </a:pPr>
            <a:fld id="{E4367C90-D8D8-4A11-9BC3-E7451ACC5EB2}"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57200" y="184096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Lst>
  <p:txStyles>
    <p:title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p:titleStyle>
    <p:body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2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3" Type="http://schemas.openxmlformats.org/officeDocument/2006/relationships/image" Target="../media/image23.pdf"/><Relationship Id="rId2" Type="http://schemas.openxmlformats.org/officeDocument/2006/relationships/notesSlide" Target="../notesSlides/notesSlide14.xml"/><Relationship Id="rId1" Type="http://schemas.openxmlformats.org/officeDocument/2006/relationships/slideLayout" Target="../slideLayouts/slideLayout20.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7.xml"/><Relationship Id="rId1" Type="http://schemas.openxmlformats.org/officeDocument/2006/relationships/slideLayout" Target="../slideLayouts/slideLayout20.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8.xml"/><Relationship Id="rId1" Type="http://schemas.openxmlformats.org/officeDocument/2006/relationships/slideLayout" Target="../slideLayouts/slideLayout20.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1"/>
          <p:cNvSpPr>
            <a:spLocks noGrp="1"/>
          </p:cNvSpPr>
          <p:nvPr>
            <p:ph type="title"/>
          </p:nvPr>
        </p:nvSpPr>
        <p:spPr/>
        <p:txBody>
          <a:bodyPr/>
          <a:lstStyle/>
          <a:p>
            <a:pPr eaLnBrk="1" hangingPunct="1"/>
            <a:br>
              <a:rPr lang="en-US" dirty="0"/>
            </a:br>
            <a:r>
              <a:rPr lang="en-US" dirty="0"/>
              <a:t>Memory Management</a:t>
            </a:r>
          </a:p>
        </p:txBody>
      </p:sp>
      <p:sp>
        <p:nvSpPr>
          <p:cNvPr id="3" name="Subtitle 2"/>
          <p:cNvSpPr>
            <a:spLocks noGrp="1"/>
          </p:cNvSpPr>
          <p:nvPr>
            <p:ph type="body" idx="1"/>
          </p:nvPr>
        </p:nvSpPr>
        <p:spPr/>
        <p:txBody>
          <a:bodyPr rtlCol="0">
            <a:normAutofit/>
          </a:bodyPr>
          <a:lstStyle/>
          <a:p>
            <a:pPr>
              <a:defRPr/>
            </a:pPr>
            <a:endParaRPr lang="en-US" i="1" dirty="0">
              <a:solidFill>
                <a:schemeClr val="tx2">
                  <a:lumMod val="75000"/>
                </a:schemeClr>
              </a:solidFill>
            </a:endParaRPr>
          </a:p>
        </p:txBody>
      </p:sp>
      <p:sp>
        <p:nvSpPr>
          <p:cNvPr id="5" name="Rectangle 4"/>
          <p:cNvSpPr/>
          <p:nvPr/>
        </p:nvSpPr>
        <p:spPr>
          <a:xfrm>
            <a:off x="533400" y="1524000"/>
            <a:ext cx="2133600" cy="3046988"/>
          </a:xfrm>
          <a:prstGeom prst="rect">
            <a:avLst/>
          </a:prstGeom>
        </p:spPr>
        <p:txBody>
          <a:bodyPr wrap="square">
            <a:spAutoFit/>
          </a:bodyPr>
          <a:lstStyle/>
          <a:p>
            <a:pPr lvl="0" algn="ctr">
              <a:defRPr/>
            </a:pPr>
            <a:r>
              <a:rPr lang="en-US" sz="3200" i="1" dirty="0">
                <a:solidFill>
                  <a:schemeClr val="bg2">
                    <a:lumMod val="25000"/>
                  </a:schemeClr>
                </a:solidFill>
                <a:latin typeface="Calisto MT"/>
              </a:rPr>
              <a:t>Operating Systems:</a:t>
            </a:r>
            <a:br>
              <a:rPr lang="en-US" sz="3200" i="1" dirty="0">
                <a:solidFill>
                  <a:schemeClr val="bg2">
                    <a:lumMod val="25000"/>
                  </a:schemeClr>
                </a:solidFill>
                <a:latin typeface="Calisto MT"/>
              </a:rPr>
            </a:br>
            <a:r>
              <a:rPr lang="en-US" sz="3200" i="1" dirty="0">
                <a:solidFill>
                  <a:schemeClr val="bg2">
                    <a:lumMod val="25000"/>
                  </a:schemeClr>
                </a:solidFill>
                <a:latin typeface="Calisto MT"/>
              </a:rPr>
              <a:t>Internals and Design Principles</a:t>
            </a:r>
          </a:p>
          <a:p>
            <a:pPr>
              <a:defRPr/>
            </a:pPr>
            <a:endParaRPr lang="en-US" sz="3200" i="1" dirty="0">
              <a:solidFill>
                <a:schemeClr val="bg2">
                  <a:lumMod val="50000"/>
                </a:schemeClr>
              </a:solidFill>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5800" y="2209800"/>
            <a:ext cx="7924800" cy="4154983"/>
          </a:xfrm>
          <a:prstGeom prst="rect">
            <a:avLst/>
          </a:prstGeom>
        </p:spPr>
        <p:txBody>
          <a:bodyPr wrap="square">
            <a:spAutoFit/>
          </a:bodyPr>
          <a:lstStyle/>
          <a:p>
            <a:r>
              <a:rPr lang="en-US" sz="2400" i="1" dirty="0"/>
              <a:t>I cannot guarantee that I carry all the facts in my mind. Intense mental concentration has a curious way of blotting out what has passed. Each of my cases displaces the last, and Mlle. Carère has blurred my</a:t>
            </a:r>
          </a:p>
          <a:p>
            <a:r>
              <a:rPr lang="en-US" sz="2400" i="1" dirty="0"/>
              <a:t>recollection of Baskerville Hall. Tomorrow some other little problem may be submitted to my notice which will in turn dispossess the fair French lady and the infamous Upwood.</a:t>
            </a:r>
          </a:p>
          <a:p>
            <a:endParaRPr lang="en-US" sz="2400" i="1" dirty="0"/>
          </a:p>
          <a:p>
            <a:pPr algn="r"/>
            <a:r>
              <a:rPr lang="en-US" sz="2400" dirty="0"/>
              <a:t>— </a:t>
            </a:r>
            <a:r>
              <a:rPr lang="en-US" sz="2400" i="1" dirty="0"/>
              <a:t>THE HOUND OF THE BASKERVILLES,</a:t>
            </a:r>
          </a:p>
          <a:p>
            <a:pPr algn="r"/>
            <a:r>
              <a:rPr lang="en-US" sz="2400" dirty="0"/>
              <a:t>Arthur Conan Doyle</a:t>
            </a:r>
          </a:p>
        </p:txBody>
      </p:sp>
      <p:sp>
        <p:nvSpPr>
          <p:cNvPr id="7" name="Title 6"/>
          <p:cNvSpPr>
            <a:spLocks noGrp="1"/>
          </p:cNvSpPr>
          <p:nvPr>
            <p:ph type="title"/>
          </p:nvPr>
        </p:nvSpPr>
        <p:spPr/>
        <p:txBody>
          <a:bodyPr/>
          <a:lstStyle/>
          <a:p>
            <a:pPr algn="ctr"/>
            <a:r>
              <a:rPr lang="en-US" sz="4400" dirty="0">
                <a:solidFill>
                  <a:schemeClr val="accent1">
                    <a:lumMod val="75000"/>
                  </a:schemeClr>
                </a:solidFill>
              </a:rPr>
              <a:t>Operating Systems:</a:t>
            </a:r>
            <a:br>
              <a:rPr lang="en-US" sz="4400" dirty="0">
                <a:solidFill>
                  <a:schemeClr val="accent1">
                    <a:lumMod val="75000"/>
                  </a:schemeClr>
                </a:solidFill>
              </a:rPr>
            </a:br>
            <a:r>
              <a:rPr lang="en-US" sz="4400" dirty="0">
                <a:solidFill>
                  <a:schemeClr val="accent1">
                    <a:lumMod val="75000"/>
                  </a:schemeClr>
                </a:solidFill>
              </a:rPr>
              <a:t>Internals and Design Principles</a:t>
            </a:r>
            <a:endParaRPr lang="en-US" sz="4400" dirty="0"/>
          </a:p>
        </p:txBody>
      </p:sp>
      <p:pic>
        <p:nvPicPr>
          <p:cNvPr id="6" name="Picture 5"/>
          <p:cNvPicPr>
            <a:picLocks noChangeAspect="1"/>
          </p:cNvPicPr>
          <p:nvPr/>
        </p:nvPicPr>
        <p:blipFill>
          <a:blip r:embed="rId3"/>
          <a:stretch>
            <a:fillRect/>
          </a:stretch>
        </p:blipFill>
        <p:spPr>
          <a:xfrm>
            <a:off x="990600" y="5257800"/>
            <a:ext cx="1295400" cy="1295400"/>
          </a:xfrm>
          <a:prstGeom prst="rect">
            <a:avLst/>
          </a:prstGeom>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NZ" dirty="0">
                <a:solidFill>
                  <a:schemeClr val="accent4">
                    <a:lumMod val="50000"/>
                  </a:schemeClr>
                </a:solidFill>
              </a:rPr>
              <a:t>Memory Management Requirements</a:t>
            </a:r>
          </a:p>
        </p:txBody>
      </p:sp>
      <p:sp>
        <p:nvSpPr>
          <p:cNvPr id="3" name="Content Placeholder 2"/>
          <p:cNvSpPr>
            <a:spLocks noGrp="1"/>
          </p:cNvSpPr>
          <p:nvPr>
            <p:ph idx="4294967295"/>
          </p:nvPr>
        </p:nvSpPr>
        <p:spPr>
          <a:xfrm>
            <a:off x="685800" y="2057400"/>
            <a:ext cx="7924800" cy="4419600"/>
          </a:xfrm>
        </p:spPr>
        <p:txBody>
          <a:bodyPr>
            <a:normAutofit/>
          </a:bodyPr>
          <a:lstStyle/>
          <a:p>
            <a:r>
              <a:rPr lang="en-NZ" sz="2800" dirty="0"/>
              <a:t>Memory management is intended to satisfy the following requirements:</a:t>
            </a:r>
          </a:p>
          <a:p>
            <a:pPr marL="1139825" indent="-346075"/>
            <a:r>
              <a:rPr lang="en-NZ" sz="2400" dirty="0"/>
              <a:t>Relocation</a:t>
            </a:r>
          </a:p>
          <a:p>
            <a:pPr marL="1139825" indent="-346075"/>
            <a:r>
              <a:rPr lang="en-NZ" sz="2400" dirty="0"/>
              <a:t>Protection</a:t>
            </a:r>
          </a:p>
          <a:p>
            <a:pPr marL="1139825" indent="-346075"/>
            <a:r>
              <a:rPr lang="en-NZ" sz="2400" dirty="0"/>
              <a:t>Sharing</a:t>
            </a:r>
          </a:p>
          <a:p>
            <a:pPr marL="1139825" indent="-346075"/>
            <a:r>
              <a:rPr lang="en-NZ" sz="2400" dirty="0"/>
              <a:t>Logical organization</a:t>
            </a:r>
          </a:p>
          <a:p>
            <a:pPr marL="1139825" indent="-346075"/>
            <a:r>
              <a:rPr lang="en-NZ" sz="2400" dirty="0"/>
              <a:t>Physical organization</a:t>
            </a:r>
          </a:p>
        </p:txBody>
      </p:sp>
      <p:pic>
        <p:nvPicPr>
          <p:cNvPr id="6" name="Picture 5"/>
          <p:cNvPicPr>
            <a:picLocks noChangeAspect="1"/>
          </p:cNvPicPr>
          <p:nvPr/>
        </p:nvPicPr>
        <p:blipFill>
          <a:blip r:embed="rId3"/>
          <a:stretch>
            <a:fillRect/>
          </a:stretch>
        </p:blipFill>
        <p:spPr>
          <a:xfrm>
            <a:off x="5715000" y="3048000"/>
            <a:ext cx="2222500" cy="222250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30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slide(fromBottom)">
                                      <p:cBhvr>
                                        <p:cTn id="7" dur="500"/>
                                        <p:tgtEl>
                                          <p:spTgt spid="3">
                                            <p:txEl>
                                              <p:pRg st="1" end="1"/>
                                            </p:txEl>
                                          </p:spTgt>
                                        </p:tgtEl>
                                      </p:cBhvr>
                                    </p:animEffect>
                                  </p:childTnLst>
                                </p:cTn>
                              </p:par>
                            </p:childTnLst>
                          </p:cTn>
                        </p:par>
                        <p:par>
                          <p:cTn id="8" fill="hold">
                            <p:stCondLst>
                              <p:cond delay="800"/>
                            </p:stCondLst>
                            <p:childTnLst>
                              <p:par>
                                <p:cTn id="9" presetID="12" presetClass="entr" presetSubtype="4" fill="hold" grpId="0" nodeType="afterEffect">
                                  <p:stCondLst>
                                    <p:cond delay="30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slide(fromBottom)">
                                      <p:cBhvr>
                                        <p:cTn id="11" dur="500"/>
                                        <p:tgtEl>
                                          <p:spTgt spid="3">
                                            <p:txEl>
                                              <p:pRg st="2" end="2"/>
                                            </p:txEl>
                                          </p:spTgt>
                                        </p:tgtEl>
                                      </p:cBhvr>
                                    </p:animEffect>
                                  </p:childTnLst>
                                </p:cTn>
                              </p:par>
                            </p:childTnLst>
                          </p:cTn>
                        </p:par>
                        <p:par>
                          <p:cTn id="12" fill="hold">
                            <p:stCondLst>
                              <p:cond delay="1600"/>
                            </p:stCondLst>
                            <p:childTnLst>
                              <p:par>
                                <p:cTn id="13" presetID="12" presetClass="entr" presetSubtype="4" fill="hold" grpId="0" nodeType="afterEffect">
                                  <p:stCondLst>
                                    <p:cond delay="30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slide(fromBottom)">
                                      <p:cBhvr>
                                        <p:cTn id="15" dur="500"/>
                                        <p:tgtEl>
                                          <p:spTgt spid="3">
                                            <p:txEl>
                                              <p:pRg st="3" end="3"/>
                                            </p:txEl>
                                          </p:spTgt>
                                        </p:tgtEl>
                                      </p:cBhvr>
                                    </p:animEffect>
                                  </p:childTnLst>
                                </p:cTn>
                              </p:par>
                            </p:childTnLst>
                          </p:cTn>
                        </p:par>
                        <p:par>
                          <p:cTn id="16" fill="hold">
                            <p:stCondLst>
                              <p:cond delay="2400"/>
                            </p:stCondLst>
                            <p:childTnLst>
                              <p:par>
                                <p:cTn id="17" presetID="12" presetClass="entr" presetSubtype="4" fill="hold" grpId="0" nodeType="afterEffect">
                                  <p:stCondLst>
                                    <p:cond delay="30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slide(fromBottom)">
                                      <p:cBhvr>
                                        <p:cTn id="19" dur="500"/>
                                        <p:tgtEl>
                                          <p:spTgt spid="3">
                                            <p:txEl>
                                              <p:pRg st="4" end="4"/>
                                            </p:txEl>
                                          </p:spTgt>
                                        </p:tgtEl>
                                      </p:cBhvr>
                                    </p:animEffect>
                                  </p:childTnLst>
                                </p:cTn>
                              </p:par>
                            </p:childTnLst>
                          </p:cTn>
                        </p:par>
                        <p:par>
                          <p:cTn id="20" fill="hold">
                            <p:stCondLst>
                              <p:cond delay="3200"/>
                            </p:stCondLst>
                            <p:childTnLst>
                              <p:par>
                                <p:cTn id="21" presetID="12" presetClass="entr" presetSubtype="4" fill="hold" grpId="0" nodeType="afterEffect">
                                  <p:stCondLst>
                                    <p:cond delay="30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slide(fromBottom)">
                                      <p:cBhvr>
                                        <p:cTn id="2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457200"/>
            <a:ext cx="4800600" cy="1143948"/>
          </a:xfrm>
        </p:spPr>
        <p:txBody>
          <a:bodyPr/>
          <a:lstStyle/>
          <a:p>
            <a:r>
              <a:rPr lang="en-US" b="1" dirty="0">
                <a:solidFill>
                  <a:schemeClr val="accent6">
                    <a:lumMod val="75000"/>
                  </a:schemeClr>
                </a:solidFill>
              </a:rPr>
              <a:t>Relocation</a:t>
            </a:r>
          </a:p>
        </p:txBody>
      </p:sp>
      <p:sp>
        <p:nvSpPr>
          <p:cNvPr id="3" name="Content Placeholder 2"/>
          <p:cNvSpPr>
            <a:spLocks noGrp="1"/>
          </p:cNvSpPr>
          <p:nvPr>
            <p:ph idx="4294967295"/>
          </p:nvPr>
        </p:nvSpPr>
        <p:spPr>
          <a:xfrm>
            <a:off x="457200" y="2209800"/>
            <a:ext cx="8229600" cy="5257800"/>
          </a:xfrm>
        </p:spPr>
        <p:txBody>
          <a:bodyPr>
            <a:normAutofit/>
          </a:bodyPr>
          <a:lstStyle/>
          <a:p>
            <a:r>
              <a:rPr lang="en-US" dirty="0"/>
              <a:t>Programmers typically do not know in advance which other programs will be resident in main memory at the time of execution of their program</a:t>
            </a:r>
          </a:p>
          <a:p>
            <a:r>
              <a:rPr lang="en-US" dirty="0"/>
              <a:t>Active processes need to be able to be swapped in and out of main memory in order to maximize processor utilization</a:t>
            </a:r>
          </a:p>
          <a:p>
            <a:r>
              <a:rPr lang="en-US" dirty="0"/>
              <a:t>Specifying that a process must be placed in the same memory          region when it is swapped back in would be limiting</a:t>
            </a:r>
          </a:p>
          <a:p>
            <a:pPr lvl="2"/>
            <a:r>
              <a:rPr lang="en-US" sz="2000" dirty="0"/>
              <a:t>may need to </a:t>
            </a:r>
            <a:r>
              <a:rPr lang="en-US" sz="2000" i="1" dirty="0"/>
              <a:t>relocate </a:t>
            </a:r>
            <a:r>
              <a:rPr lang="en-US" sz="2000" dirty="0"/>
              <a:t> the process to a different area                          of memory</a:t>
            </a:r>
          </a:p>
        </p:txBody>
      </p:sp>
      <p:pic>
        <p:nvPicPr>
          <p:cNvPr id="7" name="Picture 6"/>
          <p:cNvPicPr>
            <a:picLocks noChangeAspect="1"/>
          </p:cNvPicPr>
          <p:nvPr/>
        </p:nvPicPr>
        <p:blipFill>
          <a:blip r:embed="rId3"/>
          <a:stretch>
            <a:fillRect/>
          </a:stretch>
        </p:blipFill>
        <p:spPr>
          <a:xfrm>
            <a:off x="6629400" y="4379324"/>
            <a:ext cx="2514600" cy="2478676"/>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afterEffect">
                                  <p:stCondLst>
                                    <p:cond delay="100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p:cTn id="7" dur="2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8" dur="2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9" dur="2000" fill="hold"/>
                                        <p:tgtEl>
                                          <p:spTgt spid="3">
                                            <p:txEl>
                                              <p:pRg st="3" end="3"/>
                                            </p:txEl>
                                          </p:spTgt>
                                        </p:tgtEl>
                                        <p:attrNameLst>
                                          <p:attrName>ppt_x</p:attrName>
                                        </p:attrNameLst>
                                      </p:cBhvr>
                                      <p:tavLst>
                                        <p:tav tm="0" fmla="#ppt_x+(cos(-2*pi*(1-$))*-#ppt_x-sin(-2*pi*(1-$))*(1-#ppt_y))*(1-$)">
                                          <p:val>
                                            <p:fltVal val="0"/>
                                          </p:val>
                                        </p:tav>
                                        <p:tav tm="100000">
                                          <p:val>
                                            <p:fltVal val="1"/>
                                          </p:val>
                                        </p:tav>
                                      </p:tavLst>
                                    </p:anim>
                                    <p:anim calcmode="lin" valueType="num">
                                      <p:cBhvr>
                                        <p:cTn id="10" dur="2000" fill="hold"/>
                                        <p:tgtEl>
                                          <p:spTgt spid="3">
                                            <p:txEl>
                                              <p:pRg st="3" end="3"/>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219200" y="533400"/>
            <a:ext cx="8382000" cy="838200"/>
          </a:xfrm>
        </p:spPr>
        <p:txBody>
          <a:bodyPr/>
          <a:lstStyle/>
          <a:p>
            <a:pPr algn="l"/>
            <a:r>
              <a:rPr lang="en-US" sz="4800" dirty="0">
                <a:solidFill>
                  <a:schemeClr val="accent4">
                    <a:lumMod val="50000"/>
                  </a:schemeClr>
                </a:solidFill>
              </a:rPr>
              <a:t>Addressing Requirements</a:t>
            </a:r>
          </a:p>
        </p:txBody>
      </p:sp>
      <p:pic>
        <p:nvPicPr>
          <p:cNvPr id="4" name="Content Placeholder 3" descr="Fig07_01.gif"/>
          <p:cNvPicPr>
            <a:picLocks noGrp="1" noChangeAspect="1"/>
          </p:cNvPicPr>
          <p:nvPr>
            <p:ph type="pic" sz="quarter" idx="4294967295"/>
          </p:nvPr>
        </p:nvPicPr>
        <p:blipFill>
          <a:blip r:embed="rId3"/>
          <a:srcRect t="-40031" b="-40031"/>
          <a:stretch>
            <a:fillRect/>
          </a:stretch>
        </p:blipFill>
        <p:spPr>
          <a:xfrm>
            <a:off x="1828800" y="-457200"/>
            <a:ext cx="5715000" cy="9005298"/>
          </a:xfrm>
        </p:spPr>
      </p:pic>
    </p:spTree>
  </p:cSld>
  <p:clrMapOvr>
    <a:masterClrMapping/>
  </p:clrMapOvr>
  <p:transition spd="slow">
    <p:pull dir="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l"/>
            <a:r>
              <a:rPr lang="en-US" b="1" dirty="0">
                <a:solidFill>
                  <a:schemeClr val="accent6">
                    <a:lumMod val="75000"/>
                  </a:schemeClr>
                </a:solidFill>
              </a:rPr>
              <a:t>Protection</a:t>
            </a:r>
          </a:p>
        </p:txBody>
      </p:sp>
      <p:sp>
        <p:nvSpPr>
          <p:cNvPr id="3" name="Content Placeholder 2"/>
          <p:cNvSpPr>
            <a:spLocks noGrp="1"/>
          </p:cNvSpPr>
          <p:nvPr>
            <p:ph idx="4294967295"/>
          </p:nvPr>
        </p:nvSpPr>
        <p:spPr>
          <a:xfrm>
            <a:off x="457200" y="2057400"/>
            <a:ext cx="8229600" cy="5105400"/>
          </a:xfrm>
        </p:spPr>
        <p:txBody>
          <a:bodyPr/>
          <a:lstStyle/>
          <a:p>
            <a:r>
              <a:rPr lang="en-US" dirty="0"/>
              <a:t>Processes need to acquire permission to reference memory locations for reading or writing purposes</a:t>
            </a:r>
          </a:p>
          <a:p>
            <a:r>
              <a:rPr lang="en-US" dirty="0"/>
              <a:t>Location of a program in main memory is unpredictable</a:t>
            </a:r>
          </a:p>
          <a:p>
            <a:r>
              <a:rPr lang="en-US" dirty="0"/>
              <a:t>Memory references generated by a process must be checked at run time</a:t>
            </a:r>
          </a:p>
          <a:p>
            <a:r>
              <a:rPr lang="en-US" dirty="0"/>
              <a:t>Mechanisms that support relocation also support protection</a:t>
            </a:r>
          </a:p>
          <a:p>
            <a:endParaRPr lang="en-US" dirty="0"/>
          </a:p>
        </p:txBody>
      </p:sp>
      <p:pic>
        <p:nvPicPr>
          <p:cNvPr id="4" name="Picture 3"/>
          <p:cNvPicPr>
            <a:picLocks noChangeAspect="1"/>
          </p:cNvPicPr>
          <p:nvPr/>
        </p:nvPicPr>
        <p:blipFill>
          <a:blip r:embed="rId3"/>
          <a:stretch>
            <a:fillRect/>
          </a:stretch>
        </p:blipFill>
        <p:spPr>
          <a:xfrm>
            <a:off x="3200400" y="4495800"/>
            <a:ext cx="2965704" cy="204470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to="" calcmode="lin" valueType="num">
                                      <p:cBhvr>
                                        <p:cTn id="7" dur="1" fill="hold"/>
                                        <p:tgtEl>
                                          <p:spTgt spid="3">
                                            <p:txEl>
                                              <p:pRg st="0" end="0"/>
                                            </p:txEl>
                                          </p:spTgt>
                                        </p:tgtEl>
                                        <p:attrNameLst>
                                          <p:attrName/>
                                        </p:attrNameLst>
                                      </p:cBhvr>
                                    </p:anim>
                                  </p:childTnLst>
                                </p:cTn>
                              </p:par>
                              <p:par>
                                <p:cTn id="8" presetID="24"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 to="" calcmode="lin" valueType="num">
                                      <p:cBhvr>
                                        <p:cTn id="10" dur="1" fill="hold"/>
                                        <p:tgtEl>
                                          <p:spTgt spid="3">
                                            <p:txEl>
                                              <p:pRg st="1" end="1"/>
                                            </p:txEl>
                                          </p:spTgt>
                                        </p:tgtEl>
                                        <p:attrNameLst>
                                          <p:attrName/>
                                        </p:attrNameLst>
                                      </p:cBhvr>
                                    </p:anim>
                                  </p:childTnLst>
                                </p:cTn>
                              </p:par>
                              <p:par>
                                <p:cTn id="11" presetID="24"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to="" calcmode="lin" valueType="num">
                                      <p:cBhvr>
                                        <p:cTn id="13" dur="1" fill="hold"/>
                                        <p:tgtEl>
                                          <p:spTgt spid="3">
                                            <p:txEl>
                                              <p:pRg st="2" end="2"/>
                                            </p:txEl>
                                          </p:spTgt>
                                        </p:tgtEl>
                                        <p:attrNameLst>
                                          <p:attrName/>
                                        </p:attrNameLst>
                                      </p:cBhvr>
                                    </p:anim>
                                  </p:childTnLst>
                                </p:cTn>
                              </p:par>
                              <p:par>
                                <p:cTn id="14" presetID="24"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 to="" calcmode="lin" valueType="num">
                                      <p:cBhvr>
                                        <p:cTn id="16" dur="1" fill="hold"/>
                                        <p:tgtEl>
                                          <p:spTgt spid="3">
                                            <p:txEl>
                                              <p:pRg st="3" end="3"/>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457200"/>
            <a:ext cx="7824788" cy="1143948"/>
          </a:xfrm>
        </p:spPr>
        <p:txBody>
          <a:bodyPr/>
          <a:lstStyle/>
          <a:p>
            <a:pPr algn="ctr"/>
            <a:r>
              <a:rPr lang="en-US" sz="6000" b="1" dirty="0">
                <a:solidFill>
                  <a:schemeClr val="accent1">
                    <a:lumMod val="50000"/>
                  </a:schemeClr>
                </a:solidFill>
              </a:rPr>
              <a:t>Sharing</a:t>
            </a:r>
          </a:p>
        </p:txBody>
      </p:sp>
      <p:sp>
        <p:nvSpPr>
          <p:cNvPr id="3" name="Content Placeholder 2"/>
          <p:cNvSpPr>
            <a:spLocks noGrp="1"/>
          </p:cNvSpPr>
          <p:nvPr>
            <p:ph idx="4294967295"/>
          </p:nvPr>
        </p:nvSpPr>
        <p:spPr>
          <a:xfrm>
            <a:off x="533400" y="2133600"/>
            <a:ext cx="8229600" cy="5181600"/>
          </a:xfrm>
        </p:spPr>
        <p:txBody>
          <a:bodyPr/>
          <a:lstStyle/>
          <a:p>
            <a:r>
              <a:rPr lang="en-US" sz="2200" dirty="0"/>
              <a:t>Advantageous to allow each process access to the same copy of the program rather than have their own separate copy</a:t>
            </a:r>
          </a:p>
          <a:p>
            <a:r>
              <a:rPr lang="en-US" sz="2200" dirty="0"/>
              <a:t>Memory management must allow controlled access to shared areas of memory without compromising protection</a:t>
            </a:r>
          </a:p>
          <a:p>
            <a:r>
              <a:rPr lang="en-US" sz="2200" dirty="0"/>
              <a:t>Mechanisms used to support relocation support sharing capabilities</a:t>
            </a:r>
          </a:p>
          <a:p>
            <a:endParaRPr lang="en-US" dirty="0"/>
          </a:p>
        </p:txBody>
      </p:sp>
      <p:pic>
        <p:nvPicPr>
          <p:cNvPr id="7" name="Picture 6"/>
          <p:cNvPicPr>
            <a:picLocks noChangeAspect="1"/>
          </p:cNvPicPr>
          <p:nvPr/>
        </p:nvPicPr>
        <p:blipFill>
          <a:blip r:embed="rId3"/>
          <a:stretch>
            <a:fillRect/>
          </a:stretch>
        </p:blipFill>
        <p:spPr>
          <a:xfrm>
            <a:off x="3733800" y="4724400"/>
            <a:ext cx="1752600" cy="175260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20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2000" fill="hold"/>
                                        <p:tgtEl>
                                          <p:spTgt spid="3">
                                            <p:txEl>
                                              <p:pRg st="0" end="0"/>
                                            </p:txEl>
                                          </p:spTgt>
                                        </p:tgtEl>
                                        <p:attrNameLst>
                                          <p:attrName>ppt_y</p:attrName>
                                        </p:attrNameLst>
                                      </p:cBhvr>
                                      <p:tavLst>
                                        <p:tav tm="0">
                                          <p:val>
                                            <p:strVal val="#ppt_y"/>
                                          </p:val>
                                        </p:tav>
                                        <p:tav tm="100000">
                                          <p:val>
                                            <p:strVal val="#ppt_y"/>
                                          </p:val>
                                        </p:tav>
                                      </p:tavLst>
                                    </p:anim>
                                  </p:childTnLst>
                                </p:cTn>
                              </p:par>
                              <p:par>
                                <p:cTn id="9" presetID="37" presetClass="entr" presetSubtype="0" fill="hold" grpId="1"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3000"/>
                                        <p:tgtEl>
                                          <p:spTgt spid="3">
                                            <p:txEl>
                                              <p:pRg st="1" end="1"/>
                                            </p:txEl>
                                          </p:spTgt>
                                        </p:tgtEl>
                                      </p:cBhvr>
                                    </p:animEffect>
                                    <p:anim calcmode="lin" valueType="num">
                                      <p:cBhvr>
                                        <p:cTn id="12" dur="3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3" dur="2700" decel="100000" fill="hold"/>
                                        <p:tgtEl>
                                          <p:spTgt spid="3">
                                            <p:txEl>
                                              <p:pRg st="1" end="1"/>
                                            </p:txEl>
                                          </p:spTgt>
                                        </p:tgtEl>
                                        <p:attrNameLst>
                                          <p:attrName>ppt_y</p:attrName>
                                        </p:attrNameLst>
                                      </p:cBhvr>
                                      <p:tavLst>
                                        <p:tav tm="0">
                                          <p:val>
                                            <p:strVal val="#ppt_y+1"/>
                                          </p:val>
                                        </p:tav>
                                        <p:tav tm="100000">
                                          <p:val>
                                            <p:strVal val="#ppt_y-.03"/>
                                          </p:val>
                                        </p:tav>
                                      </p:tavLst>
                                    </p:anim>
                                    <p:anim calcmode="lin" valueType="num">
                                      <p:cBhvr>
                                        <p:cTn id="14" dur="300" accel="100000" fill="hold">
                                          <p:stCondLst>
                                            <p:cond delay="2700"/>
                                          </p:stCondLst>
                                        </p:cTn>
                                        <p:tgtEl>
                                          <p:spTgt spid="3">
                                            <p:txEl>
                                              <p:pRg st="1" end="1"/>
                                            </p:txEl>
                                          </p:spTgt>
                                        </p:tgtEl>
                                        <p:attrNameLst>
                                          <p:attrName>ppt_y</p:attrName>
                                        </p:attrNameLst>
                                      </p:cBhvr>
                                      <p:tavLst>
                                        <p:tav tm="0">
                                          <p:val>
                                            <p:strVal val="#ppt_y-.03"/>
                                          </p:val>
                                        </p:tav>
                                        <p:tav tm="100000">
                                          <p:val>
                                            <p:strVal val="#ppt_y"/>
                                          </p:val>
                                        </p:tav>
                                      </p:tavLst>
                                    </p:anim>
                                  </p:childTnLst>
                                </p:cTn>
                              </p:par>
                              <p:par>
                                <p:cTn id="15" presetID="2" presetClass="entr" presetSubtype="2" accel="50000" decel="5000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2000" fill="hold"/>
                                        <p:tgtEl>
                                          <p:spTgt spid="3">
                                            <p:txEl>
                                              <p:pRg st="2" end="2"/>
                                            </p:txEl>
                                          </p:spTgt>
                                        </p:tgtEl>
                                        <p:attrNameLst>
                                          <p:attrName>ppt_x</p:attrName>
                                        </p:attrNameLst>
                                      </p:cBhvr>
                                      <p:tavLst>
                                        <p:tav tm="0">
                                          <p:val>
                                            <p:strVal val="1+#ppt_w/2"/>
                                          </p:val>
                                        </p:tav>
                                        <p:tav tm="100000">
                                          <p:val>
                                            <p:strVal val="#ppt_x"/>
                                          </p:val>
                                        </p:tav>
                                      </p:tavLst>
                                    </p:anim>
                                    <p:anim calcmode="lin" valueType="num">
                                      <p:cBhvr additive="base">
                                        <p:cTn id="18" dur="20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57200"/>
            <a:ext cx="9144000" cy="1220148"/>
          </a:xfrm>
        </p:spPr>
        <p:txBody>
          <a:bodyPr/>
          <a:lstStyle/>
          <a:p>
            <a:pPr algn="ctr"/>
            <a:r>
              <a:rPr lang="en-US" b="1" dirty="0">
                <a:ln w="1905"/>
                <a:solidFill>
                  <a:schemeClr val="accent4">
                    <a:lumMod val="50000"/>
                  </a:schemeClr>
                </a:solidFill>
                <a:effectLst>
                  <a:innerShdw blurRad="69850" dist="43180" dir="5400000">
                    <a:srgbClr val="000000">
                      <a:alpha val="65000"/>
                    </a:srgbClr>
                  </a:innerShdw>
                </a:effectLst>
              </a:rPr>
              <a:t>Logical Organization</a:t>
            </a:r>
          </a:p>
        </p:txBody>
      </p:sp>
      <p:sp>
        <p:nvSpPr>
          <p:cNvPr id="3" name="Content Placeholder 2"/>
          <p:cNvSpPr>
            <a:spLocks noGrp="1"/>
          </p:cNvSpPr>
          <p:nvPr>
            <p:ph idx="4294967295"/>
          </p:nvPr>
        </p:nvSpPr>
        <p:spPr>
          <a:xfrm>
            <a:off x="457200" y="2286000"/>
            <a:ext cx="8229600" cy="4267200"/>
          </a:xfrm>
        </p:spPr>
        <p:txBody>
          <a:bodyPr>
            <a:normAutofit lnSpcReduction="10000"/>
          </a:bodyPr>
          <a:lstStyle/>
          <a:p>
            <a:r>
              <a:rPr lang="en-US" sz="2300" dirty="0"/>
              <a:t>Memory is organized as linear</a:t>
            </a:r>
          </a:p>
          <a:p>
            <a:endParaRPr lang="en-US" dirty="0"/>
          </a:p>
          <a:p>
            <a:endParaRPr lang="en-US" dirty="0"/>
          </a:p>
          <a:p>
            <a:endParaRPr lang="en-US" dirty="0"/>
          </a:p>
          <a:p>
            <a:endParaRPr lang="en-US" dirty="0"/>
          </a:p>
          <a:p>
            <a:pPr>
              <a:buNone/>
            </a:pPr>
            <a:endParaRPr lang="en-US" sz="1200" dirty="0"/>
          </a:p>
          <a:p>
            <a:pPr>
              <a:buNone/>
            </a:pPr>
            <a:endParaRPr lang="en-US" sz="1200" dirty="0"/>
          </a:p>
          <a:p>
            <a:r>
              <a:rPr lang="en-US" sz="2300" dirty="0"/>
              <a:t>Segmentation is the tool that most readily satisfies requirements</a:t>
            </a:r>
          </a:p>
          <a:p>
            <a:endParaRPr lang="en-US" sz="2600" dirty="0"/>
          </a:p>
        </p:txBody>
      </p:sp>
      <p:graphicFrame>
        <p:nvGraphicFramePr>
          <p:cNvPr id="4" name="Diagram 3"/>
          <p:cNvGraphicFramePr/>
          <p:nvPr/>
        </p:nvGraphicFramePr>
        <p:xfrm>
          <a:off x="1295400" y="2971800"/>
          <a:ext cx="6553200" cy="241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533400"/>
            <a:ext cx="8205788" cy="1067747"/>
          </a:xfrm>
        </p:spPr>
        <p:txBody>
          <a:bodyPr/>
          <a:lstStyle/>
          <a:p>
            <a:r>
              <a:rPr lang="en-US" b="1" dirty="0">
                <a:solidFill>
                  <a:schemeClr val="accent1">
                    <a:lumMod val="75000"/>
                  </a:schemeClr>
                </a:solidFill>
              </a:rPr>
              <a:t>Physical Organization</a:t>
            </a:r>
          </a:p>
        </p:txBody>
      </p:sp>
      <p:graphicFrame>
        <p:nvGraphicFramePr>
          <p:cNvPr id="5" name="Content Placeholder 4"/>
          <p:cNvGraphicFramePr>
            <a:graphicFrameLocks noGrp="1"/>
          </p:cNvGraphicFramePr>
          <p:nvPr>
            <p:ph idx="4294967295"/>
          </p:nvPr>
        </p:nvGraphicFramePr>
        <p:xfrm>
          <a:off x="457200" y="1752600"/>
          <a:ext cx="8229600" cy="5105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solidFill>
                  <a:schemeClr val="accent4">
                    <a:lumMod val="50000"/>
                  </a:schemeClr>
                </a:solidFill>
              </a:rPr>
              <a:t>Memory Partitioning</a:t>
            </a:r>
          </a:p>
        </p:txBody>
      </p:sp>
      <p:sp>
        <p:nvSpPr>
          <p:cNvPr id="3" name="Content Placeholder 2"/>
          <p:cNvSpPr>
            <a:spLocks noGrp="1"/>
          </p:cNvSpPr>
          <p:nvPr>
            <p:ph idx="4294967295"/>
          </p:nvPr>
        </p:nvSpPr>
        <p:spPr>
          <a:xfrm>
            <a:off x="457200" y="2133600"/>
            <a:ext cx="8382000" cy="5029200"/>
          </a:xfrm>
        </p:spPr>
        <p:txBody>
          <a:bodyPr/>
          <a:lstStyle/>
          <a:p>
            <a:r>
              <a:rPr lang="en-NZ" sz="2200" dirty="0"/>
              <a:t>Memory management brings processes into main memory for execution by the processor</a:t>
            </a:r>
          </a:p>
          <a:p>
            <a:pPr marL="1027113" lvl="5" indent="-279400">
              <a:buClr>
                <a:schemeClr val="accent1">
                  <a:lumMod val="75000"/>
                </a:schemeClr>
              </a:buClr>
              <a:buFont typeface="Wingdings" charset="2"/>
              <a:buChar char="§"/>
            </a:pPr>
            <a:r>
              <a:rPr lang="en-NZ" sz="2200" dirty="0"/>
              <a:t> involves virtual memory</a:t>
            </a:r>
          </a:p>
          <a:p>
            <a:pPr marL="1082675" lvl="3" indent="-346075">
              <a:buClr>
                <a:schemeClr val="accent1">
                  <a:lumMod val="75000"/>
                </a:schemeClr>
              </a:buClr>
              <a:buSzPct val="100000"/>
              <a:buFont typeface="Wingdings" charset="2"/>
              <a:buChar char="§"/>
            </a:pPr>
            <a:r>
              <a:rPr lang="en-NZ" sz="2200" dirty="0"/>
              <a:t>based on segmentation and paging</a:t>
            </a:r>
          </a:p>
          <a:p>
            <a:pPr marL="342900" lvl="2" indent="-342900"/>
            <a:r>
              <a:rPr lang="en-NZ" sz="2200" dirty="0"/>
              <a:t>Partitioning</a:t>
            </a:r>
          </a:p>
          <a:p>
            <a:pPr marL="1077913" lvl="5" indent="-277813">
              <a:buClr>
                <a:schemeClr val="accent1">
                  <a:lumMod val="75000"/>
                </a:schemeClr>
              </a:buClr>
              <a:buFont typeface="Wingdings" charset="2"/>
              <a:buChar char="§"/>
            </a:pPr>
            <a:r>
              <a:rPr lang="en-NZ" sz="2200" dirty="0"/>
              <a:t>used in several variations in some now-obsolete operating systems</a:t>
            </a:r>
          </a:p>
          <a:p>
            <a:pPr marL="1077913" lvl="5" indent="-277813">
              <a:buClr>
                <a:schemeClr val="accent1">
                  <a:lumMod val="75000"/>
                </a:schemeClr>
              </a:buClr>
              <a:buFont typeface="Wingdings" charset="2"/>
              <a:buChar char="§"/>
            </a:pPr>
            <a:r>
              <a:rPr lang="en-NZ" sz="2200" dirty="0"/>
              <a:t>does not involve virtual memory</a:t>
            </a:r>
          </a:p>
          <a:p>
            <a:pPr lvl="2"/>
            <a:endParaRPr lang="en-NZ" dirty="0"/>
          </a:p>
          <a:p>
            <a:pPr marL="800100" lvl="3" indent="-342900"/>
            <a:endParaRPr lang="en-NZ" sz="3200" dirty="0"/>
          </a:p>
        </p:txBody>
      </p:sp>
      <p:pic>
        <p:nvPicPr>
          <p:cNvPr id="7" name="Picture 6"/>
          <p:cNvPicPr>
            <a:picLocks noChangeAspect="1"/>
          </p:cNvPicPr>
          <p:nvPr/>
        </p:nvPicPr>
        <p:blipFill>
          <a:blip r:embed="rId3"/>
          <a:stretch>
            <a:fillRect/>
          </a:stretch>
        </p:blipFill>
        <p:spPr>
          <a:xfrm>
            <a:off x="6858000" y="4876800"/>
            <a:ext cx="1612900" cy="1612900"/>
          </a:xfrm>
          <a:prstGeom prst="rect">
            <a:avLst/>
          </a:prstGeom>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ctr"/>
            <a:r>
              <a:rPr lang="en-US" b="1" dirty="0">
                <a:solidFill>
                  <a:schemeClr val="accent6">
                    <a:lumMod val="75000"/>
                  </a:schemeClr>
                </a:solidFill>
              </a:rPr>
              <a:t>Fixed Partitioning</a:t>
            </a:r>
          </a:p>
        </p:txBody>
      </p:sp>
      <p:sp>
        <p:nvSpPr>
          <p:cNvPr id="3" name="Content Placeholder 2"/>
          <p:cNvSpPr>
            <a:spLocks noGrp="1"/>
          </p:cNvSpPr>
          <p:nvPr>
            <p:ph idx="4294967295"/>
          </p:nvPr>
        </p:nvSpPr>
        <p:spPr>
          <a:xfrm>
            <a:off x="533400" y="2057400"/>
            <a:ext cx="5715000" cy="5181600"/>
          </a:xfrm>
        </p:spPr>
        <p:txBody>
          <a:bodyPr/>
          <a:lstStyle/>
          <a:p>
            <a:r>
              <a:rPr lang="en-US" sz="3000" dirty="0"/>
              <a:t>Equal-size partitions</a:t>
            </a:r>
          </a:p>
          <a:p>
            <a:pPr lvl="1"/>
            <a:r>
              <a:rPr lang="en-US" sz="2600" dirty="0"/>
              <a:t>any process whose size is less than or equal to the partition size can be loaded into an available partition</a:t>
            </a:r>
          </a:p>
          <a:p>
            <a:r>
              <a:rPr lang="en-US" sz="3000" dirty="0"/>
              <a:t>The operating system can swap out a process if all partitions are full and no process is in the Ready or Running state</a:t>
            </a:r>
          </a:p>
          <a:p>
            <a:pPr lvl="1"/>
            <a:endParaRPr lang="en-US" dirty="0"/>
          </a:p>
        </p:txBody>
      </p:sp>
      <p:pic>
        <p:nvPicPr>
          <p:cNvPr id="1027" name="Picture 3"/>
          <p:cNvPicPr>
            <a:picLocks noChangeAspect="1" noChangeArrowheads="1"/>
          </p:cNvPicPr>
          <p:nvPr/>
        </p:nvPicPr>
        <p:blipFill>
          <a:blip r:embed="rId3"/>
          <a:srcRect r="44570" b="5862"/>
          <a:stretch>
            <a:fillRect/>
          </a:stretch>
        </p:blipFill>
        <p:spPr bwMode="auto">
          <a:xfrm>
            <a:off x="6629400" y="2057400"/>
            <a:ext cx="1948961" cy="4343400"/>
          </a:xfrm>
          <a:prstGeom prst="rect">
            <a:avLst/>
          </a:prstGeom>
          <a:noFill/>
          <a:ln w="9525">
            <a:noFill/>
            <a:miter lim="800000"/>
            <a:headEnd/>
            <a:tailEnd/>
          </a:ln>
          <a:effectLst/>
        </p:spPr>
      </p:pic>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75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slide(fromBottom)">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Disadvantages</a:t>
            </a:r>
          </a:p>
        </p:txBody>
      </p:sp>
      <p:sp>
        <p:nvSpPr>
          <p:cNvPr id="3" name="Content Placeholder 2"/>
          <p:cNvSpPr>
            <a:spLocks noGrp="1"/>
          </p:cNvSpPr>
          <p:nvPr>
            <p:ph idx="4294967295"/>
          </p:nvPr>
        </p:nvSpPr>
        <p:spPr>
          <a:xfrm>
            <a:off x="533400" y="2133600"/>
            <a:ext cx="8001000" cy="5867400"/>
          </a:xfrm>
        </p:spPr>
        <p:txBody>
          <a:bodyPr/>
          <a:lstStyle/>
          <a:p>
            <a:r>
              <a:rPr lang="en-US" sz="2200" dirty="0"/>
              <a:t>A program may be too big to fit in a partition </a:t>
            </a:r>
          </a:p>
          <a:p>
            <a:pPr lvl="2"/>
            <a:r>
              <a:rPr lang="en-US" sz="2200" dirty="0"/>
              <a:t>program needs to be designed with the use of overlays</a:t>
            </a:r>
          </a:p>
          <a:p>
            <a:r>
              <a:rPr lang="en-US" sz="2200" dirty="0"/>
              <a:t>Main memory utilization is inefficient  </a:t>
            </a:r>
          </a:p>
          <a:p>
            <a:pPr lvl="2"/>
            <a:r>
              <a:rPr lang="en-US" sz="2200" dirty="0"/>
              <a:t>any program, regardless of size, occupies an entire partition</a:t>
            </a:r>
          </a:p>
          <a:p>
            <a:pPr lvl="2"/>
            <a:r>
              <a:rPr lang="en-US" sz="2200" b="1" i="1" dirty="0"/>
              <a:t>internal fragmentation </a:t>
            </a:r>
          </a:p>
          <a:p>
            <a:pPr lvl="3"/>
            <a:r>
              <a:rPr lang="en-US" sz="2200" dirty="0"/>
              <a:t>wasted space due to the block of data loaded being smaller than the partition</a:t>
            </a:r>
            <a:endParaRPr lang="en-US" sz="2200" b="1" i="1" dirty="0"/>
          </a:p>
          <a:p>
            <a:pPr lvl="1"/>
            <a:endParaRPr lang="en-US" dirty="0"/>
          </a:p>
        </p:txBody>
      </p:sp>
      <p:pic>
        <p:nvPicPr>
          <p:cNvPr id="4" name="Picture 3"/>
          <p:cNvPicPr>
            <a:picLocks noChangeAspect="1"/>
          </p:cNvPicPr>
          <p:nvPr/>
        </p:nvPicPr>
        <p:blipFill>
          <a:blip r:embed="rId3"/>
          <a:stretch>
            <a:fillRect/>
          </a:stretch>
        </p:blipFill>
        <p:spPr>
          <a:xfrm>
            <a:off x="6705600" y="5334000"/>
            <a:ext cx="1091018" cy="1112838"/>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0" end="0"/>
                                            </p:txEl>
                                          </p:spTgt>
                                        </p:tgtEl>
                                      </p:cBhvr>
                                    </p:animEffect>
                                  </p:childTnLst>
                                </p:cTn>
                              </p:par>
                            </p:childTnLst>
                          </p:cTn>
                        </p:par>
                        <p:par>
                          <p:cTn id="10" fill="hold">
                            <p:stCondLst>
                              <p:cond delay="1000"/>
                            </p:stCondLst>
                            <p:childTnLst>
                              <p:par>
                                <p:cTn id="11" presetID="55" presetClass="entr" presetSubtype="0" fill="hold" grpId="0" nodeType="after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1000" fill="hold"/>
                                        <p:tgtEl>
                                          <p:spTgt spid="3">
                                            <p:txEl>
                                              <p:pRg st="1" end="1"/>
                                            </p:txEl>
                                          </p:spTgt>
                                        </p:tgtEl>
                                        <p:attrNameLst>
                                          <p:attrName>ppt_w</p:attrName>
                                        </p:attrNameLst>
                                      </p:cBhvr>
                                      <p:tavLst>
                                        <p:tav tm="0">
                                          <p:val>
                                            <p:strVal val="#ppt_w*0.70"/>
                                          </p:val>
                                        </p:tav>
                                        <p:tav tm="100000">
                                          <p:val>
                                            <p:strVal val="#ppt_w"/>
                                          </p:val>
                                        </p:tav>
                                      </p:tavLst>
                                    </p:anim>
                                    <p:anim calcmode="lin" valueType="num">
                                      <p:cBhvr>
                                        <p:cTn id="14"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15" dur="1000"/>
                                        <p:tgtEl>
                                          <p:spTgt spid="3">
                                            <p:txEl>
                                              <p:pRg st="1" end="1"/>
                                            </p:txEl>
                                          </p:spTgt>
                                        </p:tgtEl>
                                      </p:cBhvr>
                                    </p:animEffect>
                                  </p:childTnLst>
                                </p:cTn>
                              </p:par>
                            </p:childTnLst>
                          </p:cTn>
                        </p:par>
                        <p:par>
                          <p:cTn id="16" fill="hold">
                            <p:stCondLst>
                              <p:cond delay="2000"/>
                            </p:stCondLst>
                            <p:childTnLst>
                              <p:par>
                                <p:cTn id="17" presetID="55" presetClass="entr" presetSubtype="0"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1000" fill="hold"/>
                                        <p:tgtEl>
                                          <p:spTgt spid="3">
                                            <p:txEl>
                                              <p:pRg st="2" end="2"/>
                                            </p:txEl>
                                          </p:spTgt>
                                        </p:tgtEl>
                                        <p:attrNameLst>
                                          <p:attrName>ppt_w</p:attrName>
                                        </p:attrNameLst>
                                      </p:cBhvr>
                                      <p:tavLst>
                                        <p:tav tm="0">
                                          <p:val>
                                            <p:strVal val="#ppt_w*0.70"/>
                                          </p:val>
                                        </p:tav>
                                        <p:tav tm="100000">
                                          <p:val>
                                            <p:strVal val="#ppt_w"/>
                                          </p:val>
                                        </p:tav>
                                      </p:tavLst>
                                    </p:anim>
                                    <p:anim calcmode="lin" valueType="num">
                                      <p:cBhvr>
                                        <p:cTn id="20" dur="1000" fill="hold"/>
                                        <p:tgtEl>
                                          <p:spTgt spid="3">
                                            <p:txEl>
                                              <p:pRg st="2" end="2"/>
                                            </p:txEl>
                                          </p:spTgt>
                                        </p:tgtEl>
                                        <p:attrNameLst>
                                          <p:attrName>ppt_h</p:attrName>
                                        </p:attrNameLst>
                                      </p:cBhvr>
                                      <p:tavLst>
                                        <p:tav tm="0">
                                          <p:val>
                                            <p:strVal val="#ppt_h"/>
                                          </p:val>
                                        </p:tav>
                                        <p:tav tm="100000">
                                          <p:val>
                                            <p:strVal val="#ppt_h"/>
                                          </p:val>
                                        </p:tav>
                                      </p:tavLst>
                                    </p:anim>
                                    <p:animEffect transition="in" filter="fade">
                                      <p:cBhvr>
                                        <p:cTn id="21" dur="1000"/>
                                        <p:tgtEl>
                                          <p:spTgt spid="3">
                                            <p:txEl>
                                              <p:pRg st="2" end="2"/>
                                            </p:txEl>
                                          </p:spTgt>
                                        </p:tgtEl>
                                      </p:cBhvr>
                                    </p:animEffect>
                                  </p:childTnLst>
                                </p:cTn>
                              </p:par>
                            </p:childTnLst>
                          </p:cTn>
                        </p:par>
                        <p:par>
                          <p:cTn id="22" fill="hold">
                            <p:stCondLst>
                              <p:cond delay="3000"/>
                            </p:stCondLst>
                            <p:childTnLst>
                              <p:par>
                                <p:cTn id="23" presetID="55" presetClass="entr" presetSubtype="0" fill="hold" grpId="0" nodeType="after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p:cTn id="25" dur="1000" fill="hold"/>
                                        <p:tgtEl>
                                          <p:spTgt spid="3">
                                            <p:txEl>
                                              <p:pRg st="3" end="3"/>
                                            </p:txEl>
                                          </p:spTgt>
                                        </p:tgtEl>
                                        <p:attrNameLst>
                                          <p:attrName>ppt_w</p:attrName>
                                        </p:attrNameLst>
                                      </p:cBhvr>
                                      <p:tavLst>
                                        <p:tav tm="0">
                                          <p:val>
                                            <p:strVal val="#ppt_w*0.70"/>
                                          </p:val>
                                        </p:tav>
                                        <p:tav tm="100000">
                                          <p:val>
                                            <p:strVal val="#ppt_w"/>
                                          </p:val>
                                        </p:tav>
                                      </p:tavLst>
                                    </p:anim>
                                    <p:anim calcmode="lin" valueType="num">
                                      <p:cBhvr>
                                        <p:cTn id="26" dur="1000" fill="hold"/>
                                        <p:tgtEl>
                                          <p:spTgt spid="3">
                                            <p:txEl>
                                              <p:pRg st="3" end="3"/>
                                            </p:txEl>
                                          </p:spTgt>
                                        </p:tgtEl>
                                        <p:attrNameLst>
                                          <p:attrName>ppt_h</p:attrName>
                                        </p:attrNameLst>
                                      </p:cBhvr>
                                      <p:tavLst>
                                        <p:tav tm="0">
                                          <p:val>
                                            <p:strVal val="#ppt_h"/>
                                          </p:val>
                                        </p:tav>
                                        <p:tav tm="100000">
                                          <p:val>
                                            <p:strVal val="#ppt_h"/>
                                          </p:val>
                                        </p:tav>
                                      </p:tavLst>
                                    </p:anim>
                                    <p:animEffect transition="in" filter="fade">
                                      <p:cBhvr>
                                        <p:cTn id="27" dur="1000"/>
                                        <p:tgtEl>
                                          <p:spTgt spid="3">
                                            <p:txEl>
                                              <p:pRg st="3" end="3"/>
                                            </p:txEl>
                                          </p:spTgt>
                                        </p:tgtEl>
                                      </p:cBhvr>
                                    </p:animEffect>
                                  </p:childTnLst>
                                </p:cTn>
                              </p:par>
                            </p:childTnLst>
                          </p:cTn>
                        </p:par>
                        <p:par>
                          <p:cTn id="28" fill="hold">
                            <p:stCondLst>
                              <p:cond delay="4000"/>
                            </p:stCondLst>
                            <p:childTnLst>
                              <p:par>
                                <p:cTn id="29" presetID="55" presetClass="entr" presetSubtype="0" fill="hold" grpId="0" nodeType="after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p:cTn id="31" dur="1000" fill="hold"/>
                                        <p:tgtEl>
                                          <p:spTgt spid="3">
                                            <p:txEl>
                                              <p:pRg st="4" end="4"/>
                                            </p:txEl>
                                          </p:spTgt>
                                        </p:tgtEl>
                                        <p:attrNameLst>
                                          <p:attrName>ppt_w</p:attrName>
                                        </p:attrNameLst>
                                      </p:cBhvr>
                                      <p:tavLst>
                                        <p:tav tm="0">
                                          <p:val>
                                            <p:strVal val="#ppt_w*0.70"/>
                                          </p:val>
                                        </p:tav>
                                        <p:tav tm="100000">
                                          <p:val>
                                            <p:strVal val="#ppt_w"/>
                                          </p:val>
                                        </p:tav>
                                      </p:tavLst>
                                    </p:anim>
                                    <p:anim calcmode="lin" valueType="num">
                                      <p:cBhvr>
                                        <p:cTn id="32" dur="1000" fill="hold"/>
                                        <p:tgtEl>
                                          <p:spTgt spid="3">
                                            <p:txEl>
                                              <p:pRg st="4" end="4"/>
                                            </p:txEl>
                                          </p:spTgt>
                                        </p:tgtEl>
                                        <p:attrNameLst>
                                          <p:attrName>ppt_h</p:attrName>
                                        </p:attrNameLst>
                                      </p:cBhvr>
                                      <p:tavLst>
                                        <p:tav tm="0">
                                          <p:val>
                                            <p:strVal val="#ppt_h"/>
                                          </p:val>
                                        </p:tav>
                                        <p:tav tm="100000">
                                          <p:val>
                                            <p:strVal val="#ppt_h"/>
                                          </p:val>
                                        </p:tav>
                                      </p:tavLst>
                                    </p:anim>
                                    <p:animEffect transition="in" filter="fade">
                                      <p:cBhvr>
                                        <p:cTn id="33" dur="1000"/>
                                        <p:tgtEl>
                                          <p:spTgt spid="3">
                                            <p:txEl>
                                              <p:pRg st="4" end="4"/>
                                            </p:txEl>
                                          </p:spTgt>
                                        </p:tgtEl>
                                      </p:cBhvr>
                                    </p:animEffect>
                                  </p:childTnLst>
                                </p:cTn>
                              </p:par>
                            </p:childTnLst>
                          </p:cTn>
                        </p:par>
                        <p:par>
                          <p:cTn id="34" fill="hold">
                            <p:stCondLst>
                              <p:cond delay="5000"/>
                            </p:stCondLst>
                            <p:childTnLst>
                              <p:par>
                                <p:cTn id="35" presetID="55" presetClass="entr" presetSubtype="0" fill="hold" grpId="0" nodeType="after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p:cTn id="37" dur="1000" fill="hold"/>
                                        <p:tgtEl>
                                          <p:spTgt spid="3">
                                            <p:txEl>
                                              <p:pRg st="5" end="5"/>
                                            </p:txEl>
                                          </p:spTgt>
                                        </p:tgtEl>
                                        <p:attrNameLst>
                                          <p:attrName>ppt_w</p:attrName>
                                        </p:attrNameLst>
                                      </p:cBhvr>
                                      <p:tavLst>
                                        <p:tav tm="0">
                                          <p:val>
                                            <p:strVal val="#ppt_w*0.70"/>
                                          </p:val>
                                        </p:tav>
                                        <p:tav tm="100000">
                                          <p:val>
                                            <p:strVal val="#ppt_w"/>
                                          </p:val>
                                        </p:tav>
                                      </p:tavLst>
                                    </p:anim>
                                    <p:anim calcmode="lin" valueType="num">
                                      <p:cBhvr>
                                        <p:cTn id="38" dur="1000" fill="hold"/>
                                        <p:tgtEl>
                                          <p:spTgt spid="3">
                                            <p:txEl>
                                              <p:pRg st="5" end="5"/>
                                            </p:txEl>
                                          </p:spTgt>
                                        </p:tgtEl>
                                        <p:attrNameLst>
                                          <p:attrName>ppt_h</p:attrName>
                                        </p:attrNameLst>
                                      </p:cBhvr>
                                      <p:tavLst>
                                        <p:tav tm="0">
                                          <p:val>
                                            <p:strVal val="#ppt_h"/>
                                          </p:val>
                                        </p:tav>
                                        <p:tav tm="100000">
                                          <p:val>
                                            <p:strVal val="#ppt_h"/>
                                          </p:val>
                                        </p:tav>
                                      </p:tavLst>
                                    </p:anim>
                                    <p:animEffect transition="in" filter="fade">
                                      <p:cBhvr>
                                        <p:cTn id="39"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ctr"/>
            <a:r>
              <a:rPr lang="en-NZ" b="1" dirty="0">
                <a:ln w="1905"/>
                <a:solidFill>
                  <a:schemeClr val="accent6">
                    <a:lumMod val="75000"/>
                  </a:schemeClr>
                </a:solidFill>
                <a:effectLst>
                  <a:innerShdw blurRad="69850" dist="43180" dir="5400000">
                    <a:srgbClr val="000000">
                      <a:alpha val="65000"/>
                    </a:srgbClr>
                  </a:innerShdw>
                </a:effectLst>
              </a:rPr>
              <a:t>Unequal Size Partitions</a:t>
            </a:r>
          </a:p>
        </p:txBody>
      </p:sp>
      <p:sp>
        <p:nvSpPr>
          <p:cNvPr id="3" name="Content Placeholder 2"/>
          <p:cNvSpPr>
            <a:spLocks noGrp="1"/>
          </p:cNvSpPr>
          <p:nvPr>
            <p:ph idx="4294967295"/>
          </p:nvPr>
        </p:nvSpPr>
        <p:spPr>
          <a:xfrm>
            <a:off x="457200" y="2057400"/>
            <a:ext cx="5410200" cy="5410200"/>
          </a:xfrm>
        </p:spPr>
        <p:txBody>
          <a:bodyPr>
            <a:normAutofit/>
          </a:bodyPr>
          <a:lstStyle/>
          <a:p>
            <a:r>
              <a:rPr lang="en-NZ" dirty="0"/>
              <a:t>Using unequal size partitions helps lessen the problems</a:t>
            </a:r>
          </a:p>
          <a:p>
            <a:pPr lvl="1"/>
            <a:r>
              <a:rPr lang="en-NZ" sz="2000" dirty="0"/>
              <a:t>programs up to 16M can be accommodated without overlays</a:t>
            </a:r>
          </a:p>
          <a:p>
            <a:pPr lvl="1"/>
            <a:r>
              <a:rPr lang="en-NZ" sz="2000" dirty="0"/>
              <a:t>partitions smaller than 8M allow smaller programs to be accommodated with less internal fragmentation</a:t>
            </a:r>
          </a:p>
        </p:txBody>
      </p:sp>
      <p:pic>
        <p:nvPicPr>
          <p:cNvPr id="4" name="Content Placeholder 3" descr="Fig07_02.gif"/>
          <p:cNvPicPr>
            <a:picLocks noChangeAspect="1"/>
          </p:cNvPicPr>
          <p:nvPr/>
        </p:nvPicPr>
        <p:blipFill>
          <a:blip r:embed="rId3"/>
          <a:srcRect l="56661" b="7026"/>
          <a:stretch>
            <a:fillRect/>
          </a:stretch>
        </p:blipFill>
        <p:spPr bwMode="auto">
          <a:xfrm>
            <a:off x="6781800" y="2133600"/>
            <a:ext cx="1524000" cy="4306351"/>
          </a:xfrm>
          <a:prstGeom prst="rect">
            <a:avLst/>
          </a:prstGeom>
          <a:noFill/>
          <a:ln w="9525">
            <a:noFill/>
            <a:miter lim="800000"/>
            <a:headEnd/>
            <a:tailEnd/>
          </a:ln>
        </p:spPr>
      </p:pic>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2000"/>
                                        <p:tgtEl>
                                          <p:spTgt spid="3">
                                            <p:txEl>
                                              <p:pRg st="1" end="1"/>
                                            </p:txEl>
                                          </p:spTgt>
                                        </p:tgtEl>
                                      </p:cBhvr>
                                    </p:animEffect>
                                  </p:childTnLst>
                                </p:cTn>
                              </p:par>
                            </p:childTnLst>
                          </p:cTn>
                        </p:par>
                        <p:par>
                          <p:cTn id="8" fill="hold">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2"/>
            <a:ext cx="7824788" cy="1143947"/>
          </a:xfrm>
        </p:spPr>
        <p:txBody>
          <a:bodyPr/>
          <a:lstStyle/>
          <a:p>
            <a:pPr algn="ctr"/>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Disadvantages</a:t>
            </a:r>
          </a:p>
        </p:txBody>
      </p:sp>
      <p:sp>
        <p:nvSpPr>
          <p:cNvPr id="3" name="Content Placeholder 2"/>
          <p:cNvSpPr>
            <a:spLocks noGrp="1"/>
          </p:cNvSpPr>
          <p:nvPr>
            <p:ph idx="4294967295"/>
          </p:nvPr>
        </p:nvSpPr>
        <p:spPr>
          <a:xfrm>
            <a:off x="457200" y="2209800"/>
            <a:ext cx="7848600" cy="4953000"/>
          </a:xfrm>
        </p:spPr>
        <p:txBody>
          <a:bodyPr>
            <a:normAutofit/>
          </a:bodyPr>
          <a:lstStyle/>
          <a:p>
            <a:r>
              <a:rPr lang="en-NZ" sz="2800" dirty="0"/>
              <a:t>The number of partitions specified at system generation time limits the number of active processes in the system</a:t>
            </a:r>
          </a:p>
          <a:p>
            <a:r>
              <a:rPr lang="en-NZ" sz="2800" dirty="0"/>
              <a:t>Small jobs will not utilize partition space efficiently</a:t>
            </a:r>
          </a:p>
        </p:txBody>
      </p:sp>
      <p:pic>
        <p:nvPicPr>
          <p:cNvPr id="10" name="Picture 9"/>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6858000" y="4800600"/>
            <a:ext cx="1371600" cy="1496291"/>
          </a:xfrm>
          <a:prstGeom prst="rect">
            <a:avLst/>
          </a:prstGeom>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220148"/>
          </a:xfrm>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Dynamic Partitioning</a:t>
            </a:r>
          </a:p>
        </p:txBody>
      </p:sp>
      <p:sp>
        <p:nvSpPr>
          <p:cNvPr id="3" name="Content Placeholder 2"/>
          <p:cNvSpPr>
            <a:spLocks noGrp="1"/>
          </p:cNvSpPr>
          <p:nvPr>
            <p:ph idx="4294967295"/>
          </p:nvPr>
        </p:nvSpPr>
        <p:spPr>
          <a:xfrm>
            <a:off x="533400" y="2209800"/>
            <a:ext cx="7467600" cy="4800600"/>
          </a:xfrm>
        </p:spPr>
        <p:txBody>
          <a:bodyPr>
            <a:noAutofit/>
          </a:bodyPr>
          <a:lstStyle/>
          <a:p>
            <a:r>
              <a:rPr lang="en-US" sz="2400" dirty="0"/>
              <a:t>Partitions are of variable length and number</a:t>
            </a:r>
          </a:p>
          <a:p>
            <a:r>
              <a:rPr lang="en-US" sz="2400" dirty="0"/>
              <a:t>Process is allocated exactly as much memory as it requires</a:t>
            </a:r>
          </a:p>
          <a:p>
            <a:r>
              <a:rPr lang="en-US" sz="2400" dirty="0"/>
              <a:t>This technique was used by IBM’s mainframe operating system, OS/MVT</a:t>
            </a:r>
          </a:p>
        </p:txBody>
      </p:sp>
      <p:pic>
        <p:nvPicPr>
          <p:cNvPr id="4" name="Picture 3"/>
          <p:cNvPicPr>
            <a:picLocks noChangeAspect="1"/>
          </p:cNvPicPr>
          <p:nvPr/>
        </p:nvPicPr>
        <p:blipFill>
          <a:blip r:embed="rId3"/>
          <a:stretch>
            <a:fillRect/>
          </a:stretch>
        </p:blipFill>
        <p:spPr>
          <a:xfrm>
            <a:off x="3886200" y="4800600"/>
            <a:ext cx="2082800" cy="148590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50000" decel="5000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accel="50000" decel="50000"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20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20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accel="50000" decel="5000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30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30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04800" y="0"/>
            <a:ext cx="2971800" cy="3505200"/>
          </a:xfrm>
        </p:spPr>
        <p:txBody>
          <a:bodyPr/>
          <a:lstStyle/>
          <a:p>
            <a:pPr algn="ctr"/>
            <a:r>
              <a:rPr lang="en-US" sz="3600" dirty="0">
                <a:solidFill>
                  <a:schemeClr val="accent4">
                    <a:lumMod val="50000"/>
                  </a:schemeClr>
                </a:solidFill>
              </a:rPr>
              <a:t>Effect of Dynamic </a:t>
            </a:r>
            <a:br>
              <a:rPr lang="en-US" sz="3600" dirty="0">
                <a:solidFill>
                  <a:schemeClr val="accent4">
                    <a:lumMod val="50000"/>
                  </a:schemeClr>
                </a:solidFill>
              </a:rPr>
            </a:br>
            <a:r>
              <a:rPr lang="en-US" sz="3600" dirty="0">
                <a:solidFill>
                  <a:schemeClr val="accent4">
                    <a:lumMod val="50000"/>
                  </a:schemeClr>
                </a:solidFill>
              </a:rPr>
              <a:t>Partitioning</a:t>
            </a:r>
          </a:p>
        </p:txBody>
      </p:sp>
      <p:pic>
        <p:nvPicPr>
          <p:cNvPr id="5" name="Picture 4"/>
          <p:cNvPicPr>
            <a:picLocks noChangeAspect="1"/>
          </p:cNvPicPr>
          <p:nvPr/>
        </p:nvPicPr>
        <p:blipFill>
          <a:blip r:embed="rId3"/>
          <a:stretch>
            <a:fillRect/>
          </a:stretch>
        </p:blipFill>
        <p:spPr>
          <a:xfrm>
            <a:off x="3581400" y="762000"/>
            <a:ext cx="4988035" cy="5635831"/>
          </a:xfrm>
          <a:prstGeom prst="rect">
            <a:avLst/>
          </a:prstGeom>
        </p:spPr>
      </p:pic>
    </p:spTree>
  </p:cSld>
  <p:clrMapOvr>
    <a:masterClrMapping/>
  </p:clrMapOvr>
  <p:transition spd="slow">
    <p:pull dir="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ctr"/>
            <a:r>
              <a:rPr lang="en-NZ" b="1" dirty="0">
                <a:solidFill>
                  <a:schemeClr val="accent6">
                    <a:lumMod val="75000"/>
                  </a:schemeClr>
                </a:solidFill>
              </a:rPr>
              <a:t>Dynamic Partitioning</a:t>
            </a:r>
          </a:p>
        </p:txBody>
      </p:sp>
      <p:graphicFrame>
        <p:nvGraphicFramePr>
          <p:cNvPr id="4" name="Diagram 3"/>
          <p:cNvGraphicFramePr/>
          <p:nvPr/>
        </p:nvGraphicFramePr>
        <p:xfrm>
          <a:off x="533400" y="2362200"/>
          <a:ext cx="80772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2"/>
            <a:ext cx="7824788" cy="1143947"/>
          </a:xfrm>
        </p:spPr>
        <p:txBody>
          <a:bodyPr/>
          <a:lstStyle/>
          <a:p>
            <a:pPr algn="ctr"/>
            <a:r>
              <a:rPr lang="en-US" b="1" dirty="0">
                <a:solidFill>
                  <a:schemeClr val="accent1">
                    <a:lumMod val="50000"/>
                  </a:schemeClr>
                </a:solidFill>
              </a:rPr>
              <a:t>Placement Algorithms</a:t>
            </a:r>
          </a:p>
        </p:txBody>
      </p:sp>
      <p:graphicFrame>
        <p:nvGraphicFramePr>
          <p:cNvPr id="4" name="Diagram 3"/>
          <p:cNvGraphicFramePr/>
          <p:nvPr/>
        </p:nvGraphicFramePr>
        <p:xfrm>
          <a:off x="838200" y="2362200"/>
          <a:ext cx="75438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dex">
  <a:themeElements>
    <a:clrScheme name="Codex">
      <a:dk1>
        <a:sysClr val="windowText" lastClr="000000"/>
      </a:dk1>
      <a:lt1>
        <a:sysClr val="window" lastClr="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Codex">
      <a:majorFont>
        <a:latin typeface="Calisto MT"/>
        <a:ea typeface=""/>
        <a:cs typeface=""/>
        <a:font script="Jpan" typeface="ＭＳ 明朝"/>
      </a:majorFont>
      <a:minorFont>
        <a:latin typeface="Calisto MT"/>
        <a:ea typeface=""/>
        <a:cs typeface=""/>
        <a:font script="Jpan" typeface="ＭＳ 明朝"/>
      </a:minorFont>
    </a:fontScheme>
    <a:fmtScheme name="Codex">
      <a:fillStyleLst>
        <a:solidFill>
          <a:schemeClr val="phClr"/>
        </a:solidFill>
        <a:gradFill rotWithShape="1">
          <a:gsLst>
            <a:gs pos="0">
              <a:schemeClr val="phClr">
                <a:tint val="100000"/>
                <a:shade val="60000"/>
                <a:satMod val="135000"/>
              </a:schemeClr>
            </a:gs>
            <a:gs pos="100000">
              <a:schemeClr val="phClr">
                <a:tint val="100000"/>
                <a:shade val="94000"/>
                <a:satMod val="135000"/>
              </a:schemeClr>
            </a:gs>
          </a:gsLst>
          <a:lin ang="16200000" scaled="1"/>
        </a:gradFill>
        <a:gradFill rotWithShape="1">
          <a:gsLst>
            <a:gs pos="0">
              <a:schemeClr val="phClr">
                <a:shade val="51000"/>
                <a:alpha val="90000"/>
                <a:satMod val="115000"/>
              </a:schemeClr>
            </a:gs>
            <a:gs pos="100000">
              <a:schemeClr val="phClr">
                <a:shade val="94000"/>
                <a:alpha val="90000"/>
                <a:satMod val="135000"/>
              </a:schemeClr>
            </a:gs>
          </a:gsLst>
          <a:lin ang="5400000" scaled="1"/>
        </a:gradFill>
      </a:fillStyleLst>
      <a:lnStyleLst>
        <a:ln w="15875" cap="flat" cmpd="sng" algn="ctr">
          <a:solidFill>
            <a:schemeClr val="phClr">
              <a:shade val="95000"/>
              <a:satMod val="105000"/>
            </a:schemeClr>
          </a:solidFill>
          <a:prstDash val="solid"/>
        </a:ln>
        <a:ln w="34925"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effectStyle>
        <a:effectStyle>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3696</Words>
  <Application>Microsoft Office PowerPoint</Application>
  <PresentationFormat>On-screen Show (4:3)</PresentationFormat>
  <Paragraphs>171</Paragraphs>
  <Slides>18</Slides>
  <Notes>18</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18</vt:i4>
      </vt:variant>
    </vt:vector>
  </HeadingPairs>
  <TitlesOfParts>
    <vt:vector size="26" baseType="lpstr">
      <vt:lpstr>ＭＳ Ｐゴシック</vt:lpstr>
      <vt:lpstr>Arial</vt:lpstr>
      <vt:lpstr>Calibri</vt:lpstr>
      <vt:lpstr>Calisto MT</vt:lpstr>
      <vt:lpstr>Times New Roman</vt:lpstr>
      <vt:lpstr>Wingdings</vt:lpstr>
      <vt:lpstr>Custom Design</vt:lpstr>
      <vt:lpstr>Codex</vt:lpstr>
      <vt:lpstr> Memory Management</vt:lpstr>
      <vt:lpstr>Operating Systems: Internals and Design Principles</vt:lpstr>
      <vt:lpstr>Memory Management Requirements</vt:lpstr>
      <vt:lpstr>Relocation</vt:lpstr>
      <vt:lpstr>Addressing Requirements</vt:lpstr>
      <vt:lpstr>Protection</vt:lpstr>
      <vt:lpstr>Sharing</vt:lpstr>
      <vt:lpstr>Logical Organization</vt:lpstr>
      <vt:lpstr>Physical Organization</vt:lpstr>
      <vt:lpstr>Memory Partitioning</vt:lpstr>
      <vt:lpstr>Fixed Partitioning</vt:lpstr>
      <vt:lpstr>Disadvantages</vt:lpstr>
      <vt:lpstr>Unequal Size Partitions</vt:lpstr>
      <vt:lpstr>Disadvantages</vt:lpstr>
      <vt:lpstr>Dynamic Partitioning</vt:lpstr>
      <vt:lpstr>Effect of Dynamic  Partitioning</vt:lpstr>
      <vt:lpstr>Dynamic Partitioning</vt:lpstr>
      <vt:lpstr>Placement Algorithms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2011-03-30T02:08:02Z</dcterms:created>
  <dcterms:modified xsi:type="dcterms:W3CDTF">2024-04-30T06:15:29Z</dcterms:modified>
</cp:coreProperties>
</file>