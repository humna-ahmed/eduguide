
<file path=[Content_Types].xml><?xml version="1.0" encoding="utf-8"?>
<Types xmlns="http://schemas.openxmlformats.org/package/2006/content-types">
  <Default Extension="png" ContentType="image/png"/>
  <Default Extension="jpeg" ContentType="image/jpeg"/>
  <Default Extension="wmf" ContentType="image/x-wmf"/>
  <Default Extension="emf" ContentType="image/x-emf"/>
  <Default Extension="rels" ContentType="application/vnd.openxmlformats-package.relationships+xml"/>
  <Default Extension="xml" ContentType="application/xml"/>
  <Default Extension="docx" ContentType="application/vnd.openxmlformats-officedocument.wordprocessingml.document"/>
  <Default Extension="vml" ContentType="application/vnd.openxmlformats-officedocument.vmlDrawing"/>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 id="2147483741" r:id="rId2"/>
  </p:sldMasterIdLst>
  <p:notesMasterIdLst>
    <p:notesMasterId r:id="rId30"/>
  </p:notesMasterIdLst>
  <p:sldIdLst>
    <p:sldId id="256" r:id="rId3"/>
    <p:sldId id="353" r:id="rId4"/>
    <p:sldId id="257" r:id="rId5"/>
    <p:sldId id="309" r:id="rId6"/>
    <p:sldId id="310" r:id="rId7"/>
    <p:sldId id="313" r:id="rId8"/>
    <p:sldId id="354" r:id="rId9"/>
    <p:sldId id="267" r:id="rId10"/>
    <p:sldId id="271" r:id="rId11"/>
    <p:sldId id="269" r:id="rId12"/>
    <p:sldId id="315" r:id="rId13"/>
    <p:sldId id="317" r:id="rId14"/>
    <p:sldId id="274" r:id="rId15"/>
    <p:sldId id="275" r:id="rId16"/>
    <p:sldId id="276" r:id="rId17"/>
    <p:sldId id="277" r:id="rId18"/>
    <p:sldId id="278" r:id="rId19"/>
    <p:sldId id="359" r:id="rId20"/>
    <p:sldId id="286" r:id="rId21"/>
    <p:sldId id="323" r:id="rId22"/>
    <p:sldId id="325" r:id="rId23"/>
    <p:sldId id="328" r:id="rId24"/>
    <p:sldId id="288" r:id="rId25"/>
    <p:sldId id="342" r:id="rId26"/>
    <p:sldId id="343" r:id="rId27"/>
    <p:sldId id="348" r:id="rId28"/>
    <p:sldId id="358" r:id="rId29"/>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FF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865" autoAdjust="0"/>
  </p:normalViewPr>
  <p:slideViewPr>
    <p:cSldViewPr>
      <p:cViewPr varScale="1">
        <p:scale>
          <a:sx n="97" d="100"/>
          <a:sy n="97" d="100"/>
        </p:scale>
        <p:origin x="384" y="84"/>
      </p:cViewPr>
      <p:guideLst>
        <p:guide orient="horz" pos="2160"/>
        <p:guide pos="2880"/>
      </p:guideLst>
    </p:cSldViewPr>
  </p:slideViewPr>
  <p:notesTextViewPr>
    <p:cViewPr>
      <p:scale>
        <a:sx n="100" d="100"/>
        <a:sy n="100" d="100"/>
      </p:scale>
      <p:origin x="0" y="0"/>
    </p:cViewPr>
  </p:notesTextViewPr>
  <p:sorterViewPr>
    <p:cViewPr>
      <p:scale>
        <a:sx n="171" d="100"/>
        <a:sy n="171" d="100"/>
      </p:scale>
      <p:origin x="0" y="1523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8" Type="http://schemas.openxmlformats.org/officeDocument/2006/relationships/slide" Target="slides/slide6.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B069595-C8F8-C542-AA06-04537D63260B}" type="doc">
      <dgm:prSet loTypeId="urn:microsoft.com/office/officeart/2005/8/layout/vProcess5" loCatId="process" qsTypeId="urn:microsoft.com/office/officeart/2005/8/quickstyle/simple4" qsCatId="simple" csTypeId="urn:microsoft.com/office/officeart/2005/8/colors/accent1_2" csCatId="accent1" phldr="1"/>
      <dgm:spPr/>
      <dgm:t>
        <a:bodyPr/>
        <a:lstStyle/>
        <a:p>
          <a:endParaRPr lang="en-US"/>
        </a:p>
      </dgm:t>
    </dgm:pt>
    <dgm:pt modelId="{26383733-9C83-2F4E-AA73-9102FEACE73A}">
      <dgm:prSet phldrT="[Text]" custT="1"/>
      <dgm:spPr>
        <a:solidFill>
          <a:schemeClr val="accent1">
            <a:lumMod val="75000"/>
          </a:schemeClr>
        </a:solidFill>
      </dgm:spPr>
      <dgm:t>
        <a:bodyPr/>
        <a:lstStyle/>
        <a:p>
          <a:r>
            <a:rPr lang="en-NZ" sz="2000" dirty="0"/>
            <a:t>Reusable</a:t>
          </a:r>
          <a:endParaRPr lang="en-US" sz="2000" dirty="0"/>
        </a:p>
      </dgm:t>
    </dgm:pt>
    <dgm:pt modelId="{B8E0DD79-8102-5B47-8E3C-C29A96295326}" type="parTrans" cxnId="{1F8CBAE7-5E4D-B746-A15B-28BCC9F64965}">
      <dgm:prSet/>
      <dgm:spPr/>
      <dgm:t>
        <a:bodyPr/>
        <a:lstStyle/>
        <a:p>
          <a:endParaRPr lang="en-US"/>
        </a:p>
      </dgm:t>
    </dgm:pt>
    <dgm:pt modelId="{606FA574-F26B-524F-8E65-05056BD13BBA}" type="sibTrans" cxnId="{1F8CBAE7-5E4D-B746-A15B-28BCC9F64965}">
      <dgm:prSet/>
      <dgm:spPr/>
      <dgm:t>
        <a:bodyPr/>
        <a:lstStyle/>
        <a:p>
          <a:endParaRPr lang="en-US"/>
        </a:p>
      </dgm:t>
    </dgm:pt>
    <dgm:pt modelId="{F794A6D0-159F-1648-B732-77E25AB56B54}">
      <dgm:prSet custT="1"/>
      <dgm:spPr>
        <a:solidFill>
          <a:schemeClr val="accent1">
            <a:lumMod val="75000"/>
          </a:schemeClr>
        </a:solidFill>
      </dgm:spPr>
      <dgm:t>
        <a:bodyPr/>
        <a:lstStyle/>
        <a:p>
          <a:r>
            <a:rPr lang="en-NZ" sz="1600" dirty="0"/>
            <a:t>can be safely used by only one process at a time and is not depleted by that use</a:t>
          </a:r>
        </a:p>
      </dgm:t>
    </dgm:pt>
    <dgm:pt modelId="{632F1CE8-9F3F-FB47-A51E-39E4B4D3E3A2}" type="parTrans" cxnId="{0D811623-65F9-C049-9216-9DC1EE4A95DB}">
      <dgm:prSet/>
      <dgm:spPr/>
      <dgm:t>
        <a:bodyPr/>
        <a:lstStyle/>
        <a:p>
          <a:endParaRPr lang="en-US"/>
        </a:p>
      </dgm:t>
    </dgm:pt>
    <dgm:pt modelId="{F12C7981-B93A-D34C-8B5B-6776E7049310}" type="sibTrans" cxnId="{0D811623-65F9-C049-9216-9DC1EE4A95DB}">
      <dgm:prSet/>
      <dgm:spPr/>
      <dgm:t>
        <a:bodyPr/>
        <a:lstStyle/>
        <a:p>
          <a:endParaRPr lang="en-US"/>
        </a:p>
      </dgm:t>
    </dgm:pt>
    <dgm:pt modelId="{9A7E617A-4BED-144C-BA37-F797C39B70C8}">
      <dgm:prSet custT="1"/>
      <dgm:spPr>
        <a:solidFill>
          <a:schemeClr val="accent1">
            <a:lumMod val="75000"/>
          </a:schemeClr>
        </a:solidFill>
      </dgm:spPr>
      <dgm:t>
        <a:bodyPr/>
        <a:lstStyle/>
        <a:p>
          <a:r>
            <a:rPr lang="en-US" sz="1600" dirty="0"/>
            <a:t>processors, I/O channels, main and secondary memory, devices, and data structures such as files, databases, and semaphores</a:t>
          </a:r>
        </a:p>
      </dgm:t>
    </dgm:pt>
    <dgm:pt modelId="{6D12ECF2-14C3-6F42-8F5E-3F542083975C}" type="parTrans" cxnId="{F363C5CC-A31A-9748-8E8E-7542E9A8084E}">
      <dgm:prSet/>
      <dgm:spPr/>
      <dgm:t>
        <a:bodyPr/>
        <a:lstStyle/>
        <a:p>
          <a:endParaRPr lang="en-US"/>
        </a:p>
      </dgm:t>
    </dgm:pt>
    <dgm:pt modelId="{F87F6F7F-14F0-EA4D-A74B-2CC1D24459A3}" type="sibTrans" cxnId="{F363C5CC-A31A-9748-8E8E-7542E9A8084E}">
      <dgm:prSet/>
      <dgm:spPr/>
      <dgm:t>
        <a:bodyPr/>
        <a:lstStyle/>
        <a:p>
          <a:endParaRPr lang="en-US"/>
        </a:p>
      </dgm:t>
    </dgm:pt>
    <dgm:pt modelId="{191AB62D-7613-ED44-BF21-05A480174B7A}">
      <dgm:prSet custT="1"/>
      <dgm:spPr>
        <a:solidFill>
          <a:schemeClr val="accent1">
            <a:lumMod val="75000"/>
          </a:schemeClr>
        </a:solidFill>
      </dgm:spPr>
      <dgm:t>
        <a:bodyPr/>
        <a:lstStyle/>
        <a:p>
          <a:r>
            <a:rPr lang="en-NZ" sz="2000" dirty="0"/>
            <a:t>Consumable</a:t>
          </a:r>
        </a:p>
      </dgm:t>
    </dgm:pt>
    <dgm:pt modelId="{2C2ADAE6-8AD9-3743-9FB8-ED574BAF6CAD}" type="parTrans" cxnId="{18773EE1-44B8-574F-B98C-3015C0727EFC}">
      <dgm:prSet/>
      <dgm:spPr/>
      <dgm:t>
        <a:bodyPr/>
        <a:lstStyle/>
        <a:p>
          <a:endParaRPr lang="en-US"/>
        </a:p>
      </dgm:t>
    </dgm:pt>
    <dgm:pt modelId="{7C98AAE8-A720-8640-80AC-8219FBEE20FB}" type="sibTrans" cxnId="{18773EE1-44B8-574F-B98C-3015C0727EFC}">
      <dgm:prSet/>
      <dgm:spPr/>
      <dgm:t>
        <a:bodyPr/>
        <a:lstStyle/>
        <a:p>
          <a:endParaRPr lang="en-US"/>
        </a:p>
      </dgm:t>
    </dgm:pt>
    <dgm:pt modelId="{EA30BBB8-30F3-504E-8E0A-4089A7235F4B}">
      <dgm:prSet custT="1"/>
      <dgm:spPr>
        <a:solidFill>
          <a:schemeClr val="accent1">
            <a:lumMod val="75000"/>
          </a:schemeClr>
        </a:solidFill>
      </dgm:spPr>
      <dgm:t>
        <a:bodyPr/>
        <a:lstStyle/>
        <a:p>
          <a:r>
            <a:rPr lang="en-NZ" sz="1600" dirty="0"/>
            <a:t>one that can be created (produced) and destroyed (consumed)</a:t>
          </a:r>
        </a:p>
      </dgm:t>
    </dgm:pt>
    <dgm:pt modelId="{5E434350-189C-B54F-A946-E8F5E0AD6E11}" type="parTrans" cxnId="{9A42656D-52CD-2F4F-9627-AC09C70BC8E1}">
      <dgm:prSet/>
      <dgm:spPr/>
      <dgm:t>
        <a:bodyPr/>
        <a:lstStyle/>
        <a:p>
          <a:endParaRPr lang="en-US"/>
        </a:p>
      </dgm:t>
    </dgm:pt>
    <dgm:pt modelId="{C1FF72E8-3B30-964C-91A9-95CD5181E4FA}" type="sibTrans" cxnId="{9A42656D-52CD-2F4F-9627-AC09C70BC8E1}">
      <dgm:prSet/>
      <dgm:spPr/>
      <dgm:t>
        <a:bodyPr/>
        <a:lstStyle/>
        <a:p>
          <a:endParaRPr lang="en-US"/>
        </a:p>
      </dgm:t>
    </dgm:pt>
    <dgm:pt modelId="{80314524-DF9D-D142-BDDF-43D86B545F73}">
      <dgm:prSet custT="1"/>
      <dgm:spPr>
        <a:solidFill>
          <a:schemeClr val="accent1">
            <a:lumMod val="75000"/>
          </a:schemeClr>
        </a:solidFill>
      </dgm:spPr>
      <dgm:t>
        <a:bodyPr/>
        <a:lstStyle/>
        <a:p>
          <a:r>
            <a:rPr lang="en-US" sz="1600" dirty="0"/>
            <a:t>interrupts, signals, messages, and information</a:t>
          </a:r>
        </a:p>
      </dgm:t>
    </dgm:pt>
    <dgm:pt modelId="{5127AD05-47D3-F542-824B-EAD759E83F28}" type="parTrans" cxnId="{C111ED75-0A8E-2644-A617-C5075307D75F}">
      <dgm:prSet/>
      <dgm:spPr/>
      <dgm:t>
        <a:bodyPr/>
        <a:lstStyle/>
        <a:p>
          <a:endParaRPr lang="en-US"/>
        </a:p>
      </dgm:t>
    </dgm:pt>
    <dgm:pt modelId="{0A349A34-73D3-4A4D-8FC2-0EAF13B7C801}" type="sibTrans" cxnId="{C111ED75-0A8E-2644-A617-C5075307D75F}">
      <dgm:prSet/>
      <dgm:spPr/>
      <dgm:t>
        <a:bodyPr/>
        <a:lstStyle/>
        <a:p>
          <a:endParaRPr lang="en-US"/>
        </a:p>
      </dgm:t>
    </dgm:pt>
    <dgm:pt modelId="{F47FF2D5-1397-ED4B-9E14-2EDE603F5B0A}">
      <dgm:prSet custT="1"/>
      <dgm:spPr>
        <a:solidFill>
          <a:schemeClr val="accent1">
            <a:lumMod val="75000"/>
          </a:schemeClr>
        </a:solidFill>
      </dgm:spPr>
      <dgm:t>
        <a:bodyPr/>
        <a:lstStyle/>
        <a:p>
          <a:r>
            <a:rPr lang="en-US" sz="1600" dirty="0"/>
            <a:t>in I/O buffers</a:t>
          </a:r>
          <a:endParaRPr lang="en-NZ" sz="1600" dirty="0"/>
        </a:p>
      </dgm:t>
    </dgm:pt>
    <dgm:pt modelId="{6383B989-E7CD-F649-90C7-862B43FBE5DE}" type="parTrans" cxnId="{FE09AAAF-D065-CD49-A885-078B72DEE0D8}">
      <dgm:prSet/>
      <dgm:spPr/>
      <dgm:t>
        <a:bodyPr/>
        <a:lstStyle/>
        <a:p>
          <a:endParaRPr lang="en-US"/>
        </a:p>
      </dgm:t>
    </dgm:pt>
    <dgm:pt modelId="{34F57EC8-58D5-F349-A172-317749435838}" type="sibTrans" cxnId="{FE09AAAF-D065-CD49-A885-078B72DEE0D8}">
      <dgm:prSet/>
      <dgm:spPr/>
      <dgm:t>
        <a:bodyPr/>
        <a:lstStyle/>
        <a:p>
          <a:endParaRPr lang="en-US"/>
        </a:p>
      </dgm:t>
    </dgm:pt>
    <dgm:pt modelId="{4EC26E6F-C52F-CE42-A8F6-CF14E3CA6C52}" type="pres">
      <dgm:prSet presAssocID="{4B069595-C8F8-C542-AA06-04537D63260B}" presName="outerComposite" presStyleCnt="0">
        <dgm:presLayoutVars>
          <dgm:chMax val="5"/>
          <dgm:dir/>
          <dgm:resizeHandles val="exact"/>
        </dgm:presLayoutVars>
      </dgm:prSet>
      <dgm:spPr/>
    </dgm:pt>
    <dgm:pt modelId="{D4B683C6-9581-CC48-B17B-FE198341F943}" type="pres">
      <dgm:prSet presAssocID="{4B069595-C8F8-C542-AA06-04537D63260B}" presName="dummyMaxCanvas" presStyleCnt="0">
        <dgm:presLayoutVars/>
      </dgm:prSet>
      <dgm:spPr/>
    </dgm:pt>
    <dgm:pt modelId="{C7F5FE58-0E4F-1448-8B6D-1E52F620776C}" type="pres">
      <dgm:prSet presAssocID="{4B069595-C8F8-C542-AA06-04537D63260B}" presName="TwoNodes_1" presStyleLbl="node1" presStyleIdx="0" presStyleCnt="2">
        <dgm:presLayoutVars>
          <dgm:bulletEnabled val="1"/>
        </dgm:presLayoutVars>
      </dgm:prSet>
      <dgm:spPr/>
    </dgm:pt>
    <dgm:pt modelId="{FBCB8F57-C548-1C43-A637-8BC0E0917159}" type="pres">
      <dgm:prSet presAssocID="{4B069595-C8F8-C542-AA06-04537D63260B}" presName="TwoNodes_2" presStyleLbl="node1" presStyleIdx="1" presStyleCnt="2">
        <dgm:presLayoutVars>
          <dgm:bulletEnabled val="1"/>
        </dgm:presLayoutVars>
      </dgm:prSet>
      <dgm:spPr/>
    </dgm:pt>
    <dgm:pt modelId="{22B4735D-FDE9-0F4D-8517-6404F300167D}" type="pres">
      <dgm:prSet presAssocID="{4B069595-C8F8-C542-AA06-04537D63260B}" presName="TwoConn_1-2" presStyleLbl="fgAccFollowNode1" presStyleIdx="0" presStyleCnt="1" custScaleX="98854" custScaleY="89767">
        <dgm:presLayoutVars>
          <dgm:bulletEnabled val="1"/>
        </dgm:presLayoutVars>
      </dgm:prSet>
      <dgm:spPr/>
    </dgm:pt>
    <dgm:pt modelId="{A26B9EBC-74D7-2A48-BA22-9588CC88354C}" type="pres">
      <dgm:prSet presAssocID="{4B069595-C8F8-C542-AA06-04537D63260B}" presName="TwoNodes_1_text" presStyleLbl="node1" presStyleIdx="1" presStyleCnt="2">
        <dgm:presLayoutVars>
          <dgm:bulletEnabled val="1"/>
        </dgm:presLayoutVars>
      </dgm:prSet>
      <dgm:spPr/>
    </dgm:pt>
    <dgm:pt modelId="{D6DE09C8-9119-B147-8885-52885619EE92}" type="pres">
      <dgm:prSet presAssocID="{4B069595-C8F8-C542-AA06-04537D63260B}" presName="TwoNodes_2_text" presStyleLbl="node1" presStyleIdx="1" presStyleCnt="2">
        <dgm:presLayoutVars>
          <dgm:bulletEnabled val="1"/>
        </dgm:presLayoutVars>
      </dgm:prSet>
      <dgm:spPr/>
    </dgm:pt>
  </dgm:ptLst>
  <dgm:cxnLst>
    <dgm:cxn modelId="{8A46FA12-3158-C240-B7DF-09C33CE8F711}" type="presOf" srcId="{26383733-9C83-2F4E-AA73-9102FEACE73A}" destId="{A26B9EBC-74D7-2A48-BA22-9588CC88354C}" srcOrd="1" destOrd="0" presId="urn:microsoft.com/office/officeart/2005/8/layout/vProcess5"/>
    <dgm:cxn modelId="{5966CD22-FDD0-DE4D-BCA4-DB3FA0E58675}" type="presOf" srcId="{9A7E617A-4BED-144C-BA37-F797C39B70C8}" destId="{C7F5FE58-0E4F-1448-8B6D-1E52F620776C}" srcOrd="0" destOrd="2" presId="urn:microsoft.com/office/officeart/2005/8/layout/vProcess5"/>
    <dgm:cxn modelId="{0D811623-65F9-C049-9216-9DC1EE4A95DB}" srcId="{26383733-9C83-2F4E-AA73-9102FEACE73A}" destId="{F794A6D0-159F-1648-B732-77E25AB56B54}" srcOrd="0" destOrd="0" parTransId="{632F1CE8-9F3F-FB47-A51E-39E4B4D3E3A2}" sibTransId="{F12C7981-B93A-D34C-8B5B-6776E7049310}"/>
    <dgm:cxn modelId="{65C4432C-5250-0640-8A86-B843CB2CE8B8}" type="presOf" srcId="{EA30BBB8-30F3-504E-8E0A-4089A7235F4B}" destId="{D6DE09C8-9119-B147-8885-52885619EE92}" srcOrd="1" destOrd="1" presId="urn:microsoft.com/office/officeart/2005/8/layout/vProcess5"/>
    <dgm:cxn modelId="{A328853F-1088-A74C-9CA2-86678E43A313}" type="presOf" srcId="{80314524-DF9D-D142-BDDF-43D86B545F73}" destId="{D6DE09C8-9119-B147-8885-52885619EE92}" srcOrd="1" destOrd="2" presId="urn:microsoft.com/office/officeart/2005/8/layout/vProcess5"/>
    <dgm:cxn modelId="{2EB83243-EBAC-1C40-8B8F-EEB674B4D205}" type="presOf" srcId="{F47FF2D5-1397-ED4B-9E14-2EDE603F5B0A}" destId="{FBCB8F57-C548-1C43-A637-8BC0E0917159}" srcOrd="0" destOrd="3" presId="urn:microsoft.com/office/officeart/2005/8/layout/vProcess5"/>
    <dgm:cxn modelId="{B28A8268-2359-A54A-A2AA-46FC73828A14}" type="presOf" srcId="{F794A6D0-159F-1648-B732-77E25AB56B54}" destId="{A26B9EBC-74D7-2A48-BA22-9588CC88354C}" srcOrd="1" destOrd="1" presId="urn:microsoft.com/office/officeart/2005/8/layout/vProcess5"/>
    <dgm:cxn modelId="{76FE5349-4226-CF43-A802-85086A94EB23}" type="presOf" srcId="{606FA574-F26B-524F-8E65-05056BD13BBA}" destId="{22B4735D-FDE9-0F4D-8517-6404F300167D}" srcOrd="0" destOrd="0" presId="urn:microsoft.com/office/officeart/2005/8/layout/vProcess5"/>
    <dgm:cxn modelId="{9A42656D-52CD-2F4F-9627-AC09C70BC8E1}" srcId="{191AB62D-7613-ED44-BF21-05A480174B7A}" destId="{EA30BBB8-30F3-504E-8E0A-4089A7235F4B}" srcOrd="0" destOrd="0" parTransId="{5E434350-189C-B54F-A946-E8F5E0AD6E11}" sibTransId="{C1FF72E8-3B30-964C-91A9-95CD5181E4FA}"/>
    <dgm:cxn modelId="{941DD24D-AD4D-BC4D-8CCA-987287C3EB02}" type="presOf" srcId="{191AB62D-7613-ED44-BF21-05A480174B7A}" destId="{FBCB8F57-C548-1C43-A637-8BC0E0917159}" srcOrd="0" destOrd="0" presId="urn:microsoft.com/office/officeart/2005/8/layout/vProcess5"/>
    <dgm:cxn modelId="{841D6870-4543-2B4B-9A88-866BCA5009AB}" type="presOf" srcId="{9A7E617A-4BED-144C-BA37-F797C39B70C8}" destId="{A26B9EBC-74D7-2A48-BA22-9588CC88354C}" srcOrd="1" destOrd="2" presId="urn:microsoft.com/office/officeart/2005/8/layout/vProcess5"/>
    <dgm:cxn modelId="{3E0F7050-D293-614C-89CB-DC9579EDDD3C}" type="presOf" srcId="{4B069595-C8F8-C542-AA06-04537D63260B}" destId="{4EC26E6F-C52F-CE42-A8F6-CF14E3CA6C52}" srcOrd="0" destOrd="0" presId="urn:microsoft.com/office/officeart/2005/8/layout/vProcess5"/>
    <dgm:cxn modelId="{1A6B5052-8D0A-F649-8AA2-3F7583CD2A05}" type="presOf" srcId="{F794A6D0-159F-1648-B732-77E25AB56B54}" destId="{C7F5FE58-0E4F-1448-8B6D-1E52F620776C}" srcOrd="0" destOrd="1" presId="urn:microsoft.com/office/officeart/2005/8/layout/vProcess5"/>
    <dgm:cxn modelId="{C111ED75-0A8E-2644-A617-C5075307D75F}" srcId="{EA30BBB8-30F3-504E-8E0A-4089A7235F4B}" destId="{80314524-DF9D-D142-BDDF-43D86B545F73}" srcOrd="0" destOrd="0" parTransId="{5127AD05-47D3-F542-824B-EAD759E83F28}" sibTransId="{0A349A34-73D3-4A4D-8FC2-0EAF13B7C801}"/>
    <dgm:cxn modelId="{B537B878-6085-D246-BFFF-2D4A7493EEA9}" type="presOf" srcId="{80314524-DF9D-D142-BDDF-43D86B545F73}" destId="{FBCB8F57-C548-1C43-A637-8BC0E0917159}" srcOrd="0" destOrd="2" presId="urn:microsoft.com/office/officeart/2005/8/layout/vProcess5"/>
    <dgm:cxn modelId="{4E813E88-9F70-E74A-BFFA-385E2AC4DE04}" type="presOf" srcId="{F47FF2D5-1397-ED4B-9E14-2EDE603F5B0A}" destId="{D6DE09C8-9119-B147-8885-52885619EE92}" srcOrd="1" destOrd="3" presId="urn:microsoft.com/office/officeart/2005/8/layout/vProcess5"/>
    <dgm:cxn modelId="{FE09AAAF-D065-CD49-A885-078B72DEE0D8}" srcId="{EA30BBB8-30F3-504E-8E0A-4089A7235F4B}" destId="{F47FF2D5-1397-ED4B-9E14-2EDE603F5B0A}" srcOrd="1" destOrd="0" parTransId="{6383B989-E7CD-F649-90C7-862B43FBE5DE}" sibTransId="{34F57EC8-58D5-F349-A172-317749435838}"/>
    <dgm:cxn modelId="{F363C5CC-A31A-9748-8E8E-7542E9A8084E}" srcId="{F794A6D0-159F-1648-B732-77E25AB56B54}" destId="{9A7E617A-4BED-144C-BA37-F797C39B70C8}" srcOrd="0" destOrd="0" parTransId="{6D12ECF2-14C3-6F42-8F5E-3F542083975C}" sibTransId="{F87F6F7F-14F0-EA4D-A74B-2CC1D24459A3}"/>
    <dgm:cxn modelId="{18773EE1-44B8-574F-B98C-3015C0727EFC}" srcId="{4B069595-C8F8-C542-AA06-04537D63260B}" destId="{191AB62D-7613-ED44-BF21-05A480174B7A}" srcOrd="1" destOrd="0" parTransId="{2C2ADAE6-8AD9-3743-9FB8-ED574BAF6CAD}" sibTransId="{7C98AAE8-A720-8640-80AC-8219FBEE20FB}"/>
    <dgm:cxn modelId="{4C44D5E3-E32F-4C4B-B378-55E5A871BAA1}" type="presOf" srcId="{191AB62D-7613-ED44-BF21-05A480174B7A}" destId="{D6DE09C8-9119-B147-8885-52885619EE92}" srcOrd="1" destOrd="0" presId="urn:microsoft.com/office/officeart/2005/8/layout/vProcess5"/>
    <dgm:cxn modelId="{1F8CBAE7-5E4D-B746-A15B-28BCC9F64965}" srcId="{4B069595-C8F8-C542-AA06-04537D63260B}" destId="{26383733-9C83-2F4E-AA73-9102FEACE73A}" srcOrd="0" destOrd="0" parTransId="{B8E0DD79-8102-5B47-8E3C-C29A96295326}" sibTransId="{606FA574-F26B-524F-8E65-05056BD13BBA}"/>
    <dgm:cxn modelId="{C4A3DBED-6FC4-A541-B931-EB60E015B3A9}" type="presOf" srcId="{26383733-9C83-2F4E-AA73-9102FEACE73A}" destId="{C7F5FE58-0E4F-1448-8B6D-1E52F620776C}" srcOrd="0" destOrd="0" presId="urn:microsoft.com/office/officeart/2005/8/layout/vProcess5"/>
    <dgm:cxn modelId="{01DA2DF5-8E7F-6C4A-A685-F33147BBB45C}" type="presOf" srcId="{EA30BBB8-30F3-504E-8E0A-4089A7235F4B}" destId="{FBCB8F57-C548-1C43-A637-8BC0E0917159}" srcOrd="0" destOrd="1" presId="urn:microsoft.com/office/officeart/2005/8/layout/vProcess5"/>
    <dgm:cxn modelId="{015911ED-3B2E-1548-9D80-616A76126C6A}" type="presParOf" srcId="{4EC26E6F-C52F-CE42-A8F6-CF14E3CA6C52}" destId="{D4B683C6-9581-CC48-B17B-FE198341F943}" srcOrd="0" destOrd="0" presId="urn:microsoft.com/office/officeart/2005/8/layout/vProcess5"/>
    <dgm:cxn modelId="{0B4F5643-E5DD-744B-974F-37A2A1E07EEF}" type="presParOf" srcId="{4EC26E6F-C52F-CE42-A8F6-CF14E3CA6C52}" destId="{C7F5FE58-0E4F-1448-8B6D-1E52F620776C}" srcOrd="1" destOrd="0" presId="urn:microsoft.com/office/officeart/2005/8/layout/vProcess5"/>
    <dgm:cxn modelId="{CB2B53E1-84D4-164F-9DE1-2086FD1BF4F3}" type="presParOf" srcId="{4EC26E6F-C52F-CE42-A8F6-CF14E3CA6C52}" destId="{FBCB8F57-C548-1C43-A637-8BC0E0917159}" srcOrd="2" destOrd="0" presId="urn:microsoft.com/office/officeart/2005/8/layout/vProcess5"/>
    <dgm:cxn modelId="{4578A8EA-D4A8-E54A-B9BE-FD1554465E57}" type="presParOf" srcId="{4EC26E6F-C52F-CE42-A8F6-CF14E3CA6C52}" destId="{22B4735D-FDE9-0F4D-8517-6404F300167D}" srcOrd="3" destOrd="0" presId="urn:microsoft.com/office/officeart/2005/8/layout/vProcess5"/>
    <dgm:cxn modelId="{BA1148A2-879A-C049-8480-CE4EBD34D288}" type="presParOf" srcId="{4EC26E6F-C52F-CE42-A8F6-CF14E3CA6C52}" destId="{A26B9EBC-74D7-2A48-BA22-9588CC88354C}" srcOrd="4" destOrd="0" presId="urn:microsoft.com/office/officeart/2005/8/layout/vProcess5"/>
    <dgm:cxn modelId="{E9CF799A-CD52-AD44-AB14-F70A18A3B58E}" type="presParOf" srcId="{4EC26E6F-C52F-CE42-A8F6-CF14E3CA6C52}" destId="{D6DE09C8-9119-B147-8885-52885619EE92}" srcOrd="5"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F28E27-31E0-B34F-BC9F-4CDE7B8EDC8B}" type="doc">
      <dgm:prSet loTypeId="urn:microsoft.com/office/officeart/2005/8/layout/hList1" loCatId="list" qsTypeId="urn:microsoft.com/office/officeart/2005/8/quickstyle/simple4" qsCatId="simple" csTypeId="urn:microsoft.com/office/officeart/2005/8/colors/accent1_2" csCatId="accent1" phldr="1"/>
      <dgm:spPr/>
      <dgm:t>
        <a:bodyPr/>
        <a:lstStyle/>
        <a:p>
          <a:endParaRPr lang="en-US"/>
        </a:p>
      </dgm:t>
    </dgm:pt>
    <dgm:pt modelId="{FAADB5D8-2D9B-7A46-8864-3E76632DF242}">
      <dgm:prSet phldrT="[Text]"/>
      <dgm:spPr/>
      <dgm:t>
        <a:bodyPr/>
        <a:lstStyle/>
        <a:p>
          <a:r>
            <a:rPr lang="en-US" dirty="0"/>
            <a:t>Mutual Exclusion</a:t>
          </a:r>
        </a:p>
      </dgm:t>
    </dgm:pt>
    <dgm:pt modelId="{13107E0E-EAEB-E249-A700-4C5354826476}" type="parTrans" cxnId="{7E36EEB6-8273-DB4E-ABCE-384C7CC38C43}">
      <dgm:prSet/>
      <dgm:spPr/>
      <dgm:t>
        <a:bodyPr/>
        <a:lstStyle/>
        <a:p>
          <a:endParaRPr lang="en-US"/>
        </a:p>
      </dgm:t>
    </dgm:pt>
    <dgm:pt modelId="{1E2D3B4A-6DB0-1A45-A8F9-7D186F04B72A}" type="sibTrans" cxnId="{7E36EEB6-8273-DB4E-ABCE-384C7CC38C43}">
      <dgm:prSet/>
      <dgm:spPr/>
      <dgm:t>
        <a:bodyPr/>
        <a:lstStyle/>
        <a:p>
          <a:endParaRPr lang="en-US"/>
        </a:p>
      </dgm:t>
    </dgm:pt>
    <dgm:pt modelId="{C30027CC-F546-2244-ADC4-F1E1D604EBBF}">
      <dgm:prSet/>
      <dgm:spPr>
        <a:solidFill>
          <a:schemeClr val="bg2">
            <a:lumMod val="75000"/>
          </a:schemeClr>
        </a:solidFill>
      </dgm:spPr>
      <dgm:t>
        <a:bodyPr/>
        <a:lstStyle/>
        <a:p>
          <a:r>
            <a:rPr lang="en-US"/>
            <a:t>only one process may use a resource at a time</a:t>
          </a:r>
          <a:endParaRPr lang="en-US" dirty="0"/>
        </a:p>
      </dgm:t>
    </dgm:pt>
    <dgm:pt modelId="{66FA7D5D-B901-D048-B7EA-F239C1B39F7D}" type="parTrans" cxnId="{4CE91DD5-DBA7-3848-B2E2-A63BBB97D862}">
      <dgm:prSet/>
      <dgm:spPr/>
      <dgm:t>
        <a:bodyPr/>
        <a:lstStyle/>
        <a:p>
          <a:endParaRPr lang="en-US"/>
        </a:p>
      </dgm:t>
    </dgm:pt>
    <dgm:pt modelId="{D75C275F-F007-3946-9381-CBA55B14D844}" type="sibTrans" cxnId="{4CE91DD5-DBA7-3848-B2E2-A63BBB97D862}">
      <dgm:prSet/>
      <dgm:spPr/>
      <dgm:t>
        <a:bodyPr/>
        <a:lstStyle/>
        <a:p>
          <a:endParaRPr lang="en-US"/>
        </a:p>
      </dgm:t>
    </dgm:pt>
    <dgm:pt modelId="{89770E3B-DCA7-3848-9303-28CD4251107C}">
      <dgm:prSet/>
      <dgm:spPr/>
      <dgm:t>
        <a:bodyPr/>
        <a:lstStyle/>
        <a:p>
          <a:r>
            <a:rPr lang="en-US" dirty="0"/>
            <a:t>Hold-and-Wait</a:t>
          </a:r>
        </a:p>
      </dgm:t>
    </dgm:pt>
    <dgm:pt modelId="{95FE122D-516D-1640-8DB2-434AA9FACA8E}" type="parTrans" cxnId="{123391C1-8758-AA4A-B13D-7307D65CD3BD}">
      <dgm:prSet/>
      <dgm:spPr/>
      <dgm:t>
        <a:bodyPr/>
        <a:lstStyle/>
        <a:p>
          <a:endParaRPr lang="en-US"/>
        </a:p>
      </dgm:t>
    </dgm:pt>
    <dgm:pt modelId="{A5BA5E1B-CDE3-A64B-8989-CA5B097F5E14}" type="sibTrans" cxnId="{123391C1-8758-AA4A-B13D-7307D65CD3BD}">
      <dgm:prSet/>
      <dgm:spPr/>
      <dgm:t>
        <a:bodyPr/>
        <a:lstStyle/>
        <a:p>
          <a:endParaRPr lang="en-US"/>
        </a:p>
      </dgm:t>
    </dgm:pt>
    <dgm:pt modelId="{33F6D4F0-07C2-9144-899C-AF212DC0E361}">
      <dgm:prSet/>
      <dgm:spPr>
        <a:solidFill>
          <a:schemeClr val="bg2">
            <a:lumMod val="75000"/>
          </a:schemeClr>
        </a:solidFill>
      </dgm:spPr>
      <dgm:t>
        <a:bodyPr/>
        <a:lstStyle/>
        <a:p>
          <a:r>
            <a:rPr lang="en-US" dirty="0"/>
            <a:t>a process may hold allocated resources while awaiting assignment of others</a:t>
          </a:r>
        </a:p>
      </dgm:t>
    </dgm:pt>
    <dgm:pt modelId="{A6F1A6C4-1D48-A242-B4D6-B8AB0D00400E}" type="parTrans" cxnId="{125BFD47-6D4C-EE45-A734-44602B3AC7B4}">
      <dgm:prSet/>
      <dgm:spPr/>
      <dgm:t>
        <a:bodyPr/>
        <a:lstStyle/>
        <a:p>
          <a:endParaRPr lang="en-US"/>
        </a:p>
      </dgm:t>
    </dgm:pt>
    <dgm:pt modelId="{79ADCD33-D91A-074A-B772-C0A69F1A8551}" type="sibTrans" cxnId="{125BFD47-6D4C-EE45-A734-44602B3AC7B4}">
      <dgm:prSet/>
      <dgm:spPr/>
      <dgm:t>
        <a:bodyPr/>
        <a:lstStyle/>
        <a:p>
          <a:endParaRPr lang="en-US"/>
        </a:p>
      </dgm:t>
    </dgm:pt>
    <dgm:pt modelId="{6A10E3E3-FA6D-1E4B-BB49-89AF70B7997E}">
      <dgm:prSet/>
      <dgm:spPr/>
      <dgm:t>
        <a:bodyPr/>
        <a:lstStyle/>
        <a:p>
          <a:r>
            <a:rPr lang="en-NZ" dirty="0"/>
            <a:t>No Pre-emption</a:t>
          </a:r>
        </a:p>
      </dgm:t>
    </dgm:pt>
    <dgm:pt modelId="{D92BC7C8-121B-5E4E-B4EA-8EA596186D1A}" type="parTrans" cxnId="{9557A739-C567-4B47-835E-E95D0E455BE2}">
      <dgm:prSet/>
      <dgm:spPr/>
      <dgm:t>
        <a:bodyPr/>
        <a:lstStyle/>
        <a:p>
          <a:endParaRPr lang="en-US"/>
        </a:p>
      </dgm:t>
    </dgm:pt>
    <dgm:pt modelId="{0D7DD324-772D-6D48-8659-E26C3B195677}" type="sibTrans" cxnId="{9557A739-C567-4B47-835E-E95D0E455BE2}">
      <dgm:prSet/>
      <dgm:spPr/>
      <dgm:t>
        <a:bodyPr/>
        <a:lstStyle/>
        <a:p>
          <a:endParaRPr lang="en-US"/>
        </a:p>
      </dgm:t>
    </dgm:pt>
    <dgm:pt modelId="{E95D73AA-1155-2340-AF50-F162A8F43417}">
      <dgm:prSet/>
      <dgm:spPr>
        <a:solidFill>
          <a:schemeClr val="bg2">
            <a:lumMod val="75000"/>
          </a:schemeClr>
        </a:solidFill>
      </dgm:spPr>
      <dgm:t>
        <a:bodyPr/>
        <a:lstStyle/>
        <a:p>
          <a:r>
            <a:rPr lang="en-NZ" dirty="0"/>
            <a:t>no resource can be forcibly removed from a process holding it</a:t>
          </a:r>
        </a:p>
      </dgm:t>
    </dgm:pt>
    <dgm:pt modelId="{881C6D5D-13D3-5540-A4EA-3435188C29DC}" type="parTrans" cxnId="{78A4C2CD-62DA-8B49-9DD4-4CE9E5A4EA8D}">
      <dgm:prSet/>
      <dgm:spPr/>
      <dgm:t>
        <a:bodyPr/>
        <a:lstStyle/>
        <a:p>
          <a:endParaRPr lang="en-US"/>
        </a:p>
      </dgm:t>
    </dgm:pt>
    <dgm:pt modelId="{63EDF2B7-6064-844B-AF4D-0F7ED29F70A6}" type="sibTrans" cxnId="{78A4C2CD-62DA-8B49-9DD4-4CE9E5A4EA8D}">
      <dgm:prSet/>
      <dgm:spPr/>
      <dgm:t>
        <a:bodyPr/>
        <a:lstStyle/>
        <a:p>
          <a:endParaRPr lang="en-US"/>
        </a:p>
      </dgm:t>
    </dgm:pt>
    <dgm:pt modelId="{6B6C2A78-FD5F-CE4B-9E66-DD0EF754F5D6}">
      <dgm:prSet/>
      <dgm:spPr/>
      <dgm:t>
        <a:bodyPr/>
        <a:lstStyle/>
        <a:p>
          <a:r>
            <a:rPr lang="en-NZ" dirty="0"/>
            <a:t>Circular Wait</a:t>
          </a:r>
        </a:p>
      </dgm:t>
    </dgm:pt>
    <dgm:pt modelId="{B36329CF-E242-DD43-BA9C-76956EB1A060}" type="parTrans" cxnId="{D8BB821A-3CFE-F849-ABEA-12A2AECC5259}">
      <dgm:prSet/>
      <dgm:spPr/>
      <dgm:t>
        <a:bodyPr/>
        <a:lstStyle/>
        <a:p>
          <a:endParaRPr lang="en-US"/>
        </a:p>
      </dgm:t>
    </dgm:pt>
    <dgm:pt modelId="{6909B805-475A-3A4E-B8F6-1AC694A2E2CA}" type="sibTrans" cxnId="{D8BB821A-3CFE-F849-ABEA-12A2AECC5259}">
      <dgm:prSet/>
      <dgm:spPr/>
      <dgm:t>
        <a:bodyPr/>
        <a:lstStyle/>
        <a:p>
          <a:endParaRPr lang="en-US"/>
        </a:p>
      </dgm:t>
    </dgm:pt>
    <dgm:pt modelId="{67B3BA71-261C-0447-8E65-09D9621C2928}">
      <dgm:prSet/>
      <dgm:spPr>
        <a:solidFill>
          <a:schemeClr val="bg2">
            <a:lumMod val="75000"/>
          </a:schemeClr>
        </a:solidFill>
      </dgm:spPr>
      <dgm:t>
        <a:bodyPr/>
        <a:lstStyle/>
        <a:p>
          <a:r>
            <a:rPr lang="en-NZ" dirty="0"/>
            <a:t>a closed chain of processes exists, such that each process holds at least one resource needed by the next process in the chain</a:t>
          </a:r>
        </a:p>
      </dgm:t>
    </dgm:pt>
    <dgm:pt modelId="{EB73C5F2-38C9-5C48-AC82-1F52FEC517EE}" type="parTrans" cxnId="{27FE7EC4-86B9-7147-9A11-95D7B8115E2C}">
      <dgm:prSet/>
      <dgm:spPr/>
      <dgm:t>
        <a:bodyPr/>
        <a:lstStyle/>
        <a:p>
          <a:endParaRPr lang="en-US"/>
        </a:p>
      </dgm:t>
    </dgm:pt>
    <dgm:pt modelId="{4439AB72-52A8-3A44-A050-74E1F8A8450E}" type="sibTrans" cxnId="{27FE7EC4-86B9-7147-9A11-95D7B8115E2C}">
      <dgm:prSet/>
      <dgm:spPr/>
      <dgm:t>
        <a:bodyPr/>
        <a:lstStyle/>
        <a:p>
          <a:endParaRPr lang="en-US"/>
        </a:p>
      </dgm:t>
    </dgm:pt>
    <dgm:pt modelId="{595A4C02-9C50-5D44-97C1-61C5F1D39956}" type="pres">
      <dgm:prSet presAssocID="{D5F28E27-31E0-B34F-BC9F-4CDE7B8EDC8B}" presName="Name0" presStyleCnt="0">
        <dgm:presLayoutVars>
          <dgm:dir/>
          <dgm:animLvl val="lvl"/>
          <dgm:resizeHandles val="exact"/>
        </dgm:presLayoutVars>
      </dgm:prSet>
      <dgm:spPr/>
    </dgm:pt>
    <dgm:pt modelId="{70B573EF-205F-1842-8CCC-1BBEA43FF364}" type="pres">
      <dgm:prSet presAssocID="{FAADB5D8-2D9B-7A46-8864-3E76632DF242}" presName="composite" presStyleCnt="0"/>
      <dgm:spPr/>
    </dgm:pt>
    <dgm:pt modelId="{910692A2-8C4F-0545-98A7-FD5743A081D9}" type="pres">
      <dgm:prSet presAssocID="{FAADB5D8-2D9B-7A46-8864-3E76632DF242}" presName="parTx" presStyleLbl="alignNode1" presStyleIdx="0" presStyleCnt="4">
        <dgm:presLayoutVars>
          <dgm:chMax val="0"/>
          <dgm:chPref val="0"/>
          <dgm:bulletEnabled val="1"/>
        </dgm:presLayoutVars>
      </dgm:prSet>
      <dgm:spPr/>
    </dgm:pt>
    <dgm:pt modelId="{613BAD88-1300-C64D-8478-28BDFCA247EE}" type="pres">
      <dgm:prSet presAssocID="{FAADB5D8-2D9B-7A46-8864-3E76632DF242}" presName="desTx" presStyleLbl="alignAccFollowNode1" presStyleIdx="0" presStyleCnt="4" custLinFactNeighborX="-78" custLinFactNeighborY="1405">
        <dgm:presLayoutVars>
          <dgm:bulletEnabled val="1"/>
        </dgm:presLayoutVars>
      </dgm:prSet>
      <dgm:spPr/>
    </dgm:pt>
    <dgm:pt modelId="{830B52BF-56C9-0947-9FFF-A0BAF664FCA6}" type="pres">
      <dgm:prSet presAssocID="{1E2D3B4A-6DB0-1A45-A8F9-7D186F04B72A}" presName="space" presStyleCnt="0"/>
      <dgm:spPr/>
    </dgm:pt>
    <dgm:pt modelId="{E46CE980-0576-7746-B52C-14F313BD605A}" type="pres">
      <dgm:prSet presAssocID="{89770E3B-DCA7-3848-9303-28CD4251107C}" presName="composite" presStyleCnt="0"/>
      <dgm:spPr/>
    </dgm:pt>
    <dgm:pt modelId="{F7B771C4-1781-334A-A9CC-6AB6388019C2}" type="pres">
      <dgm:prSet presAssocID="{89770E3B-DCA7-3848-9303-28CD4251107C}" presName="parTx" presStyleLbl="alignNode1" presStyleIdx="1" presStyleCnt="4">
        <dgm:presLayoutVars>
          <dgm:chMax val="0"/>
          <dgm:chPref val="0"/>
          <dgm:bulletEnabled val="1"/>
        </dgm:presLayoutVars>
      </dgm:prSet>
      <dgm:spPr/>
    </dgm:pt>
    <dgm:pt modelId="{CE427A8D-A2CB-E34E-B99B-527B0A4E0DC8}" type="pres">
      <dgm:prSet presAssocID="{89770E3B-DCA7-3848-9303-28CD4251107C}" presName="desTx" presStyleLbl="alignAccFollowNode1" presStyleIdx="1" presStyleCnt="4" custLinFactNeighborX="3" custLinFactNeighborY="1405">
        <dgm:presLayoutVars>
          <dgm:bulletEnabled val="1"/>
        </dgm:presLayoutVars>
      </dgm:prSet>
      <dgm:spPr/>
    </dgm:pt>
    <dgm:pt modelId="{9DD92D25-166F-0B42-A9CE-269E7FD9CEB2}" type="pres">
      <dgm:prSet presAssocID="{A5BA5E1B-CDE3-A64B-8989-CA5B097F5E14}" presName="space" presStyleCnt="0"/>
      <dgm:spPr/>
    </dgm:pt>
    <dgm:pt modelId="{08A86BD8-8382-6244-8E45-BF8DF4211F66}" type="pres">
      <dgm:prSet presAssocID="{6A10E3E3-FA6D-1E4B-BB49-89AF70B7997E}" presName="composite" presStyleCnt="0"/>
      <dgm:spPr/>
    </dgm:pt>
    <dgm:pt modelId="{8AD7747F-C6FB-8D40-8D93-2E53B586D4AB}" type="pres">
      <dgm:prSet presAssocID="{6A10E3E3-FA6D-1E4B-BB49-89AF70B7997E}" presName="parTx" presStyleLbl="alignNode1" presStyleIdx="2" presStyleCnt="4" custScaleX="109942">
        <dgm:presLayoutVars>
          <dgm:chMax val="0"/>
          <dgm:chPref val="0"/>
          <dgm:bulletEnabled val="1"/>
        </dgm:presLayoutVars>
      </dgm:prSet>
      <dgm:spPr/>
    </dgm:pt>
    <dgm:pt modelId="{F1B2B33B-D78F-B548-832F-D31F12C1AEA8}" type="pres">
      <dgm:prSet presAssocID="{6A10E3E3-FA6D-1E4B-BB49-89AF70B7997E}" presName="desTx" presStyleLbl="alignAccFollowNode1" presStyleIdx="2" presStyleCnt="4" custLinFactNeighborX="-662" custLinFactNeighborY="1405">
        <dgm:presLayoutVars>
          <dgm:bulletEnabled val="1"/>
        </dgm:presLayoutVars>
      </dgm:prSet>
      <dgm:spPr/>
    </dgm:pt>
    <dgm:pt modelId="{EC1137E5-1FDC-2E44-80C2-815E763752B0}" type="pres">
      <dgm:prSet presAssocID="{0D7DD324-772D-6D48-8659-E26C3B195677}" presName="space" presStyleCnt="0"/>
      <dgm:spPr/>
    </dgm:pt>
    <dgm:pt modelId="{EDB3DE01-69DE-634E-A1D3-A796506F10FE}" type="pres">
      <dgm:prSet presAssocID="{6B6C2A78-FD5F-CE4B-9E66-DD0EF754F5D6}" presName="composite" presStyleCnt="0"/>
      <dgm:spPr/>
    </dgm:pt>
    <dgm:pt modelId="{92B94131-7DF3-D247-8535-7A1175868520}" type="pres">
      <dgm:prSet presAssocID="{6B6C2A78-FD5F-CE4B-9E66-DD0EF754F5D6}" presName="parTx" presStyleLbl="alignNode1" presStyleIdx="3" presStyleCnt="4">
        <dgm:presLayoutVars>
          <dgm:chMax val="0"/>
          <dgm:chPref val="0"/>
          <dgm:bulletEnabled val="1"/>
        </dgm:presLayoutVars>
      </dgm:prSet>
      <dgm:spPr/>
    </dgm:pt>
    <dgm:pt modelId="{583D7356-1B1B-AD42-925D-161669EB54CA}" type="pres">
      <dgm:prSet presAssocID="{6B6C2A78-FD5F-CE4B-9E66-DD0EF754F5D6}" presName="desTx" presStyleLbl="alignAccFollowNode1" presStyleIdx="3" presStyleCnt="4" custLinFactNeighborX="2898" custLinFactNeighborY="1405">
        <dgm:presLayoutVars>
          <dgm:bulletEnabled val="1"/>
        </dgm:presLayoutVars>
      </dgm:prSet>
      <dgm:spPr/>
    </dgm:pt>
  </dgm:ptLst>
  <dgm:cxnLst>
    <dgm:cxn modelId="{D8BB821A-3CFE-F849-ABEA-12A2AECC5259}" srcId="{D5F28E27-31E0-B34F-BC9F-4CDE7B8EDC8B}" destId="{6B6C2A78-FD5F-CE4B-9E66-DD0EF754F5D6}" srcOrd="3" destOrd="0" parTransId="{B36329CF-E242-DD43-BA9C-76956EB1A060}" sibTransId="{6909B805-475A-3A4E-B8F6-1AC694A2E2CA}"/>
    <dgm:cxn modelId="{9557A739-C567-4B47-835E-E95D0E455BE2}" srcId="{D5F28E27-31E0-B34F-BC9F-4CDE7B8EDC8B}" destId="{6A10E3E3-FA6D-1E4B-BB49-89AF70B7997E}" srcOrd="2" destOrd="0" parTransId="{D92BC7C8-121B-5E4E-B4EA-8EA596186D1A}" sibTransId="{0D7DD324-772D-6D48-8659-E26C3B195677}"/>
    <dgm:cxn modelId="{5CD4395C-D247-034C-875A-2D4F5C2EAC6F}" type="presOf" srcId="{6A10E3E3-FA6D-1E4B-BB49-89AF70B7997E}" destId="{8AD7747F-C6FB-8D40-8D93-2E53B586D4AB}" srcOrd="0" destOrd="0" presId="urn:microsoft.com/office/officeart/2005/8/layout/hList1"/>
    <dgm:cxn modelId="{1AF8B760-9BBC-2340-98DF-255F15D69140}" type="presOf" srcId="{E95D73AA-1155-2340-AF50-F162A8F43417}" destId="{F1B2B33B-D78F-B548-832F-D31F12C1AEA8}" srcOrd="0" destOrd="0" presId="urn:microsoft.com/office/officeart/2005/8/layout/hList1"/>
    <dgm:cxn modelId="{125BFD47-6D4C-EE45-A734-44602B3AC7B4}" srcId="{89770E3B-DCA7-3848-9303-28CD4251107C}" destId="{33F6D4F0-07C2-9144-899C-AF212DC0E361}" srcOrd="0" destOrd="0" parTransId="{A6F1A6C4-1D48-A242-B4D6-B8AB0D00400E}" sibTransId="{79ADCD33-D91A-074A-B772-C0A69F1A8551}"/>
    <dgm:cxn modelId="{54040C74-765E-AF49-B658-ED8C8667CE91}" type="presOf" srcId="{FAADB5D8-2D9B-7A46-8864-3E76632DF242}" destId="{910692A2-8C4F-0545-98A7-FD5743A081D9}" srcOrd="0" destOrd="0" presId="urn:microsoft.com/office/officeart/2005/8/layout/hList1"/>
    <dgm:cxn modelId="{9E98ED75-5928-494D-A8D8-9AC145B367E4}" type="presOf" srcId="{89770E3B-DCA7-3848-9303-28CD4251107C}" destId="{F7B771C4-1781-334A-A9CC-6AB6388019C2}" srcOrd="0" destOrd="0" presId="urn:microsoft.com/office/officeart/2005/8/layout/hList1"/>
    <dgm:cxn modelId="{474D0289-9549-D74C-B3AF-455E916BC5CD}" type="presOf" srcId="{D5F28E27-31E0-B34F-BC9F-4CDE7B8EDC8B}" destId="{595A4C02-9C50-5D44-97C1-61C5F1D39956}" srcOrd="0" destOrd="0" presId="urn:microsoft.com/office/officeart/2005/8/layout/hList1"/>
    <dgm:cxn modelId="{E077D79B-2B93-0643-B81F-566481F49DE9}" type="presOf" srcId="{67B3BA71-261C-0447-8E65-09D9621C2928}" destId="{583D7356-1B1B-AD42-925D-161669EB54CA}" srcOrd="0" destOrd="0" presId="urn:microsoft.com/office/officeart/2005/8/layout/hList1"/>
    <dgm:cxn modelId="{3A46419D-B9F7-8E4D-A096-6C9B9C7E2155}" type="presOf" srcId="{C30027CC-F546-2244-ADC4-F1E1D604EBBF}" destId="{613BAD88-1300-C64D-8478-28BDFCA247EE}" srcOrd="0" destOrd="0" presId="urn:microsoft.com/office/officeart/2005/8/layout/hList1"/>
    <dgm:cxn modelId="{7E36EEB6-8273-DB4E-ABCE-384C7CC38C43}" srcId="{D5F28E27-31E0-B34F-BC9F-4CDE7B8EDC8B}" destId="{FAADB5D8-2D9B-7A46-8864-3E76632DF242}" srcOrd="0" destOrd="0" parTransId="{13107E0E-EAEB-E249-A700-4C5354826476}" sibTransId="{1E2D3B4A-6DB0-1A45-A8F9-7D186F04B72A}"/>
    <dgm:cxn modelId="{123391C1-8758-AA4A-B13D-7307D65CD3BD}" srcId="{D5F28E27-31E0-B34F-BC9F-4CDE7B8EDC8B}" destId="{89770E3B-DCA7-3848-9303-28CD4251107C}" srcOrd="1" destOrd="0" parTransId="{95FE122D-516D-1640-8DB2-434AA9FACA8E}" sibTransId="{A5BA5E1B-CDE3-A64B-8989-CA5B097F5E14}"/>
    <dgm:cxn modelId="{27FE7EC4-86B9-7147-9A11-95D7B8115E2C}" srcId="{6B6C2A78-FD5F-CE4B-9E66-DD0EF754F5D6}" destId="{67B3BA71-261C-0447-8E65-09D9621C2928}" srcOrd="0" destOrd="0" parTransId="{EB73C5F2-38C9-5C48-AC82-1F52FEC517EE}" sibTransId="{4439AB72-52A8-3A44-A050-74E1F8A8450E}"/>
    <dgm:cxn modelId="{590339CD-B15F-A84F-A1B6-7F51111A1A1F}" type="presOf" srcId="{33F6D4F0-07C2-9144-899C-AF212DC0E361}" destId="{CE427A8D-A2CB-E34E-B99B-527B0A4E0DC8}" srcOrd="0" destOrd="0" presId="urn:microsoft.com/office/officeart/2005/8/layout/hList1"/>
    <dgm:cxn modelId="{78A4C2CD-62DA-8B49-9DD4-4CE9E5A4EA8D}" srcId="{6A10E3E3-FA6D-1E4B-BB49-89AF70B7997E}" destId="{E95D73AA-1155-2340-AF50-F162A8F43417}" srcOrd="0" destOrd="0" parTransId="{881C6D5D-13D3-5540-A4EA-3435188C29DC}" sibTransId="{63EDF2B7-6064-844B-AF4D-0F7ED29F70A6}"/>
    <dgm:cxn modelId="{4CE91DD5-DBA7-3848-B2E2-A63BBB97D862}" srcId="{FAADB5D8-2D9B-7A46-8864-3E76632DF242}" destId="{C30027CC-F546-2244-ADC4-F1E1D604EBBF}" srcOrd="0" destOrd="0" parTransId="{66FA7D5D-B901-D048-B7EA-F239C1B39F7D}" sibTransId="{D75C275F-F007-3946-9381-CBA55B14D844}"/>
    <dgm:cxn modelId="{35809AE4-CB61-C14A-8658-C5D858084927}" type="presOf" srcId="{6B6C2A78-FD5F-CE4B-9E66-DD0EF754F5D6}" destId="{92B94131-7DF3-D247-8535-7A1175868520}" srcOrd="0" destOrd="0" presId="urn:microsoft.com/office/officeart/2005/8/layout/hList1"/>
    <dgm:cxn modelId="{2BCB9632-0847-3642-A900-5B8B874F0DCE}" type="presParOf" srcId="{595A4C02-9C50-5D44-97C1-61C5F1D39956}" destId="{70B573EF-205F-1842-8CCC-1BBEA43FF364}" srcOrd="0" destOrd="0" presId="urn:microsoft.com/office/officeart/2005/8/layout/hList1"/>
    <dgm:cxn modelId="{EECAA8DC-EF49-A64C-92EC-A1A81E2F3B03}" type="presParOf" srcId="{70B573EF-205F-1842-8CCC-1BBEA43FF364}" destId="{910692A2-8C4F-0545-98A7-FD5743A081D9}" srcOrd="0" destOrd="0" presId="urn:microsoft.com/office/officeart/2005/8/layout/hList1"/>
    <dgm:cxn modelId="{9EB2D697-F7F0-DE4F-BB68-5D1957079659}" type="presParOf" srcId="{70B573EF-205F-1842-8CCC-1BBEA43FF364}" destId="{613BAD88-1300-C64D-8478-28BDFCA247EE}" srcOrd="1" destOrd="0" presId="urn:microsoft.com/office/officeart/2005/8/layout/hList1"/>
    <dgm:cxn modelId="{A5970AF5-4FEC-7346-9DDD-96353198F167}" type="presParOf" srcId="{595A4C02-9C50-5D44-97C1-61C5F1D39956}" destId="{830B52BF-56C9-0947-9FFF-A0BAF664FCA6}" srcOrd="1" destOrd="0" presId="urn:microsoft.com/office/officeart/2005/8/layout/hList1"/>
    <dgm:cxn modelId="{2FC4215E-2693-C54B-B328-E7C525A7F08D}" type="presParOf" srcId="{595A4C02-9C50-5D44-97C1-61C5F1D39956}" destId="{E46CE980-0576-7746-B52C-14F313BD605A}" srcOrd="2" destOrd="0" presId="urn:microsoft.com/office/officeart/2005/8/layout/hList1"/>
    <dgm:cxn modelId="{AE98F5C7-E9CC-1B4B-BAD6-67A98143B08D}" type="presParOf" srcId="{E46CE980-0576-7746-B52C-14F313BD605A}" destId="{F7B771C4-1781-334A-A9CC-6AB6388019C2}" srcOrd="0" destOrd="0" presId="urn:microsoft.com/office/officeart/2005/8/layout/hList1"/>
    <dgm:cxn modelId="{505B052C-DFFE-934F-8E32-AED6E4EB7473}" type="presParOf" srcId="{E46CE980-0576-7746-B52C-14F313BD605A}" destId="{CE427A8D-A2CB-E34E-B99B-527B0A4E0DC8}" srcOrd="1" destOrd="0" presId="urn:microsoft.com/office/officeart/2005/8/layout/hList1"/>
    <dgm:cxn modelId="{D17E8163-D8A7-604D-B51B-DD3E3779038D}" type="presParOf" srcId="{595A4C02-9C50-5D44-97C1-61C5F1D39956}" destId="{9DD92D25-166F-0B42-A9CE-269E7FD9CEB2}" srcOrd="3" destOrd="0" presId="urn:microsoft.com/office/officeart/2005/8/layout/hList1"/>
    <dgm:cxn modelId="{3E33C355-2AE5-0C4C-A596-D001B38574EB}" type="presParOf" srcId="{595A4C02-9C50-5D44-97C1-61C5F1D39956}" destId="{08A86BD8-8382-6244-8E45-BF8DF4211F66}" srcOrd="4" destOrd="0" presId="urn:microsoft.com/office/officeart/2005/8/layout/hList1"/>
    <dgm:cxn modelId="{00F7FFCC-C20B-E444-B403-850BEAAB1987}" type="presParOf" srcId="{08A86BD8-8382-6244-8E45-BF8DF4211F66}" destId="{8AD7747F-C6FB-8D40-8D93-2E53B586D4AB}" srcOrd="0" destOrd="0" presId="urn:microsoft.com/office/officeart/2005/8/layout/hList1"/>
    <dgm:cxn modelId="{4D40F94D-D19E-164E-81E8-39A5091EEC22}" type="presParOf" srcId="{08A86BD8-8382-6244-8E45-BF8DF4211F66}" destId="{F1B2B33B-D78F-B548-832F-D31F12C1AEA8}" srcOrd="1" destOrd="0" presId="urn:microsoft.com/office/officeart/2005/8/layout/hList1"/>
    <dgm:cxn modelId="{D16C06C4-DE6E-F442-AD97-7D25A6949088}" type="presParOf" srcId="{595A4C02-9C50-5D44-97C1-61C5F1D39956}" destId="{EC1137E5-1FDC-2E44-80C2-815E763752B0}" srcOrd="5" destOrd="0" presId="urn:microsoft.com/office/officeart/2005/8/layout/hList1"/>
    <dgm:cxn modelId="{0B7A03DA-456E-C744-A6CF-DA9856D8BBF5}" type="presParOf" srcId="{595A4C02-9C50-5D44-97C1-61C5F1D39956}" destId="{EDB3DE01-69DE-634E-A1D3-A796506F10FE}" srcOrd="6" destOrd="0" presId="urn:microsoft.com/office/officeart/2005/8/layout/hList1"/>
    <dgm:cxn modelId="{55667A7A-9E56-C64A-BEE2-7A5B74066E52}" type="presParOf" srcId="{EDB3DE01-69DE-634E-A1D3-A796506F10FE}" destId="{92B94131-7DF3-D247-8535-7A1175868520}" srcOrd="0" destOrd="0" presId="urn:microsoft.com/office/officeart/2005/8/layout/hList1"/>
    <dgm:cxn modelId="{B5B6C98B-55D7-8F46-80D2-7B9C68BCCFAA}" type="presParOf" srcId="{EDB3DE01-69DE-634E-A1D3-A796506F10FE}" destId="{583D7356-1B1B-AD42-925D-161669EB54CA}"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D7AD9D7-3B0E-AD4A-A751-1A9ABE56CAD3}" type="doc">
      <dgm:prSet loTypeId="urn:microsoft.com/office/officeart/2005/8/layout/list1" loCatId="list" qsTypeId="urn:microsoft.com/office/officeart/2005/8/quickstyle/simple4" qsCatId="simple" csTypeId="urn:microsoft.com/office/officeart/2005/8/colors/accent1_2" csCatId="accent1" phldr="1"/>
      <dgm:spPr/>
      <dgm:t>
        <a:bodyPr/>
        <a:lstStyle/>
        <a:p>
          <a:endParaRPr lang="en-US"/>
        </a:p>
      </dgm:t>
    </dgm:pt>
    <dgm:pt modelId="{B3519E38-63D0-C745-ACC8-EE804C95AC35}">
      <dgm:prSet phldrT="[Text]" custT="1"/>
      <dgm:spPr/>
      <dgm:t>
        <a:bodyPr/>
        <a:lstStyle/>
        <a:p>
          <a:r>
            <a:rPr lang="en-NZ" sz="2200" dirty="0"/>
            <a:t>Prevent Deadlock</a:t>
          </a:r>
          <a:endParaRPr lang="en-US" sz="2200" dirty="0"/>
        </a:p>
      </dgm:t>
    </dgm:pt>
    <dgm:pt modelId="{933BC3E5-7FBF-0D4A-A1CE-FBE646AA3425}" type="parTrans" cxnId="{C39E5184-A606-5B4B-A14A-22FF9454D929}">
      <dgm:prSet/>
      <dgm:spPr/>
      <dgm:t>
        <a:bodyPr/>
        <a:lstStyle/>
        <a:p>
          <a:endParaRPr lang="en-US"/>
        </a:p>
      </dgm:t>
    </dgm:pt>
    <dgm:pt modelId="{417CA3AF-5615-374B-A7CE-4199B5CAF923}" type="sibTrans" cxnId="{C39E5184-A606-5B4B-A14A-22FF9454D929}">
      <dgm:prSet/>
      <dgm:spPr/>
      <dgm:t>
        <a:bodyPr/>
        <a:lstStyle/>
        <a:p>
          <a:endParaRPr lang="en-US"/>
        </a:p>
      </dgm:t>
    </dgm:pt>
    <dgm:pt modelId="{0303975F-41A2-CD4A-95C6-B90AE9CCD0E8}">
      <dgm:prSet custT="1"/>
      <dgm:spPr/>
      <dgm:t>
        <a:bodyPr/>
        <a:lstStyle/>
        <a:p>
          <a:r>
            <a:rPr lang="en-NZ" sz="2000" dirty="0"/>
            <a:t>adopt a policy that eliminates one of the conditions</a:t>
          </a:r>
        </a:p>
      </dgm:t>
    </dgm:pt>
    <dgm:pt modelId="{36689625-B2F0-374D-B85C-B44134124316}" type="parTrans" cxnId="{9F189987-02CC-9B44-965E-29F038D88E14}">
      <dgm:prSet/>
      <dgm:spPr/>
      <dgm:t>
        <a:bodyPr/>
        <a:lstStyle/>
        <a:p>
          <a:endParaRPr lang="en-US"/>
        </a:p>
      </dgm:t>
    </dgm:pt>
    <dgm:pt modelId="{7039640A-098D-A140-AB94-48D72F4A0B7D}" type="sibTrans" cxnId="{9F189987-02CC-9B44-965E-29F038D88E14}">
      <dgm:prSet/>
      <dgm:spPr/>
      <dgm:t>
        <a:bodyPr/>
        <a:lstStyle/>
        <a:p>
          <a:endParaRPr lang="en-US"/>
        </a:p>
      </dgm:t>
    </dgm:pt>
    <dgm:pt modelId="{3631D0E9-8757-2143-A3AB-7D38666D66FE}">
      <dgm:prSet custT="1"/>
      <dgm:spPr/>
      <dgm:t>
        <a:bodyPr/>
        <a:lstStyle/>
        <a:p>
          <a:r>
            <a:rPr lang="en-NZ" sz="2200" dirty="0"/>
            <a:t>Avoid Deadlock</a:t>
          </a:r>
        </a:p>
      </dgm:t>
    </dgm:pt>
    <dgm:pt modelId="{A5F12154-15B7-BB4B-8432-98F256618CAF}" type="parTrans" cxnId="{D09E20C3-9620-2F4F-AD87-9F8C1EE6EA9A}">
      <dgm:prSet/>
      <dgm:spPr/>
      <dgm:t>
        <a:bodyPr/>
        <a:lstStyle/>
        <a:p>
          <a:endParaRPr lang="en-US"/>
        </a:p>
      </dgm:t>
    </dgm:pt>
    <dgm:pt modelId="{6FF3EE00-77BF-A44F-B2A8-0322AA87447F}" type="sibTrans" cxnId="{D09E20C3-9620-2F4F-AD87-9F8C1EE6EA9A}">
      <dgm:prSet/>
      <dgm:spPr/>
      <dgm:t>
        <a:bodyPr/>
        <a:lstStyle/>
        <a:p>
          <a:endParaRPr lang="en-US"/>
        </a:p>
      </dgm:t>
    </dgm:pt>
    <dgm:pt modelId="{E6054D81-C03C-0B42-885D-3F2A40AA5768}">
      <dgm:prSet custT="1"/>
      <dgm:spPr/>
      <dgm:t>
        <a:bodyPr/>
        <a:lstStyle/>
        <a:p>
          <a:r>
            <a:rPr lang="en-NZ" sz="2000" dirty="0"/>
            <a:t>make the appropriate dynamic choices based on the current state of resource allocation</a:t>
          </a:r>
        </a:p>
      </dgm:t>
    </dgm:pt>
    <dgm:pt modelId="{65684EB3-4483-874F-88F1-578F58EB676B}" type="parTrans" cxnId="{0CB6EC33-C134-B64C-98AB-FD79373F42CD}">
      <dgm:prSet/>
      <dgm:spPr/>
      <dgm:t>
        <a:bodyPr/>
        <a:lstStyle/>
        <a:p>
          <a:endParaRPr lang="en-US"/>
        </a:p>
      </dgm:t>
    </dgm:pt>
    <dgm:pt modelId="{2932F96E-393F-384A-BDA9-7EDC15706371}" type="sibTrans" cxnId="{0CB6EC33-C134-B64C-98AB-FD79373F42CD}">
      <dgm:prSet/>
      <dgm:spPr/>
      <dgm:t>
        <a:bodyPr/>
        <a:lstStyle/>
        <a:p>
          <a:endParaRPr lang="en-US"/>
        </a:p>
      </dgm:t>
    </dgm:pt>
    <dgm:pt modelId="{33A697D3-29B7-B746-8116-2FD7AD65033F}">
      <dgm:prSet custT="1"/>
      <dgm:spPr/>
      <dgm:t>
        <a:bodyPr/>
        <a:lstStyle/>
        <a:p>
          <a:r>
            <a:rPr lang="en-NZ" sz="2200" dirty="0"/>
            <a:t>Detect Deadlock</a:t>
          </a:r>
        </a:p>
      </dgm:t>
    </dgm:pt>
    <dgm:pt modelId="{0C0A163C-42D1-D04D-A3B4-9F5591432C99}" type="parTrans" cxnId="{A43B19B7-A505-334E-B2D6-8DA0AA07DEDF}">
      <dgm:prSet/>
      <dgm:spPr/>
      <dgm:t>
        <a:bodyPr/>
        <a:lstStyle/>
        <a:p>
          <a:endParaRPr lang="en-US"/>
        </a:p>
      </dgm:t>
    </dgm:pt>
    <dgm:pt modelId="{5D6161F5-E354-9D41-8B60-FF7FDFDF880D}" type="sibTrans" cxnId="{A43B19B7-A505-334E-B2D6-8DA0AA07DEDF}">
      <dgm:prSet/>
      <dgm:spPr/>
      <dgm:t>
        <a:bodyPr/>
        <a:lstStyle/>
        <a:p>
          <a:endParaRPr lang="en-US"/>
        </a:p>
      </dgm:t>
    </dgm:pt>
    <dgm:pt modelId="{1952EA18-C951-384E-BF02-1843609FED6D}">
      <dgm:prSet custT="1"/>
      <dgm:spPr/>
      <dgm:t>
        <a:bodyPr/>
        <a:lstStyle/>
        <a:p>
          <a:r>
            <a:rPr lang="en-NZ" sz="2000" dirty="0"/>
            <a:t>attempt to detect the presence of deadlock and take action to recover</a:t>
          </a:r>
        </a:p>
      </dgm:t>
    </dgm:pt>
    <dgm:pt modelId="{D56DE5A7-A57C-4442-A7FC-59B2E67ACA63}" type="parTrans" cxnId="{2ADE9E4D-385D-9C47-A2C1-3AC97DD06467}">
      <dgm:prSet/>
      <dgm:spPr/>
      <dgm:t>
        <a:bodyPr/>
        <a:lstStyle/>
        <a:p>
          <a:endParaRPr lang="en-US"/>
        </a:p>
      </dgm:t>
    </dgm:pt>
    <dgm:pt modelId="{6CD3FB62-6370-5C44-B004-FC80CC15B04D}" type="sibTrans" cxnId="{2ADE9E4D-385D-9C47-A2C1-3AC97DD06467}">
      <dgm:prSet/>
      <dgm:spPr/>
      <dgm:t>
        <a:bodyPr/>
        <a:lstStyle/>
        <a:p>
          <a:endParaRPr lang="en-US"/>
        </a:p>
      </dgm:t>
    </dgm:pt>
    <dgm:pt modelId="{369495E0-661A-D54E-9903-279BA6D5B61A}" type="pres">
      <dgm:prSet presAssocID="{ED7AD9D7-3B0E-AD4A-A751-1A9ABE56CAD3}" presName="linear" presStyleCnt="0">
        <dgm:presLayoutVars>
          <dgm:dir/>
          <dgm:animLvl val="lvl"/>
          <dgm:resizeHandles val="exact"/>
        </dgm:presLayoutVars>
      </dgm:prSet>
      <dgm:spPr/>
    </dgm:pt>
    <dgm:pt modelId="{222544F3-9B75-9A4C-BDF2-15649982E6B2}" type="pres">
      <dgm:prSet presAssocID="{B3519E38-63D0-C745-ACC8-EE804C95AC35}" presName="parentLin" presStyleCnt="0"/>
      <dgm:spPr/>
    </dgm:pt>
    <dgm:pt modelId="{004EC6A0-F9A7-2B40-8F10-9B1A82403FEC}" type="pres">
      <dgm:prSet presAssocID="{B3519E38-63D0-C745-ACC8-EE804C95AC35}" presName="parentLeftMargin" presStyleLbl="node1" presStyleIdx="0" presStyleCnt="3"/>
      <dgm:spPr/>
    </dgm:pt>
    <dgm:pt modelId="{C76E62B7-E6F6-F44C-BFF3-94CA42A82033}" type="pres">
      <dgm:prSet presAssocID="{B3519E38-63D0-C745-ACC8-EE804C95AC35}" presName="parentText" presStyleLbl="node1" presStyleIdx="0" presStyleCnt="3">
        <dgm:presLayoutVars>
          <dgm:chMax val="0"/>
          <dgm:bulletEnabled val="1"/>
        </dgm:presLayoutVars>
      </dgm:prSet>
      <dgm:spPr/>
    </dgm:pt>
    <dgm:pt modelId="{9CAA6DB2-947F-A446-A29D-6B64E75E96AE}" type="pres">
      <dgm:prSet presAssocID="{B3519E38-63D0-C745-ACC8-EE804C95AC35}" presName="negativeSpace" presStyleCnt="0"/>
      <dgm:spPr/>
    </dgm:pt>
    <dgm:pt modelId="{F2EF543C-883A-3143-B8FF-3427F8EB3AC7}" type="pres">
      <dgm:prSet presAssocID="{B3519E38-63D0-C745-ACC8-EE804C95AC35}" presName="childText" presStyleLbl="conFgAcc1" presStyleIdx="0" presStyleCnt="3">
        <dgm:presLayoutVars>
          <dgm:bulletEnabled val="1"/>
        </dgm:presLayoutVars>
      </dgm:prSet>
      <dgm:spPr/>
    </dgm:pt>
    <dgm:pt modelId="{433FAB19-4D8F-E14A-AA3C-2126FF391E3C}" type="pres">
      <dgm:prSet presAssocID="{417CA3AF-5615-374B-A7CE-4199B5CAF923}" presName="spaceBetweenRectangles" presStyleCnt="0"/>
      <dgm:spPr/>
    </dgm:pt>
    <dgm:pt modelId="{61DB5EC3-F57B-734B-BD88-C465051E0148}" type="pres">
      <dgm:prSet presAssocID="{3631D0E9-8757-2143-A3AB-7D38666D66FE}" presName="parentLin" presStyleCnt="0"/>
      <dgm:spPr/>
    </dgm:pt>
    <dgm:pt modelId="{1E1A844A-30CB-3D47-B18C-D310F061AFD1}" type="pres">
      <dgm:prSet presAssocID="{3631D0E9-8757-2143-A3AB-7D38666D66FE}" presName="parentLeftMargin" presStyleLbl="node1" presStyleIdx="0" presStyleCnt="3"/>
      <dgm:spPr/>
    </dgm:pt>
    <dgm:pt modelId="{9CC9D5C0-7055-5F44-9C06-CD7F32234211}" type="pres">
      <dgm:prSet presAssocID="{3631D0E9-8757-2143-A3AB-7D38666D66FE}" presName="parentText" presStyleLbl="node1" presStyleIdx="1" presStyleCnt="3">
        <dgm:presLayoutVars>
          <dgm:chMax val="0"/>
          <dgm:bulletEnabled val="1"/>
        </dgm:presLayoutVars>
      </dgm:prSet>
      <dgm:spPr/>
    </dgm:pt>
    <dgm:pt modelId="{E4515CF9-119D-C247-9B13-7F001A077510}" type="pres">
      <dgm:prSet presAssocID="{3631D0E9-8757-2143-A3AB-7D38666D66FE}" presName="negativeSpace" presStyleCnt="0"/>
      <dgm:spPr/>
    </dgm:pt>
    <dgm:pt modelId="{CA916DCC-847C-7B4D-8447-2804E95D8344}" type="pres">
      <dgm:prSet presAssocID="{3631D0E9-8757-2143-A3AB-7D38666D66FE}" presName="childText" presStyleLbl="conFgAcc1" presStyleIdx="1" presStyleCnt="3">
        <dgm:presLayoutVars>
          <dgm:bulletEnabled val="1"/>
        </dgm:presLayoutVars>
      </dgm:prSet>
      <dgm:spPr/>
    </dgm:pt>
    <dgm:pt modelId="{D8B4CE58-EFAD-6248-A9B4-1F5EB1C12E74}" type="pres">
      <dgm:prSet presAssocID="{6FF3EE00-77BF-A44F-B2A8-0322AA87447F}" presName="spaceBetweenRectangles" presStyleCnt="0"/>
      <dgm:spPr/>
    </dgm:pt>
    <dgm:pt modelId="{2C5335F6-4159-0949-A37D-6FBA3FC7FF55}" type="pres">
      <dgm:prSet presAssocID="{33A697D3-29B7-B746-8116-2FD7AD65033F}" presName="parentLin" presStyleCnt="0"/>
      <dgm:spPr/>
    </dgm:pt>
    <dgm:pt modelId="{BAC87AA5-5913-7B49-BD6C-DD4C287E9944}" type="pres">
      <dgm:prSet presAssocID="{33A697D3-29B7-B746-8116-2FD7AD65033F}" presName="parentLeftMargin" presStyleLbl="node1" presStyleIdx="1" presStyleCnt="3"/>
      <dgm:spPr/>
    </dgm:pt>
    <dgm:pt modelId="{B6B6CCBA-6755-1B42-93ED-C3B536073808}" type="pres">
      <dgm:prSet presAssocID="{33A697D3-29B7-B746-8116-2FD7AD65033F}" presName="parentText" presStyleLbl="node1" presStyleIdx="2" presStyleCnt="3">
        <dgm:presLayoutVars>
          <dgm:chMax val="0"/>
          <dgm:bulletEnabled val="1"/>
        </dgm:presLayoutVars>
      </dgm:prSet>
      <dgm:spPr/>
    </dgm:pt>
    <dgm:pt modelId="{6B261F5C-683B-AC47-A41E-0CD037E423BC}" type="pres">
      <dgm:prSet presAssocID="{33A697D3-29B7-B746-8116-2FD7AD65033F}" presName="negativeSpace" presStyleCnt="0"/>
      <dgm:spPr/>
    </dgm:pt>
    <dgm:pt modelId="{57643F7F-6EBC-A944-A76A-1EA714F7B29A}" type="pres">
      <dgm:prSet presAssocID="{33A697D3-29B7-B746-8116-2FD7AD65033F}" presName="childText" presStyleLbl="conFgAcc1" presStyleIdx="2" presStyleCnt="3">
        <dgm:presLayoutVars>
          <dgm:bulletEnabled val="1"/>
        </dgm:presLayoutVars>
      </dgm:prSet>
      <dgm:spPr/>
    </dgm:pt>
  </dgm:ptLst>
  <dgm:cxnLst>
    <dgm:cxn modelId="{9DF69D25-686A-EF46-BAE2-8F3554D650CF}" type="presOf" srcId="{0303975F-41A2-CD4A-95C6-B90AE9CCD0E8}" destId="{F2EF543C-883A-3143-B8FF-3427F8EB3AC7}" srcOrd="0" destOrd="0" presId="urn:microsoft.com/office/officeart/2005/8/layout/list1"/>
    <dgm:cxn modelId="{B080592E-A450-0F4D-B17A-FF45E715F2A5}" type="presOf" srcId="{B3519E38-63D0-C745-ACC8-EE804C95AC35}" destId="{004EC6A0-F9A7-2B40-8F10-9B1A82403FEC}" srcOrd="0" destOrd="0" presId="urn:microsoft.com/office/officeart/2005/8/layout/list1"/>
    <dgm:cxn modelId="{C4CA2230-3E58-ED4B-A07E-53FFD2CACD85}" type="presOf" srcId="{E6054D81-C03C-0B42-885D-3F2A40AA5768}" destId="{CA916DCC-847C-7B4D-8447-2804E95D8344}" srcOrd="0" destOrd="0" presId="urn:microsoft.com/office/officeart/2005/8/layout/list1"/>
    <dgm:cxn modelId="{0CB6EC33-C134-B64C-98AB-FD79373F42CD}" srcId="{3631D0E9-8757-2143-A3AB-7D38666D66FE}" destId="{E6054D81-C03C-0B42-885D-3F2A40AA5768}" srcOrd="0" destOrd="0" parTransId="{65684EB3-4483-874F-88F1-578F58EB676B}" sibTransId="{2932F96E-393F-384A-BDA9-7EDC15706371}"/>
    <dgm:cxn modelId="{323D4443-BC85-2B4D-8185-00BB68A7901E}" type="presOf" srcId="{33A697D3-29B7-B746-8116-2FD7AD65033F}" destId="{B6B6CCBA-6755-1B42-93ED-C3B536073808}" srcOrd="1" destOrd="0" presId="urn:microsoft.com/office/officeart/2005/8/layout/list1"/>
    <dgm:cxn modelId="{6D1F084C-7196-9849-82AA-E8C272CF2DA9}" type="presOf" srcId="{ED7AD9D7-3B0E-AD4A-A751-1A9ABE56CAD3}" destId="{369495E0-661A-D54E-9903-279BA6D5B61A}" srcOrd="0" destOrd="0" presId="urn:microsoft.com/office/officeart/2005/8/layout/list1"/>
    <dgm:cxn modelId="{2ADE9E4D-385D-9C47-A2C1-3AC97DD06467}" srcId="{33A697D3-29B7-B746-8116-2FD7AD65033F}" destId="{1952EA18-C951-384E-BF02-1843609FED6D}" srcOrd="0" destOrd="0" parTransId="{D56DE5A7-A57C-4442-A7FC-59B2E67ACA63}" sibTransId="{6CD3FB62-6370-5C44-B004-FC80CC15B04D}"/>
    <dgm:cxn modelId="{B1352B72-FC01-8A42-B90E-4579E20AFEC8}" type="presOf" srcId="{3631D0E9-8757-2143-A3AB-7D38666D66FE}" destId="{1E1A844A-30CB-3D47-B18C-D310F061AFD1}" srcOrd="0" destOrd="0" presId="urn:microsoft.com/office/officeart/2005/8/layout/list1"/>
    <dgm:cxn modelId="{C39E5184-A606-5B4B-A14A-22FF9454D929}" srcId="{ED7AD9D7-3B0E-AD4A-A751-1A9ABE56CAD3}" destId="{B3519E38-63D0-C745-ACC8-EE804C95AC35}" srcOrd="0" destOrd="0" parTransId="{933BC3E5-7FBF-0D4A-A1CE-FBE646AA3425}" sibTransId="{417CA3AF-5615-374B-A7CE-4199B5CAF923}"/>
    <dgm:cxn modelId="{9F189987-02CC-9B44-965E-29F038D88E14}" srcId="{B3519E38-63D0-C745-ACC8-EE804C95AC35}" destId="{0303975F-41A2-CD4A-95C6-B90AE9CCD0E8}" srcOrd="0" destOrd="0" parTransId="{36689625-B2F0-374D-B85C-B44134124316}" sibTransId="{7039640A-098D-A140-AB94-48D72F4A0B7D}"/>
    <dgm:cxn modelId="{F2DF239E-7974-9346-9044-9477AABF7378}" type="presOf" srcId="{3631D0E9-8757-2143-A3AB-7D38666D66FE}" destId="{9CC9D5C0-7055-5F44-9C06-CD7F32234211}" srcOrd="1" destOrd="0" presId="urn:microsoft.com/office/officeart/2005/8/layout/list1"/>
    <dgm:cxn modelId="{79400DAE-76C1-744C-B182-29C6564F5FBE}" type="presOf" srcId="{1952EA18-C951-384E-BF02-1843609FED6D}" destId="{57643F7F-6EBC-A944-A76A-1EA714F7B29A}" srcOrd="0" destOrd="0" presId="urn:microsoft.com/office/officeart/2005/8/layout/list1"/>
    <dgm:cxn modelId="{A43B19B7-A505-334E-B2D6-8DA0AA07DEDF}" srcId="{ED7AD9D7-3B0E-AD4A-A751-1A9ABE56CAD3}" destId="{33A697D3-29B7-B746-8116-2FD7AD65033F}" srcOrd="2" destOrd="0" parTransId="{0C0A163C-42D1-D04D-A3B4-9F5591432C99}" sibTransId="{5D6161F5-E354-9D41-8B60-FF7FDFDF880D}"/>
    <dgm:cxn modelId="{6F3E9FBC-B3A4-C54F-AE7D-F469B23297A5}" type="presOf" srcId="{B3519E38-63D0-C745-ACC8-EE804C95AC35}" destId="{C76E62B7-E6F6-F44C-BFF3-94CA42A82033}" srcOrd="1" destOrd="0" presId="urn:microsoft.com/office/officeart/2005/8/layout/list1"/>
    <dgm:cxn modelId="{D09E20C3-9620-2F4F-AD87-9F8C1EE6EA9A}" srcId="{ED7AD9D7-3B0E-AD4A-A751-1A9ABE56CAD3}" destId="{3631D0E9-8757-2143-A3AB-7D38666D66FE}" srcOrd="1" destOrd="0" parTransId="{A5F12154-15B7-BB4B-8432-98F256618CAF}" sibTransId="{6FF3EE00-77BF-A44F-B2A8-0322AA87447F}"/>
    <dgm:cxn modelId="{21F312F8-B22A-0342-A590-8BB77E186959}" type="presOf" srcId="{33A697D3-29B7-B746-8116-2FD7AD65033F}" destId="{BAC87AA5-5913-7B49-BD6C-DD4C287E9944}" srcOrd="0" destOrd="0" presId="urn:microsoft.com/office/officeart/2005/8/layout/list1"/>
    <dgm:cxn modelId="{9D30093A-49FD-EE40-995C-118BF7592BEC}" type="presParOf" srcId="{369495E0-661A-D54E-9903-279BA6D5B61A}" destId="{222544F3-9B75-9A4C-BDF2-15649982E6B2}" srcOrd="0" destOrd="0" presId="urn:microsoft.com/office/officeart/2005/8/layout/list1"/>
    <dgm:cxn modelId="{4A0B0C3F-8DB2-5847-AE7F-BB3752E445DA}" type="presParOf" srcId="{222544F3-9B75-9A4C-BDF2-15649982E6B2}" destId="{004EC6A0-F9A7-2B40-8F10-9B1A82403FEC}" srcOrd="0" destOrd="0" presId="urn:microsoft.com/office/officeart/2005/8/layout/list1"/>
    <dgm:cxn modelId="{A4049CF2-9A55-F449-BE3D-AD699D16F3C5}" type="presParOf" srcId="{222544F3-9B75-9A4C-BDF2-15649982E6B2}" destId="{C76E62B7-E6F6-F44C-BFF3-94CA42A82033}" srcOrd="1" destOrd="0" presId="urn:microsoft.com/office/officeart/2005/8/layout/list1"/>
    <dgm:cxn modelId="{6E40AE29-9449-D542-903D-5C36FC38752F}" type="presParOf" srcId="{369495E0-661A-D54E-9903-279BA6D5B61A}" destId="{9CAA6DB2-947F-A446-A29D-6B64E75E96AE}" srcOrd="1" destOrd="0" presId="urn:microsoft.com/office/officeart/2005/8/layout/list1"/>
    <dgm:cxn modelId="{489BEC54-F20F-5748-A2AC-F43D83B53CA5}" type="presParOf" srcId="{369495E0-661A-D54E-9903-279BA6D5B61A}" destId="{F2EF543C-883A-3143-B8FF-3427F8EB3AC7}" srcOrd="2" destOrd="0" presId="urn:microsoft.com/office/officeart/2005/8/layout/list1"/>
    <dgm:cxn modelId="{B31E3337-DCF4-C447-B230-F68F10FD4B3A}" type="presParOf" srcId="{369495E0-661A-D54E-9903-279BA6D5B61A}" destId="{433FAB19-4D8F-E14A-AA3C-2126FF391E3C}" srcOrd="3" destOrd="0" presId="urn:microsoft.com/office/officeart/2005/8/layout/list1"/>
    <dgm:cxn modelId="{5B1BEEC1-4ED7-1A4D-ABA0-374D6CAAA3FD}" type="presParOf" srcId="{369495E0-661A-D54E-9903-279BA6D5B61A}" destId="{61DB5EC3-F57B-734B-BD88-C465051E0148}" srcOrd="4" destOrd="0" presId="urn:microsoft.com/office/officeart/2005/8/layout/list1"/>
    <dgm:cxn modelId="{742BC711-858E-B44A-BCF0-F73EE39FD926}" type="presParOf" srcId="{61DB5EC3-F57B-734B-BD88-C465051E0148}" destId="{1E1A844A-30CB-3D47-B18C-D310F061AFD1}" srcOrd="0" destOrd="0" presId="urn:microsoft.com/office/officeart/2005/8/layout/list1"/>
    <dgm:cxn modelId="{C1AEEFF5-616E-9C4C-9B2B-B8C02D750512}" type="presParOf" srcId="{61DB5EC3-F57B-734B-BD88-C465051E0148}" destId="{9CC9D5C0-7055-5F44-9C06-CD7F32234211}" srcOrd="1" destOrd="0" presId="urn:microsoft.com/office/officeart/2005/8/layout/list1"/>
    <dgm:cxn modelId="{C4FA89A6-A181-DF4A-A760-BB3FA269555F}" type="presParOf" srcId="{369495E0-661A-D54E-9903-279BA6D5B61A}" destId="{E4515CF9-119D-C247-9B13-7F001A077510}" srcOrd="5" destOrd="0" presId="urn:microsoft.com/office/officeart/2005/8/layout/list1"/>
    <dgm:cxn modelId="{4E85D950-5104-1447-BC70-2CA3FE33A699}" type="presParOf" srcId="{369495E0-661A-D54E-9903-279BA6D5B61A}" destId="{CA916DCC-847C-7B4D-8447-2804E95D8344}" srcOrd="6" destOrd="0" presId="urn:microsoft.com/office/officeart/2005/8/layout/list1"/>
    <dgm:cxn modelId="{85A350D0-38EB-5347-AEC8-8390F6C4F0FB}" type="presParOf" srcId="{369495E0-661A-D54E-9903-279BA6D5B61A}" destId="{D8B4CE58-EFAD-6248-A9B4-1F5EB1C12E74}" srcOrd="7" destOrd="0" presId="urn:microsoft.com/office/officeart/2005/8/layout/list1"/>
    <dgm:cxn modelId="{E8B62E37-F4AF-2141-9691-4C353A651C2B}" type="presParOf" srcId="{369495E0-661A-D54E-9903-279BA6D5B61A}" destId="{2C5335F6-4159-0949-A37D-6FBA3FC7FF55}" srcOrd="8" destOrd="0" presId="urn:microsoft.com/office/officeart/2005/8/layout/list1"/>
    <dgm:cxn modelId="{B5C5370B-E4C5-714C-9E85-299F77B79EC2}" type="presParOf" srcId="{2C5335F6-4159-0949-A37D-6FBA3FC7FF55}" destId="{BAC87AA5-5913-7B49-BD6C-DD4C287E9944}" srcOrd="0" destOrd="0" presId="urn:microsoft.com/office/officeart/2005/8/layout/list1"/>
    <dgm:cxn modelId="{FFDCA9A0-0371-644E-AFE5-996949541B34}" type="presParOf" srcId="{2C5335F6-4159-0949-A37D-6FBA3FC7FF55}" destId="{B6B6CCBA-6755-1B42-93ED-C3B536073808}" srcOrd="1" destOrd="0" presId="urn:microsoft.com/office/officeart/2005/8/layout/list1"/>
    <dgm:cxn modelId="{3E8C0C62-5095-4340-816E-3B79D77B0022}" type="presParOf" srcId="{369495E0-661A-D54E-9903-279BA6D5B61A}" destId="{6B261F5C-683B-AC47-A41E-0CD037E423BC}" srcOrd="9" destOrd="0" presId="urn:microsoft.com/office/officeart/2005/8/layout/list1"/>
    <dgm:cxn modelId="{34D25125-A8F9-134D-A8D6-76A19670A091}" type="presParOf" srcId="{369495E0-661A-D54E-9903-279BA6D5B61A}" destId="{57643F7F-6EBC-A944-A76A-1EA714F7B29A}"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119A291-1BBB-E142-A03E-1CF14D632E82}" type="doc">
      <dgm:prSet loTypeId="urn:microsoft.com/office/officeart/2005/8/layout/hierarchy3" loCatId="hierarchy" qsTypeId="urn:microsoft.com/office/officeart/2005/8/quickstyle/simple4" qsCatId="simple" csTypeId="urn:microsoft.com/office/officeart/2005/8/colors/accent1_2" csCatId="accent1" phldr="1"/>
      <dgm:spPr/>
      <dgm:t>
        <a:bodyPr/>
        <a:lstStyle/>
        <a:p>
          <a:endParaRPr lang="en-US"/>
        </a:p>
      </dgm:t>
    </dgm:pt>
    <dgm:pt modelId="{59FD4889-A857-9E49-BCCD-5C20CF4360D3}">
      <dgm:prSet phldrT="[Text]" custT="1"/>
      <dgm:spPr/>
      <dgm:t>
        <a:bodyPr/>
        <a:lstStyle/>
        <a:p>
          <a:r>
            <a:rPr lang="en-US" sz="3000" dirty="0"/>
            <a:t>Mutual Exclusion</a:t>
          </a:r>
        </a:p>
      </dgm:t>
    </dgm:pt>
    <dgm:pt modelId="{CA8C50E9-0D70-F94D-9284-5512391A9705}" type="parTrans" cxnId="{1389595F-9927-F140-B883-CBED9313F782}">
      <dgm:prSet/>
      <dgm:spPr/>
      <dgm:t>
        <a:bodyPr/>
        <a:lstStyle/>
        <a:p>
          <a:endParaRPr lang="en-US"/>
        </a:p>
      </dgm:t>
    </dgm:pt>
    <dgm:pt modelId="{CB15B6DE-EBE2-6E4D-92CC-C792A3BF5F11}" type="sibTrans" cxnId="{1389595F-9927-F140-B883-CBED9313F782}">
      <dgm:prSet/>
      <dgm:spPr/>
      <dgm:t>
        <a:bodyPr/>
        <a:lstStyle/>
        <a:p>
          <a:endParaRPr lang="en-US"/>
        </a:p>
      </dgm:t>
    </dgm:pt>
    <dgm:pt modelId="{0E3BFD0E-CA45-2B4D-AF18-959345078E41}">
      <dgm:prSet custT="1"/>
      <dgm:spPr/>
      <dgm:t>
        <a:bodyPr/>
        <a:lstStyle/>
        <a:p>
          <a:r>
            <a:rPr lang="en-US" sz="2000" dirty="0"/>
            <a:t>if access to a resource requires mutual exclusion then it must be supported by the OS</a:t>
          </a:r>
        </a:p>
      </dgm:t>
    </dgm:pt>
    <dgm:pt modelId="{1D477BAD-E25D-E045-9F4B-D148C5A3AF18}" type="parTrans" cxnId="{15697879-4AE8-E642-A677-251D8A74442E}">
      <dgm:prSet/>
      <dgm:spPr/>
      <dgm:t>
        <a:bodyPr/>
        <a:lstStyle/>
        <a:p>
          <a:endParaRPr lang="en-US" dirty="0"/>
        </a:p>
      </dgm:t>
    </dgm:pt>
    <dgm:pt modelId="{8BD52DFB-B64E-DF4B-897C-35DF474845E6}" type="sibTrans" cxnId="{15697879-4AE8-E642-A677-251D8A74442E}">
      <dgm:prSet/>
      <dgm:spPr/>
      <dgm:t>
        <a:bodyPr/>
        <a:lstStyle/>
        <a:p>
          <a:endParaRPr lang="en-US"/>
        </a:p>
      </dgm:t>
    </dgm:pt>
    <dgm:pt modelId="{DDA4127B-9362-6D4C-ACCC-00F7DD8B845D}">
      <dgm:prSet custT="1"/>
      <dgm:spPr/>
      <dgm:t>
        <a:bodyPr/>
        <a:lstStyle/>
        <a:p>
          <a:r>
            <a:rPr lang="en-US" sz="3000" dirty="0"/>
            <a:t>Hold and Wait</a:t>
          </a:r>
        </a:p>
      </dgm:t>
    </dgm:pt>
    <dgm:pt modelId="{C227E93E-7936-1B4B-BAB8-7B23A17C6507}" type="parTrans" cxnId="{E74054D5-3068-684A-A8CA-5F77D1646DD1}">
      <dgm:prSet/>
      <dgm:spPr/>
      <dgm:t>
        <a:bodyPr/>
        <a:lstStyle/>
        <a:p>
          <a:endParaRPr lang="en-US"/>
        </a:p>
      </dgm:t>
    </dgm:pt>
    <dgm:pt modelId="{38B749B8-B0C5-6B4E-B6CC-B9BF7F843024}" type="sibTrans" cxnId="{E74054D5-3068-684A-A8CA-5F77D1646DD1}">
      <dgm:prSet/>
      <dgm:spPr/>
      <dgm:t>
        <a:bodyPr/>
        <a:lstStyle/>
        <a:p>
          <a:endParaRPr lang="en-US"/>
        </a:p>
      </dgm:t>
    </dgm:pt>
    <dgm:pt modelId="{B84F91DA-5307-B845-8836-509C6A2AEFB2}">
      <dgm:prSet custT="1"/>
      <dgm:spPr/>
      <dgm:t>
        <a:bodyPr/>
        <a:lstStyle/>
        <a:p>
          <a:r>
            <a:rPr lang="en-US" sz="2000" dirty="0"/>
            <a:t>require that a process request </a:t>
          </a:r>
          <a:r>
            <a:rPr lang="en-US" sz="2000" b="1" u="sng" dirty="0">
              <a:solidFill>
                <a:srgbClr val="0000FF"/>
              </a:solidFill>
            </a:rPr>
            <a:t>all</a:t>
          </a:r>
          <a:r>
            <a:rPr lang="en-US" sz="2000" u="sng" dirty="0"/>
            <a:t> of its required resources at one time</a:t>
          </a:r>
          <a:r>
            <a:rPr lang="en-US" sz="2000" u="none" dirty="0"/>
            <a:t> </a:t>
          </a:r>
          <a:r>
            <a:rPr lang="en-US" sz="2000" dirty="0"/>
            <a:t>and blocking the process until all requests can be granted simultaneously</a:t>
          </a:r>
        </a:p>
      </dgm:t>
    </dgm:pt>
    <dgm:pt modelId="{235DB11C-76D5-FB49-8ECA-14FACE1EB926}" type="parTrans" cxnId="{E0F65E9E-7115-F646-9AE6-48DD925A505D}">
      <dgm:prSet/>
      <dgm:spPr/>
      <dgm:t>
        <a:bodyPr/>
        <a:lstStyle/>
        <a:p>
          <a:endParaRPr lang="en-US" dirty="0"/>
        </a:p>
      </dgm:t>
    </dgm:pt>
    <dgm:pt modelId="{62301719-FDD7-2B46-9C1E-86DE9BCAF484}" type="sibTrans" cxnId="{E0F65E9E-7115-F646-9AE6-48DD925A505D}">
      <dgm:prSet/>
      <dgm:spPr/>
      <dgm:t>
        <a:bodyPr/>
        <a:lstStyle/>
        <a:p>
          <a:endParaRPr lang="en-US"/>
        </a:p>
      </dgm:t>
    </dgm:pt>
    <dgm:pt modelId="{9E20200B-BDEC-584A-AE68-9E2949419DE0}" type="pres">
      <dgm:prSet presAssocID="{A119A291-1BBB-E142-A03E-1CF14D632E82}" presName="diagram" presStyleCnt="0">
        <dgm:presLayoutVars>
          <dgm:chPref val="1"/>
          <dgm:dir/>
          <dgm:animOne val="branch"/>
          <dgm:animLvl val="lvl"/>
          <dgm:resizeHandles/>
        </dgm:presLayoutVars>
      </dgm:prSet>
      <dgm:spPr/>
    </dgm:pt>
    <dgm:pt modelId="{F4C5D177-745F-1A40-9B41-8744921058B6}" type="pres">
      <dgm:prSet presAssocID="{59FD4889-A857-9E49-BCCD-5C20CF4360D3}" presName="root" presStyleCnt="0"/>
      <dgm:spPr/>
    </dgm:pt>
    <dgm:pt modelId="{3A905F58-43A6-B142-A6A3-7CAD0FF59C4C}" type="pres">
      <dgm:prSet presAssocID="{59FD4889-A857-9E49-BCCD-5C20CF4360D3}" presName="rootComposite" presStyleCnt="0"/>
      <dgm:spPr/>
    </dgm:pt>
    <dgm:pt modelId="{12FF2B9D-26D2-A44F-9E18-FDC677BD1D09}" type="pres">
      <dgm:prSet presAssocID="{59FD4889-A857-9E49-BCCD-5C20CF4360D3}" presName="rootText" presStyleLbl="node1" presStyleIdx="0" presStyleCnt="2"/>
      <dgm:spPr/>
    </dgm:pt>
    <dgm:pt modelId="{C53B0DB4-A3BE-834A-AD14-3FA89BAF9B6A}" type="pres">
      <dgm:prSet presAssocID="{59FD4889-A857-9E49-BCCD-5C20CF4360D3}" presName="rootConnector" presStyleLbl="node1" presStyleIdx="0" presStyleCnt="2"/>
      <dgm:spPr/>
    </dgm:pt>
    <dgm:pt modelId="{ED7ED8AD-8D49-794D-802A-0F87DEE2DA81}" type="pres">
      <dgm:prSet presAssocID="{59FD4889-A857-9E49-BCCD-5C20CF4360D3}" presName="childShape" presStyleCnt="0"/>
      <dgm:spPr/>
    </dgm:pt>
    <dgm:pt modelId="{60F002DE-5B92-314F-B8EB-59BEC6FCAD53}" type="pres">
      <dgm:prSet presAssocID="{1D477BAD-E25D-E045-9F4B-D148C5A3AF18}" presName="Name13" presStyleLbl="parChTrans1D2" presStyleIdx="0" presStyleCnt="2"/>
      <dgm:spPr/>
    </dgm:pt>
    <dgm:pt modelId="{37630BD2-C147-434D-9AE2-A781C2BD8B3D}" type="pres">
      <dgm:prSet presAssocID="{0E3BFD0E-CA45-2B4D-AF18-959345078E41}" presName="childText" presStyleLbl="bgAcc1" presStyleIdx="0" presStyleCnt="2">
        <dgm:presLayoutVars>
          <dgm:bulletEnabled val="1"/>
        </dgm:presLayoutVars>
      </dgm:prSet>
      <dgm:spPr/>
    </dgm:pt>
    <dgm:pt modelId="{DE815D5E-F14E-A04B-A578-B509F8B7EE08}" type="pres">
      <dgm:prSet presAssocID="{DDA4127B-9362-6D4C-ACCC-00F7DD8B845D}" presName="root" presStyleCnt="0"/>
      <dgm:spPr/>
    </dgm:pt>
    <dgm:pt modelId="{2E48A3B0-5CE4-A440-B011-2DFAC4B3D4FC}" type="pres">
      <dgm:prSet presAssocID="{DDA4127B-9362-6D4C-ACCC-00F7DD8B845D}" presName="rootComposite" presStyleCnt="0"/>
      <dgm:spPr/>
    </dgm:pt>
    <dgm:pt modelId="{F0B0B8F8-69E5-5349-82BB-435D76CEDD77}" type="pres">
      <dgm:prSet presAssocID="{DDA4127B-9362-6D4C-ACCC-00F7DD8B845D}" presName="rootText" presStyleLbl="node1" presStyleIdx="1" presStyleCnt="2"/>
      <dgm:spPr/>
    </dgm:pt>
    <dgm:pt modelId="{281B9D59-CF02-654A-AF7E-03E996300BBC}" type="pres">
      <dgm:prSet presAssocID="{DDA4127B-9362-6D4C-ACCC-00F7DD8B845D}" presName="rootConnector" presStyleLbl="node1" presStyleIdx="1" presStyleCnt="2"/>
      <dgm:spPr/>
    </dgm:pt>
    <dgm:pt modelId="{11860993-9DFE-464F-AC3E-D4DFFA9EA3C6}" type="pres">
      <dgm:prSet presAssocID="{DDA4127B-9362-6D4C-ACCC-00F7DD8B845D}" presName="childShape" presStyleCnt="0"/>
      <dgm:spPr/>
    </dgm:pt>
    <dgm:pt modelId="{5E003098-C1CA-7547-973E-268F1C53ECA3}" type="pres">
      <dgm:prSet presAssocID="{235DB11C-76D5-FB49-8ECA-14FACE1EB926}" presName="Name13" presStyleLbl="parChTrans1D2" presStyleIdx="1" presStyleCnt="2"/>
      <dgm:spPr/>
    </dgm:pt>
    <dgm:pt modelId="{A4ACE6A4-5292-684B-BADA-4484BB0C4C6D}" type="pres">
      <dgm:prSet presAssocID="{B84F91DA-5307-B845-8836-509C6A2AEFB2}" presName="childText" presStyleLbl="bgAcc1" presStyleIdx="1" presStyleCnt="2" custScaleX="108745" custScaleY="158059">
        <dgm:presLayoutVars>
          <dgm:bulletEnabled val="1"/>
        </dgm:presLayoutVars>
      </dgm:prSet>
      <dgm:spPr/>
    </dgm:pt>
  </dgm:ptLst>
  <dgm:cxnLst>
    <dgm:cxn modelId="{7DA5220F-8A58-1D4C-AD96-39DC1A8393B4}" type="presOf" srcId="{59FD4889-A857-9E49-BCCD-5C20CF4360D3}" destId="{C53B0DB4-A3BE-834A-AD14-3FA89BAF9B6A}" srcOrd="1" destOrd="0" presId="urn:microsoft.com/office/officeart/2005/8/layout/hierarchy3"/>
    <dgm:cxn modelId="{75DD0C1D-FC41-8741-8081-05860B99CA7A}" type="presOf" srcId="{0E3BFD0E-CA45-2B4D-AF18-959345078E41}" destId="{37630BD2-C147-434D-9AE2-A781C2BD8B3D}" srcOrd="0" destOrd="0" presId="urn:microsoft.com/office/officeart/2005/8/layout/hierarchy3"/>
    <dgm:cxn modelId="{949DC736-CD59-E445-918A-47D559EB25FD}" type="presOf" srcId="{59FD4889-A857-9E49-BCCD-5C20CF4360D3}" destId="{12FF2B9D-26D2-A44F-9E18-FDC677BD1D09}" srcOrd="0" destOrd="0" presId="urn:microsoft.com/office/officeart/2005/8/layout/hierarchy3"/>
    <dgm:cxn modelId="{1389595F-9927-F140-B883-CBED9313F782}" srcId="{A119A291-1BBB-E142-A03E-1CF14D632E82}" destId="{59FD4889-A857-9E49-BCCD-5C20CF4360D3}" srcOrd="0" destOrd="0" parTransId="{CA8C50E9-0D70-F94D-9284-5512391A9705}" sibTransId="{CB15B6DE-EBE2-6E4D-92CC-C792A3BF5F11}"/>
    <dgm:cxn modelId="{312D5343-51C1-944B-B789-7569E7F580A0}" type="presOf" srcId="{1D477BAD-E25D-E045-9F4B-D148C5A3AF18}" destId="{60F002DE-5B92-314F-B8EB-59BEC6FCAD53}" srcOrd="0" destOrd="0" presId="urn:microsoft.com/office/officeart/2005/8/layout/hierarchy3"/>
    <dgm:cxn modelId="{15697879-4AE8-E642-A677-251D8A74442E}" srcId="{59FD4889-A857-9E49-BCCD-5C20CF4360D3}" destId="{0E3BFD0E-CA45-2B4D-AF18-959345078E41}" srcOrd="0" destOrd="0" parTransId="{1D477BAD-E25D-E045-9F4B-D148C5A3AF18}" sibTransId="{8BD52DFB-B64E-DF4B-897C-35DF474845E6}"/>
    <dgm:cxn modelId="{7C82697B-C123-D844-BB26-F05E14DB5C1B}" type="presOf" srcId="{DDA4127B-9362-6D4C-ACCC-00F7DD8B845D}" destId="{281B9D59-CF02-654A-AF7E-03E996300BBC}" srcOrd="1" destOrd="0" presId="urn:microsoft.com/office/officeart/2005/8/layout/hierarchy3"/>
    <dgm:cxn modelId="{E0F65E9E-7115-F646-9AE6-48DD925A505D}" srcId="{DDA4127B-9362-6D4C-ACCC-00F7DD8B845D}" destId="{B84F91DA-5307-B845-8836-509C6A2AEFB2}" srcOrd="0" destOrd="0" parTransId="{235DB11C-76D5-FB49-8ECA-14FACE1EB926}" sibTransId="{62301719-FDD7-2B46-9C1E-86DE9BCAF484}"/>
    <dgm:cxn modelId="{E2A04AA0-340C-B147-903F-6AAC767F25E6}" type="presOf" srcId="{DDA4127B-9362-6D4C-ACCC-00F7DD8B845D}" destId="{F0B0B8F8-69E5-5349-82BB-435D76CEDD77}" srcOrd="0" destOrd="0" presId="urn:microsoft.com/office/officeart/2005/8/layout/hierarchy3"/>
    <dgm:cxn modelId="{FACC5AB7-3A72-BE41-A1A5-1722C13F648B}" type="presOf" srcId="{A119A291-1BBB-E142-A03E-1CF14D632E82}" destId="{9E20200B-BDEC-584A-AE68-9E2949419DE0}" srcOrd="0" destOrd="0" presId="urn:microsoft.com/office/officeart/2005/8/layout/hierarchy3"/>
    <dgm:cxn modelId="{E74054D5-3068-684A-A8CA-5F77D1646DD1}" srcId="{A119A291-1BBB-E142-A03E-1CF14D632E82}" destId="{DDA4127B-9362-6D4C-ACCC-00F7DD8B845D}" srcOrd="1" destOrd="0" parTransId="{C227E93E-7936-1B4B-BAB8-7B23A17C6507}" sibTransId="{38B749B8-B0C5-6B4E-B6CC-B9BF7F843024}"/>
    <dgm:cxn modelId="{E9FF2DF0-4D99-C748-9A94-D0A2DF567EB5}" type="presOf" srcId="{B84F91DA-5307-B845-8836-509C6A2AEFB2}" destId="{A4ACE6A4-5292-684B-BADA-4484BB0C4C6D}" srcOrd="0" destOrd="0" presId="urn:microsoft.com/office/officeart/2005/8/layout/hierarchy3"/>
    <dgm:cxn modelId="{85B5BFF0-30B2-EA4E-8256-686E7750A64D}" type="presOf" srcId="{235DB11C-76D5-FB49-8ECA-14FACE1EB926}" destId="{5E003098-C1CA-7547-973E-268F1C53ECA3}" srcOrd="0" destOrd="0" presId="urn:microsoft.com/office/officeart/2005/8/layout/hierarchy3"/>
    <dgm:cxn modelId="{90B5603F-E6E4-5F48-B8AC-C05DB1866690}" type="presParOf" srcId="{9E20200B-BDEC-584A-AE68-9E2949419DE0}" destId="{F4C5D177-745F-1A40-9B41-8744921058B6}" srcOrd="0" destOrd="0" presId="urn:microsoft.com/office/officeart/2005/8/layout/hierarchy3"/>
    <dgm:cxn modelId="{C97F5258-9D63-B145-A46F-113213180198}" type="presParOf" srcId="{F4C5D177-745F-1A40-9B41-8744921058B6}" destId="{3A905F58-43A6-B142-A6A3-7CAD0FF59C4C}" srcOrd="0" destOrd="0" presId="urn:microsoft.com/office/officeart/2005/8/layout/hierarchy3"/>
    <dgm:cxn modelId="{9B416D6C-7F34-9645-8AE5-242162C2EC9B}" type="presParOf" srcId="{3A905F58-43A6-B142-A6A3-7CAD0FF59C4C}" destId="{12FF2B9D-26D2-A44F-9E18-FDC677BD1D09}" srcOrd="0" destOrd="0" presId="urn:microsoft.com/office/officeart/2005/8/layout/hierarchy3"/>
    <dgm:cxn modelId="{A8BDE643-E1A2-A842-9DE6-7FBC46405AE4}" type="presParOf" srcId="{3A905F58-43A6-B142-A6A3-7CAD0FF59C4C}" destId="{C53B0DB4-A3BE-834A-AD14-3FA89BAF9B6A}" srcOrd="1" destOrd="0" presId="urn:microsoft.com/office/officeart/2005/8/layout/hierarchy3"/>
    <dgm:cxn modelId="{89865BD1-0471-2B4C-9421-0228AE02F91B}" type="presParOf" srcId="{F4C5D177-745F-1A40-9B41-8744921058B6}" destId="{ED7ED8AD-8D49-794D-802A-0F87DEE2DA81}" srcOrd="1" destOrd="0" presId="urn:microsoft.com/office/officeart/2005/8/layout/hierarchy3"/>
    <dgm:cxn modelId="{51FB8813-EA20-444D-9A43-010643ADF9A3}" type="presParOf" srcId="{ED7ED8AD-8D49-794D-802A-0F87DEE2DA81}" destId="{60F002DE-5B92-314F-B8EB-59BEC6FCAD53}" srcOrd="0" destOrd="0" presId="urn:microsoft.com/office/officeart/2005/8/layout/hierarchy3"/>
    <dgm:cxn modelId="{4ACC95A3-058E-C844-9CBB-3E6449A28CA6}" type="presParOf" srcId="{ED7ED8AD-8D49-794D-802A-0F87DEE2DA81}" destId="{37630BD2-C147-434D-9AE2-A781C2BD8B3D}" srcOrd="1" destOrd="0" presId="urn:microsoft.com/office/officeart/2005/8/layout/hierarchy3"/>
    <dgm:cxn modelId="{A140C082-42B7-BE4D-8445-3F02714D185E}" type="presParOf" srcId="{9E20200B-BDEC-584A-AE68-9E2949419DE0}" destId="{DE815D5E-F14E-A04B-A578-B509F8B7EE08}" srcOrd="1" destOrd="0" presId="urn:microsoft.com/office/officeart/2005/8/layout/hierarchy3"/>
    <dgm:cxn modelId="{1CDCF394-64E6-6949-B72D-CD1BCE64A5B5}" type="presParOf" srcId="{DE815D5E-F14E-A04B-A578-B509F8B7EE08}" destId="{2E48A3B0-5CE4-A440-B011-2DFAC4B3D4FC}" srcOrd="0" destOrd="0" presId="urn:microsoft.com/office/officeart/2005/8/layout/hierarchy3"/>
    <dgm:cxn modelId="{9502E679-0F04-2947-91F9-F5D58127AFAE}" type="presParOf" srcId="{2E48A3B0-5CE4-A440-B011-2DFAC4B3D4FC}" destId="{F0B0B8F8-69E5-5349-82BB-435D76CEDD77}" srcOrd="0" destOrd="0" presId="urn:microsoft.com/office/officeart/2005/8/layout/hierarchy3"/>
    <dgm:cxn modelId="{58626D98-D12C-DA49-AE63-2AF9D587862F}" type="presParOf" srcId="{2E48A3B0-5CE4-A440-B011-2DFAC4B3D4FC}" destId="{281B9D59-CF02-654A-AF7E-03E996300BBC}" srcOrd="1" destOrd="0" presId="urn:microsoft.com/office/officeart/2005/8/layout/hierarchy3"/>
    <dgm:cxn modelId="{F21EEBCD-4121-E349-B4DD-4B1FA9931D9A}" type="presParOf" srcId="{DE815D5E-F14E-A04B-A578-B509F8B7EE08}" destId="{11860993-9DFE-464F-AC3E-D4DFFA9EA3C6}" srcOrd="1" destOrd="0" presId="urn:microsoft.com/office/officeart/2005/8/layout/hierarchy3"/>
    <dgm:cxn modelId="{F014F57A-F536-F648-8539-11CB17868DA5}" type="presParOf" srcId="{11860993-9DFE-464F-AC3E-D4DFFA9EA3C6}" destId="{5E003098-C1CA-7547-973E-268F1C53ECA3}" srcOrd="0" destOrd="0" presId="urn:microsoft.com/office/officeart/2005/8/layout/hierarchy3"/>
    <dgm:cxn modelId="{331BE923-687A-B647-B7DD-14CFE41C82D9}" type="presParOf" srcId="{11860993-9DFE-464F-AC3E-D4DFFA9EA3C6}" destId="{A4ACE6A4-5292-684B-BADA-4484BB0C4C6D}"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157F3D1-00E5-A844-9B9B-E8949A19C561}" type="doc">
      <dgm:prSet loTypeId="urn:microsoft.com/office/officeart/2005/8/layout/radial1" loCatId="relationship" qsTypeId="urn:microsoft.com/office/officeart/2005/8/quickstyle/simple4" qsCatId="simple" csTypeId="urn:microsoft.com/office/officeart/2005/8/colors/accent1_2" csCatId="accent1" phldr="1"/>
      <dgm:spPr/>
      <dgm:t>
        <a:bodyPr/>
        <a:lstStyle/>
        <a:p>
          <a:endParaRPr lang="en-US"/>
        </a:p>
      </dgm:t>
    </dgm:pt>
    <dgm:pt modelId="{3729A948-E60F-B544-8E88-22E92FB36AFB}">
      <dgm:prSet phldrT="[Text]" custT="1"/>
      <dgm:spPr>
        <a:solidFill>
          <a:schemeClr val="accent5">
            <a:lumMod val="75000"/>
            <a:alpha val="76000"/>
          </a:schemeClr>
        </a:solidFill>
      </dgm:spPr>
      <dgm:t>
        <a:bodyPr/>
        <a:lstStyle/>
        <a:p>
          <a:r>
            <a:rPr lang="en-US" sz="2600" dirty="0"/>
            <a:t>Deadlock Avoidance</a:t>
          </a:r>
        </a:p>
      </dgm:t>
    </dgm:pt>
    <dgm:pt modelId="{1C56D178-35F1-AA4C-AB32-A81B70A68A80}" type="parTrans" cxnId="{95A57133-729E-6449-AE42-9094B8E404E8}">
      <dgm:prSet/>
      <dgm:spPr/>
      <dgm:t>
        <a:bodyPr/>
        <a:lstStyle/>
        <a:p>
          <a:endParaRPr lang="en-US"/>
        </a:p>
      </dgm:t>
    </dgm:pt>
    <dgm:pt modelId="{D4B67213-9F0E-A149-9486-D0161B0E714B}" type="sibTrans" cxnId="{95A57133-729E-6449-AE42-9094B8E404E8}">
      <dgm:prSet/>
      <dgm:spPr/>
      <dgm:t>
        <a:bodyPr/>
        <a:lstStyle/>
        <a:p>
          <a:endParaRPr lang="en-US"/>
        </a:p>
      </dgm:t>
    </dgm:pt>
    <dgm:pt modelId="{F062EC3C-6EFC-E549-B0A6-36A5EF2F31B8}">
      <dgm:prSet phldrT="[Text]" custT="1"/>
      <dgm:spPr/>
      <dgm:t>
        <a:bodyPr/>
        <a:lstStyle/>
        <a:p>
          <a:r>
            <a:rPr lang="en-US" sz="2200" b="1" dirty="0"/>
            <a:t>Process Initiation Denial</a:t>
          </a:r>
        </a:p>
      </dgm:t>
    </dgm:pt>
    <dgm:pt modelId="{C3196ED2-479E-7141-93AC-F6A89FA2C6ED}" type="parTrans" cxnId="{365D9A90-0310-664C-957B-92412EC2F4DE}">
      <dgm:prSet/>
      <dgm:spPr/>
      <dgm:t>
        <a:bodyPr/>
        <a:lstStyle/>
        <a:p>
          <a:endParaRPr lang="en-US"/>
        </a:p>
      </dgm:t>
    </dgm:pt>
    <dgm:pt modelId="{E2889486-61D9-7E4B-AF3C-E41B87D58131}" type="sibTrans" cxnId="{365D9A90-0310-664C-957B-92412EC2F4DE}">
      <dgm:prSet/>
      <dgm:spPr/>
      <dgm:t>
        <a:bodyPr/>
        <a:lstStyle/>
        <a:p>
          <a:endParaRPr lang="en-US"/>
        </a:p>
      </dgm:t>
    </dgm:pt>
    <dgm:pt modelId="{58D67F14-4061-DE48-85BD-34BBC8A13C18}">
      <dgm:prSet phldrT="[Text]" custT="1"/>
      <dgm:spPr/>
      <dgm:t>
        <a:bodyPr/>
        <a:lstStyle/>
        <a:p>
          <a:r>
            <a:rPr lang="en-US" sz="2200" b="1" dirty="0"/>
            <a:t>Resource Allocation Denial</a:t>
          </a:r>
        </a:p>
      </dgm:t>
    </dgm:pt>
    <dgm:pt modelId="{B5FA1B05-BE5A-B048-B56B-8D581D15F0E3}" type="parTrans" cxnId="{F29EA5CE-4F67-0241-9A91-EFEEDE3432A4}">
      <dgm:prSet/>
      <dgm:spPr/>
      <dgm:t>
        <a:bodyPr/>
        <a:lstStyle/>
        <a:p>
          <a:endParaRPr lang="en-US"/>
        </a:p>
      </dgm:t>
    </dgm:pt>
    <dgm:pt modelId="{5747ED66-9B3C-4145-936F-DB7D4A95957F}" type="sibTrans" cxnId="{F29EA5CE-4F67-0241-9A91-EFEEDE3432A4}">
      <dgm:prSet/>
      <dgm:spPr/>
      <dgm:t>
        <a:bodyPr/>
        <a:lstStyle/>
        <a:p>
          <a:endParaRPr lang="en-US"/>
        </a:p>
      </dgm:t>
    </dgm:pt>
    <dgm:pt modelId="{F6D919FA-8043-1648-9435-3B044C874DF4}">
      <dgm:prSet custT="1"/>
      <dgm:spPr/>
      <dgm:t>
        <a:bodyPr/>
        <a:lstStyle/>
        <a:p>
          <a:r>
            <a:rPr lang="en-US" sz="1800" dirty="0"/>
            <a:t>do not start a process if its demands might lead to deadlock</a:t>
          </a:r>
        </a:p>
      </dgm:t>
    </dgm:pt>
    <dgm:pt modelId="{34BBCD0B-09C0-5C40-985D-722C6A8B8D4A}" type="parTrans" cxnId="{12064706-20F2-D544-AD8A-354D74175A74}">
      <dgm:prSet/>
      <dgm:spPr/>
      <dgm:t>
        <a:bodyPr/>
        <a:lstStyle/>
        <a:p>
          <a:endParaRPr lang="en-US"/>
        </a:p>
      </dgm:t>
    </dgm:pt>
    <dgm:pt modelId="{1BEA73A2-B2F5-744E-A0A4-92D6B3CBFC0C}" type="sibTrans" cxnId="{12064706-20F2-D544-AD8A-354D74175A74}">
      <dgm:prSet/>
      <dgm:spPr/>
      <dgm:t>
        <a:bodyPr/>
        <a:lstStyle/>
        <a:p>
          <a:endParaRPr lang="en-US"/>
        </a:p>
      </dgm:t>
    </dgm:pt>
    <dgm:pt modelId="{7DCF3586-AFD8-8F4A-B7BD-6F0866B52735}">
      <dgm:prSet custT="1"/>
      <dgm:spPr/>
      <dgm:t>
        <a:bodyPr/>
        <a:lstStyle/>
        <a:p>
          <a:r>
            <a:rPr lang="en-US" sz="1800" dirty="0"/>
            <a:t>do not grant an incremental resource request to a process if this allocation might lead to deadlock</a:t>
          </a:r>
        </a:p>
      </dgm:t>
    </dgm:pt>
    <dgm:pt modelId="{B7BE8777-84B3-E143-A280-3211AF91B6DD}" type="parTrans" cxnId="{7D626A3E-19C6-2A40-A03A-A04A860F1287}">
      <dgm:prSet/>
      <dgm:spPr/>
      <dgm:t>
        <a:bodyPr/>
        <a:lstStyle/>
        <a:p>
          <a:endParaRPr lang="en-US"/>
        </a:p>
      </dgm:t>
    </dgm:pt>
    <dgm:pt modelId="{5C6E8599-4CCA-8A4F-B7DB-D7B260D92DE7}" type="sibTrans" cxnId="{7D626A3E-19C6-2A40-A03A-A04A860F1287}">
      <dgm:prSet/>
      <dgm:spPr/>
      <dgm:t>
        <a:bodyPr/>
        <a:lstStyle/>
        <a:p>
          <a:endParaRPr lang="en-US"/>
        </a:p>
      </dgm:t>
    </dgm:pt>
    <dgm:pt modelId="{BD37C29E-7B23-4A4E-A1DC-E66BDFE0426D}" type="pres">
      <dgm:prSet presAssocID="{8157F3D1-00E5-A844-9B9B-E8949A19C561}" presName="cycle" presStyleCnt="0">
        <dgm:presLayoutVars>
          <dgm:chMax val="1"/>
          <dgm:dir/>
          <dgm:animLvl val="ctr"/>
          <dgm:resizeHandles val="exact"/>
        </dgm:presLayoutVars>
      </dgm:prSet>
      <dgm:spPr/>
    </dgm:pt>
    <dgm:pt modelId="{33750716-0DAC-BC40-8E79-75B3BD9B9C84}" type="pres">
      <dgm:prSet presAssocID="{3729A948-E60F-B544-8E88-22E92FB36AFB}" presName="centerShape" presStyleLbl="node0" presStyleIdx="0" presStyleCnt="1" custScaleX="176560" custScaleY="139158" custLinFactNeighborX="3522" custLinFactNeighborY="-28132"/>
      <dgm:spPr/>
    </dgm:pt>
    <dgm:pt modelId="{4E01D2EE-6258-AD44-9D8B-05B084D8A730}" type="pres">
      <dgm:prSet presAssocID="{C3196ED2-479E-7141-93AC-F6A89FA2C6ED}" presName="Name9" presStyleLbl="parChTrans1D2" presStyleIdx="0" presStyleCnt="2"/>
      <dgm:spPr/>
    </dgm:pt>
    <dgm:pt modelId="{B6E620A8-3870-184F-A4DF-FE9D56D0980F}" type="pres">
      <dgm:prSet presAssocID="{C3196ED2-479E-7141-93AC-F6A89FA2C6ED}" presName="connTx" presStyleLbl="parChTrans1D2" presStyleIdx="0" presStyleCnt="2"/>
      <dgm:spPr/>
    </dgm:pt>
    <dgm:pt modelId="{79B14E63-805C-DE41-B89C-2B3688158754}" type="pres">
      <dgm:prSet presAssocID="{F062EC3C-6EFC-E549-B0A6-36A5EF2F31B8}" presName="node" presStyleLbl="node1" presStyleIdx="0" presStyleCnt="2" custScaleX="239476" custScaleY="210379" custRadScaleRad="153984" custRadScaleInc="117555">
        <dgm:presLayoutVars>
          <dgm:bulletEnabled val="1"/>
        </dgm:presLayoutVars>
      </dgm:prSet>
      <dgm:spPr/>
    </dgm:pt>
    <dgm:pt modelId="{9B94989B-A7B3-AC47-8930-E2D0EEEB1BF1}" type="pres">
      <dgm:prSet presAssocID="{B5FA1B05-BE5A-B048-B56B-8D581D15F0E3}" presName="Name9" presStyleLbl="parChTrans1D2" presStyleIdx="1" presStyleCnt="2"/>
      <dgm:spPr/>
    </dgm:pt>
    <dgm:pt modelId="{37EF3EA1-0525-9443-B14B-E7519F79A5FD}" type="pres">
      <dgm:prSet presAssocID="{B5FA1B05-BE5A-B048-B56B-8D581D15F0E3}" presName="connTx" presStyleLbl="parChTrans1D2" presStyleIdx="1" presStyleCnt="2"/>
      <dgm:spPr/>
    </dgm:pt>
    <dgm:pt modelId="{215F23CF-03EA-F24E-BC55-33B92E2BE58F}" type="pres">
      <dgm:prSet presAssocID="{58D67F14-4061-DE48-85BD-34BBC8A13C18}" presName="node" presStyleLbl="node1" presStyleIdx="1" presStyleCnt="2" custScaleX="266803" custScaleY="219002" custRadScaleRad="128497" custRadScaleInc="77098">
        <dgm:presLayoutVars>
          <dgm:bulletEnabled val="1"/>
        </dgm:presLayoutVars>
      </dgm:prSet>
      <dgm:spPr/>
    </dgm:pt>
  </dgm:ptLst>
  <dgm:cxnLst>
    <dgm:cxn modelId="{12064706-20F2-D544-AD8A-354D74175A74}" srcId="{F062EC3C-6EFC-E549-B0A6-36A5EF2F31B8}" destId="{F6D919FA-8043-1648-9435-3B044C874DF4}" srcOrd="0" destOrd="0" parTransId="{34BBCD0B-09C0-5C40-985D-722C6A8B8D4A}" sibTransId="{1BEA73A2-B2F5-744E-A0A4-92D6B3CBFC0C}"/>
    <dgm:cxn modelId="{95A57133-729E-6449-AE42-9094B8E404E8}" srcId="{8157F3D1-00E5-A844-9B9B-E8949A19C561}" destId="{3729A948-E60F-B544-8E88-22E92FB36AFB}" srcOrd="0" destOrd="0" parTransId="{1C56D178-35F1-AA4C-AB32-A81B70A68A80}" sibTransId="{D4B67213-9F0E-A149-9486-D0161B0E714B}"/>
    <dgm:cxn modelId="{9053543A-13DB-E14F-849E-166660EADE3B}" type="presOf" srcId="{C3196ED2-479E-7141-93AC-F6A89FA2C6ED}" destId="{B6E620A8-3870-184F-A4DF-FE9D56D0980F}" srcOrd="1" destOrd="0" presId="urn:microsoft.com/office/officeart/2005/8/layout/radial1"/>
    <dgm:cxn modelId="{7D626A3E-19C6-2A40-A03A-A04A860F1287}" srcId="{58D67F14-4061-DE48-85BD-34BBC8A13C18}" destId="{7DCF3586-AFD8-8F4A-B7BD-6F0866B52735}" srcOrd="0" destOrd="0" parTransId="{B7BE8777-84B3-E143-A280-3211AF91B6DD}" sibTransId="{5C6E8599-4CCA-8A4F-B7DB-D7B260D92DE7}"/>
    <dgm:cxn modelId="{34F2E961-D244-4D43-A4A1-955F3C2DA5A2}" type="presOf" srcId="{F6D919FA-8043-1648-9435-3B044C874DF4}" destId="{79B14E63-805C-DE41-B89C-2B3688158754}" srcOrd="0" destOrd="1" presId="urn:microsoft.com/office/officeart/2005/8/layout/radial1"/>
    <dgm:cxn modelId="{8944B358-411D-EC4D-97D8-D76732BADC3F}" type="presOf" srcId="{3729A948-E60F-B544-8E88-22E92FB36AFB}" destId="{33750716-0DAC-BC40-8E79-75B3BD9B9C84}" srcOrd="0" destOrd="0" presId="urn:microsoft.com/office/officeart/2005/8/layout/radial1"/>
    <dgm:cxn modelId="{B95D468E-E127-104C-B7FB-9918187EC789}" type="presOf" srcId="{B5FA1B05-BE5A-B048-B56B-8D581D15F0E3}" destId="{9B94989B-A7B3-AC47-8930-E2D0EEEB1BF1}" srcOrd="0" destOrd="0" presId="urn:microsoft.com/office/officeart/2005/8/layout/radial1"/>
    <dgm:cxn modelId="{365D9A90-0310-664C-957B-92412EC2F4DE}" srcId="{3729A948-E60F-B544-8E88-22E92FB36AFB}" destId="{F062EC3C-6EFC-E549-B0A6-36A5EF2F31B8}" srcOrd="0" destOrd="0" parTransId="{C3196ED2-479E-7141-93AC-F6A89FA2C6ED}" sibTransId="{E2889486-61D9-7E4B-AF3C-E41B87D58131}"/>
    <dgm:cxn modelId="{12DBE0A5-CA25-6345-99B4-C024AAA3A7FB}" type="presOf" srcId="{F062EC3C-6EFC-E549-B0A6-36A5EF2F31B8}" destId="{79B14E63-805C-DE41-B89C-2B3688158754}" srcOrd="0" destOrd="0" presId="urn:microsoft.com/office/officeart/2005/8/layout/radial1"/>
    <dgm:cxn modelId="{438D10AD-8023-E64F-AA11-9AB2327729EB}" type="presOf" srcId="{8157F3D1-00E5-A844-9B9B-E8949A19C561}" destId="{BD37C29E-7B23-4A4E-A1DC-E66BDFE0426D}" srcOrd="0" destOrd="0" presId="urn:microsoft.com/office/officeart/2005/8/layout/radial1"/>
    <dgm:cxn modelId="{735A05B4-98F6-1149-87CC-CA4D12C14BA7}" type="presOf" srcId="{7DCF3586-AFD8-8F4A-B7BD-6F0866B52735}" destId="{215F23CF-03EA-F24E-BC55-33B92E2BE58F}" srcOrd="0" destOrd="1" presId="urn:microsoft.com/office/officeart/2005/8/layout/radial1"/>
    <dgm:cxn modelId="{770E0DB4-776E-E34E-8F13-3455B0864DA4}" type="presOf" srcId="{58D67F14-4061-DE48-85BD-34BBC8A13C18}" destId="{215F23CF-03EA-F24E-BC55-33B92E2BE58F}" srcOrd="0" destOrd="0" presId="urn:microsoft.com/office/officeart/2005/8/layout/radial1"/>
    <dgm:cxn modelId="{7DBD08C9-3C5A-FB40-B495-DBC06EFAA4BB}" type="presOf" srcId="{C3196ED2-479E-7141-93AC-F6A89FA2C6ED}" destId="{4E01D2EE-6258-AD44-9D8B-05B084D8A730}" srcOrd="0" destOrd="0" presId="urn:microsoft.com/office/officeart/2005/8/layout/radial1"/>
    <dgm:cxn modelId="{F29EA5CE-4F67-0241-9A91-EFEEDE3432A4}" srcId="{3729A948-E60F-B544-8E88-22E92FB36AFB}" destId="{58D67F14-4061-DE48-85BD-34BBC8A13C18}" srcOrd="1" destOrd="0" parTransId="{B5FA1B05-BE5A-B048-B56B-8D581D15F0E3}" sibTransId="{5747ED66-9B3C-4145-936F-DB7D4A95957F}"/>
    <dgm:cxn modelId="{79EA00EA-254F-C643-AF1F-A0C9D5C06EFD}" type="presOf" srcId="{B5FA1B05-BE5A-B048-B56B-8D581D15F0E3}" destId="{37EF3EA1-0525-9443-B14B-E7519F79A5FD}" srcOrd="1" destOrd="0" presId="urn:microsoft.com/office/officeart/2005/8/layout/radial1"/>
    <dgm:cxn modelId="{8E5ABC4F-015A-5A45-8AC7-48E2219A4A6F}" type="presParOf" srcId="{BD37C29E-7B23-4A4E-A1DC-E66BDFE0426D}" destId="{33750716-0DAC-BC40-8E79-75B3BD9B9C84}" srcOrd="0" destOrd="0" presId="urn:microsoft.com/office/officeart/2005/8/layout/radial1"/>
    <dgm:cxn modelId="{6F453491-A51B-704B-A6BD-F652817E283D}" type="presParOf" srcId="{BD37C29E-7B23-4A4E-A1DC-E66BDFE0426D}" destId="{4E01D2EE-6258-AD44-9D8B-05B084D8A730}" srcOrd="1" destOrd="0" presId="urn:microsoft.com/office/officeart/2005/8/layout/radial1"/>
    <dgm:cxn modelId="{D2E3A1EC-9BC9-5243-9D2F-AF1621BADA08}" type="presParOf" srcId="{4E01D2EE-6258-AD44-9D8B-05B084D8A730}" destId="{B6E620A8-3870-184F-A4DF-FE9D56D0980F}" srcOrd="0" destOrd="0" presId="urn:microsoft.com/office/officeart/2005/8/layout/radial1"/>
    <dgm:cxn modelId="{DE855B89-12A3-DE4B-8062-2CD514E5D402}" type="presParOf" srcId="{BD37C29E-7B23-4A4E-A1DC-E66BDFE0426D}" destId="{79B14E63-805C-DE41-B89C-2B3688158754}" srcOrd="2" destOrd="0" presId="urn:microsoft.com/office/officeart/2005/8/layout/radial1"/>
    <dgm:cxn modelId="{DD55680E-8A33-6745-9C4B-1323F3B28265}" type="presParOf" srcId="{BD37C29E-7B23-4A4E-A1DC-E66BDFE0426D}" destId="{9B94989B-A7B3-AC47-8930-E2D0EEEB1BF1}" srcOrd="3" destOrd="0" presId="urn:microsoft.com/office/officeart/2005/8/layout/radial1"/>
    <dgm:cxn modelId="{1C7BC84F-98B3-FE42-8BDF-8F07D3E9D1A8}" type="presParOf" srcId="{9B94989B-A7B3-AC47-8930-E2D0EEEB1BF1}" destId="{37EF3EA1-0525-9443-B14B-E7519F79A5FD}" srcOrd="0" destOrd="0" presId="urn:microsoft.com/office/officeart/2005/8/layout/radial1"/>
    <dgm:cxn modelId="{5AA59411-EE02-6048-930A-5E0611C8B198}" type="presParOf" srcId="{BD37C29E-7B23-4A4E-A1DC-E66BDFE0426D}" destId="{215F23CF-03EA-F24E-BC55-33B92E2BE58F}" srcOrd="4" destOrd="0" presId="urn:microsoft.com/office/officeart/2005/8/layout/radial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4982EA1-1697-BB4A-962F-C690979B5CA8}" type="doc">
      <dgm:prSet loTypeId="urn:microsoft.com/office/officeart/2005/8/layout/vList2" loCatId="list" qsTypeId="urn:microsoft.com/office/officeart/2005/8/quickstyle/simple4" qsCatId="simple" csTypeId="urn:microsoft.com/office/officeart/2005/8/colors/accent1_2" csCatId="accent1" phldr="1"/>
      <dgm:spPr/>
      <dgm:t>
        <a:bodyPr/>
        <a:lstStyle/>
        <a:p>
          <a:endParaRPr lang="en-US"/>
        </a:p>
      </dgm:t>
    </dgm:pt>
    <dgm:pt modelId="{0AB1442D-F7B0-E942-9A45-FD45BB7014C2}">
      <dgm:prSet phldrT="[Text]"/>
      <dgm:spPr/>
      <dgm:t>
        <a:bodyPr/>
        <a:lstStyle/>
        <a:p>
          <a:r>
            <a:rPr lang="en-NZ" dirty="0"/>
            <a:t>Deadlock prevention strategies are very conservative </a:t>
          </a:r>
          <a:endParaRPr lang="en-US" dirty="0"/>
        </a:p>
      </dgm:t>
    </dgm:pt>
    <dgm:pt modelId="{5C3232EA-EF5A-B543-AA34-F5EA22451935}" type="parTrans" cxnId="{B5E981DF-CB83-664E-8C44-59CE0161DEF1}">
      <dgm:prSet/>
      <dgm:spPr/>
      <dgm:t>
        <a:bodyPr/>
        <a:lstStyle/>
        <a:p>
          <a:endParaRPr lang="en-US"/>
        </a:p>
      </dgm:t>
    </dgm:pt>
    <dgm:pt modelId="{71F6A3BE-C94D-5545-B2EA-0383E28509F0}" type="sibTrans" cxnId="{B5E981DF-CB83-664E-8C44-59CE0161DEF1}">
      <dgm:prSet/>
      <dgm:spPr/>
      <dgm:t>
        <a:bodyPr/>
        <a:lstStyle/>
        <a:p>
          <a:endParaRPr lang="en-US"/>
        </a:p>
      </dgm:t>
    </dgm:pt>
    <dgm:pt modelId="{41116F9D-1093-C541-8F24-AF923714F38C}">
      <dgm:prSet/>
      <dgm:spPr/>
      <dgm:t>
        <a:bodyPr/>
        <a:lstStyle/>
        <a:p>
          <a:r>
            <a:rPr lang="en-NZ"/>
            <a:t>limit access to resources by imposing restrictions on processes</a:t>
          </a:r>
          <a:endParaRPr lang="en-NZ" dirty="0"/>
        </a:p>
      </dgm:t>
    </dgm:pt>
    <dgm:pt modelId="{3F92352A-7F66-B447-B744-93E870DD631A}" type="parTrans" cxnId="{CBFAC14B-D317-954E-BCFE-91AE11A29E6B}">
      <dgm:prSet/>
      <dgm:spPr/>
      <dgm:t>
        <a:bodyPr/>
        <a:lstStyle/>
        <a:p>
          <a:endParaRPr lang="en-US"/>
        </a:p>
      </dgm:t>
    </dgm:pt>
    <dgm:pt modelId="{7B1B513D-36B5-4A43-B336-4B67BFB3508D}" type="sibTrans" cxnId="{CBFAC14B-D317-954E-BCFE-91AE11A29E6B}">
      <dgm:prSet/>
      <dgm:spPr/>
      <dgm:t>
        <a:bodyPr/>
        <a:lstStyle/>
        <a:p>
          <a:endParaRPr lang="en-US"/>
        </a:p>
      </dgm:t>
    </dgm:pt>
    <dgm:pt modelId="{A05E3648-D5D8-884B-B502-F041268A61FA}">
      <dgm:prSet/>
      <dgm:spPr>
        <a:solidFill>
          <a:schemeClr val="accent2">
            <a:lumMod val="50000"/>
          </a:schemeClr>
        </a:solidFill>
      </dgm:spPr>
      <dgm:t>
        <a:bodyPr/>
        <a:lstStyle/>
        <a:p>
          <a:r>
            <a:rPr lang="en-NZ" dirty="0"/>
            <a:t>Deadlock </a:t>
          </a:r>
          <a:r>
            <a:rPr lang="en-NZ" b="1" dirty="0"/>
            <a:t>detection</a:t>
          </a:r>
          <a:r>
            <a:rPr lang="en-NZ" dirty="0"/>
            <a:t> strategies do the opposite</a:t>
          </a:r>
        </a:p>
      </dgm:t>
    </dgm:pt>
    <dgm:pt modelId="{ED0AD63D-3D5B-6241-A915-A44324621227}" type="parTrans" cxnId="{58BB09FB-99DF-6848-B8E7-F0CA2EE73C58}">
      <dgm:prSet/>
      <dgm:spPr/>
      <dgm:t>
        <a:bodyPr/>
        <a:lstStyle/>
        <a:p>
          <a:endParaRPr lang="en-US"/>
        </a:p>
      </dgm:t>
    </dgm:pt>
    <dgm:pt modelId="{CACE43C1-E9E0-7D40-A855-F893DDB38B68}" type="sibTrans" cxnId="{58BB09FB-99DF-6848-B8E7-F0CA2EE73C58}">
      <dgm:prSet/>
      <dgm:spPr/>
      <dgm:t>
        <a:bodyPr/>
        <a:lstStyle/>
        <a:p>
          <a:endParaRPr lang="en-US"/>
        </a:p>
      </dgm:t>
    </dgm:pt>
    <dgm:pt modelId="{5380344C-DA25-CD4C-B915-F3E83DF92C05}">
      <dgm:prSet/>
      <dgm:spPr/>
      <dgm:t>
        <a:bodyPr/>
        <a:lstStyle/>
        <a:p>
          <a:r>
            <a:rPr lang="en-NZ" dirty="0"/>
            <a:t>resource requests are granted whenever possible</a:t>
          </a:r>
        </a:p>
      </dgm:t>
    </dgm:pt>
    <dgm:pt modelId="{CDAE4444-319E-E945-B28D-A5173018DFF8}" type="parTrans" cxnId="{6F329487-9DDD-7C49-A768-83BC556C2E9A}">
      <dgm:prSet/>
      <dgm:spPr/>
      <dgm:t>
        <a:bodyPr/>
        <a:lstStyle/>
        <a:p>
          <a:endParaRPr lang="en-US"/>
        </a:p>
      </dgm:t>
    </dgm:pt>
    <dgm:pt modelId="{4C57FB35-CC7B-6B4E-B88F-83E2BBAD4667}" type="sibTrans" cxnId="{6F329487-9DDD-7C49-A768-83BC556C2E9A}">
      <dgm:prSet/>
      <dgm:spPr/>
      <dgm:t>
        <a:bodyPr/>
        <a:lstStyle/>
        <a:p>
          <a:endParaRPr lang="en-US"/>
        </a:p>
      </dgm:t>
    </dgm:pt>
    <dgm:pt modelId="{C1DDCA54-C9A0-A94D-8D3C-914551118621}" type="pres">
      <dgm:prSet presAssocID="{A4982EA1-1697-BB4A-962F-C690979B5CA8}" presName="linear" presStyleCnt="0">
        <dgm:presLayoutVars>
          <dgm:animLvl val="lvl"/>
          <dgm:resizeHandles val="exact"/>
        </dgm:presLayoutVars>
      </dgm:prSet>
      <dgm:spPr/>
    </dgm:pt>
    <dgm:pt modelId="{69A1457E-6F82-714B-9684-358489247C06}" type="pres">
      <dgm:prSet presAssocID="{0AB1442D-F7B0-E942-9A45-FD45BB7014C2}" presName="parentText" presStyleLbl="node1" presStyleIdx="0" presStyleCnt="2">
        <dgm:presLayoutVars>
          <dgm:chMax val="0"/>
          <dgm:bulletEnabled val="1"/>
        </dgm:presLayoutVars>
      </dgm:prSet>
      <dgm:spPr/>
    </dgm:pt>
    <dgm:pt modelId="{D2A3FB79-225F-F645-9263-70FD35EA9D07}" type="pres">
      <dgm:prSet presAssocID="{0AB1442D-F7B0-E942-9A45-FD45BB7014C2}" presName="childText" presStyleLbl="revTx" presStyleIdx="0" presStyleCnt="2">
        <dgm:presLayoutVars>
          <dgm:bulletEnabled val="1"/>
        </dgm:presLayoutVars>
      </dgm:prSet>
      <dgm:spPr/>
    </dgm:pt>
    <dgm:pt modelId="{08A9A630-6BC3-5044-A148-A2D3991B226A}" type="pres">
      <dgm:prSet presAssocID="{A05E3648-D5D8-884B-B502-F041268A61FA}" presName="parentText" presStyleLbl="node1" presStyleIdx="1" presStyleCnt="2">
        <dgm:presLayoutVars>
          <dgm:chMax val="0"/>
          <dgm:bulletEnabled val="1"/>
        </dgm:presLayoutVars>
      </dgm:prSet>
      <dgm:spPr/>
    </dgm:pt>
    <dgm:pt modelId="{106A0A9A-EAED-1142-8E93-D86999C38394}" type="pres">
      <dgm:prSet presAssocID="{A05E3648-D5D8-884B-B502-F041268A61FA}" presName="childText" presStyleLbl="revTx" presStyleIdx="1" presStyleCnt="2">
        <dgm:presLayoutVars>
          <dgm:bulletEnabled val="1"/>
        </dgm:presLayoutVars>
      </dgm:prSet>
      <dgm:spPr/>
    </dgm:pt>
  </dgm:ptLst>
  <dgm:cxnLst>
    <dgm:cxn modelId="{1B2D8102-6F51-BE4E-A021-1476754105FB}" type="presOf" srcId="{5380344C-DA25-CD4C-B915-F3E83DF92C05}" destId="{106A0A9A-EAED-1142-8E93-D86999C38394}" srcOrd="0" destOrd="0" presId="urn:microsoft.com/office/officeart/2005/8/layout/vList2"/>
    <dgm:cxn modelId="{194BDF17-623D-514C-99C5-248B8906FF0C}" type="presOf" srcId="{0AB1442D-F7B0-E942-9A45-FD45BB7014C2}" destId="{69A1457E-6F82-714B-9684-358489247C06}" srcOrd="0" destOrd="0" presId="urn:microsoft.com/office/officeart/2005/8/layout/vList2"/>
    <dgm:cxn modelId="{125C7265-353C-CD41-BBB9-7A4CF0D99034}" type="presOf" srcId="{A05E3648-D5D8-884B-B502-F041268A61FA}" destId="{08A9A630-6BC3-5044-A148-A2D3991B226A}" srcOrd="0" destOrd="0" presId="urn:microsoft.com/office/officeart/2005/8/layout/vList2"/>
    <dgm:cxn modelId="{CBFAC14B-D317-954E-BCFE-91AE11A29E6B}" srcId="{0AB1442D-F7B0-E942-9A45-FD45BB7014C2}" destId="{41116F9D-1093-C541-8F24-AF923714F38C}" srcOrd="0" destOrd="0" parTransId="{3F92352A-7F66-B447-B744-93E870DD631A}" sibTransId="{7B1B513D-36B5-4A43-B336-4B67BFB3508D}"/>
    <dgm:cxn modelId="{6F329487-9DDD-7C49-A768-83BC556C2E9A}" srcId="{A05E3648-D5D8-884B-B502-F041268A61FA}" destId="{5380344C-DA25-CD4C-B915-F3E83DF92C05}" srcOrd="0" destOrd="0" parTransId="{CDAE4444-319E-E945-B28D-A5173018DFF8}" sibTransId="{4C57FB35-CC7B-6B4E-B88F-83E2BBAD4667}"/>
    <dgm:cxn modelId="{5F75CBA0-771A-9148-8413-52ADC87F5509}" type="presOf" srcId="{41116F9D-1093-C541-8F24-AF923714F38C}" destId="{D2A3FB79-225F-F645-9263-70FD35EA9D07}" srcOrd="0" destOrd="0" presId="urn:microsoft.com/office/officeart/2005/8/layout/vList2"/>
    <dgm:cxn modelId="{B5E981DF-CB83-664E-8C44-59CE0161DEF1}" srcId="{A4982EA1-1697-BB4A-962F-C690979B5CA8}" destId="{0AB1442D-F7B0-E942-9A45-FD45BB7014C2}" srcOrd="0" destOrd="0" parTransId="{5C3232EA-EF5A-B543-AA34-F5EA22451935}" sibTransId="{71F6A3BE-C94D-5545-B2EA-0383E28509F0}"/>
    <dgm:cxn modelId="{DB6E02F9-ED0C-1D40-B758-FCF9E0FE16DE}" type="presOf" srcId="{A4982EA1-1697-BB4A-962F-C690979B5CA8}" destId="{C1DDCA54-C9A0-A94D-8D3C-914551118621}" srcOrd="0" destOrd="0" presId="urn:microsoft.com/office/officeart/2005/8/layout/vList2"/>
    <dgm:cxn modelId="{58BB09FB-99DF-6848-B8E7-F0CA2EE73C58}" srcId="{A4982EA1-1697-BB4A-962F-C690979B5CA8}" destId="{A05E3648-D5D8-884B-B502-F041268A61FA}" srcOrd="1" destOrd="0" parTransId="{ED0AD63D-3D5B-6241-A915-A44324621227}" sibTransId="{CACE43C1-E9E0-7D40-A855-F893DDB38B68}"/>
    <dgm:cxn modelId="{A9CA8283-D107-DE44-9AF2-AA0F69A05CA9}" type="presParOf" srcId="{C1DDCA54-C9A0-A94D-8D3C-914551118621}" destId="{69A1457E-6F82-714B-9684-358489247C06}" srcOrd="0" destOrd="0" presId="urn:microsoft.com/office/officeart/2005/8/layout/vList2"/>
    <dgm:cxn modelId="{6347209F-2DD0-244F-949E-A5585F7F8F06}" type="presParOf" srcId="{C1DDCA54-C9A0-A94D-8D3C-914551118621}" destId="{D2A3FB79-225F-F645-9263-70FD35EA9D07}" srcOrd="1" destOrd="0" presId="urn:microsoft.com/office/officeart/2005/8/layout/vList2"/>
    <dgm:cxn modelId="{1A93334C-1F46-B145-99BC-A9F26C1A3AC3}" type="presParOf" srcId="{C1DDCA54-C9A0-A94D-8D3C-914551118621}" destId="{08A9A630-6BC3-5044-A148-A2D3991B226A}" srcOrd="2" destOrd="0" presId="urn:microsoft.com/office/officeart/2005/8/layout/vList2"/>
    <dgm:cxn modelId="{8241538C-77F4-7447-8B92-2A7CDC7D9224}" type="presParOf" srcId="{C1DDCA54-C9A0-A94D-8D3C-914551118621}" destId="{106A0A9A-EAED-1142-8E93-D86999C38394}"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FBF7BE7-1703-0D44-9948-10540887BBAA}" type="doc">
      <dgm:prSet loTypeId="urn:microsoft.com/office/officeart/2005/8/layout/arrow5" loCatId="relationship" qsTypeId="urn:microsoft.com/office/officeart/2005/8/quickstyle/simple4" qsCatId="simple" csTypeId="urn:microsoft.com/office/officeart/2005/8/colors/accent1_2" csCatId="accent1" phldr="1"/>
      <dgm:spPr/>
      <dgm:t>
        <a:bodyPr/>
        <a:lstStyle/>
        <a:p>
          <a:endParaRPr lang="en-US"/>
        </a:p>
      </dgm:t>
    </dgm:pt>
    <dgm:pt modelId="{98AC15BF-483E-B44D-9332-6C717FB0B38F}">
      <dgm:prSet/>
      <dgm:spPr>
        <a:solidFill>
          <a:schemeClr val="accent2">
            <a:lumMod val="50000"/>
          </a:schemeClr>
        </a:solidFill>
      </dgm:spPr>
      <dgm:t>
        <a:bodyPr/>
        <a:lstStyle/>
        <a:p>
          <a:pPr rtl="0"/>
          <a:r>
            <a:rPr lang="en-US" dirty="0"/>
            <a:t>A condition variable is used to wait until a particular condition is true </a:t>
          </a:r>
        </a:p>
      </dgm:t>
    </dgm:pt>
    <dgm:pt modelId="{280CA860-40B4-BB4B-A5F2-6EF3BF092EFA}" type="parTrans" cxnId="{08D7BFE3-B05D-144E-8A56-FB20CA593E01}">
      <dgm:prSet/>
      <dgm:spPr/>
      <dgm:t>
        <a:bodyPr/>
        <a:lstStyle/>
        <a:p>
          <a:endParaRPr lang="en-US"/>
        </a:p>
      </dgm:t>
    </dgm:pt>
    <dgm:pt modelId="{6236CFA7-FA16-894A-BC2F-14225AACF57D}" type="sibTrans" cxnId="{08D7BFE3-B05D-144E-8A56-FB20CA593E01}">
      <dgm:prSet/>
      <dgm:spPr/>
      <dgm:t>
        <a:bodyPr/>
        <a:lstStyle/>
        <a:p>
          <a:endParaRPr lang="en-US"/>
        </a:p>
      </dgm:t>
    </dgm:pt>
    <dgm:pt modelId="{7B455062-9525-8148-AA78-C5AA0E9FC184}">
      <dgm:prSet/>
      <dgm:spPr/>
      <dgm:t>
        <a:bodyPr/>
        <a:lstStyle/>
        <a:p>
          <a:pPr rtl="0"/>
          <a:r>
            <a:rPr lang="en-NZ" dirty="0"/>
            <a:t>Condition variables must be used in conjunction with a mutex lock</a:t>
          </a:r>
        </a:p>
      </dgm:t>
    </dgm:pt>
    <dgm:pt modelId="{5702508A-6C4C-884F-9AD6-6B8BFAC85A24}" type="parTrans" cxnId="{81B07680-117E-4040-85D8-A83A13425711}">
      <dgm:prSet/>
      <dgm:spPr/>
      <dgm:t>
        <a:bodyPr/>
        <a:lstStyle/>
        <a:p>
          <a:endParaRPr lang="en-US"/>
        </a:p>
      </dgm:t>
    </dgm:pt>
    <dgm:pt modelId="{F4AFD4AD-B0AC-434E-ACD3-58D1AF519D47}" type="sibTrans" cxnId="{81B07680-117E-4040-85D8-A83A13425711}">
      <dgm:prSet/>
      <dgm:spPr/>
      <dgm:t>
        <a:bodyPr/>
        <a:lstStyle/>
        <a:p>
          <a:endParaRPr lang="en-US"/>
        </a:p>
      </dgm:t>
    </dgm:pt>
    <dgm:pt modelId="{D77FC992-8D42-E04F-9839-C3CD4B2F006F}" type="pres">
      <dgm:prSet presAssocID="{6FBF7BE7-1703-0D44-9948-10540887BBAA}" presName="diagram" presStyleCnt="0">
        <dgm:presLayoutVars>
          <dgm:dir/>
          <dgm:resizeHandles val="exact"/>
        </dgm:presLayoutVars>
      </dgm:prSet>
      <dgm:spPr/>
    </dgm:pt>
    <dgm:pt modelId="{F175F481-F24D-3F45-B3E7-CAAE7CDE6C67}" type="pres">
      <dgm:prSet presAssocID="{98AC15BF-483E-B44D-9332-6C717FB0B38F}" presName="arrow" presStyleLbl="node1" presStyleIdx="0" presStyleCnt="2" custRadScaleRad="92659" custRadScaleInc="8579">
        <dgm:presLayoutVars>
          <dgm:bulletEnabled val="1"/>
        </dgm:presLayoutVars>
      </dgm:prSet>
      <dgm:spPr/>
    </dgm:pt>
    <dgm:pt modelId="{C2B4E743-3F74-9E47-A51C-B0A92BB7DE47}" type="pres">
      <dgm:prSet presAssocID="{7B455062-9525-8148-AA78-C5AA0E9FC184}" presName="arrow" presStyleLbl="node1" presStyleIdx="1" presStyleCnt="2" custRadScaleRad="90248" custRadScaleInc="165">
        <dgm:presLayoutVars>
          <dgm:bulletEnabled val="1"/>
        </dgm:presLayoutVars>
      </dgm:prSet>
      <dgm:spPr/>
    </dgm:pt>
  </dgm:ptLst>
  <dgm:cxnLst>
    <dgm:cxn modelId="{F26CB863-4831-B645-9BAB-128C108E659E}" type="presOf" srcId="{98AC15BF-483E-B44D-9332-6C717FB0B38F}" destId="{F175F481-F24D-3F45-B3E7-CAAE7CDE6C67}" srcOrd="0" destOrd="0" presId="urn:microsoft.com/office/officeart/2005/8/layout/arrow5"/>
    <dgm:cxn modelId="{81B07680-117E-4040-85D8-A83A13425711}" srcId="{6FBF7BE7-1703-0D44-9948-10540887BBAA}" destId="{7B455062-9525-8148-AA78-C5AA0E9FC184}" srcOrd="1" destOrd="0" parTransId="{5702508A-6C4C-884F-9AD6-6B8BFAC85A24}" sibTransId="{F4AFD4AD-B0AC-434E-ACD3-58D1AF519D47}"/>
    <dgm:cxn modelId="{5830B3A1-7889-1449-863C-14E2353A3085}" type="presOf" srcId="{7B455062-9525-8148-AA78-C5AA0E9FC184}" destId="{C2B4E743-3F74-9E47-A51C-B0A92BB7DE47}" srcOrd="0" destOrd="0" presId="urn:microsoft.com/office/officeart/2005/8/layout/arrow5"/>
    <dgm:cxn modelId="{EB3BCDB8-9C13-D745-96C1-C08718C85DE1}" type="presOf" srcId="{6FBF7BE7-1703-0D44-9948-10540887BBAA}" destId="{D77FC992-8D42-E04F-9839-C3CD4B2F006F}" srcOrd="0" destOrd="0" presId="urn:microsoft.com/office/officeart/2005/8/layout/arrow5"/>
    <dgm:cxn modelId="{08D7BFE3-B05D-144E-8A56-FB20CA593E01}" srcId="{6FBF7BE7-1703-0D44-9948-10540887BBAA}" destId="{98AC15BF-483E-B44D-9332-6C717FB0B38F}" srcOrd="0" destOrd="0" parTransId="{280CA860-40B4-BB4B-A5F2-6EF3BF092EFA}" sibTransId="{6236CFA7-FA16-894A-BC2F-14225AACF57D}"/>
    <dgm:cxn modelId="{F5AC69E9-C933-CD45-A2C7-661C433B4507}" type="presParOf" srcId="{D77FC992-8D42-E04F-9839-C3CD4B2F006F}" destId="{F175F481-F24D-3F45-B3E7-CAAE7CDE6C67}" srcOrd="0" destOrd="0" presId="urn:microsoft.com/office/officeart/2005/8/layout/arrow5"/>
    <dgm:cxn modelId="{10C0EF75-51E1-5347-9304-B569A9EE63FA}" type="presParOf" srcId="{D77FC992-8D42-E04F-9839-C3CD4B2F006F}" destId="{C2B4E743-3F74-9E47-A51C-B0A92BB7DE47}" srcOrd="1" destOrd="0" presId="urn:microsoft.com/office/officeart/2005/8/layout/arrow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F5FE58-0E4F-1448-8B6D-1E52F620776C}">
      <dsp:nvSpPr>
        <dsp:cNvPr id="0" name=""/>
        <dsp:cNvSpPr/>
      </dsp:nvSpPr>
      <dsp:spPr>
        <a:xfrm>
          <a:off x="0" y="0"/>
          <a:ext cx="5570220" cy="2045970"/>
        </a:xfrm>
        <a:prstGeom prst="roundRect">
          <a:avLst>
            <a:gd name="adj" fmla="val 10000"/>
          </a:avLst>
        </a:prstGeom>
        <a:solidFill>
          <a:schemeClr val="accent1">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NZ" sz="2000" kern="1200" dirty="0"/>
            <a:t>Reusable</a:t>
          </a:r>
          <a:endParaRPr lang="en-US" sz="2000" kern="1200" dirty="0"/>
        </a:p>
        <a:p>
          <a:pPr marL="171450" lvl="1" indent="-171450" algn="l" defTabSz="711200">
            <a:lnSpc>
              <a:spcPct val="90000"/>
            </a:lnSpc>
            <a:spcBef>
              <a:spcPct val="0"/>
            </a:spcBef>
            <a:spcAft>
              <a:spcPct val="15000"/>
            </a:spcAft>
            <a:buChar char="•"/>
          </a:pPr>
          <a:r>
            <a:rPr lang="en-NZ" sz="1600" kern="1200" dirty="0"/>
            <a:t>can be safely used by only one process at a time and is not depleted by that use</a:t>
          </a:r>
        </a:p>
        <a:p>
          <a:pPr marL="342900" lvl="2" indent="-171450" algn="l" defTabSz="711200">
            <a:lnSpc>
              <a:spcPct val="90000"/>
            </a:lnSpc>
            <a:spcBef>
              <a:spcPct val="0"/>
            </a:spcBef>
            <a:spcAft>
              <a:spcPct val="15000"/>
            </a:spcAft>
            <a:buChar char="•"/>
          </a:pPr>
          <a:r>
            <a:rPr lang="en-US" sz="1600" kern="1200" dirty="0"/>
            <a:t>processors, I/O channels, main and secondary memory, devices, and data structures such as files, databases, and semaphores</a:t>
          </a:r>
        </a:p>
      </dsp:txBody>
      <dsp:txXfrm>
        <a:off x="59924" y="59924"/>
        <a:ext cx="3455551" cy="1926122"/>
      </dsp:txXfrm>
    </dsp:sp>
    <dsp:sp modelId="{FBCB8F57-C548-1C43-A637-8BC0E0917159}">
      <dsp:nvSpPr>
        <dsp:cNvPr id="0" name=""/>
        <dsp:cNvSpPr/>
      </dsp:nvSpPr>
      <dsp:spPr>
        <a:xfrm>
          <a:off x="982979" y="2500630"/>
          <a:ext cx="5570220" cy="2045970"/>
        </a:xfrm>
        <a:prstGeom prst="roundRect">
          <a:avLst>
            <a:gd name="adj" fmla="val 10000"/>
          </a:avLst>
        </a:prstGeom>
        <a:solidFill>
          <a:schemeClr val="accent1">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NZ" sz="2000" kern="1200" dirty="0"/>
            <a:t>Consumable</a:t>
          </a:r>
        </a:p>
        <a:p>
          <a:pPr marL="171450" lvl="1" indent="-171450" algn="l" defTabSz="711200">
            <a:lnSpc>
              <a:spcPct val="90000"/>
            </a:lnSpc>
            <a:spcBef>
              <a:spcPct val="0"/>
            </a:spcBef>
            <a:spcAft>
              <a:spcPct val="15000"/>
            </a:spcAft>
            <a:buChar char="•"/>
          </a:pPr>
          <a:r>
            <a:rPr lang="en-NZ" sz="1600" kern="1200" dirty="0"/>
            <a:t>one that can be created (produced) and destroyed (consumed)</a:t>
          </a:r>
        </a:p>
        <a:p>
          <a:pPr marL="342900" lvl="2" indent="-171450" algn="l" defTabSz="711200">
            <a:lnSpc>
              <a:spcPct val="90000"/>
            </a:lnSpc>
            <a:spcBef>
              <a:spcPct val="0"/>
            </a:spcBef>
            <a:spcAft>
              <a:spcPct val="15000"/>
            </a:spcAft>
            <a:buChar char="•"/>
          </a:pPr>
          <a:r>
            <a:rPr lang="en-US" sz="1600" kern="1200" dirty="0"/>
            <a:t>interrupts, signals, messages, and information</a:t>
          </a:r>
        </a:p>
        <a:p>
          <a:pPr marL="342900" lvl="2" indent="-171450" algn="l" defTabSz="711200">
            <a:lnSpc>
              <a:spcPct val="90000"/>
            </a:lnSpc>
            <a:spcBef>
              <a:spcPct val="0"/>
            </a:spcBef>
            <a:spcAft>
              <a:spcPct val="15000"/>
            </a:spcAft>
            <a:buChar char="•"/>
          </a:pPr>
          <a:r>
            <a:rPr lang="en-US" sz="1600" kern="1200" dirty="0"/>
            <a:t>in I/O buffers</a:t>
          </a:r>
          <a:endParaRPr lang="en-NZ" sz="1600" kern="1200" dirty="0"/>
        </a:p>
      </dsp:txBody>
      <dsp:txXfrm>
        <a:off x="1042903" y="2560554"/>
        <a:ext cx="3137511" cy="1926122"/>
      </dsp:txXfrm>
    </dsp:sp>
    <dsp:sp modelId="{22B4735D-FDE9-0F4D-8517-6404F300167D}">
      <dsp:nvSpPr>
        <dsp:cNvPr id="0" name=""/>
        <dsp:cNvSpPr/>
      </dsp:nvSpPr>
      <dsp:spPr>
        <a:xfrm>
          <a:off x="4247959" y="1676403"/>
          <a:ext cx="1314640" cy="1193793"/>
        </a:xfrm>
        <a:prstGeom prst="downArrow">
          <a:avLst>
            <a:gd name="adj1" fmla="val 55000"/>
            <a:gd name="adj2" fmla="val 45000"/>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4543753" y="1676403"/>
        <a:ext cx="723052" cy="89832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0692A2-8C4F-0545-98A7-FD5743A081D9}">
      <dsp:nvSpPr>
        <dsp:cNvPr id="0" name=""/>
        <dsp:cNvSpPr/>
      </dsp:nvSpPr>
      <dsp:spPr>
        <a:xfrm>
          <a:off x="1398" y="213008"/>
          <a:ext cx="1803462" cy="656065"/>
        </a:xfrm>
        <a:prstGeom prst="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w="15875" cap="flat" cmpd="sng" algn="ctr">
          <a:solidFill>
            <a:schemeClr val="accent1">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a:t>Mutual Exclusion</a:t>
          </a:r>
        </a:p>
      </dsp:txBody>
      <dsp:txXfrm>
        <a:off x="1398" y="213008"/>
        <a:ext cx="1803462" cy="656065"/>
      </dsp:txXfrm>
    </dsp:sp>
    <dsp:sp modelId="{613BAD88-1300-C64D-8478-28BDFCA247EE}">
      <dsp:nvSpPr>
        <dsp:cNvPr id="0" name=""/>
        <dsp:cNvSpPr/>
      </dsp:nvSpPr>
      <dsp:spPr>
        <a:xfrm>
          <a:off x="0" y="914895"/>
          <a:ext cx="1803462" cy="3261317"/>
        </a:xfrm>
        <a:prstGeom prst="rect">
          <a:avLst/>
        </a:prstGeom>
        <a:solidFill>
          <a:schemeClr val="bg2">
            <a:lumMod val="75000"/>
          </a:schemeClr>
        </a:solidFill>
        <a:ln w="15875" cap="flat" cmpd="sng" algn="ctr">
          <a:solidFill>
            <a:schemeClr val="accent1">
              <a:alpha val="90000"/>
              <a:tint val="4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a:t>only one process may use a resource at a time</a:t>
          </a:r>
          <a:endParaRPr lang="en-US" sz="1900" kern="1200" dirty="0"/>
        </a:p>
      </dsp:txBody>
      <dsp:txXfrm>
        <a:off x="0" y="914895"/>
        <a:ext cx="1803462" cy="3261317"/>
      </dsp:txXfrm>
    </dsp:sp>
    <dsp:sp modelId="{F7B771C4-1781-334A-A9CC-6AB6388019C2}">
      <dsp:nvSpPr>
        <dsp:cNvPr id="0" name=""/>
        <dsp:cNvSpPr/>
      </dsp:nvSpPr>
      <dsp:spPr>
        <a:xfrm>
          <a:off x="2057345" y="213008"/>
          <a:ext cx="1803462" cy="656065"/>
        </a:xfrm>
        <a:prstGeom prst="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w="15875" cap="flat" cmpd="sng" algn="ctr">
          <a:solidFill>
            <a:schemeClr val="accent1">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a:t>Hold-and-Wait</a:t>
          </a:r>
        </a:p>
      </dsp:txBody>
      <dsp:txXfrm>
        <a:off x="2057345" y="213008"/>
        <a:ext cx="1803462" cy="656065"/>
      </dsp:txXfrm>
    </dsp:sp>
    <dsp:sp modelId="{CE427A8D-A2CB-E34E-B99B-527B0A4E0DC8}">
      <dsp:nvSpPr>
        <dsp:cNvPr id="0" name=""/>
        <dsp:cNvSpPr/>
      </dsp:nvSpPr>
      <dsp:spPr>
        <a:xfrm>
          <a:off x="2057399" y="914895"/>
          <a:ext cx="1803462" cy="3261317"/>
        </a:xfrm>
        <a:prstGeom prst="rect">
          <a:avLst/>
        </a:prstGeom>
        <a:solidFill>
          <a:schemeClr val="bg2">
            <a:lumMod val="75000"/>
          </a:schemeClr>
        </a:solidFill>
        <a:ln w="15875" cap="flat" cmpd="sng" algn="ctr">
          <a:solidFill>
            <a:schemeClr val="accent1">
              <a:alpha val="90000"/>
              <a:tint val="4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a process may hold allocated resources while awaiting assignment of others</a:t>
          </a:r>
        </a:p>
      </dsp:txBody>
      <dsp:txXfrm>
        <a:off x="2057399" y="914895"/>
        <a:ext cx="1803462" cy="3261317"/>
      </dsp:txXfrm>
    </dsp:sp>
    <dsp:sp modelId="{8AD7747F-C6FB-8D40-8D93-2E53B586D4AB}">
      <dsp:nvSpPr>
        <dsp:cNvPr id="0" name=""/>
        <dsp:cNvSpPr/>
      </dsp:nvSpPr>
      <dsp:spPr>
        <a:xfrm>
          <a:off x="4113292" y="213008"/>
          <a:ext cx="1982762" cy="656065"/>
        </a:xfrm>
        <a:prstGeom prst="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w="15875" cap="flat" cmpd="sng" algn="ctr">
          <a:solidFill>
            <a:schemeClr val="accent1">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NZ" sz="1900" kern="1200" dirty="0"/>
            <a:t>No Pre-emption</a:t>
          </a:r>
        </a:p>
      </dsp:txBody>
      <dsp:txXfrm>
        <a:off x="4113292" y="213008"/>
        <a:ext cx="1982762" cy="656065"/>
      </dsp:txXfrm>
    </dsp:sp>
    <dsp:sp modelId="{F1B2B33B-D78F-B548-832F-D31F12C1AEA8}">
      <dsp:nvSpPr>
        <dsp:cNvPr id="0" name=""/>
        <dsp:cNvSpPr/>
      </dsp:nvSpPr>
      <dsp:spPr>
        <a:xfrm>
          <a:off x="4191003" y="914895"/>
          <a:ext cx="1803462" cy="3261317"/>
        </a:xfrm>
        <a:prstGeom prst="rect">
          <a:avLst/>
        </a:prstGeom>
        <a:solidFill>
          <a:schemeClr val="bg2">
            <a:lumMod val="75000"/>
          </a:schemeClr>
        </a:solidFill>
        <a:ln w="15875" cap="flat" cmpd="sng" algn="ctr">
          <a:solidFill>
            <a:schemeClr val="accent1">
              <a:alpha val="90000"/>
              <a:tint val="4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NZ" sz="1900" kern="1200" dirty="0"/>
            <a:t>no resource can be forcibly removed from a process holding it</a:t>
          </a:r>
        </a:p>
      </dsp:txBody>
      <dsp:txXfrm>
        <a:off x="4191003" y="914895"/>
        <a:ext cx="1803462" cy="3261317"/>
      </dsp:txXfrm>
    </dsp:sp>
    <dsp:sp modelId="{92B94131-7DF3-D247-8535-7A1175868520}">
      <dsp:nvSpPr>
        <dsp:cNvPr id="0" name=""/>
        <dsp:cNvSpPr/>
      </dsp:nvSpPr>
      <dsp:spPr>
        <a:xfrm>
          <a:off x="6348539" y="213008"/>
          <a:ext cx="1803462" cy="656065"/>
        </a:xfrm>
        <a:prstGeom prst="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w="15875" cap="flat" cmpd="sng" algn="ctr">
          <a:solidFill>
            <a:schemeClr val="accent1">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NZ" sz="1900" kern="1200" dirty="0"/>
            <a:t>Circular Wait</a:t>
          </a:r>
        </a:p>
      </dsp:txBody>
      <dsp:txXfrm>
        <a:off x="6348539" y="213008"/>
        <a:ext cx="1803462" cy="656065"/>
      </dsp:txXfrm>
    </dsp:sp>
    <dsp:sp modelId="{583D7356-1B1B-AD42-925D-161669EB54CA}">
      <dsp:nvSpPr>
        <dsp:cNvPr id="0" name=""/>
        <dsp:cNvSpPr/>
      </dsp:nvSpPr>
      <dsp:spPr>
        <a:xfrm>
          <a:off x="6349937" y="914895"/>
          <a:ext cx="1803462" cy="3261317"/>
        </a:xfrm>
        <a:prstGeom prst="rect">
          <a:avLst/>
        </a:prstGeom>
        <a:solidFill>
          <a:schemeClr val="bg2">
            <a:lumMod val="75000"/>
          </a:schemeClr>
        </a:solidFill>
        <a:ln w="15875" cap="flat" cmpd="sng" algn="ctr">
          <a:solidFill>
            <a:schemeClr val="accent1">
              <a:alpha val="90000"/>
              <a:tint val="4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NZ" sz="1900" kern="1200" dirty="0"/>
            <a:t>a closed chain of processes exists, such that each process holds at least one resource needed by the next process in the chain</a:t>
          </a:r>
        </a:p>
      </dsp:txBody>
      <dsp:txXfrm>
        <a:off x="6349937" y="914895"/>
        <a:ext cx="1803462" cy="326131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EF543C-883A-3143-B8FF-3427F8EB3AC7}">
      <dsp:nvSpPr>
        <dsp:cNvPr id="0" name=""/>
        <dsp:cNvSpPr/>
      </dsp:nvSpPr>
      <dsp:spPr>
        <a:xfrm>
          <a:off x="0" y="246468"/>
          <a:ext cx="7315200" cy="720562"/>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567741" tIns="312420" rIns="567741" bIns="142240" numCol="1" spcCol="1270" anchor="t" anchorCtr="0">
          <a:noAutofit/>
        </a:bodyPr>
        <a:lstStyle/>
        <a:p>
          <a:pPr marL="228600" lvl="1" indent="-228600" algn="l" defTabSz="889000">
            <a:lnSpc>
              <a:spcPct val="90000"/>
            </a:lnSpc>
            <a:spcBef>
              <a:spcPct val="0"/>
            </a:spcBef>
            <a:spcAft>
              <a:spcPct val="15000"/>
            </a:spcAft>
            <a:buChar char="•"/>
          </a:pPr>
          <a:r>
            <a:rPr lang="en-NZ" sz="2000" kern="1200" dirty="0"/>
            <a:t>adopt a policy that eliminates one of the conditions</a:t>
          </a:r>
        </a:p>
      </dsp:txBody>
      <dsp:txXfrm>
        <a:off x="0" y="246468"/>
        <a:ext cx="7315200" cy="720562"/>
      </dsp:txXfrm>
    </dsp:sp>
    <dsp:sp modelId="{C76E62B7-E6F6-F44C-BFF3-94CA42A82033}">
      <dsp:nvSpPr>
        <dsp:cNvPr id="0" name=""/>
        <dsp:cNvSpPr/>
      </dsp:nvSpPr>
      <dsp:spPr>
        <a:xfrm>
          <a:off x="365760" y="25068"/>
          <a:ext cx="5120640" cy="442800"/>
        </a:xfrm>
        <a:prstGeom prst="round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3548" tIns="0" rIns="193548" bIns="0" numCol="1" spcCol="1270" anchor="ctr" anchorCtr="0">
          <a:noAutofit/>
        </a:bodyPr>
        <a:lstStyle/>
        <a:p>
          <a:pPr marL="0" lvl="0" indent="0" algn="l" defTabSz="977900">
            <a:lnSpc>
              <a:spcPct val="90000"/>
            </a:lnSpc>
            <a:spcBef>
              <a:spcPct val="0"/>
            </a:spcBef>
            <a:spcAft>
              <a:spcPct val="35000"/>
            </a:spcAft>
            <a:buNone/>
          </a:pPr>
          <a:r>
            <a:rPr lang="en-NZ" sz="2200" kern="1200" dirty="0"/>
            <a:t>Prevent Deadlock</a:t>
          </a:r>
          <a:endParaRPr lang="en-US" sz="2200" kern="1200" dirty="0"/>
        </a:p>
      </dsp:txBody>
      <dsp:txXfrm>
        <a:off x="387376" y="46684"/>
        <a:ext cx="5077408" cy="399568"/>
      </dsp:txXfrm>
    </dsp:sp>
    <dsp:sp modelId="{CA916DCC-847C-7B4D-8447-2804E95D8344}">
      <dsp:nvSpPr>
        <dsp:cNvPr id="0" name=""/>
        <dsp:cNvSpPr/>
      </dsp:nvSpPr>
      <dsp:spPr>
        <a:xfrm>
          <a:off x="0" y="1269431"/>
          <a:ext cx="7315200" cy="9922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567741" tIns="312420" rIns="567741" bIns="142240" numCol="1" spcCol="1270" anchor="t" anchorCtr="0">
          <a:noAutofit/>
        </a:bodyPr>
        <a:lstStyle/>
        <a:p>
          <a:pPr marL="228600" lvl="1" indent="-228600" algn="l" defTabSz="889000">
            <a:lnSpc>
              <a:spcPct val="90000"/>
            </a:lnSpc>
            <a:spcBef>
              <a:spcPct val="0"/>
            </a:spcBef>
            <a:spcAft>
              <a:spcPct val="15000"/>
            </a:spcAft>
            <a:buChar char="•"/>
          </a:pPr>
          <a:r>
            <a:rPr lang="en-NZ" sz="2000" kern="1200" dirty="0"/>
            <a:t>make the appropriate dynamic choices based on the current state of resource allocation</a:t>
          </a:r>
        </a:p>
      </dsp:txBody>
      <dsp:txXfrm>
        <a:off x="0" y="1269431"/>
        <a:ext cx="7315200" cy="992250"/>
      </dsp:txXfrm>
    </dsp:sp>
    <dsp:sp modelId="{9CC9D5C0-7055-5F44-9C06-CD7F32234211}">
      <dsp:nvSpPr>
        <dsp:cNvPr id="0" name=""/>
        <dsp:cNvSpPr/>
      </dsp:nvSpPr>
      <dsp:spPr>
        <a:xfrm>
          <a:off x="365760" y="1048031"/>
          <a:ext cx="5120640" cy="442800"/>
        </a:xfrm>
        <a:prstGeom prst="round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3548" tIns="0" rIns="193548" bIns="0" numCol="1" spcCol="1270" anchor="ctr" anchorCtr="0">
          <a:noAutofit/>
        </a:bodyPr>
        <a:lstStyle/>
        <a:p>
          <a:pPr marL="0" lvl="0" indent="0" algn="l" defTabSz="977900">
            <a:lnSpc>
              <a:spcPct val="90000"/>
            </a:lnSpc>
            <a:spcBef>
              <a:spcPct val="0"/>
            </a:spcBef>
            <a:spcAft>
              <a:spcPct val="35000"/>
            </a:spcAft>
            <a:buNone/>
          </a:pPr>
          <a:r>
            <a:rPr lang="en-NZ" sz="2200" kern="1200" dirty="0"/>
            <a:t>Avoid Deadlock</a:t>
          </a:r>
        </a:p>
      </dsp:txBody>
      <dsp:txXfrm>
        <a:off x="387376" y="1069647"/>
        <a:ext cx="5077408" cy="399568"/>
      </dsp:txXfrm>
    </dsp:sp>
    <dsp:sp modelId="{57643F7F-6EBC-A944-A76A-1EA714F7B29A}">
      <dsp:nvSpPr>
        <dsp:cNvPr id="0" name=""/>
        <dsp:cNvSpPr/>
      </dsp:nvSpPr>
      <dsp:spPr>
        <a:xfrm>
          <a:off x="0" y="2564081"/>
          <a:ext cx="7315200" cy="9922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567741" tIns="312420" rIns="567741" bIns="142240" numCol="1" spcCol="1270" anchor="t" anchorCtr="0">
          <a:noAutofit/>
        </a:bodyPr>
        <a:lstStyle/>
        <a:p>
          <a:pPr marL="228600" lvl="1" indent="-228600" algn="l" defTabSz="889000">
            <a:lnSpc>
              <a:spcPct val="90000"/>
            </a:lnSpc>
            <a:spcBef>
              <a:spcPct val="0"/>
            </a:spcBef>
            <a:spcAft>
              <a:spcPct val="15000"/>
            </a:spcAft>
            <a:buChar char="•"/>
          </a:pPr>
          <a:r>
            <a:rPr lang="en-NZ" sz="2000" kern="1200" dirty="0"/>
            <a:t>attempt to detect the presence of deadlock and take action to recover</a:t>
          </a:r>
        </a:p>
      </dsp:txBody>
      <dsp:txXfrm>
        <a:off x="0" y="2564081"/>
        <a:ext cx="7315200" cy="992250"/>
      </dsp:txXfrm>
    </dsp:sp>
    <dsp:sp modelId="{B6B6CCBA-6755-1B42-93ED-C3B536073808}">
      <dsp:nvSpPr>
        <dsp:cNvPr id="0" name=""/>
        <dsp:cNvSpPr/>
      </dsp:nvSpPr>
      <dsp:spPr>
        <a:xfrm>
          <a:off x="365760" y="2342681"/>
          <a:ext cx="5120640" cy="442800"/>
        </a:xfrm>
        <a:prstGeom prst="round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3548" tIns="0" rIns="193548" bIns="0" numCol="1" spcCol="1270" anchor="ctr" anchorCtr="0">
          <a:noAutofit/>
        </a:bodyPr>
        <a:lstStyle/>
        <a:p>
          <a:pPr marL="0" lvl="0" indent="0" algn="l" defTabSz="977900">
            <a:lnSpc>
              <a:spcPct val="90000"/>
            </a:lnSpc>
            <a:spcBef>
              <a:spcPct val="0"/>
            </a:spcBef>
            <a:spcAft>
              <a:spcPct val="35000"/>
            </a:spcAft>
            <a:buNone/>
          </a:pPr>
          <a:r>
            <a:rPr lang="en-NZ" sz="2200" kern="1200" dirty="0"/>
            <a:t>Detect Deadlock</a:t>
          </a:r>
        </a:p>
      </dsp:txBody>
      <dsp:txXfrm>
        <a:off x="387376" y="2364297"/>
        <a:ext cx="5077408" cy="39956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FF2B9D-26D2-A44F-9E18-FDC677BD1D09}">
      <dsp:nvSpPr>
        <dsp:cNvPr id="0" name=""/>
        <dsp:cNvSpPr/>
      </dsp:nvSpPr>
      <dsp:spPr>
        <a:xfrm>
          <a:off x="3072" y="111422"/>
          <a:ext cx="3019127" cy="1509563"/>
        </a:xfrm>
        <a:prstGeom prst="roundRect">
          <a:avLst>
            <a:gd name="adj" fmla="val 10000"/>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57150" tIns="38100" rIns="57150" bIns="38100" numCol="1" spcCol="1270" anchor="ctr" anchorCtr="0">
          <a:noAutofit/>
        </a:bodyPr>
        <a:lstStyle/>
        <a:p>
          <a:pPr marL="0" lvl="0" indent="0" algn="ctr" defTabSz="1333500">
            <a:lnSpc>
              <a:spcPct val="90000"/>
            </a:lnSpc>
            <a:spcBef>
              <a:spcPct val="0"/>
            </a:spcBef>
            <a:spcAft>
              <a:spcPct val="35000"/>
            </a:spcAft>
            <a:buNone/>
          </a:pPr>
          <a:r>
            <a:rPr lang="en-US" sz="3000" kern="1200" dirty="0"/>
            <a:t>Mutual Exclusion</a:t>
          </a:r>
        </a:p>
      </dsp:txBody>
      <dsp:txXfrm>
        <a:off x="47286" y="155636"/>
        <a:ext cx="2930699" cy="1421135"/>
      </dsp:txXfrm>
    </dsp:sp>
    <dsp:sp modelId="{60F002DE-5B92-314F-B8EB-59BEC6FCAD53}">
      <dsp:nvSpPr>
        <dsp:cNvPr id="0" name=""/>
        <dsp:cNvSpPr/>
      </dsp:nvSpPr>
      <dsp:spPr>
        <a:xfrm>
          <a:off x="304985" y="1620985"/>
          <a:ext cx="301912" cy="1132172"/>
        </a:xfrm>
        <a:custGeom>
          <a:avLst/>
          <a:gdLst/>
          <a:ahLst/>
          <a:cxnLst/>
          <a:rect l="0" t="0" r="0" b="0"/>
          <a:pathLst>
            <a:path>
              <a:moveTo>
                <a:pt x="0" y="0"/>
              </a:moveTo>
              <a:lnTo>
                <a:pt x="0" y="1132172"/>
              </a:lnTo>
              <a:lnTo>
                <a:pt x="301912" y="1132172"/>
              </a:lnTo>
            </a:path>
          </a:pathLst>
        </a:custGeom>
        <a:noFill/>
        <a:ln w="1587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37630BD2-C147-434D-9AE2-A781C2BD8B3D}">
      <dsp:nvSpPr>
        <dsp:cNvPr id="0" name=""/>
        <dsp:cNvSpPr/>
      </dsp:nvSpPr>
      <dsp:spPr>
        <a:xfrm>
          <a:off x="606898" y="1998376"/>
          <a:ext cx="2415301" cy="1509563"/>
        </a:xfrm>
        <a:prstGeom prst="roundRect">
          <a:avLst>
            <a:gd name="adj" fmla="val 10000"/>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if access to a resource requires mutual exclusion then it must be supported by the OS</a:t>
          </a:r>
        </a:p>
      </dsp:txBody>
      <dsp:txXfrm>
        <a:off x="651112" y="2042590"/>
        <a:ext cx="2326873" cy="1421135"/>
      </dsp:txXfrm>
    </dsp:sp>
    <dsp:sp modelId="{F0B0B8F8-69E5-5349-82BB-435D76CEDD77}">
      <dsp:nvSpPr>
        <dsp:cNvPr id="0" name=""/>
        <dsp:cNvSpPr/>
      </dsp:nvSpPr>
      <dsp:spPr>
        <a:xfrm>
          <a:off x="3776981" y="111422"/>
          <a:ext cx="3019127" cy="1509563"/>
        </a:xfrm>
        <a:prstGeom prst="roundRect">
          <a:avLst>
            <a:gd name="adj" fmla="val 10000"/>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57150" tIns="38100" rIns="57150" bIns="38100" numCol="1" spcCol="1270" anchor="ctr" anchorCtr="0">
          <a:noAutofit/>
        </a:bodyPr>
        <a:lstStyle/>
        <a:p>
          <a:pPr marL="0" lvl="0" indent="0" algn="ctr" defTabSz="1333500">
            <a:lnSpc>
              <a:spcPct val="90000"/>
            </a:lnSpc>
            <a:spcBef>
              <a:spcPct val="0"/>
            </a:spcBef>
            <a:spcAft>
              <a:spcPct val="35000"/>
            </a:spcAft>
            <a:buNone/>
          </a:pPr>
          <a:r>
            <a:rPr lang="en-US" sz="3000" kern="1200" dirty="0"/>
            <a:t>Hold and Wait</a:t>
          </a:r>
        </a:p>
      </dsp:txBody>
      <dsp:txXfrm>
        <a:off x="3821195" y="155636"/>
        <a:ext cx="2930699" cy="1421135"/>
      </dsp:txXfrm>
    </dsp:sp>
    <dsp:sp modelId="{5E003098-C1CA-7547-973E-268F1C53ECA3}">
      <dsp:nvSpPr>
        <dsp:cNvPr id="0" name=""/>
        <dsp:cNvSpPr/>
      </dsp:nvSpPr>
      <dsp:spPr>
        <a:xfrm>
          <a:off x="4078894" y="1620985"/>
          <a:ext cx="301912" cy="1570391"/>
        </a:xfrm>
        <a:custGeom>
          <a:avLst/>
          <a:gdLst/>
          <a:ahLst/>
          <a:cxnLst/>
          <a:rect l="0" t="0" r="0" b="0"/>
          <a:pathLst>
            <a:path>
              <a:moveTo>
                <a:pt x="0" y="0"/>
              </a:moveTo>
              <a:lnTo>
                <a:pt x="0" y="1570391"/>
              </a:lnTo>
              <a:lnTo>
                <a:pt x="301912" y="1570391"/>
              </a:lnTo>
            </a:path>
          </a:pathLst>
        </a:custGeom>
        <a:noFill/>
        <a:ln w="1587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A4ACE6A4-5292-684B-BADA-4484BB0C4C6D}">
      <dsp:nvSpPr>
        <dsp:cNvPr id="0" name=""/>
        <dsp:cNvSpPr/>
      </dsp:nvSpPr>
      <dsp:spPr>
        <a:xfrm>
          <a:off x="4380807" y="1998376"/>
          <a:ext cx="2626520" cy="2386001"/>
        </a:xfrm>
        <a:prstGeom prst="roundRect">
          <a:avLst>
            <a:gd name="adj" fmla="val 10000"/>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require that a process request </a:t>
          </a:r>
          <a:r>
            <a:rPr lang="en-US" sz="2000" b="1" u="sng" kern="1200" dirty="0">
              <a:solidFill>
                <a:srgbClr val="0000FF"/>
              </a:solidFill>
            </a:rPr>
            <a:t>all</a:t>
          </a:r>
          <a:r>
            <a:rPr lang="en-US" sz="2000" u="sng" kern="1200" dirty="0"/>
            <a:t> of its required resources at one time</a:t>
          </a:r>
          <a:r>
            <a:rPr lang="en-US" sz="2000" u="none" kern="1200" dirty="0"/>
            <a:t> </a:t>
          </a:r>
          <a:r>
            <a:rPr lang="en-US" sz="2000" kern="1200" dirty="0"/>
            <a:t>and blocking the process until all requests can be granted simultaneously</a:t>
          </a:r>
        </a:p>
      </dsp:txBody>
      <dsp:txXfrm>
        <a:off x="4450691" y="2068260"/>
        <a:ext cx="2486752" cy="224623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0716-0DAC-BC40-8E79-75B3BD9B9C84}">
      <dsp:nvSpPr>
        <dsp:cNvPr id="0" name=""/>
        <dsp:cNvSpPr/>
      </dsp:nvSpPr>
      <dsp:spPr>
        <a:xfrm>
          <a:off x="2895602" y="476366"/>
          <a:ext cx="2296013" cy="1809632"/>
        </a:xfrm>
        <a:prstGeom prst="ellipse">
          <a:avLst/>
        </a:prstGeom>
        <a:solidFill>
          <a:schemeClr val="accent5">
            <a:lumMod val="75000"/>
            <a:alpha val="76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1155700">
            <a:lnSpc>
              <a:spcPct val="90000"/>
            </a:lnSpc>
            <a:spcBef>
              <a:spcPct val="0"/>
            </a:spcBef>
            <a:spcAft>
              <a:spcPct val="35000"/>
            </a:spcAft>
            <a:buNone/>
          </a:pPr>
          <a:r>
            <a:rPr lang="en-US" sz="2600" kern="1200" dirty="0"/>
            <a:t>Deadlock Avoidance</a:t>
          </a:r>
        </a:p>
      </dsp:txBody>
      <dsp:txXfrm>
        <a:off x="3231845" y="741380"/>
        <a:ext cx="1623527" cy="1279604"/>
      </dsp:txXfrm>
    </dsp:sp>
    <dsp:sp modelId="{4E01D2EE-6258-AD44-9D8B-05B084D8A730}">
      <dsp:nvSpPr>
        <dsp:cNvPr id="0" name=""/>
        <dsp:cNvSpPr/>
      </dsp:nvSpPr>
      <dsp:spPr>
        <a:xfrm rot="2189751">
          <a:off x="4853801" y="2066876"/>
          <a:ext cx="273531" cy="29823"/>
        </a:xfrm>
        <a:custGeom>
          <a:avLst/>
          <a:gdLst/>
          <a:ahLst/>
          <a:cxnLst/>
          <a:rect l="0" t="0" r="0" b="0"/>
          <a:pathLst>
            <a:path>
              <a:moveTo>
                <a:pt x="0" y="14911"/>
              </a:moveTo>
              <a:lnTo>
                <a:pt x="273531" y="14911"/>
              </a:lnTo>
            </a:path>
          </a:pathLst>
        </a:custGeom>
        <a:noFill/>
        <a:ln w="1587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83728" y="2074950"/>
        <a:ext cx="13676" cy="13676"/>
      </dsp:txXfrm>
    </dsp:sp>
    <dsp:sp modelId="{79B14E63-805C-DE41-B89C-2B3688158754}">
      <dsp:nvSpPr>
        <dsp:cNvPr id="0" name=""/>
        <dsp:cNvSpPr/>
      </dsp:nvSpPr>
      <dsp:spPr>
        <a:xfrm>
          <a:off x="4734417" y="1676388"/>
          <a:ext cx="3114182" cy="2735800"/>
        </a:xfrm>
        <a:prstGeom prst="ellipse">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l" defTabSz="977900">
            <a:lnSpc>
              <a:spcPct val="90000"/>
            </a:lnSpc>
            <a:spcBef>
              <a:spcPct val="0"/>
            </a:spcBef>
            <a:spcAft>
              <a:spcPct val="35000"/>
            </a:spcAft>
            <a:buNone/>
          </a:pPr>
          <a:r>
            <a:rPr lang="en-US" sz="2200" b="1" kern="1200" dirty="0"/>
            <a:t>Process Initiation Denial</a:t>
          </a:r>
        </a:p>
        <a:p>
          <a:pPr marL="171450" lvl="1" indent="-171450" algn="l" defTabSz="800100">
            <a:lnSpc>
              <a:spcPct val="90000"/>
            </a:lnSpc>
            <a:spcBef>
              <a:spcPct val="0"/>
            </a:spcBef>
            <a:spcAft>
              <a:spcPct val="15000"/>
            </a:spcAft>
            <a:buChar char="•"/>
          </a:pPr>
          <a:r>
            <a:rPr lang="en-US" sz="1800" kern="1200" dirty="0"/>
            <a:t>do not start a process if its demands might lead to deadlock</a:t>
          </a:r>
        </a:p>
      </dsp:txBody>
      <dsp:txXfrm>
        <a:off x="5190478" y="2077037"/>
        <a:ext cx="2202060" cy="1934502"/>
      </dsp:txXfrm>
    </dsp:sp>
    <dsp:sp modelId="{9B94989B-A7B3-AC47-8930-E2D0EEEB1BF1}">
      <dsp:nvSpPr>
        <dsp:cNvPr id="0" name=""/>
        <dsp:cNvSpPr/>
      </dsp:nvSpPr>
      <dsp:spPr>
        <a:xfrm rot="8486232">
          <a:off x="3116985" y="2051529"/>
          <a:ext cx="134141" cy="29823"/>
        </a:xfrm>
        <a:custGeom>
          <a:avLst/>
          <a:gdLst/>
          <a:ahLst/>
          <a:cxnLst/>
          <a:rect l="0" t="0" r="0" b="0"/>
          <a:pathLst>
            <a:path>
              <a:moveTo>
                <a:pt x="0" y="14911"/>
              </a:moveTo>
              <a:lnTo>
                <a:pt x="134141" y="14911"/>
              </a:lnTo>
            </a:path>
          </a:pathLst>
        </a:custGeom>
        <a:noFill/>
        <a:ln w="1587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rot="10800000">
        <a:off x="3180702" y="2063087"/>
        <a:ext cx="6707" cy="6707"/>
      </dsp:txXfrm>
    </dsp:sp>
    <dsp:sp modelId="{215F23CF-03EA-F24E-BC55-33B92E2BE58F}">
      <dsp:nvSpPr>
        <dsp:cNvPr id="0" name=""/>
        <dsp:cNvSpPr/>
      </dsp:nvSpPr>
      <dsp:spPr>
        <a:xfrm>
          <a:off x="152400" y="1676382"/>
          <a:ext cx="3469547" cy="2847935"/>
        </a:xfrm>
        <a:prstGeom prst="ellipse">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l" defTabSz="977900">
            <a:lnSpc>
              <a:spcPct val="90000"/>
            </a:lnSpc>
            <a:spcBef>
              <a:spcPct val="0"/>
            </a:spcBef>
            <a:spcAft>
              <a:spcPct val="35000"/>
            </a:spcAft>
            <a:buNone/>
          </a:pPr>
          <a:r>
            <a:rPr lang="en-US" sz="2200" b="1" kern="1200" dirty="0"/>
            <a:t>Resource Allocation Denial</a:t>
          </a:r>
        </a:p>
        <a:p>
          <a:pPr marL="171450" lvl="1" indent="-171450" algn="l" defTabSz="800100">
            <a:lnSpc>
              <a:spcPct val="90000"/>
            </a:lnSpc>
            <a:spcBef>
              <a:spcPct val="0"/>
            </a:spcBef>
            <a:spcAft>
              <a:spcPct val="15000"/>
            </a:spcAft>
            <a:buChar char="•"/>
          </a:pPr>
          <a:r>
            <a:rPr lang="en-US" sz="1800" kern="1200" dirty="0"/>
            <a:t>do not grant an incremental resource request to a process if this allocation might lead to deadlock</a:t>
          </a:r>
        </a:p>
      </dsp:txBody>
      <dsp:txXfrm>
        <a:off x="660503" y="2093452"/>
        <a:ext cx="2453341" cy="201379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A1457E-6F82-714B-9684-358489247C06}">
      <dsp:nvSpPr>
        <dsp:cNvPr id="0" name=""/>
        <dsp:cNvSpPr/>
      </dsp:nvSpPr>
      <dsp:spPr>
        <a:xfrm>
          <a:off x="0" y="15647"/>
          <a:ext cx="8077200" cy="1274130"/>
        </a:xfrm>
        <a:prstGeom prst="round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NZ" sz="3300" kern="1200" dirty="0"/>
            <a:t>Deadlock prevention strategies are very conservative </a:t>
          </a:r>
          <a:endParaRPr lang="en-US" sz="3300" kern="1200" dirty="0"/>
        </a:p>
      </dsp:txBody>
      <dsp:txXfrm>
        <a:off x="62198" y="77845"/>
        <a:ext cx="7952804" cy="1149734"/>
      </dsp:txXfrm>
    </dsp:sp>
    <dsp:sp modelId="{D2A3FB79-225F-F645-9263-70FD35EA9D07}">
      <dsp:nvSpPr>
        <dsp:cNvPr id="0" name=""/>
        <dsp:cNvSpPr/>
      </dsp:nvSpPr>
      <dsp:spPr>
        <a:xfrm>
          <a:off x="0" y="1289777"/>
          <a:ext cx="8077200" cy="785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56451" tIns="41910" rIns="234696" bIns="41910" numCol="1" spcCol="1270" anchor="t" anchorCtr="0">
          <a:noAutofit/>
        </a:bodyPr>
        <a:lstStyle/>
        <a:p>
          <a:pPr marL="228600" lvl="1" indent="-228600" algn="l" defTabSz="1155700">
            <a:lnSpc>
              <a:spcPct val="90000"/>
            </a:lnSpc>
            <a:spcBef>
              <a:spcPct val="0"/>
            </a:spcBef>
            <a:spcAft>
              <a:spcPct val="20000"/>
            </a:spcAft>
            <a:buChar char="•"/>
          </a:pPr>
          <a:r>
            <a:rPr lang="en-NZ" sz="2600" kern="1200"/>
            <a:t>limit access to resources by imposing restrictions on processes</a:t>
          </a:r>
          <a:endParaRPr lang="en-NZ" sz="2600" kern="1200" dirty="0"/>
        </a:p>
      </dsp:txBody>
      <dsp:txXfrm>
        <a:off x="0" y="1289777"/>
        <a:ext cx="8077200" cy="785565"/>
      </dsp:txXfrm>
    </dsp:sp>
    <dsp:sp modelId="{08A9A630-6BC3-5044-A148-A2D3991B226A}">
      <dsp:nvSpPr>
        <dsp:cNvPr id="0" name=""/>
        <dsp:cNvSpPr/>
      </dsp:nvSpPr>
      <dsp:spPr>
        <a:xfrm>
          <a:off x="0" y="2075342"/>
          <a:ext cx="8077200" cy="1274130"/>
        </a:xfrm>
        <a:prstGeom prst="roundRect">
          <a:avLst/>
        </a:prstGeom>
        <a:solidFill>
          <a:schemeClr val="accent2">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NZ" sz="3300" kern="1200" dirty="0"/>
            <a:t>Deadlock </a:t>
          </a:r>
          <a:r>
            <a:rPr lang="en-NZ" sz="3300" b="1" kern="1200" dirty="0"/>
            <a:t>detection</a:t>
          </a:r>
          <a:r>
            <a:rPr lang="en-NZ" sz="3300" kern="1200" dirty="0"/>
            <a:t> strategies do the opposite</a:t>
          </a:r>
        </a:p>
      </dsp:txBody>
      <dsp:txXfrm>
        <a:off x="62198" y="2137540"/>
        <a:ext cx="7952804" cy="1149734"/>
      </dsp:txXfrm>
    </dsp:sp>
    <dsp:sp modelId="{106A0A9A-EAED-1142-8E93-D86999C38394}">
      <dsp:nvSpPr>
        <dsp:cNvPr id="0" name=""/>
        <dsp:cNvSpPr/>
      </dsp:nvSpPr>
      <dsp:spPr>
        <a:xfrm>
          <a:off x="0" y="3349472"/>
          <a:ext cx="8077200" cy="546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56451" tIns="41910" rIns="234696" bIns="41910" numCol="1" spcCol="1270" anchor="t" anchorCtr="0">
          <a:noAutofit/>
        </a:bodyPr>
        <a:lstStyle/>
        <a:p>
          <a:pPr marL="228600" lvl="1" indent="-228600" algn="l" defTabSz="1155700">
            <a:lnSpc>
              <a:spcPct val="90000"/>
            </a:lnSpc>
            <a:spcBef>
              <a:spcPct val="0"/>
            </a:spcBef>
            <a:spcAft>
              <a:spcPct val="20000"/>
            </a:spcAft>
            <a:buChar char="•"/>
          </a:pPr>
          <a:r>
            <a:rPr lang="en-NZ" sz="2600" kern="1200" dirty="0"/>
            <a:t>resource requests are granted whenever possible</a:t>
          </a:r>
        </a:p>
      </dsp:txBody>
      <dsp:txXfrm>
        <a:off x="0" y="3349472"/>
        <a:ext cx="8077200" cy="5464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75F481-F24D-3F45-B3E7-CAAE7CDE6C67}">
      <dsp:nvSpPr>
        <dsp:cNvPr id="0" name=""/>
        <dsp:cNvSpPr/>
      </dsp:nvSpPr>
      <dsp:spPr>
        <a:xfrm rot="16200000">
          <a:off x="228592" y="152400"/>
          <a:ext cx="3982194" cy="3982194"/>
        </a:xfrm>
        <a:prstGeom prst="downArrow">
          <a:avLst>
            <a:gd name="adj1" fmla="val 50000"/>
            <a:gd name="adj2" fmla="val 35000"/>
          </a:avLst>
        </a:prstGeom>
        <a:solidFill>
          <a:schemeClr val="accent2">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84912" tIns="184912" rIns="184912" bIns="184912" numCol="1" spcCol="1270" anchor="ctr" anchorCtr="0">
          <a:noAutofit/>
        </a:bodyPr>
        <a:lstStyle/>
        <a:p>
          <a:pPr marL="0" lvl="0" indent="0" algn="ctr" defTabSz="1155700" rtl="0">
            <a:lnSpc>
              <a:spcPct val="90000"/>
            </a:lnSpc>
            <a:spcBef>
              <a:spcPct val="0"/>
            </a:spcBef>
            <a:spcAft>
              <a:spcPct val="35000"/>
            </a:spcAft>
            <a:buNone/>
          </a:pPr>
          <a:r>
            <a:rPr lang="en-US" sz="2600" kern="1200" dirty="0"/>
            <a:t>A condition variable is used to wait until a particular condition is true </a:t>
          </a:r>
        </a:p>
      </dsp:txBody>
      <dsp:txXfrm rot="5400000">
        <a:off x="228593" y="1147948"/>
        <a:ext cx="3285310" cy="1991097"/>
      </dsp:txXfrm>
    </dsp:sp>
    <dsp:sp modelId="{C2B4E743-3F74-9E47-A51C-B0A92BB7DE47}">
      <dsp:nvSpPr>
        <dsp:cNvPr id="0" name=""/>
        <dsp:cNvSpPr/>
      </dsp:nvSpPr>
      <dsp:spPr>
        <a:xfrm rot="5400000">
          <a:off x="4038606" y="685829"/>
          <a:ext cx="3982194" cy="3982194"/>
        </a:xfrm>
        <a:prstGeom prst="downArrow">
          <a:avLst>
            <a:gd name="adj1" fmla="val 50000"/>
            <a:gd name="adj2" fmla="val 35000"/>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84912" tIns="184912" rIns="184912" bIns="184912" numCol="1" spcCol="1270" anchor="ctr" anchorCtr="0">
          <a:noAutofit/>
        </a:bodyPr>
        <a:lstStyle/>
        <a:p>
          <a:pPr marL="0" lvl="0" indent="0" algn="ctr" defTabSz="1155700" rtl="0">
            <a:lnSpc>
              <a:spcPct val="90000"/>
            </a:lnSpc>
            <a:spcBef>
              <a:spcPct val="0"/>
            </a:spcBef>
            <a:spcAft>
              <a:spcPct val="35000"/>
            </a:spcAft>
            <a:buNone/>
          </a:pPr>
          <a:r>
            <a:rPr lang="en-NZ" sz="2600" kern="1200" dirty="0"/>
            <a:t>Condition variables must be used in conjunction with a mutex lock</a:t>
          </a:r>
        </a:p>
      </dsp:txBody>
      <dsp:txXfrm rot="-5400000">
        <a:off x="4735491" y="1681378"/>
        <a:ext cx="3285310" cy="1991097"/>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9.png"/></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defRPr>
            </a:lvl1pPr>
          </a:lstStyle>
          <a:p>
            <a:pPr>
              <a:defRPr/>
            </a:pP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defRPr>
            </a:lvl1pPr>
          </a:lstStyle>
          <a:p>
            <a:pPr>
              <a:defRPr/>
            </a:pPr>
            <a:fld id="{0118C455-DCBE-41F6-9A52-324D6BC54AEC}" type="datetimeFigureOut">
              <a:rPr lang="en-US"/>
              <a:pPr>
                <a:defRPr/>
              </a:pPr>
              <a:t>30-Apr-2024</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defRPr>
            </a:lvl1pPr>
          </a:lstStyle>
          <a:p>
            <a:pPr>
              <a:defRPr/>
            </a:pP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defRPr>
            </a:lvl1pPr>
          </a:lstStyle>
          <a:p>
            <a:pPr>
              <a:defRPr/>
            </a:pPr>
            <a:fld id="{B1F781F4-099F-4112-9B1E-8A4E4163911A}" type="slidenum">
              <a:rPr lang="en-US"/>
              <a:pPr>
                <a:defRPr/>
              </a:pPr>
              <a:t>‹#›</a:t>
            </a:fld>
            <a:endParaRPr lang="en-US" dirty="0"/>
          </a:p>
        </p:txBody>
      </p:sp>
    </p:spTree>
    <p:extLst>
      <p:ext uri="{BB962C8B-B14F-4D97-AF65-F5344CB8AC3E}">
        <p14:creationId xmlns:p14="http://schemas.microsoft.com/office/powerpoint/2010/main" val="123478548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latin typeface="Times New Roman" pitchFamily="-106" charset="0"/>
                <a:ea typeface="ＭＳ Ｐゴシック" pitchFamily="-106" charset="-128"/>
                <a:cs typeface="ＭＳ Ｐゴシック" pitchFamily="-106" charset="-128"/>
              </a:rPr>
              <a:t>“</a:t>
            </a:r>
            <a:r>
              <a:rPr kumimoji="1" lang="en-US" dirty="0">
                <a:latin typeface="Times New Roman" pitchFamily="-106" charset="0"/>
                <a:ea typeface="ＭＳ Ｐゴシック" pitchFamily="-106" charset="-128"/>
                <a:cs typeface="ＭＳ Ｐゴシック" pitchFamily="-106" charset="-128"/>
              </a:rPr>
              <a:t>Operating</a:t>
            </a:r>
            <a:r>
              <a:rPr kumimoji="1" lang="en-US" baseline="0" dirty="0">
                <a:latin typeface="Times New Roman" pitchFamily="-106" charset="0"/>
                <a:ea typeface="ＭＳ Ｐゴシック" pitchFamily="-106" charset="-128"/>
                <a:cs typeface="ＭＳ Ｐゴシック" pitchFamily="-106" charset="-128"/>
              </a:rPr>
              <a:t> Systems: Internal and Design Principles</a:t>
            </a:r>
            <a:r>
              <a:rPr lang="en-US" dirty="0">
                <a:latin typeface="Times New Roman" pitchFamily="-106" charset="0"/>
                <a:ea typeface="ＭＳ Ｐゴシック" pitchFamily="-106" charset="-128"/>
                <a:cs typeface="ＭＳ Ｐゴシック" pitchFamily="-106" charset="-128"/>
              </a:rPr>
              <a:t>”, 7/e, by William Stallings, Chapter 6 “</a:t>
            </a:r>
            <a:r>
              <a:rPr kumimoji="1" lang="en-GB" dirty="0">
                <a:latin typeface="Times New Roman" pitchFamily="-106" charset="0"/>
                <a:ea typeface="ＭＳ Ｐゴシック" pitchFamily="-106" charset="-128"/>
                <a:cs typeface="ＭＳ Ｐゴシック" pitchFamily="-106" charset="-128"/>
              </a:rPr>
              <a:t>Concurrency:</a:t>
            </a:r>
            <a:r>
              <a:rPr kumimoji="1" lang="en-GB" baseline="0" dirty="0">
                <a:latin typeface="Times New Roman" pitchFamily="-106" charset="0"/>
                <a:ea typeface="ＭＳ Ｐゴシック" pitchFamily="-106" charset="-128"/>
                <a:cs typeface="ＭＳ Ｐゴシック" pitchFamily="-106" charset="-128"/>
              </a:rPr>
              <a:t> Deadlock and Starvation</a:t>
            </a:r>
            <a:r>
              <a:rPr lang="en-US" dirty="0">
                <a:latin typeface="Times New Roman" pitchFamily="-106" charset="0"/>
                <a:ea typeface="ＭＳ Ｐゴシック" pitchFamily="-106" charset="-128"/>
                <a:cs typeface="ＭＳ Ｐゴシック" pitchFamily="-106" charset="-128"/>
              </a:rPr>
              <a:t>”.</a:t>
            </a:r>
            <a:endParaRPr lang="en-AU" dirty="0">
              <a:latin typeface="Times New Roman" pitchFamily="-106" charset="0"/>
              <a:ea typeface="ＭＳ Ｐゴシック" pitchFamily="-106" charset="-128"/>
              <a:cs typeface="ＭＳ Ｐゴシック" pitchFamily="-106" charset="-128"/>
            </a:endParaRPr>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This chapter continues our survey of concurrency by looking at two problems that plague all efforts to support concurrent processing: deadlock and starvation. We begin with a discussion of the underlying principles of deadlock and the related problem of starvation. Then we examine the three common approaches to dealing with deadlock: prevention, detection, and avoidance. We then look at one of the classic problems used to illustrate both synchronization and deadlock issues: the dining philosophers problem.</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As with Chapter 5 , the discussion in this chapter is limited to a consideration of concurrency and deadlock on a single system. Measures to deal with distributed deadlock problems are assessed in Chapter 18 .</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a:t>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Deadlock can be defined as the </a:t>
            </a:r>
            <a:r>
              <a:rPr lang="en-US" sz="1200" i="1" kern="1200" baseline="0" dirty="0">
                <a:solidFill>
                  <a:schemeClr val="tx1"/>
                </a:solidFill>
                <a:latin typeface="+mn-lt"/>
                <a:ea typeface="+mn-ea"/>
                <a:cs typeface="+mn-cs"/>
              </a:rPr>
              <a:t>permanent blocking of a set of processes that either </a:t>
            </a:r>
            <a:r>
              <a:rPr lang="en-US" sz="1200" kern="1200" baseline="0" dirty="0">
                <a:solidFill>
                  <a:schemeClr val="tx1"/>
                </a:solidFill>
                <a:latin typeface="+mn-lt"/>
                <a:ea typeface="+mn-ea"/>
                <a:cs typeface="+mn-cs"/>
              </a:rPr>
              <a:t>compete for system resources or communicate with each other. A set of processes is deadlocked when each process in the set is blocked awaiting an event (typically the freeing up of some requested resource) that can only be triggered by another blocked process in the set. Deadlock is permanent because none of the events is ever triggered. Unlike other problems in concurrent process management, there is no efficient solution in the general case.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3</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NZ" sz="1200" b="1" kern="1200" baseline="0" dirty="0">
                <a:solidFill>
                  <a:schemeClr val="tx1"/>
                </a:solidFill>
                <a:latin typeface="+mn-lt"/>
                <a:ea typeface="+mn-ea"/>
                <a:cs typeface="+mn-cs"/>
              </a:rPr>
              <a:t>Animated Slide</a:t>
            </a:r>
          </a:p>
          <a:p>
            <a:pPr lvl="0">
              <a:buFont typeface="Arial" pitchFamily="34" charset="0"/>
              <a:buNone/>
            </a:pPr>
            <a:r>
              <a:rPr lang="en-NZ" sz="1200" b="1" i="1" kern="1200" baseline="0" dirty="0">
                <a:solidFill>
                  <a:schemeClr val="tx1"/>
                </a:solidFill>
                <a:latin typeface="+mn-lt"/>
                <a:ea typeface="+mn-ea"/>
                <a:cs typeface="+mn-cs"/>
              </a:rPr>
              <a:t>Click 1</a:t>
            </a:r>
            <a:r>
              <a:rPr lang="en-NZ" sz="1200" b="0" i="0" kern="1200" baseline="0" dirty="0">
                <a:solidFill>
                  <a:schemeClr val="tx1"/>
                </a:solidFill>
                <a:latin typeface="+mn-lt"/>
                <a:ea typeface="+mn-ea"/>
                <a:cs typeface="+mn-cs"/>
              </a:rPr>
              <a:t> Cars approach intersection</a:t>
            </a:r>
          </a:p>
          <a:p>
            <a:pPr lvl="0">
              <a:buFont typeface="Arial" pitchFamily="34" charset="0"/>
              <a:buNone/>
            </a:pPr>
            <a:r>
              <a:rPr lang="en-NZ" sz="1200" b="0" i="0" kern="1200" baseline="0" dirty="0">
                <a:solidFill>
                  <a:schemeClr val="tx1"/>
                </a:solidFill>
                <a:latin typeface="+mn-lt"/>
                <a:ea typeface="+mn-ea"/>
                <a:cs typeface="+mn-cs"/>
              </a:rPr>
              <a:t> </a:t>
            </a:r>
            <a:r>
              <a:rPr lang="en-NZ" sz="1200" b="1" i="1" kern="1200" baseline="0" dirty="0">
                <a:solidFill>
                  <a:schemeClr val="tx1"/>
                </a:solidFill>
                <a:latin typeface="+mn-lt"/>
                <a:ea typeface="+mn-ea"/>
                <a:cs typeface="+mn-cs"/>
              </a:rPr>
              <a:t>Then </a:t>
            </a:r>
            <a:r>
              <a:rPr lang="en-NZ" sz="1200" b="0" i="0" kern="1200" baseline="0" dirty="0">
                <a:solidFill>
                  <a:schemeClr val="tx1"/>
                </a:solidFill>
                <a:latin typeface="+mn-lt"/>
                <a:ea typeface="+mn-ea"/>
                <a:cs typeface="+mn-cs"/>
              </a:rPr>
              <a:t>Cars announce their resource needs</a:t>
            </a:r>
          </a:p>
          <a:p>
            <a:pPr lvl="0">
              <a:buFont typeface="Arial" pitchFamily="34" charset="0"/>
              <a:buNone/>
            </a:pPr>
            <a:endParaRPr lang="en-NZ" sz="1200" b="0" i="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All deadlocks involve conflicting needs for resources by two or more processes. A common example is the traffic deadlock. Figure 6.1a shows a situation in which four cars have arrived at a four-way stop intersection at approximately the same time. The four quadrants of the intersection are the resources over which control is needed. In particular, if all four cars wish to go straight through the intersection, the resource requirements are as follows: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Car 1, traveling north, needs quadrants a and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a:t>
            </a:r>
          </a:p>
          <a:p>
            <a:r>
              <a:rPr lang="en-US" sz="1200" kern="1200" baseline="0" dirty="0">
                <a:solidFill>
                  <a:schemeClr val="tx1"/>
                </a:solidFill>
                <a:latin typeface="+mn-lt"/>
                <a:ea typeface="+mn-ea"/>
                <a:cs typeface="+mn-cs"/>
              </a:rPr>
              <a:t>• Car 2 needs quadrants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and c.</a:t>
            </a:r>
          </a:p>
          <a:p>
            <a:r>
              <a:rPr lang="en-US" sz="1200" kern="1200" baseline="0" dirty="0">
                <a:solidFill>
                  <a:schemeClr val="tx1"/>
                </a:solidFill>
                <a:latin typeface="+mn-lt"/>
                <a:ea typeface="+mn-ea"/>
                <a:cs typeface="+mn-cs"/>
              </a:rPr>
              <a:t>• Car 3 needs quadrants c and d.</a:t>
            </a:r>
          </a:p>
          <a:p>
            <a:r>
              <a:rPr lang="en-US" sz="1200" kern="1200" baseline="0" dirty="0">
                <a:solidFill>
                  <a:schemeClr val="tx1"/>
                </a:solidFill>
                <a:latin typeface="+mn-lt"/>
                <a:ea typeface="+mn-ea"/>
                <a:cs typeface="+mn-cs"/>
              </a:rPr>
              <a:t>• Car 4 needs quadrants d and a.</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typical rule of the road in the United States is that a car at a four-way stop should defer to a car immediately to its right. This rule works if there are only two or three cars at the intersection. For example, if only the northbound and westbound cars arrive at the intersection, the northbound car will wait and the westbound car proceeds. However, if all four cars arrive at about the same time, each will refrain from entering the intersection, this causes a potential deadlock. The deadlock is only potential, not actual, because the necessary resources are available for any of the cars to proceed. If one car eventually does proceed, it can do so.</a:t>
            </a:r>
            <a:endParaRPr lang="en-NZ" sz="1200" b="0" i="0" kern="1200" baseline="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NZ" sz="1200" b="1" kern="1200" baseline="0" dirty="0">
                <a:solidFill>
                  <a:schemeClr val="tx1"/>
                </a:solidFill>
                <a:latin typeface="+mn-lt"/>
                <a:ea typeface="+mn-ea"/>
                <a:cs typeface="+mn-cs"/>
              </a:rPr>
              <a:t>Animated Slide</a:t>
            </a:r>
          </a:p>
          <a:p>
            <a:pPr lvl="0">
              <a:buFont typeface="Arial" pitchFamily="34" charset="0"/>
              <a:buNone/>
            </a:pPr>
            <a:r>
              <a:rPr lang="en-NZ" sz="1200" b="1" i="1" kern="1200" baseline="0" dirty="0">
                <a:solidFill>
                  <a:schemeClr val="tx1"/>
                </a:solidFill>
                <a:latin typeface="+mn-lt"/>
                <a:ea typeface="+mn-ea"/>
                <a:cs typeface="+mn-cs"/>
              </a:rPr>
              <a:t>Click 1</a:t>
            </a:r>
            <a:r>
              <a:rPr lang="en-NZ" sz="1200" b="0" i="0" kern="1200" baseline="0" dirty="0">
                <a:solidFill>
                  <a:schemeClr val="tx1"/>
                </a:solidFill>
                <a:latin typeface="+mn-lt"/>
                <a:ea typeface="+mn-ea"/>
                <a:cs typeface="+mn-cs"/>
              </a:rPr>
              <a:t> Cars move to deadlock</a:t>
            </a:r>
          </a:p>
          <a:p>
            <a:pPr lvl="0">
              <a:buFont typeface="Arial" pitchFamily="34" charset="0"/>
              <a:buNone/>
            </a:pPr>
            <a:r>
              <a:rPr lang="en-NZ" sz="1200" b="1" i="1" kern="1200" baseline="0" dirty="0">
                <a:solidFill>
                  <a:schemeClr val="tx1"/>
                </a:solidFill>
                <a:latin typeface="+mn-lt"/>
                <a:ea typeface="+mn-ea"/>
                <a:cs typeface="+mn-cs"/>
              </a:rPr>
              <a:t>Then  </a:t>
            </a:r>
            <a:r>
              <a:rPr lang="en-NZ" sz="1200" b="0" i="0" kern="1200" baseline="0" dirty="0">
                <a:solidFill>
                  <a:schemeClr val="tx1"/>
                </a:solidFill>
                <a:latin typeface="+mn-lt"/>
                <a:ea typeface="+mn-ea"/>
                <a:cs typeface="+mn-cs"/>
              </a:rPr>
              <a:t>Cars announce their resource need</a:t>
            </a:r>
          </a:p>
          <a:p>
            <a:pPr lvl="0">
              <a:buFont typeface="Arial" pitchFamily="34" charset="0"/>
              <a:buNone/>
            </a:pPr>
            <a:endParaRPr lang="en-NZ" sz="1200" b="0" i="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However, if all four cars ignore the rules and proceed (cautiously) into the intersection at the same time, then each car seizes one resource (one quadrant) but cannot proceed because the required second resource has already been seized by another car. This is an actual deadlock.</a:t>
            </a:r>
            <a:endParaRPr lang="en-NZ" sz="1200" b="0" i="0" kern="1200" baseline="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Two general categories of resources can be distinguished: reusable and consumable. A reusable resource is one that can be safely used by only one process at a time and is not depleted by that use. Processes obtain resource units that they later release for reuse by other processes. Examples of reusable resources include processors; I/O channels; main and secondary memory; devices; and data structures such as files, databases, and semaphores.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 consumable resource is one that can be created (produced) and destroyed (consumed). Examples of consumable resources are interrupts, signals, messages, and information in I/O buffers.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6</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There is no single effective strategy that can deal with all types of deadlock. Table 6.1 summarizes the key elements of the most important approaches that have been developed: prevention, avoidance, and detection. We examine each of these in turn, after first introducing resource allocation graphs and then discussing the conditions for deadlock.</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7</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 useful tool in characterizing the allocation of resources to processes is the </a:t>
            </a:r>
            <a:r>
              <a:rPr lang="en-US" sz="1200" b="1" kern="1200" baseline="0" dirty="0">
                <a:solidFill>
                  <a:schemeClr val="tx1"/>
                </a:solidFill>
                <a:latin typeface="+mn-lt"/>
                <a:ea typeface="+mn-ea"/>
                <a:cs typeface="+mn-cs"/>
              </a:rPr>
              <a:t>resource allocation graph , introduced by Holt [HOLT72]. The resource allocation </a:t>
            </a:r>
            <a:r>
              <a:rPr lang="en-US" sz="1200" kern="1200" baseline="0" dirty="0">
                <a:solidFill>
                  <a:schemeClr val="tx1"/>
                </a:solidFill>
                <a:latin typeface="+mn-lt"/>
                <a:ea typeface="+mn-ea"/>
                <a:cs typeface="+mn-cs"/>
              </a:rPr>
              <a:t>graph is a directed graph that depicts a state of the system of resources and processes, with each process and each resource represented by a node. A graph edge directed from a process to a resource indicates a resource that has been requested by the process but not yet granted ( Figure 6.5a ). Within a resource node, a dot is shown for each instance of that resource. Examples of resource types that may have multiple instances are I/O devices that are allocated by a resource management module in the OS. A graph edge directed from a reusable resource node dot to a process indicates a request that has been granted ( Figure 6.5b ); that is, the process has been assigned one unit of that resource. A graph edge directed from a consumable</a:t>
            </a:r>
          </a:p>
          <a:p>
            <a:r>
              <a:rPr lang="en-US" sz="1200" kern="1200" baseline="0" dirty="0">
                <a:solidFill>
                  <a:schemeClr val="tx1"/>
                </a:solidFill>
                <a:latin typeface="+mn-lt"/>
                <a:ea typeface="+mn-ea"/>
                <a:cs typeface="+mn-cs"/>
              </a:rPr>
              <a:t>resource node dot to a process indicates that the process is the producer of that</a:t>
            </a:r>
          </a:p>
          <a:p>
            <a:r>
              <a:rPr lang="en-US" sz="1200" kern="1200" baseline="0" dirty="0">
                <a:solidFill>
                  <a:schemeClr val="tx1"/>
                </a:solidFill>
                <a:latin typeface="+mn-lt"/>
                <a:ea typeface="+mn-ea"/>
                <a:cs typeface="+mn-cs"/>
              </a:rPr>
              <a:t>resource.</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Figure 6.5c shows an example deadlock. There is only one unit each of resources Ra and </a:t>
            </a:r>
            <a:r>
              <a:rPr lang="en-US" sz="1200" kern="1200" baseline="0" dirty="0" err="1">
                <a:solidFill>
                  <a:schemeClr val="tx1"/>
                </a:solidFill>
                <a:latin typeface="+mn-lt"/>
                <a:ea typeface="+mn-ea"/>
                <a:cs typeface="+mn-cs"/>
              </a:rPr>
              <a:t>Rb</a:t>
            </a:r>
            <a:r>
              <a:rPr lang="en-US" sz="1200" kern="1200" baseline="0" dirty="0">
                <a:solidFill>
                  <a:schemeClr val="tx1"/>
                </a:solidFill>
                <a:latin typeface="+mn-lt"/>
                <a:ea typeface="+mn-ea"/>
                <a:cs typeface="+mn-cs"/>
              </a:rPr>
              <a:t>. Process P1 holds </a:t>
            </a:r>
            <a:r>
              <a:rPr lang="en-US" sz="1200" kern="1200" baseline="0" dirty="0" err="1">
                <a:solidFill>
                  <a:schemeClr val="tx1"/>
                </a:solidFill>
                <a:latin typeface="+mn-lt"/>
                <a:ea typeface="+mn-ea"/>
                <a:cs typeface="+mn-cs"/>
              </a:rPr>
              <a:t>Rb</a:t>
            </a:r>
            <a:r>
              <a:rPr lang="en-US" sz="1200" kern="1200" baseline="0" dirty="0">
                <a:solidFill>
                  <a:schemeClr val="tx1"/>
                </a:solidFill>
                <a:latin typeface="+mn-lt"/>
                <a:ea typeface="+mn-ea"/>
                <a:cs typeface="+mn-cs"/>
              </a:rPr>
              <a:t> and requests Ra, while P2 holds Ra but requests </a:t>
            </a:r>
            <a:r>
              <a:rPr lang="en-US" sz="1200" kern="1200" baseline="0" dirty="0" err="1">
                <a:solidFill>
                  <a:schemeClr val="tx1"/>
                </a:solidFill>
                <a:latin typeface="+mn-lt"/>
                <a:ea typeface="+mn-ea"/>
                <a:cs typeface="+mn-cs"/>
              </a:rPr>
              <a:t>Rb</a:t>
            </a:r>
            <a:r>
              <a:rPr lang="en-US" sz="1200" kern="1200" baseline="0" dirty="0">
                <a:solidFill>
                  <a:schemeClr val="tx1"/>
                </a:solidFill>
                <a:latin typeface="+mn-lt"/>
                <a:ea typeface="+mn-ea"/>
                <a:cs typeface="+mn-cs"/>
              </a:rPr>
              <a:t>. Figure 6.5d has the same topology as Figure 6.5c , but there is no deadlock because multiple units of each resource are available.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8</a:t>
            </a:fld>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resource allocation graph of Figure 6.6 corresponds to the deadlock situation in Figure 6.1b . Note that in this case, we do not have a simple situation in which two processes each have one resource the other needs. Rather, in this case, there is a circular chain of processes and resources that results in deadlock.</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9</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US" sz="1200" kern="1200" baseline="0" dirty="0">
                <a:solidFill>
                  <a:schemeClr val="tx1"/>
                </a:solidFill>
                <a:latin typeface="+mn-lt"/>
                <a:ea typeface="+mn-ea"/>
                <a:cs typeface="+mn-cs"/>
              </a:rPr>
              <a:t>Three conditions of policy must be present for a deadlock to be possible:</a:t>
            </a:r>
          </a:p>
          <a:p>
            <a:r>
              <a:rPr lang="en-US" sz="1200" b="1" kern="1200" baseline="0" dirty="0">
                <a:solidFill>
                  <a:schemeClr val="tx1"/>
                </a:solidFill>
                <a:latin typeface="+mn-lt"/>
                <a:ea typeface="+mn-ea"/>
                <a:cs typeface="+mn-cs"/>
              </a:rPr>
              <a:t>1. Mutual exclusion . Only one process may use a resource at a time. No process </a:t>
            </a:r>
            <a:r>
              <a:rPr lang="en-US" sz="1200" kern="1200" baseline="0" dirty="0">
                <a:solidFill>
                  <a:schemeClr val="tx1"/>
                </a:solidFill>
                <a:latin typeface="+mn-lt"/>
                <a:ea typeface="+mn-ea"/>
                <a:cs typeface="+mn-cs"/>
              </a:rPr>
              <a:t>may access a resource unit that has been allocated to another process.</a:t>
            </a:r>
          </a:p>
          <a:p>
            <a:r>
              <a:rPr lang="en-US" sz="1200" b="1" kern="1200" baseline="0" dirty="0">
                <a:solidFill>
                  <a:schemeClr val="tx1"/>
                </a:solidFill>
                <a:latin typeface="+mn-lt"/>
                <a:ea typeface="+mn-ea"/>
                <a:cs typeface="+mn-cs"/>
              </a:rPr>
              <a:t>2. Hold and wait . A process may hold allocated resources while awaiting assignment </a:t>
            </a:r>
            <a:r>
              <a:rPr lang="en-US" sz="1200" kern="1200" baseline="0" dirty="0">
                <a:solidFill>
                  <a:schemeClr val="tx1"/>
                </a:solidFill>
                <a:latin typeface="+mn-lt"/>
                <a:ea typeface="+mn-ea"/>
                <a:cs typeface="+mn-cs"/>
              </a:rPr>
              <a:t>of other resources.</a:t>
            </a:r>
          </a:p>
          <a:p>
            <a:r>
              <a:rPr lang="en-US" sz="1200" b="1" kern="1200" baseline="0" dirty="0">
                <a:solidFill>
                  <a:schemeClr val="tx1"/>
                </a:solidFill>
                <a:latin typeface="+mn-lt"/>
                <a:ea typeface="+mn-ea"/>
                <a:cs typeface="+mn-cs"/>
              </a:rPr>
              <a:t>3. No preemption . No resource can be forcibly removed from a process holding it.</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In many ways these conditions are quite desirable. For example, mutual exclusion is needed to ensure consistency of results and the integrity of a database. Similarly, preemption should not be done arbitrarily. For example, when data resources are involved, preemption must be supported by a rollback recovery mechanism, which restores a process and its resources to a suitable previous state from which the process can eventually repeat its actions.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first three conditions are necessary but not sufficient for a deadlock to exist. For deadlock to actually take place, a fourth condition is required:</a:t>
            </a:r>
          </a:p>
          <a:p>
            <a:r>
              <a:rPr lang="en-US" sz="1200" b="1" kern="1200" baseline="0" dirty="0">
                <a:solidFill>
                  <a:schemeClr val="tx1"/>
                </a:solidFill>
                <a:latin typeface="+mn-lt"/>
                <a:ea typeface="+mn-ea"/>
                <a:cs typeface="+mn-cs"/>
              </a:rPr>
              <a:t>4. Circular wait . </a:t>
            </a:r>
            <a:r>
              <a:rPr lang="en-US" sz="1200" b="0" kern="1200" baseline="0" dirty="0">
                <a:solidFill>
                  <a:schemeClr val="tx1"/>
                </a:solidFill>
                <a:latin typeface="+mn-lt"/>
                <a:ea typeface="+mn-ea"/>
                <a:cs typeface="+mn-cs"/>
              </a:rPr>
              <a:t>A closed chain of processes exists, such that each process holds</a:t>
            </a:r>
            <a:r>
              <a:rPr lang="en-US" sz="1200" b="1" kern="1200" baseline="0" dirty="0">
                <a:solidFill>
                  <a:schemeClr val="tx1"/>
                </a:solidFill>
                <a:latin typeface="+mn-lt"/>
                <a:ea typeface="+mn-ea"/>
                <a:cs typeface="+mn-cs"/>
              </a:rPr>
              <a:t> </a:t>
            </a:r>
            <a:r>
              <a:rPr lang="en-US" sz="1200" kern="1200" baseline="0" dirty="0">
                <a:solidFill>
                  <a:schemeClr val="tx1"/>
                </a:solidFill>
                <a:latin typeface="+mn-lt"/>
                <a:ea typeface="+mn-ea"/>
                <a:cs typeface="+mn-cs"/>
              </a:rPr>
              <a:t>at least one resource needed by the next process in the chain (e.g., Figure 6.5c</a:t>
            </a:r>
          </a:p>
          <a:p>
            <a:r>
              <a:rPr lang="en-US" sz="1200" kern="1200" baseline="0" dirty="0">
                <a:solidFill>
                  <a:schemeClr val="tx1"/>
                </a:solidFill>
                <a:latin typeface="+mn-lt"/>
                <a:ea typeface="+mn-ea"/>
                <a:cs typeface="+mn-cs"/>
              </a:rPr>
              <a:t>and Figure 6.6 ).</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fourth condition is, actually, a potential consequence of the first three. That is, given that the first three conditions exist, a sequence of events may occur that lead to an </a:t>
            </a:r>
            <a:r>
              <a:rPr lang="en-US" sz="1200" kern="1200" baseline="0" dirty="0" err="1">
                <a:solidFill>
                  <a:schemeClr val="tx1"/>
                </a:solidFill>
                <a:latin typeface="+mn-lt"/>
                <a:ea typeface="+mn-ea"/>
                <a:cs typeface="+mn-cs"/>
              </a:rPr>
              <a:t>unresolvable</a:t>
            </a:r>
            <a:r>
              <a:rPr lang="en-US" sz="1200" kern="1200" baseline="0" dirty="0">
                <a:solidFill>
                  <a:schemeClr val="tx1"/>
                </a:solidFill>
                <a:latin typeface="+mn-lt"/>
                <a:ea typeface="+mn-ea"/>
                <a:cs typeface="+mn-cs"/>
              </a:rPr>
              <a:t> circular wait. The </a:t>
            </a:r>
            <a:r>
              <a:rPr lang="en-US" sz="1200" kern="1200" baseline="0" dirty="0" err="1">
                <a:solidFill>
                  <a:schemeClr val="tx1"/>
                </a:solidFill>
                <a:latin typeface="+mn-lt"/>
                <a:ea typeface="+mn-ea"/>
                <a:cs typeface="+mn-cs"/>
              </a:rPr>
              <a:t>unresolvable</a:t>
            </a:r>
            <a:r>
              <a:rPr lang="en-US" sz="1200" kern="1200" baseline="0" dirty="0">
                <a:solidFill>
                  <a:schemeClr val="tx1"/>
                </a:solidFill>
                <a:latin typeface="+mn-lt"/>
                <a:ea typeface="+mn-ea"/>
                <a:cs typeface="+mn-cs"/>
              </a:rPr>
              <a:t> circular wait is in fact the definition of deadlock. The circular wait listed as condition 4 is </a:t>
            </a:r>
            <a:r>
              <a:rPr lang="en-US" sz="1200" kern="1200" baseline="0" dirty="0" err="1">
                <a:solidFill>
                  <a:schemeClr val="tx1"/>
                </a:solidFill>
                <a:latin typeface="+mn-lt"/>
                <a:ea typeface="+mn-ea"/>
                <a:cs typeface="+mn-cs"/>
              </a:rPr>
              <a:t>unresolvable</a:t>
            </a:r>
            <a:r>
              <a:rPr lang="en-US" sz="1200" kern="1200" baseline="0" dirty="0">
                <a:solidFill>
                  <a:schemeClr val="tx1"/>
                </a:solidFill>
                <a:latin typeface="+mn-lt"/>
                <a:ea typeface="+mn-ea"/>
                <a:cs typeface="+mn-cs"/>
              </a:rPr>
              <a:t> because the first three conditions hold. Thus, the four conditions, taken together, constitute necessary and sufficient conditions for deadlock.</a:t>
            </a:r>
          </a:p>
          <a:p>
            <a:endParaRPr lang="en-US" sz="1200" kern="1200" baseline="0" dirty="0">
              <a:solidFill>
                <a:schemeClr val="tx1"/>
              </a:solidFill>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10</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Three general approaches exist for dealing with deadlock. First, one can </a:t>
            </a:r>
            <a:r>
              <a:rPr lang="en-US" sz="1200" b="1" kern="1200" baseline="0" dirty="0">
                <a:solidFill>
                  <a:schemeClr val="tx1"/>
                </a:solidFill>
                <a:latin typeface="+mn-lt"/>
                <a:ea typeface="+mn-ea"/>
                <a:cs typeface="+mn-cs"/>
              </a:rPr>
              <a:t>prevent deadlock </a:t>
            </a:r>
            <a:r>
              <a:rPr lang="en-US" sz="1200" b="0" kern="1200" baseline="0" dirty="0">
                <a:solidFill>
                  <a:schemeClr val="tx1"/>
                </a:solidFill>
                <a:latin typeface="+mn-lt"/>
                <a:ea typeface="+mn-ea"/>
                <a:cs typeface="+mn-cs"/>
              </a:rPr>
              <a:t>by adopting a policy that eliminates one of the conditions </a:t>
            </a:r>
            <a:r>
              <a:rPr lang="en-US" sz="1200" kern="1200" baseline="0" dirty="0">
                <a:solidFill>
                  <a:schemeClr val="tx1"/>
                </a:solidFill>
                <a:latin typeface="+mn-lt"/>
                <a:ea typeface="+mn-ea"/>
                <a:cs typeface="+mn-cs"/>
              </a:rPr>
              <a:t>(conditions 1 through 4). Second, one can </a:t>
            </a:r>
            <a:r>
              <a:rPr lang="en-US" sz="1200" b="1" kern="1200" baseline="0" dirty="0">
                <a:solidFill>
                  <a:schemeClr val="tx1"/>
                </a:solidFill>
                <a:latin typeface="+mn-lt"/>
                <a:ea typeface="+mn-ea"/>
                <a:cs typeface="+mn-cs"/>
              </a:rPr>
              <a:t>avoid deadlock </a:t>
            </a:r>
            <a:r>
              <a:rPr lang="en-US" sz="1200" b="0" kern="1200" baseline="0" dirty="0">
                <a:solidFill>
                  <a:schemeClr val="tx1"/>
                </a:solidFill>
                <a:latin typeface="+mn-lt"/>
                <a:ea typeface="+mn-ea"/>
                <a:cs typeface="+mn-cs"/>
              </a:rPr>
              <a:t>by making the appropriate </a:t>
            </a:r>
            <a:r>
              <a:rPr lang="en-US" sz="1200" kern="1200" baseline="0" dirty="0">
                <a:solidFill>
                  <a:schemeClr val="tx1"/>
                </a:solidFill>
                <a:latin typeface="+mn-lt"/>
                <a:ea typeface="+mn-ea"/>
                <a:cs typeface="+mn-cs"/>
              </a:rPr>
              <a:t>dynamic choices based on the current state of resource allocation. Third, one can attempt to </a:t>
            </a:r>
            <a:r>
              <a:rPr lang="en-US" sz="1200" b="1" kern="1200" baseline="0" dirty="0">
                <a:solidFill>
                  <a:schemeClr val="tx1"/>
                </a:solidFill>
                <a:latin typeface="+mn-lt"/>
                <a:ea typeface="+mn-ea"/>
                <a:cs typeface="+mn-cs"/>
              </a:rPr>
              <a:t>detect </a:t>
            </a:r>
            <a:r>
              <a:rPr lang="en-US" sz="1200" b="0" kern="1200" baseline="0" dirty="0">
                <a:solidFill>
                  <a:schemeClr val="tx1"/>
                </a:solidFill>
                <a:latin typeface="+mn-lt"/>
                <a:ea typeface="+mn-ea"/>
                <a:cs typeface="+mn-cs"/>
              </a:rPr>
              <a:t>the presence of deadlock (conditions 1 through 4 hold) and </a:t>
            </a:r>
            <a:r>
              <a:rPr lang="en-US" sz="1200" kern="1200" baseline="0" dirty="0">
                <a:solidFill>
                  <a:schemeClr val="tx1"/>
                </a:solidFill>
                <a:latin typeface="+mn-lt"/>
                <a:ea typeface="+mn-ea"/>
                <a:cs typeface="+mn-cs"/>
              </a:rPr>
              <a:t>take action to recover.</a:t>
            </a:r>
            <a:endParaRPr lang="en-NZ" sz="1200" kern="1200" baseline="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11</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strategy of deadlock prevention is, simply put, to design a system in such a way that the possibility of deadlock is excluded. We can view deadlock prevention methods as falling into two classes. An indirect method of deadlock prevention is to prevent the occurrence of one of the three necessary conditions listed previously (items 1 through 3). A direct method of deadlock prevention is to prevent the occurrence of a circular wait (item 4).</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12</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baseline="0" dirty="0">
                <a:solidFill>
                  <a:schemeClr val="tx1"/>
                </a:solidFill>
                <a:latin typeface="+mn-lt"/>
                <a:ea typeface="+mn-ea"/>
                <a:cs typeface="+mn-cs"/>
              </a:rPr>
              <a:t>Mutual Exclusion</a:t>
            </a:r>
          </a:p>
          <a:p>
            <a:r>
              <a:rPr lang="en-US" sz="1200" kern="1200" baseline="0" dirty="0">
                <a:solidFill>
                  <a:schemeClr val="tx1"/>
                </a:solidFill>
                <a:latin typeface="+mn-lt"/>
                <a:ea typeface="+mn-ea"/>
                <a:cs typeface="+mn-cs"/>
              </a:rPr>
              <a:t>In general, the first of the four listed conditions cannot be disallowed. If access to a resource requires mutual exclusion, then mutual exclusion must be supported by the OS. Some resources, such as files, may allow multiple accesses for reads but only exclusive access for writes. Even in this case, deadlock can occur if more than one process requires write permission.</a:t>
            </a:r>
          </a:p>
          <a:p>
            <a:endParaRPr lang="en-US" sz="1200" b="1" kern="1200" baseline="0" dirty="0">
              <a:solidFill>
                <a:schemeClr val="tx1"/>
              </a:solidFill>
              <a:latin typeface="+mn-lt"/>
              <a:ea typeface="+mn-ea"/>
              <a:cs typeface="+mn-cs"/>
            </a:endParaRPr>
          </a:p>
          <a:p>
            <a:r>
              <a:rPr lang="en-US" sz="1200" b="1" kern="1200" baseline="0" dirty="0">
                <a:solidFill>
                  <a:schemeClr val="tx1"/>
                </a:solidFill>
                <a:latin typeface="+mn-lt"/>
                <a:ea typeface="+mn-ea"/>
                <a:cs typeface="+mn-cs"/>
              </a:rPr>
              <a:t>Hold and Wait</a:t>
            </a:r>
          </a:p>
          <a:p>
            <a:r>
              <a:rPr lang="en-US" sz="1200" kern="1200" baseline="0" dirty="0">
                <a:solidFill>
                  <a:schemeClr val="tx1"/>
                </a:solidFill>
                <a:latin typeface="+mn-lt"/>
                <a:ea typeface="+mn-ea"/>
                <a:cs typeface="+mn-cs"/>
              </a:rPr>
              <a:t>The hold-and-wait condition can be prevented by requiring that a process request all of its required resources at one time and blocking the process until all requests can be granted simultaneously. This approach is inefficient in two ways. First, a process may be held up for a long time waiting for all of its resource requests to be filled, when in fact it could have proceeded with only some of the resources. Second, resources allocated to a process may remain unused for a considerable period, during which time they are denied to other processes. Another problem is that a process may not know in advance all of the resources that it will require.</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There is also the practical problem created by the use of modular programming or a multithreaded structure for an application. An application would need to be aware of all resources that will be requested at all levels or in all modules to make the simultaneous request.</a:t>
            </a:r>
            <a:endParaRPr lang="en-US" b="0"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13</a:t>
            </a:fld>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sz="1200" b="1" kern="1200" baseline="0" dirty="0">
                <a:solidFill>
                  <a:schemeClr val="tx1"/>
                </a:solidFill>
                <a:latin typeface="+mn-lt"/>
                <a:ea typeface="+mn-ea"/>
                <a:cs typeface="+mn-cs"/>
              </a:rPr>
              <a:t>No Preemption</a:t>
            </a:r>
          </a:p>
          <a:p>
            <a:r>
              <a:rPr lang="en-US" sz="1200" kern="1200" baseline="0" dirty="0">
                <a:solidFill>
                  <a:schemeClr val="tx1"/>
                </a:solidFill>
                <a:latin typeface="+mn-lt"/>
                <a:ea typeface="+mn-ea"/>
                <a:cs typeface="+mn-cs"/>
              </a:rPr>
              <a:t>This condition can be prevented in several ways. First, if a process holding certain resources is denied a further request, that process must release its original resources and, if necessary, request them again together with the additional resource. Alternatively, if a process requests a resource that is currently held by another process, the OS may preempt the second process and require it to release its resources. This latter scheme would prevent deadlock only if no two processes possessed the same priority.</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This approach is practical only when applied to resources whose state can be easily saved and restored later, as is the case with a processor.</a:t>
            </a:r>
          </a:p>
          <a:p>
            <a:endParaRPr lang="en-US" sz="1200" b="1" kern="1200" baseline="0" dirty="0">
              <a:solidFill>
                <a:schemeClr val="tx1"/>
              </a:solidFill>
              <a:latin typeface="+mn-lt"/>
              <a:ea typeface="+mn-ea"/>
              <a:cs typeface="+mn-cs"/>
            </a:endParaRPr>
          </a:p>
          <a:p>
            <a:r>
              <a:rPr lang="en-US" sz="1200" b="1" kern="1200" baseline="0" dirty="0">
                <a:solidFill>
                  <a:schemeClr val="tx1"/>
                </a:solidFill>
                <a:latin typeface="+mn-lt"/>
                <a:ea typeface="+mn-ea"/>
                <a:cs typeface="+mn-cs"/>
              </a:rPr>
              <a:t>Circular Wait</a:t>
            </a:r>
          </a:p>
          <a:p>
            <a:r>
              <a:rPr lang="en-US" sz="1200" kern="1200" baseline="0" dirty="0">
                <a:solidFill>
                  <a:schemeClr val="tx1"/>
                </a:solidFill>
                <a:latin typeface="+mn-lt"/>
                <a:ea typeface="+mn-ea"/>
                <a:cs typeface="+mn-cs"/>
              </a:rPr>
              <a:t>The circular-wait condition can be prevented by defining a linear ordering of resource types. If a process has been allocated resources of type </a:t>
            </a:r>
            <a:r>
              <a:rPr lang="en-US" sz="1200" i="1" kern="1200" baseline="0" dirty="0">
                <a:solidFill>
                  <a:schemeClr val="tx1"/>
                </a:solidFill>
                <a:latin typeface="+mn-lt"/>
                <a:ea typeface="+mn-ea"/>
                <a:cs typeface="+mn-cs"/>
              </a:rPr>
              <a:t>R , then it may </a:t>
            </a:r>
            <a:r>
              <a:rPr lang="en-US" sz="1200" kern="1200" baseline="0" dirty="0">
                <a:solidFill>
                  <a:schemeClr val="tx1"/>
                </a:solidFill>
                <a:latin typeface="+mn-lt"/>
                <a:ea typeface="+mn-ea"/>
                <a:cs typeface="+mn-cs"/>
              </a:rPr>
              <a:t>subsequently request only those resources of types following </a:t>
            </a:r>
            <a:r>
              <a:rPr lang="en-US" sz="1200" i="1" kern="1200" baseline="0" dirty="0">
                <a:solidFill>
                  <a:schemeClr val="tx1"/>
                </a:solidFill>
                <a:latin typeface="+mn-lt"/>
                <a:ea typeface="+mn-ea"/>
                <a:cs typeface="+mn-cs"/>
              </a:rPr>
              <a:t>R in the ordering. </a:t>
            </a:r>
            <a:r>
              <a:rPr lang="en-US" sz="1200" kern="1200" baseline="0" dirty="0">
                <a:solidFill>
                  <a:schemeClr val="tx1"/>
                </a:solidFill>
                <a:latin typeface="+mn-lt"/>
                <a:ea typeface="+mn-ea"/>
                <a:cs typeface="+mn-cs"/>
              </a:rPr>
              <a:t>To see that this strategy works, let us associate an index with each resource type. Then resource </a:t>
            </a:r>
            <a:r>
              <a:rPr lang="en-US" sz="1200" i="1" kern="1200" baseline="0" dirty="0">
                <a:solidFill>
                  <a:schemeClr val="tx1"/>
                </a:solidFill>
                <a:latin typeface="+mn-lt"/>
                <a:ea typeface="+mn-ea"/>
                <a:cs typeface="+mn-cs"/>
              </a:rPr>
              <a:t>R </a:t>
            </a:r>
            <a:r>
              <a:rPr lang="en-US" sz="1200" i="1" kern="1200" baseline="0" dirty="0" err="1">
                <a:solidFill>
                  <a:schemeClr val="tx1"/>
                </a:solidFill>
                <a:latin typeface="+mn-lt"/>
                <a:ea typeface="+mn-ea"/>
                <a:cs typeface="+mn-cs"/>
              </a:rPr>
              <a:t>i</a:t>
            </a:r>
            <a:r>
              <a:rPr lang="en-US" sz="1200" i="1" kern="1200" baseline="0" dirty="0">
                <a:solidFill>
                  <a:schemeClr val="tx1"/>
                </a:solidFill>
                <a:latin typeface="+mn-lt"/>
                <a:ea typeface="+mn-ea"/>
                <a:cs typeface="+mn-cs"/>
              </a:rPr>
              <a:t> precedes R </a:t>
            </a:r>
            <a:r>
              <a:rPr lang="en-US" sz="1200" i="1" kern="1200" baseline="0" dirty="0" err="1">
                <a:solidFill>
                  <a:schemeClr val="tx1"/>
                </a:solidFill>
                <a:latin typeface="+mn-lt"/>
                <a:ea typeface="+mn-ea"/>
                <a:cs typeface="+mn-cs"/>
              </a:rPr>
              <a:t>j</a:t>
            </a:r>
            <a:r>
              <a:rPr lang="en-US" sz="1200" i="1" kern="1200" baseline="0" dirty="0">
                <a:solidFill>
                  <a:schemeClr val="tx1"/>
                </a:solidFill>
                <a:latin typeface="+mn-lt"/>
                <a:ea typeface="+mn-ea"/>
                <a:cs typeface="+mn-cs"/>
              </a:rPr>
              <a:t> in the ordering if </a:t>
            </a:r>
            <a:r>
              <a:rPr lang="en-US" sz="1200" i="1" kern="1200" baseline="0" dirty="0" err="1">
                <a:solidFill>
                  <a:schemeClr val="tx1"/>
                </a:solidFill>
                <a:latin typeface="+mn-lt"/>
                <a:ea typeface="+mn-ea"/>
                <a:cs typeface="+mn-cs"/>
              </a:rPr>
              <a:t>i</a:t>
            </a:r>
            <a:r>
              <a:rPr lang="en-US" sz="1200" i="1" kern="1200" baseline="0" dirty="0">
                <a:solidFill>
                  <a:schemeClr val="tx1"/>
                </a:solidFill>
                <a:latin typeface="+mn-lt"/>
                <a:ea typeface="+mn-ea"/>
                <a:cs typeface="+mn-cs"/>
              </a:rPr>
              <a:t> &lt; </a:t>
            </a:r>
            <a:r>
              <a:rPr lang="en-US" sz="1200" i="1" kern="1200" baseline="0" dirty="0" err="1">
                <a:solidFill>
                  <a:schemeClr val="tx1"/>
                </a:solidFill>
                <a:latin typeface="+mn-lt"/>
                <a:ea typeface="+mn-ea"/>
                <a:cs typeface="+mn-cs"/>
              </a:rPr>
              <a:t>j</a:t>
            </a:r>
            <a:r>
              <a:rPr lang="en-US" sz="1200" i="1" kern="1200" baseline="0" dirty="0">
                <a:solidFill>
                  <a:schemeClr val="tx1"/>
                </a:solidFill>
                <a:latin typeface="+mn-lt"/>
                <a:ea typeface="+mn-ea"/>
                <a:cs typeface="+mn-cs"/>
              </a:rPr>
              <a:t> . Now suppose that two </a:t>
            </a:r>
            <a:r>
              <a:rPr lang="en-US" sz="1200" kern="1200" baseline="0" dirty="0">
                <a:solidFill>
                  <a:schemeClr val="tx1"/>
                </a:solidFill>
                <a:latin typeface="+mn-lt"/>
                <a:ea typeface="+mn-ea"/>
                <a:cs typeface="+mn-cs"/>
              </a:rPr>
              <a:t>processes, A and B, are deadlocked because A has acquired </a:t>
            </a:r>
            <a:r>
              <a:rPr lang="en-US" sz="1200" i="1" kern="1200" baseline="0" dirty="0">
                <a:solidFill>
                  <a:schemeClr val="tx1"/>
                </a:solidFill>
                <a:latin typeface="+mn-lt"/>
                <a:ea typeface="+mn-ea"/>
                <a:cs typeface="+mn-cs"/>
              </a:rPr>
              <a:t>R </a:t>
            </a:r>
            <a:r>
              <a:rPr lang="en-US" sz="1200" i="1" kern="1200" baseline="0" dirty="0" err="1">
                <a:solidFill>
                  <a:schemeClr val="tx1"/>
                </a:solidFill>
                <a:latin typeface="+mn-lt"/>
                <a:ea typeface="+mn-ea"/>
                <a:cs typeface="+mn-cs"/>
              </a:rPr>
              <a:t>i</a:t>
            </a:r>
            <a:r>
              <a:rPr lang="en-US" sz="1200" i="1" kern="1200" baseline="0" dirty="0">
                <a:solidFill>
                  <a:schemeClr val="tx1"/>
                </a:solidFill>
                <a:latin typeface="+mn-lt"/>
                <a:ea typeface="+mn-ea"/>
                <a:cs typeface="+mn-cs"/>
              </a:rPr>
              <a:t> and requested R </a:t>
            </a:r>
            <a:r>
              <a:rPr lang="en-US" sz="1200" i="1" kern="1200" baseline="0" dirty="0" err="1">
                <a:solidFill>
                  <a:schemeClr val="tx1"/>
                </a:solidFill>
                <a:latin typeface="+mn-lt"/>
                <a:ea typeface="+mn-ea"/>
                <a:cs typeface="+mn-cs"/>
              </a:rPr>
              <a:t>j</a:t>
            </a:r>
            <a:r>
              <a:rPr lang="en-US" sz="1200" i="1" kern="1200" baseline="0" dirty="0">
                <a:solidFill>
                  <a:schemeClr val="tx1"/>
                </a:solidFill>
                <a:latin typeface="+mn-lt"/>
                <a:ea typeface="+mn-ea"/>
                <a:cs typeface="+mn-cs"/>
              </a:rPr>
              <a:t> , </a:t>
            </a:r>
            <a:r>
              <a:rPr lang="en-US" sz="1200" kern="1200" baseline="0" dirty="0">
                <a:solidFill>
                  <a:schemeClr val="tx1"/>
                </a:solidFill>
                <a:latin typeface="+mn-lt"/>
                <a:ea typeface="+mn-ea"/>
                <a:cs typeface="+mn-cs"/>
              </a:rPr>
              <a:t>and B has acquired </a:t>
            </a:r>
            <a:r>
              <a:rPr lang="en-US" sz="1200" i="1" kern="1200" baseline="0" dirty="0">
                <a:solidFill>
                  <a:schemeClr val="tx1"/>
                </a:solidFill>
                <a:latin typeface="+mn-lt"/>
                <a:ea typeface="+mn-ea"/>
                <a:cs typeface="+mn-cs"/>
              </a:rPr>
              <a:t>R </a:t>
            </a:r>
            <a:r>
              <a:rPr lang="en-US" sz="1200" i="1" kern="1200" baseline="0" dirty="0" err="1">
                <a:solidFill>
                  <a:schemeClr val="tx1"/>
                </a:solidFill>
                <a:latin typeface="+mn-lt"/>
                <a:ea typeface="+mn-ea"/>
                <a:cs typeface="+mn-cs"/>
              </a:rPr>
              <a:t>j</a:t>
            </a:r>
            <a:r>
              <a:rPr lang="en-US" sz="1200" i="1" kern="1200" baseline="0" dirty="0">
                <a:solidFill>
                  <a:schemeClr val="tx1"/>
                </a:solidFill>
                <a:latin typeface="+mn-lt"/>
                <a:ea typeface="+mn-ea"/>
                <a:cs typeface="+mn-cs"/>
              </a:rPr>
              <a:t> and requested R </a:t>
            </a:r>
            <a:r>
              <a:rPr lang="en-US" sz="1200" i="1" kern="1200" baseline="0" dirty="0" err="1">
                <a:solidFill>
                  <a:schemeClr val="tx1"/>
                </a:solidFill>
                <a:latin typeface="+mn-lt"/>
                <a:ea typeface="+mn-ea"/>
                <a:cs typeface="+mn-cs"/>
              </a:rPr>
              <a:t>i</a:t>
            </a:r>
            <a:r>
              <a:rPr lang="en-US" sz="1200" i="1" kern="1200" baseline="0" dirty="0">
                <a:solidFill>
                  <a:schemeClr val="tx1"/>
                </a:solidFill>
                <a:latin typeface="+mn-lt"/>
                <a:ea typeface="+mn-ea"/>
                <a:cs typeface="+mn-cs"/>
              </a:rPr>
              <a:t> . This condition is impossible because it </a:t>
            </a:r>
            <a:r>
              <a:rPr lang="en-US" sz="1200" kern="1200" baseline="0" dirty="0">
                <a:solidFill>
                  <a:schemeClr val="tx1"/>
                </a:solidFill>
                <a:latin typeface="+mn-lt"/>
                <a:ea typeface="+mn-ea"/>
                <a:cs typeface="+mn-cs"/>
              </a:rPr>
              <a:t>implies </a:t>
            </a:r>
            <a:r>
              <a:rPr lang="en-US" sz="1200" i="1" kern="1200" baseline="0" dirty="0" err="1">
                <a:solidFill>
                  <a:schemeClr val="tx1"/>
                </a:solidFill>
                <a:latin typeface="+mn-lt"/>
                <a:ea typeface="+mn-ea"/>
                <a:cs typeface="+mn-cs"/>
              </a:rPr>
              <a:t>i</a:t>
            </a:r>
            <a:r>
              <a:rPr lang="en-US" sz="1200" i="1" kern="1200" baseline="0" dirty="0">
                <a:solidFill>
                  <a:schemeClr val="tx1"/>
                </a:solidFill>
                <a:latin typeface="+mn-lt"/>
                <a:ea typeface="+mn-ea"/>
                <a:cs typeface="+mn-cs"/>
              </a:rPr>
              <a:t> &lt; </a:t>
            </a:r>
            <a:r>
              <a:rPr lang="en-US" sz="1200" i="1" kern="1200" baseline="0" dirty="0" err="1">
                <a:solidFill>
                  <a:schemeClr val="tx1"/>
                </a:solidFill>
                <a:latin typeface="+mn-lt"/>
                <a:ea typeface="+mn-ea"/>
                <a:cs typeface="+mn-cs"/>
              </a:rPr>
              <a:t>j</a:t>
            </a:r>
            <a:r>
              <a:rPr lang="en-US" sz="1200" i="1" kern="1200" baseline="0" dirty="0">
                <a:solidFill>
                  <a:schemeClr val="tx1"/>
                </a:solidFill>
                <a:latin typeface="+mn-lt"/>
                <a:ea typeface="+mn-ea"/>
                <a:cs typeface="+mn-cs"/>
              </a:rPr>
              <a:t> and </a:t>
            </a:r>
            <a:r>
              <a:rPr lang="en-US" sz="1200" i="1" kern="1200" baseline="0" dirty="0" err="1">
                <a:solidFill>
                  <a:schemeClr val="tx1"/>
                </a:solidFill>
                <a:latin typeface="+mn-lt"/>
                <a:ea typeface="+mn-ea"/>
                <a:cs typeface="+mn-cs"/>
              </a:rPr>
              <a:t>j</a:t>
            </a:r>
            <a:r>
              <a:rPr lang="en-US" sz="1200" i="1" kern="1200" baseline="0" dirty="0">
                <a:solidFill>
                  <a:schemeClr val="tx1"/>
                </a:solidFill>
                <a:latin typeface="+mn-lt"/>
                <a:ea typeface="+mn-ea"/>
                <a:cs typeface="+mn-cs"/>
              </a:rPr>
              <a:t> &lt; </a:t>
            </a:r>
            <a:r>
              <a:rPr lang="en-US" sz="1200" i="1" kern="1200" baseline="0" dirty="0" err="1">
                <a:solidFill>
                  <a:schemeClr val="tx1"/>
                </a:solidFill>
                <a:latin typeface="+mn-lt"/>
                <a:ea typeface="+mn-ea"/>
                <a:cs typeface="+mn-cs"/>
              </a:rPr>
              <a:t>i</a:t>
            </a:r>
            <a:r>
              <a:rPr lang="en-US" sz="1200" i="1" kern="1200" baseline="0" dirty="0">
                <a:solidFill>
                  <a:schemeClr val="tx1"/>
                </a:solidFill>
                <a:latin typeface="+mn-lt"/>
                <a:ea typeface="+mn-ea"/>
                <a:cs typeface="+mn-cs"/>
              </a:rPr>
              <a:t> .</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As with hold-and-wait prevention, circular-wait prevention may be inefficient, slowing down processes and denying resource access unnecessarily.</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14</a:t>
            </a:fld>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An approach to solving the deadlock problem that differs subtly from deadlock prevention is deadlock avoidance. 2 In </a:t>
            </a:r>
            <a:r>
              <a:rPr lang="en-US" sz="1200" b="1" kern="1200" baseline="0" dirty="0">
                <a:solidFill>
                  <a:schemeClr val="tx1"/>
                </a:solidFill>
                <a:latin typeface="+mn-lt"/>
                <a:ea typeface="+mn-ea"/>
                <a:cs typeface="+mn-cs"/>
              </a:rPr>
              <a:t>deadlock prevention , </a:t>
            </a:r>
            <a:r>
              <a:rPr lang="en-US" sz="1200" b="0" kern="1200" baseline="0" dirty="0">
                <a:solidFill>
                  <a:schemeClr val="tx1"/>
                </a:solidFill>
                <a:latin typeface="+mn-lt"/>
                <a:ea typeface="+mn-ea"/>
                <a:cs typeface="+mn-cs"/>
              </a:rPr>
              <a:t>we constrain resource </a:t>
            </a:r>
            <a:r>
              <a:rPr lang="en-US" sz="1200" kern="1200" baseline="0" dirty="0">
                <a:solidFill>
                  <a:schemeClr val="tx1"/>
                </a:solidFill>
                <a:latin typeface="+mn-lt"/>
                <a:ea typeface="+mn-ea"/>
                <a:cs typeface="+mn-cs"/>
              </a:rPr>
              <a:t>requests to prevent at least one of the four conditions of deadlock. This is either done indirectly, by preventing one of the three necessary policy conditions (mutual exclusion, hold and wait, no preemption), or directly, by preventing circular wait. This leads to inefficient use of resources and inefficient execution of processes. </a:t>
            </a:r>
            <a:r>
              <a:rPr lang="en-US" sz="1200" b="1" kern="1200" baseline="0" dirty="0">
                <a:solidFill>
                  <a:schemeClr val="tx1"/>
                </a:solidFill>
                <a:latin typeface="+mn-lt"/>
                <a:ea typeface="+mn-ea"/>
                <a:cs typeface="+mn-cs"/>
              </a:rPr>
              <a:t>Deadlock avoidance , </a:t>
            </a:r>
            <a:r>
              <a:rPr lang="en-US" sz="1200" b="0" kern="1200" baseline="0" dirty="0">
                <a:solidFill>
                  <a:schemeClr val="tx1"/>
                </a:solidFill>
                <a:latin typeface="+mn-lt"/>
                <a:ea typeface="+mn-ea"/>
                <a:cs typeface="+mn-cs"/>
              </a:rPr>
              <a:t>on the other hand, allows the three necessary</a:t>
            </a:r>
            <a:r>
              <a:rPr lang="en-US" sz="1200" b="1" kern="1200" baseline="0" dirty="0">
                <a:solidFill>
                  <a:schemeClr val="tx1"/>
                </a:solidFill>
                <a:latin typeface="+mn-lt"/>
                <a:ea typeface="+mn-ea"/>
                <a:cs typeface="+mn-cs"/>
              </a:rPr>
              <a:t> </a:t>
            </a:r>
            <a:r>
              <a:rPr lang="en-US" sz="1200" b="0" kern="1200" baseline="0" dirty="0">
                <a:solidFill>
                  <a:schemeClr val="tx1"/>
                </a:solidFill>
                <a:latin typeface="+mn-lt"/>
                <a:ea typeface="+mn-ea"/>
                <a:cs typeface="+mn-cs"/>
              </a:rPr>
              <a:t>conditions but </a:t>
            </a:r>
            <a:r>
              <a:rPr lang="en-US" sz="1200" kern="1200" baseline="0" dirty="0">
                <a:solidFill>
                  <a:schemeClr val="tx1"/>
                </a:solidFill>
                <a:latin typeface="+mn-lt"/>
                <a:ea typeface="+mn-ea"/>
                <a:cs typeface="+mn-cs"/>
              </a:rPr>
              <a:t>makes judicious choices to assure that the deadlock point is never reached. As such, avoidance allows more concurrency than prevention. With deadlock avoidance, a decision is made dynamically whether the current resource allocation request will, if granted, potentially lead to a deadlock. Deadlock avoidance thus requires knowledge</a:t>
            </a:r>
          </a:p>
          <a:p>
            <a:r>
              <a:rPr lang="en-US" sz="1200" kern="1200" baseline="0" dirty="0">
                <a:solidFill>
                  <a:schemeClr val="tx1"/>
                </a:solidFill>
                <a:latin typeface="+mn-lt"/>
                <a:ea typeface="+mn-ea"/>
                <a:cs typeface="+mn-cs"/>
              </a:rPr>
              <a:t>of future process resource requests. </a:t>
            </a:r>
          </a:p>
          <a:p>
            <a:endParaRPr lang="en-US" sz="1200" kern="1200" baseline="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15</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In this section, we describe two approaches to deadlock avoidance:</a:t>
            </a:r>
          </a:p>
          <a:p>
            <a:r>
              <a:rPr lang="en-US" sz="1200" kern="1200" baseline="0" dirty="0">
                <a:solidFill>
                  <a:schemeClr val="tx1"/>
                </a:solidFill>
                <a:latin typeface="+mn-lt"/>
                <a:ea typeface="+mn-ea"/>
                <a:cs typeface="+mn-cs"/>
              </a:rPr>
              <a:t>• Do not start a process if its demands might lead to deadlock.</a:t>
            </a:r>
          </a:p>
          <a:p>
            <a:r>
              <a:rPr lang="en-US" sz="1200" kern="1200" baseline="0" dirty="0">
                <a:solidFill>
                  <a:schemeClr val="tx1"/>
                </a:solidFill>
                <a:latin typeface="+mn-lt"/>
                <a:ea typeface="+mn-ea"/>
                <a:cs typeface="+mn-cs"/>
              </a:rPr>
              <a:t>• Do not grant an incremental resource request to a process if this allocation might lead to deadlock.</a:t>
            </a:r>
            <a:endParaRPr lang="en-US" dirty="0"/>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16</a:t>
            </a:fld>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strategy of resource allocation denial, referred to as the </a:t>
            </a:r>
            <a:r>
              <a:rPr lang="en-US" sz="1200" b="1" kern="1200" baseline="0" dirty="0">
                <a:solidFill>
                  <a:schemeClr val="tx1"/>
                </a:solidFill>
                <a:latin typeface="+mn-lt"/>
                <a:ea typeface="+mn-ea"/>
                <a:cs typeface="+mn-cs"/>
              </a:rPr>
              <a:t>banker’s algorithm ,  </a:t>
            </a:r>
            <a:r>
              <a:rPr lang="en-US" sz="1200" kern="1200" baseline="0" dirty="0">
                <a:solidFill>
                  <a:schemeClr val="tx1"/>
                </a:solidFill>
                <a:latin typeface="+mn-lt"/>
                <a:ea typeface="+mn-ea"/>
                <a:cs typeface="+mn-cs"/>
              </a:rPr>
              <a:t>was first proposed in [DIJK65]. Let us begin by defining the concepts of state and safe state. Consider a system with a fixed number of processes and a fixed number of resources. At any time a process may have zero or more resources allocated to it. The </a:t>
            </a:r>
            <a:r>
              <a:rPr lang="en-US" sz="1200" b="1" kern="1200" baseline="0" dirty="0">
                <a:solidFill>
                  <a:schemeClr val="tx1"/>
                </a:solidFill>
                <a:latin typeface="+mn-lt"/>
                <a:ea typeface="+mn-ea"/>
                <a:cs typeface="+mn-cs"/>
              </a:rPr>
              <a:t>state </a:t>
            </a:r>
            <a:r>
              <a:rPr lang="en-US" sz="1200" b="0" kern="1200" baseline="0" dirty="0">
                <a:solidFill>
                  <a:schemeClr val="tx1"/>
                </a:solidFill>
                <a:latin typeface="+mn-lt"/>
                <a:ea typeface="+mn-ea"/>
                <a:cs typeface="+mn-cs"/>
              </a:rPr>
              <a:t>of the system reflects the current allocation of resources to processes. Thus, </a:t>
            </a:r>
            <a:r>
              <a:rPr lang="en-US" sz="1200" kern="1200" baseline="0" dirty="0">
                <a:solidFill>
                  <a:schemeClr val="tx1"/>
                </a:solidFill>
                <a:latin typeface="+mn-lt"/>
                <a:ea typeface="+mn-ea"/>
                <a:cs typeface="+mn-cs"/>
              </a:rPr>
              <a:t>the state consists of the two vectors, Resource and Available, and the two matrices, Claim and Allocation, defined earlier. A </a:t>
            </a:r>
            <a:r>
              <a:rPr lang="en-US" sz="1200" b="1" kern="1200" baseline="0" dirty="0">
                <a:solidFill>
                  <a:schemeClr val="tx1"/>
                </a:solidFill>
                <a:latin typeface="+mn-lt"/>
                <a:ea typeface="+mn-ea"/>
                <a:cs typeface="+mn-cs"/>
              </a:rPr>
              <a:t>safe state </a:t>
            </a:r>
            <a:r>
              <a:rPr lang="en-US" sz="1200" b="0" kern="1200" baseline="0" dirty="0">
                <a:solidFill>
                  <a:schemeClr val="tx1"/>
                </a:solidFill>
                <a:latin typeface="+mn-lt"/>
                <a:ea typeface="+mn-ea"/>
                <a:cs typeface="+mn-cs"/>
              </a:rPr>
              <a:t>is one in which there is at least </a:t>
            </a:r>
            <a:r>
              <a:rPr lang="en-US" sz="1200" kern="1200" baseline="0" dirty="0">
                <a:solidFill>
                  <a:schemeClr val="tx1"/>
                </a:solidFill>
                <a:latin typeface="+mn-lt"/>
                <a:ea typeface="+mn-ea"/>
                <a:cs typeface="+mn-cs"/>
              </a:rPr>
              <a:t>one sequence of resource allocations to processes that does not result in a deadlock (i.e., all of the processes can be run to completion). An </a:t>
            </a:r>
            <a:r>
              <a:rPr lang="en-US" sz="1200" b="1" kern="1200" baseline="0" dirty="0">
                <a:solidFill>
                  <a:schemeClr val="tx1"/>
                </a:solidFill>
                <a:latin typeface="+mn-lt"/>
                <a:ea typeface="+mn-ea"/>
                <a:cs typeface="+mn-cs"/>
              </a:rPr>
              <a:t>unsafe state </a:t>
            </a:r>
            <a:r>
              <a:rPr lang="en-US" sz="1200" b="0" kern="1200" baseline="0" dirty="0">
                <a:solidFill>
                  <a:schemeClr val="tx1"/>
                </a:solidFill>
                <a:latin typeface="+mn-lt"/>
                <a:ea typeface="+mn-ea"/>
                <a:cs typeface="+mn-cs"/>
              </a:rPr>
              <a:t>is, of course, a </a:t>
            </a:r>
            <a:r>
              <a:rPr lang="en-US" sz="1200" kern="1200" baseline="0" dirty="0">
                <a:solidFill>
                  <a:schemeClr val="tx1"/>
                </a:solidFill>
                <a:latin typeface="+mn-lt"/>
                <a:ea typeface="+mn-ea"/>
                <a:cs typeface="+mn-cs"/>
              </a:rPr>
              <a:t>state that is not safe.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17</a:t>
            </a:fld>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NZ" sz="1200" kern="1200" baseline="0" dirty="0">
                <a:solidFill>
                  <a:schemeClr val="tx1"/>
                </a:solidFill>
                <a:latin typeface="+mn-lt"/>
                <a:ea typeface="+mn-ea"/>
                <a:cs typeface="+mn-cs"/>
              </a:rPr>
              <a:t>Deadlock avoidance has the advantage that it is not necessary to preempt and</a:t>
            </a:r>
          </a:p>
          <a:p>
            <a:r>
              <a:rPr lang="en-NZ" sz="1200" kern="1200" baseline="0" dirty="0">
                <a:solidFill>
                  <a:schemeClr val="tx1"/>
                </a:solidFill>
                <a:latin typeface="+mn-lt"/>
                <a:ea typeface="+mn-ea"/>
                <a:cs typeface="+mn-cs"/>
              </a:rPr>
              <a:t>rollback processes, as in deadlock detection, and is less restrictive than deadlock</a:t>
            </a:r>
          </a:p>
          <a:p>
            <a:r>
              <a:rPr lang="en-NZ" sz="1200" kern="1200" baseline="0" dirty="0">
                <a:solidFill>
                  <a:schemeClr val="tx1"/>
                </a:solidFill>
                <a:latin typeface="+mn-lt"/>
                <a:ea typeface="+mn-ea"/>
                <a:cs typeface="+mn-cs"/>
              </a:rPr>
              <a:t>prevention. </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18</a:t>
            </a:fld>
            <a:endParaRPr 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NZ" sz="1200" kern="1200" baseline="0" dirty="0">
                <a:solidFill>
                  <a:schemeClr val="tx1"/>
                </a:solidFill>
                <a:latin typeface="+mn-lt"/>
                <a:ea typeface="+mn-ea"/>
                <a:cs typeface="+mn-cs"/>
              </a:rPr>
              <a:t>Deadlock avoidance has the advantage that it is not necessary to preempt and</a:t>
            </a:r>
          </a:p>
          <a:p>
            <a:r>
              <a:rPr lang="en-NZ" sz="1200" kern="1200" baseline="0" dirty="0">
                <a:solidFill>
                  <a:schemeClr val="tx1"/>
                </a:solidFill>
                <a:latin typeface="+mn-lt"/>
                <a:ea typeface="+mn-ea"/>
                <a:cs typeface="+mn-cs"/>
              </a:rPr>
              <a:t>rollback processes, as in deadlock detection, and is less restrictive than deadlock</a:t>
            </a:r>
          </a:p>
          <a:p>
            <a:r>
              <a:rPr lang="en-NZ" sz="1200" kern="1200" baseline="0" dirty="0">
                <a:solidFill>
                  <a:schemeClr val="tx1"/>
                </a:solidFill>
                <a:latin typeface="+mn-lt"/>
                <a:ea typeface="+mn-ea"/>
                <a:cs typeface="+mn-cs"/>
              </a:rPr>
              <a:t>prevention. </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19</a:t>
            </a:fld>
            <a:endParaRPr 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NZ" sz="1200" kern="1200" baseline="0" dirty="0">
                <a:solidFill>
                  <a:schemeClr val="tx1"/>
                </a:solidFill>
                <a:latin typeface="+mn-lt"/>
                <a:ea typeface="+mn-ea"/>
                <a:cs typeface="+mn-cs"/>
              </a:rPr>
              <a:t>However, it does have a number of restrictions on its use:</a:t>
            </a:r>
          </a:p>
          <a:p>
            <a:r>
              <a:rPr lang="en-NZ" sz="1200" kern="1200" baseline="0" dirty="0">
                <a:solidFill>
                  <a:schemeClr val="tx1"/>
                </a:solidFill>
                <a:latin typeface="+mn-lt"/>
                <a:ea typeface="+mn-ea"/>
                <a:cs typeface="+mn-cs"/>
              </a:rPr>
              <a:t>• The maximum resource requirement for each process must be stated in advance.</a:t>
            </a:r>
          </a:p>
          <a:p>
            <a:r>
              <a:rPr lang="en-NZ" sz="1200" kern="1200" baseline="0" dirty="0">
                <a:solidFill>
                  <a:schemeClr val="tx1"/>
                </a:solidFill>
                <a:latin typeface="+mn-lt"/>
                <a:ea typeface="+mn-ea"/>
                <a:cs typeface="+mn-cs"/>
              </a:rPr>
              <a:t>• The processes under consideration must be independent; </a:t>
            </a:r>
          </a:p>
          <a:p>
            <a:pPr lvl="1"/>
            <a:r>
              <a:rPr lang="en-NZ" sz="1200" kern="1200" baseline="0" dirty="0">
                <a:solidFill>
                  <a:schemeClr val="tx1"/>
                </a:solidFill>
                <a:latin typeface="+mn-lt"/>
                <a:ea typeface="+mn-ea"/>
                <a:cs typeface="+mn-cs"/>
              </a:rPr>
              <a:t>that is, the order in which they execute must be unconstrained by any synchronization requirements.</a:t>
            </a:r>
          </a:p>
          <a:p>
            <a:r>
              <a:rPr lang="en-NZ" sz="1200" kern="1200" baseline="0" dirty="0">
                <a:solidFill>
                  <a:schemeClr val="tx1"/>
                </a:solidFill>
                <a:latin typeface="+mn-lt"/>
                <a:ea typeface="+mn-ea"/>
                <a:cs typeface="+mn-cs"/>
              </a:rPr>
              <a:t>• There must be a fixed number of resources to allocate.</a:t>
            </a:r>
          </a:p>
          <a:p>
            <a:r>
              <a:rPr lang="en-NZ" sz="1200" kern="1200" baseline="0" dirty="0">
                <a:solidFill>
                  <a:schemeClr val="tx1"/>
                </a:solidFill>
                <a:latin typeface="+mn-lt"/>
                <a:ea typeface="+mn-ea"/>
                <a:cs typeface="+mn-cs"/>
              </a:rPr>
              <a:t>• No process may exit while holding resources.</a:t>
            </a:r>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20</a:t>
            </a:fld>
            <a:endParaRPr 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Deadlock prevention strategies are very conservative; they solve the problem of deadlock by limiting access to resources and by imposing restrictions on processes. At the opposite extreme, deadlock detection strategies do not limit resource access or restrict process actions. With deadlock detection, requested resources are granted to processes whenever possible. Periodically, the OS performs an algorithm that allows it to detect the circular wait condition described earlier in condition (4) and illustrated in Figure 6.6 .</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21</a:t>
            </a:fld>
            <a:endParaRPr 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 check for deadlock can be made as frequently as each resource request or, less frequently, depending on how likely it is for a deadlock to occur. Checking at each resource request has two advantages: It leads to early detection, and the algorithm is relatively simple because it is based on incremental changes to the state of the system. On the other hand, such frequent checks consume considerable processor time.</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22</a:t>
            </a:fld>
            <a:endParaRPr 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r>
              <a:rPr lang="en-US" sz="1200" kern="1200" baseline="0" dirty="0">
                <a:solidFill>
                  <a:schemeClr val="tx1"/>
                </a:solidFill>
                <a:latin typeface="+mn-lt"/>
                <a:ea typeface="+mn-ea"/>
                <a:cs typeface="+mn-cs"/>
              </a:rPr>
              <a:t>Once deadlock has been detected, some strategy is needed for recovery. The following are possible approaches, listed in order of increasing sophistication:</a:t>
            </a:r>
          </a:p>
          <a:p>
            <a:r>
              <a:rPr lang="en-US" sz="1200" b="1" kern="1200" baseline="0" dirty="0">
                <a:solidFill>
                  <a:schemeClr val="tx1"/>
                </a:solidFill>
                <a:latin typeface="+mn-lt"/>
                <a:ea typeface="+mn-ea"/>
                <a:cs typeface="+mn-cs"/>
              </a:rPr>
              <a:t>1. Abort all deadlocked processes. </a:t>
            </a:r>
            <a:r>
              <a:rPr lang="en-US" sz="1200" b="0" kern="1200" baseline="0" dirty="0">
                <a:solidFill>
                  <a:schemeClr val="tx1"/>
                </a:solidFill>
                <a:latin typeface="+mn-lt"/>
                <a:ea typeface="+mn-ea"/>
                <a:cs typeface="+mn-cs"/>
              </a:rPr>
              <a:t>This is, believe it or not, one of the most </a:t>
            </a:r>
            <a:r>
              <a:rPr lang="en-US" sz="1200" kern="1200" baseline="0" dirty="0">
                <a:solidFill>
                  <a:schemeClr val="tx1"/>
                </a:solidFill>
                <a:latin typeface="+mn-lt"/>
                <a:ea typeface="+mn-ea"/>
                <a:cs typeface="+mn-cs"/>
              </a:rPr>
              <a:t>common, if not the most common, solution adopted in operating systems.</a:t>
            </a:r>
          </a:p>
          <a:p>
            <a:r>
              <a:rPr lang="en-US" sz="1200" b="1" kern="1200" baseline="0" dirty="0">
                <a:solidFill>
                  <a:schemeClr val="tx1"/>
                </a:solidFill>
                <a:latin typeface="+mn-lt"/>
                <a:ea typeface="+mn-ea"/>
                <a:cs typeface="+mn-cs"/>
              </a:rPr>
              <a:t>2. Back up each deadlocked process to some previously defined checkpoint, and restart all processes</a:t>
            </a:r>
            <a:r>
              <a:rPr lang="en-US" sz="1200" kern="1200" baseline="0" dirty="0">
                <a:solidFill>
                  <a:schemeClr val="tx1"/>
                </a:solidFill>
                <a:latin typeface="+mn-lt"/>
                <a:ea typeface="+mn-ea"/>
                <a:cs typeface="+mn-cs"/>
              </a:rPr>
              <a:t>. This requires that rollback and restart mechanisms be built</a:t>
            </a:r>
          </a:p>
          <a:p>
            <a:r>
              <a:rPr lang="en-US" sz="1200" kern="1200" baseline="0" dirty="0">
                <a:solidFill>
                  <a:schemeClr val="tx1"/>
                </a:solidFill>
                <a:latin typeface="+mn-lt"/>
                <a:ea typeface="+mn-ea"/>
                <a:cs typeface="+mn-cs"/>
              </a:rPr>
              <a:t>in to the system. The risk in this approach is that the original deadlock may recur. However, the </a:t>
            </a:r>
            <a:r>
              <a:rPr lang="en-US" sz="1200" kern="1200" baseline="0" dirty="0" err="1">
                <a:solidFill>
                  <a:schemeClr val="tx1"/>
                </a:solidFill>
                <a:latin typeface="+mn-lt"/>
                <a:ea typeface="+mn-ea"/>
                <a:cs typeface="+mn-cs"/>
              </a:rPr>
              <a:t>nondeterminancy</a:t>
            </a:r>
            <a:r>
              <a:rPr lang="en-US" sz="1200" kern="1200" baseline="0" dirty="0">
                <a:solidFill>
                  <a:schemeClr val="tx1"/>
                </a:solidFill>
                <a:latin typeface="+mn-lt"/>
                <a:ea typeface="+mn-ea"/>
                <a:cs typeface="+mn-cs"/>
              </a:rPr>
              <a:t> of concurrent processing may ensure that this does not happen.</a:t>
            </a:r>
          </a:p>
          <a:p>
            <a:r>
              <a:rPr lang="en-US" sz="1200" b="1" kern="1200" baseline="0" dirty="0">
                <a:solidFill>
                  <a:schemeClr val="tx1"/>
                </a:solidFill>
                <a:latin typeface="+mn-lt"/>
                <a:ea typeface="+mn-ea"/>
                <a:cs typeface="+mn-cs"/>
              </a:rPr>
              <a:t>3. Successively abort deadlocked processes until deadlock no longer exists. </a:t>
            </a:r>
            <a:r>
              <a:rPr lang="en-US" sz="1200" b="0" kern="1200" baseline="0" dirty="0">
                <a:solidFill>
                  <a:schemeClr val="tx1"/>
                </a:solidFill>
                <a:latin typeface="+mn-lt"/>
                <a:ea typeface="+mn-ea"/>
                <a:cs typeface="+mn-cs"/>
              </a:rPr>
              <a:t>The </a:t>
            </a:r>
            <a:r>
              <a:rPr lang="en-US" sz="1200" kern="1200" baseline="0" dirty="0">
                <a:solidFill>
                  <a:schemeClr val="tx1"/>
                </a:solidFill>
                <a:latin typeface="+mn-lt"/>
                <a:ea typeface="+mn-ea"/>
                <a:cs typeface="+mn-cs"/>
              </a:rPr>
              <a:t>order in which processes are selected for abortion should be on the basis of some criterion of minimum cost. After each abortion, the detection algorithm must be </a:t>
            </a:r>
            <a:r>
              <a:rPr lang="en-US" sz="1200" kern="1200" baseline="0" dirty="0" err="1">
                <a:solidFill>
                  <a:schemeClr val="tx1"/>
                </a:solidFill>
                <a:latin typeface="+mn-lt"/>
                <a:ea typeface="+mn-ea"/>
                <a:cs typeface="+mn-cs"/>
              </a:rPr>
              <a:t>reinvoked</a:t>
            </a:r>
            <a:r>
              <a:rPr lang="en-US" sz="1200" kern="1200" baseline="0" dirty="0">
                <a:solidFill>
                  <a:schemeClr val="tx1"/>
                </a:solidFill>
                <a:latin typeface="+mn-lt"/>
                <a:ea typeface="+mn-ea"/>
                <a:cs typeface="+mn-cs"/>
              </a:rPr>
              <a:t> to see whether deadlock still exists.</a:t>
            </a:r>
          </a:p>
          <a:p>
            <a:r>
              <a:rPr lang="en-US" sz="1200" b="1" kern="1200" baseline="0" dirty="0">
                <a:solidFill>
                  <a:schemeClr val="tx1"/>
                </a:solidFill>
                <a:latin typeface="+mn-lt"/>
                <a:ea typeface="+mn-ea"/>
                <a:cs typeface="+mn-cs"/>
              </a:rPr>
              <a:t>4. Successively preempt resources until deadlock no longer exists. </a:t>
            </a:r>
            <a:r>
              <a:rPr lang="en-US" sz="1200" b="0" kern="1200" baseline="0" dirty="0">
                <a:solidFill>
                  <a:schemeClr val="tx1"/>
                </a:solidFill>
                <a:latin typeface="+mn-lt"/>
                <a:ea typeface="+mn-ea"/>
                <a:cs typeface="+mn-cs"/>
              </a:rPr>
              <a:t>As in (3), a </a:t>
            </a:r>
            <a:r>
              <a:rPr lang="en-US" sz="1200" b="0" kern="1200" baseline="0" dirty="0" err="1">
                <a:solidFill>
                  <a:schemeClr val="tx1"/>
                </a:solidFill>
                <a:latin typeface="+mn-lt"/>
                <a:ea typeface="+mn-ea"/>
                <a:cs typeface="+mn-cs"/>
              </a:rPr>
              <a:t>costbased</a:t>
            </a:r>
            <a:r>
              <a:rPr lang="en-US" sz="1200" b="0" kern="1200" baseline="0" dirty="0">
                <a:solidFill>
                  <a:schemeClr val="tx1"/>
                </a:solidFill>
                <a:latin typeface="+mn-lt"/>
                <a:ea typeface="+mn-ea"/>
                <a:cs typeface="+mn-cs"/>
              </a:rPr>
              <a:t> </a:t>
            </a:r>
            <a:r>
              <a:rPr lang="en-US" sz="1200" kern="1200" baseline="0" dirty="0">
                <a:solidFill>
                  <a:schemeClr val="tx1"/>
                </a:solidFill>
                <a:latin typeface="+mn-lt"/>
                <a:ea typeface="+mn-ea"/>
                <a:cs typeface="+mn-cs"/>
              </a:rPr>
              <a:t>selection should be used, and </a:t>
            </a:r>
            <a:r>
              <a:rPr lang="en-US" sz="1200" kern="1200" baseline="0" dirty="0" err="1">
                <a:solidFill>
                  <a:schemeClr val="tx1"/>
                </a:solidFill>
                <a:latin typeface="+mn-lt"/>
                <a:ea typeface="+mn-ea"/>
                <a:cs typeface="+mn-cs"/>
              </a:rPr>
              <a:t>reinvocation</a:t>
            </a:r>
            <a:r>
              <a:rPr lang="en-US" sz="1200" kern="1200" baseline="0" dirty="0">
                <a:solidFill>
                  <a:schemeClr val="tx1"/>
                </a:solidFill>
                <a:latin typeface="+mn-lt"/>
                <a:ea typeface="+mn-ea"/>
                <a:cs typeface="+mn-cs"/>
              </a:rPr>
              <a:t> of the detection algorithm is required after each preemption. A process that has a resource preempted from it must be rolled back to a point prior to its acquisition of that resource.</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For (3) and (4), the selection criteria could be one of the following. Choose the process with the</a:t>
            </a:r>
          </a:p>
          <a:p>
            <a:r>
              <a:rPr lang="en-US" sz="1200" kern="1200" baseline="0" dirty="0">
                <a:solidFill>
                  <a:schemeClr val="tx1"/>
                </a:solidFill>
                <a:latin typeface="+mn-lt"/>
                <a:ea typeface="+mn-ea"/>
                <a:cs typeface="+mn-cs"/>
              </a:rPr>
              <a:t>• least amount of processor time consumed so far</a:t>
            </a:r>
          </a:p>
          <a:p>
            <a:r>
              <a:rPr lang="en-US" sz="1200" kern="1200" baseline="0" dirty="0">
                <a:solidFill>
                  <a:schemeClr val="tx1"/>
                </a:solidFill>
                <a:latin typeface="+mn-lt"/>
                <a:ea typeface="+mn-ea"/>
                <a:cs typeface="+mn-cs"/>
              </a:rPr>
              <a:t>• least amount of output produced so far</a:t>
            </a:r>
          </a:p>
          <a:p>
            <a:r>
              <a:rPr lang="en-US" sz="1200" kern="1200" baseline="0" dirty="0">
                <a:solidFill>
                  <a:schemeClr val="tx1"/>
                </a:solidFill>
                <a:latin typeface="+mn-lt"/>
                <a:ea typeface="+mn-ea"/>
                <a:cs typeface="+mn-cs"/>
              </a:rPr>
              <a:t>• most estimated time remaining</a:t>
            </a:r>
          </a:p>
          <a:p>
            <a:pPr>
              <a:buFont typeface="Arial"/>
              <a:buChar char="•"/>
            </a:pPr>
            <a:r>
              <a:rPr lang="en-US" sz="1200" kern="1200" baseline="0" dirty="0">
                <a:solidFill>
                  <a:schemeClr val="tx1"/>
                </a:solidFill>
                <a:latin typeface="+mn-lt"/>
                <a:ea typeface="+mn-ea"/>
                <a:cs typeface="+mn-cs"/>
              </a:rPr>
              <a:t>least total resources allocated so far</a:t>
            </a:r>
          </a:p>
          <a:p>
            <a:r>
              <a:rPr lang="en-US" sz="1200" kern="1200" baseline="0" dirty="0">
                <a:solidFill>
                  <a:schemeClr val="tx1"/>
                </a:solidFill>
                <a:latin typeface="+mn-lt"/>
                <a:ea typeface="+mn-ea"/>
                <a:cs typeface="+mn-cs"/>
              </a:rPr>
              <a:t>• lowest priority</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Some of these quantities are easier to measure than others. Estimated time remaining is particularly suspect. Also, other than by means of the priority measure, there is no indication of the “cost” to the user, as opposed to the cost to the system as a whole.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23</a:t>
            </a:fld>
            <a:endParaRPr 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lgn="l"/>
            <a:endParaRPr lang="en-US" sz="1200" baseline="0" dirty="0">
              <a:latin typeface="TimesTen-Roman"/>
            </a:endParaRPr>
          </a:p>
          <a:p>
            <a:r>
              <a:rPr lang="en-US" sz="1200" kern="1200" baseline="0" dirty="0">
                <a:solidFill>
                  <a:schemeClr val="tx1"/>
                </a:solidFill>
                <a:latin typeface="+mn-lt"/>
                <a:ea typeface="+mn-ea"/>
                <a:cs typeface="+mn-cs"/>
              </a:rPr>
              <a:t>The readers/writer lock allows multiple threads to have simultaneous read-only access to an object protected by the lock. It also allows a single thread to access the object for writing at one time, while excluding all readers. When the lock is acquired for writing it takes on the status of write lock : All threads attempting access for reading or writing must wait. If one or more readers have acquired the lock, its status is read lock .</a:t>
            </a: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24</a:t>
            </a:fld>
            <a:endParaRPr 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 condition variable is used to wait until a particular condition is true. Condition variables must be used in conjunction with a </a:t>
            </a:r>
            <a:r>
              <a:rPr lang="en-US" sz="1200" kern="1200" baseline="0" dirty="0" err="1">
                <a:solidFill>
                  <a:schemeClr val="tx1"/>
                </a:solidFill>
                <a:latin typeface="+mn-lt"/>
                <a:ea typeface="+mn-ea"/>
                <a:cs typeface="+mn-cs"/>
              </a:rPr>
              <a:t>mutex</a:t>
            </a:r>
            <a:r>
              <a:rPr lang="en-US" sz="1200" kern="1200" baseline="0" dirty="0">
                <a:solidFill>
                  <a:schemeClr val="tx1"/>
                </a:solidFill>
                <a:latin typeface="+mn-lt"/>
                <a:ea typeface="+mn-ea"/>
                <a:cs typeface="+mn-cs"/>
              </a:rPr>
              <a:t> lock. This implements a monitor of the type illustrated in Figure 6.14 .</a:t>
            </a:r>
            <a:endParaRPr lang="en-NZ" dirty="0"/>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25</a:t>
            </a:fld>
            <a:endParaRPr lang="en-US"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r>
              <a:rPr lang="en-US" sz="1200" kern="1200" baseline="0" dirty="0">
                <a:solidFill>
                  <a:schemeClr val="tx1"/>
                </a:solidFill>
                <a:latin typeface="+mn-lt"/>
                <a:ea typeface="+mn-ea"/>
                <a:cs typeface="+mn-cs"/>
              </a:rPr>
              <a:t>Critical sections provide a synchronization mechanism similar to that provided by </a:t>
            </a:r>
            <a:r>
              <a:rPr lang="en-US" sz="1200" kern="1200" baseline="0" dirty="0" err="1">
                <a:solidFill>
                  <a:schemeClr val="tx1"/>
                </a:solidFill>
                <a:latin typeface="+mn-lt"/>
                <a:ea typeface="+mn-ea"/>
                <a:cs typeface="+mn-cs"/>
              </a:rPr>
              <a:t>mutex</a:t>
            </a:r>
            <a:r>
              <a:rPr lang="en-US" sz="1200" kern="1200" baseline="0" dirty="0">
                <a:solidFill>
                  <a:schemeClr val="tx1"/>
                </a:solidFill>
                <a:latin typeface="+mn-lt"/>
                <a:ea typeface="+mn-ea"/>
                <a:cs typeface="+mn-cs"/>
              </a:rPr>
              <a:t> objects, except that critical sections can be used only by the threads of a single process. Event, </a:t>
            </a:r>
            <a:r>
              <a:rPr lang="en-US" sz="1200" kern="1200" baseline="0" dirty="0" err="1">
                <a:solidFill>
                  <a:schemeClr val="tx1"/>
                </a:solidFill>
                <a:latin typeface="+mn-lt"/>
                <a:ea typeface="+mn-ea"/>
                <a:cs typeface="+mn-cs"/>
              </a:rPr>
              <a:t>mutex</a:t>
            </a:r>
            <a:r>
              <a:rPr lang="en-US" sz="1200" kern="1200" baseline="0" dirty="0">
                <a:solidFill>
                  <a:schemeClr val="tx1"/>
                </a:solidFill>
                <a:latin typeface="+mn-lt"/>
                <a:ea typeface="+mn-ea"/>
                <a:cs typeface="+mn-cs"/>
              </a:rPr>
              <a:t>, and semaphore objects can also be used in a </a:t>
            </a:r>
            <a:r>
              <a:rPr lang="en-US" sz="1200" kern="1200" baseline="0" dirty="0" err="1">
                <a:solidFill>
                  <a:schemeClr val="tx1"/>
                </a:solidFill>
                <a:latin typeface="+mn-lt"/>
                <a:ea typeface="+mn-ea"/>
                <a:cs typeface="+mn-cs"/>
              </a:rPr>
              <a:t>singleprocess</a:t>
            </a:r>
            <a:r>
              <a:rPr lang="en-US" sz="1200" kern="1200" baseline="0" dirty="0">
                <a:solidFill>
                  <a:schemeClr val="tx1"/>
                </a:solidFill>
                <a:latin typeface="+mn-lt"/>
                <a:ea typeface="+mn-ea"/>
                <a:cs typeface="+mn-cs"/>
              </a:rPr>
              <a:t> application, but critical sections provide a much faster, more efficient mechanism for mutual-exclusion synchronization.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process is responsible for allocating the memory used by a critical section. Typically, this is done by simply declaring a variable of type CRITICAL_SECTION . Before the threads of the process can use it, initialize the critical section by using the </a:t>
            </a:r>
            <a:r>
              <a:rPr lang="en-US" sz="1200" kern="1200" baseline="0" dirty="0" err="1">
                <a:solidFill>
                  <a:schemeClr val="tx1"/>
                </a:solidFill>
                <a:latin typeface="+mn-lt"/>
                <a:ea typeface="+mn-ea"/>
                <a:cs typeface="+mn-cs"/>
              </a:rPr>
              <a:t>InitializeCriticalSection</a:t>
            </a:r>
            <a:r>
              <a:rPr lang="en-US" sz="1200" kern="1200" baseline="0" dirty="0">
                <a:solidFill>
                  <a:schemeClr val="tx1"/>
                </a:solidFill>
                <a:latin typeface="+mn-lt"/>
                <a:ea typeface="+mn-ea"/>
                <a:cs typeface="+mn-cs"/>
              </a:rPr>
              <a:t> function.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 thread uses the </a:t>
            </a:r>
            <a:r>
              <a:rPr lang="en-US" sz="1200" kern="1200" baseline="0" dirty="0" err="1">
                <a:solidFill>
                  <a:schemeClr val="tx1"/>
                </a:solidFill>
                <a:latin typeface="+mn-lt"/>
                <a:ea typeface="+mn-ea"/>
                <a:cs typeface="+mn-cs"/>
              </a:rPr>
              <a:t>EnterCriticalSection</a:t>
            </a:r>
            <a:r>
              <a:rPr lang="en-US" sz="1200" kern="1200" baseline="0" dirty="0">
                <a:solidFill>
                  <a:schemeClr val="tx1"/>
                </a:solidFill>
                <a:latin typeface="+mn-lt"/>
                <a:ea typeface="+mn-ea"/>
                <a:cs typeface="+mn-cs"/>
              </a:rPr>
              <a:t> or </a:t>
            </a:r>
            <a:r>
              <a:rPr lang="en-US" sz="1200" kern="1200" baseline="0" dirty="0" err="1">
                <a:solidFill>
                  <a:schemeClr val="tx1"/>
                </a:solidFill>
                <a:latin typeface="+mn-lt"/>
                <a:ea typeface="+mn-ea"/>
                <a:cs typeface="+mn-cs"/>
              </a:rPr>
              <a:t>TryEnterCriticalSection</a:t>
            </a:r>
            <a:r>
              <a:rPr lang="en-US" sz="1200" kern="1200" baseline="0" dirty="0">
                <a:solidFill>
                  <a:schemeClr val="tx1"/>
                </a:solidFill>
                <a:latin typeface="+mn-lt"/>
                <a:ea typeface="+mn-ea"/>
                <a:cs typeface="+mn-cs"/>
              </a:rPr>
              <a:t> function to request ownership of a critical section. It uses the </a:t>
            </a:r>
            <a:r>
              <a:rPr lang="en-US" sz="1200" kern="1200" baseline="0" dirty="0" err="1">
                <a:solidFill>
                  <a:schemeClr val="tx1"/>
                </a:solidFill>
                <a:latin typeface="+mn-lt"/>
                <a:ea typeface="+mn-ea"/>
                <a:cs typeface="+mn-cs"/>
              </a:rPr>
              <a:t>LeaveCriticalSection</a:t>
            </a:r>
            <a:r>
              <a:rPr lang="en-US" sz="1200" kern="1200" baseline="0" dirty="0">
                <a:solidFill>
                  <a:schemeClr val="tx1"/>
                </a:solidFill>
                <a:latin typeface="+mn-lt"/>
                <a:ea typeface="+mn-ea"/>
                <a:cs typeface="+mn-cs"/>
              </a:rPr>
              <a:t> function to release ownership of a critical section. If the critical section is currently owned by another thread, </a:t>
            </a:r>
            <a:r>
              <a:rPr lang="en-US" sz="1200" kern="1200" baseline="0" dirty="0" err="1">
                <a:solidFill>
                  <a:schemeClr val="tx1"/>
                </a:solidFill>
                <a:latin typeface="+mn-lt"/>
                <a:ea typeface="+mn-ea"/>
                <a:cs typeface="+mn-cs"/>
              </a:rPr>
              <a:t>EnterCriticalSection</a:t>
            </a:r>
            <a:r>
              <a:rPr lang="en-US" sz="1200" kern="1200" baseline="0" dirty="0">
                <a:solidFill>
                  <a:schemeClr val="tx1"/>
                </a:solidFill>
                <a:latin typeface="+mn-lt"/>
                <a:ea typeface="+mn-ea"/>
                <a:cs typeface="+mn-cs"/>
              </a:rPr>
              <a:t> waits indefinitely for ownership. In contrast, when a </a:t>
            </a:r>
            <a:r>
              <a:rPr lang="en-US" sz="1200" kern="1200" baseline="0" dirty="0" err="1">
                <a:solidFill>
                  <a:schemeClr val="tx1"/>
                </a:solidFill>
                <a:latin typeface="+mn-lt"/>
                <a:ea typeface="+mn-ea"/>
                <a:cs typeface="+mn-cs"/>
              </a:rPr>
              <a:t>mutex</a:t>
            </a:r>
            <a:r>
              <a:rPr lang="en-US" sz="1200" kern="1200" baseline="0" dirty="0">
                <a:solidFill>
                  <a:schemeClr val="tx1"/>
                </a:solidFill>
                <a:latin typeface="+mn-lt"/>
                <a:ea typeface="+mn-ea"/>
                <a:cs typeface="+mn-cs"/>
              </a:rPr>
              <a:t> object is used for mutual exclusion, the wait functions accept a specified time-out interval. The </a:t>
            </a:r>
            <a:r>
              <a:rPr lang="en-US" sz="1200" kern="1200" baseline="0" dirty="0" err="1">
                <a:solidFill>
                  <a:schemeClr val="tx1"/>
                </a:solidFill>
                <a:latin typeface="+mn-lt"/>
                <a:ea typeface="+mn-ea"/>
                <a:cs typeface="+mn-cs"/>
              </a:rPr>
              <a:t>TryEnterCriticalSection</a:t>
            </a:r>
            <a:r>
              <a:rPr lang="en-US" sz="1200" kern="1200" baseline="0" dirty="0">
                <a:solidFill>
                  <a:schemeClr val="tx1"/>
                </a:solidFill>
                <a:latin typeface="+mn-lt"/>
                <a:ea typeface="+mn-ea"/>
                <a:cs typeface="+mn-cs"/>
              </a:rPr>
              <a:t> function attempts to enter a critical section without blocking the calling thread.</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Critical sections use a sophisticated algorithm when trying to acquire the </a:t>
            </a:r>
            <a:r>
              <a:rPr lang="en-US" sz="1200" kern="1200" baseline="0" dirty="0" err="1">
                <a:solidFill>
                  <a:schemeClr val="tx1"/>
                </a:solidFill>
                <a:latin typeface="+mn-lt"/>
                <a:ea typeface="+mn-ea"/>
                <a:cs typeface="+mn-cs"/>
              </a:rPr>
              <a:t>mutex</a:t>
            </a:r>
            <a:r>
              <a:rPr lang="en-US" sz="1200" kern="1200" baseline="0" dirty="0">
                <a:solidFill>
                  <a:schemeClr val="tx1"/>
                </a:solidFill>
                <a:latin typeface="+mn-lt"/>
                <a:ea typeface="+mn-ea"/>
                <a:cs typeface="+mn-cs"/>
              </a:rPr>
              <a:t>. If the system is a multiprocessor, the code will attempt to acquire a spinlock. This works well in situations where the critical section is acquired for only a short time. Effectively the spinlock optimizes for the case where the thread that currently owns the critical section is executing on another processor. If the spinlock cannot be acquired within a reasonable number of iterations, a dispatcher object is used to block the thread so that the Kernel can dispatch another thread onto the processor.</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dispatcher object is only allocated as a last resort. Most critical sections are needed for correctness, but in practice are rarely contended. By lazily allocating the dispatcher object the system saves significant amounts of kernel virtual memory.</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26</a:t>
            </a:fld>
            <a:endParaRPr lang="en-US"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Chapter 6 summary.</a:t>
            </a: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27</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356CD45C-81C4-4E27-A18A-8835B7066D8D}"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CAF246AB-72DE-4829-A3EE-183283F17E51}" type="slidenum">
              <a:rPr lang="en-US"/>
              <a:pPr>
                <a:defRPr/>
              </a:pPr>
              <a:t>‹#›</a:t>
            </a:fld>
            <a:endParaRPr lang="en-US" dirty="0"/>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64DF4F1D-9F1B-4CA4-932E-311654E9982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59217303-0E5B-4E24-BCA3-62F5881C102C}" type="slidenum">
              <a:rPr lang="en-US"/>
              <a:pPr>
                <a:defRPr/>
              </a:pPr>
              <a:t>‹#›</a:t>
            </a:fld>
            <a:endParaRPr lang="en-US" dirty="0"/>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BA0E4233-E030-4D82-AE1D-06E871FCE68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DF17966-739A-4E4E-BEF8-5E9D65CAA6DD}" type="slidenum">
              <a:rPr lang="en-US"/>
              <a:pPr>
                <a:defRPr/>
              </a:pPr>
              <a:t>‹#›</a:t>
            </a:fld>
            <a:endParaRPr lang="en-US" dirty="0"/>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C7C5EE9E-C85E-43CC-91D6-50F7B4961BB7}"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69B75778-597E-43D2-A71E-341C60964EE0}" type="slidenum">
              <a:rPr lang="en-US"/>
              <a:pPr>
                <a:defRPr/>
              </a:pPr>
              <a:t>‹#›</a:t>
            </a:fld>
            <a:endParaRPr lang="en-US" dirty="0"/>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E19F8884-1DEA-4C84-A489-E724713CC95E}" type="datetimeFigureOut">
              <a:rPr lang="en-US"/>
              <a:pPr>
                <a:defRPr/>
              </a:pPr>
              <a:t>30-Apr-2024</a:t>
            </a:fld>
            <a:endParaRPr lang="en-US" dirty="0"/>
          </a:p>
        </p:txBody>
      </p:sp>
      <p:sp>
        <p:nvSpPr>
          <p:cNvPr id="8" name="Footer Placeholder 4"/>
          <p:cNvSpPr>
            <a:spLocks noGrp="1"/>
          </p:cNvSpPr>
          <p:nvPr>
            <p:ph type="ftr" sz="quarter" idx="11"/>
          </p:nvPr>
        </p:nvSpPr>
        <p:spPr/>
        <p:txBody>
          <a:bodyPr/>
          <a:lstStyle>
            <a:lvl1pPr>
              <a:defRPr/>
            </a:lvl1pPr>
          </a:lstStyle>
          <a:p>
            <a:pPr>
              <a:defRPr/>
            </a:pPr>
            <a:endParaRPr lang="en-US" dirty="0"/>
          </a:p>
        </p:txBody>
      </p:sp>
      <p:sp>
        <p:nvSpPr>
          <p:cNvPr id="9" name="Slide Number Placeholder 5"/>
          <p:cNvSpPr>
            <a:spLocks noGrp="1"/>
          </p:cNvSpPr>
          <p:nvPr>
            <p:ph type="sldNum" sz="quarter" idx="12"/>
          </p:nvPr>
        </p:nvSpPr>
        <p:spPr/>
        <p:txBody>
          <a:bodyPr/>
          <a:lstStyle>
            <a:lvl1pPr>
              <a:defRPr/>
            </a:lvl1pPr>
          </a:lstStyle>
          <a:p>
            <a:pPr>
              <a:defRPr/>
            </a:pPr>
            <a:fld id="{F8D71189-8D0B-455A-87B2-3A89DCBF685D}" type="slidenum">
              <a:rPr lang="en-US"/>
              <a:pPr>
                <a:defRPr/>
              </a:pPr>
              <a:t>‹#›</a:t>
            </a:fld>
            <a:endParaRPr lang="en-US" dirty="0"/>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502DFE5A-BFC9-454A-A87C-69BA4FE25A0F}" type="datetimeFigureOut">
              <a:rPr lang="en-US"/>
              <a:pPr>
                <a:defRPr/>
              </a:pPr>
              <a:t>30-Apr-2024</a:t>
            </a:fld>
            <a:endParaRPr lang="en-US" dirty="0"/>
          </a:p>
        </p:txBody>
      </p:sp>
      <p:sp>
        <p:nvSpPr>
          <p:cNvPr id="4" name="Footer Placeholder 4"/>
          <p:cNvSpPr>
            <a:spLocks noGrp="1"/>
          </p:cNvSpPr>
          <p:nvPr>
            <p:ph type="ftr" sz="quarter" idx="11"/>
          </p:nvPr>
        </p:nvSpPr>
        <p:spPr/>
        <p:txBody>
          <a:bodyPr/>
          <a:lstStyle>
            <a:lvl1pPr>
              <a:defRPr/>
            </a:lvl1pPr>
          </a:lstStyle>
          <a:p>
            <a:pPr>
              <a:defRPr/>
            </a:pPr>
            <a:endParaRPr lang="en-US" dirty="0"/>
          </a:p>
        </p:txBody>
      </p:sp>
      <p:sp>
        <p:nvSpPr>
          <p:cNvPr id="5" name="Slide Number Placeholder 5"/>
          <p:cNvSpPr>
            <a:spLocks noGrp="1"/>
          </p:cNvSpPr>
          <p:nvPr>
            <p:ph type="sldNum" sz="quarter" idx="12"/>
          </p:nvPr>
        </p:nvSpPr>
        <p:spPr/>
        <p:txBody>
          <a:bodyPr/>
          <a:lstStyle>
            <a:lvl1pPr>
              <a:defRPr/>
            </a:lvl1pPr>
          </a:lstStyle>
          <a:p>
            <a:pPr>
              <a:defRPr/>
            </a:pPr>
            <a:fld id="{6F5D2254-A369-4EE7-927D-AE713623071A}" type="slidenum">
              <a:rPr lang="en-US"/>
              <a:pPr>
                <a:defRPr/>
              </a:pPr>
              <a:t>‹#›</a:t>
            </a:fld>
            <a:endParaRPr lang="en-US" dirty="0"/>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B4A6603-BAC9-4FFA-BE72-57B7C0EDA50D}" type="datetimeFigureOut">
              <a:rPr lang="en-US"/>
              <a:pPr>
                <a:defRPr/>
              </a:pPr>
              <a:t>30-Apr-2024</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dirty="0"/>
          </a:p>
        </p:txBody>
      </p:sp>
      <p:sp>
        <p:nvSpPr>
          <p:cNvPr id="4" name="Slide Number Placeholder 5"/>
          <p:cNvSpPr>
            <a:spLocks noGrp="1"/>
          </p:cNvSpPr>
          <p:nvPr>
            <p:ph type="sldNum" sz="quarter" idx="12"/>
          </p:nvPr>
        </p:nvSpPr>
        <p:spPr/>
        <p:txBody>
          <a:bodyPr/>
          <a:lstStyle>
            <a:lvl1pPr>
              <a:defRPr/>
            </a:lvl1pPr>
          </a:lstStyle>
          <a:p>
            <a:pPr>
              <a:defRPr/>
            </a:pPr>
            <a:fld id="{2269E04E-7B9E-40CB-AECA-9BEEF7D4B165}" type="slidenum">
              <a:rPr lang="en-US"/>
              <a:pPr>
                <a:defRPr/>
              </a:pPr>
              <a:t>‹#›</a:t>
            </a:fld>
            <a:endParaRPr lang="en-US" dirty="0"/>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56F2E53-C0F0-49CC-8B3F-6BA3D019B99D}"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EA175EC1-C65E-447A-8CAE-CC74F7243464}" type="slidenum">
              <a:rPr lang="en-US"/>
              <a:pPr>
                <a:defRPr/>
              </a:pPr>
              <a:t>‹#›</a:t>
            </a:fld>
            <a:endParaRPr lang="en-US" dirty="0"/>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644AA9AB-7925-475F-87E4-57F6EF092961}"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94A6BC3C-EF4C-4932-8208-7FBB5701A0AF}" type="slidenum">
              <a:rPr lang="en-US"/>
              <a:pPr>
                <a:defRPr/>
              </a:pPr>
              <a:t>‹#›</a:t>
            </a:fld>
            <a:endParaRPr lang="en-US" dirty="0"/>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DA9C3780-DD3C-46A5-8303-4579155A8DB3}"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312BAF33-582B-4B0D-B27A-32E91EEEB040}" type="slidenum">
              <a:rPr lang="en-US"/>
              <a:pPr>
                <a:defRPr/>
              </a:pPr>
              <a:t>‹#›</a:t>
            </a:fld>
            <a:endParaRPr lang="en-US" dirty="0"/>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33C4502-BF88-49E9-A189-5718D68C95C9}"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A835F4E-BD93-49E1-84D0-363BA31979D7}" type="slidenum">
              <a:rPr lang="en-US"/>
              <a:pPr>
                <a:defRPr/>
              </a:pPr>
              <a:t>‹#›</a:t>
            </a:fld>
            <a:endParaRPr lang="en-US" dirty="0"/>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useBgFill="1">
        <p:nvSpPr>
          <p:cNvPr id="12" name="Rectangle 11"/>
          <p:cNvSpPr/>
          <p:nvPr/>
        </p:nvSpPr>
        <p:spPr>
          <a:xfrm>
            <a:off x="341086" y="928914"/>
            <a:ext cx="8432800" cy="177074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ctrTitle"/>
          </p:nvPr>
        </p:nvSpPr>
        <p:spPr>
          <a:xfrm>
            <a:off x="685707" y="968189"/>
            <a:ext cx="7799387" cy="1237130"/>
          </a:xfrm>
        </p:spPr>
        <p:txBody>
          <a:bodyPr anchor="b" anchorCtr="0"/>
          <a:lstStyle>
            <a:lvl1pPr algn="r">
              <a:lnSpc>
                <a:spcPts val="5000"/>
              </a:lnSpc>
              <a:defRPr sz="4600">
                <a:solidFill>
                  <a:schemeClr val="accent1"/>
                </a:solidFill>
                <a:effectLst/>
              </a:defRPr>
            </a:lvl1pPr>
          </a:lstStyle>
          <a:p>
            <a:r>
              <a:rPr lang="en-US"/>
              <a:t>Click to edit Master title style</a:t>
            </a:r>
            <a:endParaRPr/>
          </a:p>
        </p:txBody>
      </p:sp>
      <p:sp>
        <p:nvSpPr>
          <p:cNvPr id="3" name="Subtitle 2"/>
          <p:cNvSpPr>
            <a:spLocks noGrp="1"/>
          </p:cNvSpPr>
          <p:nvPr>
            <p:ph type="subTitle" idx="1"/>
          </p:nvPr>
        </p:nvSpPr>
        <p:spPr>
          <a:xfrm>
            <a:off x="685707" y="2209799"/>
            <a:ext cx="7799387" cy="466165"/>
          </a:xfrm>
        </p:spPr>
        <p:txBody>
          <a:bodyPr/>
          <a:lstStyle>
            <a:lvl1pPr marL="0" indent="0" algn="r">
              <a:lnSpc>
                <a:spcPct val="100000"/>
              </a:lnSpc>
              <a:spcBef>
                <a:spcPts val="0"/>
              </a:spcBef>
              <a:buNone/>
              <a:defRPr sz="1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4" name="Date Placeholder 3"/>
          <p:cNvSpPr>
            <a:spLocks noGrp="1"/>
          </p:cNvSpPr>
          <p:nvPr>
            <p:ph type="dt" sz="half" idx="10"/>
          </p:nvPr>
        </p:nvSpPr>
        <p:spPr/>
        <p:txBody>
          <a:bodyPr/>
          <a:lstStyle/>
          <a:p>
            <a:pPr>
              <a:defRPr/>
            </a:pPr>
            <a:fld id="{EF5D2D3F-B0F1-446B-B7CC-19B90EB0017B}" type="datetimeFigureOut">
              <a:rPr lang="en-US" smtClean="0"/>
              <a:pPr>
                <a:defRPr/>
              </a:pPr>
              <a:t>30-Apr-2024</a:t>
            </a:fld>
            <a:endParaRPr lang="en-US" dirty="0"/>
          </a:p>
        </p:txBody>
      </p:sp>
      <p:sp>
        <p:nvSpPr>
          <p:cNvPr id="6" name="Slide Number Placeholder 5"/>
          <p:cNvSpPr>
            <a:spLocks noGrp="1"/>
          </p:cNvSpPr>
          <p:nvPr>
            <p:ph type="sldNum" sz="quarter" idx="12"/>
          </p:nvPr>
        </p:nvSpPr>
        <p:spPr>
          <a:xfrm>
            <a:off x="4305300" y="6492875"/>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46FA4F69-47FA-46CC-8030-E13D0EF9E85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457200" y="816802"/>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TitleSlideTop.jpg"/>
          <p:cNvPicPr>
            <a:picLocks noChangeAspect="1"/>
          </p:cNvPicPr>
          <p:nvPr/>
        </p:nvPicPr>
        <p:blipFill>
          <a:blip r:embed="rId2"/>
          <a:stretch>
            <a:fillRect/>
          </a:stretch>
        </p:blipFill>
        <p:spPr>
          <a:xfrm>
            <a:off x="457200" y="457200"/>
            <a:ext cx="8229600" cy="356646"/>
          </a:xfrm>
          <a:prstGeom prst="rect">
            <a:avLst/>
          </a:prstGeom>
        </p:spPr>
      </p:pic>
      <p:pic>
        <p:nvPicPr>
          <p:cNvPr id="10" name="Picture 9" descr="TitleSlideBottom.jpg"/>
          <p:cNvPicPr>
            <a:picLocks noChangeAspect="1"/>
          </p:cNvPicPr>
          <p:nvPr/>
        </p:nvPicPr>
        <p:blipFill>
          <a:blip r:embed="rId3"/>
          <a:stretch>
            <a:fillRect/>
          </a:stretch>
        </p:blipFill>
        <p:spPr>
          <a:xfrm>
            <a:off x="457200" y="2700601"/>
            <a:ext cx="8229600" cy="3700199"/>
          </a:xfrm>
          <a:prstGeom prst="rect">
            <a:avLst/>
          </a:prstGeom>
        </p:spPr>
      </p:pic>
      <p:sp>
        <p:nvSpPr>
          <p:cNvPr id="11"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fld id="{5120D744-A176-4DCB-9147-2AE7B7E87481}" type="datetimeFigureOut">
              <a:rPr lang="en-US"/>
              <a:pPr/>
              <a:t>30-Apr-2024</a:t>
            </a:fld>
            <a:endParaRPr/>
          </a:p>
        </p:txBody>
      </p:sp>
      <p:sp>
        <p:nvSpPr>
          <p:cNvPr id="5" name="Footer Placeholder 4"/>
          <p:cNvSpPr>
            <a:spLocks noGrp="1"/>
          </p:cNvSpPr>
          <p:nvPr>
            <p:ph type="ftr" sz="quarter" idx="11"/>
          </p:nvPr>
        </p:nvSpPr>
        <p:spPr/>
        <p:txBody>
          <a:bodyPr/>
          <a:lstStyle/>
          <a:p>
            <a:endParaRPr/>
          </a:p>
        </p:txBody>
      </p:sp>
      <p:sp>
        <p:nvSpPr>
          <p:cNvPr id="6" name="Slide Number Placeholder 5"/>
          <p:cNvSpPr>
            <a:spLocks noGrp="1"/>
          </p:cNvSpPr>
          <p:nvPr>
            <p:ph type="sldNum" sz="quarter" idx="12"/>
          </p:nvPr>
        </p:nvSpPr>
        <p:spPr/>
        <p:txBody>
          <a:bodyPr/>
          <a:lstStyle/>
          <a:p>
            <a:fld id="{3FFF1679-83E0-4571-98D7-4BB535B5F505}" type="slidenum">
              <a:rPr/>
              <a:pPr/>
              <a:t>‹#›</a:t>
            </a:fld>
            <a:endParaRPr/>
          </a:p>
        </p:txBody>
      </p:sp>
      <p:pic>
        <p:nvPicPr>
          <p:cNvPr id="7" name="Picture 6" descr="green.gif"/>
          <p:cNvPicPr>
            <a:picLocks noChangeAspect="1"/>
          </p:cNvPicPr>
          <p:nvPr userDrawn="1"/>
        </p:nvPicPr>
        <p:blipFill>
          <a:blip r:embed="rId2"/>
          <a:srcRect/>
          <a:stretch>
            <a:fillRect/>
          </a:stretch>
        </p:blipFill>
        <p:spPr bwMode="auto">
          <a:xfrm>
            <a:off x="8429625" y="5562600"/>
            <a:ext cx="714375" cy="838200"/>
          </a:xfrm>
          <a:prstGeom prst="rect">
            <a:avLst/>
          </a:prstGeom>
          <a:noFill/>
          <a:ln w="9525">
            <a:noFill/>
            <a:miter lim="800000"/>
            <a:headEnd/>
            <a:tailEnd/>
          </a:ln>
        </p:spPr>
      </p:pic>
      <p:pic>
        <p:nvPicPr>
          <p:cNvPr id="8" name="Picture 7" descr="hand.gif"/>
          <p:cNvPicPr>
            <a:picLocks noChangeAspect="1"/>
          </p:cNvPicPr>
          <p:nvPr userDrawn="1"/>
        </p:nvPicPr>
        <p:blipFill>
          <a:blip r:embed="rId3"/>
          <a:srcRect/>
          <a:stretch>
            <a:fillRect/>
          </a:stretch>
        </p:blipFill>
        <p:spPr bwMode="auto">
          <a:xfrm>
            <a:off x="0" y="6115050"/>
            <a:ext cx="1190625" cy="742950"/>
          </a:xfrm>
          <a:prstGeom prst="rect">
            <a:avLst/>
          </a:prstGeom>
          <a:noFill/>
          <a:ln w="9525">
            <a:noFill/>
            <a:miter lim="800000"/>
            <a:headEnd/>
            <a:tailEnd/>
          </a:ln>
        </p:spPr>
      </p:pic>
      <p:sp>
        <p:nvSpPr>
          <p:cNvPr id="9" name="Freeform 8"/>
          <p:cNvSpPr/>
          <p:nvPr userDrawn="1"/>
        </p:nvSpPr>
        <p:spPr>
          <a:xfrm>
            <a:off x="1171575" y="6124575"/>
            <a:ext cx="7286625" cy="219075"/>
          </a:xfrm>
          <a:custGeom>
            <a:avLst/>
            <a:gdLst>
              <a:gd name="connsiteX0" fmla="*/ 0 w 7286625"/>
              <a:gd name="connsiteY0" fmla="*/ 219075 h 219075"/>
              <a:gd name="connsiteX1" fmla="*/ 190500 w 7286625"/>
              <a:gd name="connsiteY1" fmla="*/ 180975 h 219075"/>
              <a:gd name="connsiteX2" fmla="*/ 2790825 w 7286625"/>
              <a:gd name="connsiteY2" fmla="*/ 171450 h 219075"/>
              <a:gd name="connsiteX3" fmla="*/ 2924175 w 7286625"/>
              <a:gd name="connsiteY3" fmla="*/ 152400 h 219075"/>
              <a:gd name="connsiteX4" fmla="*/ 3267075 w 7286625"/>
              <a:gd name="connsiteY4" fmla="*/ 133350 h 219075"/>
              <a:gd name="connsiteX5" fmla="*/ 3390900 w 7286625"/>
              <a:gd name="connsiteY5" fmla="*/ 123825 h 219075"/>
              <a:gd name="connsiteX6" fmla="*/ 3667125 w 7286625"/>
              <a:gd name="connsiteY6" fmla="*/ 85725 h 219075"/>
              <a:gd name="connsiteX7" fmla="*/ 3838575 w 7286625"/>
              <a:gd name="connsiteY7" fmla="*/ 76200 h 219075"/>
              <a:gd name="connsiteX8" fmla="*/ 4381500 w 7286625"/>
              <a:gd name="connsiteY8" fmla="*/ 47625 h 219075"/>
              <a:gd name="connsiteX9" fmla="*/ 4552950 w 7286625"/>
              <a:gd name="connsiteY9" fmla="*/ 38100 h 219075"/>
              <a:gd name="connsiteX10" fmla="*/ 4686300 w 7286625"/>
              <a:gd name="connsiteY10" fmla="*/ 28575 h 219075"/>
              <a:gd name="connsiteX11" fmla="*/ 5562600 w 7286625"/>
              <a:gd name="connsiteY11" fmla="*/ 0 h 219075"/>
              <a:gd name="connsiteX12" fmla="*/ 6486525 w 7286625"/>
              <a:gd name="connsiteY12" fmla="*/ 9525 h 219075"/>
              <a:gd name="connsiteX13" fmla="*/ 6581775 w 7286625"/>
              <a:gd name="connsiteY13" fmla="*/ 19050 h 219075"/>
              <a:gd name="connsiteX14" fmla="*/ 6715125 w 7286625"/>
              <a:gd name="connsiteY14" fmla="*/ 47625 h 219075"/>
              <a:gd name="connsiteX15" fmla="*/ 7210425 w 7286625"/>
              <a:gd name="connsiteY15" fmla="*/ 66675 h 219075"/>
              <a:gd name="connsiteX16" fmla="*/ 7286625 w 7286625"/>
              <a:gd name="connsiteY16" fmla="*/ 76200 h 219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86625" h="219075">
                <a:moveTo>
                  <a:pt x="0" y="219075"/>
                </a:moveTo>
                <a:cubicBezTo>
                  <a:pt x="67827" y="173857"/>
                  <a:pt x="45538" y="182475"/>
                  <a:pt x="190500" y="180975"/>
                </a:cubicBezTo>
                <a:lnTo>
                  <a:pt x="2790825" y="171450"/>
                </a:lnTo>
                <a:cubicBezTo>
                  <a:pt x="2835275" y="165100"/>
                  <a:pt x="2879529" y="157183"/>
                  <a:pt x="2924175" y="152400"/>
                </a:cubicBezTo>
                <a:cubicBezTo>
                  <a:pt x="3020054" y="142127"/>
                  <a:pt x="3181234" y="138255"/>
                  <a:pt x="3267075" y="133350"/>
                </a:cubicBezTo>
                <a:cubicBezTo>
                  <a:pt x="3308405" y="130988"/>
                  <a:pt x="3349625" y="127000"/>
                  <a:pt x="3390900" y="123825"/>
                </a:cubicBezTo>
                <a:cubicBezTo>
                  <a:pt x="3496096" y="104698"/>
                  <a:pt x="3551356" y="92157"/>
                  <a:pt x="3667125" y="85725"/>
                </a:cubicBezTo>
                <a:lnTo>
                  <a:pt x="3838575" y="76200"/>
                </a:lnTo>
                <a:cubicBezTo>
                  <a:pt x="4421283" y="38197"/>
                  <a:pt x="3784538" y="73028"/>
                  <a:pt x="4381500" y="47625"/>
                </a:cubicBezTo>
                <a:cubicBezTo>
                  <a:pt x="4438686" y="45192"/>
                  <a:pt x="4495823" y="41670"/>
                  <a:pt x="4552950" y="38100"/>
                </a:cubicBezTo>
                <a:cubicBezTo>
                  <a:pt x="4597426" y="35320"/>
                  <a:pt x="4641768" y="30255"/>
                  <a:pt x="4686300" y="28575"/>
                </a:cubicBezTo>
                <a:lnTo>
                  <a:pt x="5562600" y="0"/>
                </a:lnTo>
                <a:lnTo>
                  <a:pt x="6486525" y="9525"/>
                </a:lnTo>
                <a:cubicBezTo>
                  <a:pt x="6518428" y="10121"/>
                  <a:pt x="6550352" y="13505"/>
                  <a:pt x="6581775" y="19050"/>
                </a:cubicBezTo>
                <a:cubicBezTo>
                  <a:pt x="6696351" y="39269"/>
                  <a:pt x="6600009" y="39686"/>
                  <a:pt x="6715125" y="47625"/>
                </a:cubicBezTo>
                <a:cubicBezTo>
                  <a:pt x="6818795" y="54775"/>
                  <a:pt x="7128867" y="63956"/>
                  <a:pt x="7210425" y="66675"/>
                </a:cubicBezTo>
                <a:cubicBezTo>
                  <a:pt x="7254060" y="81220"/>
                  <a:pt x="7228960" y="76200"/>
                  <a:pt x="7286625" y="762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pic>
        <p:nvPicPr>
          <p:cNvPr id="10" name="Picture 9" descr="top.gif"/>
          <p:cNvPicPr>
            <a:picLocks noChangeAspect="1"/>
          </p:cNvPicPr>
          <p:nvPr userDrawn="1"/>
        </p:nvPicPr>
        <p:blipFill>
          <a:blip r:embed="rId4"/>
          <a:srcRect/>
          <a:stretch>
            <a:fillRect/>
          </a:stretch>
        </p:blipFill>
        <p:spPr bwMode="auto">
          <a:xfrm rot="18850181">
            <a:off x="-155575" y="330200"/>
            <a:ext cx="2000250" cy="1047750"/>
          </a:xfrm>
          <a:prstGeom prst="rect">
            <a:avLst/>
          </a:prstGeom>
          <a:noFill/>
          <a:ln w="9525">
            <a:noFill/>
            <a:miter lim="800000"/>
            <a:headEnd/>
            <a:tailEnd/>
          </a:ln>
        </p:spPr>
      </p:pic>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10" name="Rectangle 9"/>
          <p:cNvSpPr/>
          <p:nvPr/>
        </p:nvSpPr>
        <p:spPr>
          <a:xfrm>
            <a:off x="326571" y="362857"/>
            <a:ext cx="8440058" cy="251822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3098041" y="3575712"/>
            <a:ext cx="5396671" cy="1340467"/>
          </a:xfrm>
        </p:spPr>
        <p:txBody>
          <a:bodyPr tIns="0" bIns="0" anchor="b" anchorCtr="0"/>
          <a:lstStyle>
            <a:lvl1pPr algn="r">
              <a:defRPr sz="4600" b="0" cap="none" baseline="0">
                <a:solidFill>
                  <a:schemeClr val="accent1"/>
                </a:solidFill>
                <a:effectLst/>
              </a:defRPr>
            </a:lvl1pPr>
          </a:lstStyle>
          <a:p>
            <a:r>
              <a:rPr lang="en-US"/>
              <a:t>Click to edit Master title style</a:t>
            </a:r>
            <a:endParaRPr/>
          </a:p>
        </p:txBody>
      </p:sp>
      <p:sp>
        <p:nvSpPr>
          <p:cNvPr id="3" name="Text Placeholder 2"/>
          <p:cNvSpPr>
            <a:spLocks noGrp="1"/>
          </p:cNvSpPr>
          <p:nvPr>
            <p:ph type="body" idx="1"/>
          </p:nvPr>
        </p:nvSpPr>
        <p:spPr>
          <a:xfrm>
            <a:off x="3098041" y="4980297"/>
            <a:ext cx="5396671" cy="810904"/>
          </a:xfrm>
        </p:spPr>
        <p:txBody>
          <a:bodyPr tIns="0" bIns="0" anchor="t" anchorCtr="0">
            <a:normAutofit/>
          </a:bodyPr>
          <a:lstStyle>
            <a:lvl1pPr marL="0" indent="0" algn="r">
              <a:spcBef>
                <a:spcPts val="300"/>
              </a:spcBef>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60F29AB0-274B-47BE-985F-46164E2F9B8D}"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a:xfrm>
            <a:off x="4306824" y="6492240"/>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93238FDB-2D8C-4804-B582-7DB90366B95F}" type="slidenum">
              <a:rPr lang="en-US" smtClean="0"/>
              <a:pPr>
                <a:defRPr/>
              </a:pPr>
              <a:t>‹#›</a:t>
            </a:fld>
            <a:endParaRPr lang="en-US" dirty="0"/>
          </a:p>
        </p:txBody>
      </p:sp>
      <p:pic>
        <p:nvPicPr>
          <p:cNvPr id="7" name="Picture 6" descr="SectionHeaderLeft.jpg"/>
          <p:cNvPicPr>
            <a:picLocks noChangeAspect="1"/>
          </p:cNvPicPr>
          <p:nvPr/>
        </p:nvPicPr>
        <p:blipFill>
          <a:blip r:embed="rId2"/>
          <a:stretch>
            <a:fillRect/>
          </a:stretch>
        </p:blipFill>
        <p:spPr>
          <a:xfrm>
            <a:off x="470647" y="457200"/>
            <a:ext cx="2216561" cy="5943600"/>
          </a:xfrm>
          <a:prstGeom prst="rect">
            <a:avLst/>
          </a:prstGeom>
        </p:spPr>
      </p:pic>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222366"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8904"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831308" y="2286000"/>
            <a:ext cx="3657600" cy="3840163"/>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76F0B030-1580-4866-BCBB-5B9DCBDFAB6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FD77EB8B-B6EB-443D-9CB4-B019CEC8F476}" type="slidenum">
              <a:rPr lang="en-US" smtClean="0"/>
              <a:pPr>
                <a:defRPr/>
              </a:pPr>
              <a:t>‹#›</a:t>
            </a:fld>
            <a:endParaRPr lang="en-US" dirty="0"/>
          </a:p>
        </p:txBody>
      </p:sp>
    </p:spTree>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663388"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63388"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828032"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828032"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6"/>
          <p:cNvSpPr>
            <a:spLocks noGrp="1"/>
          </p:cNvSpPr>
          <p:nvPr>
            <p:ph type="dt" sz="half" idx="10"/>
          </p:nvPr>
        </p:nvSpPr>
        <p:spPr/>
        <p:txBody>
          <a:bodyPr/>
          <a:lstStyle/>
          <a:p>
            <a:pPr>
              <a:defRPr/>
            </a:pPr>
            <a:fld id="{70FF0F97-1060-4EBF-B543-874A8397FCDC}" type="datetimeFigureOut">
              <a:rPr lang="en-US" smtClean="0"/>
              <a:pPr>
                <a:defRPr/>
              </a:pPr>
              <a:t>30-Apr-2024</a:t>
            </a:fld>
            <a:endParaRPr lang="en-US" dirty="0"/>
          </a:p>
        </p:txBody>
      </p:sp>
      <p:sp>
        <p:nvSpPr>
          <p:cNvPr id="8" name="Footer Placeholder 7"/>
          <p:cNvSpPr>
            <a:spLocks noGrp="1"/>
          </p:cNvSpPr>
          <p:nvPr>
            <p:ph type="ftr" sz="quarter" idx="11"/>
          </p:nvPr>
        </p:nvSpPr>
        <p:spPr/>
        <p:txBody>
          <a:bodyPr/>
          <a:lstStyle/>
          <a:p>
            <a:pPr>
              <a:defRPr/>
            </a:pPr>
            <a:endParaRPr lang="en-US" dirty="0"/>
          </a:p>
        </p:txBody>
      </p:sp>
      <p:sp>
        <p:nvSpPr>
          <p:cNvPr id="9" name="Slide Number Placeholder 8"/>
          <p:cNvSpPr>
            <a:spLocks noGrp="1"/>
          </p:cNvSpPr>
          <p:nvPr>
            <p:ph type="sldNum" sz="quarter" idx="12"/>
          </p:nvPr>
        </p:nvSpPr>
        <p:spPr/>
        <p:txBody>
          <a:bodyPr/>
          <a:lstStyle/>
          <a:p>
            <a:pPr>
              <a:defRPr/>
            </a:pPr>
            <a:fld id="{D56104A5-FF6A-4891-8FE3-D539A7A66E05}" type="slidenum">
              <a:rPr lang="en-US" smtClean="0"/>
              <a:pPr>
                <a:defRPr/>
              </a:pPr>
              <a:t>‹#›</a:t>
            </a:fld>
            <a:endParaRPr lang="en-US" dirty="0"/>
          </a:p>
        </p:txBody>
      </p:sp>
      <p:cxnSp>
        <p:nvCxnSpPr>
          <p:cNvPr id="11" name="Straight Connector 10"/>
          <p:cNvCxnSpPr/>
          <p:nvPr/>
        </p:nvCxnSpPr>
        <p:spPr>
          <a:xfrm rot="5400000">
            <a:off x="2884488" y="4484687"/>
            <a:ext cx="3375025" cy="1588"/>
          </a:xfrm>
          <a:prstGeom prst="line">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cxnSp>
    </p:spTree>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4050" y="2286001"/>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654050" y="4302966"/>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Content Placeholder 2"/>
          <p:cNvSpPr>
            <a:spLocks noGrp="1"/>
          </p:cNvSpPr>
          <p:nvPr>
            <p:ph sz="half" idx="14"/>
          </p:nvPr>
        </p:nvSpPr>
        <p:spPr>
          <a:xfrm>
            <a:off x="654085"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658906"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658906"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Date Placeholder 2"/>
          <p:cNvSpPr>
            <a:spLocks noGrp="1"/>
          </p:cNvSpPr>
          <p:nvPr>
            <p:ph type="dt" sz="half" idx="10"/>
          </p:nvPr>
        </p:nvSpPr>
        <p:spPr/>
        <p:txBody>
          <a:bodyPr/>
          <a:lstStyle/>
          <a:p>
            <a:pPr>
              <a:defRPr/>
            </a:pPr>
            <a:fld id="{E848A180-20FC-43E6-ACF2-E4D2D7D4238C}" type="datetimeFigureOut">
              <a:rPr lang="en-US" smtClean="0"/>
              <a:pPr>
                <a:defRPr/>
              </a:pPr>
              <a:t>30-Apr-2024</a:t>
            </a:fld>
            <a:endParaRPr lang="en-US" dirty="0"/>
          </a:p>
        </p:txBody>
      </p:sp>
      <p:sp>
        <p:nvSpPr>
          <p:cNvPr id="4" name="Footer Placeholder 3"/>
          <p:cNvSpPr>
            <a:spLocks noGrp="1"/>
          </p:cNvSpPr>
          <p:nvPr>
            <p:ph type="ftr" sz="quarter" idx="11"/>
          </p:nvPr>
        </p:nvSpPr>
        <p:spPr/>
        <p:txBody>
          <a:bodyPr/>
          <a:lstStyle/>
          <a:p>
            <a:pPr>
              <a:defRPr/>
            </a:pPr>
            <a:endParaRPr lang="en-US" dirty="0"/>
          </a:p>
        </p:txBody>
      </p:sp>
      <p:sp>
        <p:nvSpPr>
          <p:cNvPr id="5" name="Slide Number Placeholder 4"/>
          <p:cNvSpPr>
            <a:spLocks noGrp="1"/>
          </p:cNvSpPr>
          <p:nvPr>
            <p:ph type="sldNum" sz="quarter" idx="12"/>
          </p:nvPr>
        </p:nvSpPr>
        <p:spPr/>
        <p:txBody>
          <a:bodyPr/>
          <a:lstStyle/>
          <a:p>
            <a:pPr>
              <a:defRPr/>
            </a:pPr>
            <a:fld id="{97012834-41A2-49E3-8762-B14EE3F5CFB1}" type="slidenum">
              <a:rPr lang="en-US" smtClean="0"/>
              <a:pPr>
                <a:defRPr/>
              </a:pPr>
              <a:t>‹#›</a:t>
            </a:fld>
            <a:endParaRPr lang="en-US" dirty="0"/>
          </a:p>
        </p:txBody>
      </p:sp>
    </p:spTree>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7" name="Rectangle 6"/>
          <p:cNvSpPr/>
          <p:nvPr/>
        </p:nvSpPr>
        <p:spPr>
          <a:xfrm>
            <a:off x="355600" y="566057"/>
            <a:ext cx="8396514" cy="259805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5" name="Rectangle 4"/>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6" name="Rectangle 5"/>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Date Placeholder 1"/>
          <p:cNvSpPr>
            <a:spLocks noGrp="1"/>
          </p:cNvSpPr>
          <p:nvPr>
            <p:ph type="dt" sz="half" idx="10"/>
          </p:nvPr>
        </p:nvSpPr>
        <p:spPr/>
        <p:txBody>
          <a:bodyPr/>
          <a:lstStyle/>
          <a:p>
            <a:pPr>
              <a:defRPr/>
            </a:pPr>
            <a:fld id="{5B242E86-E886-49FE-9E81-CBA74FDF21F4}" type="datetimeFigureOut">
              <a:rPr lang="en-US" smtClean="0"/>
              <a:pPr>
                <a:defRPr/>
              </a:pPr>
              <a:t>30-Apr-2024</a:t>
            </a:fld>
            <a:endParaRPr lang="en-US" dirty="0"/>
          </a:p>
        </p:txBody>
      </p:sp>
      <p:sp>
        <p:nvSpPr>
          <p:cNvPr id="3" name="Footer Placeholder 2"/>
          <p:cNvSpPr>
            <a:spLocks noGrp="1"/>
          </p:cNvSpPr>
          <p:nvPr>
            <p:ph type="ftr" sz="quarter" idx="11"/>
          </p:nvPr>
        </p:nvSpPr>
        <p:spPr/>
        <p:txBody>
          <a:bodyPr/>
          <a:lstStyle/>
          <a:p>
            <a:pPr>
              <a:defRPr/>
            </a:pPr>
            <a:endParaRPr lang="en-US" dirty="0"/>
          </a:p>
        </p:txBody>
      </p:sp>
      <p:sp>
        <p:nvSpPr>
          <p:cNvPr id="4" name="Slide Number Placeholder 3"/>
          <p:cNvSpPr>
            <a:spLocks noGrp="1"/>
          </p:cNvSpPr>
          <p:nvPr>
            <p:ph type="sldNum" sz="quarter" idx="12"/>
          </p:nvPr>
        </p:nvSpPr>
        <p:spPr/>
        <p:txBody>
          <a:bodyPr/>
          <a:lstStyle/>
          <a:p>
            <a:pPr>
              <a:defRPr/>
            </a:pPr>
            <a:fld id="{0A9A6F0D-A611-4358-861D-7B01E8303898}" type="slidenum">
              <a:rPr lang="en-US" smtClean="0"/>
              <a:pPr>
                <a:defRPr/>
              </a:pPr>
              <a:t>‹#›</a:t>
            </a:fld>
            <a:endParaRPr lang="en-US" dirty="0"/>
          </a:p>
        </p:txBody>
      </p:sp>
    </p:spTree>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10" name="Rectangle 9"/>
          <p:cNvSpPr/>
          <p:nvPr/>
        </p:nvSpPr>
        <p:spPr>
          <a:xfrm>
            <a:off x="333828" y="566057"/>
            <a:ext cx="8454571" cy="21335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3" name="Content Placeholder 2"/>
          <p:cNvSpPr>
            <a:spLocks noGrp="1"/>
          </p:cNvSpPr>
          <p:nvPr>
            <p:ph idx="1"/>
          </p:nvPr>
        </p:nvSpPr>
        <p:spPr>
          <a:xfrm>
            <a:off x="4828032" y="654268"/>
            <a:ext cx="3657600" cy="5486400"/>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35E854A5-A6D3-4FF2-A83D-4A92E35723B6}"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BAB79F47-3AF0-4617-BC60-2E592392BB48}" type="slidenum">
              <a:rPr lang="en-US" smtClean="0"/>
              <a:pPr>
                <a:defRPr/>
              </a:pPr>
              <a:t>‹#›</a:t>
            </a:fld>
            <a:endParaRPr lang="en-US" dirty="0"/>
          </a:p>
        </p:txBody>
      </p:sp>
    </p:spTree>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useBgFill="1">
        <p:nvSpPr>
          <p:cNvPr id="10" name="Rectangle 9"/>
          <p:cNvSpPr/>
          <p:nvPr/>
        </p:nvSpPr>
        <p:spPr>
          <a:xfrm>
            <a:off x="355600" y="348343"/>
            <a:ext cx="8432800" cy="235131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5598058" y="3310469"/>
            <a:ext cx="5943600" cy="237061"/>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4BFCA2E3-A4EC-4D3C-A723-C30C7527518B}"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CADF8B95-FD24-4BC4-B430-69A3136D11E0}" type="slidenum">
              <a:rPr lang="en-US" smtClean="0"/>
              <a:pPr>
                <a:defRPr/>
              </a:pPr>
              <a:t>‹#›</a:t>
            </a:fld>
            <a:endParaRPr lang="en-US" dirty="0"/>
          </a:p>
        </p:txBody>
      </p:sp>
      <p:sp>
        <p:nvSpPr>
          <p:cNvPr id="11" name="Picture Placeholder 10"/>
          <p:cNvSpPr>
            <a:spLocks noGrp="1"/>
          </p:cNvSpPr>
          <p:nvPr>
            <p:ph type="pic" sz="quarter" idx="13"/>
          </p:nvPr>
        </p:nvSpPr>
        <p:spPr>
          <a:xfrm>
            <a:off x="4828032" y="457200"/>
            <a:ext cx="3621024" cy="5943600"/>
          </a:xfrm>
        </p:spPr>
        <p:txBody>
          <a:bodyPr/>
          <a:lstStyle>
            <a:lvl1pPr>
              <a:buNone/>
              <a:defRPr/>
            </a:lvl1pPr>
          </a:lstStyle>
          <a:p>
            <a:r>
              <a:rPr lang="en-US"/>
              <a:t>Click icon to add picture</a:t>
            </a:r>
            <a:endParaRPr/>
          </a:p>
        </p:txBody>
      </p:sp>
    </p:spTree>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a:xfrm>
            <a:off x="609600" y="2286000"/>
            <a:ext cx="7874000" cy="38401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C2AEB11F-C391-4BDD-82EB-6F3E13A9F9E1}"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FBF0D068-AB96-40B8-9FAA-4228627632C0}" type="slidenum">
              <a:rPr lang="en-US" smtClean="0"/>
              <a:pPr>
                <a:defRPr/>
              </a:pPr>
              <a:t>‹#›</a:t>
            </a:fld>
            <a:endParaRPr lang="en-US" dirty="0"/>
          </a:p>
        </p:txBody>
      </p:sp>
    </p:spTree>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1" name="Rectangle 10"/>
          <p:cNvSpPr/>
          <p:nvPr/>
        </p:nvSpPr>
        <p:spPr>
          <a:xfrm>
            <a:off x="348342" y="362857"/>
            <a:ext cx="8440057" cy="23368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VerticalRight.jpg"/>
          <p:cNvPicPr>
            <a:picLocks noChangeAspect="1"/>
          </p:cNvPicPr>
          <p:nvPr/>
        </p:nvPicPr>
        <p:blipFill>
          <a:blip r:embed="rId2"/>
          <a:stretch>
            <a:fillRect/>
          </a:stretch>
        </p:blipFill>
        <p:spPr>
          <a:xfrm>
            <a:off x="7111668" y="457200"/>
            <a:ext cx="1546230" cy="5943600"/>
          </a:xfrm>
          <a:prstGeom prst="rect">
            <a:avLst/>
          </a:prstGeom>
        </p:spPr>
      </p:pic>
      <p:sp>
        <p:nvSpPr>
          <p:cNvPr id="10" name="Rectangle 9"/>
          <p:cNvSpPr/>
          <p:nvPr/>
        </p:nvSpPr>
        <p:spPr>
          <a:xfrm rot="5400000">
            <a:off x="4074414"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Vertical Title 1"/>
          <p:cNvSpPr>
            <a:spLocks noGrp="1"/>
          </p:cNvSpPr>
          <p:nvPr>
            <p:ph type="title" orient="vert"/>
          </p:nvPr>
        </p:nvSpPr>
        <p:spPr>
          <a:xfrm>
            <a:off x="7119582" y="693738"/>
            <a:ext cx="1491018" cy="5432425"/>
          </a:xfrm>
        </p:spPr>
        <p:txBody>
          <a:bodyPr vert="eaVert" tIns="45720" bIns="45720"/>
          <a:lstStyle>
            <a:lvl1pPr algn="l">
              <a:defRPr/>
            </a:lvl1pPr>
          </a:lstStyle>
          <a:p>
            <a:r>
              <a:rPr lang="en-US"/>
              <a:t>Click to edit Master title style</a:t>
            </a:r>
            <a:endParaRPr/>
          </a:p>
        </p:txBody>
      </p:sp>
      <p:sp>
        <p:nvSpPr>
          <p:cNvPr id="3" name="Vertical Text Placeholder 2"/>
          <p:cNvSpPr>
            <a:spLocks noGrp="1"/>
          </p:cNvSpPr>
          <p:nvPr>
            <p:ph type="body" orient="vert" idx="1"/>
          </p:nvPr>
        </p:nvSpPr>
        <p:spPr>
          <a:xfrm>
            <a:off x="457200" y="693738"/>
            <a:ext cx="6019800" cy="54324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042669FE-0345-4152-A335-E3D8B60CD5FA}"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0E7040A0-6A5C-4BDA-AED7-03967CF0473B}"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image" Target="../media/image1.jpe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theme" Target="../theme/theme2.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srcRect/>
          <a:tile tx="0" ty="0" sx="100000" sy="100000" flip="none" algn="tl"/>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defRPr>
            </a:lvl1pPr>
          </a:lstStyle>
          <a:p>
            <a:pPr>
              <a:defRPr/>
            </a:pPr>
            <a:fld id="{201CF5B1-68BC-4F44-89BE-2F24F67B5729}" type="datetimeFigureOut">
              <a:rPr lang="en-US"/>
              <a:pPr>
                <a:defRPr/>
              </a:pPr>
              <a:t>30-Apr-2024</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defRPr>
            </a:lvl1pPr>
          </a:lstStyle>
          <a:p>
            <a:pPr>
              <a:defRPr/>
            </a:pPr>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defRPr>
            </a:lvl1pPr>
          </a:lstStyle>
          <a:p>
            <a:pPr>
              <a:defRPr/>
            </a:pPr>
            <a:fld id="{F69DAB5F-4C32-47E8-A254-E438E2D0D3F6}"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transition/>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srcRect/>
          <a:tile tx="0" ty="0" sx="100000" sy="100000" flip="none" algn="tl"/>
        </a:blipFill>
        <a:effectLst/>
      </p:bgPr>
    </p:bg>
    <p:spTree>
      <p:nvGrpSpPr>
        <p:cNvPr id="1" name=""/>
        <p:cNvGrpSpPr/>
        <p:nvPr/>
      </p:nvGrpSpPr>
      <p:grpSpPr>
        <a:xfrm>
          <a:off x="0" y="0"/>
          <a:ext cx="0" cy="0"/>
          <a:chOff x="0" y="0"/>
          <a:chExt cx="0" cy="0"/>
        </a:xfrm>
      </p:grpSpPr>
      <p:pic>
        <p:nvPicPr>
          <p:cNvPr id="11" name="Picture 10" descr="RunningTop-R.jpg"/>
          <p:cNvPicPr>
            <a:picLocks noChangeAspect="1"/>
          </p:cNvPicPr>
          <p:nvPr/>
        </p:nvPicPr>
        <p:blipFill>
          <a:blip r:embed="rId17"/>
          <a:stretch>
            <a:fillRect/>
          </a:stretch>
        </p:blipFill>
        <p:spPr>
          <a:xfrm>
            <a:off x="457200" y="457200"/>
            <a:ext cx="8229600" cy="1382002"/>
          </a:xfrm>
          <a:prstGeom prst="rect">
            <a:avLst/>
          </a:prstGeom>
        </p:spPr>
      </p:pic>
      <p:sp>
        <p:nvSpPr>
          <p:cNvPr id="2" name="Title Placeholder 1"/>
          <p:cNvSpPr>
            <a:spLocks noGrp="1"/>
          </p:cNvSpPr>
          <p:nvPr>
            <p:ph type="title"/>
          </p:nvPr>
        </p:nvSpPr>
        <p:spPr>
          <a:xfrm>
            <a:off x="658813" y="456252"/>
            <a:ext cx="7824788" cy="1323041"/>
          </a:xfrm>
          <a:prstGeom prst="rect">
            <a:avLst/>
          </a:prstGeom>
          <a:effectLst/>
        </p:spPr>
        <p:txBody>
          <a:bodyPr vert="horz" lIns="91440" tIns="0" rIns="91440" bIns="0" rtlCol="0" anchor="b" anchorCtr="0">
            <a:noAutofit/>
          </a:bodyPr>
          <a:lstStyle/>
          <a:p>
            <a:r>
              <a:rPr lang="en-US"/>
              <a:t>Click to edit Master title style</a:t>
            </a:r>
            <a:endParaRPr/>
          </a:p>
        </p:txBody>
      </p:sp>
      <p:sp>
        <p:nvSpPr>
          <p:cNvPr id="3" name="Text Placeholder 2"/>
          <p:cNvSpPr>
            <a:spLocks noGrp="1"/>
          </p:cNvSpPr>
          <p:nvPr>
            <p:ph type="body" idx="1"/>
          </p:nvPr>
        </p:nvSpPr>
        <p:spPr>
          <a:xfrm>
            <a:off x="2286000" y="2286000"/>
            <a:ext cx="6197600" cy="3840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690360" y="6492875"/>
            <a:ext cx="2133600" cy="365125"/>
          </a:xfrm>
          <a:prstGeom prst="rect">
            <a:avLst/>
          </a:prstGeom>
        </p:spPr>
        <p:txBody>
          <a:bodyPr vert="horz" lIns="91440" tIns="45720" rIns="91440" bIns="45720" rtlCol="0" anchor="ctr"/>
          <a:lstStyle>
            <a:lvl1pPr algn="r">
              <a:defRPr sz="1100" b="1">
                <a:solidFill>
                  <a:schemeClr val="bg1">
                    <a:lumMod val="65000"/>
                  </a:schemeClr>
                </a:solidFill>
                <a:latin typeface="Calibri" pitchFamily="34" charset="0"/>
              </a:defRPr>
            </a:lvl1pPr>
          </a:lstStyle>
          <a:p>
            <a:pPr>
              <a:defRPr/>
            </a:pPr>
            <a:fld id="{5E62B1BE-7229-4612-B077-302E9FB27D58}" type="datetimeFigureOut">
              <a:rPr lang="en-US" smtClean="0"/>
              <a:pPr>
                <a:defRPr/>
              </a:pPr>
              <a:t>30-Apr-2024</a:t>
            </a:fld>
            <a:endParaRPr lang="en-US" dirty="0"/>
          </a:p>
        </p:txBody>
      </p:sp>
      <p:sp>
        <p:nvSpPr>
          <p:cNvPr id="5"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
        <p:nvSpPr>
          <p:cNvPr id="6" name="Slide Number Placeholder 5"/>
          <p:cNvSpPr>
            <a:spLocks noGrp="1"/>
          </p:cNvSpPr>
          <p:nvPr>
            <p:ph type="sldNum" sz="quarter" idx="4"/>
          </p:nvPr>
        </p:nvSpPr>
        <p:spPr>
          <a:xfrm>
            <a:off x="378666" y="6149788"/>
            <a:ext cx="533400" cy="365125"/>
          </a:xfrm>
          <a:prstGeom prst="rect">
            <a:avLst/>
          </a:prstGeom>
        </p:spPr>
        <p:txBody>
          <a:bodyPr vert="horz" lIns="91440" tIns="91440" rIns="91440" bIns="91440" rtlCol="0" anchor="ctr"/>
          <a:lstStyle>
            <a:lvl1pPr algn="l">
              <a:defRPr sz="1800" b="0">
                <a:solidFill>
                  <a:schemeClr val="accent1"/>
                </a:solidFill>
                <a:latin typeface="Calibri" pitchFamily="34" charset="0"/>
              </a:defRPr>
            </a:lvl1pPr>
          </a:lstStyle>
          <a:p>
            <a:pPr>
              <a:defRPr/>
            </a:pPr>
            <a:fld id="{E4367C90-D8D8-4A11-9BC3-E7451ACC5EB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10" name="Rectangle 9"/>
          <p:cNvSpPr/>
          <p:nvPr/>
        </p:nvSpPr>
        <p:spPr>
          <a:xfrm>
            <a:off x="457200" y="184096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Lst>
  <p:transition/>
  <p:txStyles>
    <p:titleStyle>
      <a:lvl1pPr algn="r" defTabSz="914400" rtl="0" eaLnBrk="1" latinLnBrk="0" hangingPunct="1">
        <a:lnSpc>
          <a:spcPts val="5400"/>
        </a:lnSpc>
        <a:spcBef>
          <a:spcPct val="0"/>
        </a:spcBef>
        <a:buNone/>
        <a:defRPr sz="5200" kern="1200">
          <a:solidFill>
            <a:schemeClr val="bg1"/>
          </a:solidFill>
          <a:effectLst>
            <a:outerShdw blurRad="50800" dist="38100" dir="2700000" algn="tl" rotWithShape="0">
              <a:prstClr val="black">
                <a:alpha val="40000"/>
              </a:prstClr>
            </a:outerShdw>
          </a:effectLst>
          <a:latin typeface="+mj-lt"/>
          <a:ea typeface="+mj-ea"/>
          <a:cs typeface="+mj-cs"/>
        </a:defRPr>
      </a:lvl1pPr>
    </p:titleStyle>
    <p:bodyStyle>
      <a:lvl1pPr marL="282575" indent="-282575" algn="l" defTabSz="914400" rtl="0" eaLnBrk="1" latinLnBrk="0" hangingPunct="1">
        <a:spcBef>
          <a:spcPts val="1800"/>
        </a:spcBef>
        <a:buClr>
          <a:schemeClr val="accent1"/>
        </a:buClr>
        <a:buSzPct val="75000"/>
        <a:buFont typeface="Wingdings" pitchFamily="2" charset="2"/>
        <a:buChar char="n"/>
        <a:defRPr sz="2000" kern="1200">
          <a:solidFill>
            <a:schemeClr val="tx1">
              <a:lumMod val="85000"/>
              <a:lumOff val="15000"/>
            </a:schemeClr>
          </a:solidFill>
          <a:latin typeface="+mn-lt"/>
          <a:ea typeface="+mn-ea"/>
          <a:cs typeface="+mn-cs"/>
        </a:defRPr>
      </a:lvl1pPr>
      <a:lvl2pPr marL="577850" indent="-2952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2pPr>
      <a:lvl3pPr marL="86042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3pPr>
      <a:lvl4pPr marL="1143000"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4pPr>
      <a:lvl5pPr marL="142557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2.xml"/><Relationship Id="rId1" Type="http://schemas.openxmlformats.org/officeDocument/2006/relationships/vmlDrawing" Target="../drawings/vmlDrawing1.vml"/><Relationship Id="rId5" Type="http://schemas.openxmlformats.org/officeDocument/2006/relationships/image" Target="../media/image19.png"/><Relationship Id="rId4" Type="http://schemas.openxmlformats.org/officeDocument/2006/relationships/package" Target="../embeddings/Microsoft_Word_Document.docx"/></Relationships>
</file>

<file path=ppt/slides/_rels/slide8.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8.xml"/><Relationship Id="rId1" Type="http://schemas.openxmlformats.org/officeDocument/2006/relationships/slideLayout" Target="../slideLayouts/slideLayout22.xml"/><Relationship Id="rId4" Type="http://schemas.openxmlformats.org/officeDocument/2006/relationships/image" Target="../media/image21.gif"/></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1.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20.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1.xml"/><Relationship Id="rId1" Type="http://schemas.openxmlformats.org/officeDocument/2006/relationships/slideLayout" Target="../slideLayouts/slideLayout20.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0.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3.xml"/><Relationship Id="rId1" Type="http://schemas.openxmlformats.org/officeDocument/2006/relationships/slideLayout" Target="../slideLayouts/slideLayout20.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8" Type="http://schemas.openxmlformats.org/officeDocument/2006/relationships/image" Target="../media/image23.emf"/><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6.xml"/><Relationship Id="rId1" Type="http://schemas.openxmlformats.org/officeDocument/2006/relationships/slideLayout" Target="../slideLayouts/slideLayout20.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 Id="rId9" Type="http://schemas.openxmlformats.org/officeDocument/2006/relationships/image" Target="../media/image24.wmf"/></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19.xml"/><Relationship Id="rId1" Type="http://schemas.openxmlformats.org/officeDocument/2006/relationships/slideLayout" Target="../slideLayouts/slideLayout20.xml"/><Relationship Id="rId4" Type="http://schemas.openxmlformats.org/officeDocument/2006/relationships/image" Target="../media/image27.wmf"/></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1.xml"/><Relationship Id="rId1" Type="http://schemas.openxmlformats.org/officeDocument/2006/relationships/slideLayout" Target="../slideLayouts/slideLayout20.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5.xml"/><Relationship Id="rId1" Type="http://schemas.openxmlformats.org/officeDocument/2006/relationships/slideLayout" Target="../slideLayouts/slideLayout20.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Title 1"/>
          <p:cNvSpPr>
            <a:spLocks noGrp="1"/>
          </p:cNvSpPr>
          <p:nvPr>
            <p:ph type="title"/>
          </p:nvPr>
        </p:nvSpPr>
        <p:spPr/>
        <p:txBody>
          <a:bodyPr/>
          <a:lstStyle/>
          <a:p>
            <a:pPr eaLnBrk="1" hangingPunct="1"/>
            <a:br>
              <a:rPr lang="en-US" dirty="0"/>
            </a:br>
            <a:r>
              <a:rPr lang="en-US" dirty="0"/>
              <a:t>Concurrency: Deadlock and Starvation</a:t>
            </a:r>
          </a:p>
        </p:txBody>
      </p:sp>
      <p:sp>
        <p:nvSpPr>
          <p:cNvPr id="3" name="Subtitle 2"/>
          <p:cNvSpPr>
            <a:spLocks noGrp="1"/>
          </p:cNvSpPr>
          <p:nvPr>
            <p:ph type="body" idx="1"/>
          </p:nvPr>
        </p:nvSpPr>
        <p:spPr>
          <a:xfrm>
            <a:off x="381000" y="1371600"/>
            <a:ext cx="2057400" cy="3173104"/>
          </a:xfrm>
        </p:spPr>
        <p:txBody>
          <a:bodyPr rtlCol="0">
            <a:normAutofit/>
          </a:bodyPr>
          <a:lstStyle/>
          <a:p>
            <a:pPr lvl="0">
              <a:defRPr/>
            </a:pPr>
            <a:r>
              <a:rPr lang="en-US" sz="3200" i="1" dirty="0">
                <a:solidFill>
                  <a:schemeClr val="bg2">
                    <a:lumMod val="25000"/>
                  </a:schemeClr>
                </a:solidFill>
              </a:rPr>
              <a:t>Operating Systems:</a:t>
            </a:r>
            <a:br>
              <a:rPr lang="en-US" sz="3200" i="1" dirty="0">
                <a:solidFill>
                  <a:schemeClr val="bg2">
                    <a:lumMod val="25000"/>
                  </a:schemeClr>
                </a:solidFill>
              </a:rPr>
            </a:br>
            <a:r>
              <a:rPr lang="en-US" sz="3200" i="1" dirty="0">
                <a:solidFill>
                  <a:schemeClr val="bg2">
                    <a:lumMod val="25000"/>
                  </a:schemeClr>
                </a:solidFill>
              </a:rPr>
              <a:t>Internals and Design Principles</a:t>
            </a:r>
          </a:p>
          <a:p>
            <a:pPr eaLnBrk="1" fontAlgn="auto" hangingPunct="1">
              <a:spcAft>
                <a:spcPts val="0"/>
              </a:spcAft>
              <a:buFont typeface="Arial" pitchFamily="34" charset="0"/>
              <a:buNone/>
              <a:defRPr/>
            </a:pPr>
            <a:endParaRPr lang="en-US" i="1" dirty="0"/>
          </a:p>
        </p:txBody>
      </p:sp>
      <p:sp>
        <p:nvSpPr>
          <p:cNvPr id="4" name="Footer Placeholder 3"/>
          <p:cNvSpPr>
            <a:spLocks noGrp="1"/>
          </p:cNvSpPr>
          <p:nvPr>
            <p:ph type="ftr" sz="quarter" idx="11"/>
          </p:nvPr>
        </p:nvSpPr>
        <p:spPr>
          <a:xfrm>
            <a:off x="5410200" y="4953000"/>
            <a:ext cx="3048000" cy="1066800"/>
          </a:xfrm>
        </p:spPr>
        <p:txBody>
          <a:bodyPr/>
          <a:lstStyle/>
          <a:p>
            <a:pPr>
              <a:defRPr/>
            </a:pPr>
            <a:br>
              <a:rPr lang="en-US" dirty="0"/>
            </a:br>
            <a:endParaRPr lang="en-US"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sz="3600" dirty="0">
                <a:solidFill>
                  <a:schemeClr val="accent1">
                    <a:lumMod val="75000"/>
                  </a:schemeClr>
                </a:solidFill>
              </a:rPr>
              <a:t>Operating Systems:</a:t>
            </a:r>
            <a:br>
              <a:rPr lang="en-US" sz="3600" dirty="0">
                <a:solidFill>
                  <a:schemeClr val="accent1">
                    <a:lumMod val="75000"/>
                  </a:schemeClr>
                </a:solidFill>
              </a:rPr>
            </a:br>
            <a:r>
              <a:rPr lang="en-US" sz="3600" dirty="0">
                <a:solidFill>
                  <a:schemeClr val="accent1">
                    <a:lumMod val="75000"/>
                  </a:schemeClr>
                </a:solidFill>
              </a:rPr>
              <a:t>Internals and Design Principles</a:t>
            </a:r>
            <a:endParaRPr lang="en-US" sz="3600" dirty="0"/>
          </a:p>
        </p:txBody>
      </p:sp>
      <p:sp>
        <p:nvSpPr>
          <p:cNvPr id="3" name="Content Placeholder 2"/>
          <p:cNvSpPr>
            <a:spLocks noGrp="1"/>
          </p:cNvSpPr>
          <p:nvPr>
            <p:ph idx="4294967295"/>
          </p:nvPr>
        </p:nvSpPr>
        <p:spPr>
          <a:xfrm>
            <a:off x="533400" y="2286000"/>
            <a:ext cx="8001000" cy="4876800"/>
          </a:xfrm>
        </p:spPr>
        <p:txBody>
          <a:bodyPr/>
          <a:lstStyle/>
          <a:p>
            <a:pPr>
              <a:buNone/>
            </a:pPr>
            <a:r>
              <a:rPr lang="en-US" sz="3000" i="1" dirty="0"/>
              <a:t>When two trains approach each other at a crossing, both shall come to a full stop and neither shall start up again until the other has gone. Statute passed by the Kansas State Legislature, early in the 20th century.</a:t>
            </a:r>
          </a:p>
          <a:p>
            <a:pPr>
              <a:buNone/>
            </a:pPr>
            <a:endParaRPr lang="en-US" i="1" dirty="0"/>
          </a:p>
          <a:p>
            <a:pPr algn="r">
              <a:spcBef>
                <a:spcPts val="0"/>
              </a:spcBef>
              <a:buNone/>
            </a:pPr>
            <a:r>
              <a:rPr lang="en-US" sz="2200" dirty="0"/>
              <a:t>—</a:t>
            </a:r>
            <a:r>
              <a:rPr lang="en-US" sz="2200" i="1" dirty="0"/>
              <a:t>A TREASURY OF RAILROAD FOLKLORE,</a:t>
            </a:r>
          </a:p>
          <a:p>
            <a:pPr algn="r">
              <a:spcBef>
                <a:spcPts val="0"/>
              </a:spcBef>
              <a:buNone/>
            </a:pPr>
            <a:r>
              <a:rPr lang="en-US" sz="2200" dirty="0"/>
              <a:t>B. A. </a:t>
            </a:r>
            <a:r>
              <a:rPr lang="en-US" sz="2200" dirty="0" err="1"/>
              <a:t>Botkin</a:t>
            </a:r>
            <a:r>
              <a:rPr lang="en-US" sz="2200" dirty="0"/>
              <a:t> and Alvin F. Harlow</a:t>
            </a:r>
          </a:p>
        </p:txBody>
      </p:sp>
      <p:pic>
        <p:nvPicPr>
          <p:cNvPr id="5" name="Picture 4"/>
          <p:cNvPicPr>
            <a:picLocks noChangeAspect="1"/>
          </p:cNvPicPr>
          <p:nvPr/>
        </p:nvPicPr>
        <p:blipFill>
          <a:blip r:embed="rId3"/>
          <a:stretch>
            <a:fillRect/>
          </a:stretch>
        </p:blipFill>
        <p:spPr>
          <a:xfrm>
            <a:off x="685800" y="4724400"/>
            <a:ext cx="1828800" cy="1771650"/>
          </a:xfrm>
          <a:prstGeom prst="rect">
            <a:avLst/>
          </a:prstGeom>
        </p:spPr>
      </p:pic>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a:xfrm>
            <a:off x="658813" y="456252"/>
            <a:ext cx="7824788" cy="1220147"/>
          </a:xfrm>
        </p:spPr>
        <p:txBody>
          <a:bodyPr/>
          <a:lstStyle/>
          <a:p>
            <a:pPr algn="l"/>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Deadlock</a:t>
            </a:r>
          </a:p>
        </p:txBody>
      </p:sp>
      <p:sp>
        <p:nvSpPr>
          <p:cNvPr id="4" name="Content Placeholder 3"/>
          <p:cNvSpPr>
            <a:spLocks noGrp="1"/>
          </p:cNvSpPr>
          <p:nvPr>
            <p:ph sz="half" idx="1"/>
          </p:nvPr>
        </p:nvSpPr>
        <p:spPr>
          <a:xfrm>
            <a:off x="658904" y="2286000"/>
            <a:ext cx="7418296" cy="3840163"/>
          </a:xfrm>
        </p:spPr>
        <p:txBody>
          <a:bodyPr>
            <a:normAutofit fontScale="85000" lnSpcReduction="20000"/>
          </a:bodyPr>
          <a:lstStyle/>
          <a:p>
            <a:r>
              <a:rPr lang="en-NZ" sz="3000" dirty="0"/>
              <a:t>The permanent blocking of a set of processes that either compete for system resources or communicate with each other</a:t>
            </a:r>
          </a:p>
          <a:p>
            <a:r>
              <a:rPr lang="en-NZ" sz="3000" dirty="0"/>
              <a:t>A set of processes is deadlocked when each process in the set is blocked awaiting an event that can only be triggered by another blocked process in the set</a:t>
            </a:r>
          </a:p>
          <a:p>
            <a:r>
              <a:rPr lang="en-NZ" sz="3000" dirty="0"/>
              <a:t>Permanent</a:t>
            </a:r>
          </a:p>
          <a:p>
            <a:r>
              <a:rPr lang="en-US" sz="3000" dirty="0"/>
              <a:t>No efficient solution</a:t>
            </a:r>
          </a:p>
        </p:txBody>
      </p:sp>
      <p:pic>
        <p:nvPicPr>
          <p:cNvPr id="5" name="Picture 4"/>
          <p:cNvPicPr>
            <a:picLocks noChangeAspect="1"/>
          </p:cNvPicPr>
          <p:nvPr/>
        </p:nvPicPr>
        <p:blipFill>
          <a:blip r:embed="rId3"/>
          <a:stretch>
            <a:fillRect/>
          </a:stretch>
        </p:blipFill>
        <p:spPr>
          <a:xfrm>
            <a:off x="6934200" y="4824211"/>
            <a:ext cx="1752600" cy="1616835"/>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2000"/>
                                        <p:tgtEl>
                                          <p:spTgt spid="4">
                                            <p:txEl>
                                              <p:pRg st="1" end="1"/>
                                            </p:txEl>
                                          </p:spTgt>
                                        </p:tgtEl>
                                      </p:cBhvr>
                                    </p:animEffect>
                                  </p:childTnLst>
                                </p:cTn>
                              </p:par>
                            </p:childTnLst>
                          </p:cTn>
                        </p:par>
                        <p:par>
                          <p:cTn id="8" fill="hold">
                            <p:stCondLst>
                              <p:cond delay="3000"/>
                            </p:stCondLst>
                            <p:childTnLst>
                              <p:par>
                                <p:cTn id="9" presetID="37" presetClass="entr" presetSubtype="0" fill="hold" grpId="1" nodeType="afterEffect">
                                  <p:stCondLst>
                                    <p:cond delay="500"/>
                                  </p:stCondLst>
                                  <p:childTnLst>
                                    <p:set>
                                      <p:cBhvr>
                                        <p:cTn id="10" dur="1" fill="hold">
                                          <p:stCondLst>
                                            <p:cond delay="0"/>
                                          </p:stCondLst>
                                        </p:cTn>
                                        <p:tgtEl>
                                          <p:spTgt spid="4">
                                            <p:txEl>
                                              <p:pRg st="2" end="2"/>
                                            </p:txEl>
                                          </p:spTgt>
                                        </p:tgtEl>
                                        <p:attrNameLst>
                                          <p:attrName>style.visibility</p:attrName>
                                        </p:attrNameLst>
                                      </p:cBhvr>
                                      <p:to>
                                        <p:strVal val="visible"/>
                                      </p:to>
                                    </p:set>
                                    <p:animEffect transition="in" filter="fade">
                                      <p:cBhvr>
                                        <p:cTn id="11" dur="1000"/>
                                        <p:tgtEl>
                                          <p:spTgt spid="4">
                                            <p:txEl>
                                              <p:pRg st="2" end="2"/>
                                            </p:txEl>
                                          </p:spTgt>
                                        </p:tgtEl>
                                      </p:cBhvr>
                                    </p:animEffect>
                                    <p:anim calcmode="lin" valueType="num">
                                      <p:cBhvr>
                                        <p:cTn id="1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3" dur="900" decel="100000" fill="hold"/>
                                        <p:tgtEl>
                                          <p:spTgt spid="4">
                                            <p:txEl>
                                              <p:pRg st="2" end="2"/>
                                            </p:txEl>
                                          </p:spTgt>
                                        </p:tgtEl>
                                        <p:attrNameLst>
                                          <p:attrName>ppt_y</p:attrName>
                                        </p:attrNameLst>
                                      </p:cBhvr>
                                      <p:tavLst>
                                        <p:tav tm="0">
                                          <p:val>
                                            <p:strVal val="#ppt_y+1"/>
                                          </p:val>
                                        </p:tav>
                                        <p:tav tm="100000">
                                          <p:val>
                                            <p:strVal val="#ppt_y-.03"/>
                                          </p:val>
                                        </p:tav>
                                      </p:tavLst>
                                    </p:anim>
                                    <p:anim calcmode="lin" valueType="num">
                                      <p:cBhvr>
                                        <p:cTn id="14" dur="100" accel="100000" fill="hold">
                                          <p:stCondLst>
                                            <p:cond delay="900"/>
                                          </p:stCondLst>
                                        </p:cTn>
                                        <p:tgtEl>
                                          <p:spTgt spid="4">
                                            <p:txEl>
                                              <p:pRg st="2" end="2"/>
                                            </p:txEl>
                                          </p:spTgt>
                                        </p:tgtEl>
                                        <p:attrNameLst>
                                          <p:attrName>ppt_y</p:attrName>
                                        </p:attrNameLst>
                                      </p:cBhvr>
                                      <p:tavLst>
                                        <p:tav tm="0">
                                          <p:val>
                                            <p:strVal val="#ppt_y-.03"/>
                                          </p:val>
                                        </p:tav>
                                        <p:tav tm="100000">
                                          <p:val>
                                            <p:strVal val="#ppt_y"/>
                                          </p:val>
                                        </p:tav>
                                      </p:tavLst>
                                    </p:anim>
                                  </p:childTnLst>
                                </p:cTn>
                              </p:par>
                            </p:childTnLst>
                          </p:cTn>
                        </p:par>
                        <p:par>
                          <p:cTn id="15" fill="hold">
                            <p:stCondLst>
                              <p:cond delay="4500"/>
                            </p:stCondLst>
                            <p:childTnLst>
                              <p:par>
                                <p:cTn id="16" presetID="37" presetClass="entr" presetSubtype="0" fill="hold" grpId="1" nodeType="after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1000"/>
                                        <p:tgtEl>
                                          <p:spTgt spid="4">
                                            <p:txEl>
                                              <p:pRg st="3" end="3"/>
                                            </p:txEl>
                                          </p:spTgt>
                                        </p:tgtEl>
                                      </p:cBhvr>
                                    </p:animEffect>
                                    <p:anim calcmode="lin" valueType="num">
                                      <p:cBhvr>
                                        <p:cTn id="1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20" dur="900" decel="100000" fill="hold"/>
                                        <p:tgtEl>
                                          <p:spTgt spid="4">
                                            <p:txEl>
                                              <p:pRg st="3" end="3"/>
                                            </p:txEl>
                                          </p:spTgt>
                                        </p:tgtEl>
                                        <p:attrNameLst>
                                          <p:attrName>ppt_y</p:attrName>
                                        </p:attrNameLst>
                                      </p:cBhvr>
                                      <p:tavLst>
                                        <p:tav tm="0">
                                          <p:val>
                                            <p:strVal val="#ppt_y+1"/>
                                          </p:val>
                                        </p:tav>
                                        <p:tav tm="100000">
                                          <p:val>
                                            <p:strVal val="#ppt_y-.03"/>
                                          </p:val>
                                        </p:tav>
                                      </p:tavLst>
                                    </p:anim>
                                    <p:anim calcmode="lin" valueType="num">
                                      <p:cBhvr>
                                        <p:cTn id="21" dur="100" accel="100000" fill="hold">
                                          <p:stCondLst>
                                            <p:cond delay="900"/>
                                          </p:stCondLst>
                                        </p:cTn>
                                        <p:tgtEl>
                                          <p:spTgt spid="4">
                                            <p:txEl>
                                              <p:pRg st="3" end="3"/>
                                            </p:txEl>
                                          </p:spTgt>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4" grpI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0" y="0"/>
            <a:ext cx="7824788" cy="1323975"/>
          </a:xfrm>
        </p:spPr>
        <p:txBody>
          <a:bodyPr/>
          <a:lstStyle/>
          <a:p>
            <a:r>
              <a:rPr lang="en-NZ" b="1" dirty="0">
                <a:solidFill>
                  <a:schemeClr val="accent6">
                    <a:lumMod val="50000"/>
                  </a:schemeClr>
                </a:solidFill>
              </a:rPr>
              <a:t>Potential Deadlock </a:t>
            </a:r>
          </a:p>
        </p:txBody>
      </p:sp>
      <p:pic>
        <p:nvPicPr>
          <p:cNvPr id="1026" name="Picture 2"/>
          <p:cNvPicPr>
            <a:picLocks noChangeAspect="1" noChangeArrowheads="1"/>
          </p:cNvPicPr>
          <p:nvPr/>
        </p:nvPicPr>
        <p:blipFill>
          <a:blip r:embed="rId3"/>
          <a:srcRect/>
          <a:stretch>
            <a:fillRect/>
          </a:stretch>
        </p:blipFill>
        <p:spPr bwMode="auto">
          <a:xfrm>
            <a:off x="2471738" y="1839913"/>
            <a:ext cx="4200525" cy="4179887"/>
          </a:xfrm>
          <a:prstGeom prst="rect">
            <a:avLst/>
          </a:prstGeom>
          <a:noFill/>
          <a:ln w="9525">
            <a:noFill/>
            <a:miter lim="800000"/>
            <a:headEnd/>
            <a:tailEnd/>
          </a:ln>
          <a:effectLst/>
        </p:spPr>
      </p:pic>
      <p:pic>
        <p:nvPicPr>
          <p:cNvPr id="1027" name="Picture 3"/>
          <p:cNvPicPr>
            <a:picLocks noChangeAspect="1" noChangeArrowheads="1"/>
          </p:cNvPicPr>
          <p:nvPr/>
        </p:nvPicPr>
        <p:blipFill>
          <a:blip r:embed="rId4"/>
          <a:srcRect/>
          <a:stretch>
            <a:fillRect/>
          </a:stretch>
        </p:blipFill>
        <p:spPr bwMode="auto">
          <a:xfrm>
            <a:off x="4168321" y="-838200"/>
            <a:ext cx="349250" cy="730250"/>
          </a:xfrm>
          <a:prstGeom prst="rect">
            <a:avLst/>
          </a:prstGeom>
          <a:noFill/>
          <a:ln w="9525">
            <a:noFill/>
            <a:miter lim="800000"/>
            <a:headEnd/>
            <a:tailEnd/>
          </a:ln>
          <a:effectLst/>
        </p:spPr>
      </p:pic>
      <p:pic>
        <p:nvPicPr>
          <p:cNvPr id="1028" name="Picture 4"/>
          <p:cNvPicPr>
            <a:picLocks noChangeAspect="1" noChangeArrowheads="1"/>
          </p:cNvPicPr>
          <p:nvPr/>
        </p:nvPicPr>
        <p:blipFill>
          <a:blip r:embed="rId5"/>
          <a:srcRect/>
          <a:stretch>
            <a:fillRect/>
          </a:stretch>
        </p:blipFill>
        <p:spPr bwMode="auto">
          <a:xfrm>
            <a:off x="4604658" y="7035800"/>
            <a:ext cx="379413" cy="660400"/>
          </a:xfrm>
          <a:prstGeom prst="rect">
            <a:avLst/>
          </a:prstGeom>
          <a:noFill/>
          <a:ln w="9525">
            <a:noFill/>
            <a:miter lim="800000"/>
            <a:headEnd/>
            <a:tailEnd/>
          </a:ln>
          <a:effectLst/>
        </p:spPr>
      </p:pic>
      <p:pic>
        <p:nvPicPr>
          <p:cNvPr id="1029" name="Picture 5"/>
          <p:cNvPicPr>
            <a:picLocks noChangeAspect="1" noChangeArrowheads="1"/>
          </p:cNvPicPr>
          <p:nvPr/>
        </p:nvPicPr>
        <p:blipFill>
          <a:blip r:embed="rId6"/>
          <a:srcRect/>
          <a:stretch>
            <a:fillRect/>
          </a:stretch>
        </p:blipFill>
        <p:spPr bwMode="auto">
          <a:xfrm>
            <a:off x="9297987" y="3528558"/>
            <a:ext cx="760413" cy="379413"/>
          </a:xfrm>
          <a:prstGeom prst="rect">
            <a:avLst/>
          </a:prstGeom>
          <a:noFill/>
          <a:ln w="9525">
            <a:noFill/>
            <a:miter lim="800000"/>
            <a:headEnd/>
            <a:tailEnd/>
          </a:ln>
          <a:effectLst/>
        </p:spPr>
      </p:pic>
      <p:pic>
        <p:nvPicPr>
          <p:cNvPr id="1030" name="Picture 6"/>
          <p:cNvPicPr>
            <a:picLocks noChangeAspect="1" noChangeArrowheads="1"/>
          </p:cNvPicPr>
          <p:nvPr/>
        </p:nvPicPr>
        <p:blipFill>
          <a:blip r:embed="rId7"/>
          <a:srcRect/>
          <a:stretch>
            <a:fillRect/>
          </a:stretch>
        </p:blipFill>
        <p:spPr bwMode="auto">
          <a:xfrm>
            <a:off x="-914400" y="4006171"/>
            <a:ext cx="700087" cy="369887"/>
          </a:xfrm>
          <a:prstGeom prst="rect">
            <a:avLst/>
          </a:prstGeom>
          <a:noFill/>
          <a:ln w="9525">
            <a:noFill/>
            <a:miter lim="800000"/>
            <a:headEnd/>
            <a:tailEnd/>
          </a:ln>
          <a:effectLst/>
        </p:spPr>
      </p:pic>
      <p:pic>
        <p:nvPicPr>
          <p:cNvPr id="1031" name="Picture 7"/>
          <p:cNvPicPr>
            <a:picLocks noChangeAspect="1" noChangeArrowheads="1"/>
          </p:cNvPicPr>
          <p:nvPr/>
        </p:nvPicPr>
        <p:blipFill>
          <a:blip r:embed="rId8"/>
          <a:srcRect/>
          <a:stretch>
            <a:fillRect/>
          </a:stretch>
        </p:blipFill>
        <p:spPr bwMode="auto">
          <a:xfrm>
            <a:off x="2476500" y="1870075"/>
            <a:ext cx="4189413" cy="4149725"/>
          </a:xfrm>
          <a:prstGeom prst="rect">
            <a:avLst/>
          </a:prstGeom>
          <a:noFill/>
          <a:ln w="9525">
            <a:noFill/>
            <a:miter lim="800000"/>
            <a:headEnd/>
            <a:tailEnd/>
          </a:ln>
          <a:effectLst/>
        </p:spPr>
      </p:pic>
      <p:sp>
        <p:nvSpPr>
          <p:cNvPr id="9" name="Cloud Callout 8"/>
          <p:cNvSpPr/>
          <p:nvPr/>
        </p:nvSpPr>
        <p:spPr>
          <a:xfrm>
            <a:off x="6477000" y="4191000"/>
            <a:ext cx="2667000" cy="1524000"/>
          </a:xfrm>
          <a:prstGeom prst="cloudCallout">
            <a:avLst>
              <a:gd name="adj1" fmla="val -100017"/>
              <a:gd name="adj2" fmla="val -2178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dirty="0"/>
              <a:t>I need quad A and B</a:t>
            </a:r>
          </a:p>
        </p:txBody>
      </p:sp>
      <p:sp>
        <p:nvSpPr>
          <p:cNvPr id="11" name="Cloud Callout 10"/>
          <p:cNvSpPr/>
          <p:nvPr/>
        </p:nvSpPr>
        <p:spPr>
          <a:xfrm>
            <a:off x="5943600" y="1600200"/>
            <a:ext cx="2667000" cy="1524000"/>
          </a:xfrm>
          <a:prstGeom prst="cloudCallout">
            <a:avLst>
              <a:gd name="adj1" fmla="val -91037"/>
              <a:gd name="adj2" fmla="val 6678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dirty="0"/>
              <a:t>I need quad B and C</a:t>
            </a:r>
          </a:p>
        </p:txBody>
      </p:sp>
      <p:sp>
        <p:nvSpPr>
          <p:cNvPr id="12" name="Cloud Callout 11"/>
          <p:cNvSpPr/>
          <p:nvPr/>
        </p:nvSpPr>
        <p:spPr>
          <a:xfrm>
            <a:off x="228600" y="1524000"/>
            <a:ext cx="2667000" cy="1524000"/>
          </a:xfrm>
          <a:prstGeom prst="cloudCallout">
            <a:avLst>
              <a:gd name="adj1" fmla="val 91820"/>
              <a:gd name="adj2" fmla="val 5678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dirty="0"/>
              <a:t>I need quad C and D</a:t>
            </a:r>
          </a:p>
        </p:txBody>
      </p:sp>
      <p:sp>
        <p:nvSpPr>
          <p:cNvPr id="13" name="Cloud Callout 12"/>
          <p:cNvSpPr/>
          <p:nvPr/>
        </p:nvSpPr>
        <p:spPr>
          <a:xfrm>
            <a:off x="609600" y="4648200"/>
            <a:ext cx="2667000" cy="1524000"/>
          </a:xfrm>
          <a:prstGeom prst="cloudCallout">
            <a:avLst>
              <a:gd name="adj1" fmla="val 60800"/>
              <a:gd name="adj2" fmla="val -7321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dirty="0"/>
              <a:t>I need quad D and A</a:t>
            </a:r>
          </a:p>
        </p:txBody>
      </p:sp>
    </p:spTree>
  </p:cSld>
  <p:clrMapOvr>
    <a:masterClrMapping/>
  </p:clrMapOvr>
  <p:transition spd="med">
    <p:pull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1031"/>
                                        </p:tgtEl>
                                        <p:attrNameLst>
                                          <p:attrName>style.visibility</p:attrName>
                                        </p:attrNameLst>
                                      </p:cBhvr>
                                      <p:to>
                                        <p:strVal val="hidden"/>
                                      </p:to>
                                    </p:set>
                                  </p:childTnLst>
                                </p:cTn>
                              </p:par>
                              <p:par>
                                <p:cTn id="7" presetID="0" presetClass="path" presetSubtype="0" accel="50000" decel="50000" fill="hold" nodeType="withEffect">
                                  <p:stCondLst>
                                    <p:cond delay="0"/>
                                  </p:stCondLst>
                                  <p:childTnLst>
                                    <p:animMotion origin="layout" path="M -2.77778E-6 -4.81481E-6 L -2.77778E-6 0.51111 " pathEditMode="relative" ptsTypes="AA">
                                      <p:cBhvr>
                                        <p:cTn id="8" dur="2000" fill="hold"/>
                                        <p:tgtEl>
                                          <p:spTgt spid="1027"/>
                                        </p:tgtEl>
                                        <p:attrNameLst>
                                          <p:attrName>ppt_x</p:attrName>
                                          <p:attrName>ppt_y</p:attrName>
                                        </p:attrNameLst>
                                      </p:cBhvr>
                                    </p:animMotion>
                                  </p:childTnLst>
                                </p:cTn>
                              </p:par>
                              <p:par>
                                <p:cTn id="9" presetID="0" presetClass="path" presetSubtype="0" accel="50000" decel="50000" fill="hold" nodeType="withEffect">
                                  <p:stCondLst>
                                    <p:cond delay="0"/>
                                  </p:stCondLst>
                                  <p:childTnLst>
                                    <p:animMotion origin="layout" path="M -3.33333E-6 3.7037E-7 L -0.46666 0.00231 " pathEditMode="relative" rAng="0" ptsTypes="AA">
                                      <p:cBhvr>
                                        <p:cTn id="10" dur="2000" fill="hold"/>
                                        <p:tgtEl>
                                          <p:spTgt spid="1029"/>
                                        </p:tgtEl>
                                        <p:attrNameLst>
                                          <p:attrName>ppt_x</p:attrName>
                                          <p:attrName>ppt_y</p:attrName>
                                        </p:attrNameLst>
                                      </p:cBhvr>
                                      <p:rCtr x="-233" y="1"/>
                                    </p:animMotion>
                                  </p:childTnLst>
                                </p:cTn>
                              </p:par>
                              <p:par>
                                <p:cTn id="11" presetID="0" presetClass="path" presetSubtype="0" accel="50000" decel="50000" fill="hold" nodeType="withEffect">
                                  <p:stCondLst>
                                    <p:cond delay="0"/>
                                  </p:stCondLst>
                                  <p:childTnLst>
                                    <p:animMotion origin="layout" path="M 3.05556E-6 8.51852E-6 L 3.05556E-6 -0.37777 " pathEditMode="relative" ptsTypes="AA">
                                      <p:cBhvr>
                                        <p:cTn id="12" dur="2000" fill="hold"/>
                                        <p:tgtEl>
                                          <p:spTgt spid="1028"/>
                                        </p:tgtEl>
                                        <p:attrNameLst>
                                          <p:attrName>ppt_x</p:attrName>
                                          <p:attrName>ppt_y</p:attrName>
                                        </p:attrNameLst>
                                      </p:cBhvr>
                                    </p:animMotion>
                                  </p:childTnLst>
                                </p:cTn>
                              </p:par>
                              <p:par>
                                <p:cTn id="13" presetID="0" presetClass="path" presetSubtype="0" accel="50000" decel="50000" fill="hold" nodeType="withEffect">
                                  <p:stCondLst>
                                    <p:cond delay="0"/>
                                  </p:stCondLst>
                                  <p:childTnLst>
                                    <p:animMotion origin="layout" path="M 1.94444E-6 -1.11111E-6 L 0.4783 -1.11111E-6 " pathEditMode="relative" rAng="0" ptsTypes="AA">
                                      <p:cBhvr>
                                        <p:cTn id="14" dur="2000" fill="hold"/>
                                        <p:tgtEl>
                                          <p:spTgt spid="1030"/>
                                        </p:tgtEl>
                                        <p:attrNameLst>
                                          <p:attrName>ppt_x</p:attrName>
                                          <p:attrName>ppt_y</p:attrName>
                                        </p:attrNameLst>
                                      </p:cBhvr>
                                      <p:rCtr x="239" y="0"/>
                                    </p:animMotion>
                                  </p:childTnLst>
                                </p:cTn>
                              </p:par>
                            </p:childTnLst>
                          </p:cTn>
                        </p:par>
                        <p:par>
                          <p:cTn id="15" fill="hold">
                            <p:stCondLst>
                              <p:cond delay="2000"/>
                            </p:stCondLst>
                            <p:childTnLst>
                              <p:par>
                                <p:cTn id="16" presetID="22" presetClass="entr" presetSubtype="8" fill="hold" grpId="1" nodeType="afterEffect">
                                  <p:stCondLst>
                                    <p:cond delay="1000"/>
                                  </p:stCondLst>
                                  <p:childTnLst>
                                    <p:set>
                                      <p:cBhvr>
                                        <p:cTn id="17" dur="1" fill="hold">
                                          <p:stCondLst>
                                            <p:cond delay="0"/>
                                          </p:stCondLst>
                                        </p:cTn>
                                        <p:tgtEl>
                                          <p:spTgt spid="9"/>
                                        </p:tgtEl>
                                        <p:attrNameLst>
                                          <p:attrName>style.visibility</p:attrName>
                                        </p:attrNameLst>
                                      </p:cBhvr>
                                      <p:to>
                                        <p:strVal val="visible"/>
                                      </p:to>
                                    </p:set>
                                    <p:animEffect transition="in" filter="wipe(left)">
                                      <p:cBhvr>
                                        <p:cTn id="18" dur="500"/>
                                        <p:tgtEl>
                                          <p:spTgt spid="9"/>
                                        </p:tgtEl>
                                      </p:cBhvr>
                                    </p:animEffect>
                                  </p:childTnLst>
                                </p:cTn>
                              </p:par>
                            </p:childTnLst>
                          </p:cTn>
                        </p:par>
                        <p:par>
                          <p:cTn id="19" fill="hold">
                            <p:stCondLst>
                              <p:cond delay="3500"/>
                            </p:stCondLst>
                            <p:childTnLst>
                              <p:par>
                                <p:cTn id="20" presetID="22" presetClass="entr" presetSubtype="8"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left)">
                                      <p:cBhvr>
                                        <p:cTn id="22" dur="500"/>
                                        <p:tgtEl>
                                          <p:spTgt spid="11"/>
                                        </p:tgtEl>
                                      </p:cBhvr>
                                    </p:animEffect>
                                  </p:childTnLst>
                                </p:cTn>
                              </p:par>
                            </p:childTnLst>
                          </p:cTn>
                        </p:par>
                        <p:par>
                          <p:cTn id="23" fill="hold">
                            <p:stCondLst>
                              <p:cond delay="4000"/>
                            </p:stCondLst>
                            <p:childTnLst>
                              <p:par>
                                <p:cTn id="24" presetID="22" presetClass="entr" presetSubtype="2" fill="hold" grpId="0"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500"/>
                                        <p:tgtEl>
                                          <p:spTgt spid="12"/>
                                        </p:tgtEl>
                                      </p:cBhvr>
                                    </p:animEffect>
                                  </p:childTnLst>
                                </p:cTn>
                              </p:par>
                            </p:childTnLst>
                          </p:cTn>
                        </p:par>
                        <p:par>
                          <p:cTn id="27" fill="hold">
                            <p:stCondLst>
                              <p:cond delay="4500"/>
                            </p:stCondLst>
                            <p:childTnLst>
                              <p:par>
                                <p:cTn id="28" presetID="22" presetClass="entr" presetSubtype="2" fill="hold" grpId="0" nodeType="after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right)">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1"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81000" y="0"/>
            <a:ext cx="7824788" cy="1323975"/>
          </a:xfrm>
        </p:spPr>
        <p:txBody>
          <a:bodyPr/>
          <a:lstStyle/>
          <a:p>
            <a:r>
              <a:rPr lang="en-NZ" b="1" dirty="0">
                <a:solidFill>
                  <a:schemeClr val="accent6">
                    <a:lumMod val="50000"/>
                  </a:schemeClr>
                </a:solidFill>
              </a:rPr>
              <a:t>Actual Deadlock</a:t>
            </a:r>
          </a:p>
        </p:txBody>
      </p:sp>
      <p:pic>
        <p:nvPicPr>
          <p:cNvPr id="1026" name="Picture 2"/>
          <p:cNvPicPr>
            <a:picLocks noChangeAspect="1" noChangeArrowheads="1"/>
          </p:cNvPicPr>
          <p:nvPr/>
        </p:nvPicPr>
        <p:blipFill>
          <a:blip r:embed="rId3"/>
          <a:srcRect/>
          <a:stretch>
            <a:fillRect/>
          </a:stretch>
        </p:blipFill>
        <p:spPr bwMode="auto">
          <a:xfrm>
            <a:off x="2471738" y="1839913"/>
            <a:ext cx="4200525" cy="4179887"/>
          </a:xfrm>
          <a:prstGeom prst="rect">
            <a:avLst/>
          </a:prstGeom>
          <a:noFill/>
          <a:ln w="9525">
            <a:noFill/>
            <a:miter lim="800000"/>
            <a:headEnd/>
            <a:tailEnd/>
          </a:ln>
          <a:effectLst/>
        </p:spPr>
      </p:pic>
      <p:pic>
        <p:nvPicPr>
          <p:cNvPr id="1027" name="Picture 3"/>
          <p:cNvPicPr>
            <a:picLocks noChangeAspect="1" noChangeArrowheads="1"/>
          </p:cNvPicPr>
          <p:nvPr/>
        </p:nvPicPr>
        <p:blipFill>
          <a:blip r:embed="rId4"/>
          <a:srcRect/>
          <a:stretch>
            <a:fillRect/>
          </a:stretch>
        </p:blipFill>
        <p:spPr bwMode="auto">
          <a:xfrm>
            <a:off x="4114800" y="2743200"/>
            <a:ext cx="349250" cy="730250"/>
          </a:xfrm>
          <a:prstGeom prst="rect">
            <a:avLst/>
          </a:prstGeom>
          <a:noFill/>
          <a:ln w="9525">
            <a:noFill/>
            <a:miter lim="800000"/>
            <a:headEnd/>
            <a:tailEnd/>
          </a:ln>
          <a:effectLst/>
        </p:spPr>
      </p:pic>
      <p:pic>
        <p:nvPicPr>
          <p:cNvPr id="1028" name="Picture 4"/>
          <p:cNvPicPr>
            <a:picLocks noChangeAspect="1" noChangeArrowheads="1"/>
          </p:cNvPicPr>
          <p:nvPr/>
        </p:nvPicPr>
        <p:blipFill>
          <a:blip r:embed="rId5"/>
          <a:srcRect/>
          <a:stretch>
            <a:fillRect/>
          </a:stretch>
        </p:blipFill>
        <p:spPr bwMode="auto">
          <a:xfrm>
            <a:off x="4572000" y="4495800"/>
            <a:ext cx="379413" cy="660400"/>
          </a:xfrm>
          <a:prstGeom prst="rect">
            <a:avLst/>
          </a:prstGeom>
          <a:noFill/>
          <a:ln w="9525">
            <a:noFill/>
            <a:miter lim="800000"/>
            <a:headEnd/>
            <a:tailEnd/>
          </a:ln>
          <a:effectLst/>
        </p:spPr>
      </p:pic>
      <p:pic>
        <p:nvPicPr>
          <p:cNvPr id="1029" name="Picture 5"/>
          <p:cNvPicPr>
            <a:picLocks noChangeAspect="1" noChangeArrowheads="1"/>
          </p:cNvPicPr>
          <p:nvPr/>
        </p:nvPicPr>
        <p:blipFill>
          <a:blip r:embed="rId6"/>
          <a:srcRect/>
          <a:stretch>
            <a:fillRect/>
          </a:stretch>
        </p:blipFill>
        <p:spPr bwMode="auto">
          <a:xfrm>
            <a:off x="5029200" y="3582987"/>
            <a:ext cx="760413" cy="379413"/>
          </a:xfrm>
          <a:prstGeom prst="rect">
            <a:avLst/>
          </a:prstGeom>
          <a:noFill/>
          <a:ln w="9525">
            <a:noFill/>
            <a:miter lim="800000"/>
            <a:headEnd/>
            <a:tailEnd/>
          </a:ln>
          <a:effectLst/>
        </p:spPr>
      </p:pic>
      <p:pic>
        <p:nvPicPr>
          <p:cNvPr id="1030" name="Picture 6"/>
          <p:cNvPicPr>
            <a:picLocks noChangeAspect="1" noChangeArrowheads="1"/>
          </p:cNvPicPr>
          <p:nvPr/>
        </p:nvPicPr>
        <p:blipFill>
          <a:blip r:embed="rId7"/>
          <a:srcRect/>
          <a:stretch>
            <a:fillRect/>
          </a:stretch>
        </p:blipFill>
        <p:spPr bwMode="auto">
          <a:xfrm>
            <a:off x="3429000" y="3962400"/>
            <a:ext cx="700087" cy="369887"/>
          </a:xfrm>
          <a:prstGeom prst="rect">
            <a:avLst/>
          </a:prstGeom>
          <a:noFill/>
          <a:ln w="9525">
            <a:noFill/>
            <a:miter lim="800000"/>
            <a:headEnd/>
            <a:tailEnd/>
          </a:ln>
          <a:effectLst/>
        </p:spPr>
      </p:pic>
      <p:pic>
        <p:nvPicPr>
          <p:cNvPr id="2050" name="Picture 2"/>
          <p:cNvPicPr>
            <a:picLocks noChangeAspect="1" noChangeArrowheads="1"/>
          </p:cNvPicPr>
          <p:nvPr/>
        </p:nvPicPr>
        <p:blipFill>
          <a:blip r:embed="rId8"/>
          <a:srcRect/>
          <a:stretch>
            <a:fillRect/>
          </a:stretch>
        </p:blipFill>
        <p:spPr bwMode="auto">
          <a:xfrm>
            <a:off x="2438400" y="1828800"/>
            <a:ext cx="4240213" cy="4159250"/>
          </a:xfrm>
          <a:prstGeom prst="rect">
            <a:avLst/>
          </a:prstGeom>
          <a:noFill/>
          <a:ln w="9525">
            <a:noFill/>
            <a:miter lim="800000"/>
            <a:headEnd/>
            <a:tailEnd/>
          </a:ln>
          <a:effectLst/>
        </p:spPr>
      </p:pic>
      <p:sp>
        <p:nvSpPr>
          <p:cNvPr id="9" name="Cloud Callout 8"/>
          <p:cNvSpPr/>
          <p:nvPr/>
        </p:nvSpPr>
        <p:spPr>
          <a:xfrm>
            <a:off x="6477000" y="4191000"/>
            <a:ext cx="2667000" cy="1524000"/>
          </a:xfrm>
          <a:prstGeom prst="cloudCallout">
            <a:avLst>
              <a:gd name="adj1" fmla="val -100017"/>
              <a:gd name="adj2" fmla="val -2178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b="1" dirty="0"/>
              <a:t>HALT</a:t>
            </a:r>
            <a:r>
              <a:rPr lang="en-NZ" sz="2400" dirty="0"/>
              <a:t> until B is free</a:t>
            </a:r>
          </a:p>
        </p:txBody>
      </p:sp>
      <p:sp>
        <p:nvSpPr>
          <p:cNvPr id="11" name="Cloud Callout 10"/>
          <p:cNvSpPr/>
          <p:nvPr/>
        </p:nvSpPr>
        <p:spPr>
          <a:xfrm>
            <a:off x="5943600" y="1600200"/>
            <a:ext cx="2667000" cy="1524000"/>
          </a:xfrm>
          <a:prstGeom prst="cloudCallout">
            <a:avLst>
              <a:gd name="adj1" fmla="val -91037"/>
              <a:gd name="adj2" fmla="val 6678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b="1" dirty="0"/>
              <a:t>HALT</a:t>
            </a:r>
            <a:r>
              <a:rPr lang="en-NZ" sz="2400" dirty="0"/>
              <a:t> until C is free</a:t>
            </a:r>
          </a:p>
        </p:txBody>
      </p:sp>
      <p:sp>
        <p:nvSpPr>
          <p:cNvPr id="12" name="Cloud Callout 11"/>
          <p:cNvSpPr/>
          <p:nvPr/>
        </p:nvSpPr>
        <p:spPr>
          <a:xfrm>
            <a:off x="228600" y="1524000"/>
            <a:ext cx="2667000" cy="1524000"/>
          </a:xfrm>
          <a:prstGeom prst="cloudCallout">
            <a:avLst>
              <a:gd name="adj1" fmla="val 91820"/>
              <a:gd name="adj2" fmla="val 5678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b="1" dirty="0"/>
              <a:t>HALT</a:t>
            </a:r>
            <a:r>
              <a:rPr lang="en-NZ" sz="2400" dirty="0"/>
              <a:t> until D is free</a:t>
            </a:r>
          </a:p>
        </p:txBody>
      </p:sp>
      <p:sp>
        <p:nvSpPr>
          <p:cNvPr id="13" name="Cloud Callout 12"/>
          <p:cNvSpPr/>
          <p:nvPr/>
        </p:nvSpPr>
        <p:spPr>
          <a:xfrm>
            <a:off x="609600" y="4648200"/>
            <a:ext cx="2667000" cy="1524000"/>
          </a:xfrm>
          <a:prstGeom prst="cloudCallout">
            <a:avLst>
              <a:gd name="adj1" fmla="val 75494"/>
              <a:gd name="adj2" fmla="val -5607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Z" sz="2400" b="1" dirty="0"/>
              <a:t>HALT</a:t>
            </a:r>
            <a:r>
              <a:rPr lang="en-NZ" sz="2400" dirty="0"/>
              <a:t> until A  is free</a:t>
            </a:r>
          </a:p>
        </p:txBody>
      </p:sp>
    </p:spTree>
  </p:cSld>
  <p:clrMapOvr>
    <a:masterClrMapping/>
  </p:clrMapOvr>
  <p:transition spd="med">
    <p:pull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2050"/>
                                        </p:tgtEl>
                                        <p:attrNameLst>
                                          <p:attrName>style.visibility</p:attrName>
                                        </p:attrNameLst>
                                      </p:cBhvr>
                                      <p:to>
                                        <p:strVal val="hidden"/>
                                      </p:to>
                                    </p:set>
                                  </p:childTnLst>
                                </p:cTn>
                              </p:par>
                            </p:childTnLst>
                          </p:cTn>
                        </p:par>
                        <p:par>
                          <p:cTn id="7" fill="hold">
                            <p:stCondLst>
                              <p:cond delay="0"/>
                            </p:stCondLst>
                            <p:childTnLst>
                              <p:par>
                                <p:cTn id="8" presetID="0" presetClass="path" presetSubtype="0" accel="50000" decel="50000" fill="hold" nodeType="afterEffect">
                                  <p:stCondLst>
                                    <p:cond delay="500"/>
                                  </p:stCondLst>
                                  <p:childTnLst>
                                    <p:animMotion origin="layout" path="M 2.77778E-7 -2.72895E-6 L 0.00434 -0.0592 " pathEditMode="relative" rAng="0" ptsTypes="AA">
                                      <p:cBhvr>
                                        <p:cTn id="9" dur="2000" fill="hold"/>
                                        <p:tgtEl>
                                          <p:spTgt spid="1028"/>
                                        </p:tgtEl>
                                        <p:attrNameLst>
                                          <p:attrName>ppt_x</p:attrName>
                                          <p:attrName>ppt_y</p:attrName>
                                        </p:attrNameLst>
                                      </p:cBhvr>
                                      <p:rCtr x="200" y="-3000"/>
                                    </p:animMotion>
                                  </p:childTnLst>
                                </p:cTn>
                              </p:par>
                              <p:par>
                                <p:cTn id="10" presetID="0" presetClass="path" presetSubtype="0" accel="50000" decel="50000" fill="hold" nodeType="withEffect">
                                  <p:stCondLst>
                                    <p:cond delay="0"/>
                                  </p:stCondLst>
                                  <p:childTnLst>
                                    <p:animMotion origin="layout" path="M 0.00851 -1.21184E-6 L -0.04965 -0.00555 " pathEditMode="relative" rAng="0" ptsTypes="AA">
                                      <p:cBhvr>
                                        <p:cTn id="11" dur="2000" fill="hold"/>
                                        <p:tgtEl>
                                          <p:spTgt spid="1029"/>
                                        </p:tgtEl>
                                        <p:attrNameLst>
                                          <p:attrName>ppt_x</p:attrName>
                                          <p:attrName>ppt_y</p:attrName>
                                        </p:attrNameLst>
                                      </p:cBhvr>
                                      <p:rCtr x="-2900" y="-300"/>
                                    </p:animMotion>
                                  </p:childTnLst>
                                </p:cTn>
                              </p:par>
                              <p:par>
                                <p:cTn id="12" presetID="0" presetClass="path" presetSubtype="0" accel="50000" decel="50000" fill="hold" nodeType="withEffect">
                                  <p:stCondLst>
                                    <p:cond delay="0"/>
                                  </p:stCondLst>
                                  <p:childTnLst>
                                    <p:animMotion origin="layout" path="M 5.55556E-7 -1.84089E-6 L 5.55556E-7 0.05551 " pathEditMode="relative" ptsTypes="AA">
                                      <p:cBhvr>
                                        <p:cTn id="13" dur="2000" fill="hold"/>
                                        <p:tgtEl>
                                          <p:spTgt spid="1027"/>
                                        </p:tgtEl>
                                        <p:attrNameLst>
                                          <p:attrName>ppt_x</p:attrName>
                                          <p:attrName>ppt_y</p:attrName>
                                        </p:attrNameLst>
                                      </p:cBhvr>
                                    </p:animMotion>
                                  </p:childTnLst>
                                </p:cTn>
                              </p:par>
                              <p:par>
                                <p:cTn id="14" presetID="0" presetClass="path" presetSubtype="0" accel="50000" decel="50000" fill="hold" nodeType="withEffect">
                                  <p:stCondLst>
                                    <p:cond delay="0"/>
                                  </p:stCondLst>
                                  <p:childTnLst>
                                    <p:animMotion origin="layout" path="M 1.11111E-6 4.51434E-6 L 0.04167 4.51434E-6 " pathEditMode="relative" ptsTypes="AA">
                                      <p:cBhvr>
                                        <p:cTn id="15" dur="2000" fill="hold"/>
                                        <p:tgtEl>
                                          <p:spTgt spid="1030"/>
                                        </p:tgtEl>
                                        <p:attrNameLst>
                                          <p:attrName>ppt_x</p:attrName>
                                          <p:attrName>ppt_y</p:attrName>
                                        </p:attrNameLst>
                                      </p:cBhvr>
                                    </p:animMotion>
                                  </p:childTnLst>
                                </p:cTn>
                              </p:par>
                            </p:childTnLst>
                          </p:cTn>
                        </p:par>
                        <p:par>
                          <p:cTn id="16" fill="hold">
                            <p:stCondLst>
                              <p:cond delay="2500"/>
                            </p:stCondLst>
                            <p:childTnLst>
                              <p:par>
                                <p:cTn id="17" presetID="22" presetClass="entr" presetSubtype="8" fill="hold" grpId="0" nodeType="afterEffect">
                                  <p:stCondLst>
                                    <p:cond delay="100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500"/>
                                        <p:tgtEl>
                                          <p:spTgt spid="9"/>
                                        </p:tgtEl>
                                      </p:cBhvr>
                                    </p:animEffect>
                                  </p:childTnLst>
                                </p:cTn>
                              </p:par>
                            </p:childTnLst>
                          </p:cTn>
                        </p:par>
                        <p:par>
                          <p:cTn id="20" fill="hold">
                            <p:stCondLst>
                              <p:cond delay="4000"/>
                            </p:stCondLst>
                            <p:childTnLst>
                              <p:par>
                                <p:cTn id="21" presetID="22" presetClass="entr" presetSubtype="8" fill="hold" grpId="0" nodeType="after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wipe(left)">
                                      <p:cBhvr>
                                        <p:cTn id="23" dur="500"/>
                                        <p:tgtEl>
                                          <p:spTgt spid="11"/>
                                        </p:tgtEl>
                                      </p:cBhvr>
                                    </p:animEffect>
                                  </p:childTnLst>
                                </p:cTn>
                              </p:par>
                            </p:childTnLst>
                          </p:cTn>
                        </p:par>
                        <p:par>
                          <p:cTn id="24" fill="hold">
                            <p:stCondLst>
                              <p:cond delay="4500"/>
                            </p:stCondLst>
                            <p:childTnLst>
                              <p:par>
                                <p:cTn id="25" presetID="22" presetClass="entr" presetSubtype="8" fill="hold" grpId="0" nodeType="after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00"/>
                                        <p:tgtEl>
                                          <p:spTgt spid="12"/>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left)">
                                      <p:cBhvr>
                                        <p:cTn id="3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3400" y="457200"/>
            <a:ext cx="7824788" cy="1143948"/>
          </a:xfrm>
        </p:spPr>
        <p:txBody>
          <a:bodyPr/>
          <a:lstStyle/>
          <a:p>
            <a:pPr algn="l"/>
            <a:r>
              <a:rPr lang="en-NZ"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Resource Categories</a:t>
            </a:r>
          </a:p>
        </p:txBody>
      </p:sp>
      <p:graphicFrame>
        <p:nvGraphicFramePr>
          <p:cNvPr id="6" name="Diagram 5"/>
          <p:cNvGraphicFramePr/>
          <p:nvPr/>
        </p:nvGraphicFramePr>
        <p:xfrm>
          <a:off x="1752600" y="2057400"/>
          <a:ext cx="6553200" cy="4546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09800"/>
            <a:ext cx="2514600" cy="2514600"/>
          </a:xfrm>
        </p:spPr>
        <p:txBody>
          <a:bodyPr/>
          <a:lstStyle/>
          <a:p>
            <a:r>
              <a:rPr lang="en-US" sz="3200" b="1" dirty="0">
                <a:solidFill>
                  <a:schemeClr val="accent6">
                    <a:lumMod val="75000"/>
                  </a:schemeClr>
                </a:solidFill>
              </a:rPr>
              <a:t>Deadlock Detection, </a:t>
            </a:r>
            <a:br>
              <a:rPr lang="en-US" sz="3200" b="1" dirty="0">
                <a:solidFill>
                  <a:schemeClr val="accent6">
                    <a:lumMod val="75000"/>
                  </a:schemeClr>
                </a:solidFill>
              </a:rPr>
            </a:br>
            <a:r>
              <a:rPr lang="en-US" sz="3200" b="1" dirty="0">
                <a:solidFill>
                  <a:schemeClr val="accent6">
                    <a:lumMod val="75000"/>
                  </a:schemeClr>
                </a:solidFill>
              </a:rPr>
              <a:t>Prevention, and Avoidance</a:t>
            </a:r>
          </a:p>
        </p:txBody>
      </p:sp>
      <p:graphicFrame>
        <p:nvGraphicFramePr>
          <p:cNvPr id="194562" name="Object 2"/>
          <p:cNvGraphicFramePr>
            <a:graphicFrameLocks noChangeAspect="1"/>
          </p:cNvGraphicFramePr>
          <p:nvPr/>
        </p:nvGraphicFramePr>
        <p:xfrm>
          <a:off x="2895600" y="685800"/>
          <a:ext cx="5867400" cy="5679055"/>
        </p:xfrm>
        <a:graphic>
          <a:graphicData uri="http://schemas.openxmlformats.org/presentationml/2006/ole">
            <mc:AlternateContent xmlns:mc="http://schemas.openxmlformats.org/markup-compatibility/2006">
              <mc:Choice xmlns:v="urn:schemas-microsoft-com:vml" Requires="v">
                <p:oleObj spid="_x0000_s194580" name="Document" r:id="rId4" imgW="6057900" imgH="6019800" progId="Word.Document.12">
                  <p:embed/>
                </p:oleObj>
              </mc:Choice>
              <mc:Fallback>
                <p:oleObj name="Document" r:id="rId4" imgW="6057900" imgH="6019800" progId="Word.Document.12">
                  <p:embed/>
                  <p:pic>
                    <p:nvPicPr>
                      <p:cNvPr id="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95600" y="685800"/>
                        <a:ext cx="5867400" cy="5679055"/>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oleObj>
              </mc:Fallback>
            </mc:AlternateContent>
          </a:graphicData>
        </a:graphic>
      </p:graphicFrame>
    </p:spTree>
  </p:cSld>
  <p:clrMapOvr>
    <a:masterClrMapping/>
  </p:clrMapOvr>
  <p:transition spd="med">
    <p:pull dir="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609600"/>
            <a:ext cx="8382000" cy="685800"/>
          </a:xfrm>
        </p:spPr>
        <p:txBody>
          <a:bodyPr/>
          <a:lstStyle/>
          <a:p>
            <a:pPr algn="ctr"/>
            <a:r>
              <a:rPr lang="en-US" sz="3800" b="1" dirty="0">
                <a:solidFill>
                  <a:schemeClr val="accent6">
                    <a:lumMod val="75000"/>
                  </a:schemeClr>
                </a:solidFill>
              </a:rPr>
              <a:t>Resource Allocation Graphs</a:t>
            </a:r>
          </a:p>
        </p:txBody>
      </p:sp>
      <p:pic>
        <p:nvPicPr>
          <p:cNvPr id="4" name="Picture 3" descr="Fig06_05a.gif"/>
          <p:cNvPicPr>
            <a:picLocks noChangeAspect="1"/>
          </p:cNvPicPr>
          <p:nvPr/>
        </p:nvPicPr>
        <p:blipFill>
          <a:blip r:embed="rId3"/>
          <a:stretch>
            <a:fillRect/>
          </a:stretch>
        </p:blipFill>
        <p:spPr>
          <a:xfrm>
            <a:off x="231897" y="1447800"/>
            <a:ext cx="8635232" cy="1666448"/>
          </a:xfrm>
          <a:prstGeom prst="rect">
            <a:avLst/>
          </a:prstGeom>
        </p:spPr>
      </p:pic>
      <p:pic>
        <p:nvPicPr>
          <p:cNvPr id="6" name="Content Placeholder 3" descr="Fig06_05b.gif"/>
          <p:cNvPicPr>
            <a:picLocks noGrp="1" noChangeAspect="1"/>
          </p:cNvPicPr>
          <p:nvPr/>
        </p:nvPicPr>
        <p:blipFill>
          <a:blip r:embed="rId4"/>
          <a:stretch>
            <a:fillRect/>
          </a:stretch>
        </p:blipFill>
        <p:spPr bwMode="auto">
          <a:xfrm>
            <a:off x="228600" y="2442257"/>
            <a:ext cx="8659263" cy="4415743"/>
          </a:xfrm>
          <a:prstGeom prst="rect">
            <a:avLst/>
          </a:prstGeom>
          <a:noFill/>
          <a:ln w="9525">
            <a:noFill/>
            <a:miter lim="800000"/>
            <a:headEnd/>
            <a:tailEnd/>
          </a:ln>
        </p:spPr>
      </p:pic>
    </p:spTree>
  </p:cSld>
  <p:clrMapOvr>
    <a:masterClrMapping/>
  </p:clrMapOvr>
  <p:transition spd="med">
    <p:pull dir="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3"/>
          <a:srcRect/>
          <a:stretch>
            <a:fillRect/>
          </a:stretch>
        </p:blipFill>
        <p:spPr bwMode="auto">
          <a:xfrm>
            <a:off x="0" y="1633309"/>
            <a:ext cx="7579462" cy="5072291"/>
          </a:xfrm>
          <a:prstGeom prst="rect">
            <a:avLst/>
          </a:prstGeom>
          <a:noFill/>
          <a:ln w="9525">
            <a:noFill/>
            <a:miter lim="800000"/>
            <a:headEnd/>
            <a:tailEnd/>
          </a:ln>
          <a:effectLst/>
        </p:spPr>
      </p:pic>
      <p:sp>
        <p:nvSpPr>
          <p:cNvPr id="3" name="Rectangle 2"/>
          <p:cNvSpPr/>
          <p:nvPr/>
        </p:nvSpPr>
        <p:spPr>
          <a:xfrm>
            <a:off x="1066800" y="762000"/>
            <a:ext cx="7140003" cy="707886"/>
          </a:xfrm>
          <a:prstGeom prst="rect">
            <a:avLst/>
          </a:prstGeom>
        </p:spPr>
        <p:txBody>
          <a:bodyPr wrap="square">
            <a:spAutoFit/>
          </a:bodyPr>
          <a:lstStyle/>
          <a:p>
            <a:r>
              <a:rPr lang="en-US" sz="4000" b="1" dirty="0">
                <a:solidFill>
                  <a:schemeClr val="accent6">
                    <a:lumMod val="75000"/>
                  </a:schemeClr>
                </a:solidFill>
              </a:rPr>
              <a:t>Resource Allocation Graphs</a:t>
            </a:r>
            <a:endParaRPr lang="en-US" sz="4000" dirty="0"/>
          </a:p>
        </p:txBody>
      </p:sp>
      <p:pic>
        <p:nvPicPr>
          <p:cNvPr id="4" name="Picture 7"/>
          <p:cNvPicPr>
            <a:picLocks noChangeAspect="1" noChangeArrowheads="1"/>
          </p:cNvPicPr>
          <p:nvPr/>
        </p:nvPicPr>
        <p:blipFill>
          <a:blip r:embed="rId4"/>
          <a:srcRect/>
          <a:stretch>
            <a:fillRect/>
          </a:stretch>
        </p:blipFill>
        <p:spPr bwMode="auto">
          <a:xfrm>
            <a:off x="7024752" y="1524000"/>
            <a:ext cx="2154006" cy="2133600"/>
          </a:xfrm>
          <a:prstGeom prst="rect">
            <a:avLst/>
          </a:prstGeom>
          <a:noFill/>
          <a:ln w="9525">
            <a:noFill/>
            <a:miter lim="800000"/>
            <a:headEnd/>
            <a:tailEnd/>
          </a:ln>
          <a:effectLst/>
        </p:spPr>
      </p:pic>
    </p:spTree>
  </p:cSld>
  <p:clrMapOvr>
    <a:masterClrMapping/>
  </p:clrMapOvr>
  <p:transition spd="med">
    <p:pull dir="l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7824788" cy="1220148"/>
          </a:xfrm>
        </p:spPr>
        <p:txBody>
          <a:bodyPr/>
          <a:lstStyle/>
          <a:p>
            <a:r>
              <a:rPr lang="en-US" b="1" dirty="0">
                <a:solidFill>
                  <a:schemeClr val="accent1">
                    <a:lumMod val="50000"/>
                  </a:schemeClr>
                </a:solidFill>
              </a:rPr>
              <a:t>Conditions for Deadlock</a:t>
            </a:r>
          </a:p>
        </p:txBody>
      </p:sp>
      <p:sp>
        <p:nvSpPr>
          <p:cNvPr id="3" name="Content Placeholder 2"/>
          <p:cNvSpPr>
            <a:spLocks noGrp="1"/>
          </p:cNvSpPr>
          <p:nvPr>
            <p:ph idx="4294967295"/>
          </p:nvPr>
        </p:nvSpPr>
        <p:spPr>
          <a:xfrm>
            <a:off x="838200" y="1295400"/>
            <a:ext cx="8305800" cy="5257800"/>
          </a:xfrm>
        </p:spPr>
        <p:txBody>
          <a:bodyPr/>
          <a:lstStyle/>
          <a:p>
            <a:pPr lvl="1"/>
            <a:endParaRPr lang="en-US" dirty="0"/>
          </a:p>
          <a:p>
            <a:endParaRPr lang="en-US" dirty="0"/>
          </a:p>
        </p:txBody>
      </p:sp>
      <p:graphicFrame>
        <p:nvGraphicFramePr>
          <p:cNvPr id="5" name="Diagram 4"/>
          <p:cNvGraphicFramePr/>
          <p:nvPr/>
        </p:nvGraphicFramePr>
        <p:xfrm>
          <a:off x="457200" y="2209800"/>
          <a:ext cx="8153400" cy="434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228600"/>
            <a:ext cx="7824788" cy="1323041"/>
          </a:xfrm>
        </p:spPr>
        <p:txBody>
          <a:bodyPr/>
          <a:lstStyle/>
          <a:p>
            <a:r>
              <a:rPr lang="en-NZ" b="1" dirty="0">
                <a:solidFill>
                  <a:schemeClr val="accent6">
                    <a:lumMod val="75000"/>
                  </a:schemeClr>
                </a:solidFill>
              </a:rPr>
              <a:t>Dealing with Deadlock</a:t>
            </a:r>
          </a:p>
        </p:txBody>
      </p:sp>
      <p:sp>
        <p:nvSpPr>
          <p:cNvPr id="3" name="Content Placeholder 2"/>
          <p:cNvSpPr>
            <a:spLocks noGrp="1"/>
          </p:cNvSpPr>
          <p:nvPr>
            <p:ph idx="4294967295"/>
          </p:nvPr>
        </p:nvSpPr>
        <p:spPr>
          <a:xfrm>
            <a:off x="457200" y="1981200"/>
            <a:ext cx="8305800" cy="2057400"/>
          </a:xfrm>
        </p:spPr>
        <p:txBody>
          <a:bodyPr>
            <a:normAutofit/>
          </a:bodyPr>
          <a:lstStyle/>
          <a:p>
            <a:r>
              <a:rPr lang="en-NZ" sz="2200" dirty="0"/>
              <a:t>Three general approaches exist for dealing with deadlock:</a:t>
            </a:r>
          </a:p>
        </p:txBody>
      </p:sp>
      <p:graphicFrame>
        <p:nvGraphicFramePr>
          <p:cNvPr id="4" name="Diagram 3"/>
          <p:cNvGraphicFramePr/>
          <p:nvPr/>
        </p:nvGraphicFramePr>
        <p:xfrm>
          <a:off x="1143000" y="2743200"/>
          <a:ext cx="7315200" cy="3581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NZ"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Deadlock Prevention Strategy</a:t>
            </a:r>
          </a:p>
        </p:txBody>
      </p:sp>
      <p:sp>
        <p:nvSpPr>
          <p:cNvPr id="3" name="Content Placeholder 2"/>
          <p:cNvSpPr>
            <a:spLocks noGrp="1"/>
          </p:cNvSpPr>
          <p:nvPr>
            <p:ph idx="4294967295"/>
          </p:nvPr>
        </p:nvSpPr>
        <p:spPr>
          <a:xfrm>
            <a:off x="609600" y="2286000"/>
            <a:ext cx="8229600" cy="5105400"/>
          </a:xfrm>
        </p:spPr>
        <p:txBody>
          <a:bodyPr>
            <a:normAutofit/>
          </a:bodyPr>
          <a:lstStyle/>
          <a:p>
            <a:r>
              <a:rPr lang="en-NZ" sz="2200" dirty="0"/>
              <a:t>Design a system in such a way that the possibility of deadlock is excluded</a:t>
            </a:r>
          </a:p>
          <a:p>
            <a:r>
              <a:rPr lang="en-NZ" sz="2200" dirty="0"/>
              <a:t>Two main methods:</a:t>
            </a:r>
          </a:p>
          <a:p>
            <a:pPr lvl="1"/>
            <a:r>
              <a:rPr lang="en-NZ" sz="2200" dirty="0"/>
              <a:t>Indirect</a:t>
            </a:r>
          </a:p>
          <a:p>
            <a:pPr lvl="2"/>
            <a:r>
              <a:rPr lang="en-NZ" sz="2200" dirty="0"/>
              <a:t>prevent the occurrence of one of the three necessary conditions</a:t>
            </a:r>
          </a:p>
          <a:p>
            <a:pPr lvl="1"/>
            <a:r>
              <a:rPr lang="en-NZ" sz="2200" dirty="0"/>
              <a:t>Direct</a:t>
            </a:r>
          </a:p>
          <a:p>
            <a:pPr lvl="2"/>
            <a:r>
              <a:rPr lang="en-NZ" sz="2200" dirty="0"/>
              <a:t>prevent the occurrence of a circular wait</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grpId="0" nodeType="afterEffect">
                                  <p:stCondLst>
                                    <p:cond delay="50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 presetClass="entr" presetSubtype="8" accel="50000" decel="50000" fill="hold" grpId="0" nodeType="afterEffect">
                                  <p:stCondLst>
                                    <p:cond delay="500"/>
                                  </p:stCondLst>
                                  <p:childTnLst>
                                    <p:set>
                                      <p:cBhvr>
                                        <p:cTn id="11" dur="1" fill="hold">
                                          <p:stCondLst>
                                            <p:cond delay="0"/>
                                          </p:stCondLst>
                                        </p:cTn>
                                        <p:tgtEl>
                                          <p:spTgt spid="3">
                                            <p:txEl>
                                              <p:pRg st="2" end="2"/>
                                            </p:txEl>
                                          </p:spTgt>
                                        </p:tgtEl>
                                        <p:attrNameLst>
                                          <p:attrName>style.visibility</p:attrName>
                                        </p:attrNameLst>
                                      </p:cBhvr>
                                      <p:to>
                                        <p:strVal val="visible"/>
                                      </p:to>
                                    </p:set>
                                    <p:anim calcmode="lin" valueType="num">
                                      <p:cBhvr additive="base">
                                        <p:cTn id="12" dur="500" fill="hold"/>
                                        <p:tgtEl>
                                          <p:spTgt spid="3">
                                            <p:txEl>
                                              <p:pRg st="2" end="2"/>
                                            </p:txEl>
                                          </p:spTgt>
                                        </p:tgtEl>
                                        <p:attrNameLst>
                                          <p:attrName>ppt_x</p:attrName>
                                        </p:attrNameLst>
                                      </p:cBhvr>
                                      <p:tavLst>
                                        <p:tav tm="0">
                                          <p:val>
                                            <p:strVal val="0-#ppt_w/2"/>
                                          </p:val>
                                        </p:tav>
                                        <p:tav tm="100000">
                                          <p:val>
                                            <p:strVal val="#ppt_x"/>
                                          </p:val>
                                        </p:tav>
                                      </p:tavLst>
                                    </p:anim>
                                    <p:anim calcmode="lin" valueType="num">
                                      <p:cBhvr additive="base">
                                        <p:cTn id="13" dur="500" fill="hold"/>
                                        <p:tgtEl>
                                          <p:spTgt spid="3">
                                            <p:txEl>
                                              <p:pRg st="2" end="2"/>
                                            </p:txEl>
                                          </p:spTgt>
                                        </p:tgtEl>
                                        <p:attrNameLst>
                                          <p:attrName>ppt_y</p:attrName>
                                        </p:attrNameLst>
                                      </p:cBhvr>
                                      <p:tavLst>
                                        <p:tav tm="0">
                                          <p:val>
                                            <p:strVal val="#ppt_y"/>
                                          </p:val>
                                        </p:tav>
                                        <p:tav tm="100000">
                                          <p:val>
                                            <p:strVal val="#ppt_y"/>
                                          </p:val>
                                        </p:tav>
                                      </p:tavLst>
                                    </p:anim>
                                  </p:childTnLst>
                                </p:cTn>
                              </p:par>
                            </p:childTnLst>
                          </p:cTn>
                        </p:par>
                        <p:par>
                          <p:cTn id="14" fill="hold">
                            <p:stCondLst>
                              <p:cond delay="2000"/>
                            </p:stCondLst>
                            <p:childTnLst>
                              <p:par>
                                <p:cTn id="15" presetID="12" presetClass="entr" presetSubtype="4" fill="hold" grpId="1" nodeType="after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slide(fromBottom)">
                                      <p:cBhvr>
                                        <p:cTn id="17" dur="500"/>
                                        <p:tgtEl>
                                          <p:spTgt spid="3">
                                            <p:txEl>
                                              <p:pRg st="3" end="3"/>
                                            </p:txEl>
                                          </p:spTgt>
                                        </p:tgtEl>
                                      </p:cBhvr>
                                    </p:animEffect>
                                  </p:childTnLst>
                                </p:cTn>
                              </p:par>
                            </p:childTnLst>
                          </p:cTn>
                        </p:par>
                        <p:par>
                          <p:cTn id="18" fill="hold">
                            <p:stCondLst>
                              <p:cond delay="2500"/>
                            </p:stCondLst>
                            <p:childTnLst>
                              <p:par>
                                <p:cTn id="19" presetID="2" presetClass="entr" presetSubtype="8" accel="50000" decel="50000" fill="hold" grpId="0" nodeType="afterEffect">
                                  <p:stCondLst>
                                    <p:cond delay="50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0-#ppt_w/2"/>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ppt_y"/>
                                          </p:val>
                                        </p:tav>
                                        <p:tav tm="100000">
                                          <p:val>
                                            <p:strVal val="#ppt_y"/>
                                          </p:val>
                                        </p:tav>
                                      </p:tavLst>
                                    </p:anim>
                                  </p:childTnLst>
                                </p:cTn>
                              </p:par>
                            </p:childTnLst>
                          </p:cTn>
                        </p:par>
                        <p:par>
                          <p:cTn id="23" fill="hold">
                            <p:stCondLst>
                              <p:cond delay="3500"/>
                            </p:stCondLst>
                            <p:childTnLst>
                              <p:par>
                                <p:cTn id="24" presetID="12" presetClass="entr" presetSubtype="4" fill="hold" grpId="1" nodeType="after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slide(fromBottom)">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143000"/>
            <a:ext cx="7824788" cy="1323041"/>
          </a:xfrm>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Deadlock Condition</a:t>
            </a:r>
            <a:b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Prevention </a:t>
            </a:r>
            <a:br>
              <a:rPr lang="en-US" dirty="0"/>
            </a:br>
            <a:endParaRPr lang="en-US" dirty="0"/>
          </a:p>
        </p:txBody>
      </p:sp>
      <p:graphicFrame>
        <p:nvGraphicFramePr>
          <p:cNvPr id="5" name="Diagram 4"/>
          <p:cNvGraphicFramePr/>
          <p:nvPr>
            <p:extLst>
              <p:ext uri="{D42A27DB-BD31-4B8C-83A1-F6EECF244321}">
                <p14:modId xmlns:p14="http://schemas.microsoft.com/office/powerpoint/2010/main" val="3665851778"/>
              </p:ext>
            </p:extLst>
          </p:nvPr>
        </p:nvGraphicFramePr>
        <p:xfrm>
          <a:off x="914400" y="2057400"/>
          <a:ext cx="7010400" cy="4495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609600" y="2209800"/>
            <a:ext cx="8229600" cy="4953000"/>
          </a:xfrm>
        </p:spPr>
        <p:txBody>
          <a:bodyPr/>
          <a:lstStyle/>
          <a:p>
            <a:r>
              <a:rPr lang="en-US" sz="2200" dirty="0"/>
              <a:t>No Preemption</a:t>
            </a:r>
          </a:p>
          <a:p>
            <a:pPr lvl="1"/>
            <a:r>
              <a:rPr lang="en-US" sz="2200" dirty="0"/>
              <a:t>if a process holding certain resources is denied a further request, that process must release its original resources and request them again</a:t>
            </a:r>
          </a:p>
          <a:p>
            <a:pPr lvl="1"/>
            <a:r>
              <a:rPr lang="en-US" sz="2200" dirty="0"/>
              <a:t>OS may preempt the second process and require it to release its resources</a:t>
            </a:r>
          </a:p>
          <a:p>
            <a:r>
              <a:rPr lang="en-US" sz="2200" dirty="0"/>
              <a:t>Circular Wait</a:t>
            </a:r>
          </a:p>
          <a:p>
            <a:pPr lvl="1"/>
            <a:r>
              <a:rPr lang="en-US" sz="2200" dirty="0"/>
              <a:t>define a </a:t>
            </a:r>
            <a:r>
              <a:rPr lang="en-US" sz="2200" b="1" dirty="0">
                <a:solidFill>
                  <a:srgbClr val="0000FF"/>
                </a:solidFill>
              </a:rPr>
              <a:t>linear ordering</a:t>
            </a:r>
            <a:r>
              <a:rPr lang="en-US" sz="2200" dirty="0"/>
              <a:t> of resource types</a:t>
            </a:r>
          </a:p>
          <a:p>
            <a:endParaRPr lang="en-US" dirty="0"/>
          </a:p>
        </p:txBody>
      </p:sp>
      <p:sp>
        <p:nvSpPr>
          <p:cNvPr id="5" name="TextBox 4"/>
          <p:cNvSpPr txBox="1"/>
          <p:nvPr/>
        </p:nvSpPr>
        <p:spPr>
          <a:xfrm>
            <a:off x="1371600" y="381000"/>
            <a:ext cx="6477000" cy="1569660"/>
          </a:xfrm>
          <a:prstGeom prst="rect">
            <a:avLst/>
          </a:prstGeom>
          <a:noFill/>
        </p:spPr>
        <p:txBody>
          <a:bodyPr wrap="square" rtlCol="0">
            <a:spAutoFit/>
          </a:bodyPr>
          <a:lstStyle/>
          <a:p>
            <a:pPr algn="ctr"/>
            <a:r>
              <a:rPr lang="en-US" sz="4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latin typeface="+mj-lt"/>
              </a:rPr>
              <a:t>Deadlock Condition Prevention</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afterEffect">
                                  <p:stCondLst>
                                    <p:cond delay="100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p:cTn id="7" dur="500" fill="hold"/>
                                        <p:tgtEl>
                                          <p:spTgt spid="3">
                                            <p:txEl>
                                              <p:pRg st="1" end="1"/>
                                            </p:txEl>
                                          </p:spTgt>
                                        </p:tgtEl>
                                        <p:attrNameLst>
                                          <p:attrName>ppt_w</p:attrName>
                                        </p:attrNameLst>
                                      </p:cBhvr>
                                      <p:tavLst>
                                        <p:tav tm="0">
                                          <p:val>
                                            <p:fltVal val="0"/>
                                          </p:val>
                                        </p:tav>
                                        <p:tav tm="100000">
                                          <p:val>
                                            <p:strVal val="#ppt_w"/>
                                          </p:val>
                                        </p:tav>
                                      </p:tavLst>
                                    </p:anim>
                                    <p:anim calcmode="lin" valueType="num">
                                      <p:cBhvr>
                                        <p:cTn id="8" dur="500" fill="hold"/>
                                        <p:tgtEl>
                                          <p:spTgt spid="3">
                                            <p:txEl>
                                              <p:pRg st="1" end="1"/>
                                            </p:txEl>
                                          </p:spTgt>
                                        </p:tgtEl>
                                        <p:attrNameLst>
                                          <p:attrName>ppt_h</p:attrName>
                                        </p:attrNameLst>
                                      </p:cBhvr>
                                      <p:tavLst>
                                        <p:tav tm="0">
                                          <p:val>
                                            <p:fltVal val="0"/>
                                          </p:val>
                                        </p:tav>
                                        <p:tav tm="100000">
                                          <p:val>
                                            <p:strVal val="#ppt_h"/>
                                          </p:val>
                                        </p:tav>
                                      </p:tavLst>
                                    </p:anim>
                                    <p:anim calcmode="lin" valueType="num">
                                      <p:cBhvr>
                                        <p:cTn id="9" dur="500" fill="hold"/>
                                        <p:tgtEl>
                                          <p:spTgt spid="3">
                                            <p:txEl>
                                              <p:pRg st="1" end="1"/>
                                            </p:txEl>
                                          </p:spTgt>
                                        </p:tgtEl>
                                        <p:attrNameLst>
                                          <p:attrName>style.rotation</p:attrName>
                                        </p:attrNameLst>
                                      </p:cBhvr>
                                      <p:tavLst>
                                        <p:tav tm="0">
                                          <p:val>
                                            <p:fltVal val="360"/>
                                          </p:val>
                                        </p:tav>
                                        <p:tav tm="100000">
                                          <p:val>
                                            <p:fltVal val="0"/>
                                          </p:val>
                                        </p:tav>
                                      </p:tavLst>
                                    </p:anim>
                                    <p:animEffect transition="in" filter="fade">
                                      <p:cBhvr>
                                        <p:cTn id="10" dur="500"/>
                                        <p:tgtEl>
                                          <p:spTgt spid="3">
                                            <p:txEl>
                                              <p:pRg st="1" end="1"/>
                                            </p:txEl>
                                          </p:spTgt>
                                        </p:tgtEl>
                                      </p:cBhvr>
                                    </p:animEffect>
                                  </p:childTnLst>
                                </p:cTn>
                              </p:par>
                            </p:childTnLst>
                          </p:cTn>
                        </p:par>
                        <p:par>
                          <p:cTn id="11" fill="hold">
                            <p:stCondLst>
                              <p:cond delay="1500"/>
                            </p:stCondLst>
                            <p:childTnLst>
                              <p:par>
                                <p:cTn id="12" presetID="49" presetClass="entr" presetSubtype="0" decel="100000" fill="hold" grpId="0" nodeType="afterEffect">
                                  <p:stCondLst>
                                    <p:cond delay="1000"/>
                                  </p:stCondLst>
                                  <p:childTnLst>
                                    <p:set>
                                      <p:cBhvr>
                                        <p:cTn id="13" dur="1" fill="hold">
                                          <p:stCondLst>
                                            <p:cond delay="0"/>
                                          </p:stCondLst>
                                        </p:cTn>
                                        <p:tgtEl>
                                          <p:spTgt spid="3">
                                            <p:txEl>
                                              <p:pRg st="2" end="2"/>
                                            </p:txEl>
                                          </p:spTgt>
                                        </p:tgtEl>
                                        <p:attrNameLst>
                                          <p:attrName>style.visibility</p:attrName>
                                        </p:attrNameLst>
                                      </p:cBhvr>
                                      <p:to>
                                        <p:strVal val="visible"/>
                                      </p:to>
                                    </p:set>
                                    <p:anim calcmode="lin" valueType="num">
                                      <p:cBhvr>
                                        <p:cTn id="14" dur="500" fill="hold"/>
                                        <p:tgtEl>
                                          <p:spTgt spid="3">
                                            <p:txEl>
                                              <p:pRg st="2" end="2"/>
                                            </p:txEl>
                                          </p:spTgt>
                                        </p:tgtEl>
                                        <p:attrNameLst>
                                          <p:attrName>ppt_w</p:attrName>
                                        </p:attrNameLst>
                                      </p:cBhvr>
                                      <p:tavLst>
                                        <p:tav tm="0">
                                          <p:val>
                                            <p:fltVal val="0"/>
                                          </p:val>
                                        </p:tav>
                                        <p:tav tm="100000">
                                          <p:val>
                                            <p:strVal val="#ppt_w"/>
                                          </p:val>
                                        </p:tav>
                                      </p:tavLst>
                                    </p:anim>
                                    <p:anim calcmode="lin" valueType="num">
                                      <p:cBhvr>
                                        <p:cTn id="15" dur="500" fill="hold"/>
                                        <p:tgtEl>
                                          <p:spTgt spid="3">
                                            <p:txEl>
                                              <p:pRg st="2" end="2"/>
                                            </p:txEl>
                                          </p:spTgt>
                                        </p:tgtEl>
                                        <p:attrNameLst>
                                          <p:attrName>ppt_h</p:attrName>
                                        </p:attrNameLst>
                                      </p:cBhvr>
                                      <p:tavLst>
                                        <p:tav tm="0">
                                          <p:val>
                                            <p:fltVal val="0"/>
                                          </p:val>
                                        </p:tav>
                                        <p:tav tm="100000">
                                          <p:val>
                                            <p:strVal val="#ppt_h"/>
                                          </p:val>
                                        </p:tav>
                                      </p:tavLst>
                                    </p:anim>
                                    <p:anim calcmode="lin" valueType="num">
                                      <p:cBhvr>
                                        <p:cTn id="16" dur="500" fill="hold"/>
                                        <p:tgtEl>
                                          <p:spTgt spid="3">
                                            <p:txEl>
                                              <p:pRg st="2" end="2"/>
                                            </p:txEl>
                                          </p:spTgt>
                                        </p:tgtEl>
                                        <p:attrNameLst>
                                          <p:attrName>style.rotation</p:attrName>
                                        </p:attrNameLst>
                                      </p:cBhvr>
                                      <p:tavLst>
                                        <p:tav tm="0">
                                          <p:val>
                                            <p:fltVal val="360"/>
                                          </p:val>
                                        </p:tav>
                                        <p:tav tm="100000">
                                          <p:val>
                                            <p:fltVal val="0"/>
                                          </p:val>
                                        </p:tav>
                                      </p:tavLst>
                                    </p:anim>
                                    <p:animEffect transition="in" filter="fade">
                                      <p:cBhvr>
                                        <p:cTn id="17" dur="500"/>
                                        <p:tgtEl>
                                          <p:spTgt spid="3">
                                            <p:txEl>
                                              <p:pRg st="2" end="2"/>
                                            </p:txEl>
                                          </p:spTgt>
                                        </p:tgtEl>
                                      </p:cBhvr>
                                    </p:animEffect>
                                  </p:childTnLst>
                                </p:cTn>
                              </p:par>
                            </p:childTnLst>
                          </p:cTn>
                        </p:par>
                        <p:par>
                          <p:cTn id="18" fill="hold">
                            <p:stCondLst>
                              <p:cond delay="3000"/>
                            </p:stCondLst>
                            <p:childTnLst>
                              <p:par>
                                <p:cTn id="19" presetID="49" presetClass="entr" presetSubtype="0" decel="100000" fill="hold" grpId="0" nodeType="afterEffect">
                                  <p:stCondLst>
                                    <p:cond delay="100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p:cTn id="21" dur="500" fill="hold"/>
                                        <p:tgtEl>
                                          <p:spTgt spid="3">
                                            <p:txEl>
                                              <p:pRg st="4" end="4"/>
                                            </p:txEl>
                                          </p:spTgt>
                                        </p:tgtEl>
                                        <p:attrNameLst>
                                          <p:attrName>ppt_w</p:attrName>
                                        </p:attrNameLst>
                                      </p:cBhvr>
                                      <p:tavLst>
                                        <p:tav tm="0">
                                          <p:val>
                                            <p:fltVal val="0"/>
                                          </p:val>
                                        </p:tav>
                                        <p:tav tm="100000">
                                          <p:val>
                                            <p:strVal val="#ppt_w"/>
                                          </p:val>
                                        </p:tav>
                                      </p:tavLst>
                                    </p:anim>
                                    <p:anim calcmode="lin" valueType="num">
                                      <p:cBhvr>
                                        <p:cTn id="22" dur="500" fill="hold"/>
                                        <p:tgtEl>
                                          <p:spTgt spid="3">
                                            <p:txEl>
                                              <p:pRg st="4" end="4"/>
                                            </p:txEl>
                                          </p:spTgt>
                                        </p:tgtEl>
                                        <p:attrNameLst>
                                          <p:attrName>ppt_h</p:attrName>
                                        </p:attrNameLst>
                                      </p:cBhvr>
                                      <p:tavLst>
                                        <p:tav tm="0">
                                          <p:val>
                                            <p:fltVal val="0"/>
                                          </p:val>
                                        </p:tav>
                                        <p:tav tm="100000">
                                          <p:val>
                                            <p:strVal val="#ppt_h"/>
                                          </p:val>
                                        </p:tav>
                                      </p:tavLst>
                                    </p:anim>
                                    <p:anim calcmode="lin" valueType="num">
                                      <p:cBhvr>
                                        <p:cTn id="23" dur="500" fill="hold"/>
                                        <p:tgtEl>
                                          <p:spTgt spid="3">
                                            <p:txEl>
                                              <p:pRg st="4" end="4"/>
                                            </p:txEl>
                                          </p:spTgt>
                                        </p:tgtEl>
                                        <p:attrNameLst>
                                          <p:attrName>style.rotation</p:attrName>
                                        </p:attrNameLst>
                                      </p:cBhvr>
                                      <p:tavLst>
                                        <p:tav tm="0">
                                          <p:val>
                                            <p:fltVal val="360"/>
                                          </p:val>
                                        </p:tav>
                                        <p:tav tm="100000">
                                          <p:val>
                                            <p:fltVal val="0"/>
                                          </p:val>
                                        </p:tav>
                                      </p:tavLst>
                                    </p:anim>
                                    <p:animEffect transition="in" filter="fade">
                                      <p:cBhvr>
                                        <p:cTn id="24"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Deadlock Avoidance</a:t>
            </a:r>
          </a:p>
        </p:txBody>
      </p:sp>
      <p:sp>
        <p:nvSpPr>
          <p:cNvPr id="3" name="Content Placeholder 2"/>
          <p:cNvSpPr>
            <a:spLocks noGrp="1"/>
          </p:cNvSpPr>
          <p:nvPr>
            <p:ph idx="4294967295"/>
          </p:nvPr>
        </p:nvSpPr>
        <p:spPr>
          <a:xfrm>
            <a:off x="304800" y="2514600"/>
            <a:ext cx="8229600" cy="4648200"/>
          </a:xfrm>
        </p:spPr>
        <p:txBody>
          <a:bodyPr/>
          <a:lstStyle/>
          <a:p>
            <a:r>
              <a:rPr lang="en-US" sz="2300" dirty="0"/>
              <a:t>A decision is made </a:t>
            </a:r>
            <a:r>
              <a:rPr lang="en-US" sz="2300" dirty="0">
                <a:solidFill>
                  <a:srgbClr val="0000FF"/>
                </a:solidFill>
              </a:rPr>
              <a:t>dynamically</a:t>
            </a:r>
            <a:r>
              <a:rPr lang="en-US" sz="2300" dirty="0"/>
              <a:t> whether the current resource allocation request will, if granted, potentially lead to a deadlock</a:t>
            </a:r>
          </a:p>
          <a:p>
            <a:r>
              <a:rPr lang="en-US" sz="2300" dirty="0"/>
              <a:t>Requires knowledge of future process requests</a:t>
            </a:r>
          </a:p>
          <a:p>
            <a:endParaRPr lang="en-US" dirty="0"/>
          </a:p>
        </p:txBody>
      </p:sp>
      <p:pic>
        <p:nvPicPr>
          <p:cNvPr id="4" name="Picture 3"/>
          <p:cNvPicPr>
            <a:picLocks noChangeAspect="1"/>
          </p:cNvPicPr>
          <p:nvPr/>
        </p:nvPicPr>
        <p:blipFill>
          <a:blip r:embed="rId3"/>
          <a:stretch>
            <a:fillRect/>
          </a:stretch>
        </p:blipFill>
        <p:spPr>
          <a:xfrm>
            <a:off x="4114800" y="4724400"/>
            <a:ext cx="1371600" cy="1496291"/>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25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slide(fromBottom)">
                                      <p:cBhvr>
                                        <p:cTn id="7"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Two Approaches to </a:t>
            </a:r>
            <a:b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Deadlock Avoidance</a:t>
            </a:r>
          </a:p>
        </p:txBody>
      </p:sp>
      <p:graphicFrame>
        <p:nvGraphicFramePr>
          <p:cNvPr id="5" name="Diagram 4"/>
          <p:cNvGraphicFramePr/>
          <p:nvPr/>
        </p:nvGraphicFramePr>
        <p:xfrm>
          <a:off x="609600" y="1905000"/>
          <a:ext cx="7848600" cy="4724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7"/>
          <p:cNvPicPr>
            <a:picLocks noChangeAspect="1"/>
          </p:cNvPicPr>
          <p:nvPr/>
        </p:nvPicPr>
        <p:blipFill>
          <a:blip r:embed="rId8"/>
          <a:stretch>
            <a:fillRect/>
          </a:stretch>
        </p:blipFill>
        <p:spPr>
          <a:xfrm>
            <a:off x="8235950" y="5715000"/>
            <a:ext cx="908050" cy="990600"/>
          </a:xfrm>
          <a:prstGeom prst="rect">
            <a:avLst/>
          </a:prstGeom>
        </p:spPr>
      </p:pic>
      <p:pic>
        <p:nvPicPr>
          <p:cNvPr id="9" name="Picture 8"/>
          <p:cNvPicPr>
            <a:picLocks noChangeAspect="1"/>
          </p:cNvPicPr>
          <p:nvPr/>
        </p:nvPicPr>
        <p:blipFill>
          <a:blip r:embed="rId9"/>
          <a:stretch>
            <a:fillRect/>
          </a:stretch>
        </p:blipFill>
        <p:spPr>
          <a:xfrm>
            <a:off x="4114800" y="4635500"/>
            <a:ext cx="1371600" cy="1371600"/>
          </a:xfrm>
          <a:prstGeom prst="rect">
            <a:avLst/>
          </a:prstGeom>
        </p:spPr>
      </p:pic>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Resource Allocation Denial</a:t>
            </a:r>
          </a:p>
        </p:txBody>
      </p:sp>
      <p:sp>
        <p:nvSpPr>
          <p:cNvPr id="3" name="Content Placeholder 2"/>
          <p:cNvSpPr>
            <a:spLocks noGrp="1"/>
          </p:cNvSpPr>
          <p:nvPr>
            <p:ph idx="4294967295"/>
          </p:nvPr>
        </p:nvSpPr>
        <p:spPr>
          <a:xfrm>
            <a:off x="304800" y="2209800"/>
            <a:ext cx="8382000" cy="4953000"/>
          </a:xfrm>
        </p:spPr>
        <p:txBody>
          <a:bodyPr/>
          <a:lstStyle/>
          <a:p>
            <a:r>
              <a:rPr lang="en-US" sz="2200" dirty="0"/>
              <a:t>Referred to as the </a:t>
            </a:r>
            <a:r>
              <a:rPr lang="en-US" sz="2200" b="1" i="1" dirty="0">
                <a:solidFill>
                  <a:srgbClr val="0000FF"/>
                </a:solidFill>
              </a:rPr>
              <a:t>banker’s algorithm</a:t>
            </a:r>
          </a:p>
          <a:p>
            <a:r>
              <a:rPr lang="en-US" sz="2200" b="1" i="1" dirty="0"/>
              <a:t>State</a:t>
            </a:r>
            <a:r>
              <a:rPr lang="en-US" sz="2200" dirty="0"/>
              <a:t> of the system reflects the current allocation of resources to processes</a:t>
            </a:r>
          </a:p>
          <a:p>
            <a:r>
              <a:rPr lang="en-US" sz="2200" b="1" i="1" dirty="0"/>
              <a:t>Safe state </a:t>
            </a:r>
            <a:r>
              <a:rPr lang="en-US" sz="2200" dirty="0"/>
              <a:t>is one in which there is </a:t>
            </a:r>
            <a:r>
              <a:rPr lang="en-US" sz="2200" u="sng" dirty="0"/>
              <a:t>at least</a:t>
            </a:r>
            <a:r>
              <a:rPr lang="en-US" sz="2200" dirty="0"/>
              <a:t> </a:t>
            </a:r>
            <a:r>
              <a:rPr lang="en-US" sz="2200" b="1" dirty="0">
                <a:solidFill>
                  <a:srgbClr val="0000FF"/>
                </a:solidFill>
              </a:rPr>
              <a:t>one sequence of resource allocations to processes </a:t>
            </a:r>
            <a:r>
              <a:rPr lang="en-US" sz="2200" dirty="0"/>
              <a:t>that does </a:t>
            </a:r>
            <a:r>
              <a:rPr lang="en-US" sz="2200" b="1" dirty="0">
                <a:solidFill>
                  <a:srgbClr val="0000FF"/>
                </a:solidFill>
              </a:rPr>
              <a:t>not</a:t>
            </a:r>
            <a:r>
              <a:rPr lang="en-US" sz="2200" dirty="0"/>
              <a:t> result in a deadlock</a:t>
            </a:r>
          </a:p>
          <a:p>
            <a:r>
              <a:rPr lang="en-US" sz="2200" b="1" i="1" dirty="0"/>
              <a:t>Unsafe state </a:t>
            </a:r>
            <a:r>
              <a:rPr lang="en-US" sz="2200" dirty="0"/>
              <a:t>is a state that is not safe</a:t>
            </a:r>
          </a:p>
          <a:p>
            <a:endParaRPr lang="en-US" dirty="0"/>
          </a:p>
        </p:txBody>
      </p:sp>
      <p:pic>
        <p:nvPicPr>
          <p:cNvPr id="8" name="Picture 7"/>
          <p:cNvPicPr>
            <a:picLocks noChangeAspect="1"/>
          </p:cNvPicPr>
          <p:nvPr/>
        </p:nvPicPr>
        <p:blipFill>
          <a:blip r:embed="rId3"/>
          <a:stretch>
            <a:fillRect/>
          </a:stretch>
        </p:blipFill>
        <p:spPr>
          <a:xfrm>
            <a:off x="6324600" y="4876800"/>
            <a:ext cx="1600200" cy="1600200"/>
          </a:xfrm>
          <a:prstGeom prst="rect">
            <a:avLst/>
          </a:prstGeom>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Banker’s Algorithm</a:t>
            </a:r>
          </a:p>
        </p:txBody>
      </p:sp>
      <p:sp>
        <p:nvSpPr>
          <p:cNvPr id="3" name="Content Placeholder 2"/>
          <p:cNvSpPr>
            <a:spLocks noGrp="1"/>
          </p:cNvSpPr>
          <p:nvPr>
            <p:ph idx="4294967295"/>
          </p:nvPr>
        </p:nvSpPr>
        <p:spPr>
          <a:xfrm>
            <a:off x="381000" y="2133600"/>
            <a:ext cx="8229600" cy="5181600"/>
          </a:xfrm>
        </p:spPr>
        <p:txBody>
          <a:bodyPr>
            <a:normAutofit/>
          </a:bodyPr>
          <a:lstStyle/>
          <a:p>
            <a:r>
              <a:rPr lang="en-NZ" sz="2800" dirty="0"/>
              <a:t>Concept: ensure that the system of processes and resources is </a:t>
            </a:r>
            <a:r>
              <a:rPr lang="en-NZ" sz="2800" b="1" dirty="0">
                <a:solidFill>
                  <a:srgbClr val="0000FF"/>
                </a:solidFill>
              </a:rPr>
              <a:t>always in a safe state</a:t>
            </a:r>
          </a:p>
          <a:p>
            <a:r>
              <a:rPr lang="en-NZ" sz="2800" dirty="0"/>
              <a:t>Mechanism: when a process makes a request for a set of resources</a:t>
            </a:r>
          </a:p>
          <a:p>
            <a:pPr lvl="1"/>
            <a:r>
              <a:rPr lang="en-NZ" sz="2400" b="1" dirty="0">
                <a:solidFill>
                  <a:srgbClr val="0000FF"/>
                </a:solidFill>
              </a:rPr>
              <a:t>Assume</a:t>
            </a:r>
            <a:r>
              <a:rPr lang="en-NZ" sz="2400" dirty="0"/>
              <a:t> that the request is granted</a:t>
            </a:r>
          </a:p>
          <a:p>
            <a:pPr lvl="1"/>
            <a:r>
              <a:rPr lang="en-NZ" sz="2400" dirty="0"/>
              <a:t>Update the system state accordingly</a:t>
            </a:r>
          </a:p>
          <a:p>
            <a:pPr lvl="1"/>
            <a:r>
              <a:rPr lang="en-NZ" sz="2400" dirty="0"/>
              <a:t>Determine if the result is a safe state</a:t>
            </a:r>
          </a:p>
          <a:p>
            <a:pPr lvl="1"/>
            <a:r>
              <a:rPr lang="en-NZ" sz="2400" dirty="0"/>
              <a:t>If so, grant he request; if not, block the process until it is safe to grant the request</a:t>
            </a:r>
          </a:p>
          <a:p>
            <a:pPr lvl="1"/>
            <a:endParaRPr lang="en-NZ" dirty="0"/>
          </a:p>
        </p:txBody>
      </p:sp>
    </p:spTree>
    <p:extLst>
      <p:ext uri="{BB962C8B-B14F-4D97-AF65-F5344CB8AC3E}">
        <p14:creationId xmlns:p14="http://schemas.microsoft.com/office/powerpoint/2010/main" val="4175357393"/>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Deadlock Avoidance Advantages</a:t>
            </a:r>
          </a:p>
        </p:txBody>
      </p:sp>
      <p:sp>
        <p:nvSpPr>
          <p:cNvPr id="3" name="Content Placeholder 2"/>
          <p:cNvSpPr>
            <a:spLocks noGrp="1"/>
          </p:cNvSpPr>
          <p:nvPr>
            <p:ph idx="4294967295"/>
          </p:nvPr>
        </p:nvSpPr>
        <p:spPr>
          <a:xfrm>
            <a:off x="381000" y="2133600"/>
            <a:ext cx="8229600" cy="5181600"/>
          </a:xfrm>
        </p:spPr>
        <p:txBody>
          <a:bodyPr>
            <a:normAutofit/>
          </a:bodyPr>
          <a:lstStyle/>
          <a:p>
            <a:r>
              <a:rPr lang="en-NZ" sz="2200" dirty="0"/>
              <a:t>It is not necessary to preempt and rollback processes, as in deadlock detection </a:t>
            </a:r>
          </a:p>
          <a:p>
            <a:r>
              <a:rPr lang="en-NZ" sz="2200" dirty="0"/>
              <a:t>It is less restrictive than deadlock prevention</a:t>
            </a:r>
            <a:endParaRPr lang="en-US" sz="2200" dirty="0"/>
          </a:p>
        </p:txBody>
      </p:sp>
      <p:pic>
        <p:nvPicPr>
          <p:cNvPr id="5" name="Picture 4"/>
          <p:cNvPicPr>
            <a:picLocks noChangeAspect="1"/>
          </p:cNvPicPr>
          <p:nvPr/>
        </p:nvPicPr>
        <p:blipFill>
          <a:blip r:embed="rId3"/>
          <a:stretch>
            <a:fillRect/>
          </a:stretch>
        </p:blipFill>
        <p:spPr>
          <a:xfrm>
            <a:off x="4495800" y="4038600"/>
            <a:ext cx="2667000" cy="1959430"/>
          </a:xfrm>
          <a:prstGeom prst="rect">
            <a:avLst/>
          </a:prstGeom>
        </p:spPr>
      </p:pic>
      <p:pic>
        <p:nvPicPr>
          <p:cNvPr id="9" name="Picture 8"/>
          <p:cNvPicPr>
            <a:picLocks noChangeAspect="1"/>
          </p:cNvPicPr>
          <p:nvPr/>
        </p:nvPicPr>
        <p:blipFill>
          <a:blip r:embed="rId4"/>
          <a:stretch>
            <a:fillRect/>
          </a:stretch>
        </p:blipFill>
        <p:spPr>
          <a:xfrm>
            <a:off x="1905000" y="4191000"/>
            <a:ext cx="1371600" cy="1775566"/>
          </a:xfrm>
          <a:prstGeom prst="rect">
            <a:avLst/>
          </a:prstGeom>
        </p:spPr>
      </p:pic>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Deadlock Avoidance Restrictions</a:t>
            </a:r>
          </a:p>
        </p:txBody>
      </p:sp>
      <p:sp>
        <p:nvSpPr>
          <p:cNvPr id="3" name="Content Placeholder 2"/>
          <p:cNvSpPr>
            <a:spLocks noGrp="1"/>
          </p:cNvSpPr>
          <p:nvPr>
            <p:ph idx="4294967295"/>
          </p:nvPr>
        </p:nvSpPr>
        <p:spPr>
          <a:xfrm>
            <a:off x="381000" y="2286000"/>
            <a:ext cx="8458200" cy="4953000"/>
          </a:xfrm>
        </p:spPr>
        <p:txBody>
          <a:bodyPr/>
          <a:lstStyle/>
          <a:p>
            <a:r>
              <a:rPr lang="en-US" sz="2800" dirty="0">
                <a:solidFill>
                  <a:srgbClr val="0000FF"/>
                </a:solidFill>
              </a:rPr>
              <a:t>Maximum</a:t>
            </a:r>
            <a:r>
              <a:rPr lang="en-US" sz="2800" dirty="0"/>
              <a:t> resource requirement for each process must be stated in advance</a:t>
            </a:r>
          </a:p>
          <a:p>
            <a:r>
              <a:rPr lang="en-US" sz="2800" dirty="0"/>
              <a:t>Processes under consideration must be independent and with no synchronization requirements</a:t>
            </a:r>
          </a:p>
          <a:p>
            <a:r>
              <a:rPr lang="en-US" sz="2800" dirty="0"/>
              <a:t>There must be a fixed number of resources to allocate</a:t>
            </a:r>
          </a:p>
          <a:p>
            <a:r>
              <a:rPr lang="en-US" sz="2800" dirty="0"/>
              <a:t>No process may exit while holding resources</a:t>
            </a:r>
          </a:p>
          <a:p>
            <a:endParaRPr lang="en-US" dirty="0"/>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143948"/>
          </a:xfrm>
        </p:spPr>
        <p:txBody>
          <a:bodyPr/>
          <a:lstStyle/>
          <a:p>
            <a:pPr algn="ctr"/>
            <a:r>
              <a:rPr lang="en-NZ" b="1" dirty="0">
                <a:solidFill>
                  <a:schemeClr val="accent6">
                    <a:lumMod val="75000"/>
                  </a:schemeClr>
                </a:solidFill>
              </a:rPr>
              <a:t>Deadlock Strategies</a:t>
            </a:r>
          </a:p>
        </p:txBody>
      </p:sp>
      <p:graphicFrame>
        <p:nvGraphicFramePr>
          <p:cNvPr id="4" name="Diagram 3"/>
          <p:cNvGraphicFramePr/>
          <p:nvPr>
            <p:extLst>
              <p:ext uri="{D42A27DB-BD31-4B8C-83A1-F6EECF244321}">
                <p14:modId xmlns:p14="http://schemas.microsoft.com/office/powerpoint/2010/main" val="4101915549"/>
              </p:ext>
            </p:extLst>
          </p:nvPr>
        </p:nvGraphicFramePr>
        <p:xfrm>
          <a:off x="609600" y="2362200"/>
          <a:ext cx="8077200" cy="3911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NZ" b="1" dirty="0">
                <a:solidFill>
                  <a:schemeClr val="accent1">
                    <a:lumMod val="75000"/>
                  </a:schemeClr>
                </a:solidFill>
              </a:rPr>
              <a:t>Deadline Detection Algorithms</a:t>
            </a:r>
          </a:p>
        </p:txBody>
      </p:sp>
      <p:sp>
        <p:nvSpPr>
          <p:cNvPr id="3" name="Content Placeholder 2"/>
          <p:cNvSpPr>
            <a:spLocks noGrp="1"/>
          </p:cNvSpPr>
          <p:nvPr>
            <p:ph idx="4294967295"/>
          </p:nvPr>
        </p:nvSpPr>
        <p:spPr>
          <a:xfrm>
            <a:off x="609600" y="1600200"/>
            <a:ext cx="8229600" cy="5943600"/>
          </a:xfrm>
        </p:spPr>
        <p:txBody>
          <a:bodyPr/>
          <a:lstStyle/>
          <a:p>
            <a:pPr>
              <a:buNone/>
            </a:pPr>
            <a:endParaRPr lang="en-NZ" dirty="0"/>
          </a:p>
          <a:p>
            <a:pPr>
              <a:buSzPct val="135000"/>
              <a:buFont typeface="Wingdings" charset="2"/>
              <a:buChar char="§"/>
            </a:pPr>
            <a:r>
              <a:rPr lang="en-NZ" sz="2200" dirty="0"/>
              <a:t>A check for deadlock can be made </a:t>
            </a:r>
            <a:r>
              <a:rPr lang="en-NZ" sz="2200" b="1" dirty="0">
                <a:solidFill>
                  <a:srgbClr val="0000FF"/>
                </a:solidFill>
              </a:rPr>
              <a:t>as frequently as each resource request</a:t>
            </a:r>
            <a:r>
              <a:rPr lang="en-NZ" sz="2200" dirty="0"/>
              <a:t> or, less frequently, depending on how likely it is for a deadlock to occur</a:t>
            </a:r>
          </a:p>
          <a:p>
            <a:pPr>
              <a:buSzPct val="135000"/>
              <a:buFont typeface="Wingdings" charset="2"/>
              <a:buChar char="§"/>
            </a:pPr>
            <a:r>
              <a:rPr lang="en-NZ" sz="3400" dirty="0"/>
              <a:t>Advantages:</a:t>
            </a:r>
          </a:p>
          <a:p>
            <a:pPr lvl="2">
              <a:buSzPct val="135000"/>
              <a:buFont typeface="Wingdings" charset="2"/>
              <a:buChar char="§"/>
            </a:pPr>
            <a:r>
              <a:rPr lang="en-NZ" sz="2200" dirty="0"/>
              <a:t>it leads to early detection</a:t>
            </a:r>
          </a:p>
          <a:p>
            <a:pPr lvl="2">
              <a:buSzPct val="135000"/>
              <a:buFont typeface="Wingdings" charset="2"/>
              <a:buChar char="§"/>
            </a:pPr>
            <a:r>
              <a:rPr lang="en-NZ" sz="2200" dirty="0"/>
              <a:t>the algorithm is relatively simple</a:t>
            </a:r>
          </a:p>
          <a:p>
            <a:pPr marL="342900" lvl="2" indent="-342900">
              <a:buSzPct val="135000"/>
              <a:buFont typeface="Wingdings" charset="2"/>
              <a:buChar char="§"/>
            </a:pPr>
            <a:r>
              <a:rPr lang="en-NZ" sz="3400" dirty="0"/>
              <a:t>Disadvantage</a:t>
            </a:r>
          </a:p>
          <a:p>
            <a:pPr lvl="2">
              <a:buSzPct val="135000"/>
              <a:buFont typeface="Wingdings" charset="2"/>
              <a:buChar char="§"/>
            </a:pPr>
            <a:r>
              <a:rPr lang="en-NZ" sz="2200" dirty="0"/>
              <a:t>frequent checks consume considerable processor time</a:t>
            </a: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1447800"/>
            <a:ext cx="8001000" cy="685800"/>
          </a:xfrm>
        </p:spPr>
        <p:txBody>
          <a:bodyPr/>
          <a:lstStyle/>
          <a:p>
            <a:r>
              <a:rPr lang="en-US" b="1" dirty="0">
                <a:solidFill>
                  <a:schemeClr val="accent1">
                    <a:lumMod val="75000"/>
                  </a:schemeClr>
                </a:solidFill>
              </a:rPr>
              <a:t>Recovery Strategies </a:t>
            </a:r>
            <a:br>
              <a:rPr lang="en-US" dirty="0"/>
            </a:br>
            <a:endParaRPr lang="en-US" dirty="0"/>
          </a:p>
        </p:txBody>
      </p:sp>
      <p:sp>
        <p:nvSpPr>
          <p:cNvPr id="3" name="Content Placeholder 2"/>
          <p:cNvSpPr>
            <a:spLocks noGrp="1"/>
          </p:cNvSpPr>
          <p:nvPr>
            <p:ph idx="4294967295"/>
          </p:nvPr>
        </p:nvSpPr>
        <p:spPr>
          <a:xfrm>
            <a:off x="304800" y="2362200"/>
            <a:ext cx="8229600" cy="4876800"/>
          </a:xfrm>
        </p:spPr>
        <p:txBody>
          <a:bodyPr>
            <a:normAutofit/>
          </a:bodyPr>
          <a:lstStyle/>
          <a:p>
            <a:r>
              <a:rPr lang="en-US" sz="2200" dirty="0"/>
              <a:t>Abort all deadlocked processes</a:t>
            </a:r>
          </a:p>
          <a:p>
            <a:r>
              <a:rPr lang="en-US" sz="2200" dirty="0"/>
              <a:t>Back up each deadlocked process to some previously defined checkpoint and restart all processes</a:t>
            </a:r>
          </a:p>
          <a:p>
            <a:r>
              <a:rPr lang="en-NZ" sz="2200" b="1" dirty="0"/>
              <a:t>Successively</a:t>
            </a:r>
            <a:r>
              <a:rPr lang="en-NZ" sz="2200" dirty="0"/>
              <a:t> abort deadlocked processes until deadlock no longer exists</a:t>
            </a:r>
          </a:p>
          <a:p>
            <a:r>
              <a:rPr lang="en-NZ" sz="2200" b="1" dirty="0"/>
              <a:t>Successively</a:t>
            </a:r>
            <a:r>
              <a:rPr lang="en-NZ" sz="2200" dirty="0"/>
              <a:t> preempt resources/processes until deadlock no longer exists</a:t>
            </a:r>
          </a:p>
          <a:p>
            <a:pPr marL="0" indent="0">
              <a:buNone/>
            </a:pPr>
            <a:r>
              <a:rPr lang="en-NZ" sz="2200" b="1" dirty="0"/>
              <a:t>“Successively</a:t>
            </a:r>
            <a:r>
              <a:rPr lang="en-NZ" sz="2200" dirty="0"/>
              <a:t>” means an order is followed: least amount of CPU time consumed, lowest priority, least total resources allocated so far, etc.</a:t>
            </a: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220148"/>
          </a:xfrm>
        </p:spPr>
        <p:txBody>
          <a:bodyPr/>
          <a:lstStyle/>
          <a:p>
            <a:pPr algn="ctr"/>
            <a:br>
              <a:rPr lang="en-NZ" sz="4200" b="1" dirty="0">
                <a:solidFill>
                  <a:schemeClr val="accent5">
                    <a:lumMod val="50000"/>
                  </a:schemeClr>
                </a:solidFill>
              </a:rPr>
            </a:br>
            <a:r>
              <a:rPr lang="en-NZ" sz="4200" b="1" dirty="0">
                <a:solidFill>
                  <a:schemeClr val="accent5">
                    <a:lumMod val="50000"/>
                  </a:schemeClr>
                </a:solidFill>
              </a:rPr>
              <a:t> </a:t>
            </a:r>
            <a:r>
              <a:rPr lang="en-NZ" sz="4800" b="1" dirty="0">
                <a:solidFill>
                  <a:schemeClr val="accent1">
                    <a:lumMod val="50000"/>
                  </a:schemeClr>
                </a:solidFill>
              </a:rPr>
              <a:t>Readers/Writer Locks</a:t>
            </a:r>
          </a:p>
        </p:txBody>
      </p:sp>
      <p:sp>
        <p:nvSpPr>
          <p:cNvPr id="3" name="Content Placeholder 2"/>
          <p:cNvSpPr>
            <a:spLocks noGrp="1"/>
          </p:cNvSpPr>
          <p:nvPr>
            <p:ph idx="4294967295"/>
          </p:nvPr>
        </p:nvSpPr>
        <p:spPr>
          <a:xfrm>
            <a:off x="457200" y="2133600"/>
            <a:ext cx="8229600" cy="5257800"/>
          </a:xfrm>
        </p:spPr>
        <p:txBody>
          <a:bodyPr/>
          <a:lstStyle/>
          <a:p>
            <a:r>
              <a:rPr lang="en-NZ" sz="3000" dirty="0"/>
              <a:t>Allows multiple threads to have simultaneous read-only access to an object protected by the lock</a:t>
            </a:r>
          </a:p>
          <a:p>
            <a:r>
              <a:rPr lang="en-NZ" sz="3000" dirty="0"/>
              <a:t>Allows a single thread to access the object for writing at one time, while excluding all readers</a:t>
            </a:r>
          </a:p>
          <a:p>
            <a:pPr lvl="2">
              <a:buSzPct val="150000"/>
              <a:buFont typeface="Wingdings" charset="2"/>
              <a:buChar char="§"/>
            </a:pPr>
            <a:r>
              <a:rPr lang="en-NZ" sz="2200" dirty="0"/>
              <a:t>when lock is acquired for writing it takes on the status of </a:t>
            </a:r>
            <a:r>
              <a:rPr lang="en-NZ" sz="2200" dirty="0">
                <a:latin typeface="Courier New"/>
              </a:rPr>
              <a:t>write lock</a:t>
            </a:r>
          </a:p>
          <a:p>
            <a:pPr lvl="2">
              <a:buSzPct val="150000"/>
              <a:buFont typeface="Wingdings" charset="2"/>
              <a:buChar char="§"/>
            </a:pPr>
            <a:r>
              <a:rPr lang="en-NZ" sz="2200" dirty="0"/>
              <a:t>if one or more readers have acquired the lock its status is read </a:t>
            </a:r>
            <a:r>
              <a:rPr lang="en-NZ" sz="2200" dirty="0">
                <a:latin typeface="Courier New"/>
              </a:rPr>
              <a:t>lock</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4" presetClass="entr" presetSubtype="0" fill="hold" grpId="0" nodeType="afterEffect">
                                  <p:stCondLst>
                                    <p:cond delay="800"/>
                                  </p:stCondLst>
                                  <p:childTnLst>
                                    <p:set>
                                      <p:cBhvr>
                                        <p:cTn id="6" dur="1" fill="hold">
                                          <p:stCondLst>
                                            <p:cond delay="0"/>
                                          </p:stCondLst>
                                        </p:cTn>
                                        <p:tgtEl>
                                          <p:spTgt spid="3">
                                            <p:txEl>
                                              <p:pRg st="0" end="0"/>
                                            </p:txEl>
                                          </p:spTgt>
                                        </p:tgtEl>
                                        <p:attrNameLst>
                                          <p:attrName>style.visibility</p:attrName>
                                        </p:attrNameLst>
                                      </p:cBhvr>
                                      <p:to>
                                        <p:strVal val="visible"/>
                                      </p:to>
                                    </p:set>
                                    <p:anim from="(-#ppt_w/2)" to="(#ppt_x)" calcmode="lin" valueType="num">
                                      <p:cBhvr>
                                        <p:cTn id="7" dur="300" fill="hold">
                                          <p:stCondLst>
                                            <p:cond delay="0"/>
                                          </p:stCondLst>
                                        </p:cTn>
                                        <p:tgtEl>
                                          <p:spTgt spid="3">
                                            <p:txEl>
                                              <p:pRg st="0" end="0"/>
                                            </p:txEl>
                                          </p:spTgt>
                                        </p:tgtEl>
                                        <p:attrNameLst>
                                          <p:attrName>ppt_x</p:attrName>
                                        </p:attrNameLst>
                                      </p:cBhvr>
                                    </p:anim>
                                    <p:anim from="0" to="-1.0" calcmode="lin" valueType="num">
                                      <p:cBhvr>
                                        <p:cTn id="8" dur="100" decel="50000" autoRev="1" fill="hold">
                                          <p:stCondLst>
                                            <p:cond delay="300"/>
                                          </p:stCondLst>
                                        </p:cTn>
                                        <p:tgtEl>
                                          <p:spTgt spid="3">
                                            <p:txEl>
                                              <p:pRg st="0" end="0"/>
                                            </p:txEl>
                                          </p:spTgt>
                                        </p:tgtEl>
                                        <p:attrNameLst>
                                          <p:attrName>xshear</p:attrName>
                                        </p:attrNameLst>
                                      </p:cBhvr>
                                    </p:anim>
                                    <p:animScale>
                                      <p:cBhvr>
                                        <p:cTn id="9" dur="100" decel="100000" autoRev="1" fill="hold">
                                          <p:stCondLst>
                                            <p:cond delay="300"/>
                                          </p:stCondLst>
                                        </p:cTn>
                                        <p:tgtEl>
                                          <p:spTgt spid="3">
                                            <p:txEl>
                                              <p:pRg st="0" end="0"/>
                                            </p:txEl>
                                          </p:spTgt>
                                        </p:tgtEl>
                                      </p:cBhvr>
                                      <p:from x="100000" y="100000"/>
                                      <p:to x="80000" y="100000"/>
                                    </p:animScale>
                                    <p:anim by="(#ppt_h/3+#ppt_w*0.1)" calcmode="lin" valueType="num">
                                      <p:cBhvr additive="sum">
                                        <p:cTn id="10" dur="100" decel="100000" autoRev="1" fill="hold">
                                          <p:stCondLst>
                                            <p:cond delay="300"/>
                                          </p:stCondLst>
                                        </p:cTn>
                                        <p:tgtEl>
                                          <p:spTgt spid="3">
                                            <p:txEl>
                                              <p:pRg st="0" end="0"/>
                                            </p:txEl>
                                          </p:spTgt>
                                        </p:tgtEl>
                                        <p:attrNameLst>
                                          <p:attrName>ppt_x</p:attrName>
                                        </p:attrNameLst>
                                      </p:cBhvr>
                                    </p:anim>
                                  </p:childTnLst>
                                </p:cTn>
                              </p:par>
                            </p:childTnLst>
                          </p:cTn>
                        </p:par>
                        <p:par>
                          <p:cTn id="11" fill="hold">
                            <p:stCondLst>
                              <p:cond delay="1300"/>
                            </p:stCondLst>
                            <p:childTnLst>
                              <p:par>
                                <p:cTn id="12" presetID="34" presetClass="entr" presetSubtype="0" fill="hold" grpId="0" nodeType="afterEffect">
                                  <p:stCondLst>
                                    <p:cond delay="800"/>
                                  </p:stCondLst>
                                  <p:childTnLst>
                                    <p:set>
                                      <p:cBhvr>
                                        <p:cTn id="13" dur="1" fill="hold">
                                          <p:stCondLst>
                                            <p:cond delay="0"/>
                                          </p:stCondLst>
                                        </p:cTn>
                                        <p:tgtEl>
                                          <p:spTgt spid="3">
                                            <p:txEl>
                                              <p:pRg st="1" end="1"/>
                                            </p:txEl>
                                          </p:spTgt>
                                        </p:tgtEl>
                                        <p:attrNameLst>
                                          <p:attrName>style.visibility</p:attrName>
                                        </p:attrNameLst>
                                      </p:cBhvr>
                                      <p:to>
                                        <p:strVal val="visible"/>
                                      </p:to>
                                    </p:set>
                                    <p:anim from="(-#ppt_w/2)" to="(#ppt_x)" calcmode="lin" valueType="num">
                                      <p:cBhvr>
                                        <p:cTn id="14" dur="300" fill="hold">
                                          <p:stCondLst>
                                            <p:cond delay="0"/>
                                          </p:stCondLst>
                                        </p:cTn>
                                        <p:tgtEl>
                                          <p:spTgt spid="3">
                                            <p:txEl>
                                              <p:pRg st="1" end="1"/>
                                            </p:txEl>
                                          </p:spTgt>
                                        </p:tgtEl>
                                        <p:attrNameLst>
                                          <p:attrName>ppt_x</p:attrName>
                                        </p:attrNameLst>
                                      </p:cBhvr>
                                    </p:anim>
                                    <p:anim from="0" to="-1.0" calcmode="lin" valueType="num">
                                      <p:cBhvr>
                                        <p:cTn id="15" dur="100" decel="50000" autoRev="1" fill="hold">
                                          <p:stCondLst>
                                            <p:cond delay="300"/>
                                          </p:stCondLst>
                                        </p:cTn>
                                        <p:tgtEl>
                                          <p:spTgt spid="3">
                                            <p:txEl>
                                              <p:pRg st="1" end="1"/>
                                            </p:txEl>
                                          </p:spTgt>
                                        </p:tgtEl>
                                        <p:attrNameLst>
                                          <p:attrName>xshear</p:attrName>
                                        </p:attrNameLst>
                                      </p:cBhvr>
                                    </p:anim>
                                    <p:animScale>
                                      <p:cBhvr>
                                        <p:cTn id="16" dur="100" decel="100000" autoRev="1" fill="hold">
                                          <p:stCondLst>
                                            <p:cond delay="300"/>
                                          </p:stCondLst>
                                        </p:cTn>
                                        <p:tgtEl>
                                          <p:spTgt spid="3">
                                            <p:txEl>
                                              <p:pRg st="1" end="1"/>
                                            </p:txEl>
                                          </p:spTgt>
                                        </p:tgtEl>
                                      </p:cBhvr>
                                      <p:from x="100000" y="100000"/>
                                      <p:to x="80000" y="100000"/>
                                    </p:animScale>
                                    <p:anim by="(#ppt_h/3+#ppt_w*0.1)" calcmode="lin" valueType="num">
                                      <p:cBhvr additive="sum">
                                        <p:cTn id="17" dur="100" decel="100000" autoRev="1" fill="hold">
                                          <p:stCondLst>
                                            <p:cond delay="300"/>
                                          </p:stCondLst>
                                        </p:cTn>
                                        <p:tgtEl>
                                          <p:spTgt spid="3">
                                            <p:txEl>
                                              <p:pRg st="1" end="1"/>
                                            </p:txEl>
                                          </p:spTgt>
                                        </p:tgtEl>
                                        <p:attrNameLst>
                                          <p:attrName>ppt_x</p:attrName>
                                        </p:attrNameLst>
                                      </p:cBhvr>
                                    </p:anim>
                                  </p:childTnLst>
                                </p:cTn>
                              </p:par>
                              <p:par>
                                <p:cTn id="18" presetID="34" presetClass="entr" presetSubtype="0" fill="hold" grpId="0" nodeType="with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 from="(-#ppt_w/2)" to="(#ppt_x)" calcmode="lin" valueType="num">
                                      <p:cBhvr>
                                        <p:cTn id="20" dur="300" fill="hold">
                                          <p:stCondLst>
                                            <p:cond delay="0"/>
                                          </p:stCondLst>
                                        </p:cTn>
                                        <p:tgtEl>
                                          <p:spTgt spid="3">
                                            <p:txEl>
                                              <p:pRg st="2" end="2"/>
                                            </p:txEl>
                                          </p:spTgt>
                                        </p:tgtEl>
                                        <p:attrNameLst>
                                          <p:attrName>ppt_x</p:attrName>
                                        </p:attrNameLst>
                                      </p:cBhvr>
                                    </p:anim>
                                    <p:anim from="0" to="-1.0" calcmode="lin" valueType="num">
                                      <p:cBhvr>
                                        <p:cTn id="21" dur="100" decel="50000" autoRev="1" fill="hold">
                                          <p:stCondLst>
                                            <p:cond delay="300"/>
                                          </p:stCondLst>
                                        </p:cTn>
                                        <p:tgtEl>
                                          <p:spTgt spid="3">
                                            <p:txEl>
                                              <p:pRg st="2" end="2"/>
                                            </p:txEl>
                                          </p:spTgt>
                                        </p:tgtEl>
                                        <p:attrNameLst>
                                          <p:attrName>xshear</p:attrName>
                                        </p:attrNameLst>
                                      </p:cBhvr>
                                    </p:anim>
                                    <p:animScale>
                                      <p:cBhvr>
                                        <p:cTn id="22" dur="100" decel="100000" autoRev="1" fill="hold">
                                          <p:stCondLst>
                                            <p:cond delay="300"/>
                                          </p:stCondLst>
                                        </p:cTn>
                                        <p:tgtEl>
                                          <p:spTgt spid="3">
                                            <p:txEl>
                                              <p:pRg st="2" end="2"/>
                                            </p:txEl>
                                          </p:spTgt>
                                        </p:tgtEl>
                                      </p:cBhvr>
                                      <p:from x="100000" y="100000"/>
                                      <p:to x="80000" y="100000"/>
                                    </p:animScale>
                                    <p:anim by="(#ppt_h/3+#ppt_w*0.1)" calcmode="lin" valueType="num">
                                      <p:cBhvr additive="sum">
                                        <p:cTn id="23" dur="100" decel="100000" autoRev="1" fill="hold">
                                          <p:stCondLst>
                                            <p:cond delay="300"/>
                                          </p:stCondLst>
                                        </p:cTn>
                                        <p:tgtEl>
                                          <p:spTgt spid="3">
                                            <p:txEl>
                                              <p:pRg st="2" end="2"/>
                                            </p:txEl>
                                          </p:spTgt>
                                        </p:tgtEl>
                                        <p:attrNameLst>
                                          <p:attrName>ppt_x</p:attrName>
                                        </p:attrNameLst>
                                      </p:cBhvr>
                                    </p:anim>
                                  </p:childTnLst>
                                </p:cTn>
                              </p:par>
                              <p:par>
                                <p:cTn id="24" presetID="34"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 from="(-#ppt_w/2)" to="(#ppt_x)" calcmode="lin" valueType="num">
                                      <p:cBhvr>
                                        <p:cTn id="26" dur="300" fill="hold">
                                          <p:stCondLst>
                                            <p:cond delay="0"/>
                                          </p:stCondLst>
                                        </p:cTn>
                                        <p:tgtEl>
                                          <p:spTgt spid="3">
                                            <p:txEl>
                                              <p:pRg st="3" end="3"/>
                                            </p:txEl>
                                          </p:spTgt>
                                        </p:tgtEl>
                                        <p:attrNameLst>
                                          <p:attrName>ppt_x</p:attrName>
                                        </p:attrNameLst>
                                      </p:cBhvr>
                                    </p:anim>
                                    <p:anim from="0" to="-1.0" calcmode="lin" valueType="num">
                                      <p:cBhvr>
                                        <p:cTn id="27" dur="100" decel="50000" autoRev="1" fill="hold">
                                          <p:stCondLst>
                                            <p:cond delay="300"/>
                                          </p:stCondLst>
                                        </p:cTn>
                                        <p:tgtEl>
                                          <p:spTgt spid="3">
                                            <p:txEl>
                                              <p:pRg st="3" end="3"/>
                                            </p:txEl>
                                          </p:spTgt>
                                        </p:tgtEl>
                                        <p:attrNameLst>
                                          <p:attrName>xshear</p:attrName>
                                        </p:attrNameLst>
                                      </p:cBhvr>
                                    </p:anim>
                                    <p:animScale>
                                      <p:cBhvr>
                                        <p:cTn id="28" dur="100" decel="100000" autoRev="1" fill="hold">
                                          <p:stCondLst>
                                            <p:cond delay="300"/>
                                          </p:stCondLst>
                                        </p:cTn>
                                        <p:tgtEl>
                                          <p:spTgt spid="3">
                                            <p:txEl>
                                              <p:pRg st="3" end="3"/>
                                            </p:txEl>
                                          </p:spTgt>
                                        </p:tgtEl>
                                      </p:cBhvr>
                                      <p:from x="100000" y="100000"/>
                                      <p:to x="80000" y="100000"/>
                                    </p:animScale>
                                    <p:anim by="(#ppt_h/3+#ppt_w*0.1)" calcmode="lin" valueType="num">
                                      <p:cBhvr additive="sum">
                                        <p:cTn id="29" dur="100" decel="100000" autoRev="1" fill="hold">
                                          <p:stCondLst>
                                            <p:cond delay="300"/>
                                          </p:stCondLst>
                                        </p:cTn>
                                        <p:tgtEl>
                                          <p:spTgt spid="3">
                                            <p:txEl>
                                              <p:pRg st="3" end="3"/>
                                            </p:txEl>
                                          </p:spTgt>
                                        </p:tgtEl>
                                        <p:attrNameLst>
                                          <p:attrName>ppt_x</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991548"/>
          </a:xfrm>
        </p:spPr>
        <p:txBody>
          <a:bodyPr/>
          <a:lstStyle/>
          <a:p>
            <a:pPr algn="ctr"/>
            <a:r>
              <a:rPr lang="en-NZ"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Condition Variables</a:t>
            </a:r>
          </a:p>
        </p:txBody>
      </p:sp>
      <p:graphicFrame>
        <p:nvGraphicFramePr>
          <p:cNvPr id="4" name="Content Placeholder 3"/>
          <p:cNvGraphicFramePr>
            <a:graphicFrameLocks noGrp="1"/>
          </p:cNvGraphicFramePr>
          <p:nvPr>
            <p:ph idx="4294967295"/>
          </p:nvPr>
        </p:nvGraphicFramePr>
        <p:xfrm>
          <a:off x="457200" y="1828800"/>
          <a:ext cx="8229600" cy="533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143948"/>
          </a:xfrm>
        </p:spPr>
        <p:txBody>
          <a:bodyPr/>
          <a:lstStyle/>
          <a:p>
            <a:pPr algn="ctr"/>
            <a:r>
              <a:rPr lang="en-NZ"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Critical Sections</a:t>
            </a:r>
          </a:p>
        </p:txBody>
      </p:sp>
      <p:sp>
        <p:nvSpPr>
          <p:cNvPr id="3" name="Content Placeholder 2"/>
          <p:cNvSpPr>
            <a:spLocks noGrp="1"/>
          </p:cNvSpPr>
          <p:nvPr>
            <p:ph idx="4294967295"/>
          </p:nvPr>
        </p:nvSpPr>
        <p:spPr>
          <a:xfrm>
            <a:off x="609600" y="2209800"/>
            <a:ext cx="8153400" cy="3840163"/>
          </a:xfrm>
        </p:spPr>
        <p:txBody>
          <a:bodyPr/>
          <a:lstStyle/>
          <a:p>
            <a:r>
              <a:rPr lang="en-NZ" sz="2200" dirty="0"/>
              <a:t>Similar mechanism to mutex except that critical sections can be used only by the threads of a single process</a:t>
            </a:r>
          </a:p>
          <a:p>
            <a:r>
              <a:rPr lang="en-NZ" sz="2200" dirty="0"/>
              <a:t>If the system is a multiprocessor, the code will attempt to acquire a spin-lock</a:t>
            </a:r>
          </a:p>
          <a:p>
            <a:pPr lvl="1"/>
            <a:r>
              <a:rPr lang="en-NZ" sz="2200" dirty="0"/>
              <a:t>as a last resort, if the spinlock cannot be acquired, a dispatcher object is used to block the thread so that the kernel can dispatch another thread onto the processor</a:t>
            </a:r>
          </a:p>
          <a:p>
            <a:endParaRPr lang="en-NZ" dirty="0"/>
          </a:p>
        </p:txBody>
      </p:sp>
      <p:pic>
        <p:nvPicPr>
          <p:cNvPr id="4" name="Picture 3"/>
          <p:cNvPicPr>
            <a:picLocks noChangeAspect="1"/>
          </p:cNvPicPr>
          <p:nvPr/>
        </p:nvPicPr>
        <p:blipFill>
          <a:blip r:embed="rId3"/>
          <a:stretch>
            <a:fillRect/>
          </a:stretch>
        </p:blipFill>
        <p:spPr>
          <a:xfrm>
            <a:off x="7086600" y="4876800"/>
            <a:ext cx="1447800" cy="1447800"/>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4" presetClass="entr" presetSubtype="0" accel="100000" fill="hold" grpId="0" nodeType="afterEffect">
                                  <p:stCondLst>
                                    <p:cond delay="150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p:cTn id="7" dur="500" fill="hold"/>
                                        <p:tgtEl>
                                          <p:spTgt spid="3">
                                            <p:txEl>
                                              <p:pRg st="2" end="2"/>
                                            </p:txEl>
                                          </p:spTgt>
                                        </p:tgtEl>
                                        <p:attrNameLst>
                                          <p:attrName>ppt_w</p:attrName>
                                        </p:attrNameLst>
                                      </p:cBhvr>
                                      <p:tavLst>
                                        <p:tav tm="0">
                                          <p:val>
                                            <p:strVal val="#ppt_w*0.05"/>
                                          </p:val>
                                        </p:tav>
                                        <p:tav tm="100000">
                                          <p:val>
                                            <p:strVal val="#ppt_w"/>
                                          </p:val>
                                        </p:tav>
                                      </p:tavLst>
                                    </p:anim>
                                    <p:anim calcmode="lin" valueType="num">
                                      <p:cBhvr>
                                        <p:cTn id="8" dur="500" fill="hold"/>
                                        <p:tgtEl>
                                          <p:spTgt spid="3">
                                            <p:txEl>
                                              <p:pRg st="2" end="2"/>
                                            </p:txEl>
                                          </p:spTgt>
                                        </p:tgtEl>
                                        <p:attrNameLst>
                                          <p:attrName>ppt_h</p:attrName>
                                        </p:attrNameLst>
                                      </p:cBhvr>
                                      <p:tavLst>
                                        <p:tav tm="0">
                                          <p:val>
                                            <p:strVal val="#ppt_h"/>
                                          </p:val>
                                        </p:tav>
                                        <p:tav tm="100000">
                                          <p:val>
                                            <p:strVal val="#ppt_h"/>
                                          </p:val>
                                        </p:tav>
                                      </p:tavLst>
                                    </p:anim>
                                    <p:anim calcmode="lin" valueType="num">
                                      <p:cBhvr>
                                        <p:cTn id="9" dur="500" fill="hold"/>
                                        <p:tgtEl>
                                          <p:spTgt spid="3">
                                            <p:txEl>
                                              <p:pRg st="2" end="2"/>
                                            </p:txEl>
                                          </p:spTgt>
                                        </p:tgtEl>
                                        <p:attrNameLst>
                                          <p:attrName>ppt_x</p:attrName>
                                        </p:attrNameLst>
                                      </p:cBhvr>
                                      <p:tavLst>
                                        <p:tav tm="0">
                                          <p:val>
                                            <p:strVal val="#ppt_x-.2"/>
                                          </p:val>
                                        </p:tav>
                                        <p:tav tm="100000">
                                          <p:val>
                                            <p:strVal val="#ppt_x"/>
                                          </p:val>
                                        </p:tav>
                                      </p:tavLst>
                                    </p:anim>
                                    <p:anim calcmode="lin" valueType="num">
                                      <p:cBhvr>
                                        <p:cTn id="10" dur="500" fill="hold"/>
                                        <p:tgtEl>
                                          <p:spTgt spid="3">
                                            <p:txEl>
                                              <p:pRg st="2" end="2"/>
                                            </p:txEl>
                                          </p:spTgt>
                                        </p:tgtEl>
                                        <p:attrNameLst>
                                          <p:attrName>ppt_y</p:attrName>
                                        </p:attrNameLst>
                                      </p:cBhvr>
                                      <p:tavLst>
                                        <p:tav tm="0">
                                          <p:val>
                                            <p:strVal val="#ppt_y"/>
                                          </p:val>
                                        </p:tav>
                                        <p:tav tm="100000">
                                          <p:val>
                                            <p:strVal val="#ppt_y"/>
                                          </p:val>
                                        </p:tav>
                                      </p:tavLst>
                                    </p:anim>
                                    <p:animEffect transition="in" filter="fade">
                                      <p:cBhvr>
                                        <p:cTn id="11" dur="500"/>
                                        <p:tgtEl>
                                          <p:spTgt spid="3">
                                            <p:txEl>
                                              <p:pRg st="2" end="2"/>
                                            </p:txEl>
                                          </p:spTgt>
                                        </p:tgtEl>
                                      </p:cBhvr>
                                    </p:animEffect>
                                  </p:childTnLst>
                                </p:cTn>
                              </p:par>
                              <p:par>
                                <p:cTn id="12" presetID="47" presetClass="entr" presetSubtype="0" fill="hold" grpId="1" nodeType="withEffect">
                                  <p:stCondLst>
                                    <p:cond delay="0"/>
                                  </p:stCondLst>
                                  <p:childTnLst>
                                    <p:set>
                                      <p:cBhvr>
                                        <p:cTn id="13" dur="1" fill="hold">
                                          <p:stCondLst>
                                            <p:cond delay="0"/>
                                          </p:stCondLst>
                                        </p:cTn>
                                        <p:tgtEl>
                                          <p:spTgt spid="3">
                                            <p:txEl>
                                              <p:pRg st="0" end="0"/>
                                            </p:txEl>
                                          </p:spTgt>
                                        </p:tgtEl>
                                        <p:attrNameLst>
                                          <p:attrName>style.visibility</p:attrName>
                                        </p:attrNameLst>
                                      </p:cBhvr>
                                      <p:to>
                                        <p:strVal val="visible"/>
                                      </p:to>
                                    </p:set>
                                    <p:animEffect transition="in" filter="fade">
                                      <p:cBhvr>
                                        <p:cTn id="14" dur="1000"/>
                                        <p:tgtEl>
                                          <p:spTgt spid="3">
                                            <p:txEl>
                                              <p:pRg st="0" end="0"/>
                                            </p:txEl>
                                          </p:spTgt>
                                        </p:tgtEl>
                                      </p:cBhvr>
                                    </p:animEffect>
                                    <p:anim calcmode="lin" valueType="num">
                                      <p:cBhvr>
                                        <p:cTn id="15"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7" presetID="47" presetClass="entr" presetSubtype="0" fill="hold" grpId="1"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Effect transition="in" filter="fade">
                                      <p:cBhvr>
                                        <p:cTn id="19" dur="1000"/>
                                        <p:tgtEl>
                                          <p:spTgt spid="3">
                                            <p:txEl>
                                              <p:pRg st="1" end="1"/>
                                            </p:txEl>
                                          </p:spTgt>
                                        </p:tgtEl>
                                      </p:cBhvr>
                                    </p:animEffect>
                                    <p:anim calcmode="lin" valueType="num">
                                      <p:cBhvr>
                                        <p:cTn id="20"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457200" y="990600"/>
            <a:ext cx="8229600" cy="5638800"/>
          </a:xfrm>
        </p:spPr>
        <p:txBody>
          <a:bodyPr>
            <a:normAutofit fontScale="92500"/>
          </a:bodyPr>
          <a:lstStyle/>
          <a:p>
            <a:pPr lvl="0"/>
            <a:r>
              <a:rPr lang="en-US" sz="2800" dirty="0"/>
              <a:t>Deadlock:</a:t>
            </a:r>
          </a:p>
          <a:p>
            <a:pPr marL="804863" lvl="1" indent="-288925"/>
            <a:r>
              <a:rPr lang="en-US" sz="2595" dirty="0"/>
              <a:t>the blocking of a set of processes that either compete for system resources or communicate with each other</a:t>
            </a:r>
          </a:p>
          <a:p>
            <a:pPr marL="804863" lvl="1" indent="-288925"/>
            <a:r>
              <a:rPr lang="en-US" sz="2595" dirty="0"/>
              <a:t>blockage is permanent unless OS takes action</a:t>
            </a:r>
          </a:p>
          <a:p>
            <a:pPr marL="804863" lvl="1" indent="-288925"/>
            <a:r>
              <a:rPr lang="en-US" sz="2595" dirty="0"/>
              <a:t>may involve reusable or consumable resources</a:t>
            </a:r>
          </a:p>
          <a:p>
            <a:pPr marL="1144588" lvl="2" indent="-288925"/>
            <a:r>
              <a:rPr lang="en-US" sz="2378" dirty="0"/>
              <a:t>Consumable = destroyed when acquired by a process</a:t>
            </a:r>
          </a:p>
          <a:p>
            <a:pPr marL="1144588" lvl="2" indent="-288925"/>
            <a:r>
              <a:rPr lang="en-US" sz="2378" dirty="0"/>
              <a:t>Reusable = not depleted/destroyed by use</a:t>
            </a:r>
          </a:p>
          <a:p>
            <a:pPr lvl="0"/>
            <a:r>
              <a:rPr lang="en-US" sz="2800" dirty="0"/>
              <a:t>Dealing with deadlock:</a:t>
            </a:r>
          </a:p>
          <a:p>
            <a:pPr marL="804863" lvl="1" indent="-288925"/>
            <a:r>
              <a:rPr lang="en-US" sz="2800" dirty="0"/>
              <a:t>prevention – guarantees that deadlock will not occur</a:t>
            </a:r>
          </a:p>
          <a:p>
            <a:pPr marL="804863" lvl="1" indent="-288925"/>
            <a:r>
              <a:rPr lang="en-US" sz="2800" dirty="0"/>
              <a:t>detection – OS checks for deadlock and takes action</a:t>
            </a:r>
          </a:p>
          <a:p>
            <a:pPr marL="804863" lvl="1" indent="-288925"/>
            <a:r>
              <a:rPr lang="en-US" sz="2800" dirty="0"/>
              <a:t>avoidance – analyzes each new resource request</a:t>
            </a:r>
          </a:p>
          <a:p>
            <a:endParaRPr lang="en-US" dirty="0"/>
          </a:p>
        </p:txBody>
      </p:sp>
      <p:sp>
        <p:nvSpPr>
          <p:cNvPr id="2" name="Title 1"/>
          <p:cNvSpPr>
            <a:spLocks noGrp="1"/>
          </p:cNvSpPr>
          <p:nvPr>
            <p:ph type="title" idx="4294967295"/>
          </p:nvPr>
        </p:nvSpPr>
        <p:spPr>
          <a:xfrm>
            <a:off x="990600" y="0"/>
            <a:ext cx="7824788" cy="1323975"/>
          </a:xfrm>
        </p:spPr>
        <p:txBody>
          <a:bodyPr/>
          <a:lstStyle/>
          <a:p>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Summary</a:t>
            </a:r>
          </a:p>
        </p:txBody>
      </p:sp>
    </p:spTree>
  </p:cSld>
  <p:clrMapOvr>
    <a:masterClrMapping/>
  </p:clrMapOvr>
  <p:transition/>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x">
  <a:themeElements>
    <a:clrScheme name="Codex">
      <a:dk1>
        <a:sysClr val="windowText" lastClr="000000"/>
      </a:dk1>
      <a:lt1>
        <a:sysClr val="window" lastClr="FFFFFF"/>
      </a:lt1>
      <a:dk2>
        <a:srgbClr val="59564B"/>
      </a:dk2>
      <a:lt2>
        <a:srgbClr val="DFDAC7"/>
      </a:lt2>
      <a:accent1>
        <a:srgbClr val="990000"/>
      </a:accent1>
      <a:accent2>
        <a:srgbClr val="EFAB16"/>
      </a:accent2>
      <a:accent3>
        <a:srgbClr val="78AC35"/>
      </a:accent3>
      <a:accent4>
        <a:srgbClr val="35ACA2"/>
      </a:accent4>
      <a:accent5>
        <a:srgbClr val="4083CF"/>
      </a:accent5>
      <a:accent6>
        <a:srgbClr val="0D335E"/>
      </a:accent6>
      <a:hlink>
        <a:srgbClr val="EF8E1C"/>
      </a:hlink>
      <a:folHlink>
        <a:srgbClr val="FEC60B"/>
      </a:folHlink>
    </a:clrScheme>
    <a:fontScheme name="Codex">
      <a:majorFont>
        <a:latin typeface="Calisto MT"/>
        <a:ea typeface=""/>
        <a:cs typeface=""/>
        <a:font script="Jpan" typeface="ＭＳ 明朝"/>
      </a:majorFont>
      <a:minorFont>
        <a:latin typeface="Calisto MT"/>
        <a:ea typeface=""/>
        <a:cs typeface=""/>
        <a:font script="Jpan" typeface="ＭＳ 明朝"/>
      </a:minorFont>
    </a:fontScheme>
    <a:fmtScheme name="Codex">
      <a:fillStyleLst>
        <a:solidFill>
          <a:schemeClr val="phClr"/>
        </a:solidFill>
        <a:gradFill rotWithShape="1">
          <a:gsLst>
            <a:gs pos="0">
              <a:schemeClr val="phClr">
                <a:tint val="100000"/>
                <a:shade val="60000"/>
                <a:satMod val="135000"/>
              </a:schemeClr>
            </a:gs>
            <a:gs pos="100000">
              <a:schemeClr val="phClr">
                <a:tint val="100000"/>
                <a:shade val="94000"/>
                <a:satMod val="135000"/>
              </a:schemeClr>
            </a:gs>
          </a:gsLst>
          <a:lin ang="16200000" scaled="1"/>
        </a:gradFill>
        <a:gradFill rotWithShape="1">
          <a:gsLst>
            <a:gs pos="0">
              <a:schemeClr val="phClr">
                <a:shade val="51000"/>
                <a:alpha val="90000"/>
                <a:satMod val="115000"/>
              </a:schemeClr>
            </a:gs>
            <a:gs pos="100000">
              <a:schemeClr val="phClr">
                <a:shade val="94000"/>
                <a:alpha val="90000"/>
                <a:satMod val="135000"/>
              </a:schemeClr>
            </a:gs>
          </a:gsLst>
          <a:lin ang="5400000" scaled="1"/>
        </a:gradFill>
      </a:fillStyleLst>
      <a:lnStyleLst>
        <a:ln w="15875" cap="flat" cmpd="sng" algn="ctr">
          <a:solidFill>
            <a:schemeClr val="phClr">
              <a:shade val="95000"/>
              <a:satMod val="105000"/>
            </a:schemeClr>
          </a:solidFill>
          <a:prstDash val="solid"/>
        </a:ln>
        <a:ln w="34925"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effectStyle>
        <a:effectStyle>
          <a:effectLst>
            <a:outerShdw blurRad="50800" dist="12700" dir="5400000" rotWithShape="0">
              <a:srgbClr val="525252">
                <a:alpha val="85000"/>
              </a:srgbClr>
            </a:outerShdw>
          </a:effectLst>
          <a:scene3d>
            <a:camera prst="orthographicFront">
              <a:rot lat="0" lon="0" rev="0"/>
            </a:camera>
            <a:lightRig rig="sunrise" dir="t">
              <a:rot lat="0" lon="0" rev="6000000"/>
            </a:lightRig>
          </a:scene3d>
          <a:sp3d prstMaterial="matte">
            <a:bevelT w="50800" h="4445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4673</Words>
  <Application>Microsoft Office PowerPoint</Application>
  <PresentationFormat>On-screen Show (4:3)</PresentationFormat>
  <Paragraphs>278</Paragraphs>
  <Slides>27</Slides>
  <Notes>27</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27</vt:i4>
      </vt:variant>
    </vt:vector>
  </HeadingPairs>
  <TitlesOfParts>
    <vt:vector size="38" baseType="lpstr">
      <vt:lpstr>ＭＳ Ｐゴシック</vt:lpstr>
      <vt:lpstr>Arial</vt:lpstr>
      <vt:lpstr>Calibri</vt:lpstr>
      <vt:lpstr>Calisto MT</vt:lpstr>
      <vt:lpstr>Courier New</vt:lpstr>
      <vt:lpstr>Times New Roman</vt:lpstr>
      <vt:lpstr>TimesTen-Roman</vt:lpstr>
      <vt:lpstr>Wingdings</vt:lpstr>
      <vt:lpstr>Custom Design</vt:lpstr>
      <vt:lpstr>Codex</vt:lpstr>
      <vt:lpstr>Document</vt:lpstr>
      <vt:lpstr> Concurrency: Deadlock and Starvation</vt:lpstr>
      <vt:lpstr>Operating Systems: Internals and Design Principles</vt:lpstr>
      <vt:lpstr>Deadlock</vt:lpstr>
      <vt:lpstr>Potential Deadlock </vt:lpstr>
      <vt:lpstr>Actual Deadlock</vt:lpstr>
      <vt:lpstr>Resource Categories</vt:lpstr>
      <vt:lpstr>Deadlock Detection,  Prevention, and Avoidance</vt:lpstr>
      <vt:lpstr>Resource Allocation Graphs</vt:lpstr>
      <vt:lpstr>PowerPoint Presentation</vt:lpstr>
      <vt:lpstr>Conditions for Deadlock</vt:lpstr>
      <vt:lpstr>Dealing with Deadlock</vt:lpstr>
      <vt:lpstr>Deadlock Prevention Strategy</vt:lpstr>
      <vt:lpstr>Deadlock Condition Prevention  </vt:lpstr>
      <vt:lpstr>PowerPoint Presentation</vt:lpstr>
      <vt:lpstr>Deadlock Avoidance</vt:lpstr>
      <vt:lpstr>Two Approaches to  Deadlock Avoidance</vt:lpstr>
      <vt:lpstr>Resource Allocation Denial</vt:lpstr>
      <vt:lpstr>Banker’s Algorithm</vt:lpstr>
      <vt:lpstr>Deadlock Avoidance Advantages</vt:lpstr>
      <vt:lpstr>Deadlock Avoidance Restrictions</vt:lpstr>
      <vt:lpstr>Deadlock Strategies</vt:lpstr>
      <vt:lpstr>Deadline Detection Algorithms</vt:lpstr>
      <vt:lpstr>Recovery Strategies  </vt:lpstr>
      <vt:lpstr>  Readers/Writer Locks</vt:lpstr>
      <vt:lpstr>Condition Variables</vt:lpstr>
      <vt:lpstr>Critical Sections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2011-03-29T19:24:25Z</dcterms:created>
  <dcterms:modified xsi:type="dcterms:W3CDTF">2024-04-30T06:11:19Z</dcterms:modified>
</cp:coreProperties>
</file>