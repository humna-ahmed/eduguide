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1"/>
    <p:sldMasterId id="2147483741" r:id="rId2"/>
  </p:sldMasterIdLst>
  <p:notesMasterIdLst>
    <p:notesMasterId r:id="rId19"/>
  </p:notesMasterIdLst>
  <p:sldIdLst>
    <p:sldId id="256" r:id="rId3"/>
    <p:sldId id="325" r:id="rId4"/>
    <p:sldId id="345" r:id="rId5"/>
    <p:sldId id="277" r:id="rId6"/>
    <p:sldId id="278" r:id="rId7"/>
    <p:sldId id="328" r:id="rId8"/>
    <p:sldId id="327" r:id="rId9"/>
    <p:sldId id="279" r:id="rId10"/>
    <p:sldId id="282" r:id="rId11"/>
    <p:sldId id="283" r:id="rId12"/>
    <p:sldId id="288" r:id="rId13"/>
    <p:sldId id="346" r:id="rId14"/>
    <p:sldId id="295" r:id="rId15"/>
    <p:sldId id="334" r:id="rId16"/>
    <p:sldId id="308" r:id="rId17"/>
    <p:sldId id="315" r:id="rId18"/>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72AC"/>
    <a:srgbClr val="12FF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752" autoAdjust="0"/>
  </p:normalViewPr>
  <p:slideViewPr>
    <p:cSldViewPr>
      <p:cViewPr varScale="1">
        <p:scale>
          <a:sx n="103" d="100"/>
          <a:sy n="103" d="100"/>
        </p:scale>
        <p:origin x="234" y="102"/>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diagrams/_rels/data6.xml.rels><?xml version="1.0" encoding="UTF-8" standalone="yes"?>
<Relationships xmlns="http://schemas.openxmlformats.org/package/2006/relationships"><Relationship Id="rId1" Type="http://schemas.openxmlformats.org/officeDocument/2006/relationships/image" Target="../media/image1.jpeg"/></Relationships>
</file>

<file path=ppt/diagrams/_rels/drawing6.xml.rels><?xml version="1.0" encoding="UTF-8" standalone="yes"?>
<Relationships xmlns="http://schemas.openxmlformats.org/package/2006/relationships"><Relationship Id="rId1" Type="http://schemas.openxmlformats.org/officeDocument/2006/relationships/image" Target="../media/image1.jpe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B13F4EE-7D10-DD41-B07C-4241F7924867}" type="doc">
      <dgm:prSet loTypeId="urn:microsoft.com/office/officeart/2005/8/layout/process1" loCatId="process" qsTypeId="urn:microsoft.com/office/officeart/2005/8/quickstyle/simple4" qsCatId="simple" csTypeId="urn:microsoft.com/office/officeart/2005/8/colors/accent1_2" csCatId="accent1" phldr="1"/>
      <dgm:spPr/>
      <dgm:t>
        <a:bodyPr/>
        <a:lstStyle/>
        <a:p>
          <a:endParaRPr lang="en-US"/>
        </a:p>
      </dgm:t>
    </dgm:pt>
    <dgm:pt modelId="{089281B8-1D5E-334A-A921-5425AAEB96AE}">
      <dgm:prSet/>
      <dgm:spPr>
        <a:solidFill>
          <a:schemeClr val="accent1"/>
        </a:solidFill>
      </dgm:spPr>
      <dgm:t>
        <a:bodyPr/>
        <a:lstStyle/>
        <a:p>
          <a:pPr rtl="0"/>
          <a:r>
            <a:rPr lang="en-US" dirty="0"/>
            <a:t>There is no way to inspect or manipulate semaphores other than these three operations</a:t>
          </a:r>
        </a:p>
      </dgm:t>
    </dgm:pt>
    <dgm:pt modelId="{E0980B7B-60AC-5E49-9B7D-344FC211FD30}" type="parTrans" cxnId="{3E788187-53C4-9C46-85FD-C314878B1C40}">
      <dgm:prSet/>
      <dgm:spPr/>
      <dgm:t>
        <a:bodyPr/>
        <a:lstStyle/>
        <a:p>
          <a:endParaRPr lang="en-US"/>
        </a:p>
      </dgm:t>
    </dgm:pt>
    <dgm:pt modelId="{F308D1D0-AC0A-AC41-8CDB-E4DC577760E9}" type="sibTrans" cxnId="{3E788187-53C4-9C46-85FD-C314878B1C40}">
      <dgm:prSet/>
      <dgm:spPr>
        <a:solidFill>
          <a:schemeClr val="bg2">
            <a:lumMod val="50000"/>
          </a:schemeClr>
        </a:solidFill>
      </dgm:spPr>
      <dgm:t>
        <a:bodyPr/>
        <a:lstStyle/>
        <a:p>
          <a:endParaRPr lang="en-US"/>
        </a:p>
      </dgm:t>
    </dgm:pt>
    <dgm:pt modelId="{6D4F9E33-4AF4-EE41-83FB-9E7502CB8AE1}">
      <dgm:prSet/>
      <dgm:spPr/>
      <dgm:t>
        <a:bodyPr/>
        <a:lstStyle/>
        <a:p>
          <a:pPr rtl="0"/>
          <a:r>
            <a:rPr lang="en-NZ" dirty="0"/>
            <a:t>A variable that has an integer value upon which only three operations are defined: </a:t>
          </a:r>
          <a:endParaRPr lang="en-US" dirty="0"/>
        </a:p>
      </dgm:t>
    </dgm:pt>
    <dgm:pt modelId="{FAF7B778-71E2-994F-9D3C-13802D8DE8F5}" type="parTrans" cxnId="{4677D42E-BBD8-2349-BAF8-83F5592E1794}">
      <dgm:prSet/>
      <dgm:spPr/>
      <dgm:t>
        <a:bodyPr/>
        <a:lstStyle/>
        <a:p>
          <a:endParaRPr lang="en-US"/>
        </a:p>
      </dgm:t>
    </dgm:pt>
    <dgm:pt modelId="{E906FF73-0790-B34E-A2B5-71EBE191FC77}" type="sibTrans" cxnId="{4677D42E-BBD8-2349-BAF8-83F5592E1794}">
      <dgm:prSet/>
      <dgm:spPr/>
      <dgm:t>
        <a:bodyPr/>
        <a:lstStyle/>
        <a:p>
          <a:endParaRPr lang="en-US"/>
        </a:p>
      </dgm:t>
    </dgm:pt>
    <dgm:pt modelId="{AD1DA9AD-E803-CF4C-9F9D-745BDC537CFE}" type="pres">
      <dgm:prSet presAssocID="{7B13F4EE-7D10-DD41-B07C-4241F7924867}" presName="Name0" presStyleCnt="0">
        <dgm:presLayoutVars>
          <dgm:dir/>
          <dgm:resizeHandles val="exact"/>
        </dgm:presLayoutVars>
      </dgm:prSet>
      <dgm:spPr/>
    </dgm:pt>
    <dgm:pt modelId="{D922F58D-B635-F14D-A7B0-F6371807DE43}" type="pres">
      <dgm:prSet presAssocID="{089281B8-1D5E-334A-A921-5425AAEB96AE}" presName="node" presStyleLbl="node1" presStyleIdx="0" presStyleCnt="2" custLinFactX="91325" custLinFactNeighborX="100000" custLinFactNeighborY="-46264">
        <dgm:presLayoutVars>
          <dgm:bulletEnabled val="1"/>
        </dgm:presLayoutVars>
      </dgm:prSet>
      <dgm:spPr/>
    </dgm:pt>
    <dgm:pt modelId="{2F146ECA-E547-3B4A-A33E-83CC028577F2}" type="pres">
      <dgm:prSet presAssocID="{F308D1D0-AC0A-AC41-8CDB-E4DC577760E9}" presName="sibTrans" presStyleLbl="sibTrans2D1" presStyleIdx="0" presStyleCnt="1" custAng="10800000"/>
      <dgm:spPr/>
    </dgm:pt>
    <dgm:pt modelId="{38CA54D7-5E68-5949-A108-806EB9ABFAE5}" type="pres">
      <dgm:prSet presAssocID="{F308D1D0-AC0A-AC41-8CDB-E4DC577760E9}" presName="connectorText" presStyleLbl="sibTrans2D1" presStyleIdx="0" presStyleCnt="1"/>
      <dgm:spPr/>
    </dgm:pt>
    <dgm:pt modelId="{536CC010-3CA8-CD44-BED7-E2E67E4A6B14}" type="pres">
      <dgm:prSet presAssocID="{6D4F9E33-4AF4-EE41-83FB-9E7502CB8AE1}" presName="node" presStyleLbl="node1" presStyleIdx="1" presStyleCnt="2" custLinFactX="-95517" custLinFactNeighborX="-100000" custLinFactNeighborY="-46264">
        <dgm:presLayoutVars>
          <dgm:bulletEnabled val="1"/>
        </dgm:presLayoutVars>
      </dgm:prSet>
      <dgm:spPr/>
    </dgm:pt>
  </dgm:ptLst>
  <dgm:cxnLst>
    <dgm:cxn modelId="{0D02A72B-D8C4-7740-9E36-FDFF694D791E}" type="presOf" srcId="{6D4F9E33-4AF4-EE41-83FB-9E7502CB8AE1}" destId="{536CC010-3CA8-CD44-BED7-E2E67E4A6B14}" srcOrd="0" destOrd="0" presId="urn:microsoft.com/office/officeart/2005/8/layout/process1"/>
    <dgm:cxn modelId="{4677D42E-BBD8-2349-BAF8-83F5592E1794}" srcId="{7B13F4EE-7D10-DD41-B07C-4241F7924867}" destId="{6D4F9E33-4AF4-EE41-83FB-9E7502CB8AE1}" srcOrd="1" destOrd="0" parTransId="{FAF7B778-71E2-994F-9D3C-13802D8DE8F5}" sibTransId="{E906FF73-0790-B34E-A2B5-71EBE191FC77}"/>
    <dgm:cxn modelId="{2C5EEB5D-1B6C-024C-921C-2DA4C5F53164}" type="presOf" srcId="{F308D1D0-AC0A-AC41-8CDB-E4DC577760E9}" destId="{38CA54D7-5E68-5949-A108-806EB9ABFAE5}" srcOrd="1" destOrd="0" presId="urn:microsoft.com/office/officeart/2005/8/layout/process1"/>
    <dgm:cxn modelId="{3E788187-53C4-9C46-85FD-C314878B1C40}" srcId="{7B13F4EE-7D10-DD41-B07C-4241F7924867}" destId="{089281B8-1D5E-334A-A921-5425AAEB96AE}" srcOrd="0" destOrd="0" parTransId="{E0980B7B-60AC-5E49-9B7D-344FC211FD30}" sibTransId="{F308D1D0-AC0A-AC41-8CDB-E4DC577760E9}"/>
    <dgm:cxn modelId="{CC6B00C4-72FE-5446-9BF1-F7020C8CC7A4}" type="presOf" srcId="{F308D1D0-AC0A-AC41-8CDB-E4DC577760E9}" destId="{2F146ECA-E547-3B4A-A33E-83CC028577F2}" srcOrd="0" destOrd="0" presId="urn:microsoft.com/office/officeart/2005/8/layout/process1"/>
    <dgm:cxn modelId="{46A756C7-B5E7-3347-BFDB-24CE64E01795}" type="presOf" srcId="{089281B8-1D5E-334A-A921-5425AAEB96AE}" destId="{D922F58D-B635-F14D-A7B0-F6371807DE43}" srcOrd="0" destOrd="0" presId="urn:microsoft.com/office/officeart/2005/8/layout/process1"/>
    <dgm:cxn modelId="{B90172E7-C1C6-914B-8491-EA8EE2DDBFCA}" type="presOf" srcId="{7B13F4EE-7D10-DD41-B07C-4241F7924867}" destId="{AD1DA9AD-E803-CF4C-9F9D-745BDC537CFE}" srcOrd="0" destOrd="0" presId="urn:microsoft.com/office/officeart/2005/8/layout/process1"/>
    <dgm:cxn modelId="{E3D1106A-24B6-7C47-AD4B-0AC2D4E779B8}" type="presParOf" srcId="{AD1DA9AD-E803-CF4C-9F9D-745BDC537CFE}" destId="{D922F58D-B635-F14D-A7B0-F6371807DE43}" srcOrd="0" destOrd="0" presId="urn:microsoft.com/office/officeart/2005/8/layout/process1"/>
    <dgm:cxn modelId="{61A94880-283A-BB41-B1E5-346C4C97CDDE}" type="presParOf" srcId="{AD1DA9AD-E803-CF4C-9F9D-745BDC537CFE}" destId="{2F146ECA-E547-3B4A-A33E-83CC028577F2}" srcOrd="1" destOrd="0" presId="urn:microsoft.com/office/officeart/2005/8/layout/process1"/>
    <dgm:cxn modelId="{87C04B06-7AC6-1D41-86B8-4E1162F1DA54}" type="presParOf" srcId="{2F146ECA-E547-3B4A-A33E-83CC028577F2}" destId="{38CA54D7-5E68-5949-A108-806EB9ABFAE5}" srcOrd="0" destOrd="0" presId="urn:microsoft.com/office/officeart/2005/8/layout/process1"/>
    <dgm:cxn modelId="{3FD55B29-2E99-124D-A4DD-BD464EF1B685}" type="presParOf" srcId="{AD1DA9AD-E803-CF4C-9F9D-745BDC537CFE}" destId="{536CC010-3CA8-CD44-BED7-E2E67E4A6B14}"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409B3CA-2154-3349-8E08-1BF775E99E0E}" type="doc">
      <dgm:prSet loTypeId="urn:microsoft.com/office/officeart/2005/8/layout/hList6" loCatId="list" qsTypeId="urn:microsoft.com/office/officeart/2005/8/quickstyle/simple4" qsCatId="simple" csTypeId="urn:microsoft.com/office/officeart/2005/8/colors/accent1_2" csCatId="accent1" phldr="1"/>
      <dgm:spPr/>
      <dgm:t>
        <a:bodyPr/>
        <a:lstStyle/>
        <a:p>
          <a:endParaRPr lang="en-US"/>
        </a:p>
      </dgm:t>
    </dgm:pt>
    <dgm:pt modelId="{2A824A6C-3291-A64E-AB38-9B24534F96E1}">
      <dgm:prSet/>
      <dgm:spPr>
        <a:solidFill>
          <a:schemeClr val="accent3">
            <a:lumMod val="50000"/>
          </a:schemeClr>
        </a:solidFill>
      </dgm:spPr>
      <dgm:t>
        <a:bodyPr/>
        <a:lstStyle/>
        <a:p>
          <a:pPr rtl="0"/>
          <a:r>
            <a:rPr lang="en-US" dirty="0"/>
            <a:t>There is no way to know before a process decrements a semaphore whether it will block or not</a:t>
          </a:r>
        </a:p>
      </dgm:t>
    </dgm:pt>
    <dgm:pt modelId="{7E45B653-A385-B349-AFA3-B144F231F6EE}" type="parTrans" cxnId="{E76072D1-BB37-1C48-9502-5DAC8D59F4B2}">
      <dgm:prSet/>
      <dgm:spPr/>
      <dgm:t>
        <a:bodyPr/>
        <a:lstStyle/>
        <a:p>
          <a:endParaRPr lang="en-US"/>
        </a:p>
      </dgm:t>
    </dgm:pt>
    <dgm:pt modelId="{A5F4A0B9-E9EF-FD41-9751-EE895B2C8842}" type="sibTrans" cxnId="{E76072D1-BB37-1C48-9502-5DAC8D59F4B2}">
      <dgm:prSet/>
      <dgm:spPr/>
      <dgm:t>
        <a:bodyPr/>
        <a:lstStyle/>
        <a:p>
          <a:endParaRPr lang="en-US"/>
        </a:p>
      </dgm:t>
    </dgm:pt>
    <dgm:pt modelId="{49C7C730-771B-094B-9569-A140396ED27C}">
      <dgm:prSet/>
      <dgm:spPr/>
      <dgm:t>
        <a:bodyPr/>
        <a:lstStyle/>
        <a:p>
          <a:pPr rtl="0"/>
          <a:r>
            <a:rPr lang="en-US" dirty="0"/>
            <a:t>There is no way to know which process will continue immediately on a </a:t>
          </a:r>
          <a:r>
            <a:rPr lang="en-US" dirty="0" err="1"/>
            <a:t>uniprocessor</a:t>
          </a:r>
          <a:r>
            <a:rPr lang="en-US" dirty="0"/>
            <a:t> system when two processes are running concurrently</a:t>
          </a:r>
        </a:p>
      </dgm:t>
    </dgm:pt>
    <dgm:pt modelId="{68A1379E-FBF2-0249-AC8C-E1E7F9FBA710}" type="parTrans" cxnId="{2F7CB06A-DEA0-E64F-9EDA-CBDBE96023E9}">
      <dgm:prSet/>
      <dgm:spPr/>
      <dgm:t>
        <a:bodyPr/>
        <a:lstStyle/>
        <a:p>
          <a:endParaRPr lang="en-US"/>
        </a:p>
      </dgm:t>
    </dgm:pt>
    <dgm:pt modelId="{44C7C024-E02E-6545-BC2F-8B04FD13E7C0}" type="sibTrans" cxnId="{2F7CB06A-DEA0-E64F-9EDA-CBDBE96023E9}">
      <dgm:prSet/>
      <dgm:spPr/>
      <dgm:t>
        <a:bodyPr/>
        <a:lstStyle/>
        <a:p>
          <a:endParaRPr lang="en-US"/>
        </a:p>
      </dgm:t>
    </dgm:pt>
    <dgm:pt modelId="{28472C96-6575-B04D-AE01-1A07A1A0BBFD}">
      <dgm:prSet/>
      <dgm:spPr>
        <a:solidFill>
          <a:schemeClr val="accent6">
            <a:lumMod val="75000"/>
          </a:schemeClr>
        </a:solidFill>
      </dgm:spPr>
      <dgm:t>
        <a:bodyPr/>
        <a:lstStyle/>
        <a:p>
          <a:pPr rtl="0"/>
          <a:r>
            <a:rPr lang="en-US" dirty="0"/>
            <a:t>You don’t know whether another process is waiting so the number of unblocked processes may be zero or one</a:t>
          </a:r>
        </a:p>
      </dgm:t>
    </dgm:pt>
    <dgm:pt modelId="{F49310AF-B30D-A646-8668-3E785FB4CA1D}" type="parTrans" cxnId="{D0CB1A2D-5563-BD46-B6BC-96B33F5EBAC8}">
      <dgm:prSet/>
      <dgm:spPr/>
      <dgm:t>
        <a:bodyPr/>
        <a:lstStyle/>
        <a:p>
          <a:endParaRPr lang="en-US"/>
        </a:p>
      </dgm:t>
    </dgm:pt>
    <dgm:pt modelId="{616A9A7D-57FA-0D4E-A493-D557831F68EF}" type="sibTrans" cxnId="{D0CB1A2D-5563-BD46-B6BC-96B33F5EBAC8}">
      <dgm:prSet/>
      <dgm:spPr/>
      <dgm:t>
        <a:bodyPr/>
        <a:lstStyle/>
        <a:p>
          <a:endParaRPr lang="en-US"/>
        </a:p>
      </dgm:t>
    </dgm:pt>
    <dgm:pt modelId="{D5A6D6E0-2341-B549-AB8B-DB746E18F4D7}" type="pres">
      <dgm:prSet presAssocID="{9409B3CA-2154-3349-8E08-1BF775E99E0E}" presName="Name0" presStyleCnt="0">
        <dgm:presLayoutVars>
          <dgm:dir/>
          <dgm:resizeHandles val="exact"/>
        </dgm:presLayoutVars>
      </dgm:prSet>
      <dgm:spPr/>
    </dgm:pt>
    <dgm:pt modelId="{19BA5E69-E325-F142-A0D4-B743109408EA}" type="pres">
      <dgm:prSet presAssocID="{2A824A6C-3291-A64E-AB38-9B24534F96E1}" presName="node" presStyleLbl="node1" presStyleIdx="0" presStyleCnt="3" custLinFactNeighborX="42797" custLinFactNeighborY="1724">
        <dgm:presLayoutVars>
          <dgm:bulletEnabled val="1"/>
        </dgm:presLayoutVars>
      </dgm:prSet>
      <dgm:spPr/>
    </dgm:pt>
    <dgm:pt modelId="{7091BE1A-F532-0741-A92F-0655E90F6B87}" type="pres">
      <dgm:prSet presAssocID="{A5F4A0B9-E9EF-FD41-9751-EE895B2C8842}" presName="sibTrans" presStyleCnt="0"/>
      <dgm:spPr/>
    </dgm:pt>
    <dgm:pt modelId="{49FA2FAC-FF0C-C14A-8048-646F866CB8A7}" type="pres">
      <dgm:prSet presAssocID="{49C7C730-771B-094B-9569-A140396ED27C}" presName="node" presStyleLbl="node1" presStyleIdx="1" presStyleCnt="3">
        <dgm:presLayoutVars>
          <dgm:bulletEnabled val="1"/>
        </dgm:presLayoutVars>
      </dgm:prSet>
      <dgm:spPr/>
    </dgm:pt>
    <dgm:pt modelId="{1E583963-4490-1F40-81F7-E938EEF2EEB0}" type="pres">
      <dgm:prSet presAssocID="{44C7C024-E02E-6545-BC2F-8B04FD13E7C0}" presName="sibTrans" presStyleCnt="0"/>
      <dgm:spPr/>
    </dgm:pt>
    <dgm:pt modelId="{9BE6FA6B-34B4-C242-82E5-DC5F191FF1E9}" type="pres">
      <dgm:prSet presAssocID="{28472C96-6575-B04D-AE01-1A07A1A0BBFD}" presName="node" presStyleLbl="node1" presStyleIdx="2" presStyleCnt="3">
        <dgm:presLayoutVars>
          <dgm:bulletEnabled val="1"/>
        </dgm:presLayoutVars>
      </dgm:prSet>
      <dgm:spPr/>
    </dgm:pt>
  </dgm:ptLst>
  <dgm:cxnLst>
    <dgm:cxn modelId="{F6D98210-07AD-4944-9E7D-242369862A6D}" type="presOf" srcId="{49C7C730-771B-094B-9569-A140396ED27C}" destId="{49FA2FAC-FF0C-C14A-8048-646F866CB8A7}" srcOrd="0" destOrd="0" presId="urn:microsoft.com/office/officeart/2005/8/layout/hList6"/>
    <dgm:cxn modelId="{D0CB1A2D-5563-BD46-B6BC-96B33F5EBAC8}" srcId="{9409B3CA-2154-3349-8E08-1BF775E99E0E}" destId="{28472C96-6575-B04D-AE01-1A07A1A0BBFD}" srcOrd="2" destOrd="0" parTransId="{F49310AF-B30D-A646-8668-3E785FB4CA1D}" sibTransId="{616A9A7D-57FA-0D4E-A493-D557831F68EF}"/>
    <dgm:cxn modelId="{BF52EB2F-346C-7047-ACBF-D423FB1AFAA5}" type="presOf" srcId="{2A824A6C-3291-A64E-AB38-9B24534F96E1}" destId="{19BA5E69-E325-F142-A0D4-B743109408EA}" srcOrd="0" destOrd="0" presId="urn:microsoft.com/office/officeart/2005/8/layout/hList6"/>
    <dgm:cxn modelId="{2F7CB06A-DEA0-E64F-9EDA-CBDBE96023E9}" srcId="{9409B3CA-2154-3349-8E08-1BF775E99E0E}" destId="{49C7C730-771B-094B-9569-A140396ED27C}" srcOrd="1" destOrd="0" parTransId="{68A1379E-FBF2-0249-AC8C-E1E7F9FBA710}" sibTransId="{44C7C024-E02E-6545-BC2F-8B04FD13E7C0}"/>
    <dgm:cxn modelId="{E4F1B14A-55BB-C745-8025-73BE65C1137B}" type="presOf" srcId="{28472C96-6575-B04D-AE01-1A07A1A0BBFD}" destId="{9BE6FA6B-34B4-C242-82E5-DC5F191FF1E9}" srcOrd="0" destOrd="0" presId="urn:microsoft.com/office/officeart/2005/8/layout/hList6"/>
    <dgm:cxn modelId="{E76072D1-BB37-1C48-9502-5DAC8D59F4B2}" srcId="{9409B3CA-2154-3349-8E08-1BF775E99E0E}" destId="{2A824A6C-3291-A64E-AB38-9B24534F96E1}" srcOrd="0" destOrd="0" parTransId="{7E45B653-A385-B349-AFA3-B144F231F6EE}" sibTransId="{A5F4A0B9-E9EF-FD41-9751-EE895B2C8842}"/>
    <dgm:cxn modelId="{98041DF6-12E8-4E49-B9B8-ADA734028C5C}" type="presOf" srcId="{9409B3CA-2154-3349-8E08-1BF775E99E0E}" destId="{D5A6D6E0-2341-B549-AB8B-DB746E18F4D7}" srcOrd="0" destOrd="0" presId="urn:microsoft.com/office/officeart/2005/8/layout/hList6"/>
    <dgm:cxn modelId="{FFE40153-6131-9342-A46A-E9FE20A7B043}" type="presParOf" srcId="{D5A6D6E0-2341-B549-AB8B-DB746E18F4D7}" destId="{19BA5E69-E325-F142-A0D4-B743109408EA}" srcOrd="0" destOrd="0" presId="urn:microsoft.com/office/officeart/2005/8/layout/hList6"/>
    <dgm:cxn modelId="{E0FCFB33-4BC5-6A40-A096-2BFFF6249708}" type="presParOf" srcId="{D5A6D6E0-2341-B549-AB8B-DB746E18F4D7}" destId="{7091BE1A-F532-0741-A92F-0655E90F6B87}" srcOrd="1" destOrd="0" presId="urn:microsoft.com/office/officeart/2005/8/layout/hList6"/>
    <dgm:cxn modelId="{718C7542-FF15-9948-AB2C-FFD320AD2567}" type="presParOf" srcId="{D5A6D6E0-2341-B549-AB8B-DB746E18F4D7}" destId="{49FA2FAC-FF0C-C14A-8048-646F866CB8A7}" srcOrd="2" destOrd="0" presId="urn:microsoft.com/office/officeart/2005/8/layout/hList6"/>
    <dgm:cxn modelId="{BD9CAB0E-07EE-0446-9105-FD9C9E6A02A6}" type="presParOf" srcId="{D5A6D6E0-2341-B549-AB8B-DB746E18F4D7}" destId="{1E583963-4490-1F40-81F7-E938EEF2EEB0}" srcOrd="3" destOrd="0" presId="urn:microsoft.com/office/officeart/2005/8/layout/hList6"/>
    <dgm:cxn modelId="{8B825CBF-F8CE-0946-9064-1A003C27BDA2}" type="presParOf" srcId="{D5A6D6E0-2341-B549-AB8B-DB746E18F4D7}" destId="{9BE6FA6B-34B4-C242-82E5-DC5F191FF1E9}"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41F8C2A-328F-724A-AC61-AF18203E98B3}" type="doc">
      <dgm:prSet loTypeId="urn:microsoft.com/office/officeart/2005/8/layout/list1" loCatId="list" qsTypeId="urn:microsoft.com/office/officeart/2005/8/quickstyle/simple4" qsCatId="simple" csTypeId="urn:microsoft.com/office/officeart/2005/8/colors/accent1_2" csCatId="accent1" phldr="1"/>
      <dgm:spPr/>
      <dgm:t>
        <a:bodyPr/>
        <a:lstStyle/>
        <a:p>
          <a:endParaRPr lang="en-US"/>
        </a:p>
      </dgm:t>
    </dgm:pt>
    <dgm:pt modelId="{C4C5AA89-D850-1744-9E0D-9027DA949606}">
      <dgm:prSet phldrT="[Text]" custT="1"/>
      <dgm:spPr/>
      <dgm:t>
        <a:bodyPr/>
        <a:lstStyle/>
        <a:p>
          <a:r>
            <a:rPr lang="en-NZ" sz="2800" b="1" i="1" dirty="0"/>
            <a:t>Strong Semaphores</a:t>
          </a:r>
          <a:r>
            <a:rPr lang="en-NZ" sz="2800" dirty="0"/>
            <a:t> </a:t>
          </a:r>
          <a:endParaRPr lang="en-US" sz="2800" dirty="0"/>
        </a:p>
      </dgm:t>
    </dgm:pt>
    <dgm:pt modelId="{F82125A2-DB77-D84A-991D-3145F88168EB}" type="parTrans" cxnId="{6429F720-61DC-9545-8970-338F9FB64F22}">
      <dgm:prSet/>
      <dgm:spPr/>
      <dgm:t>
        <a:bodyPr/>
        <a:lstStyle/>
        <a:p>
          <a:endParaRPr lang="en-US"/>
        </a:p>
      </dgm:t>
    </dgm:pt>
    <dgm:pt modelId="{3E2CFF00-7B48-BA42-9D42-9E61F6B31325}" type="sibTrans" cxnId="{6429F720-61DC-9545-8970-338F9FB64F22}">
      <dgm:prSet/>
      <dgm:spPr/>
      <dgm:t>
        <a:bodyPr/>
        <a:lstStyle/>
        <a:p>
          <a:endParaRPr lang="en-US"/>
        </a:p>
      </dgm:t>
    </dgm:pt>
    <dgm:pt modelId="{99DC4C28-A725-454D-BE93-CDF6758F173D}">
      <dgm:prSet/>
      <dgm:spPr/>
      <dgm:t>
        <a:bodyPr/>
        <a:lstStyle/>
        <a:p>
          <a:r>
            <a:rPr lang="en-NZ" dirty="0"/>
            <a:t>the process that has been blocked the longest is released from the queue first (FIFO)</a:t>
          </a:r>
        </a:p>
      </dgm:t>
    </dgm:pt>
    <dgm:pt modelId="{3C50D3DB-4981-CF43-BB03-CEA66146FC05}" type="parTrans" cxnId="{4835B0B4-5A13-134B-9F44-DDD5EEF77133}">
      <dgm:prSet/>
      <dgm:spPr/>
      <dgm:t>
        <a:bodyPr/>
        <a:lstStyle/>
        <a:p>
          <a:endParaRPr lang="en-US"/>
        </a:p>
      </dgm:t>
    </dgm:pt>
    <dgm:pt modelId="{9CBC6304-C560-B349-AFC8-48AEFAE62F46}" type="sibTrans" cxnId="{4835B0B4-5A13-134B-9F44-DDD5EEF77133}">
      <dgm:prSet/>
      <dgm:spPr/>
      <dgm:t>
        <a:bodyPr/>
        <a:lstStyle/>
        <a:p>
          <a:endParaRPr lang="en-US"/>
        </a:p>
      </dgm:t>
    </dgm:pt>
    <dgm:pt modelId="{E630F192-5C8B-7E47-87C7-81EB07B507C7}">
      <dgm:prSet custT="1"/>
      <dgm:spPr/>
      <dgm:t>
        <a:bodyPr/>
        <a:lstStyle/>
        <a:p>
          <a:r>
            <a:rPr lang="en-NZ" sz="2800" b="1" i="1" dirty="0"/>
            <a:t>Weak Semaphores </a:t>
          </a:r>
          <a:r>
            <a:rPr lang="en-NZ" sz="2300" dirty="0"/>
            <a:t> </a:t>
          </a:r>
        </a:p>
      </dgm:t>
    </dgm:pt>
    <dgm:pt modelId="{07283D72-8835-9842-AF1A-354D151BF5BF}" type="parTrans" cxnId="{41396523-F9C6-9040-B56F-52DE5CD28BDD}">
      <dgm:prSet/>
      <dgm:spPr/>
      <dgm:t>
        <a:bodyPr/>
        <a:lstStyle/>
        <a:p>
          <a:endParaRPr lang="en-US"/>
        </a:p>
      </dgm:t>
    </dgm:pt>
    <dgm:pt modelId="{ED9F0213-F9BF-F74C-A54D-0B5A37136C9C}" type="sibTrans" cxnId="{41396523-F9C6-9040-B56F-52DE5CD28BDD}">
      <dgm:prSet/>
      <dgm:spPr/>
      <dgm:t>
        <a:bodyPr/>
        <a:lstStyle/>
        <a:p>
          <a:endParaRPr lang="en-US"/>
        </a:p>
      </dgm:t>
    </dgm:pt>
    <dgm:pt modelId="{8AE05AB4-C8C1-0C46-8AC1-AB7D1EF4A317}">
      <dgm:prSet/>
      <dgm:spPr/>
      <dgm:t>
        <a:bodyPr/>
        <a:lstStyle/>
        <a:p>
          <a:r>
            <a:rPr lang="en-NZ"/>
            <a:t>the order in which processes are removed from the queue is not specified</a:t>
          </a:r>
          <a:endParaRPr lang="en-NZ" dirty="0"/>
        </a:p>
      </dgm:t>
    </dgm:pt>
    <dgm:pt modelId="{1C6D1601-14D0-6D46-A546-BF9AD27AED31}" type="parTrans" cxnId="{4C1D0F85-1DC4-1F49-848A-0C42217A3C51}">
      <dgm:prSet/>
      <dgm:spPr/>
      <dgm:t>
        <a:bodyPr/>
        <a:lstStyle/>
        <a:p>
          <a:endParaRPr lang="en-US"/>
        </a:p>
      </dgm:t>
    </dgm:pt>
    <dgm:pt modelId="{0FEF3BC0-9BD0-6947-AE81-E95FF485537F}" type="sibTrans" cxnId="{4C1D0F85-1DC4-1F49-848A-0C42217A3C51}">
      <dgm:prSet/>
      <dgm:spPr/>
      <dgm:t>
        <a:bodyPr/>
        <a:lstStyle/>
        <a:p>
          <a:endParaRPr lang="en-US"/>
        </a:p>
      </dgm:t>
    </dgm:pt>
    <dgm:pt modelId="{F3802972-AD8D-6C46-9950-31285B6464FF}" type="pres">
      <dgm:prSet presAssocID="{841F8C2A-328F-724A-AC61-AF18203E98B3}" presName="linear" presStyleCnt="0">
        <dgm:presLayoutVars>
          <dgm:dir/>
          <dgm:animLvl val="lvl"/>
          <dgm:resizeHandles val="exact"/>
        </dgm:presLayoutVars>
      </dgm:prSet>
      <dgm:spPr/>
    </dgm:pt>
    <dgm:pt modelId="{AC315FBB-53F7-6041-A377-53BAC873EAA1}" type="pres">
      <dgm:prSet presAssocID="{C4C5AA89-D850-1744-9E0D-9027DA949606}" presName="parentLin" presStyleCnt="0"/>
      <dgm:spPr/>
    </dgm:pt>
    <dgm:pt modelId="{793462AF-15D8-084F-A5E6-11A1D6709268}" type="pres">
      <dgm:prSet presAssocID="{C4C5AA89-D850-1744-9E0D-9027DA949606}" presName="parentLeftMargin" presStyleLbl="node1" presStyleIdx="0" presStyleCnt="2"/>
      <dgm:spPr/>
    </dgm:pt>
    <dgm:pt modelId="{DD1D9237-EB74-E84E-AC7E-51428224DD48}" type="pres">
      <dgm:prSet presAssocID="{C4C5AA89-D850-1744-9E0D-9027DA949606}" presName="parentText" presStyleLbl="node1" presStyleIdx="0" presStyleCnt="2">
        <dgm:presLayoutVars>
          <dgm:chMax val="0"/>
          <dgm:bulletEnabled val="1"/>
        </dgm:presLayoutVars>
      </dgm:prSet>
      <dgm:spPr/>
    </dgm:pt>
    <dgm:pt modelId="{F763F474-FF0B-2845-BCE4-3D82A97F4081}" type="pres">
      <dgm:prSet presAssocID="{C4C5AA89-D850-1744-9E0D-9027DA949606}" presName="negativeSpace" presStyleCnt="0"/>
      <dgm:spPr/>
    </dgm:pt>
    <dgm:pt modelId="{EC4B5A1A-5870-5C40-8ADE-32EFF8546961}" type="pres">
      <dgm:prSet presAssocID="{C4C5AA89-D850-1744-9E0D-9027DA949606}" presName="childText" presStyleLbl="conFgAcc1" presStyleIdx="0" presStyleCnt="2">
        <dgm:presLayoutVars>
          <dgm:bulletEnabled val="1"/>
        </dgm:presLayoutVars>
      </dgm:prSet>
      <dgm:spPr/>
    </dgm:pt>
    <dgm:pt modelId="{1BDB3C83-8BE2-E74A-A4C1-A20CCB2BB70C}" type="pres">
      <dgm:prSet presAssocID="{3E2CFF00-7B48-BA42-9D42-9E61F6B31325}" presName="spaceBetweenRectangles" presStyleCnt="0"/>
      <dgm:spPr/>
    </dgm:pt>
    <dgm:pt modelId="{4CA8084D-C9F9-6F48-91CA-DD2D3B0ADDCF}" type="pres">
      <dgm:prSet presAssocID="{E630F192-5C8B-7E47-87C7-81EB07B507C7}" presName="parentLin" presStyleCnt="0"/>
      <dgm:spPr/>
    </dgm:pt>
    <dgm:pt modelId="{464CA9E3-BB9C-5B48-A381-0F2DD358996A}" type="pres">
      <dgm:prSet presAssocID="{E630F192-5C8B-7E47-87C7-81EB07B507C7}" presName="parentLeftMargin" presStyleLbl="node1" presStyleIdx="0" presStyleCnt="2"/>
      <dgm:spPr/>
    </dgm:pt>
    <dgm:pt modelId="{2E01E895-987A-1640-8719-30A986FB6C86}" type="pres">
      <dgm:prSet presAssocID="{E630F192-5C8B-7E47-87C7-81EB07B507C7}" presName="parentText" presStyleLbl="node1" presStyleIdx="1" presStyleCnt="2">
        <dgm:presLayoutVars>
          <dgm:chMax val="0"/>
          <dgm:bulletEnabled val="1"/>
        </dgm:presLayoutVars>
      </dgm:prSet>
      <dgm:spPr/>
    </dgm:pt>
    <dgm:pt modelId="{5455BB0B-CF8C-5E4A-AFA2-A60DAEEE4AF1}" type="pres">
      <dgm:prSet presAssocID="{E630F192-5C8B-7E47-87C7-81EB07B507C7}" presName="negativeSpace" presStyleCnt="0"/>
      <dgm:spPr/>
    </dgm:pt>
    <dgm:pt modelId="{40B0B400-5226-0F4B-98AB-E6B21FAA5A13}" type="pres">
      <dgm:prSet presAssocID="{E630F192-5C8B-7E47-87C7-81EB07B507C7}" presName="childText" presStyleLbl="conFgAcc1" presStyleIdx="1" presStyleCnt="2">
        <dgm:presLayoutVars>
          <dgm:bulletEnabled val="1"/>
        </dgm:presLayoutVars>
      </dgm:prSet>
      <dgm:spPr/>
    </dgm:pt>
  </dgm:ptLst>
  <dgm:cxnLst>
    <dgm:cxn modelId="{CC89FB04-EF5D-9542-837B-272CA417A845}" type="presOf" srcId="{C4C5AA89-D850-1744-9E0D-9027DA949606}" destId="{793462AF-15D8-084F-A5E6-11A1D6709268}" srcOrd="0" destOrd="0" presId="urn:microsoft.com/office/officeart/2005/8/layout/list1"/>
    <dgm:cxn modelId="{6429F720-61DC-9545-8970-338F9FB64F22}" srcId="{841F8C2A-328F-724A-AC61-AF18203E98B3}" destId="{C4C5AA89-D850-1744-9E0D-9027DA949606}" srcOrd="0" destOrd="0" parTransId="{F82125A2-DB77-D84A-991D-3145F88168EB}" sibTransId="{3E2CFF00-7B48-BA42-9D42-9E61F6B31325}"/>
    <dgm:cxn modelId="{41396523-F9C6-9040-B56F-52DE5CD28BDD}" srcId="{841F8C2A-328F-724A-AC61-AF18203E98B3}" destId="{E630F192-5C8B-7E47-87C7-81EB07B507C7}" srcOrd="1" destOrd="0" parTransId="{07283D72-8835-9842-AF1A-354D151BF5BF}" sibTransId="{ED9F0213-F9BF-F74C-A54D-0B5A37136C9C}"/>
    <dgm:cxn modelId="{431DB62E-D385-264C-9A54-CE10BAFCBF7F}" type="presOf" srcId="{99DC4C28-A725-454D-BE93-CDF6758F173D}" destId="{EC4B5A1A-5870-5C40-8ADE-32EFF8546961}" srcOrd="0" destOrd="0" presId="urn:microsoft.com/office/officeart/2005/8/layout/list1"/>
    <dgm:cxn modelId="{3B485B71-69C3-1B4D-B49A-9C72252A9F2D}" type="presOf" srcId="{E630F192-5C8B-7E47-87C7-81EB07B507C7}" destId="{464CA9E3-BB9C-5B48-A381-0F2DD358996A}" srcOrd="0" destOrd="0" presId="urn:microsoft.com/office/officeart/2005/8/layout/list1"/>
    <dgm:cxn modelId="{295DFF72-246F-6542-856A-0297E3667F0B}" type="presOf" srcId="{841F8C2A-328F-724A-AC61-AF18203E98B3}" destId="{F3802972-AD8D-6C46-9950-31285B6464FF}" srcOrd="0" destOrd="0" presId="urn:microsoft.com/office/officeart/2005/8/layout/list1"/>
    <dgm:cxn modelId="{2C74517A-2455-E84A-8B78-155E80A51D13}" type="presOf" srcId="{8AE05AB4-C8C1-0C46-8AC1-AB7D1EF4A317}" destId="{40B0B400-5226-0F4B-98AB-E6B21FAA5A13}" srcOrd="0" destOrd="0" presId="urn:microsoft.com/office/officeart/2005/8/layout/list1"/>
    <dgm:cxn modelId="{4C1D0F85-1DC4-1F49-848A-0C42217A3C51}" srcId="{E630F192-5C8B-7E47-87C7-81EB07B507C7}" destId="{8AE05AB4-C8C1-0C46-8AC1-AB7D1EF4A317}" srcOrd="0" destOrd="0" parTransId="{1C6D1601-14D0-6D46-A546-BF9AD27AED31}" sibTransId="{0FEF3BC0-9BD0-6947-AE81-E95FF485537F}"/>
    <dgm:cxn modelId="{3BF68787-01C8-524E-843F-78DE25BFAFAB}" type="presOf" srcId="{C4C5AA89-D850-1744-9E0D-9027DA949606}" destId="{DD1D9237-EB74-E84E-AC7E-51428224DD48}" srcOrd="1" destOrd="0" presId="urn:microsoft.com/office/officeart/2005/8/layout/list1"/>
    <dgm:cxn modelId="{4835B0B4-5A13-134B-9F44-DDD5EEF77133}" srcId="{C4C5AA89-D850-1744-9E0D-9027DA949606}" destId="{99DC4C28-A725-454D-BE93-CDF6758F173D}" srcOrd="0" destOrd="0" parTransId="{3C50D3DB-4981-CF43-BB03-CEA66146FC05}" sibTransId="{9CBC6304-C560-B349-AFC8-48AEFAE62F46}"/>
    <dgm:cxn modelId="{CD0EE7BC-EABC-C442-8003-9D2EE71D97BB}" type="presOf" srcId="{E630F192-5C8B-7E47-87C7-81EB07B507C7}" destId="{2E01E895-987A-1640-8719-30A986FB6C86}" srcOrd="1" destOrd="0" presId="urn:microsoft.com/office/officeart/2005/8/layout/list1"/>
    <dgm:cxn modelId="{4AE78692-06AA-664C-A248-5E5F6106228F}" type="presParOf" srcId="{F3802972-AD8D-6C46-9950-31285B6464FF}" destId="{AC315FBB-53F7-6041-A377-53BAC873EAA1}" srcOrd="0" destOrd="0" presId="urn:microsoft.com/office/officeart/2005/8/layout/list1"/>
    <dgm:cxn modelId="{43738B26-3E3F-224A-8263-CA0DC485C2E9}" type="presParOf" srcId="{AC315FBB-53F7-6041-A377-53BAC873EAA1}" destId="{793462AF-15D8-084F-A5E6-11A1D6709268}" srcOrd="0" destOrd="0" presId="urn:microsoft.com/office/officeart/2005/8/layout/list1"/>
    <dgm:cxn modelId="{8588013A-911F-D64A-B16E-F3576E111EEF}" type="presParOf" srcId="{AC315FBB-53F7-6041-A377-53BAC873EAA1}" destId="{DD1D9237-EB74-E84E-AC7E-51428224DD48}" srcOrd="1" destOrd="0" presId="urn:microsoft.com/office/officeart/2005/8/layout/list1"/>
    <dgm:cxn modelId="{9ADBEC57-4D40-C349-8B62-8D4F84349C21}" type="presParOf" srcId="{F3802972-AD8D-6C46-9950-31285B6464FF}" destId="{F763F474-FF0B-2845-BCE4-3D82A97F4081}" srcOrd="1" destOrd="0" presId="urn:microsoft.com/office/officeart/2005/8/layout/list1"/>
    <dgm:cxn modelId="{10BD093C-EDE4-1542-B316-4E3D9B4358E1}" type="presParOf" srcId="{F3802972-AD8D-6C46-9950-31285B6464FF}" destId="{EC4B5A1A-5870-5C40-8ADE-32EFF8546961}" srcOrd="2" destOrd="0" presId="urn:microsoft.com/office/officeart/2005/8/layout/list1"/>
    <dgm:cxn modelId="{D6B7C085-C898-2649-AEB6-294A25F83DC4}" type="presParOf" srcId="{F3802972-AD8D-6C46-9950-31285B6464FF}" destId="{1BDB3C83-8BE2-E74A-A4C1-A20CCB2BB70C}" srcOrd="3" destOrd="0" presId="urn:microsoft.com/office/officeart/2005/8/layout/list1"/>
    <dgm:cxn modelId="{AA467107-D258-9A40-8389-72BEBB74B105}" type="presParOf" srcId="{F3802972-AD8D-6C46-9950-31285B6464FF}" destId="{4CA8084D-C9F9-6F48-91CA-DD2D3B0ADDCF}" srcOrd="4" destOrd="0" presId="urn:microsoft.com/office/officeart/2005/8/layout/list1"/>
    <dgm:cxn modelId="{7E305759-17AD-8E41-91B3-5DBDEA927D59}" type="presParOf" srcId="{4CA8084D-C9F9-6F48-91CA-DD2D3B0ADDCF}" destId="{464CA9E3-BB9C-5B48-A381-0F2DD358996A}" srcOrd="0" destOrd="0" presId="urn:microsoft.com/office/officeart/2005/8/layout/list1"/>
    <dgm:cxn modelId="{9B717068-58E3-E24B-A762-14B69AF4070E}" type="presParOf" srcId="{4CA8084D-C9F9-6F48-91CA-DD2D3B0ADDCF}" destId="{2E01E895-987A-1640-8719-30A986FB6C86}" srcOrd="1" destOrd="0" presId="urn:microsoft.com/office/officeart/2005/8/layout/list1"/>
    <dgm:cxn modelId="{04E170A8-08C8-4E45-81B0-C0238986ECFB}" type="presParOf" srcId="{F3802972-AD8D-6C46-9950-31285B6464FF}" destId="{5455BB0B-CF8C-5E4A-AFA2-A60DAEEE4AF1}" srcOrd="5" destOrd="0" presId="urn:microsoft.com/office/officeart/2005/8/layout/list1"/>
    <dgm:cxn modelId="{D6D6CA4E-5F7A-B848-98C7-22A80C9F6BFC}" type="presParOf" srcId="{F3802972-AD8D-6C46-9950-31285B6464FF}" destId="{40B0B400-5226-0F4B-98AB-E6B21FAA5A13}"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C3CA0A9-4361-4A4C-8F7D-C068CECB64A9}" type="doc">
      <dgm:prSet loTypeId="urn:microsoft.com/office/officeart/2005/8/layout/process1" loCatId="process" qsTypeId="urn:microsoft.com/office/officeart/2005/8/quickstyle/simple4" qsCatId="simple" csTypeId="urn:microsoft.com/office/officeart/2005/8/colors/accent1_2" csCatId="accent1" phldr="1"/>
      <dgm:spPr/>
      <dgm:t>
        <a:bodyPr/>
        <a:lstStyle/>
        <a:p>
          <a:endParaRPr lang="en-US"/>
        </a:p>
      </dgm:t>
    </dgm:pt>
    <dgm:pt modelId="{32ADD72F-387D-5D49-B356-32480800A56F}">
      <dgm:prSet phldrT="[Text]"/>
      <dgm:spPr>
        <a:solidFill>
          <a:schemeClr val="accent3">
            <a:lumMod val="50000"/>
          </a:schemeClr>
        </a:solidFill>
      </dgm:spPr>
      <dgm:t>
        <a:bodyPr/>
        <a:lstStyle/>
        <a:p>
          <a:r>
            <a:rPr lang="en-US" sz="3600" dirty="0"/>
            <a:t>General Situation:</a:t>
          </a:r>
        </a:p>
      </dgm:t>
    </dgm:pt>
    <dgm:pt modelId="{ACBCBA39-A19B-0D4A-825F-1C02F1751A15}" type="parTrans" cxnId="{EF10C333-2D65-2E47-B843-F834084BEDE2}">
      <dgm:prSet/>
      <dgm:spPr/>
      <dgm:t>
        <a:bodyPr/>
        <a:lstStyle/>
        <a:p>
          <a:endParaRPr lang="en-US"/>
        </a:p>
      </dgm:t>
    </dgm:pt>
    <dgm:pt modelId="{96A0B8D0-E21D-B546-B2B7-D5F5525779A8}" type="sibTrans" cxnId="{EF10C333-2D65-2E47-B843-F834084BEDE2}">
      <dgm:prSet/>
      <dgm:spPr>
        <a:solidFill>
          <a:schemeClr val="accent2">
            <a:lumMod val="50000"/>
          </a:schemeClr>
        </a:solidFill>
      </dgm:spPr>
      <dgm:t>
        <a:bodyPr/>
        <a:lstStyle/>
        <a:p>
          <a:endParaRPr lang="en-US"/>
        </a:p>
      </dgm:t>
    </dgm:pt>
    <dgm:pt modelId="{890A5C6B-01FF-8644-9F42-531144637C24}">
      <dgm:prSet custT="1"/>
      <dgm:spPr>
        <a:solidFill>
          <a:schemeClr val="accent3">
            <a:lumMod val="50000"/>
          </a:schemeClr>
        </a:solidFill>
      </dgm:spPr>
      <dgm:t>
        <a:bodyPr/>
        <a:lstStyle/>
        <a:p>
          <a:r>
            <a:rPr lang="en-US" sz="2100" dirty="0"/>
            <a:t>one or more producers are generating data and placing these in a buffer</a:t>
          </a:r>
        </a:p>
      </dgm:t>
    </dgm:pt>
    <dgm:pt modelId="{47E672CF-2850-6947-B27E-485C3AEAA424}" type="parTrans" cxnId="{07A70EDB-5576-8B43-8D0B-DD7F50CE7F17}">
      <dgm:prSet/>
      <dgm:spPr/>
      <dgm:t>
        <a:bodyPr/>
        <a:lstStyle/>
        <a:p>
          <a:endParaRPr lang="en-US"/>
        </a:p>
      </dgm:t>
    </dgm:pt>
    <dgm:pt modelId="{A88CA46A-B080-6C46-9957-0EF93D5428E2}" type="sibTrans" cxnId="{07A70EDB-5576-8B43-8D0B-DD7F50CE7F17}">
      <dgm:prSet/>
      <dgm:spPr/>
      <dgm:t>
        <a:bodyPr/>
        <a:lstStyle/>
        <a:p>
          <a:endParaRPr lang="en-US"/>
        </a:p>
      </dgm:t>
    </dgm:pt>
    <dgm:pt modelId="{6B004168-BC8C-F145-810F-93B41C7A0BE5}">
      <dgm:prSet custT="1"/>
      <dgm:spPr>
        <a:solidFill>
          <a:schemeClr val="accent3">
            <a:lumMod val="50000"/>
          </a:schemeClr>
        </a:solidFill>
      </dgm:spPr>
      <dgm:t>
        <a:bodyPr/>
        <a:lstStyle/>
        <a:p>
          <a:r>
            <a:rPr lang="en-US" sz="2100" dirty="0"/>
            <a:t>a single consumer is taking items out of the buffer one at time</a:t>
          </a:r>
        </a:p>
      </dgm:t>
    </dgm:pt>
    <dgm:pt modelId="{DC4F0CD8-5D05-C944-A9B4-C41294EF32B2}" type="parTrans" cxnId="{97215901-35A1-B24E-BE2A-E4B58B7AE385}">
      <dgm:prSet/>
      <dgm:spPr/>
      <dgm:t>
        <a:bodyPr/>
        <a:lstStyle/>
        <a:p>
          <a:endParaRPr lang="en-US"/>
        </a:p>
      </dgm:t>
    </dgm:pt>
    <dgm:pt modelId="{B7A32575-2A76-3E46-B5AB-A76A5BA132B7}" type="sibTrans" cxnId="{97215901-35A1-B24E-BE2A-E4B58B7AE385}">
      <dgm:prSet/>
      <dgm:spPr/>
      <dgm:t>
        <a:bodyPr/>
        <a:lstStyle/>
        <a:p>
          <a:endParaRPr lang="en-US"/>
        </a:p>
      </dgm:t>
    </dgm:pt>
    <dgm:pt modelId="{88E986B8-7F0F-A946-BDC0-FD05E1829B0C}">
      <dgm:prSet custT="1"/>
      <dgm:spPr>
        <a:solidFill>
          <a:schemeClr val="accent3">
            <a:lumMod val="50000"/>
          </a:schemeClr>
        </a:solidFill>
      </dgm:spPr>
      <dgm:t>
        <a:bodyPr/>
        <a:lstStyle/>
        <a:p>
          <a:r>
            <a:rPr lang="en-US" sz="2100" dirty="0"/>
            <a:t>only one producer or consumer may access the buffer at any one time</a:t>
          </a:r>
        </a:p>
      </dgm:t>
    </dgm:pt>
    <dgm:pt modelId="{A4DF1310-AE68-FC4D-A2A0-E842DE47A874}" type="parTrans" cxnId="{C8C9BC49-2BFE-E64C-A284-261D0B85069A}">
      <dgm:prSet/>
      <dgm:spPr/>
      <dgm:t>
        <a:bodyPr/>
        <a:lstStyle/>
        <a:p>
          <a:endParaRPr lang="en-US"/>
        </a:p>
      </dgm:t>
    </dgm:pt>
    <dgm:pt modelId="{8944BF98-7F51-8C42-AF3D-BD83D7EA4B86}" type="sibTrans" cxnId="{C8C9BC49-2BFE-E64C-A284-261D0B85069A}">
      <dgm:prSet/>
      <dgm:spPr/>
      <dgm:t>
        <a:bodyPr/>
        <a:lstStyle/>
        <a:p>
          <a:endParaRPr lang="en-US"/>
        </a:p>
      </dgm:t>
    </dgm:pt>
    <dgm:pt modelId="{1097D9BF-D6EE-F645-B86B-EB8202BE466B}">
      <dgm:prSet/>
      <dgm:spPr/>
      <dgm:t>
        <a:bodyPr/>
        <a:lstStyle/>
        <a:p>
          <a:r>
            <a:rPr lang="en-US" dirty="0"/>
            <a:t>The Problem:</a:t>
          </a:r>
        </a:p>
      </dgm:t>
    </dgm:pt>
    <dgm:pt modelId="{81DDE126-32AB-D741-8738-24BE48D4A02D}" type="parTrans" cxnId="{025D35A0-BFBE-8143-BF4A-36C41FAED1B7}">
      <dgm:prSet/>
      <dgm:spPr/>
      <dgm:t>
        <a:bodyPr/>
        <a:lstStyle/>
        <a:p>
          <a:endParaRPr lang="en-US"/>
        </a:p>
      </dgm:t>
    </dgm:pt>
    <dgm:pt modelId="{F0E057FC-5C5A-A843-AD44-105E09ADE54B}" type="sibTrans" cxnId="{025D35A0-BFBE-8143-BF4A-36C41FAED1B7}">
      <dgm:prSet/>
      <dgm:spPr/>
      <dgm:t>
        <a:bodyPr/>
        <a:lstStyle/>
        <a:p>
          <a:endParaRPr lang="en-US"/>
        </a:p>
      </dgm:t>
    </dgm:pt>
    <dgm:pt modelId="{68859321-50D7-6A47-9CEF-1D23ED860482}">
      <dgm:prSet/>
      <dgm:spPr/>
      <dgm:t>
        <a:bodyPr/>
        <a:lstStyle/>
        <a:p>
          <a:r>
            <a:rPr lang="en-US" dirty="0"/>
            <a:t>ensure that the producer can’t add data into full buffer and consumer can’t remove data from an empty buffer</a:t>
          </a:r>
        </a:p>
      </dgm:t>
    </dgm:pt>
    <dgm:pt modelId="{99F7E1FF-FBED-C749-84FD-ADFC15A66C55}" type="parTrans" cxnId="{EA91773A-5AB7-D546-A3B1-E48B29C8C03F}">
      <dgm:prSet/>
      <dgm:spPr/>
      <dgm:t>
        <a:bodyPr/>
        <a:lstStyle/>
        <a:p>
          <a:endParaRPr lang="en-US"/>
        </a:p>
      </dgm:t>
    </dgm:pt>
    <dgm:pt modelId="{86F6F86A-EFF7-A641-9BF5-359A74C7EEF0}" type="sibTrans" cxnId="{EA91773A-5AB7-D546-A3B1-E48B29C8C03F}">
      <dgm:prSet/>
      <dgm:spPr/>
      <dgm:t>
        <a:bodyPr/>
        <a:lstStyle/>
        <a:p>
          <a:endParaRPr lang="en-US"/>
        </a:p>
      </dgm:t>
    </dgm:pt>
    <dgm:pt modelId="{D105F745-C823-BE43-91D0-375DBAE61FAE}" type="pres">
      <dgm:prSet presAssocID="{7C3CA0A9-4361-4A4C-8F7D-C068CECB64A9}" presName="Name0" presStyleCnt="0">
        <dgm:presLayoutVars>
          <dgm:dir/>
          <dgm:resizeHandles val="exact"/>
        </dgm:presLayoutVars>
      </dgm:prSet>
      <dgm:spPr/>
    </dgm:pt>
    <dgm:pt modelId="{0FC6EB41-3B3B-EA42-AE9D-C2314DC42775}" type="pres">
      <dgm:prSet presAssocID="{32ADD72F-387D-5D49-B356-32480800A56F}" presName="node" presStyleLbl="node1" presStyleIdx="0" presStyleCnt="2" custScaleX="125482" custScaleY="163827" custLinFactNeighborX="11321">
        <dgm:presLayoutVars>
          <dgm:bulletEnabled val="1"/>
        </dgm:presLayoutVars>
      </dgm:prSet>
      <dgm:spPr/>
    </dgm:pt>
    <dgm:pt modelId="{2FC5CD5F-1F07-7F44-B8F2-45124A5E3E66}" type="pres">
      <dgm:prSet presAssocID="{96A0B8D0-E21D-B546-B2B7-D5F5525779A8}" presName="sibTrans" presStyleLbl="sibTrans2D1" presStyleIdx="0" presStyleCnt="1"/>
      <dgm:spPr/>
    </dgm:pt>
    <dgm:pt modelId="{2FFAD541-8591-7E4B-82CA-9280A7C70CB7}" type="pres">
      <dgm:prSet presAssocID="{96A0B8D0-E21D-B546-B2B7-D5F5525779A8}" presName="connectorText" presStyleLbl="sibTrans2D1" presStyleIdx="0" presStyleCnt="1"/>
      <dgm:spPr/>
    </dgm:pt>
    <dgm:pt modelId="{97C10248-49D4-BA42-A96D-F06C469FE9B5}" type="pres">
      <dgm:prSet presAssocID="{1097D9BF-D6EE-F645-B86B-EB8202BE466B}" presName="node" presStyleLbl="node1" presStyleIdx="1" presStyleCnt="2" custScaleX="100394" custScaleY="129337">
        <dgm:presLayoutVars>
          <dgm:bulletEnabled val="1"/>
        </dgm:presLayoutVars>
      </dgm:prSet>
      <dgm:spPr/>
    </dgm:pt>
  </dgm:ptLst>
  <dgm:cxnLst>
    <dgm:cxn modelId="{97215901-35A1-B24E-BE2A-E4B58B7AE385}" srcId="{32ADD72F-387D-5D49-B356-32480800A56F}" destId="{6B004168-BC8C-F145-810F-93B41C7A0BE5}" srcOrd="1" destOrd="0" parTransId="{DC4F0CD8-5D05-C944-A9B4-C41294EF32B2}" sibTransId="{B7A32575-2A76-3E46-B5AB-A76A5BA132B7}"/>
    <dgm:cxn modelId="{FF871215-DFDF-8B43-8C09-44D0BB4886A8}" type="presOf" srcId="{68859321-50D7-6A47-9CEF-1D23ED860482}" destId="{97C10248-49D4-BA42-A96D-F06C469FE9B5}" srcOrd="0" destOrd="1" presId="urn:microsoft.com/office/officeart/2005/8/layout/process1"/>
    <dgm:cxn modelId="{EF10C333-2D65-2E47-B843-F834084BEDE2}" srcId="{7C3CA0A9-4361-4A4C-8F7D-C068CECB64A9}" destId="{32ADD72F-387D-5D49-B356-32480800A56F}" srcOrd="0" destOrd="0" parTransId="{ACBCBA39-A19B-0D4A-825F-1C02F1751A15}" sibTransId="{96A0B8D0-E21D-B546-B2B7-D5F5525779A8}"/>
    <dgm:cxn modelId="{EA91773A-5AB7-D546-A3B1-E48B29C8C03F}" srcId="{1097D9BF-D6EE-F645-B86B-EB8202BE466B}" destId="{68859321-50D7-6A47-9CEF-1D23ED860482}" srcOrd="0" destOrd="0" parTransId="{99F7E1FF-FBED-C749-84FD-ADFC15A66C55}" sibTransId="{86F6F86A-EFF7-A641-9BF5-359A74C7EEF0}"/>
    <dgm:cxn modelId="{C8C9BC49-2BFE-E64C-A284-261D0B85069A}" srcId="{32ADD72F-387D-5D49-B356-32480800A56F}" destId="{88E986B8-7F0F-A946-BDC0-FD05E1829B0C}" srcOrd="2" destOrd="0" parTransId="{A4DF1310-AE68-FC4D-A2A0-E842DE47A874}" sibTransId="{8944BF98-7F51-8C42-AF3D-BD83D7EA4B86}"/>
    <dgm:cxn modelId="{6C73ED70-8C7F-4046-8B42-EB93CF0E2779}" type="presOf" srcId="{32ADD72F-387D-5D49-B356-32480800A56F}" destId="{0FC6EB41-3B3B-EA42-AE9D-C2314DC42775}" srcOrd="0" destOrd="0" presId="urn:microsoft.com/office/officeart/2005/8/layout/process1"/>
    <dgm:cxn modelId="{C5E87657-00F4-E84A-AE78-8412F585ACA0}" type="presOf" srcId="{7C3CA0A9-4361-4A4C-8F7D-C068CECB64A9}" destId="{D105F745-C823-BE43-91D0-375DBAE61FAE}" srcOrd="0" destOrd="0" presId="urn:microsoft.com/office/officeart/2005/8/layout/process1"/>
    <dgm:cxn modelId="{84D5F97C-9096-8C40-A576-C1B8A27BFF19}" type="presOf" srcId="{1097D9BF-D6EE-F645-B86B-EB8202BE466B}" destId="{97C10248-49D4-BA42-A96D-F06C469FE9B5}" srcOrd="0" destOrd="0" presId="urn:microsoft.com/office/officeart/2005/8/layout/process1"/>
    <dgm:cxn modelId="{025D35A0-BFBE-8143-BF4A-36C41FAED1B7}" srcId="{7C3CA0A9-4361-4A4C-8F7D-C068CECB64A9}" destId="{1097D9BF-D6EE-F645-B86B-EB8202BE466B}" srcOrd="1" destOrd="0" parTransId="{81DDE126-32AB-D741-8738-24BE48D4A02D}" sibTransId="{F0E057FC-5C5A-A843-AD44-105E09ADE54B}"/>
    <dgm:cxn modelId="{DDBBEDAF-8AF6-534D-84AC-570FA6B78CB3}" type="presOf" srcId="{890A5C6B-01FF-8644-9F42-531144637C24}" destId="{0FC6EB41-3B3B-EA42-AE9D-C2314DC42775}" srcOrd="0" destOrd="1" presId="urn:microsoft.com/office/officeart/2005/8/layout/process1"/>
    <dgm:cxn modelId="{0742BCBC-73C8-1246-8CE5-68457D140F0A}" type="presOf" srcId="{6B004168-BC8C-F145-810F-93B41C7A0BE5}" destId="{0FC6EB41-3B3B-EA42-AE9D-C2314DC42775}" srcOrd="0" destOrd="2" presId="urn:microsoft.com/office/officeart/2005/8/layout/process1"/>
    <dgm:cxn modelId="{F5A978BD-BD77-E14D-B26E-F35E19EB7D65}" type="presOf" srcId="{88E986B8-7F0F-A946-BDC0-FD05E1829B0C}" destId="{0FC6EB41-3B3B-EA42-AE9D-C2314DC42775}" srcOrd="0" destOrd="3" presId="urn:microsoft.com/office/officeart/2005/8/layout/process1"/>
    <dgm:cxn modelId="{D5F045CF-9CAD-084B-B720-1AEC944CD1A4}" type="presOf" srcId="{96A0B8D0-E21D-B546-B2B7-D5F5525779A8}" destId="{2FC5CD5F-1F07-7F44-B8F2-45124A5E3E66}" srcOrd="0" destOrd="0" presId="urn:microsoft.com/office/officeart/2005/8/layout/process1"/>
    <dgm:cxn modelId="{4104F1D8-5ECF-EB4D-908A-107B77E2FBB5}" type="presOf" srcId="{96A0B8D0-E21D-B546-B2B7-D5F5525779A8}" destId="{2FFAD541-8591-7E4B-82CA-9280A7C70CB7}" srcOrd="1" destOrd="0" presId="urn:microsoft.com/office/officeart/2005/8/layout/process1"/>
    <dgm:cxn modelId="{07A70EDB-5576-8B43-8D0B-DD7F50CE7F17}" srcId="{32ADD72F-387D-5D49-B356-32480800A56F}" destId="{890A5C6B-01FF-8644-9F42-531144637C24}" srcOrd="0" destOrd="0" parTransId="{47E672CF-2850-6947-B27E-485C3AEAA424}" sibTransId="{A88CA46A-B080-6C46-9957-0EF93D5428E2}"/>
    <dgm:cxn modelId="{E4664372-AA1C-3B4A-AEDF-873BDB8F5DAE}" type="presParOf" srcId="{D105F745-C823-BE43-91D0-375DBAE61FAE}" destId="{0FC6EB41-3B3B-EA42-AE9D-C2314DC42775}" srcOrd="0" destOrd="0" presId="urn:microsoft.com/office/officeart/2005/8/layout/process1"/>
    <dgm:cxn modelId="{EEA0EE49-2179-024A-9995-A22F06D39374}" type="presParOf" srcId="{D105F745-C823-BE43-91D0-375DBAE61FAE}" destId="{2FC5CD5F-1F07-7F44-B8F2-45124A5E3E66}" srcOrd="1" destOrd="0" presId="urn:microsoft.com/office/officeart/2005/8/layout/process1"/>
    <dgm:cxn modelId="{A94A2124-6642-684D-B594-2502D24726F1}" type="presParOf" srcId="{2FC5CD5F-1F07-7F44-B8F2-45124A5E3E66}" destId="{2FFAD541-8591-7E4B-82CA-9280A7C70CB7}" srcOrd="0" destOrd="0" presId="urn:microsoft.com/office/officeart/2005/8/layout/process1"/>
    <dgm:cxn modelId="{9B1C58CB-E41F-1444-AC98-C527B15C85E8}" type="presParOf" srcId="{D105F745-C823-BE43-91D0-375DBAE61FAE}" destId="{97C10248-49D4-BA42-A96D-F06C469FE9B5}"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978A990-084D-244A-ABFA-1DBDCB28F056}" type="doc">
      <dgm:prSet loTypeId="urn:microsoft.com/office/officeart/2005/8/layout/hProcess11" loCatId="process" qsTypeId="urn:microsoft.com/office/officeart/2005/8/quickstyle/simple4" qsCatId="simple" csTypeId="urn:microsoft.com/office/officeart/2005/8/colors/accent1_2" csCatId="accent1"/>
      <dgm:spPr/>
      <dgm:t>
        <a:bodyPr/>
        <a:lstStyle/>
        <a:p>
          <a:endParaRPr lang="en-US"/>
        </a:p>
      </dgm:t>
    </dgm:pt>
    <dgm:pt modelId="{0CD498C7-3DDE-0C46-9AE3-319907EB4EE7}">
      <dgm:prSet/>
      <dgm:spPr/>
      <dgm:t>
        <a:bodyPr/>
        <a:lstStyle/>
        <a:p>
          <a:pPr rtl="0"/>
          <a:r>
            <a:rPr lang="en-US" dirty="0"/>
            <a:t>Local data variables are accessible only by the monitor’s procedures and not by any external procedure</a:t>
          </a:r>
        </a:p>
      </dgm:t>
    </dgm:pt>
    <dgm:pt modelId="{8D950DE2-9FCB-674D-9547-FD7F92868FDF}" type="parTrans" cxnId="{9060B13E-EB83-584D-AC05-258206B1E1DC}">
      <dgm:prSet/>
      <dgm:spPr/>
      <dgm:t>
        <a:bodyPr/>
        <a:lstStyle/>
        <a:p>
          <a:endParaRPr lang="en-US"/>
        </a:p>
      </dgm:t>
    </dgm:pt>
    <dgm:pt modelId="{5CE9E49E-63E3-924D-9DA4-CE09FF92C74D}" type="sibTrans" cxnId="{9060B13E-EB83-584D-AC05-258206B1E1DC}">
      <dgm:prSet/>
      <dgm:spPr/>
      <dgm:t>
        <a:bodyPr/>
        <a:lstStyle/>
        <a:p>
          <a:endParaRPr lang="en-US"/>
        </a:p>
      </dgm:t>
    </dgm:pt>
    <dgm:pt modelId="{8EA9CC64-AB13-CE41-A069-63201EE90D17}">
      <dgm:prSet/>
      <dgm:spPr/>
      <dgm:t>
        <a:bodyPr/>
        <a:lstStyle/>
        <a:p>
          <a:pPr rtl="0"/>
          <a:r>
            <a:rPr lang="en-US" dirty="0"/>
            <a:t>Process enters monitor by invoking one of its procedures</a:t>
          </a:r>
        </a:p>
      </dgm:t>
    </dgm:pt>
    <dgm:pt modelId="{B8F14AB4-9BCB-FB49-B1D5-5A4A82657B1D}" type="parTrans" cxnId="{2A8E4868-B2DB-2F49-A4A5-95FEC4EF9A34}">
      <dgm:prSet/>
      <dgm:spPr/>
      <dgm:t>
        <a:bodyPr/>
        <a:lstStyle/>
        <a:p>
          <a:endParaRPr lang="en-US"/>
        </a:p>
      </dgm:t>
    </dgm:pt>
    <dgm:pt modelId="{10A7DE3D-0A3F-A145-95C0-0BF97558CB2F}" type="sibTrans" cxnId="{2A8E4868-B2DB-2F49-A4A5-95FEC4EF9A34}">
      <dgm:prSet/>
      <dgm:spPr/>
      <dgm:t>
        <a:bodyPr/>
        <a:lstStyle/>
        <a:p>
          <a:endParaRPr lang="en-US"/>
        </a:p>
      </dgm:t>
    </dgm:pt>
    <dgm:pt modelId="{6E91142C-36C5-A64D-8E23-3E1F763F275F}">
      <dgm:prSet/>
      <dgm:spPr/>
      <dgm:t>
        <a:bodyPr/>
        <a:lstStyle/>
        <a:p>
          <a:pPr rtl="0"/>
          <a:r>
            <a:rPr lang="en-US" dirty="0"/>
            <a:t>Only one process may be executing in the monitor at a time</a:t>
          </a:r>
        </a:p>
      </dgm:t>
    </dgm:pt>
    <dgm:pt modelId="{0CE164C2-1D94-CD4E-99FA-05E077D244EE}" type="parTrans" cxnId="{087B68F7-DC65-3E4E-9C58-622EDA633B35}">
      <dgm:prSet/>
      <dgm:spPr/>
      <dgm:t>
        <a:bodyPr/>
        <a:lstStyle/>
        <a:p>
          <a:endParaRPr lang="en-US"/>
        </a:p>
      </dgm:t>
    </dgm:pt>
    <dgm:pt modelId="{4E5A11BF-DB4A-C947-B5E9-A877E3978015}" type="sibTrans" cxnId="{087B68F7-DC65-3E4E-9C58-622EDA633B35}">
      <dgm:prSet/>
      <dgm:spPr/>
      <dgm:t>
        <a:bodyPr/>
        <a:lstStyle/>
        <a:p>
          <a:endParaRPr lang="en-US"/>
        </a:p>
      </dgm:t>
    </dgm:pt>
    <dgm:pt modelId="{2DBD913D-1F48-A44D-A290-E2245B3307C3}" type="pres">
      <dgm:prSet presAssocID="{6978A990-084D-244A-ABFA-1DBDCB28F056}" presName="Name0" presStyleCnt="0">
        <dgm:presLayoutVars>
          <dgm:dir/>
          <dgm:resizeHandles val="exact"/>
        </dgm:presLayoutVars>
      </dgm:prSet>
      <dgm:spPr/>
    </dgm:pt>
    <dgm:pt modelId="{F27ED8C3-E406-2842-BD01-BCFEA1E9CFC2}" type="pres">
      <dgm:prSet presAssocID="{6978A990-084D-244A-ABFA-1DBDCB28F056}" presName="arrow" presStyleLbl="bgShp" presStyleIdx="0" presStyleCnt="1"/>
      <dgm:spPr>
        <a:solidFill>
          <a:schemeClr val="accent5">
            <a:lumMod val="50000"/>
            <a:alpha val="73000"/>
          </a:schemeClr>
        </a:solidFill>
      </dgm:spPr>
    </dgm:pt>
    <dgm:pt modelId="{ABAC3629-7E56-E44D-B9E9-E4277FBF8261}" type="pres">
      <dgm:prSet presAssocID="{6978A990-084D-244A-ABFA-1DBDCB28F056}" presName="points" presStyleCnt="0"/>
      <dgm:spPr/>
    </dgm:pt>
    <dgm:pt modelId="{966F37C6-7D75-FD49-A96A-649582BC7A80}" type="pres">
      <dgm:prSet presAssocID="{0CD498C7-3DDE-0C46-9AE3-319907EB4EE7}" presName="compositeA" presStyleCnt="0"/>
      <dgm:spPr/>
    </dgm:pt>
    <dgm:pt modelId="{58893B8B-7919-3541-8D99-D3AEC91FB799}" type="pres">
      <dgm:prSet presAssocID="{0CD498C7-3DDE-0C46-9AE3-319907EB4EE7}" presName="textA" presStyleLbl="revTx" presStyleIdx="0" presStyleCnt="3">
        <dgm:presLayoutVars>
          <dgm:bulletEnabled val="1"/>
        </dgm:presLayoutVars>
      </dgm:prSet>
      <dgm:spPr/>
    </dgm:pt>
    <dgm:pt modelId="{A1A147BE-7D78-004C-B935-FAA4F498AEEE}" type="pres">
      <dgm:prSet presAssocID="{0CD498C7-3DDE-0C46-9AE3-319907EB4EE7}" presName="circleA" presStyleLbl="node1" presStyleIdx="0" presStyleCnt="3"/>
      <dgm:spPr>
        <a:solidFill>
          <a:schemeClr val="bg1">
            <a:lumMod val="85000"/>
          </a:schemeClr>
        </a:solidFill>
      </dgm:spPr>
    </dgm:pt>
    <dgm:pt modelId="{61087838-36BF-674B-8A25-A19155220825}" type="pres">
      <dgm:prSet presAssocID="{0CD498C7-3DDE-0C46-9AE3-319907EB4EE7}" presName="spaceA" presStyleCnt="0"/>
      <dgm:spPr/>
    </dgm:pt>
    <dgm:pt modelId="{0A6BDCA9-7D47-2B4B-B9A8-FDEB79E1CE6A}" type="pres">
      <dgm:prSet presAssocID="{5CE9E49E-63E3-924D-9DA4-CE09FF92C74D}" presName="space" presStyleCnt="0"/>
      <dgm:spPr/>
    </dgm:pt>
    <dgm:pt modelId="{2AAC76F1-2C7F-8245-A4D5-FC3AB358E11D}" type="pres">
      <dgm:prSet presAssocID="{8EA9CC64-AB13-CE41-A069-63201EE90D17}" presName="compositeB" presStyleCnt="0"/>
      <dgm:spPr/>
    </dgm:pt>
    <dgm:pt modelId="{5F9EB354-648F-9643-A087-BCC60CED9639}" type="pres">
      <dgm:prSet presAssocID="{8EA9CC64-AB13-CE41-A069-63201EE90D17}" presName="textB" presStyleLbl="revTx" presStyleIdx="1" presStyleCnt="3">
        <dgm:presLayoutVars>
          <dgm:bulletEnabled val="1"/>
        </dgm:presLayoutVars>
      </dgm:prSet>
      <dgm:spPr/>
    </dgm:pt>
    <dgm:pt modelId="{5BF15F84-4D4A-644D-84F8-62271DC370A9}" type="pres">
      <dgm:prSet presAssocID="{8EA9CC64-AB13-CE41-A069-63201EE90D17}" presName="circleB" presStyleLbl="node1" presStyleIdx="1" presStyleCnt="3"/>
      <dgm:spPr>
        <a:solidFill>
          <a:schemeClr val="bg1">
            <a:lumMod val="85000"/>
          </a:schemeClr>
        </a:solidFill>
      </dgm:spPr>
    </dgm:pt>
    <dgm:pt modelId="{37B389D9-BE03-4C41-ADE4-D266C5D96FF8}" type="pres">
      <dgm:prSet presAssocID="{8EA9CC64-AB13-CE41-A069-63201EE90D17}" presName="spaceB" presStyleCnt="0"/>
      <dgm:spPr/>
    </dgm:pt>
    <dgm:pt modelId="{7F9A5DD9-4E05-0445-AECE-FF36902F5EC8}" type="pres">
      <dgm:prSet presAssocID="{10A7DE3D-0A3F-A145-95C0-0BF97558CB2F}" presName="space" presStyleCnt="0"/>
      <dgm:spPr/>
    </dgm:pt>
    <dgm:pt modelId="{DB7646A1-B2FD-5944-92CB-5000DCDE26A7}" type="pres">
      <dgm:prSet presAssocID="{6E91142C-36C5-A64D-8E23-3E1F763F275F}" presName="compositeA" presStyleCnt="0"/>
      <dgm:spPr/>
    </dgm:pt>
    <dgm:pt modelId="{566C022D-D681-2E41-B689-7BBB02AA63E8}" type="pres">
      <dgm:prSet presAssocID="{6E91142C-36C5-A64D-8E23-3E1F763F275F}" presName="textA" presStyleLbl="revTx" presStyleIdx="2" presStyleCnt="3">
        <dgm:presLayoutVars>
          <dgm:bulletEnabled val="1"/>
        </dgm:presLayoutVars>
      </dgm:prSet>
      <dgm:spPr/>
    </dgm:pt>
    <dgm:pt modelId="{C07DF334-9E43-C046-A30B-E200F2167D98}" type="pres">
      <dgm:prSet presAssocID="{6E91142C-36C5-A64D-8E23-3E1F763F275F}" presName="circleA" presStyleLbl="node1" presStyleIdx="2" presStyleCnt="3"/>
      <dgm:spPr>
        <a:solidFill>
          <a:schemeClr val="bg1">
            <a:lumMod val="85000"/>
          </a:schemeClr>
        </a:solidFill>
      </dgm:spPr>
    </dgm:pt>
    <dgm:pt modelId="{331EF74E-9A03-6140-B37A-9FD0912CCB57}" type="pres">
      <dgm:prSet presAssocID="{6E91142C-36C5-A64D-8E23-3E1F763F275F}" presName="spaceA" presStyleCnt="0"/>
      <dgm:spPr/>
    </dgm:pt>
  </dgm:ptLst>
  <dgm:cxnLst>
    <dgm:cxn modelId="{D7005629-DBD9-3F44-ABBD-79C3620F9059}" type="presOf" srcId="{8EA9CC64-AB13-CE41-A069-63201EE90D17}" destId="{5F9EB354-648F-9643-A087-BCC60CED9639}" srcOrd="0" destOrd="0" presId="urn:microsoft.com/office/officeart/2005/8/layout/hProcess11"/>
    <dgm:cxn modelId="{9060B13E-EB83-584D-AC05-258206B1E1DC}" srcId="{6978A990-084D-244A-ABFA-1DBDCB28F056}" destId="{0CD498C7-3DDE-0C46-9AE3-319907EB4EE7}" srcOrd="0" destOrd="0" parTransId="{8D950DE2-9FCB-674D-9547-FD7F92868FDF}" sibTransId="{5CE9E49E-63E3-924D-9DA4-CE09FF92C74D}"/>
    <dgm:cxn modelId="{1999F766-026F-4C49-BF8B-4B4539E0A0C8}" type="presOf" srcId="{0CD498C7-3DDE-0C46-9AE3-319907EB4EE7}" destId="{58893B8B-7919-3541-8D99-D3AEC91FB799}" srcOrd="0" destOrd="0" presId="urn:microsoft.com/office/officeart/2005/8/layout/hProcess11"/>
    <dgm:cxn modelId="{2A8E4868-B2DB-2F49-A4A5-95FEC4EF9A34}" srcId="{6978A990-084D-244A-ABFA-1DBDCB28F056}" destId="{8EA9CC64-AB13-CE41-A069-63201EE90D17}" srcOrd="1" destOrd="0" parTransId="{B8F14AB4-9BCB-FB49-B1D5-5A4A82657B1D}" sibTransId="{10A7DE3D-0A3F-A145-95C0-0BF97558CB2F}"/>
    <dgm:cxn modelId="{75CC5A68-3849-004A-820D-9AECA951C347}" type="presOf" srcId="{6978A990-084D-244A-ABFA-1DBDCB28F056}" destId="{2DBD913D-1F48-A44D-A290-E2245B3307C3}" srcOrd="0" destOrd="0" presId="urn:microsoft.com/office/officeart/2005/8/layout/hProcess11"/>
    <dgm:cxn modelId="{65BFCBC6-F6F1-C04A-A9C5-D04EFB58B08B}" type="presOf" srcId="{6E91142C-36C5-A64D-8E23-3E1F763F275F}" destId="{566C022D-D681-2E41-B689-7BBB02AA63E8}" srcOrd="0" destOrd="0" presId="urn:microsoft.com/office/officeart/2005/8/layout/hProcess11"/>
    <dgm:cxn modelId="{087B68F7-DC65-3E4E-9C58-622EDA633B35}" srcId="{6978A990-084D-244A-ABFA-1DBDCB28F056}" destId="{6E91142C-36C5-A64D-8E23-3E1F763F275F}" srcOrd="2" destOrd="0" parTransId="{0CE164C2-1D94-CD4E-99FA-05E077D244EE}" sibTransId="{4E5A11BF-DB4A-C947-B5E9-A877E3978015}"/>
    <dgm:cxn modelId="{EA4A9794-B578-AA49-A23F-A7AF50134340}" type="presParOf" srcId="{2DBD913D-1F48-A44D-A290-E2245B3307C3}" destId="{F27ED8C3-E406-2842-BD01-BCFEA1E9CFC2}" srcOrd="0" destOrd="0" presId="urn:microsoft.com/office/officeart/2005/8/layout/hProcess11"/>
    <dgm:cxn modelId="{5A8A45FA-76CD-2042-AF65-3F832F21D373}" type="presParOf" srcId="{2DBD913D-1F48-A44D-A290-E2245B3307C3}" destId="{ABAC3629-7E56-E44D-B9E9-E4277FBF8261}" srcOrd="1" destOrd="0" presId="urn:microsoft.com/office/officeart/2005/8/layout/hProcess11"/>
    <dgm:cxn modelId="{9B86258F-6A37-2E4D-B128-8CF0FAB01DD7}" type="presParOf" srcId="{ABAC3629-7E56-E44D-B9E9-E4277FBF8261}" destId="{966F37C6-7D75-FD49-A96A-649582BC7A80}" srcOrd="0" destOrd="0" presId="urn:microsoft.com/office/officeart/2005/8/layout/hProcess11"/>
    <dgm:cxn modelId="{E2E2B9D0-DE41-324B-A1F2-753BE736A1C4}" type="presParOf" srcId="{966F37C6-7D75-FD49-A96A-649582BC7A80}" destId="{58893B8B-7919-3541-8D99-D3AEC91FB799}" srcOrd="0" destOrd="0" presId="urn:microsoft.com/office/officeart/2005/8/layout/hProcess11"/>
    <dgm:cxn modelId="{ADDBB0D1-6DD4-CE48-8EA7-832845A16E77}" type="presParOf" srcId="{966F37C6-7D75-FD49-A96A-649582BC7A80}" destId="{A1A147BE-7D78-004C-B935-FAA4F498AEEE}" srcOrd="1" destOrd="0" presId="urn:microsoft.com/office/officeart/2005/8/layout/hProcess11"/>
    <dgm:cxn modelId="{730B8374-3A04-9249-A3C3-9C32D0C49790}" type="presParOf" srcId="{966F37C6-7D75-FD49-A96A-649582BC7A80}" destId="{61087838-36BF-674B-8A25-A19155220825}" srcOrd="2" destOrd="0" presId="urn:microsoft.com/office/officeart/2005/8/layout/hProcess11"/>
    <dgm:cxn modelId="{06DC396C-8F2E-3644-AF11-766EA4C24017}" type="presParOf" srcId="{ABAC3629-7E56-E44D-B9E9-E4277FBF8261}" destId="{0A6BDCA9-7D47-2B4B-B9A8-FDEB79E1CE6A}" srcOrd="1" destOrd="0" presId="urn:microsoft.com/office/officeart/2005/8/layout/hProcess11"/>
    <dgm:cxn modelId="{6F85DD21-0395-B94A-B77F-28BF8D19C38E}" type="presParOf" srcId="{ABAC3629-7E56-E44D-B9E9-E4277FBF8261}" destId="{2AAC76F1-2C7F-8245-A4D5-FC3AB358E11D}" srcOrd="2" destOrd="0" presId="urn:microsoft.com/office/officeart/2005/8/layout/hProcess11"/>
    <dgm:cxn modelId="{C5360427-E25D-9744-89AE-A674E8B712E8}" type="presParOf" srcId="{2AAC76F1-2C7F-8245-A4D5-FC3AB358E11D}" destId="{5F9EB354-648F-9643-A087-BCC60CED9639}" srcOrd="0" destOrd="0" presId="urn:microsoft.com/office/officeart/2005/8/layout/hProcess11"/>
    <dgm:cxn modelId="{71322FAC-E336-234B-B9FC-CBCF9E0FB697}" type="presParOf" srcId="{2AAC76F1-2C7F-8245-A4D5-FC3AB358E11D}" destId="{5BF15F84-4D4A-644D-84F8-62271DC370A9}" srcOrd="1" destOrd="0" presId="urn:microsoft.com/office/officeart/2005/8/layout/hProcess11"/>
    <dgm:cxn modelId="{C1030814-126C-194A-BC91-7EA8DD2CD08E}" type="presParOf" srcId="{2AAC76F1-2C7F-8245-A4D5-FC3AB358E11D}" destId="{37B389D9-BE03-4C41-ADE4-D266C5D96FF8}" srcOrd="2" destOrd="0" presId="urn:microsoft.com/office/officeart/2005/8/layout/hProcess11"/>
    <dgm:cxn modelId="{A0DA03BB-4909-2647-87B8-72498CC96C7F}" type="presParOf" srcId="{ABAC3629-7E56-E44D-B9E9-E4277FBF8261}" destId="{7F9A5DD9-4E05-0445-AECE-FF36902F5EC8}" srcOrd="3" destOrd="0" presId="urn:microsoft.com/office/officeart/2005/8/layout/hProcess11"/>
    <dgm:cxn modelId="{E7EEE480-41EB-B442-A79A-C60D0C9217C5}" type="presParOf" srcId="{ABAC3629-7E56-E44D-B9E9-E4277FBF8261}" destId="{DB7646A1-B2FD-5944-92CB-5000DCDE26A7}" srcOrd="4" destOrd="0" presId="urn:microsoft.com/office/officeart/2005/8/layout/hProcess11"/>
    <dgm:cxn modelId="{43DBE0CF-FE9F-CA4E-BCFE-5F23B77BBB57}" type="presParOf" srcId="{DB7646A1-B2FD-5944-92CB-5000DCDE26A7}" destId="{566C022D-D681-2E41-B689-7BBB02AA63E8}" srcOrd="0" destOrd="0" presId="urn:microsoft.com/office/officeart/2005/8/layout/hProcess11"/>
    <dgm:cxn modelId="{45B528FE-8266-6B46-AF6A-8A04271BC36E}" type="presParOf" srcId="{DB7646A1-B2FD-5944-92CB-5000DCDE26A7}" destId="{C07DF334-9E43-C046-A30B-E200F2167D98}" srcOrd="1" destOrd="0" presId="urn:microsoft.com/office/officeart/2005/8/layout/hProcess11"/>
    <dgm:cxn modelId="{A1234411-FC71-3849-8BE6-B0D656D09D9E}" type="presParOf" srcId="{DB7646A1-B2FD-5944-92CB-5000DCDE26A7}" destId="{331EF74E-9A03-6140-B37A-9FD0912CCB57}" srcOrd="2" destOrd="0" presId="urn:microsoft.com/office/officeart/2005/8/layout/hProcess1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3E3335-8FA7-D447-A971-ED743EABA84D}" type="doc">
      <dgm:prSet loTypeId="urn:microsoft.com/office/officeart/2005/8/layout/vList2" loCatId="list" qsTypeId="urn:microsoft.com/office/officeart/2005/8/quickstyle/simple4" qsCatId="simple" csTypeId="urn:microsoft.com/office/officeart/2005/8/colors/accent1_2" csCatId="accent1" phldr="1"/>
      <dgm:spPr/>
      <dgm:t>
        <a:bodyPr/>
        <a:lstStyle/>
        <a:p>
          <a:endParaRPr lang="en-US"/>
        </a:p>
      </dgm:t>
    </dgm:pt>
    <dgm:pt modelId="{F5471D39-D60F-A344-8BC5-A060A714B72C}">
      <dgm:prSet custT="1"/>
      <dgm:spPr>
        <a:blipFill rotWithShape="0">
          <a:blip xmlns:r="http://schemas.openxmlformats.org/officeDocument/2006/relationships" r:embed="rId1"/>
          <a:tile tx="0" ty="0" sx="100000" sy="100000" flip="none" algn="tl"/>
        </a:blipFill>
      </dgm:spPr>
      <dgm:t>
        <a:bodyPr/>
        <a:lstStyle/>
        <a:p>
          <a:pPr rtl="0"/>
          <a:r>
            <a:rPr lang="en-NZ" sz="2800" b="1" i="0" dirty="0">
              <a:solidFill>
                <a:schemeClr val="tx2">
                  <a:lumMod val="75000"/>
                </a:schemeClr>
              </a:solidFill>
            </a:rPr>
            <a:t>Messages</a:t>
          </a:r>
          <a:endParaRPr lang="en-US" sz="2800" b="1" i="0" dirty="0">
            <a:solidFill>
              <a:schemeClr val="tx2">
                <a:lumMod val="75000"/>
              </a:schemeClr>
            </a:solidFill>
          </a:endParaRPr>
        </a:p>
      </dgm:t>
    </dgm:pt>
    <dgm:pt modelId="{E70DA4A0-46F9-6247-8BA6-EE0D87215171}" type="parTrans" cxnId="{8AFE58B8-55E0-1D47-98E2-E9713A985342}">
      <dgm:prSet/>
      <dgm:spPr/>
      <dgm:t>
        <a:bodyPr/>
        <a:lstStyle/>
        <a:p>
          <a:endParaRPr lang="en-US"/>
        </a:p>
      </dgm:t>
    </dgm:pt>
    <dgm:pt modelId="{9CEC6DB9-C883-6E4A-82BE-E62AA6ED6CA6}" type="sibTrans" cxnId="{8AFE58B8-55E0-1D47-98E2-E9713A985342}">
      <dgm:prSet/>
      <dgm:spPr/>
      <dgm:t>
        <a:bodyPr/>
        <a:lstStyle/>
        <a:p>
          <a:endParaRPr lang="en-US"/>
        </a:p>
      </dgm:t>
    </dgm:pt>
    <dgm:pt modelId="{1AF09498-8AA9-C74F-8679-9571AB5EB973}">
      <dgm:prSet phldrT="[Text]" custT="1"/>
      <dgm:spPr>
        <a:blipFill rotWithShape="0">
          <a:blip xmlns:r="http://schemas.openxmlformats.org/officeDocument/2006/relationships" r:embed="rId1"/>
          <a:tile tx="0" ty="0" sx="100000" sy="100000" flip="none" algn="tl"/>
        </a:blipFill>
      </dgm:spPr>
      <dgm:t>
        <a:bodyPr/>
        <a:lstStyle/>
        <a:p>
          <a:pPr rtl="0"/>
          <a:r>
            <a:rPr lang="en-NZ" sz="2800" b="1" i="0" dirty="0">
              <a:solidFill>
                <a:schemeClr val="accent2">
                  <a:lumMod val="50000"/>
                </a:schemeClr>
              </a:solidFill>
            </a:rPr>
            <a:t>Operating system themes are:</a:t>
          </a:r>
          <a:endParaRPr lang="en-US" sz="2800" b="1" i="0" dirty="0">
            <a:solidFill>
              <a:schemeClr val="accent2">
                <a:lumMod val="50000"/>
              </a:schemeClr>
            </a:solidFill>
          </a:endParaRPr>
        </a:p>
      </dgm:t>
    </dgm:pt>
    <dgm:pt modelId="{5E20C15E-9D90-C849-B2B0-DBB92576BBE1}" type="parTrans" cxnId="{0626176F-02C4-5448-81FC-AB4DB69C789B}">
      <dgm:prSet/>
      <dgm:spPr/>
      <dgm:t>
        <a:bodyPr/>
        <a:lstStyle/>
        <a:p>
          <a:endParaRPr lang="en-US"/>
        </a:p>
      </dgm:t>
    </dgm:pt>
    <dgm:pt modelId="{4AC886B7-F3A7-FA4F-B9F4-7413D1FABA0B}" type="sibTrans" cxnId="{0626176F-02C4-5448-81FC-AB4DB69C789B}">
      <dgm:prSet/>
      <dgm:spPr/>
      <dgm:t>
        <a:bodyPr/>
        <a:lstStyle/>
        <a:p>
          <a:endParaRPr lang="en-US"/>
        </a:p>
      </dgm:t>
    </dgm:pt>
    <dgm:pt modelId="{C075402F-6A01-804D-B405-91AFAC7C57D5}">
      <dgm:prSet phldrT="[Text]" custT="1"/>
      <dgm:spPr>
        <a:blipFill rotWithShape="0">
          <a:blip xmlns:r="http://schemas.openxmlformats.org/officeDocument/2006/relationships" r:embed="rId1"/>
          <a:tile tx="0" ty="0" sx="100000" sy="100000" flip="none" algn="tl"/>
        </a:blipFill>
      </dgm:spPr>
      <dgm:t>
        <a:bodyPr/>
        <a:lstStyle/>
        <a:p>
          <a:pPr rtl="0"/>
          <a:r>
            <a:rPr lang="en-NZ" sz="2800" b="1" i="0" dirty="0">
              <a:solidFill>
                <a:schemeClr val="tx2">
                  <a:lumMod val="75000"/>
                </a:schemeClr>
              </a:solidFill>
            </a:rPr>
            <a:t>Mutual Exclusion</a:t>
          </a:r>
          <a:endParaRPr lang="en-US" sz="2800" b="1" i="0" dirty="0">
            <a:solidFill>
              <a:schemeClr val="tx2">
                <a:lumMod val="75000"/>
              </a:schemeClr>
            </a:solidFill>
          </a:endParaRPr>
        </a:p>
      </dgm:t>
    </dgm:pt>
    <dgm:pt modelId="{23E5F9CC-4E09-2541-A1ED-DE78E2D2DC39}" type="parTrans" cxnId="{F9B38CB9-B3E0-7247-A181-2EBDB7E37DF3}">
      <dgm:prSet/>
      <dgm:spPr/>
      <dgm:t>
        <a:bodyPr/>
        <a:lstStyle/>
        <a:p>
          <a:endParaRPr lang="en-US"/>
        </a:p>
      </dgm:t>
    </dgm:pt>
    <dgm:pt modelId="{A55C3B22-2887-8A4A-877E-7734EF315532}" type="sibTrans" cxnId="{F9B38CB9-B3E0-7247-A181-2EBDB7E37DF3}">
      <dgm:prSet/>
      <dgm:spPr/>
      <dgm:t>
        <a:bodyPr/>
        <a:lstStyle/>
        <a:p>
          <a:endParaRPr lang="en-US"/>
        </a:p>
      </dgm:t>
    </dgm:pt>
    <dgm:pt modelId="{62FA935C-B9C3-6C41-95D0-88D5B0C66235}">
      <dgm:prSet custT="1"/>
      <dgm:spPr/>
      <dgm:t>
        <a:bodyPr/>
        <a:lstStyle/>
        <a:p>
          <a:pPr rtl="0"/>
          <a:r>
            <a:rPr lang="en-US" sz="2000" dirty="0"/>
            <a:t>Useful for the enforcement of mutual exclusion discipline</a:t>
          </a:r>
        </a:p>
      </dgm:t>
    </dgm:pt>
    <dgm:pt modelId="{20DA2353-6B53-4D4E-8EFE-74354D286F46}" type="parTrans" cxnId="{A0672A68-DAD6-5C45-B6CC-513237C2A5DB}">
      <dgm:prSet/>
      <dgm:spPr/>
      <dgm:t>
        <a:bodyPr/>
        <a:lstStyle/>
        <a:p>
          <a:endParaRPr lang="en-US"/>
        </a:p>
      </dgm:t>
    </dgm:pt>
    <dgm:pt modelId="{D02B32B4-66BC-974C-9232-2B07E10646D2}" type="sibTrans" cxnId="{A0672A68-DAD6-5C45-B6CC-513237C2A5DB}">
      <dgm:prSet/>
      <dgm:spPr/>
      <dgm:t>
        <a:bodyPr/>
        <a:lstStyle/>
        <a:p>
          <a:endParaRPr lang="en-US"/>
        </a:p>
      </dgm:t>
    </dgm:pt>
    <dgm:pt modelId="{07DF5946-F56F-B341-8A03-848318306C40}">
      <dgm:prSet custT="1"/>
      <dgm:spPr/>
      <dgm:t>
        <a:bodyPr/>
        <a:lstStyle/>
        <a:p>
          <a:r>
            <a:rPr lang="en-NZ" sz="2000" dirty="0"/>
            <a:t>Multiprogramming, multiprocessing, distributed processing</a:t>
          </a:r>
        </a:p>
      </dgm:t>
    </dgm:pt>
    <dgm:pt modelId="{4672F033-A4AB-E84F-BACA-6D394ED89C12}" type="parTrans" cxnId="{1B0B7AAF-6909-D84F-B41D-81FEA7DD3E5C}">
      <dgm:prSet/>
      <dgm:spPr/>
      <dgm:t>
        <a:bodyPr/>
        <a:lstStyle/>
        <a:p>
          <a:endParaRPr lang="en-US"/>
        </a:p>
      </dgm:t>
    </dgm:pt>
    <dgm:pt modelId="{F5E67D90-CAE0-7541-8B21-75DD2FB6B657}" type="sibTrans" cxnId="{1B0B7AAF-6909-D84F-B41D-81FEA7DD3E5C}">
      <dgm:prSet/>
      <dgm:spPr/>
      <dgm:t>
        <a:bodyPr/>
        <a:lstStyle/>
        <a:p>
          <a:endParaRPr lang="en-US"/>
        </a:p>
      </dgm:t>
    </dgm:pt>
    <dgm:pt modelId="{7FC1A1E5-F337-3847-841F-3EC88C4E77D4}">
      <dgm:prSet custT="1"/>
      <dgm:spPr/>
      <dgm:t>
        <a:bodyPr/>
        <a:lstStyle/>
        <a:p>
          <a:r>
            <a:rPr lang="en-NZ" sz="2000" dirty="0"/>
            <a:t>Fundamental to these themes is concurrency</a:t>
          </a:r>
        </a:p>
      </dgm:t>
    </dgm:pt>
    <dgm:pt modelId="{C030CE38-31F9-8145-866E-0899317A2953}" type="parTrans" cxnId="{37FB0EFD-CB52-0F47-B614-89A68C414B6D}">
      <dgm:prSet/>
      <dgm:spPr/>
      <dgm:t>
        <a:bodyPr/>
        <a:lstStyle/>
        <a:p>
          <a:endParaRPr lang="en-US"/>
        </a:p>
      </dgm:t>
    </dgm:pt>
    <dgm:pt modelId="{7CB6F66F-180C-D047-A8B5-84108DC64D11}" type="sibTrans" cxnId="{37FB0EFD-CB52-0F47-B614-89A68C414B6D}">
      <dgm:prSet/>
      <dgm:spPr/>
      <dgm:t>
        <a:bodyPr/>
        <a:lstStyle/>
        <a:p>
          <a:endParaRPr lang="en-US"/>
        </a:p>
      </dgm:t>
    </dgm:pt>
    <dgm:pt modelId="{23E83D9E-9CE4-8C40-A2B8-2F93A3D9901C}">
      <dgm:prSet custT="1"/>
      <dgm:spPr/>
      <dgm:t>
        <a:bodyPr/>
        <a:lstStyle/>
        <a:p>
          <a:r>
            <a:rPr lang="en-NZ" sz="2000" dirty="0"/>
            <a:t>issues of conflict resolution and cooperation arise</a:t>
          </a:r>
        </a:p>
      </dgm:t>
    </dgm:pt>
    <dgm:pt modelId="{4BC83EAC-48AB-F94F-8CAE-FF1B3845EC03}" type="parTrans" cxnId="{50484013-7407-6247-9DC0-16CA53A77A3C}">
      <dgm:prSet/>
      <dgm:spPr/>
      <dgm:t>
        <a:bodyPr/>
        <a:lstStyle/>
        <a:p>
          <a:endParaRPr lang="en-US"/>
        </a:p>
      </dgm:t>
    </dgm:pt>
    <dgm:pt modelId="{CCC75EE4-82D6-CF42-A444-E5E8619109EA}" type="sibTrans" cxnId="{50484013-7407-6247-9DC0-16CA53A77A3C}">
      <dgm:prSet/>
      <dgm:spPr/>
      <dgm:t>
        <a:bodyPr/>
        <a:lstStyle/>
        <a:p>
          <a:endParaRPr lang="en-US"/>
        </a:p>
      </dgm:t>
    </dgm:pt>
    <dgm:pt modelId="{5F763A14-CC6B-974C-9364-A2685156575D}">
      <dgm:prSet custT="1"/>
      <dgm:spPr/>
      <dgm:t>
        <a:bodyPr/>
        <a:lstStyle/>
        <a:p>
          <a:r>
            <a:rPr lang="en-NZ" sz="2000" dirty="0"/>
            <a:t>Condition in which there is a set of </a:t>
          </a:r>
          <a:r>
            <a:rPr lang="en-NZ" sz="2000"/>
            <a:t>concurrent processes, </a:t>
          </a:r>
          <a:r>
            <a:rPr lang="en-NZ" sz="2000" dirty="0"/>
            <a:t>only one of which is able to access a given resource or perform a given function at any time</a:t>
          </a:r>
        </a:p>
      </dgm:t>
    </dgm:pt>
    <dgm:pt modelId="{777EC8A3-BB7D-DD4A-BA1B-75EA0D2AAC5A}" type="parTrans" cxnId="{13AEC825-41CD-2344-BB83-737D9E29345A}">
      <dgm:prSet/>
      <dgm:spPr/>
      <dgm:t>
        <a:bodyPr/>
        <a:lstStyle/>
        <a:p>
          <a:endParaRPr lang="en-US"/>
        </a:p>
      </dgm:t>
    </dgm:pt>
    <dgm:pt modelId="{4305BA5D-57D0-5C46-B34C-206F07F96A69}" type="sibTrans" cxnId="{13AEC825-41CD-2344-BB83-737D9E29345A}">
      <dgm:prSet/>
      <dgm:spPr/>
      <dgm:t>
        <a:bodyPr/>
        <a:lstStyle/>
        <a:p>
          <a:endParaRPr lang="en-US"/>
        </a:p>
      </dgm:t>
    </dgm:pt>
    <dgm:pt modelId="{B5782AC7-1F34-A546-BB4B-7C4B462701F5}">
      <dgm:prSet custT="1"/>
      <dgm:spPr/>
      <dgm:t>
        <a:bodyPr/>
        <a:lstStyle/>
        <a:p>
          <a:r>
            <a:rPr lang="en-NZ" sz="2000" dirty="0"/>
            <a:t>One approach involves the use of special purpose machine instructions</a:t>
          </a:r>
        </a:p>
      </dgm:t>
    </dgm:pt>
    <dgm:pt modelId="{9E200E9D-AC29-294B-A768-E43CFC6FFC48}" type="parTrans" cxnId="{FDE1CDAF-0C8F-F543-BBD9-DBB591D85A85}">
      <dgm:prSet/>
      <dgm:spPr/>
      <dgm:t>
        <a:bodyPr/>
        <a:lstStyle/>
        <a:p>
          <a:endParaRPr lang="en-US"/>
        </a:p>
      </dgm:t>
    </dgm:pt>
    <dgm:pt modelId="{75B85CCE-5547-2E4B-9696-572D57DC5DD8}" type="sibTrans" cxnId="{FDE1CDAF-0C8F-F543-BBD9-DBB591D85A85}">
      <dgm:prSet/>
      <dgm:spPr/>
      <dgm:t>
        <a:bodyPr/>
        <a:lstStyle/>
        <a:p>
          <a:endParaRPr lang="en-US"/>
        </a:p>
      </dgm:t>
    </dgm:pt>
    <dgm:pt modelId="{BADF326F-E2B4-5A47-9BE5-EA189C22DAFC}">
      <dgm:prSet phldrT="[Text]" custT="1"/>
      <dgm:spPr>
        <a:blipFill rotWithShape="0">
          <a:blip xmlns:r="http://schemas.openxmlformats.org/officeDocument/2006/relationships" r:embed="rId1"/>
          <a:tile tx="0" ty="0" sx="100000" sy="100000" flip="none" algn="tl"/>
        </a:blipFill>
      </dgm:spPr>
      <dgm:t>
        <a:bodyPr/>
        <a:lstStyle/>
        <a:p>
          <a:pPr rtl="0"/>
          <a:r>
            <a:rPr lang="en-NZ" sz="2800" b="1" i="0" dirty="0">
              <a:solidFill>
                <a:schemeClr val="accent2">
                  <a:lumMod val="50000"/>
                </a:schemeClr>
              </a:solidFill>
            </a:rPr>
            <a:t>Semaphores</a:t>
          </a:r>
        </a:p>
      </dgm:t>
    </dgm:pt>
    <dgm:pt modelId="{32B21245-F900-D649-88C9-DAA3B717CB0E}" type="parTrans" cxnId="{58B5F7D6-CA19-BE44-83DD-D2718CBFAC5B}">
      <dgm:prSet/>
      <dgm:spPr/>
      <dgm:t>
        <a:bodyPr/>
        <a:lstStyle/>
        <a:p>
          <a:endParaRPr lang="en-US"/>
        </a:p>
      </dgm:t>
    </dgm:pt>
    <dgm:pt modelId="{105C21D2-FF88-C244-AA61-4020DB956444}" type="sibTrans" cxnId="{58B5F7D6-CA19-BE44-83DD-D2718CBFAC5B}">
      <dgm:prSet/>
      <dgm:spPr/>
      <dgm:t>
        <a:bodyPr/>
        <a:lstStyle/>
        <a:p>
          <a:endParaRPr lang="en-US"/>
        </a:p>
      </dgm:t>
    </dgm:pt>
    <dgm:pt modelId="{6B4AD971-24D1-3C46-BA23-0C3862D3CFA7}">
      <dgm:prSet custT="1"/>
      <dgm:spPr/>
      <dgm:t>
        <a:bodyPr/>
        <a:lstStyle/>
        <a:p>
          <a:r>
            <a:rPr lang="en-NZ" sz="2000" dirty="0"/>
            <a:t>Used for signaling among processes and can be readily used to enforce a mutual exclusion discipline</a:t>
          </a:r>
        </a:p>
      </dgm:t>
    </dgm:pt>
    <dgm:pt modelId="{3C8F744D-B623-BA45-9166-635FD3A29322}" type="parTrans" cxnId="{0F721008-BF64-9740-BC9D-34D5A9D6AF3E}">
      <dgm:prSet/>
      <dgm:spPr/>
      <dgm:t>
        <a:bodyPr/>
        <a:lstStyle/>
        <a:p>
          <a:endParaRPr lang="en-US"/>
        </a:p>
      </dgm:t>
    </dgm:pt>
    <dgm:pt modelId="{D4ECE38E-C5AA-DD41-BA4F-E56DD143CE3B}" type="sibTrans" cxnId="{0F721008-BF64-9740-BC9D-34D5A9D6AF3E}">
      <dgm:prSet/>
      <dgm:spPr/>
      <dgm:t>
        <a:bodyPr/>
        <a:lstStyle/>
        <a:p>
          <a:endParaRPr lang="en-US"/>
        </a:p>
      </dgm:t>
    </dgm:pt>
    <dgm:pt modelId="{96AB59AE-BFA6-1D48-8A36-F2BAF205148C}" type="pres">
      <dgm:prSet presAssocID="{3D3E3335-8FA7-D447-A971-ED743EABA84D}" presName="linear" presStyleCnt="0">
        <dgm:presLayoutVars>
          <dgm:animLvl val="lvl"/>
          <dgm:resizeHandles val="exact"/>
        </dgm:presLayoutVars>
      </dgm:prSet>
      <dgm:spPr/>
    </dgm:pt>
    <dgm:pt modelId="{8E18EEA1-4D9D-BA40-A54F-EBBF600C1F0D}" type="pres">
      <dgm:prSet presAssocID="{F5471D39-D60F-A344-8BC5-A060A714B72C}" presName="parentText" presStyleLbl="node1" presStyleIdx="0" presStyleCnt="4" custFlipHor="1" custScaleX="21429" custLinFactNeighborX="-33928" custLinFactNeighborY="7928">
        <dgm:presLayoutVars>
          <dgm:chMax val="0"/>
          <dgm:bulletEnabled val="1"/>
        </dgm:presLayoutVars>
      </dgm:prSet>
      <dgm:spPr/>
    </dgm:pt>
    <dgm:pt modelId="{1AA0D145-BAF9-AB45-9218-5222637AD0A7}" type="pres">
      <dgm:prSet presAssocID="{F5471D39-D60F-A344-8BC5-A060A714B72C}" presName="childText" presStyleLbl="revTx" presStyleIdx="0" presStyleCnt="4" custScaleX="94642" custLinFactNeighborX="3571" custLinFactNeighborY="9179">
        <dgm:presLayoutVars>
          <dgm:bulletEnabled val="1"/>
        </dgm:presLayoutVars>
      </dgm:prSet>
      <dgm:spPr/>
    </dgm:pt>
    <dgm:pt modelId="{39F79FF8-618D-3D47-BEF9-9B29B6C3E2C8}" type="pres">
      <dgm:prSet presAssocID="{1AF09498-8AA9-C74F-8679-9571AB5EB973}" presName="parentText" presStyleLbl="node1" presStyleIdx="1" presStyleCnt="4" custScaleX="58927" custLinFactNeighborX="-15179" custLinFactNeighborY="-20967">
        <dgm:presLayoutVars>
          <dgm:chMax val="0"/>
          <dgm:bulletEnabled val="1"/>
        </dgm:presLayoutVars>
      </dgm:prSet>
      <dgm:spPr/>
    </dgm:pt>
    <dgm:pt modelId="{B7BA34D4-2F33-CC43-9DC0-E08261428011}" type="pres">
      <dgm:prSet presAssocID="{1AF09498-8AA9-C74F-8679-9571AB5EB973}" presName="childText" presStyleLbl="revTx" presStyleIdx="1" presStyleCnt="4" custScaleX="94643" custScaleY="108636" custLinFactNeighborX="2679" custLinFactNeighborY="-26792">
        <dgm:presLayoutVars>
          <dgm:bulletEnabled val="1"/>
        </dgm:presLayoutVars>
      </dgm:prSet>
      <dgm:spPr/>
    </dgm:pt>
    <dgm:pt modelId="{678A52E5-79C0-6C43-9579-B04BA001439B}" type="pres">
      <dgm:prSet presAssocID="{C075402F-6A01-804D-B405-91AFAC7C57D5}" presName="parentText" presStyleLbl="node1" presStyleIdx="2" presStyleCnt="4" custScaleX="46428" custScaleY="83353" custLinFactNeighborX="-20536" custLinFactNeighborY="-32656">
        <dgm:presLayoutVars>
          <dgm:chMax val="0"/>
          <dgm:bulletEnabled val="1"/>
        </dgm:presLayoutVars>
      </dgm:prSet>
      <dgm:spPr/>
    </dgm:pt>
    <dgm:pt modelId="{C0B86D96-1539-9C44-B5AE-C49128619FD3}" type="pres">
      <dgm:prSet presAssocID="{C075402F-6A01-804D-B405-91AFAC7C57D5}" presName="childText" presStyleLbl="revTx" presStyleIdx="2" presStyleCnt="4" custScaleX="91071" custScaleY="153191" custLinFactNeighborX="1786" custLinFactNeighborY="-45880">
        <dgm:presLayoutVars>
          <dgm:bulletEnabled val="1"/>
        </dgm:presLayoutVars>
      </dgm:prSet>
      <dgm:spPr/>
    </dgm:pt>
    <dgm:pt modelId="{29787D3B-95CE-FA4A-AD8A-DC21D51C0619}" type="pres">
      <dgm:prSet presAssocID="{BADF326F-E2B4-5A47-9BE5-EA189C22DAFC}" presName="parentText" presStyleLbl="node1" presStyleIdx="3" presStyleCnt="4" custScaleX="35714" custScaleY="87870" custLinFactNeighborX="-25893" custLinFactNeighborY="-33737">
        <dgm:presLayoutVars>
          <dgm:chMax val="0"/>
          <dgm:bulletEnabled val="1"/>
        </dgm:presLayoutVars>
      </dgm:prSet>
      <dgm:spPr/>
    </dgm:pt>
    <dgm:pt modelId="{374ABFB9-0798-1149-9B46-963B5940BD3B}" type="pres">
      <dgm:prSet presAssocID="{BADF326F-E2B4-5A47-9BE5-EA189C22DAFC}" presName="childText" presStyleLbl="revTx" presStyleIdx="3" presStyleCnt="4" custScaleX="92856" custLinFactNeighborX="6250" custLinFactNeighborY="-26074">
        <dgm:presLayoutVars>
          <dgm:bulletEnabled val="1"/>
        </dgm:presLayoutVars>
      </dgm:prSet>
      <dgm:spPr/>
    </dgm:pt>
  </dgm:ptLst>
  <dgm:cxnLst>
    <dgm:cxn modelId="{BCD51802-F5CC-C749-AB95-EB56B9309C59}" type="presOf" srcId="{C075402F-6A01-804D-B405-91AFAC7C57D5}" destId="{678A52E5-79C0-6C43-9579-B04BA001439B}" srcOrd="0" destOrd="0" presId="urn:microsoft.com/office/officeart/2005/8/layout/vList2"/>
    <dgm:cxn modelId="{0F721008-BF64-9740-BC9D-34D5A9D6AF3E}" srcId="{BADF326F-E2B4-5A47-9BE5-EA189C22DAFC}" destId="{6B4AD971-24D1-3C46-BA23-0C3862D3CFA7}" srcOrd="0" destOrd="0" parTransId="{3C8F744D-B623-BA45-9166-635FD3A29322}" sibTransId="{D4ECE38E-C5AA-DD41-BA4F-E56DD143CE3B}"/>
    <dgm:cxn modelId="{A41E0012-627B-B84C-8887-8D3AFAA261C6}" type="presOf" srcId="{BADF326F-E2B4-5A47-9BE5-EA189C22DAFC}" destId="{29787D3B-95CE-FA4A-AD8A-DC21D51C0619}" srcOrd="0" destOrd="0" presId="urn:microsoft.com/office/officeart/2005/8/layout/vList2"/>
    <dgm:cxn modelId="{50484013-7407-6247-9DC0-16CA53A77A3C}" srcId="{7FC1A1E5-F337-3847-841F-3EC88C4E77D4}" destId="{23E83D9E-9CE4-8C40-A2B8-2F93A3D9901C}" srcOrd="0" destOrd="0" parTransId="{4BC83EAC-48AB-F94F-8CAE-FF1B3845EC03}" sibTransId="{CCC75EE4-82D6-CF42-A444-E5E8619109EA}"/>
    <dgm:cxn modelId="{9CF48817-B6C4-9349-B17D-99329E9B7152}" type="presOf" srcId="{07DF5946-F56F-B341-8A03-848318306C40}" destId="{B7BA34D4-2F33-CC43-9DC0-E08261428011}" srcOrd="0" destOrd="0" presId="urn:microsoft.com/office/officeart/2005/8/layout/vList2"/>
    <dgm:cxn modelId="{13AEC825-41CD-2344-BB83-737D9E29345A}" srcId="{C075402F-6A01-804D-B405-91AFAC7C57D5}" destId="{5F763A14-CC6B-974C-9364-A2685156575D}" srcOrd="0" destOrd="0" parTransId="{777EC8A3-BB7D-DD4A-BA1B-75EA0D2AAC5A}" sibTransId="{4305BA5D-57D0-5C46-B34C-206F07F96A69}"/>
    <dgm:cxn modelId="{C0A4D261-FD31-114C-98B5-50F741F4664A}" type="presOf" srcId="{23E83D9E-9CE4-8C40-A2B8-2F93A3D9901C}" destId="{B7BA34D4-2F33-CC43-9DC0-E08261428011}" srcOrd="0" destOrd="2" presId="urn:microsoft.com/office/officeart/2005/8/layout/vList2"/>
    <dgm:cxn modelId="{A0672A68-DAD6-5C45-B6CC-513237C2A5DB}" srcId="{F5471D39-D60F-A344-8BC5-A060A714B72C}" destId="{62FA935C-B9C3-6C41-95D0-88D5B0C66235}" srcOrd="0" destOrd="0" parTransId="{20DA2353-6B53-4D4E-8EFE-74354D286F46}" sibTransId="{D02B32B4-66BC-974C-9232-2B07E10646D2}"/>
    <dgm:cxn modelId="{0626176F-02C4-5448-81FC-AB4DB69C789B}" srcId="{3D3E3335-8FA7-D447-A971-ED743EABA84D}" destId="{1AF09498-8AA9-C74F-8679-9571AB5EB973}" srcOrd="1" destOrd="0" parTransId="{5E20C15E-9D90-C849-B2B0-DBB92576BBE1}" sibTransId="{4AC886B7-F3A7-FA4F-B9F4-7413D1FABA0B}"/>
    <dgm:cxn modelId="{2864F96F-2110-BA46-A70A-DD2B7AA079FC}" type="presOf" srcId="{3D3E3335-8FA7-D447-A971-ED743EABA84D}" destId="{96AB59AE-BFA6-1D48-8A36-F2BAF205148C}" srcOrd="0" destOrd="0" presId="urn:microsoft.com/office/officeart/2005/8/layout/vList2"/>
    <dgm:cxn modelId="{78C66374-A7F4-594F-B467-FE2BB821A738}" type="presOf" srcId="{B5782AC7-1F34-A546-BB4B-7C4B462701F5}" destId="{C0B86D96-1539-9C44-B5AE-C49128619FD3}" srcOrd="0" destOrd="1" presId="urn:microsoft.com/office/officeart/2005/8/layout/vList2"/>
    <dgm:cxn modelId="{88F11D88-28C9-2840-8893-B6F744B0CABB}" type="presOf" srcId="{F5471D39-D60F-A344-8BC5-A060A714B72C}" destId="{8E18EEA1-4D9D-BA40-A54F-EBBF600C1F0D}" srcOrd="0" destOrd="0" presId="urn:microsoft.com/office/officeart/2005/8/layout/vList2"/>
    <dgm:cxn modelId="{1B0B7AAF-6909-D84F-B41D-81FEA7DD3E5C}" srcId="{1AF09498-8AA9-C74F-8679-9571AB5EB973}" destId="{07DF5946-F56F-B341-8A03-848318306C40}" srcOrd="0" destOrd="0" parTransId="{4672F033-A4AB-E84F-BACA-6D394ED89C12}" sibTransId="{F5E67D90-CAE0-7541-8B21-75DD2FB6B657}"/>
    <dgm:cxn modelId="{FDE1CDAF-0C8F-F543-BBD9-DBB591D85A85}" srcId="{C075402F-6A01-804D-B405-91AFAC7C57D5}" destId="{B5782AC7-1F34-A546-BB4B-7C4B462701F5}" srcOrd="1" destOrd="0" parTransId="{9E200E9D-AC29-294B-A768-E43CFC6FFC48}" sibTransId="{75B85CCE-5547-2E4B-9696-572D57DC5DD8}"/>
    <dgm:cxn modelId="{C3972AB5-58F6-9942-9A6C-CE745647DCAE}" type="presOf" srcId="{5F763A14-CC6B-974C-9364-A2685156575D}" destId="{C0B86D96-1539-9C44-B5AE-C49128619FD3}" srcOrd="0" destOrd="0" presId="urn:microsoft.com/office/officeart/2005/8/layout/vList2"/>
    <dgm:cxn modelId="{8AFE58B8-55E0-1D47-98E2-E9713A985342}" srcId="{3D3E3335-8FA7-D447-A971-ED743EABA84D}" destId="{F5471D39-D60F-A344-8BC5-A060A714B72C}" srcOrd="0" destOrd="0" parTransId="{E70DA4A0-46F9-6247-8BA6-EE0D87215171}" sibTransId="{9CEC6DB9-C883-6E4A-82BE-E62AA6ED6CA6}"/>
    <dgm:cxn modelId="{F9B38CB9-B3E0-7247-A181-2EBDB7E37DF3}" srcId="{3D3E3335-8FA7-D447-A971-ED743EABA84D}" destId="{C075402F-6A01-804D-B405-91AFAC7C57D5}" srcOrd="2" destOrd="0" parTransId="{23E5F9CC-4E09-2541-A1ED-DE78E2D2DC39}" sibTransId="{A55C3B22-2887-8A4A-877E-7734EF315532}"/>
    <dgm:cxn modelId="{EF6C8EBC-AA28-0347-9655-E14A20594A87}" type="presOf" srcId="{6B4AD971-24D1-3C46-BA23-0C3862D3CFA7}" destId="{374ABFB9-0798-1149-9B46-963B5940BD3B}" srcOrd="0" destOrd="0" presId="urn:microsoft.com/office/officeart/2005/8/layout/vList2"/>
    <dgm:cxn modelId="{F0D6F3C4-B71E-F946-B3E3-001E0BDDA02B}" type="presOf" srcId="{7FC1A1E5-F337-3847-841F-3EC88C4E77D4}" destId="{B7BA34D4-2F33-CC43-9DC0-E08261428011}" srcOrd="0" destOrd="1" presId="urn:microsoft.com/office/officeart/2005/8/layout/vList2"/>
    <dgm:cxn modelId="{8043E8C7-F29E-E545-A04F-5A6E2CF22084}" type="presOf" srcId="{1AF09498-8AA9-C74F-8679-9571AB5EB973}" destId="{39F79FF8-618D-3D47-BEF9-9B29B6C3E2C8}" srcOrd="0" destOrd="0" presId="urn:microsoft.com/office/officeart/2005/8/layout/vList2"/>
    <dgm:cxn modelId="{58B5F7D6-CA19-BE44-83DD-D2718CBFAC5B}" srcId="{3D3E3335-8FA7-D447-A971-ED743EABA84D}" destId="{BADF326F-E2B4-5A47-9BE5-EA189C22DAFC}" srcOrd="3" destOrd="0" parTransId="{32B21245-F900-D649-88C9-DAA3B717CB0E}" sibTransId="{105C21D2-FF88-C244-AA61-4020DB956444}"/>
    <dgm:cxn modelId="{7B5D2BF9-AA1D-524C-AE4B-B9603FF97D73}" type="presOf" srcId="{62FA935C-B9C3-6C41-95D0-88D5B0C66235}" destId="{1AA0D145-BAF9-AB45-9218-5222637AD0A7}" srcOrd="0" destOrd="0" presId="urn:microsoft.com/office/officeart/2005/8/layout/vList2"/>
    <dgm:cxn modelId="{37FB0EFD-CB52-0F47-B614-89A68C414B6D}" srcId="{1AF09498-8AA9-C74F-8679-9571AB5EB973}" destId="{7FC1A1E5-F337-3847-841F-3EC88C4E77D4}" srcOrd="1" destOrd="0" parTransId="{C030CE38-31F9-8145-866E-0899317A2953}" sibTransId="{7CB6F66F-180C-D047-A8B5-84108DC64D11}"/>
    <dgm:cxn modelId="{7A74CF62-C5CC-F146-8CED-834D658409E8}" type="presParOf" srcId="{96AB59AE-BFA6-1D48-8A36-F2BAF205148C}" destId="{8E18EEA1-4D9D-BA40-A54F-EBBF600C1F0D}" srcOrd="0" destOrd="0" presId="urn:microsoft.com/office/officeart/2005/8/layout/vList2"/>
    <dgm:cxn modelId="{7656D6FE-9C65-A544-B3D4-4D9860EF0A71}" type="presParOf" srcId="{96AB59AE-BFA6-1D48-8A36-F2BAF205148C}" destId="{1AA0D145-BAF9-AB45-9218-5222637AD0A7}" srcOrd="1" destOrd="0" presId="urn:microsoft.com/office/officeart/2005/8/layout/vList2"/>
    <dgm:cxn modelId="{D2976E45-F436-2F48-ADB3-397EDA0514E7}" type="presParOf" srcId="{96AB59AE-BFA6-1D48-8A36-F2BAF205148C}" destId="{39F79FF8-618D-3D47-BEF9-9B29B6C3E2C8}" srcOrd="2" destOrd="0" presId="urn:microsoft.com/office/officeart/2005/8/layout/vList2"/>
    <dgm:cxn modelId="{B4713648-F7F7-B143-BA0B-EC9F00E74D05}" type="presParOf" srcId="{96AB59AE-BFA6-1D48-8A36-F2BAF205148C}" destId="{B7BA34D4-2F33-CC43-9DC0-E08261428011}" srcOrd="3" destOrd="0" presId="urn:microsoft.com/office/officeart/2005/8/layout/vList2"/>
    <dgm:cxn modelId="{2F31301D-6918-6144-A3F6-0D6F429EEFDA}" type="presParOf" srcId="{96AB59AE-BFA6-1D48-8A36-F2BAF205148C}" destId="{678A52E5-79C0-6C43-9579-B04BA001439B}" srcOrd="4" destOrd="0" presId="urn:microsoft.com/office/officeart/2005/8/layout/vList2"/>
    <dgm:cxn modelId="{0B9210BB-E508-364D-A51B-41B069E5D612}" type="presParOf" srcId="{96AB59AE-BFA6-1D48-8A36-F2BAF205148C}" destId="{C0B86D96-1539-9C44-B5AE-C49128619FD3}" srcOrd="5" destOrd="0" presId="urn:microsoft.com/office/officeart/2005/8/layout/vList2"/>
    <dgm:cxn modelId="{F730C5ED-AAB1-C04C-B816-27A8E5A2955E}" type="presParOf" srcId="{96AB59AE-BFA6-1D48-8A36-F2BAF205148C}" destId="{29787D3B-95CE-FA4A-AD8A-DC21D51C0619}" srcOrd="6" destOrd="0" presId="urn:microsoft.com/office/officeart/2005/8/layout/vList2"/>
    <dgm:cxn modelId="{CCC396FF-5FB2-F940-B567-6DF7B80B837D}" type="presParOf" srcId="{96AB59AE-BFA6-1D48-8A36-F2BAF205148C}" destId="{374ABFB9-0798-1149-9B46-963B5940BD3B}" srcOrd="7"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922F58D-B635-F14D-A7B0-F6371807DE43}">
      <dsp:nvSpPr>
        <dsp:cNvPr id="0" name=""/>
        <dsp:cNvSpPr/>
      </dsp:nvSpPr>
      <dsp:spPr>
        <a:xfrm>
          <a:off x="4419593" y="228600"/>
          <a:ext cx="3364185" cy="2018511"/>
        </a:xfrm>
        <a:prstGeom prst="roundRect">
          <a:avLst>
            <a:gd name="adj" fmla="val 10000"/>
          </a:avLst>
        </a:prstGeom>
        <a:solidFill>
          <a:schemeClr val="accent1"/>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rtl="0">
            <a:lnSpc>
              <a:spcPct val="90000"/>
            </a:lnSpc>
            <a:spcBef>
              <a:spcPct val="0"/>
            </a:spcBef>
            <a:spcAft>
              <a:spcPct val="35000"/>
            </a:spcAft>
            <a:buNone/>
          </a:pPr>
          <a:r>
            <a:rPr lang="en-US" sz="2500" kern="1200" dirty="0"/>
            <a:t>There is no way to inspect or manipulate semaphores other than these three operations</a:t>
          </a:r>
        </a:p>
      </dsp:txBody>
      <dsp:txXfrm>
        <a:off x="4478713" y="287720"/>
        <a:ext cx="3245945" cy="1900271"/>
      </dsp:txXfrm>
    </dsp:sp>
    <dsp:sp modelId="{2F146ECA-E547-3B4A-A33E-83CC028577F2}">
      <dsp:nvSpPr>
        <dsp:cNvPr id="0" name=""/>
        <dsp:cNvSpPr/>
      </dsp:nvSpPr>
      <dsp:spPr>
        <a:xfrm>
          <a:off x="3715242" y="820696"/>
          <a:ext cx="478597" cy="834317"/>
        </a:xfrm>
        <a:prstGeom prst="rightArrow">
          <a:avLst>
            <a:gd name="adj1" fmla="val 60000"/>
            <a:gd name="adj2" fmla="val 50000"/>
          </a:avLst>
        </a:prstGeom>
        <a:solidFill>
          <a:schemeClr val="bg2">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15242" y="987559"/>
        <a:ext cx="335018" cy="500591"/>
      </dsp:txXfrm>
    </dsp:sp>
    <dsp:sp modelId="{536CC010-3CA8-CD44-BED7-E2E67E4A6B14}">
      <dsp:nvSpPr>
        <dsp:cNvPr id="0" name=""/>
        <dsp:cNvSpPr/>
      </dsp:nvSpPr>
      <dsp:spPr>
        <a:xfrm>
          <a:off x="152394" y="228600"/>
          <a:ext cx="3364185" cy="2018511"/>
        </a:xfrm>
        <a:prstGeom prst="roundRect">
          <a:avLst>
            <a:gd name="adj" fmla="val 10000"/>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rtl="0">
            <a:lnSpc>
              <a:spcPct val="90000"/>
            </a:lnSpc>
            <a:spcBef>
              <a:spcPct val="0"/>
            </a:spcBef>
            <a:spcAft>
              <a:spcPct val="35000"/>
            </a:spcAft>
            <a:buNone/>
          </a:pPr>
          <a:r>
            <a:rPr lang="en-NZ" sz="2500" kern="1200" dirty="0"/>
            <a:t>A variable that has an integer value upon which only three operations are defined: </a:t>
          </a:r>
          <a:endParaRPr lang="en-US" sz="2500" kern="1200" dirty="0"/>
        </a:p>
      </dsp:txBody>
      <dsp:txXfrm>
        <a:off x="211514" y="287720"/>
        <a:ext cx="3245945" cy="190027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BA5E69-E325-F142-A0D4-B743109408EA}">
      <dsp:nvSpPr>
        <dsp:cNvPr id="0" name=""/>
        <dsp:cNvSpPr/>
      </dsp:nvSpPr>
      <dsp:spPr>
        <a:xfrm rot="16200000">
          <a:off x="-550467" y="634016"/>
          <a:ext cx="3840163" cy="2572129"/>
        </a:xfrm>
        <a:prstGeom prst="flowChartManualOperation">
          <a:avLst/>
        </a:prstGeom>
        <a:solidFill>
          <a:schemeClr val="accent3">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33350" tIns="0" rIns="134922" bIns="0" numCol="1" spcCol="1270" anchor="ctr" anchorCtr="0">
          <a:noAutofit/>
        </a:bodyPr>
        <a:lstStyle/>
        <a:p>
          <a:pPr marL="0" lvl="0" indent="0" algn="ctr" defTabSz="933450" rtl="0">
            <a:lnSpc>
              <a:spcPct val="90000"/>
            </a:lnSpc>
            <a:spcBef>
              <a:spcPct val="0"/>
            </a:spcBef>
            <a:spcAft>
              <a:spcPct val="35000"/>
            </a:spcAft>
            <a:buNone/>
          </a:pPr>
          <a:r>
            <a:rPr lang="en-US" sz="2100" kern="1200" dirty="0"/>
            <a:t>There is no way to know before a process decrements a semaphore whether it will block or not</a:t>
          </a:r>
        </a:p>
      </dsp:txBody>
      <dsp:txXfrm rot="5400000">
        <a:off x="83550" y="768032"/>
        <a:ext cx="2572129" cy="2304097"/>
      </dsp:txXfrm>
    </dsp:sp>
    <dsp:sp modelId="{49FA2FAC-FF0C-C14A-8048-646F866CB8A7}">
      <dsp:nvSpPr>
        <dsp:cNvPr id="0" name=""/>
        <dsp:cNvSpPr/>
      </dsp:nvSpPr>
      <dsp:spPr>
        <a:xfrm rot="16200000">
          <a:off x="2132012" y="634016"/>
          <a:ext cx="3840163" cy="2572129"/>
        </a:xfrm>
        <a:prstGeom prst="flowChartManualOperation">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33350" tIns="0" rIns="134922" bIns="0" numCol="1" spcCol="1270" anchor="ctr" anchorCtr="0">
          <a:noAutofit/>
        </a:bodyPr>
        <a:lstStyle/>
        <a:p>
          <a:pPr marL="0" lvl="0" indent="0" algn="ctr" defTabSz="933450" rtl="0">
            <a:lnSpc>
              <a:spcPct val="90000"/>
            </a:lnSpc>
            <a:spcBef>
              <a:spcPct val="0"/>
            </a:spcBef>
            <a:spcAft>
              <a:spcPct val="35000"/>
            </a:spcAft>
            <a:buNone/>
          </a:pPr>
          <a:r>
            <a:rPr lang="en-US" sz="2100" kern="1200" dirty="0"/>
            <a:t>There is no way to know which process will continue immediately on a </a:t>
          </a:r>
          <a:r>
            <a:rPr lang="en-US" sz="2100" kern="1200" dirty="0" err="1"/>
            <a:t>uniprocessor</a:t>
          </a:r>
          <a:r>
            <a:rPr lang="en-US" sz="2100" kern="1200" dirty="0"/>
            <a:t> system when two processes are running concurrently</a:t>
          </a:r>
        </a:p>
      </dsp:txBody>
      <dsp:txXfrm rot="5400000">
        <a:off x="2766029" y="768032"/>
        <a:ext cx="2572129" cy="2304097"/>
      </dsp:txXfrm>
    </dsp:sp>
    <dsp:sp modelId="{9BE6FA6B-34B4-C242-82E5-DC5F191FF1E9}">
      <dsp:nvSpPr>
        <dsp:cNvPr id="0" name=""/>
        <dsp:cNvSpPr/>
      </dsp:nvSpPr>
      <dsp:spPr>
        <a:xfrm rot="16200000">
          <a:off x="4897051" y="634016"/>
          <a:ext cx="3840163" cy="2572129"/>
        </a:xfrm>
        <a:prstGeom prst="flowChartManualOperation">
          <a:avLst/>
        </a:prstGeom>
        <a:solidFill>
          <a:schemeClr val="accent6">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33350" tIns="0" rIns="134922" bIns="0" numCol="1" spcCol="1270" anchor="ctr" anchorCtr="0">
          <a:noAutofit/>
        </a:bodyPr>
        <a:lstStyle/>
        <a:p>
          <a:pPr marL="0" lvl="0" indent="0" algn="ctr" defTabSz="933450" rtl="0">
            <a:lnSpc>
              <a:spcPct val="90000"/>
            </a:lnSpc>
            <a:spcBef>
              <a:spcPct val="0"/>
            </a:spcBef>
            <a:spcAft>
              <a:spcPct val="35000"/>
            </a:spcAft>
            <a:buNone/>
          </a:pPr>
          <a:r>
            <a:rPr lang="en-US" sz="2100" kern="1200" dirty="0"/>
            <a:t>You don’t know whether another process is waiting so the number of unblocked processes may be zero or one</a:t>
          </a:r>
        </a:p>
      </dsp:txBody>
      <dsp:txXfrm rot="5400000">
        <a:off x="5531068" y="768032"/>
        <a:ext cx="2572129" cy="230409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4B5A1A-5870-5C40-8ADE-32EFF8546961}">
      <dsp:nvSpPr>
        <dsp:cNvPr id="0" name=""/>
        <dsp:cNvSpPr/>
      </dsp:nvSpPr>
      <dsp:spPr>
        <a:xfrm>
          <a:off x="0" y="377500"/>
          <a:ext cx="8229600" cy="13230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638708" tIns="499872" rIns="638708" bIns="170688" numCol="1" spcCol="1270" anchor="t" anchorCtr="0">
          <a:noAutofit/>
        </a:bodyPr>
        <a:lstStyle/>
        <a:p>
          <a:pPr marL="228600" lvl="1" indent="-228600" algn="l" defTabSz="1066800">
            <a:lnSpc>
              <a:spcPct val="90000"/>
            </a:lnSpc>
            <a:spcBef>
              <a:spcPct val="0"/>
            </a:spcBef>
            <a:spcAft>
              <a:spcPct val="15000"/>
            </a:spcAft>
            <a:buChar char="•"/>
          </a:pPr>
          <a:r>
            <a:rPr lang="en-NZ" sz="2400" kern="1200" dirty="0"/>
            <a:t>the process that has been blocked the longest is released from the queue first (FIFO)</a:t>
          </a:r>
        </a:p>
      </dsp:txBody>
      <dsp:txXfrm>
        <a:off x="0" y="377500"/>
        <a:ext cx="8229600" cy="1323000"/>
      </dsp:txXfrm>
    </dsp:sp>
    <dsp:sp modelId="{DD1D9237-EB74-E84E-AC7E-51428224DD48}">
      <dsp:nvSpPr>
        <dsp:cNvPr id="0" name=""/>
        <dsp:cNvSpPr/>
      </dsp:nvSpPr>
      <dsp:spPr>
        <a:xfrm>
          <a:off x="411480" y="23259"/>
          <a:ext cx="5760720" cy="708480"/>
        </a:xfrm>
        <a:prstGeom prst="round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42" tIns="0" rIns="217742" bIns="0" numCol="1" spcCol="1270" anchor="ctr" anchorCtr="0">
          <a:noAutofit/>
        </a:bodyPr>
        <a:lstStyle/>
        <a:p>
          <a:pPr marL="0" lvl="0" indent="0" algn="l" defTabSz="1244600">
            <a:lnSpc>
              <a:spcPct val="90000"/>
            </a:lnSpc>
            <a:spcBef>
              <a:spcPct val="0"/>
            </a:spcBef>
            <a:spcAft>
              <a:spcPct val="35000"/>
            </a:spcAft>
            <a:buNone/>
          </a:pPr>
          <a:r>
            <a:rPr lang="en-NZ" sz="2800" b="1" i="1" kern="1200" dirty="0"/>
            <a:t>Strong Semaphores</a:t>
          </a:r>
          <a:r>
            <a:rPr lang="en-NZ" sz="2800" kern="1200" dirty="0"/>
            <a:t> </a:t>
          </a:r>
          <a:endParaRPr lang="en-US" sz="2800" kern="1200" dirty="0"/>
        </a:p>
      </dsp:txBody>
      <dsp:txXfrm>
        <a:off x="446065" y="57844"/>
        <a:ext cx="5691550" cy="639310"/>
      </dsp:txXfrm>
    </dsp:sp>
    <dsp:sp modelId="{40B0B400-5226-0F4B-98AB-E6B21FAA5A13}">
      <dsp:nvSpPr>
        <dsp:cNvPr id="0" name=""/>
        <dsp:cNvSpPr/>
      </dsp:nvSpPr>
      <dsp:spPr>
        <a:xfrm>
          <a:off x="0" y="2184340"/>
          <a:ext cx="8229600" cy="1323000"/>
        </a:xfrm>
        <a:prstGeom prst="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638708" tIns="499872" rIns="638708" bIns="170688" numCol="1" spcCol="1270" anchor="t" anchorCtr="0">
          <a:noAutofit/>
        </a:bodyPr>
        <a:lstStyle/>
        <a:p>
          <a:pPr marL="228600" lvl="1" indent="-228600" algn="l" defTabSz="1066800">
            <a:lnSpc>
              <a:spcPct val="90000"/>
            </a:lnSpc>
            <a:spcBef>
              <a:spcPct val="0"/>
            </a:spcBef>
            <a:spcAft>
              <a:spcPct val="15000"/>
            </a:spcAft>
            <a:buChar char="•"/>
          </a:pPr>
          <a:r>
            <a:rPr lang="en-NZ" sz="2400" kern="1200"/>
            <a:t>the order in which processes are removed from the queue is not specified</a:t>
          </a:r>
          <a:endParaRPr lang="en-NZ" sz="2400" kern="1200" dirty="0"/>
        </a:p>
      </dsp:txBody>
      <dsp:txXfrm>
        <a:off x="0" y="2184340"/>
        <a:ext cx="8229600" cy="1323000"/>
      </dsp:txXfrm>
    </dsp:sp>
    <dsp:sp modelId="{2E01E895-987A-1640-8719-30A986FB6C86}">
      <dsp:nvSpPr>
        <dsp:cNvPr id="0" name=""/>
        <dsp:cNvSpPr/>
      </dsp:nvSpPr>
      <dsp:spPr>
        <a:xfrm>
          <a:off x="411480" y="1830100"/>
          <a:ext cx="5760720" cy="708480"/>
        </a:xfrm>
        <a:prstGeom prst="roundRect">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42" tIns="0" rIns="217742" bIns="0" numCol="1" spcCol="1270" anchor="ctr" anchorCtr="0">
          <a:noAutofit/>
        </a:bodyPr>
        <a:lstStyle/>
        <a:p>
          <a:pPr marL="0" lvl="0" indent="0" algn="l" defTabSz="1244600">
            <a:lnSpc>
              <a:spcPct val="90000"/>
            </a:lnSpc>
            <a:spcBef>
              <a:spcPct val="0"/>
            </a:spcBef>
            <a:spcAft>
              <a:spcPct val="35000"/>
            </a:spcAft>
            <a:buNone/>
          </a:pPr>
          <a:r>
            <a:rPr lang="en-NZ" sz="2800" b="1" i="1" kern="1200" dirty="0"/>
            <a:t>Weak Semaphores </a:t>
          </a:r>
          <a:r>
            <a:rPr lang="en-NZ" sz="2300" kern="1200" dirty="0"/>
            <a:t> </a:t>
          </a:r>
        </a:p>
      </dsp:txBody>
      <dsp:txXfrm>
        <a:off x="446065" y="1864685"/>
        <a:ext cx="5691550" cy="6393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C6EB41-3B3B-EA42-AE9D-C2314DC42775}">
      <dsp:nvSpPr>
        <dsp:cNvPr id="0" name=""/>
        <dsp:cNvSpPr/>
      </dsp:nvSpPr>
      <dsp:spPr>
        <a:xfrm>
          <a:off x="134732" y="0"/>
          <a:ext cx="3591475" cy="4114800"/>
        </a:xfrm>
        <a:prstGeom prst="roundRect">
          <a:avLst>
            <a:gd name="adj" fmla="val 10000"/>
          </a:avLst>
        </a:prstGeom>
        <a:solidFill>
          <a:schemeClr val="accent3">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0010" tIns="80010" rIns="80010" bIns="80010" numCol="1" spcCol="1270" anchor="t" anchorCtr="0">
          <a:noAutofit/>
        </a:bodyPr>
        <a:lstStyle/>
        <a:p>
          <a:pPr marL="0" lvl="0" indent="0" algn="l" defTabSz="1600200">
            <a:lnSpc>
              <a:spcPct val="90000"/>
            </a:lnSpc>
            <a:spcBef>
              <a:spcPct val="0"/>
            </a:spcBef>
            <a:spcAft>
              <a:spcPct val="35000"/>
            </a:spcAft>
            <a:buNone/>
          </a:pPr>
          <a:r>
            <a:rPr lang="en-US" sz="3600" kern="1200" dirty="0"/>
            <a:t>General Situation:</a:t>
          </a:r>
        </a:p>
        <a:p>
          <a:pPr marL="228600" lvl="1" indent="-228600" algn="l" defTabSz="933450">
            <a:lnSpc>
              <a:spcPct val="90000"/>
            </a:lnSpc>
            <a:spcBef>
              <a:spcPct val="0"/>
            </a:spcBef>
            <a:spcAft>
              <a:spcPct val="15000"/>
            </a:spcAft>
            <a:buChar char="•"/>
          </a:pPr>
          <a:r>
            <a:rPr lang="en-US" sz="2100" kern="1200" dirty="0"/>
            <a:t>one or more producers are generating data and placing these in a buffer</a:t>
          </a:r>
        </a:p>
        <a:p>
          <a:pPr marL="228600" lvl="1" indent="-228600" algn="l" defTabSz="933450">
            <a:lnSpc>
              <a:spcPct val="90000"/>
            </a:lnSpc>
            <a:spcBef>
              <a:spcPct val="0"/>
            </a:spcBef>
            <a:spcAft>
              <a:spcPct val="15000"/>
            </a:spcAft>
            <a:buChar char="•"/>
          </a:pPr>
          <a:r>
            <a:rPr lang="en-US" sz="2100" kern="1200" dirty="0"/>
            <a:t>a single consumer is taking items out of the buffer one at time</a:t>
          </a:r>
        </a:p>
        <a:p>
          <a:pPr marL="228600" lvl="1" indent="-228600" algn="l" defTabSz="933450">
            <a:lnSpc>
              <a:spcPct val="90000"/>
            </a:lnSpc>
            <a:spcBef>
              <a:spcPct val="0"/>
            </a:spcBef>
            <a:spcAft>
              <a:spcPct val="15000"/>
            </a:spcAft>
            <a:buChar char="•"/>
          </a:pPr>
          <a:r>
            <a:rPr lang="en-US" sz="2100" kern="1200" dirty="0"/>
            <a:t>only one producer or consumer may access the buffer at any one time</a:t>
          </a:r>
        </a:p>
      </dsp:txBody>
      <dsp:txXfrm>
        <a:off x="239923" y="105191"/>
        <a:ext cx="3381093" cy="3904418"/>
      </dsp:txXfrm>
    </dsp:sp>
    <dsp:sp modelId="{2FC5CD5F-1F07-7F44-B8F2-45124A5E3E66}">
      <dsp:nvSpPr>
        <dsp:cNvPr id="0" name=""/>
        <dsp:cNvSpPr/>
      </dsp:nvSpPr>
      <dsp:spPr>
        <a:xfrm>
          <a:off x="3980019" y="1702494"/>
          <a:ext cx="538081" cy="709811"/>
        </a:xfrm>
        <a:prstGeom prst="rightArrow">
          <a:avLst>
            <a:gd name="adj1" fmla="val 60000"/>
            <a:gd name="adj2" fmla="val 50000"/>
          </a:avLst>
        </a:prstGeom>
        <a:solidFill>
          <a:schemeClr val="accent2">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980019" y="1844456"/>
        <a:ext cx="376657" cy="425887"/>
      </dsp:txXfrm>
    </dsp:sp>
    <dsp:sp modelId="{97C10248-49D4-BA42-A96D-F06C469FE9B5}">
      <dsp:nvSpPr>
        <dsp:cNvPr id="0" name=""/>
        <dsp:cNvSpPr/>
      </dsp:nvSpPr>
      <dsp:spPr>
        <a:xfrm>
          <a:off x="4741456" y="433138"/>
          <a:ext cx="2873420" cy="3248523"/>
        </a:xfrm>
        <a:prstGeom prst="roundRect">
          <a:avLst>
            <a:gd name="adj" fmla="val 10000"/>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t" anchorCtr="0">
          <a:noAutofit/>
        </a:bodyPr>
        <a:lstStyle/>
        <a:p>
          <a:pPr marL="0" lvl="0" indent="0" algn="l" defTabSz="1244600">
            <a:lnSpc>
              <a:spcPct val="90000"/>
            </a:lnSpc>
            <a:spcBef>
              <a:spcPct val="0"/>
            </a:spcBef>
            <a:spcAft>
              <a:spcPct val="35000"/>
            </a:spcAft>
            <a:buNone/>
          </a:pPr>
          <a:r>
            <a:rPr lang="en-US" sz="2800" kern="1200" dirty="0"/>
            <a:t>The Problem:</a:t>
          </a:r>
        </a:p>
        <a:p>
          <a:pPr marL="228600" lvl="1" indent="-228600" algn="l" defTabSz="977900">
            <a:lnSpc>
              <a:spcPct val="90000"/>
            </a:lnSpc>
            <a:spcBef>
              <a:spcPct val="0"/>
            </a:spcBef>
            <a:spcAft>
              <a:spcPct val="15000"/>
            </a:spcAft>
            <a:buChar char="•"/>
          </a:pPr>
          <a:r>
            <a:rPr lang="en-US" sz="2200" kern="1200" dirty="0"/>
            <a:t>ensure that the producer can’t add data into full buffer and consumer can’t remove data from an empty buffer</a:t>
          </a:r>
        </a:p>
      </dsp:txBody>
      <dsp:txXfrm>
        <a:off x="4825616" y="517298"/>
        <a:ext cx="2705100" cy="308020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27ED8C3-E406-2842-BD01-BCFEA1E9CFC2}">
      <dsp:nvSpPr>
        <dsp:cNvPr id="0" name=""/>
        <dsp:cNvSpPr/>
      </dsp:nvSpPr>
      <dsp:spPr>
        <a:xfrm>
          <a:off x="0" y="1485900"/>
          <a:ext cx="8229600" cy="1981200"/>
        </a:xfrm>
        <a:prstGeom prst="notchedRightArrow">
          <a:avLst/>
        </a:prstGeom>
        <a:solidFill>
          <a:schemeClr val="accent5">
            <a:lumMod val="50000"/>
            <a:alpha val="73000"/>
          </a:schemeClr>
        </a:solidFill>
        <a:ln>
          <a:noFill/>
        </a:ln>
        <a:effectLst/>
      </dsp:spPr>
      <dsp:style>
        <a:lnRef idx="0">
          <a:scrgbClr r="0" g="0" b="0"/>
        </a:lnRef>
        <a:fillRef idx="1">
          <a:scrgbClr r="0" g="0" b="0"/>
        </a:fillRef>
        <a:effectRef idx="2">
          <a:scrgbClr r="0" g="0" b="0"/>
        </a:effectRef>
        <a:fontRef idx="minor"/>
      </dsp:style>
    </dsp:sp>
    <dsp:sp modelId="{58893B8B-7919-3541-8D99-D3AEC91FB799}">
      <dsp:nvSpPr>
        <dsp:cNvPr id="0" name=""/>
        <dsp:cNvSpPr/>
      </dsp:nvSpPr>
      <dsp:spPr>
        <a:xfrm>
          <a:off x="3616" y="0"/>
          <a:ext cx="2386905" cy="19812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b" anchorCtr="0">
          <a:noAutofit/>
        </a:bodyPr>
        <a:lstStyle/>
        <a:p>
          <a:pPr marL="0" lvl="0" indent="0" algn="ctr" defTabSz="844550" rtl="0">
            <a:lnSpc>
              <a:spcPct val="90000"/>
            </a:lnSpc>
            <a:spcBef>
              <a:spcPct val="0"/>
            </a:spcBef>
            <a:spcAft>
              <a:spcPct val="35000"/>
            </a:spcAft>
            <a:buNone/>
          </a:pPr>
          <a:r>
            <a:rPr lang="en-US" sz="1900" kern="1200" dirty="0"/>
            <a:t>Local data variables are accessible only by the monitor’s procedures and not by any external procedure</a:t>
          </a:r>
        </a:p>
      </dsp:txBody>
      <dsp:txXfrm>
        <a:off x="3616" y="0"/>
        <a:ext cx="2386905" cy="1981200"/>
      </dsp:txXfrm>
    </dsp:sp>
    <dsp:sp modelId="{A1A147BE-7D78-004C-B935-FAA4F498AEEE}">
      <dsp:nvSpPr>
        <dsp:cNvPr id="0" name=""/>
        <dsp:cNvSpPr/>
      </dsp:nvSpPr>
      <dsp:spPr>
        <a:xfrm>
          <a:off x="949419" y="2228849"/>
          <a:ext cx="495300" cy="495300"/>
        </a:xfrm>
        <a:prstGeom prst="ellipse">
          <a:avLst/>
        </a:prstGeom>
        <a:solidFill>
          <a:schemeClr val="bg1">
            <a:lumMod val="85000"/>
          </a:schemeClr>
        </a:solidFill>
        <a:ln>
          <a:noFill/>
        </a:ln>
        <a:effectLst/>
      </dsp:spPr>
      <dsp:style>
        <a:lnRef idx="0">
          <a:scrgbClr r="0" g="0" b="0"/>
        </a:lnRef>
        <a:fillRef idx="3">
          <a:scrgbClr r="0" g="0" b="0"/>
        </a:fillRef>
        <a:effectRef idx="2">
          <a:scrgbClr r="0" g="0" b="0"/>
        </a:effectRef>
        <a:fontRef idx="minor">
          <a:schemeClr val="lt1"/>
        </a:fontRef>
      </dsp:style>
    </dsp:sp>
    <dsp:sp modelId="{5F9EB354-648F-9643-A087-BCC60CED9639}">
      <dsp:nvSpPr>
        <dsp:cNvPr id="0" name=""/>
        <dsp:cNvSpPr/>
      </dsp:nvSpPr>
      <dsp:spPr>
        <a:xfrm>
          <a:off x="2509867" y="2971800"/>
          <a:ext cx="2386905" cy="19812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t" anchorCtr="0">
          <a:noAutofit/>
        </a:bodyPr>
        <a:lstStyle/>
        <a:p>
          <a:pPr marL="0" lvl="0" indent="0" algn="ctr" defTabSz="844550" rtl="0">
            <a:lnSpc>
              <a:spcPct val="90000"/>
            </a:lnSpc>
            <a:spcBef>
              <a:spcPct val="0"/>
            </a:spcBef>
            <a:spcAft>
              <a:spcPct val="35000"/>
            </a:spcAft>
            <a:buNone/>
          </a:pPr>
          <a:r>
            <a:rPr lang="en-US" sz="1900" kern="1200" dirty="0"/>
            <a:t>Process enters monitor by invoking one of its procedures</a:t>
          </a:r>
        </a:p>
      </dsp:txBody>
      <dsp:txXfrm>
        <a:off x="2509867" y="2971800"/>
        <a:ext cx="2386905" cy="1981200"/>
      </dsp:txXfrm>
    </dsp:sp>
    <dsp:sp modelId="{5BF15F84-4D4A-644D-84F8-62271DC370A9}">
      <dsp:nvSpPr>
        <dsp:cNvPr id="0" name=""/>
        <dsp:cNvSpPr/>
      </dsp:nvSpPr>
      <dsp:spPr>
        <a:xfrm>
          <a:off x="3455669" y="2228849"/>
          <a:ext cx="495300" cy="495300"/>
        </a:xfrm>
        <a:prstGeom prst="ellipse">
          <a:avLst/>
        </a:prstGeom>
        <a:solidFill>
          <a:schemeClr val="bg1">
            <a:lumMod val="85000"/>
          </a:schemeClr>
        </a:solidFill>
        <a:ln>
          <a:noFill/>
        </a:ln>
        <a:effectLst/>
      </dsp:spPr>
      <dsp:style>
        <a:lnRef idx="0">
          <a:scrgbClr r="0" g="0" b="0"/>
        </a:lnRef>
        <a:fillRef idx="3">
          <a:scrgbClr r="0" g="0" b="0"/>
        </a:fillRef>
        <a:effectRef idx="2">
          <a:scrgbClr r="0" g="0" b="0"/>
        </a:effectRef>
        <a:fontRef idx="minor">
          <a:schemeClr val="lt1"/>
        </a:fontRef>
      </dsp:style>
    </dsp:sp>
    <dsp:sp modelId="{566C022D-D681-2E41-B689-7BBB02AA63E8}">
      <dsp:nvSpPr>
        <dsp:cNvPr id="0" name=""/>
        <dsp:cNvSpPr/>
      </dsp:nvSpPr>
      <dsp:spPr>
        <a:xfrm>
          <a:off x="5016118" y="0"/>
          <a:ext cx="2386905" cy="19812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b" anchorCtr="0">
          <a:noAutofit/>
        </a:bodyPr>
        <a:lstStyle/>
        <a:p>
          <a:pPr marL="0" lvl="0" indent="0" algn="ctr" defTabSz="844550" rtl="0">
            <a:lnSpc>
              <a:spcPct val="90000"/>
            </a:lnSpc>
            <a:spcBef>
              <a:spcPct val="0"/>
            </a:spcBef>
            <a:spcAft>
              <a:spcPct val="35000"/>
            </a:spcAft>
            <a:buNone/>
          </a:pPr>
          <a:r>
            <a:rPr lang="en-US" sz="1900" kern="1200" dirty="0"/>
            <a:t>Only one process may be executing in the monitor at a time</a:t>
          </a:r>
        </a:p>
      </dsp:txBody>
      <dsp:txXfrm>
        <a:off x="5016118" y="0"/>
        <a:ext cx="2386905" cy="1981200"/>
      </dsp:txXfrm>
    </dsp:sp>
    <dsp:sp modelId="{C07DF334-9E43-C046-A30B-E200F2167D98}">
      <dsp:nvSpPr>
        <dsp:cNvPr id="0" name=""/>
        <dsp:cNvSpPr/>
      </dsp:nvSpPr>
      <dsp:spPr>
        <a:xfrm>
          <a:off x="5961920" y="2228849"/>
          <a:ext cx="495300" cy="495300"/>
        </a:xfrm>
        <a:prstGeom prst="ellipse">
          <a:avLst/>
        </a:prstGeom>
        <a:solidFill>
          <a:schemeClr val="bg1">
            <a:lumMod val="85000"/>
          </a:schemeClr>
        </a:solidFill>
        <a:ln>
          <a:noFill/>
        </a:ln>
        <a:effectLst/>
      </dsp:spPr>
      <dsp:style>
        <a:lnRef idx="0">
          <a:scrgbClr r="0" g="0" b="0"/>
        </a:lnRef>
        <a:fillRef idx="3">
          <a:scrgbClr r="0" g="0" b="0"/>
        </a:fillRef>
        <a:effectRef idx="2">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E18EEA1-4D9D-BA40-A54F-EBBF600C1F0D}">
      <dsp:nvSpPr>
        <dsp:cNvPr id="0" name=""/>
        <dsp:cNvSpPr/>
      </dsp:nvSpPr>
      <dsp:spPr>
        <a:xfrm flipH="1">
          <a:off x="457230" y="107263"/>
          <a:ext cx="1828836" cy="691963"/>
        </a:xfrm>
        <a:prstGeom prst="roundRect">
          <a:avLst/>
        </a:prstGeom>
        <a:blipFill rotWithShape="0">
          <a:blip xmlns:r="http://schemas.openxmlformats.org/officeDocument/2006/relationships" r:embed="rId1"/>
          <a:tile tx="0" ty="0" sx="100000" sy="100000" flip="none" algn="tl"/>
        </a:blip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rtl="0">
            <a:lnSpc>
              <a:spcPct val="90000"/>
            </a:lnSpc>
            <a:spcBef>
              <a:spcPct val="0"/>
            </a:spcBef>
            <a:spcAft>
              <a:spcPct val="35000"/>
            </a:spcAft>
            <a:buNone/>
          </a:pPr>
          <a:r>
            <a:rPr lang="en-NZ" sz="2800" b="1" i="0" kern="1200" dirty="0">
              <a:solidFill>
                <a:schemeClr val="tx2">
                  <a:lumMod val="75000"/>
                </a:schemeClr>
              </a:solidFill>
            </a:rPr>
            <a:t>Messages</a:t>
          </a:r>
          <a:endParaRPr lang="en-US" sz="2800" b="1" i="0" kern="1200" dirty="0">
            <a:solidFill>
              <a:schemeClr val="tx2">
                <a:lumMod val="75000"/>
              </a:schemeClr>
            </a:solidFill>
          </a:endParaRPr>
        </a:p>
      </dsp:txBody>
      <dsp:txXfrm>
        <a:off x="491009" y="141042"/>
        <a:ext cx="1761278" cy="624405"/>
      </dsp:txXfrm>
    </dsp:sp>
    <dsp:sp modelId="{1AA0D145-BAF9-AB45-9218-5222637AD0A7}">
      <dsp:nvSpPr>
        <dsp:cNvPr id="0" name=""/>
        <dsp:cNvSpPr/>
      </dsp:nvSpPr>
      <dsp:spPr>
        <a:xfrm>
          <a:off x="457273" y="814212"/>
          <a:ext cx="8077126" cy="612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70967" tIns="25400" rIns="142240" bIns="25400" numCol="1" spcCol="1270" anchor="t" anchorCtr="0">
          <a:noAutofit/>
        </a:bodyPr>
        <a:lstStyle/>
        <a:p>
          <a:pPr marL="228600" lvl="1" indent="-228600" algn="l" defTabSz="889000" rtl="0">
            <a:lnSpc>
              <a:spcPct val="90000"/>
            </a:lnSpc>
            <a:spcBef>
              <a:spcPct val="0"/>
            </a:spcBef>
            <a:spcAft>
              <a:spcPct val="20000"/>
            </a:spcAft>
            <a:buChar char="•"/>
          </a:pPr>
          <a:r>
            <a:rPr lang="en-US" sz="2000" kern="1200" dirty="0"/>
            <a:t>Useful for the enforcement of mutual exclusion discipline</a:t>
          </a:r>
        </a:p>
      </dsp:txBody>
      <dsp:txXfrm>
        <a:off x="457273" y="814212"/>
        <a:ext cx="8077126" cy="612121"/>
      </dsp:txXfrm>
    </dsp:sp>
    <dsp:sp modelId="{39F79FF8-618D-3D47-BEF9-9B29B6C3E2C8}">
      <dsp:nvSpPr>
        <dsp:cNvPr id="0" name=""/>
        <dsp:cNvSpPr/>
      </dsp:nvSpPr>
      <dsp:spPr>
        <a:xfrm>
          <a:off x="457230" y="1150250"/>
          <a:ext cx="5029065" cy="691963"/>
        </a:xfrm>
        <a:prstGeom prst="roundRect">
          <a:avLst/>
        </a:prstGeom>
        <a:blipFill rotWithShape="0">
          <a:blip xmlns:r="http://schemas.openxmlformats.org/officeDocument/2006/relationships" r:embed="rId1"/>
          <a:tile tx="0" ty="0" sx="100000" sy="100000" flip="none" algn="tl"/>
        </a:blip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rtl="0">
            <a:lnSpc>
              <a:spcPct val="90000"/>
            </a:lnSpc>
            <a:spcBef>
              <a:spcPct val="0"/>
            </a:spcBef>
            <a:spcAft>
              <a:spcPct val="35000"/>
            </a:spcAft>
            <a:buNone/>
          </a:pPr>
          <a:r>
            <a:rPr lang="en-NZ" sz="2800" b="1" i="0" kern="1200" dirty="0">
              <a:solidFill>
                <a:schemeClr val="accent2">
                  <a:lumMod val="50000"/>
                </a:schemeClr>
              </a:solidFill>
            </a:rPr>
            <a:t>Operating system themes are:</a:t>
          </a:r>
          <a:endParaRPr lang="en-US" sz="2800" b="1" i="0" kern="1200" dirty="0">
            <a:solidFill>
              <a:schemeClr val="accent2">
                <a:lumMod val="50000"/>
              </a:schemeClr>
            </a:solidFill>
          </a:endParaRPr>
        </a:p>
      </dsp:txBody>
      <dsp:txXfrm>
        <a:off x="491009" y="1184029"/>
        <a:ext cx="4961507" cy="624405"/>
      </dsp:txXfrm>
    </dsp:sp>
    <dsp:sp modelId="{B7BA34D4-2F33-CC43-9DC0-E08261428011}">
      <dsp:nvSpPr>
        <dsp:cNvPr id="0" name=""/>
        <dsp:cNvSpPr/>
      </dsp:nvSpPr>
      <dsp:spPr>
        <a:xfrm>
          <a:off x="457187" y="1869391"/>
          <a:ext cx="8077212" cy="11013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70967"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en-NZ" sz="2000" kern="1200" dirty="0"/>
            <a:t>Multiprogramming, multiprocessing, distributed processing</a:t>
          </a:r>
        </a:p>
        <a:p>
          <a:pPr marL="228600" lvl="1" indent="-228600" algn="l" defTabSz="889000">
            <a:lnSpc>
              <a:spcPct val="90000"/>
            </a:lnSpc>
            <a:spcBef>
              <a:spcPct val="0"/>
            </a:spcBef>
            <a:spcAft>
              <a:spcPct val="20000"/>
            </a:spcAft>
            <a:buChar char="•"/>
          </a:pPr>
          <a:r>
            <a:rPr lang="en-NZ" sz="2000" kern="1200" dirty="0"/>
            <a:t>Fundamental to these themes is concurrency</a:t>
          </a:r>
        </a:p>
        <a:p>
          <a:pPr marL="457200" lvl="2" indent="-228600" algn="l" defTabSz="889000">
            <a:lnSpc>
              <a:spcPct val="90000"/>
            </a:lnSpc>
            <a:spcBef>
              <a:spcPct val="0"/>
            </a:spcBef>
            <a:spcAft>
              <a:spcPct val="20000"/>
            </a:spcAft>
            <a:buChar char="•"/>
          </a:pPr>
          <a:r>
            <a:rPr lang="en-NZ" sz="2000" kern="1200" dirty="0"/>
            <a:t>issues of conflict resolution and cooperation arise</a:t>
          </a:r>
        </a:p>
      </dsp:txBody>
      <dsp:txXfrm>
        <a:off x="457187" y="1869391"/>
        <a:ext cx="8077212" cy="1101380"/>
      </dsp:txXfrm>
    </dsp:sp>
    <dsp:sp modelId="{678A52E5-79C0-6C43-9579-B04BA001439B}">
      <dsp:nvSpPr>
        <dsp:cNvPr id="0" name=""/>
        <dsp:cNvSpPr/>
      </dsp:nvSpPr>
      <dsp:spPr>
        <a:xfrm>
          <a:off x="533399" y="2843828"/>
          <a:ext cx="3962351" cy="576772"/>
        </a:xfrm>
        <a:prstGeom prst="roundRect">
          <a:avLst/>
        </a:prstGeom>
        <a:blipFill rotWithShape="0">
          <a:blip xmlns:r="http://schemas.openxmlformats.org/officeDocument/2006/relationships" r:embed="rId1"/>
          <a:tile tx="0" ty="0" sx="100000" sy="100000" flip="none" algn="tl"/>
        </a:blip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rtl="0">
            <a:lnSpc>
              <a:spcPct val="90000"/>
            </a:lnSpc>
            <a:spcBef>
              <a:spcPct val="0"/>
            </a:spcBef>
            <a:spcAft>
              <a:spcPct val="35000"/>
            </a:spcAft>
            <a:buNone/>
          </a:pPr>
          <a:r>
            <a:rPr lang="en-NZ" sz="2800" b="1" i="0" kern="1200" dirty="0">
              <a:solidFill>
                <a:schemeClr val="tx2">
                  <a:lumMod val="75000"/>
                </a:schemeClr>
              </a:solidFill>
            </a:rPr>
            <a:t>Mutual Exclusion</a:t>
          </a:r>
          <a:endParaRPr lang="en-US" sz="2800" b="1" i="0" kern="1200" dirty="0">
            <a:solidFill>
              <a:schemeClr val="tx2">
                <a:lumMod val="75000"/>
              </a:schemeClr>
            </a:solidFill>
          </a:endParaRPr>
        </a:p>
      </dsp:txBody>
      <dsp:txXfrm>
        <a:off x="561555" y="2871984"/>
        <a:ext cx="3906039" cy="520460"/>
      </dsp:txXfrm>
    </dsp:sp>
    <dsp:sp modelId="{C0B86D96-1539-9C44-B5AE-C49128619FD3}">
      <dsp:nvSpPr>
        <dsp:cNvPr id="0" name=""/>
        <dsp:cNvSpPr/>
      </dsp:nvSpPr>
      <dsp:spPr>
        <a:xfrm>
          <a:off x="533442" y="3415462"/>
          <a:ext cx="7772363" cy="14651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70967"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en-NZ" sz="2000" kern="1200" dirty="0"/>
            <a:t>Condition in which there is a set of </a:t>
          </a:r>
          <a:r>
            <a:rPr lang="en-NZ" sz="2000" kern="1200"/>
            <a:t>concurrent processes, </a:t>
          </a:r>
          <a:r>
            <a:rPr lang="en-NZ" sz="2000" kern="1200" dirty="0"/>
            <a:t>only one of which is able to access a given resource or perform a given function at any time</a:t>
          </a:r>
        </a:p>
        <a:p>
          <a:pPr marL="228600" lvl="1" indent="-228600" algn="l" defTabSz="889000">
            <a:lnSpc>
              <a:spcPct val="90000"/>
            </a:lnSpc>
            <a:spcBef>
              <a:spcPct val="0"/>
            </a:spcBef>
            <a:spcAft>
              <a:spcPct val="20000"/>
            </a:spcAft>
            <a:buChar char="•"/>
          </a:pPr>
          <a:r>
            <a:rPr lang="en-NZ" sz="2000" kern="1200" dirty="0"/>
            <a:t>One approach involves the use of special purpose machine instructions</a:t>
          </a:r>
        </a:p>
      </dsp:txBody>
      <dsp:txXfrm>
        <a:off x="533442" y="3415462"/>
        <a:ext cx="7772363" cy="1465180"/>
      </dsp:txXfrm>
    </dsp:sp>
    <dsp:sp modelId="{29787D3B-95CE-FA4A-AD8A-DC21D51C0619}">
      <dsp:nvSpPr>
        <dsp:cNvPr id="0" name=""/>
        <dsp:cNvSpPr/>
      </dsp:nvSpPr>
      <dsp:spPr>
        <a:xfrm>
          <a:off x="533400" y="4991604"/>
          <a:ext cx="3047975" cy="608028"/>
        </a:xfrm>
        <a:prstGeom prst="roundRect">
          <a:avLst/>
        </a:prstGeom>
        <a:blipFill rotWithShape="0">
          <a:blip xmlns:r="http://schemas.openxmlformats.org/officeDocument/2006/relationships" r:embed="rId1"/>
          <a:tile tx="0" ty="0" sx="100000" sy="100000" flip="none" algn="tl"/>
        </a:blip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rtl="0">
            <a:lnSpc>
              <a:spcPct val="90000"/>
            </a:lnSpc>
            <a:spcBef>
              <a:spcPct val="0"/>
            </a:spcBef>
            <a:spcAft>
              <a:spcPct val="35000"/>
            </a:spcAft>
            <a:buNone/>
          </a:pPr>
          <a:r>
            <a:rPr lang="en-NZ" sz="2800" b="1" i="0" kern="1200" dirty="0">
              <a:solidFill>
                <a:schemeClr val="accent2">
                  <a:lumMod val="50000"/>
                </a:schemeClr>
              </a:solidFill>
            </a:rPr>
            <a:t>Semaphores</a:t>
          </a:r>
        </a:p>
      </dsp:txBody>
      <dsp:txXfrm>
        <a:off x="563081" y="5021285"/>
        <a:ext cx="2988613" cy="548666"/>
      </dsp:txXfrm>
    </dsp:sp>
    <dsp:sp modelId="{374ABFB9-0798-1149-9B46-963B5940BD3B}">
      <dsp:nvSpPr>
        <dsp:cNvPr id="0" name=""/>
        <dsp:cNvSpPr/>
      </dsp:nvSpPr>
      <dsp:spPr>
        <a:xfrm>
          <a:off x="609697" y="5625721"/>
          <a:ext cx="7924702" cy="612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70967"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en-NZ" sz="2000" kern="1200" dirty="0"/>
            <a:t>Used for signaling among processes and can be readily used to enforce a mutual exclusion discipline</a:t>
          </a:r>
        </a:p>
      </dsp:txBody>
      <dsp:txXfrm>
        <a:off x="609697" y="5625721"/>
        <a:ext cx="7924702" cy="612121"/>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defRPr>
            </a:lvl1pPr>
          </a:lstStyle>
          <a:p>
            <a:pPr>
              <a:defRPr/>
            </a:pP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defRPr>
            </a:lvl1pPr>
          </a:lstStyle>
          <a:p>
            <a:pPr>
              <a:defRPr/>
            </a:pPr>
            <a:fld id="{0118C455-DCBE-41F6-9A52-324D6BC54AEC}" type="datetimeFigureOut">
              <a:rPr lang="en-US"/>
              <a:pPr>
                <a:defRPr/>
              </a:pPr>
              <a:t>30-Apr-2024</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defRPr>
            </a:lvl1pPr>
          </a:lstStyle>
          <a:p>
            <a:pPr>
              <a:defRPr/>
            </a:pP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defRPr>
            </a:lvl1pPr>
          </a:lstStyle>
          <a:p>
            <a:pPr>
              <a:defRPr/>
            </a:pPr>
            <a:fld id="{B1F781F4-099F-4112-9B1E-8A4E4163911A}" type="slidenum">
              <a:rPr lang="en-US"/>
              <a:pPr>
                <a:defRPr/>
              </a:pPr>
              <a:t>‹#›</a:t>
            </a:fld>
            <a:endParaRPr 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latin typeface="Times New Roman" pitchFamily="-106" charset="0"/>
                <a:ea typeface="ＭＳ Ｐゴシック" pitchFamily="-106" charset="-128"/>
                <a:cs typeface="ＭＳ Ｐゴシック" pitchFamily="-106" charset="-128"/>
              </a:rPr>
              <a:t>“</a:t>
            </a:r>
            <a:r>
              <a:rPr kumimoji="1" lang="en-US" dirty="0">
                <a:latin typeface="Times New Roman" pitchFamily="-106" charset="0"/>
                <a:ea typeface="ＭＳ Ｐゴシック" pitchFamily="-106" charset="-128"/>
                <a:cs typeface="ＭＳ Ｐゴシック" pitchFamily="-106" charset="-128"/>
              </a:rPr>
              <a:t>Operating</a:t>
            </a:r>
            <a:r>
              <a:rPr kumimoji="1" lang="en-US" baseline="0" dirty="0">
                <a:latin typeface="Times New Roman" pitchFamily="-106" charset="0"/>
                <a:ea typeface="ＭＳ Ｐゴシック" pitchFamily="-106" charset="-128"/>
                <a:cs typeface="ＭＳ Ｐゴシック" pitchFamily="-106" charset="-128"/>
              </a:rPr>
              <a:t> Systems: Internal and Design Principles</a:t>
            </a:r>
            <a:r>
              <a:rPr lang="en-US" dirty="0">
                <a:latin typeface="Times New Roman" pitchFamily="-106" charset="0"/>
                <a:ea typeface="ＭＳ Ｐゴシック" pitchFamily="-106" charset="-128"/>
                <a:cs typeface="ＭＳ Ｐゴシック" pitchFamily="-106" charset="-128"/>
              </a:rPr>
              <a:t>”, 7/e, by William Stallings, Chapter 5 “</a:t>
            </a:r>
            <a:r>
              <a:rPr kumimoji="1" lang="en-GB" dirty="0">
                <a:latin typeface="Times New Roman" pitchFamily="-106" charset="0"/>
                <a:ea typeface="ＭＳ Ｐゴシック" pitchFamily="-106" charset="-128"/>
                <a:cs typeface="ＭＳ Ｐゴシック" pitchFamily="-106" charset="-128"/>
              </a:rPr>
              <a:t>Concurrency:</a:t>
            </a:r>
            <a:r>
              <a:rPr kumimoji="1" lang="en-GB" baseline="0" dirty="0">
                <a:latin typeface="Times New Roman" pitchFamily="-106" charset="0"/>
                <a:ea typeface="ＭＳ Ｐゴシック" pitchFamily="-106" charset="-128"/>
                <a:cs typeface="ＭＳ Ｐゴシック" pitchFamily="-106" charset="-128"/>
              </a:rPr>
              <a:t> Mutual Exclusion and Synchronization</a:t>
            </a:r>
            <a:r>
              <a:rPr lang="en-US" dirty="0">
                <a:latin typeface="Times New Roman" pitchFamily="-106" charset="0"/>
                <a:ea typeface="ＭＳ Ｐゴシック" pitchFamily="-106" charset="-128"/>
                <a:cs typeface="ＭＳ Ｐゴシック" pitchFamily="-106" charset="-128"/>
              </a:rPr>
              <a:t>”.</a:t>
            </a:r>
            <a:endParaRPr lang="en-AU" dirty="0">
              <a:latin typeface="Times New Roman" pitchFamily="-106" charset="0"/>
              <a:ea typeface="ＭＳ Ｐゴシック" pitchFamily="-106" charset="-128"/>
              <a:cs typeface="ＭＳ Ｐゴシック" pitchFamily="-106" charset="-128"/>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10000"/>
          </a:bodyPr>
          <a:lstStyle/>
          <a:p>
            <a:r>
              <a:rPr lang="en-US" sz="1200" kern="1200" baseline="0" dirty="0">
                <a:solidFill>
                  <a:schemeClr val="tx1"/>
                </a:solidFill>
                <a:latin typeface="+mn-lt"/>
                <a:ea typeface="+mn-ea"/>
                <a:cs typeface="+mn-cs"/>
              </a:rPr>
              <a:t>The fundamental principle is this: Two or more processes can cooperate by means of simple signals, such that a process can be forced to stop at a specified place until it has received a specific signal. Any complex coordination requirement can be satisfied by the appropriate structure of signals. For signaling, special variables called semaphores are used. To transmit a signal via semaphore </a:t>
            </a:r>
            <a:r>
              <a:rPr lang="en-US" sz="1200" kern="1200" baseline="0" dirty="0" err="1">
                <a:solidFill>
                  <a:schemeClr val="tx1"/>
                </a:solidFill>
                <a:latin typeface="+mn-lt"/>
                <a:ea typeface="+mn-ea"/>
                <a:cs typeface="+mn-cs"/>
              </a:rPr>
              <a:t>s</a:t>
            </a:r>
            <a:r>
              <a:rPr lang="en-US" sz="1200" kern="1200" baseline="0" dirty="0">
                <a:solidFill>
                  <a:schemeClr val="tx1"/>
                </a:solidFill>
                <a:latin typeface="+mn-lt"/>
                <a:ea typeface="+mn-ea"/>
                <a:cs typeface="+mn-cs"/>
              </a:rPr>
              <a:t> , a process executes the primitive </a:t>
            </a:r>
            <a:r>
              <a:rPr lang="en-US" sz="1200" kern="1200" baseline="0" dirty="0" err="1">
                <a:solidFill>
                  <a:schemeClr val="tx1"/>
                </a:solidFill>
                <a:latin typeface="+mn-lt"/>
                <a:ea typeface="+mn-ea"/>
                <a:cs typeface="+mn-cs"/>
              </a:rPr>
              <a:t>semSignal(s</a:t>
            </a:r>
            <a:r>
              <a:rPr lang="en-US" sz="1200" kern="1200" baseline="0" dirty="0">
                <a:solidFill>
                  <a:schemeClr val="tx1"/>
                </a:solidFill>
                <a:latin typeface="+mn-lt"/>
                <a:ea typeface="+mn-ea"/>
                <a:cs typeface="+mn-cs"/>
              </a:rPr>
              <a:t>) . To receive a signal via semaphore </a:t>
            </a:r>
            <a:r>
              <a:rPr lang="en-US" sz="1200" kern="1200" baseline="0" dirty="0" err="1">
                <a:solidFill>
                  <a:schemeClr val="tx1"/>
                </a:solidFill>
                <a:latin typeface="+mn-lt"/>
                <a:ea typeface="+mn-ea"/>
                <a:cs typeface="+mn-cs"/>
              </a:rPr>
              <a:t>s</a:t>
            </a:r>
            <a:r>
              <a:rPr lang="en-US" sz="1200" kern="1200" baseline="0" dirty="0">
                <a:solidFill>
                  <a:schemeClr val="tx1"/>
                </a:solidFill>
                <a:latin typeface="+mn-lt"/>
                <a:ea typeface="+mn-ea"/>
                <a:cs typeface="+mn-cs"/>
              </a:rPr>
              <a:t> , a process executes the primitive </a:t>
            </a:r>
            <a:r>
              <a:rPr lang="en-US" sz="1200" kern="1200" baseline="0" dirty="0" err="1">
                <a:solidFill>
                  <a:schemeClr val="tx1"/>
                </a:solidFill>
                <a:latin typeface="+mn-lt"/>
                <a:ea typeface="+mn-ea"/>
                <a:cs typeface="+mn-cs"/>
              </a:rPr>
              <a:t>semWait(s</a:t>
            </a:r>
            <a:r>
              <a:rPr lang="en-US" sz="1200" kern="1200" baseline="0" dirty="0">
                <a:solidFill>
                  <a:schemeClr val="tx1"/>
                </a:solidFill>
                <a:latin typeface="+mn-lt"/>
                <a:ea typeface="+mn-ea"/>
                <a:cs typeface="+mn-cs"/>
              </a:rPr>
              <a:t>) ; if the corresponding signal has not yet been transmitted, the process is suspended until the transmission takes place.  </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To achieve the desired effect, we can view the semaphore as a variable that has an integer value upon which only three operations are defined:</a:t>
            </a:r>
          </a:p>
          <a:p>
            <a:r>
              <a:rPr lang="en-US" sz="1200" b="1" kern="1200" baseline="0" dirty="0">
                <a:solidFill>
                  <a:schemeClr val="tx1"/>
                </a:solidFill>
                <a:latin typeface="+mn-lt"/>
                <a:ea typeface="+mn-ea"/>
                <a:cs typeface="+mn-cs"/>
              </a:rPr>
              <a:t>1. A semaphore may be initialized to a nonnegative integer value.</a:t>
            </a:r>
          </a:p>
          <a:p>
            <a:r>
              <a:rPr lang="en-US" sz="1200" b="1" kern="1200" baseline="0" dirty="0">
                <a:solidFill>
                  <a:schemeClr val="tx1"/>
                </a:solidFill>
                <a:latin typeface="+mn-lt"/>
                <a:ea typeface="+mn-ea"/>
                <a:cs typeface="+mn-cs"/>
              </a:rPr>
              <a:t>2. The </a:t>
            </a:r>
            <a:r>
              <a:rPr lang="en-US" sz="1200" b="1" kern="1200" baseline="0" dirty="0" err="1">
                <a:solidFill>
                  <a:schemeClr val="tx1"/>
                </a:solidFill>
                <a:latin typeface="+mn-lt"/>
                <a:ea typeface="+mn-ea"/>
                <a:cs typeface="+mn-cs"/>
              </a:rPr>
              <a:t>semWait</a:t>
            </a:r>
            <a:r>
              <a:rPr lang="en-US" sz="1200" b="1" kern="1200" baseline="0" dirty="0">
                <a:solidFill>
                  <a:schemeClr val="tx1"/>
                </a:solidFill>
                <a:latin typeface="+mn-lt"/>
                <a:ea typeface="+mn-ea"/>
                <a:cs typeface="+mn-cs"/>
              </a:rPr>
              <a:t> operation decrements the semaphore value. </a:t>
            </a:r>
            <a:r>
              <a:rPr lang="en-US" sz="1200" b="0" kern="1200" baseline="0" dirty="0">
                <a:solidFill>
                  <a:schemeClr val="tx1"/>
                </a:solidFill>
                <a:latin typeface="+mn-lt"/>
                <a:ea typeface="+mn-ea"/>
                <a:cs typeface="+mn-cs"/>
              </a:rPr>
              <a:t>If the value </a:t>
            </a:r>
            <a:r>
              <a:rPr lang="en-US" sz="1200" kern="1200" baseline="0" dirty="0">
                <a:solidFill>
                  <a:schemeClr val="tx1"/>
                </a:solidFill>
                <a:latin typeface="+mn-lt"/>
                <a:ea typeface="+mn-ea"/>
                <a:cs typeface="+mn-cs"/>
              </a:rPr>
              <a:t>becomes negative, then the process executing the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is blocked.</a:t>
            </a:r>
          </a:p>
          <a:p>
            <a:r>
              <a:rPr lang="en-US" sz="1200" kern="1200" baseline="0" dirty="0">
                <a:solidFill>
                  <a:schemeClr val="tx1"/>
                </a:solidFill>
                <a:latin typeface="+mn-lt"/>
                <a:ea typeface="+mn-ea"/>
                <a:cs typeface="+mn-cs"/>
              </a:rPr>
              <a:t>Otherwise, the process continues execution.</a:t>
            </a:r>
          </a:p>
          <a:p>
            <a:r>
              <a:rPr lang="en-US" sz="1200" b="1" kern="1200" baseline="0" dirty="0">
                <a:solidFill>
                  <a:schemeClr val="tx1"/>
                </a:solidFill>
                <a:latin typeface="+mn-lt"/>
                <a:ea typeface="+mn-ea"/>
                <a:cs typeface="+mn-cs"/>
              </a:rPr>
              <a:t>3. The </a:t>
            </a:r>
            <a:r>
              <a:rPr lang="en-US" sz="1200" b="1" kern="1200" baseline="0" dirty="0" err="1">
                <a:solidFill>
                  <a:schemeClr val="tx1"/>
                </a:solidFill>
                <a:latin typeface="+mn-lt"/>
                <a:ea typeface="+mn-ea"/>
                <a:cs typeface="+mn-cs"/>
              </a:rPr>
              <a:t>semSignal</a:t>
            </a:r>
            <a:r>
              <a:rPr lang="en-US" sz="1200" b="1" kern="1200" baseline="0" dirty="0">
                <a:solidFill>
                  <a:schemeClr val="tx1"/>
                </a:solidFill>
                <a:latin typeface="+mn-lt"/>
                <a:ea typeface="+mn-ea"/>
                <a:cs typeface="+mn-cs"/>
              </a:rPr>
              <a:t> operation increments the semaphore value</a:t>
            </a:r>
            <a:r>
              <a:rPr lang="en-US" sz="1200" b="0" kern="1200" baseline="0" dirty="0">
                <a:solidFill>
                  <a:schemeClr val="tx1"/>
                </a:solidFill>
                <a:latin typeface="+mn-lt"/>
                <a:ea typeface="+mn-ea"/>
                <a:cs typeface="+mn-cs"/>
              </a:rPr>
              <a:t>. If the resulting </a:t>
            </a:r>
            <a:r>
              <a:rPr lang="en-US" sz="1200" kern="1200" baseline="0" dirty="0">
                <a:solidFill>
                  <a:schemeClr val="tx1"/>
                </a:solidFill>
                <a:latin typeface="+mn-lt"/>
                <a:ea typeface="+mn-ea"/>
                <a:cs typeface="+mn-cs"/>
              </a:rPr>
              <a:t>value is less than or equal to zero, then a process blocked by a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operation,</a:t>
            </a:r>
          </a:p>
          <a:p>
            <a:r>
              <a:rPr lang="en-US" sz="1200" kern="1200" baseline="0" dirty="0">
                <a:solidFill>
                  <a:schemeClr val="tx1"/>
                </a:solidFill>
                <a:latin typeface="+mn-lt"/>
                <a:ea typeface="+mn-ea"/>
                <a:cs typeface="+mn-cs"/>
              </a:rPr>
              <a:t>if any, is unblocked. Other than these three operations, there is no way to inspect or manipulate semaphores.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We explain these operations as follows. To begin, the semaphore has a zero or positive value. If the value is positive, that value equals the number of processes that can issue a wait and immediately continue to execute. If the value is zero, either by initialization or because a number of processes equal to the initial semaphore value have issued a wait, the next process to issue a wait is blocked, and the semaphore value goes negative. Each subsequent wait drives the semaphore value further into minus territory. The negative value equals the number of processes waiting to be unblocked. Each signal unblocks one of the waiting processes when the semaphore value is negative.</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a:t>
            </a:fld>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[DOWN08] points out three interesting consequences of the semaphore definition:</a:t>
            </a:r>
          </a:p>
          <a:p>
            <a:r>
              <a:rPr lang="en-US" sz="1200" kern="1200" baseline="0" dirty="0">
                <a:solidFill>
                  <a:schemeClr val="tx1"/>
                </a:solidFill>
                <a:latin typeface="+mn-lt"/>
                <a:ea typeface="+mn-ea"/>
                <a:cs typeface="+mn-cs"/>
              </a:rPr>
              <a:t>• In general, there is no way to know before a process decrements a semaphore whether it will block or not.</a:t>
            </a:r>
          </a:p>
          <a:p>
            <a:pPr>
              <a:buFont typeface="Arial"/>
              <a:buChar char="•"/>
            </a:pPr>
            <a:r>
              <a:rPr lang="en-US" sz="1200" kern="1200" baseline="0" dirty="0">
                <a:solidFill>
                  <a:schemeClr val="tx1"/>
                </a:solidFill>
                <a:latin typeface="+mn-lt"/>
                <a:ea typeface="+mn-ea"/>
                <a:cs typeface="+mn-cs"/>
              </a:rPr>
              <a:t>After a process increments a semaphore and another process gets woken up, both processes continue running concurrently. There is no way to know which process, if either, will continue immediately on a </a:t>
            </a:r>
            <a:r>
              <a:rPr lang="en-US" sz="1200" kern="1200" baseline="0" dirty="0" err="1">
                <a:solidFill>
                  <a:schemeClr val="tx1"/>
                </a:solidFill>
                <a:latin typeface="+mn-lt"/>
                <a:ea typeface="+mn-ea"/>
                <a:cs typeface="+mn-cs"/>
              </a:rPr>
              <a:t>uniprocessor</a:t>
            </a:r>
            <a:r>
              <a:rPr lang="en-US" sz="1200" kern="1200" baseline="0" dirty="0">
                <a:solidFill>
                  <a:schemeClr val="tx1"/>
                </a:solidFill>
                <a:latin typeface="+mn-lt"/>
                <a:ea typeface="+mn-ea"/>
                <a:cs typeface="+mn-cs"/>
              </a:rPr>
              <a:t> system.</a:t>
            </a:r>
          </a:p>
          <a:p>
            <a:r>
              <a:rPr lang="en-US" sz="1200" kern="1200" baseline="0" dirty="0">
                <a:solidFill>
                  <a:schemeClr val="tx1"/>
                </a:solidFill>
                <a:latin typeface="+mn-lt"/>
                <a:ea typeface="+mn-ea"/>
                <a:cs typeface="+mn-cs"/>
              </a:rPr>
              <a:t>• When you signal a semaphore, you don’t necessarily know whether another process is waiting, so the number of unblocked processes may be zero or one. </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3</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Figure 5.3 suggests a more formal definition of the primitives for semaphores. The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and </a:t>
            </a:r>
            <a:r>
              <a:rPr lang="en-US" sz="1200" kern="1200" baseline="0" dirty="0" err="1">
                <a:solidFill>
                  <a:schemeClr val="tx1"/>
                </a:solidFill>
                <a:latin typeface="+mn-lt"/>
                <a:ea typeface="+mn-ea"/>
                <a:cs typeface="+mn-cs"/>
              </a:rPr>
              <a:t>semSignal</a:t>
            </a:r>
            <a:r>
              <a:rPr lang="en-US" sz="1200" kern="1200" baseline="0" dirty="0">
                <a:solidFill>
                  <a:schemeClr val="tx1"/>
                </a:solidFill>
                <a:latin typeface="+mn-lt"/>
                <a:ea typeface="+mn-ea"/>
                <a:cs typeface="+mn-cs"/>
              </a:rPr>
              <a:t> primitives are assumed to be atomic.</a:t>
            </a:r>
          </a:p>
          <a:p>
            <a:endParaRPr lang="en-US" sz="1200" kern="1200" baseline="0" dirty="0">
              <a:solidFill>
                <a:schemeClr val="tx1"/>
              </a:solidFill>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4</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baseline="0" dirty="0">
                <a:solidFill>
                  <a:schemeClr val="tx1"/>
                </a:solidFill>
                <a:latin typeface="+mn-lt"/>
                <a:ea typeface="+mn-ea"/>
                <a:cs typeface="+mn-cs"/>
              </a:rPr>
              <a:t>A more restricted version, known as the </a:t>
            </a:r>
            <a:r>
              <a:rPr lang="en-US" sz="1200" b="1" kern="1200" baseline="0" dirty="0">
                <a:solidFill>
                  <a:schemeClr val="tx1"/>
                </a:solidFill>
                <a:latin typeface="+mn-lt"/>
                <a:ea typeface="+mn-ea"/>
                <a:cs typeface="+mn-cs"/>
              </a:rPr>
              <a:t>binary semaphore , </a:t>
            </a:r>
            <a:r>
              <a:rPr lang="en-US" sz="1200" b="0" kern="1200" baseline="0" dirty="0">
                <a:solidFill>
                  <a:schemeClr val="tx1"/>
                </a:solidFill>
                <a:latin typeface="+mn-lt"/>
                <a:ea typeface="+mn-ea"/>
                <a:cs typeface="+mn-cs"/>
              </a:rPr>
              <a:t>is defined in Figure 5.4 . </a:t>
            </a:r>
            <a:r>
              <a:rPr lang="en-US" sz="1200" kern="1200" baseline="0" dirty="0">
                <a:solidFill>
                  <a:schemeClr val="tx1"/>
                </a:solidFill>
                <a:latin typeface="+mn-lt"/>
                <a:ea typeface="+mn-ea"/>
                <a:cs typeface="+mn-cs"/>
              </a:rPr>
              <a:t>A binary semaphore may only take on the values 0 and 1 and can be defined by the</a:t>
            </a:r>
          </a:p>
          <a:p>
            <a:r>
              <a:rPr lang="en-US" sz="1200" kern="1200" baseline="0" dirty="0">
                <a:solidFill>
                  <a:schemeClr val="tx1"/>
                </a:solidFill>
                <a:latin typeface="+mn-lt"/>
                <a:ea typeface="+mn-ea"/>
                <a:cs typeface="+mn-cs"/>
              </a:rPr>
              <a:t>following three operations:</a:t>
            </a:r>
          </a:p>
          <a:p>
            <a:r>
              <a:rPr lang="en-US" sz="1200" b="0" kern="1200" baseline="0" dirty="0">
                <a:solidFill>
                  <a:schemeClr val="tx1"/>
                </a:solidFill>
                <a:latin typeface="+mn-lt"/>
                <a:ea typeface="+mn-ea"/>
                <a:cs typeface="+mn-cs"/>
              </a:rPr>
              <a:t>1. A binary semaphore may be initialized to 0 or 1.</a:t>
            </a:r>
          </a:p>
          <a:p>
            <a:r>
              <a:rPr lang="en-US" sz="1200" b="0" kern="1200" baseline="0" dirty="0">
                <a:solidFill>
                  <a:schemeClr val="tx1"/>
                </a:solidFill>
                <a:latin typeface="+mn-lt"/>
                <a:ea typeface="+mn-ea"/>
                <a:cs typeface="+mn-cs"/>
              </a:rPr>
              <a:t>2. The </a:t>
            </a:r>
            <a:r>
              <a:rPr lang="en-US" sz="1200" b="0" kern="1200" baseline="0" dirty="0" err="1">
                <a:solidFill>
                  <a:schemeClr val="tx1"/>
                </a:solidFill>
                <a:latin typeface="+mn-lt"/>
                <a:ea typeface="+mn-ea"/>
                <a:cs typeface="+mn-cs"/>
              </a:rPr>
              <a:t>semWaitB</a:t>
            </a:r>
            <a:r>
              <a:rPr lang="en-US" sz="1200" b="0" kern="1200" baseline="0" dirty="0">
                <a:solidFill>
                  <a:schemeClr val="tx1"/>
                </a:solidFill>
                <a:latin typeface="+mn-lt"/>
                <a:ea typeface="+mn-ea"/>
                <a:cs typeface="+mn-cs"/>
              </a:rPr>
              <a:t> operation checks the semaphore value</a:t>
            </a:r>
            <a:r>
              <a:rPr lang="en-US" sz="1200" b="1" kern="1200" baseline="0" dirty="0">
                <a:solidFill>
                  <a:schemeClr val="tx1"/>
                </a:solidFill>
                <a:latin typeface="+mn-lt"/>
                <a:ea typeface="+mn-ea"/>
                <a:cs typeface="+mn-cs"/>
              </a:rPr>
              <a:t>. </a:t>
            </a:r>
            <a:r>
              <a:rPr lang="en-US" sz="1200" b="0" kern="1200" baseline="0" dirty="0">
                <a:solidFill>
                  <a:schemeClr val="tx1"/>
                </a:solidFill>
                <a:latin typeface="+mn-lt"/>
                <a:ea typeface="+mn-ea"/>
                <a:cs typeface="+mn-cs"/>
              </a:rPr>
              <a:t>If the value is zero, </a:t>
            </a:r>
            <a:r>
              <a:rPr lang="en-US" sz="1200" kern="1200" baseline="0" dirty="0">
                <a:solidFill>
                  <a:schemeClr val="tx1"/>
                </a:solidFill>
                <a:latin typeface="+mn-lt"/>
                <a:ea typeface="+mn-ea"/>
                <a:cs typeface="+mn-cs"/>
              </a:rPr>
              <a:t>then the process executing the </a:t>
            </a:r>
            <a:r>
              <a:rPr lang="en-US" sz="1200" kern="1200" baseline="0" dirty="0" err="1">
                <a:solidFill>
                  <a:schemeClr val="tx1"/>
                </a:solidFill>
                <a:latin typeface="+mn-lt"/>
                <a:ea typeface="+mn-ea"/>
                <a:cs typeface="+mn-cs"/>
              </a:rPr>
              <a:t>semWaitB</a:t>
            </a:r>
            <a:r>
              <a:rPr lang="en-US" sz="1200" kern="1200" baseline="0" dirty="0">
                <a:solidFill>
                  <a:schemeClr val="tx1"/>
                </a:solidFill>
                <a:latin typeface="+mn-lt"/>
                <a:ea typeface="+mn-ea"/>
                <a:cs typeface="+mn-cs"/>
              </a:rPr>
              <a:t> is blocked. If the value is one, then the value is changed to zero and the process continues execution.</a:t>
            </a:r>
          </a:p>
          <a:p>
            <a:r>
              <a:rPr lang="en-US" sz="1200" b="0" kern="1200" baseline="0" dirty="0">
                <a:solidFill>
                  <a:schemeClr val="tx1"/>
                </a:solidFill>
                <a:latin typeface="+mn-lt"/>
                <a:ea typeface="+mn-ea"/>
                <a:cs typeface="+mn-cs"/>
              </a:rPr>
              <a:t>3. The </a:t>
            </a:r>
            <a:r>
              <a:rPr lang="en-US" sz="1200" b="0" kern="1200" baseline="0" dirty="0" err="1">
                <a:solidFill>
                  <a:schemeClr val="tx1"/>
                </a:solidFill>
                <a:latin typeface="+mn-lt"/>
                <a:ea typeface="+mn-ea"/>
                <a:cs typeface="+mn-cs"/>
              </a:rPr>
              <a:t>semSignalB</a:t>
            </a:r>
            <a:r>
              <a:rPr lang="en-US" sz="1200" b="0" kern="1200" baseline="0" dirty="0">
                <a:solidFill>
                  <a:schemeClr val="tx1"/>
                </a:solidFill>
                <a:latin typeface="+mn-lt"/>
                <a:ea typeface="+mn-ea"/>
                <a:cs typeface="+mn-cs"/>
              </a:rPr>
              <a:t> operation checks to see if any processes are blocked</a:t>
            </a:r>
            <a:r>
              <a:rPr lang="en-US" sz="1200" b="1" kern="1200" baseline="0" dirty="0">
                <a:solidFill>
                  <a:schemeClr val="tx1"/>
                </a:solidFill>
                <a:latin typeface="+mn-lt"/>
                <a:ea typeface="+mn-ea"/>
                <a:cs typeface="+mn-cs"/>
              </a:rPr>
              <a:t> </a:t>
            </a:r>
            <a:r>
              <a:rPr lang="en-US" sz="1200" b="0" kern="1200" baseline="0" dirty="0">
                <a:solidFill>
                  <a:schemeClr val="tx1"/>
                </a:solidFill>
                <a:latin typeface="+mn-lt"/>
                <a:ea typeface="+mn-ea"/>
                <a:cs typeface="+mn-cs"/>
              </a:rPr>
              <a:t>on this semaphore (semaphore value equals 0). If so, then a process blocked by a </a:t>
            </a:r>
            <a:r>
              <a:rPr lang="en-US" sz="1200" kern="1200" baseline="0" dirty="0" err="1">
                <a:solidFill>
                  <a:schemeClr val="tx1"/>
                </a:solidFill>
                <a:latin typeface="+mn-lt"/>
                <a:ea typeface="+mn-ea"/>
                <a:cs typeface="+mn-cs"/>
              </a:rPr>
              <a:t>semWaitB</a:t>
            </a:r>
            <a:r>
              <a:rPr lang="en-US" sz="1200" kern="1200" baseline="0" dirty="0">
                <a:solidFill>
                  <a:schemeClr val="tx1"/>
                </a:solidFill>
                <a:latin typeface="+mn-lt"/>
                <a:ea typeface="+mn-ea"/>
                <a:cs typeface="+mn-cs"/>
              </a:rPr>
              <a:t> operation is unblocked. If no processes are blocked, then the value of the semaphore is set to one.</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In principle, it should be easier to implement the binary semaphore, and it can be shown that it has the same expressive power as the general semaphore (see Problem 5.17). To contrast the two types of semaphores, the </a:t>
            </a:r>
            <a:r>
              <a:rPr lang="en-US" sz="1200" kern="1200" baseline="0" dirty="0" err="1">
                <a:solidFill>
                  <a:schemeClr val="tx1"/>
                </a:solidFill>
                <a:latin typeface="+mn-lt"/>
                <a:ea typeface="+mn-ea"/>
                <a:cs typeface="+mn-cs"/>
              </a:rPr>
              <a:t>nonbinary</a:t>
            </a:r>
            <a:r>
              <a:rPr lang="en-US" sz="1200" kern="1200" baseline="0" dirty="0">
                <a:solidFill>
                  <a:schemeClr val="tx1"/>
                </a:solidFill>
                <a:latin typeface="+mn-lt"/>
                <a:ea typeface="+mn-ea"/>
                <a:cs typeface="+mn-cs"/>
              </a:rPr>
              <a:t> semaphore is often referred to as either a </a:t>
            </a:r>
            <a:r>
              <a:rPr lang="en-US" sz="1200" b="1" kern="1200" baseline="0" dirty="0">
                <a:solidFill>
                  <a:schemeClr val="tx1"/>
                </a:solidFill>
                <a:latin typeface="+mn-lt"/>
                <a:ea typeface="+mn-ea"/>
                <a:cs typeface="+mn-cs"/>
              </a:rPr>
              <a:t>counting semaphore </a:t>
            </a:r>
            <a:r>
              <a:rPr lang="en-US" sz="1200" b="0" kern="1200" baseline="0" dirty="0">
                <a:solidFill>
                  <a:schemeClr val="tx1"/>
                </a:solidFill>
                <a:latin typeface="+mn-lt"/>
                <a:ea typeface="+mn-ea"/>
                <a:cs typeface="+mn-cs"/>
              </a:rPr>
              <a:t>or a</a:t>
            </a:r>
            <a:r>
              <a:rPr lang="en-US" sz="1200" b="1" kern="1200" baseline="0" dirty="0">
                <a:solidFill>
                  <a:schemeClr val="tx1"/>
                </a:solidFill>
                <a:latin typeface="+mn-lt"/>
                <a:ea typeface="+mn-ea"/>
                <a:cs typeface="+mn-cs"/>
              </a:rPr>
              <a:t> general semaphore .</a:t>
            </a:r>
          </a:p>
          <a:p>
            <a:endParaRPr lang="en-US" sz="1200" b="1"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 concept related to the binary semaphore is the </a:t>
            </a:r>
            <a:r>
              <a:rPr lang="en-US" sz="1200" b="1" kern="1200" baseline="0" dirty="0" err="1">
                <a:solidFill>
                  <a:schemeClr val="tx1"/>
                </a:solidFill>
                <a:latin typeface="+mn-lt"/>
                <a:ea typeface="+mn-ea"/>
                <a:cs typeface="+mn-cs"/>
              </a:rPr>
              <a:t>mutex</a:t>
            </a:r>
            <a:r>
              <a:rPr lang="en-US" sz="1200" b="1" kern="1200" baseline="0" dirty="0">
                <a:solidFill>
                  <a:schemeClr val="tx1"/>
                </a:solidFill>
                <a:latin typeface="+mn-lt"/>
                <a:ea typeface="+mn-ea"/>
                <a:cs typeface="+mn-cs"/>
              </a:rPr>
              <a:t> . </a:t>
            </a:r>
            <a:r>
              <a:rPr lang="en-US" sz="1200" b="0" kern="1200" baseline="0" dirty="0">
                <a:solidFill>
                  <a:schemeClr val="tx1"/>
                </a:solidFill>
                <a:latin typeface="+mn-lt"/>
                <a:ea typeface="+mn-ea"/>
                <a:cs typeface="+mn-cs"/>
              </a:rPr>
              <a:t>A key difference </a:t>
            </a:r>
            <a:r>
              <a:rPr lang="en-US" sz="1200" kern="1200" baseline="0" dirty="0">
                <a:solidFill>
                  <a:schemeClr val="tx1"/>
                </a:solidFill>
                <a:latin typeface="+mn-lt"/>
                <a:ea typeface="+mn-ea"/>
                <a:cs typeface="+mn-cs"/>
              </a:rPr>
              <a:t>between the two is that the process that locks the </a:t>
            </a:r>
            <a:r>
              <a:rPr lang="en-US" sz="1200" kern="1200" baseline="0" dirty="0" err="1">
                <a:solidFill>
                  <a:schemeClr val="tx1"/>
                </a:solidFill>
                <a:latin typeface="+mn-lt"/>
                <a:ea typeface="+mn-ea"/>
                <a:cs typeface="+mn-cs"/>
              </a:rPr>
              <a:t>mutex</a:t>
            </a:r>
            <a:r>
              <a:rPr lang="en-US" sz="1200" kern="1200" baseline="0" dirty="0">
                <a:solidFill>
                  <a:schemeClr val="tx1"/>
                </a:solidFill>
                <a:latin typeface="+mn-lt"/>
                <a:ea typeface="+mn-ea"/>
                <a:cs typeface="+mn-cs"/>
              </a:rPr>
              <a:t> (sets the value to zero) must be the one to unlock it (sets the value to 1). In contrast, it is possible for one process to lock a binary semaphore and for another to unlock it.</a:t>
            </a:r>
            <a:endParaRPr lang="en-US" b="0"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5</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For both counting semaphores and binary semaphores, a queue is used to hold processes waiting on the semaphore. The question arises of the order in which processes are removed from such a queue. The fairest removal policy is first-in-first-out (FIFO): The process that has been blocked the longest is released from the queue first; a semaphore whose definition includes this policy is called a </a:t>
            </a:r>
            <a:r>
              <a:rPr lang="en-US" sz="1200" b="1" kern="1200" baseline="0" dirty="0">
                <a:solidFill>
                  <a:schemeClr val="tx1"/>
                </a:solidFill>
                <a:latin typeface="+mn-lt"/>
                <a:ea typeface="+mn-ea"/>
                <a:cs typeface="+mn-cs"/>
              </a:rPr>
              <a:t>strong semaphore . </a:t>
            </a:r>
            <a:r>
              <a:rPr lang="en-US" sz="1200" b="0" kern="1200" baseline="0" dirty="0">
                <a:solidFill>
                  <a:schemeClr val="tx1"/>
                </a:solidFill>
                <a:latin typeface="+mn-lt"/>
                <a:ea typeface="+mn-ea"/>
                <a:cs typeface="+mn-cs"/>
              </a:rPr>
              <a:t>A semaphore that does not specify the order in which processes </a:t>
            </a:r>
            <a:r>
              <a:rPr lang="en-US" sz="1200" kern="1200" baseline="0" dirty="0">
                <a:solidFill>
                  <a:schemeClr val="tx1"/>
                </a:solidFill>
                <a:latin typeface="+mn-lt"/>
                <a:ea typeface="+mn-ea"/>
                <a:cs typeface="+mn-cs"/>
              </a:rPr>
              <a:t>are removed from the queue is a </a:t>
            </a:r>
            <a:r>
              <a:rPr lang="en-US" sz="1200" b="1" kern="1200" baseline="0" dirty="0">
                <a:solidFill>
                  <a:schemeClr val="tx1"/>
                </a:solidFill>
                <a:latin typeface="+mn-lt"/>
                <a:ea typeface="+mn-ea"/>
                <a:cs typeface="+mn-cs"/>
              </a:rPr>
              <a:t>weak semaphore .</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6</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Figure 5.5 , based on one in [DENN84], is an example of the operation of a strong semaphore. Here processes A, B, and C depend on a result from process D. Initially (1), A is running;</a:t>
            </a:r>
          </a:p>
          <a:p>
            <a:r>
              <a:rPr lang="en-US" sz="1200" kern="1200" baseline="0" dirty="0">
                <a:solidFill>
                  <a:schemeClr val="tx1"/>
                </a:solidFill>
                <a:latin typeface="+mn-lt"/>
                <a:ea typeface="+mn-ea"/>
                <a:cs typeface="+mn-cs"/>
              </a:rPr>
              <a:t>B, C, and D are ready; and the semaphore count is 1, indicating that one of D’s results is available. When A issues a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instruction on semaphore </a:t>
            </a:r>
            <a:r>
              <a:rPr lang="en-US" sz="1200" i="1" kern="1200" baseline="0" dirty="0" err="1">
                <a:solidFill>
                  <a:schemeClr val="tx1"/>
                </a:solidFill>
                <a:latin typeface="+mn-lt"/>
                <a:ea typeface="+mn-ea"/>
                <a:cs typeface="+mn-cs"/>
              </a:rPr>
              <a:t>s</a:t>
            </a:r>
            <a:r>
              <a:rPr lang="en-US" sz="1200" i="1" kern="1200" baseline="0" dirty="0">
                <a:solidFill>
                  <a:schemeClr val="tx1"/>
                </a:solidFill>
                <a:latin typeface="+mn-lt"/>
                <a:ea typeface="+mn-ea"/>
                <a:cs typeface="+mn-cs"/>
              </a:rPr>
              <a:t> , </a:t>
            </a:r>
            <a:r>
              <a:rPr lang="en-US" sz="1200" kern="1200" baseline="0" dirty="0">
                <a:solidFill>
                  <a:schemeClr val="tx1"/>
                </a:solidFill>
                <a:latin typeface="+mn-lt"/>
                <a:ea typeface="+mn-ea"/>
                <a:cs typeface="+mn-cs"/>
              </a:rPr>
              <a:t>the semaphore decrements to 0, and A can continue to execute; subsequently it rejoins the ready queue. Then B runs (2), eventually issues a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instruction, and is blocked, allowing D to run (3). When D completes a new result, it issues a </a:t>
            </a:r>
            <a:r>
              <a:rPr lang="en-US" sz="1200" kern="1200" baseline="0" dirty="0" err="1">
                <a:solidFill>
                  <a:schemeClr val="tx1"/>
                </a:solidFill>
                <a:latin typeface="+mn-lt"/>
                <a:ea typeface="+mn-ea"/>
                <a:cs typeface="+mn-cs"/>
              </a:rPr>
              <a:t>semSignal</a:t>
            </a:r>
            <a:r>
              <a:rPr lang="en-US" sz="1200" kern="1200" baseline="0" dirty="0">
                <a:solidFill>
                  <a:schemeClr val="tx1"/>
                </a:solidFill>
                <a:latin typeface="+mn-lt"/>
                <a:ea typeface="+mn-ea"/>
                <a:cs typeface="+mn-cs"/>
              </a:rPr>
              <a:t> instruction, which allows B to move to the ready queue (4). D rejoins the ready queue and C begins to run (5) but is blocked when it issues a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instruction. Similarly, A and B run and are blocked on the semaphore, allowing D to resume execution (6). When D has a result, it issues a </a:t>
            </a:r>
            <a:r>
              <a:rPr lang="en-US" sz="1200" kern="1200" baseline="0" dirty="0" err="1">
                <a:solidFill>
                  <a:schemeClr val="tx1"/>
                </a:solidFill>
                <a:latin typeface="+mn-lt"/>
                <a:ea typeface="+mn-ea"/>
                <a:cs typeface="+mn-cs"/>
              </a:rPr>
              <a:t>semSignal</a:t>
            </a:r>
            <a:r>
              <a:rPr lang="en-US" sz="1200" kern="1200" baseline="0" dirty="0">
                <a:solidFill>
                  <a:schemeClr val="tx1"/>
                </a:solidFill>
                <a:latin typeface="+mn-lt"/>
                <a:ea typeface="+mn-ea"/>
                <a:cs typeface="+mn-cs"/>
              </a:rPr>
              <a:t> , which transfers C to the ready queue. Later cycles of D will release A and B from the Blocked state.</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7</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a:bodyPr>
          <a:lstStyle/>
          <a:p>
            <a:r>
              <a:rPr lang="en-US" sz="1200" kern="1200" baseline="0" dirty="0">
                <a:solidFill>
                  <a:schemeClr val="tx1"/>
                </a:solidFill>
                <a:latin typeface="+mn-lt"/>
                <a:ea typeface="+mn-ea"/>
                <a:cs typeface="+mn-cs"/>
              </a:rPr>
              <a:t>For the mutual exclusion algorithm discussed in the next subsection and illustrated in Figure 5.6 , strong semaphores guarantee freedom from starvation, while weak semaphores do not. We will assume strong semaphores because they are more convenient and because this is the form of semaphore typically provided by operating systems.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Figure 5.6 shows a straightforward solution to the mutual exclusion problem using a semaphore </a:t>
            </a:r>
            <a:r>
              <a:rPr lang="en-US" sz="1200" i="1" kern="1200" baseline="0" dirty="0" err="1">
                <a:solidFill>
                  <a:schemeClr val="tx1"/>
                </a:solidFill>
                <a:latin typeface="+mn-lt"/>
                <a:ea typeface="+mn-ea"/>
                <a:cs typeface="+mn-cs"/>
              </a:rPr>
              <a:t>s</a:t>
            </a:r>
            <a:r>
              <a:rPr lang="en-US" sz="1200" i="1" kern="1200" baseline="0" dirty="0">
                <a:solidFill>
                  <a:schemeClr val="tx1"/>
                </a:solidFill>
                <a:latin typeface="+mn-lt"/>
                <a:ea typeface="+mn-ea"/>
                <a:cs typeface="+mn-cs"/>
              </a:rPr>
              <a:t> (compare Figure 5.1 ). Consider </a:t>
            </a:r>
            <a:r>
              <a:rPr lang="en-US" sz="1200" i="1" kern="1200" baseline="0" dirty="0" err="1">
                <a:solidFill>
                  <a:schemeClr val="tx1"/>
                </a:solidFill>
                <a:latin typeface="+mn-lt"/>
                <a:ea typeface="+mn-ea"/>
                <a:cs typeface="+mn-cs"/>
              </a:rPr>
              <a:t>n</a:t>
            </a:r>
            <a:r>
              <a:rPr lang="en-US" sz="1200" i="1" kern="1200" baseline="0" dirty="0">
                <a:solidFill>
                  <a:schemeClr val="tx1"/>
                </a:solidFill>
                <a:latin typeface="+mn-lt"/>
                <a:ea typeface="+mn-ea"/>
                <a:cs typeface="+mn-cs"/>
              </a:rPr>
              <a:t> processes, identified in the array P ( </a:t>
            </a:r>
            <a:r>
              <a:rPr lang="en-US" sz="1200" i="1" kern="1200" baseline="0" dirty="0" err="1">
                <a:solidFill>
                  <a:schemeClr val="tx1"/>
                </a:solidFill>
                <a:latin typeface="+mn-lt"/>
                <a:ea typeface="+mn-ea"/>
                <a:cs typeface="+mn-cs"/>
              </a:rPr>
              <a:t>i</a:t>
            </a:r>
            <a:r>
              <a:rPr lang="en-US" sz="1200" i="1" kern="1200" baseline="0" dirty="0">
                <a:solidFill>
                  <a:schemeClr val="tx1"/>
                </a:solidFill>
                <a:latin typeface="+mn-lt"/>
                <a:ea typeface="+mn-ea"/>
                <a:cs typeface="+mn-cs"/>
              </a:rPr>
              <a:t> ), all of which need access to the same resource. Each process has a critical section </a:t>
            </a:r>
            <a:r>
              <a:rPr lang="en-US" sz="1200" kern="1200" baseline="0" dirty="0">
                <a:solidFill>
                  <a:schemeClr val="tx1"/>
                </a:solidFill>
                <a:latin typeface="+mn-lt"/>
                <a:ea typeface="+mn-ea"/>
                <a:cs typeface="+mn-cs"/>
              </a:rPr>
              <a:t>used to access the resource. In each process, a </a:t>
            </a:r>
            <a:r>
              <a:rPr lang="en-US" sz="1200" kern="1200" baseline="0" dirty="0" err="1">
                <a:solidFill>
                  <a:schemeClr val="tx1"/>
                </a:solidFill>
                <a:latin typeface="+mn-lt"/>
                <a:ea typeface="+mn-ea"/>
                <a:cs typeface="+mn-cs"/>
              </a:rPr>
              <a:t>semWait(s</a:t>
            </a:r>
            <a:r>
              <a:rPr lang="en-US" sz="1200" kern="1200" baseline="0" dirty="0">
                <a:solidFill>
                  <a:schemeClr val="tx1"/>
                </a:solidFill>
                <a:latin typeface="+mn-lt"/>
                <a:ea typeface="+mn-ea"/>
                <a:cs typeface="+mn-cs"/>
              </a:rPr>
              <a:t>) is executed just before its critical section. If the value of </a:t>
            </a:r>
            <a:r>
              <a:rPr lang="en-US" sz="1200" kern="1200" baseline="0" dirty="0" err="1">
                <a:solidFill>
                  <a:schemeClr val="tx1"/>
                </a:solidFill>
                <a:latin typeface="+mn-lt"/>
                <a:ea typeface="+mn-ea"/>
                <a:cs typeface="+mn-cs"/>
              </a:rPr>
              <a:t>s</a:t>
            </a:r>
            <a:r>
              <a:rPr lang="en-US" sz="1200" kern="1200" baseline="0" dirty="0">
                <a:solidFill>
                  <a:schemeClr val="tx1"/>
                </a:solidFill>
                <a:latin typeface="+mn-lt"/>
                <a:ea typeface="+mn-ea"/>
                <a:cs typeface="+mn-cs"/>
              </a:rPr>
              <a:t> becomes negative, the process is blocked. If the value is 1, then it is decremented to 0 and the process immediately enters its critical section; because </a:t>
            </a:r>
            <a:r>
              <a:rPr lang="en-US" sz="1200" kern="1200" baseline="0" dirty="0" err="1">
                <a:solidFill>
                  <a:schemeClr val="tx1"/>
                </a:solidFill>
                <a:latin typeface="+mn-lt"/>
                <a:ea typeface="+mn-ea"/>
                <a:cs typeface="+mn-cs"/>
              </a:rPr>
              <a:t>s</a:t>
            </a:r>
            <a:r>
              <a:rPr lang="en-US" sz="1200" kern="1200" baseline="0" dirty="0">
                <a:solidFill>
                  <a:schemeClr val="tx1"/>
                </a:solidFill>
                <a:latin typeface="+mn-lt"/>
                <a:ea typeface="+mn-ea"/>
                <a:cs typeface="+mn-cs"/>
              </a:rPr>
              <a:t> is no longer positive, no other process will be able to enter its critical section.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semaphore is initialized to 1. Thus, the first process that executes a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will be able to enter the critical section immediately, setting the value of </a:t>
            </a:r>
            <a:r>
              <a:rPr lang="en-US" sz="1200" kern="1200" baseline="0" dirty="0" err="1">
                <a:solidFill>
                  <a:schemeClr val="tx1"/>
                </a:solidFill>
                <a:latin typeface="+mn-lt"/>
                <a:ea typeface="+mn-ea"/>
                <a:cs typeface="+mn-cs"/>
              </a:rPr>
              <a:t>s</a:t>
            </a:r>
            <a:r>
              <a:rPr lang="en-US" sz="1200" kern="1200" baseline="0" dirty="0">
                <a:solidFill>
                  <a:schemeClr val="tx1"/>
                </a:solidFill>
                <a:latin typeface="+mn-lt"/>
                <a:ea typeface="+mn-ea"/>
                <a:cs typeface="+mn-cs"/>
              </a:rPr>
              <a:t> to 0. Any other process attempting to enter the critical section will find it busy and will be blocked, setting the value of </a:t>
            </a:r>
            <a:r>
              <a:rPr lang="en-US" sz="1200" kern="1200" baseline="0" dirty="0" err="1">
                <a:solidFill>
                  <a:schemeClr val="tx1"/>
                </a:solidFill>
                <a:latin typeface="+mn-lt"/>
                <a:ea typeface="+mn-ea"/>
                <a:cs typeface="+mn-cs"/>
              </a:rPr>
              <a:t>s</a:t>
            </a:r>
            <a:r>
              <a:rPr lang="en-US" sz="1200" kern="1200" baseline="0" dirty="0">
                <a:solidFill>
                  <a:schemeClr val="tx1"/>
                </a:solidFill>
                <a:latin typeface="+mn-lt"/>
                <a:ea typeface="+mn-ea"/>
                <a:cs typeface="+mn-cs"/>
              </a:rPr>
              <a:t> to –1. Any number of processes may attempt entry; each such unsuccessful attempt results in a further decrement of the value of </a:t>
            </a:r>
            <a:r>
              <a:rPr lang="en-US" sz="1200" kern="1200" baseline="0" dirty="0" err="1">
                <a:solidFill>
                  <a:schemeClr val="tx1"/>
                </a:solidFill>
                <a:latin typeface="+mn-lt"/>
                <a:ea typeface="+mn-ea"/>
                <a:cs typeface="+mn-cs"/>
              </a:rPr>
              <a:t>s</a:t>
            </a:r>
            <a:r>
              <a:rPr lang="en-US" sz="1200" kern="1200" baseline="0" dirty="0">
                <a:solidFill>
                  <a:schemeClr val="tx1"/>
                </a:solidFill>
                <a:latin typeface="+mn-lt"/>
                <a:ea typeface="+mn-ea"/>
                <a:cs typeface="+mn-cs"/>
              </a:rPr>
              <a:t> . When the process that initially entered its critical section departs, </a:t>
            </a:r>
            <a:r>
              <a:rPr lang="en-US" sz="1200" kern="1200" baseline="0" dirty="0" err="1">
                <a:solidFill>
                  <a:schemeClr val="tx1"/>
                </a:solidFill>
                <a:latin typeface="+mn-lt"/>
                <a:ea typeface="+mn-ea"/>
                <a:cs typeface="+mn-cs"/>
              </a:rPr>
              <a:t>s</a:t>
            </a:r>
            <a:r>
              <a:rPr lang="en-US" sz="1200" kern="1200" baseline="0" dirty="0">
                <a:solidFill>
                  <a:schemeClr val="tx1"/>
                </a:solidFill>
                <a:latin typeface="+mn-lt"/>
                <a:ea typeface="+mn-ea"/>
                <a:cs typeface="+mn-cs"/>
              </a:rPr>
              <a:t> is incremented and one of the blocked processes (if any) is removed from the queue of blocked processes associated with the semaphore and put in a Ready state. When it is next scheduled by the OS, it may enter the critical section.</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8</a:t>
            </a:fld>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Figure 5.7 , based on one in [BACO03], shows a possible sequence for three processes using the mutual exclusion discipline of Figure 5.6 . In this example three processes (A, B, C) access a shared resource protected by the semaphore </a:t>
            </a:r>
            <a:r>
              <a:rPr lang="en-US" sz="1200" i="1" kern="1200" baseline="0" dirty="0">
                <a:solidFill>
                  <a:schemeClr val="tx1"/>
                </a:solidFill>
                <a:latin typeface="+mn-lt"/>
                <a:ea typeface="+mn-ea"/>
                <a:cs typeface="+mn-cs"/>
              </a:rPr>
              <a:t>lock . </a:t>
            </a:r>
            <a:r>
              <a:rPr lang="en-US" sz="1200" kern="1200" baseline="0" dirty="0">
                <a:solidFill>
                  <a:schemeClr val="tx1"/>
                </a:solidFill>
                <a:latin typeface="+mn-lt"/>
                <a:ea typeface="+mn-ea"/>
                <a:cs typeface="+mn-cs"/>
              </a:rPr>
              <a:t>Process A executes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a:t>
            </a:r>
            <a:r>
              <a:rPr lang="en-US" sz="1200" i="1" kern="1200" baseline="0" dirty="0">
                <a:solidFill>
                  <a:schemeClr val="tx1"/>
                </a:solidFill>
                <a:latin typeface="+mn-lt"/>
                <a:ea typeface="+mn-ea"/>
                <a:cs typeface="+mn-cs"/>
              </a:rPr>
              <a:t>lock ) ; because the semaphore has a value of 1 at </a:t>
            </a:r>
            <a:r>
              <a:rPr lang="en-US" sz="1200" kern="1200" baseline="0" dirty="0">
                <a:solidFill>
                  <a:schemeClr val="tx1"/>
                </a:solidFill>
                <a:latin typeface="+mn-lt"/>
                <a:ea typeface="+mn-ea"/>
                <a:cs typeface="+mn-cs"/>
              </a:rPr>
              <a:t>the time of the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operation, A can immediately enter its critical section and the semaphore takes on the value 0. While A is in its critical section, both B and </a:t>
            </a:r>
            <a:r>
              <a:rPr lang="en-US" sz="1200" kern="1200" baseline="0" dirty="0" err="1">
                <a:solidFill>
                  <a:schemeClr val="tx1"/>
                </a:solidFill>
                <a:latin typeface="+mn-lt"/>
                <a:ea typeface="+mn-ea"/>
                <a:cs typeface="+mn-cs"/>
              </a:rPr>
              <a:t>CFigure</a:t>
            </a:r>
            <a:r>
              <a:rPr lang="en-US" sz="1200" kern="1200" baseline="0" dirty="0">
                <a:solidFill>
                  <a:schemeClr val="tx1"/>
                </a:solidFill>
                <a:latin typeface="+mn-lt"/>
                <a:ea typeface="+mn-ea"/>
                <a:cs typeface="+mn-cs"/>
              </a:rPr>
              <a:t> 5.7 , based on one in [BACO03], shows a possible sequence for three processes using the mutual exclusion discipline of Figure 5.6 . In this example three processes (A, B, C) access a shared resource protected by the semaphore </a:t>
            </a:r>
            <a:r>
              <a:rPr lang="en-US" sz="1200" i="1" kern="1200" baseline="0" dirty="0">
                <a:solidFill>
                  <a:schemeClr val="tx1"/>
                </a:solidFill>
                <a:latin typeface="+mn-lt"/>
                <a:ea typeface="+mn-ea"/>
                <a:cs typeface="+mn-cs"/>
              </a:rPr>
              <a:t>lock .</a:t>
            </a:r>
          </a:p>
          <a:p>
            <a:r>
              <a:rPr lang="en-US" sz="1200" kern="1200" baseline="0" dirty="0">
                <a:solidFill>
                  <a:schemeClr val="tx1"/>
                </a:solidFill>
                <a:latin typeface="+mn-lt"/>
                <a:ea typeface="+mn-ea"/>
                <a:cs typeface="+mn-cs"/>
              </a:rPr>
              <a:t>Process A executes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a:t>
            </a:r>
            <a:r>
              <a:rPr lang="en-US" sz="1200" i="1" kern="1200" baseline="0" dirty="0">
                <a:solidFill>
                  <a:schemeClr val="tx1"/>
                </a:solidFill>
                <a:latin typeface="+mn-lt"/>
                <a:ea typeface="+mn-ea"/>
                <a:cs typeface="+mn-cs"/>
              </a:rPr>
              <a:t>lock ) ; because the semaphore has a value of 1 at </a:t>
            </a:r>
            <a:r>
              <a:rPr lang="en-US" sz="1200" kern="1200" baseline="0" dirty="0">
                <a:solidFill>
                  <a:schemeClr val="tx1"/>
                </a:solidFill>
                <a:latin typeface="+mn-lt"/>
                <a:ea typeface="+mn-ea"/>
                <a:cs typeface="+mn-cs"/>
              </a:rPr>
              <a:t>the time of the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operation, A can immediately enter its critical section and the semaphore takes on the value 0. While A is in its critical section, both B and C perform a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operation and are blocked pending the availability of the semaphore. When A exits its critical section and performs </a:t>
            </a:r>
            <a:r>
              <a:rPr lang="en-US" sz="1200" kern="1200" baseline="0" dirty="0" err="1">
                <a:solidFill>
                  <a:schemeClr val="tx1"/>
                </a:solidFill>
                <a:latin typeface="+mn-lt"/>
                <a:ea typeface="+mn-ea"/>
                <a:cs typeface="+mn-cs"/>
              </a:rPr>
              <a:t>semSignal</a:t>
            </a:r>
            <a:r>
              <a:rPr lang="en-US" sz="1200" kern="1200" baseline="0" dirty="0">
                <a:solidFill>
                  <a:schemeClr val="tx1"/>
                </a:solidFill>
                <a:latin typeface="+mn-lt"/>
                <a:ea typeface="+mn-ea"/>
                <a:cs typeface="+mn-cs"/>
              </a:rPr>
              <a:t>( </a:t>
            </a:r>
            <a:r>
              <a:rPr lang="en-US" sz="1200" i="1" kern="1200" baseline="0" dirty="0">
                <a:solidFill>
                  <a:schemeClr val="tx1"/>
                </a:solidFill>
                <a:latin typeface="+mn-lt"/>
                <a:ea typeface="+mn-ea"/>
                <a:cs typeface="+mn-cs"/>
              </a:rPr>
              <a:t>lock ) , B, which </a:t>
            </a:r>
            <a:r>
              <a:rPr lang="en-US" sz="1200" kern="1200" baseline="0" dirty="0">
                <a:solidFill>
                  <a:schemeClr val="tx1"/>
                </a:solidFill>
                <a:latin typeface="+mn-lt"/>
                <a:ea typeface="+mn-ea"/>
                <a:cs typeface="+mn-cs"/>
              </a:rPr>
              <a:t>was the first process in the queue, can now enter its critical section.</a:t>
            </a:r>
            <a:endParaRPr lang="en-NZ" sz="1200" kern="1200" baseline="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9</a:t>
            </a:fld>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To begin, let us assume that the buffer is infinite and consists of a linear array of elements.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We now examine one of the most common problems faced in concurrent processing: the producer/consumer problem. The general statement is this: There are one or more producers generating some type of data (records, characters) and placing these in a buffer. There is a single consumer that is taking items out of the buffer one at a time. The system is to be constrained to prevent the overlap of buffer operations. That is, only one agent (producer or consumer) may access the buffer at any one time. The problem is to make sure that the producer won’t try to add data into the buffer if it’s full and that the consumer won’t try to remove data from an empty buffer. We will look at a number of solutions to this problem to illustrate both the power and the pitfalls of semaphores.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10</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Figure 5.8 illustrates the structure of buffer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 . The producer can generate items and store them in the buffer at its own pace. Each time, an index ( </a:t>
            </a:r>
            <a:r>
              <a:rPr lang="en-US" sz="1200" i="1" kern="1200" baseline="0" dirty="0">
                <a:solidFill>
                  <a:schemeClr val="tx1"/>
                </a:solidFill>
                <a:latin typeface="+mn-lt"/>
                <a:ea typeface="+mn-ea"/>
                <a:cs typeface="+mn-cs"/>
              </a:rPr>
              <a:t>in ) into the </a:t>
            </a:r>
            <a:r>
              <a:rPr lang="en-US" sz="1200" kern="1200" baseline="0" dirty="0">
                <a:solidFill>
                  <a:schemeClr val="tx1"/>
                </a:solidFill>
                <a:latin typeface="+mn-lt"/>
                <a:ea typeface="+mn-ea"/>
                <a:cs typeface="+mn-cs"/>
              </a:rPr>
              <a:t>buffer is incremented. The consumer proceeds in a similar fashion but must make sure that it does not attempt to read from an empty buffer. Hence, the consumer makes sure that the producer has advanced beyond it ( </a:t>
            </a:r>
            <a:r>
              <a:rPr lang="en-US" sz="1200" i="1" kern="1200" baseline="0" dirty="0">
                <a:solidFill>
                  <a:schemeClr val="tx1"/>
                </a:solidFill>
                <a:latin typeface="+mn-lt"/>
                <a:ea typeface="+mn-ea"/>
                <a:cs typeface="+mn-cs"/>
              </a:rPr>
              <a:t>in &gt; out ) before proceeding.</a:t>
            </a:r>
            <a:endParaRPr lang="en-NZ" dirty="0"/>
          </a:p>
          <a:p>
            <a:endParaRPr lang="en-NZ" dirty="0"/>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11</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As was mentioned earlier, it is imperative that the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and </a:t>
            </a:r>
            <a:r>
              <a:rPr lang="en-US" sz="1200" kern="1200" baseline="0" dirty="0" err="1">
                <a:solidFill>
                  <a:schemeClr val="tx1"/>
                </a:solidFill>
                <a:latin typeface="+mn-lt"/>
                <a:ea typeface="+mn-ea"/>
                <a:cs typeface="+mn-cs"/>
              </a:rPr>
              <a:t>semSignal</a:t>
            </a:r>
            <a:r>
              <a:rPr lang="en-US" sz="1200" kern="1200" baseline="0" dirty="0">
                <a:solidFill>
                  <a:schemeClr val="tx1"/>
                </a:solidFill>
                <a:latin typeface="+mn-lt"/>
                <a:ea typeface="+mn-ea"/>
                <a:cs typeface="+mn-cs"/>
              </a:rPr>
              <a:t> operations be implemented as atomic primitives. One obvious way is to implement them in hardware or firmware. Failing this, a variety of schemes have been suggested. The essence of the problem is one of mutual exclusion: Only one process at a time may manipulate a semaphore with either a </a:t>
            </a:r>
            <a:r>
              <a:rPr lang="en-US" sz="1200" kern="1200" baseline="0" dirty="0" err="1">
                <a:solidFill>
                  <a:schemeClr val="tx1"/>
                </a:solidFill>
                <a:latin typeface="+mn-lt"/>
                <a:ea typeface="+mn-ea"/>
                <a:cs typeface="+mn-cs"/>
              </a:rPr>
              <a:t>semWait</a:t>
            </a:r>
            <a:r>
              <a:rPr lang="en-US" sz="1200" kern="1200" baseline="0" dirty="0">
                <a:solidFill>
                  <a:schemeClr val="tx1"/>
                </a:solidFill>
                <a:latin typeface="+mn-lt"/>
                <a:ea typeface="+mn-ea"/>
                <a:cs typeface="+mn-cs"/>
              </a:rPr>
              <a:t> or </a:t>
            </a:r>
            <a:r>
              <a:rPr lang="en-US" sz="1200" kern="1200" baseline="0" dirty="0" err="1">
                <a:solidFill>
                  <a:schemeClr val="tx1"/>
                </a:solidFill>
                <a:latin typeface="+mn-lt"/>
                <a:ea typeface="+mn-ea"/>
                <a:cs typeface="+mn-cs"/>
              </a:rPr>
              <a:t>semSignal</a:t>
            </a:r>
            <a:r>
              <a:rPr lang="en-US" sz="1200" kern="1200" baseline="0" dirty="0">
                <a:solidFill>
                  <a:schemeClr val="tx1"/>
                </a:solidFill>
                <a:latin typeface="+mn-lt"/>
                <a:ea typeface="+mn-ea"/>
                <a:cs typeface="+mn-cs"/>
              </a:rPr>
              <a:t> operation. Thus, any of the software schemes, such as Dekker’s algorithm or Peterson’s algorithm ( Appendix A ), could be used; this would entail a substantial processing overhead.</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Another alternative is to use one of the hardware-supported schemes for mutual exclusion.</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12</a:t>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 monitor is a programming-language construct that provides equivalent functionality to that of semaphores and that is easier to control. The concept was first formally defined in [HOAR74]. The monitor construct has been implemented in a number of programming languages, including Concurrent Pascal, Pascal-Plus, Modula-2, Modula-3, and Java. It has also been implemented as a program library. This allows programmers to put a monitor lock on any object. In particular, for something like a linked list, you may want to lock all linked lists with one lock, or have one lock for each list, or have one lock for each element of each list.</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 monitor is a software module consisting of one or more procedures, an initialization sequence, and local data.</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13</a:t>
            </a:fld>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en-US" sz="1200" kern="1200" baseline="0" dirty="0">
                <a:solidFill>
                  <a:schemeClr val="tx1"/>
                </a:solidFill>
                <a:latin typeface="+mn-lt"/>
                <a:ea typeface="+mn-ea"/>
                <a:cs typeface="+mn-cs"/>
              </a:rPr>
              <a:t>The chief characteristics of a monitor are the following:</a:t>
            </a:r>
          </a:p>
          <a:p>
            <a:r>
              <a:rPr lang="en-US" sz="1200" b="0" kern="1200" baseline="0" dirty="0">
                <a:solidFill>
                  <a:schemeClr val="tx1"/>
                </a:solidFill>
                <a:latin typeface="+mn-lt"/>
                <a:ea typeface="+mn-ea"/>
                <a:cs typeface="+mn-cs"/>
              </a:rPr>
              <a:t>1. The local data variables are accessible only by the monitor’s procedures and</a:t>
            </a:r>
          </a:p>
          <a:p>
            <a:r>
              <a:rPr lang="en-US" sz="1200" kern="1200" baseline="0" dirty="0">
                <a:solidFill>
                  <a:schemeClr val="tx1"/>
                </a:solidFill>
                <a:latin typeface="+mn-lt"/>
                <a:ea typeface="+mn-ea"/>
                <a:cs typeface="+mn-cs"/>
              </a:rPr>
              <a:t>not by any external procedure.</a:t>
            </a:r>
          </a:p>
          <a:p>
            <a:r>
              <a:rPr lang="en-US" sz="1200" b="0" kern="1200" baseline="0" dirty="0">
                <a:solidFill>
                  <a:schemeClr val="tx1"/>
                </a:solidFill>
                <a:latin typeface="+mn-lt"/>
                <a:ea typeface="+mn-ea"/>
                <a:cs typeface="+mn-cs"/>
              </a:rPr>
              <a:t>2. A process enters the monitor by invoking one of its procedures.</a:t>
            </a:r>
          </a:p>
          <a:p>
            <a:r>
              <a:rPr lang="en-US" sz="1200" b="0" kern="1200" baseline="0" dirty="0">
                <a:solidFill>
                  <a:schemeClr val="tx1"/>
                </a:solidFill>
                <a:latin typeface="+mn-lt"/>
                <a:ea typeface="+mn-ea"/>
                <a:cs typeface="+mn-cs"/>
              </a:rPr>
              <a:t>3. Only one process may be executing in the monitor at a time; any other processes</a:t>
            </a:r>
          </a:p>
          <a:p>
            <a:r>
              <a:rPr lang="en-US" sz="1200" kern="1200" baseline="0" dirty="0">
                <a:solidFill>
                  <a:schemeClr val="tx1"/>
                </a:solidFill>
                <a:latin typeface="+mn-lt"/>
                <a:ea typeface="+mn-ea"/>
                <a:cs typeface="+mn-cs"/>
              </a:rPr>
              <a:t>that have invoked the monitor are blocked, waiting for the monitor to become available.</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first two characteristics are reminiscent of those for objects in object-oriented software. Indeed, an object-oriented OS or programming language can readily implement a monitor as an object with special characteristics.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By enforcing the discipline of one process at a time, the monitor is able to provide a mutual exclusion facility. The data variables in the monitor can be accessed by only one process at a time. Thus, a shared data structure can be protected by placing it in a monitor. If the data in a monitor represent some resource, then the monitor provides a mutual exclusion facility for accessing the resource. </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To be useful for concurrent processing, the monitor must include synchronization tools. For example, suppose a process invokes the monitor and, while in the</a:t>
            </a:r>
          </a:p>
          <a:p>
            <a:r>
              <a:rPr lang="en-US" sz="1200" kern="1200" baseline="0" dirty="0">
                <a:solidFill>
                  <a:schemeClr val="tx1"/>
                </a:solidFill>
                <a:latin typeface="+mn-lt"/>
                <a:ea typeface="+mn-ea"/>
                <a:cs typeface="+mn-cs"/>
              </a:rPr>
              <a:t>monitor, must be blocked until some condition is satisfied. A facility is needed by which the process is not only blocked but releases the monitor so that some other process may enter it. Later, when the condition is satisfied and the monitor is again available, the process needs to be resumed and allowed to reenter the monitor at the point of its suspension.</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14</a:t>
            </a:fld>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 readers/writers problem is defined as follows: There is a data area shared among a number of processes. The data area could be a file, a block of main memory, or even a bank of processor registers. There are a number of processes that only read the data area (readers) and a number that only write to the data area (writers). The conditions that must be satisfied are as follows:</a:t>
            </a:r>
          </a:p>
          <a:p>
            <a:r>
              <a:rPr lang="en-US" sz="1200" b="1" kern="1200" baseline="0" dirty="0">
                <a:solidFill>
                  <a:schemeClr val="tx1"/>
                </a:solidFill>
                <a:latin typeface="+mn-lt"/>
                <a:ea typeface="+mn-ea"/>
                <a:cs typeface="+mn-cs"/>
              </a:rPr>
              <a:t>1. Any number of readers may simultaneously read the file.</a:t>
            </a:r>
          </a:p>
          <a:p>
            <a:r>
              <a:rPr lang="en-US" sz="1200" b="1" kern="1200" baseline="0" dirty="0">
                <a:solidFill>
                  <a:schemeClr val="tx1"/>
                </a:solidFill>
                <a:latin typeface="+mn-lt"/>
                <a:ea typeface="+mn-ea"/>
                <a:cs typeface="+mn-cs"/>
              </a:rPr>
              <a:t>2. Only one writer at a time may write to the file.</a:t>
            </a:r>
          </a:p>
          <a:p>
            <a:r>
              <a:rPr lang="en-US" sz="1200" b="1" kern="1200" baseline="0" dirty="0">
                <a:solidFill>
                  <a:schemeClr val="tx1"/>
                </a:solidFill>
                <a:latin typeface="+mn-lt"/>
                <a:ea typeface="+mn-ea"/>
                <a:cs typeface="+mn-cs"/>
              </a:rPr>
              <a:t>3. If a writer is writing to the file, no reader may read it.</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Thus, readers are processes that are not required to exclude one another and writers are processes that are required to exclude all other processes, readers and writers alike.</a:t>
            </a:r>
            <a:endParaRPr lang="en-NZ" sz="2400"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15</a:t>
            </a:fld>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t>Chapter 5 Summary.</a:t>
            </a:r>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16</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356CD45C-81C4-4E27-A18A-8835B7066D8D}"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CAF246AB-72DE-4829-A3EE-183283F17E51}" type="slidenum">
              <a:rPr lang="en-US"/>
              <a:pPr>
                <a:defRPr/>
              </a:pPr>
              <a:t>‹#›</a:t>
            </a:fld>
            <a:endParaRPr lang="en-US" dirty="0"/>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64DF4F1D-9F1B-4CA4-932E-311654E99826}"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59217303-0E5B-4E24-BCA3-62F5881C102C}" type="slidenum">
              <a:rPr lang="en-US"/>
              <a:pPr>
                <a:defRPr/>
              </a:pPr>
              <a:t>‹#›</a:t>
            </a:fld>
            <a:endParaRPr lang="en-US" dirty="0"/>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BA0E4233-E030-4D82-AE1D-06E871FCE686}"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BDF17966-739A-4E4E-BEF8-5E9D65CAA6DD}" type="slidenum">
              <a:rPr lang="en-US"/>
              <a:pPr>
                <a:defRPr/>
              </a:pPr>
              <a:t>‹#›</a:t>
            </a:fld>
            <a:endParaRPr lang="en-US" dirty="0"/>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C7C5EE9E-C85E-43CC-91D6-50F7B4961BB7}"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69B75778-597E-43D2-A71E-341C60964EE0}" type="slidenum">
              <a:rPr lang="en-US"/>
              <a:pPr>
                <a:defRPr/>
              </a:pPr>
              <a:t>‹#›</a:t>
            </a:fld>
            <a:endParaRPr lang="en-US" dirty="0"/>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E19F8884-1DEA-4C84-A489-E724713CC95E}" type="datetimeFigureOut">
              <a:rPr lang="en-US"/>
              <a:pPr>
                <a:defRPr/>
              </a:pPr>
              <a:t>30-Apr-2024</a:t>
            </a:fld>
            <a:endParaRPr lang="en-US" dirty="0"/>
          </a:p>
        </p:txBody>
      </p:sp>
      <p:sp>
        <p:nvSpPr>
          <p:cNvPr id="8" name="Footer Placeholder 4"/>
          <p:cNvSpPr>
            <a:spLocks noGrp="1"/>
          </p:cNvSpPr>
          <p:nvPr>
            <p:ph type="ftr" sz="quarter" idx="11"/>
          </p:nvPr>
        </p:nvSpPr>
        <p:spPr/>
        <p:txBody>
          <a:bodyPr/>
          <a:lstStyle>
            <a:lvl1pPr>
              <a:defRPr/>
            </a:lvl1pPr>
          </a:lstStyle>
          <a:p>
            <a:pPr>
              <a:defRPr/>
            </a:pPr>
            <a:endParaRPr lang="en-US" dirty="0"/>
          </a:p>
        </p:txBody>
      </p:sp>
      <p:sp>
        <p:nvSpPr>
          <p:cNvPr id="9" name="Slide Number Placeholder 5"/>
          <p:cNvSpPr>
            <a:spLocks noGrp="1"/>
          </p:cNvSpPr>
          <p:nvPr>
            <p:ph type="sldNum" sz="quarter" idx="12"/>
          </p:nvPr>
        </p:nvSpPr>
        <p:spPr/>
        <p:txBody>
          <a:bodyPr/>
          <a:lstStyle>
            <a:lvl1pPr>
              <a:defRPr/>
            </a:lvl1pPr>
          </a:lstStyle>
          <a:p>
            <a:pPr>
              <a:defRPr/>
            </a:pPr>
            <a:fld id="{F8D71189-8D0B-455A-87B2-3A89DCBF685D}" type="slidenum">
              <a:rPr lang="en-US"/>
              <a:pPr>
                <a:defRPr/>
              </a:pPr>
              <a:t>‹#›</a:t>
            </a:fld>
            <a:endParaRPr lang="en-US" dirty="0"/>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502DFE5A-BFC9-454A-A87C-69BA4FE25A0F}" type="datetimeFigureOut">
              <a:rPr lang="en-US"/>
              <a:pPr>
                <a:defRPr/>
              </a:pPr>
              <a:t>30-Apr-2024</a:t>
            </a:fld>
            <a:endParaRPr lang="en-US" dirty="0"/>
          </a:p>
        </p:txBody>
      </p:sp>
      <p:sp>
        <p:nvSpPr>
          <p:cNvPr id="4" name="Footer Placeholder 4"/>
          <p:cNvSpPr>
            <a:spLocks noGrp="1"/>
          </p:cNvSpPr>
          <p:nvPr>
            <p:ph type="ftr" sz="quarter" idx="11"/>
          </p:nvPr>
        </p:nvSpPr>
        <p:spPr/>
        <p:txBody>
          <a:bodyPr/>
          <a:lstStyle>
            <a:lvl1pPr>
              <a:defRPr/>
            </a:lvl1pPr>
          </a:lstStyle>
          <a:p>
            <a:pPr>
              <a:defRPr/>
            </a:pPr>
            <a:endParaRPr lang="en-US" dirty="0"/>
          </a:p>
        </p:txBody>
      </p:sp>
      <p:sp>
        <p:nvSpPr>
          <p:cNvPr id="5" name="Slide Number Placeholder 5"/>
          <p:cNvSpPr>
            <a:spLocks noGrp="1"/>
          </p:cNvSpPr>
          <p:nvPr>
            <p:ph type="sldNum" sz="quarter" idx="12"/>
          </p:nvPr>
        </p:nvSpPr>
        <p:spPr/>
        <p:txBody>
          <a:bodyPr/>
          <a:lstStyle>
            <a:lvl1pPr>
              <a:defRPr/>
            </a:lvl1pPr>
          </a:lstStyle>
          <a:p>
            <a:pPr>
              <a:defRPr/>
            </a:pPr>
            <a:fld id="{6F5D2254-A369-4EE7-927D-AE713623071A}" type="slidenum">
              <a:rPr lang="en-US"/>
              <a:pPr>
                <a:defRPr/>
              </a:pPr>
              <a:t>‹#›</a:t>
            </a:fld>
            <a:endParaRPr lang="en-US" dirty="0"/>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B4A6603-BAC9-4FFA-BE72-57B7C0EDA50D}" type="datetimeFigureOut">
              <a:rPr lang="en-US"/>
              <a:pPr>
                <a:defRPr/>
              </a:pPr>
              <a:t>30-Apr-2024</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dirty="0"/>
          </a:p>
        </p:txBody>
      </p:sp>
      <p:sp>
        <p:nvSpPr>
          <p:cNvPr id="4" name="Slide Number Placeholder 5"/>
          <p:cNvSpPr>
            <a:spLocks noGrp="1"/>
          </p:cNvSpPr>
          <p:nvPr>
            <p:ph type="sldNum" sz="quarter" idx="12"/>
          </p:nvPr>
        </p:nvSpPr>
        <p:spPr/>
        <p:txBody>
          <a:bodyPr/>
          <a:lstStyle>
            <a:lvl1pPr>
              <a:defRPr/>
            </a:lvl1pPr>
          </a:lstStyle>
          <a:p>
            <a:pPr>
              <a:defRPr/>
            </a:pPr>
            <a:fld id="{2269E04E-7B9E-40CB-AECA-9BEEF7D4B165}" type="slidenum">
              <a:rPr lang="en-US"/>
              <a:pPr>
                <a:defRPr/>
              </a:pPr>
              <a:t>‹#›</a:t>
            </a:fld>
            <a:endParaRPr lang="en-US" dirty="0"/>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056F2E53-C0F0-49CC-8B3F-6BA3D019B99D}"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EA175EC1-C65E-447A-8CAE-CC74F7243464}" type="slidenum">
              <a:rPr lang="en-US"/>
              <a:pPr>
                <a:defRPr/>
              </a:pPr>
              <a:t>‹#›</a:t>
            </a:fld>
            <a:endParaRPr lang="en-US" dirty="0"/>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644AA9AB-7925-475F-87E4-57F6EF092961}"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94A6BC3C-EF4C-4932-8208-7FBB5701A0AF}" type="slidenum">
              <a:rPr lang="en-US"/>
              <a:pPr>
                <a:defRPr/>
              </a:pPr>
              <a:t>‹#›</a:t>
            </a:fld>
            <a:endParaRPr lang="en-US" dirty="0"/>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DA9C3780-DD3C-46A5-8303-4579155A8DB3}"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312BAF33-582B-4B0D-B27A-32E91EEEB040}" type="slidenum">
              <a:rPr lang="en-US"/>
              <a:pPr>
                <a:defRPr/>
              </a:pPr>
              <a:t>‹#›</a:t>
            </a:fld>
            <a:endParaRPr lang="en-US" dirty="0"/>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33C4502-BF88-49E9-A189-5718D68C95C9}"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BA835F4E-BD93-49E1-84D0-363BA31979D7}" type="slidenum">
              <a:rPr lang="en-US"/>
              <a:pPr>
                <a:defRPr/>
              </a:pPr>
              <a:t>‹#›</a:t>
            </a:fld>
            <a:endParaRPr lang="en-US" dirty="0"/>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useBgFill="1">
        <p:nvSpPr>
          <p:cNvPr id="12" name="Rectangle 11"/>
          <p:cNvSpPr/>
          <p:nvPr/>
        </p:nvSpPr>
        <p:spPr>
          <a:xfrm>
            <a:off x="341086" y="928914"/>
            <a:ext cx="8432800" cy="177074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ctrTitle"/>
          </p:nvPr>
        </p:nvSpPr>
        <p:spPr>
          <a:xfrm>
            <a:off x="685707" y="968189"/>
            <a:ext cx="7799387" cy="1237130"/>
          </a:xfrm>
        </p:spPr>
        <p:txBody>
          <a:bodyPr anchor="b" anchorCtr="0"/>
          <a:lstStyle>
            <a:lvl1pPr algn="r">
              <a:lnSpc>
                <a:spcPts val="5000"/>
              </a:lnSpc>
              <a:defRPr sz="4600">
                <a:solidFill>
                  <a:schemeClr val="accent1"/>
                </a:solidFill>
                <a:effectLst/>
              </a:defRPr>
            </a:lvl1pPr>
          </a:lstStyle>
          <a:p>
            <a:r>
              <a:rPr lang="en-US"/>
              <a:t>Click to edit Master title style</a:t>
            </a:r>
            <a:endParaRPr/>
          </a:p>
        </p:txBody>
      </p:sp>
      <p:sp>
        <p:nvSpPr>
          <p:cNvPr id="3" name="Subtitle 2"/>
          <p:cNvSpPr>
            <a:spLocks noGrp="1"/>
          </p:cNvSpPr>
          <p:nvPr>
            <p:ph type="subTitle" idx="1"/>
          </p:nvPr>
        </p:nvSpPr>
        <p:spPr>
          <a:xfrm>
            <a:off x="685707" y="2209799"/>
            <a:ext cx="7799387" cy="466165"/>
          </a:xfrm>
        </p:spPr>
        <p:txBody>
          <a:bodyPr/>
          <a:lstStyle>
            <a:lvl1pPr marL="0" indent="0" algn="r">
              <a:lnSpc>
                <a:spcPct val="100000"/>
              </a:lnSpc>
              <a:spcBef>
                <a:spcPts val="0"/>
              </a:spcBef>
              <a:buNone/>
              <a:defRPr sz="1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4" name="Date Placeholder 3"/>
          <p:cNvSpPr>
            <a:spLocks noGrp="1"/>
          </p:cNvSpPr>
          <p:nvPr>
            <p:ph type="dt" sz="half" idx="10"/>
          </p:nvPr>
        </p:nvSpPr>
        <p:spPr/>
        <p:txBody>
          <a:bodyPr/>
          <a:lstStyle/>
          <a:p>
            <a:pPr>
              <a:defRPr/>
            </a:pPr>
            <a:fld id="{EF5D2D3F-B0F1-446B-B7CC-19B90EB0017B}" type="datetimeFigureOut">
              <a:rPr lang="en-US" smtClean="0"/>
              <a:pPr>
                <a:defRPr/>
              </a:pPr>
              <a:t>30-Apr-2024</a:t>
            </a:fld>
            <a:endParaRPr lang="en-US" dirty="0"/>
          </a:p>
        </p:txBody>
      </p:sp>
      <p:sp>
        <p:nvSpPr>
          <p:cNvPr id="6" name="Slide Number Placeholder 5"/>
          <p:cNvSpPr>
            <a:spLocks noGrp="1"/>
          </p:cNvSpPr>
          <p:nvPr>
            <p:ph type="sldNum" sz="quarter" idx="12"/>
          </p:nvPr>
        </p:nvSpPr>
        <p:spPr>
          <a:xfrm>
            <a:off x="4305300" y="6492875"/>
            <a:ext cx="533400" cy="365125"/>
          </a:xfrm>
        </p:spPr>
        <p:txBody>
          <a:bodyPr vert="horz" lIns="91440" tIns="45720" rIns="91440" bIns="45720" rtlCol="0" anchor="ctr"/>
          <a:lstStyle>
            <a:lvl1pPr marL="0" algn="ctr"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fld id="{46FA4F69-47FA-46CC-8030-E13D0EF9E852}"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457200" y="816802"/>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9" name="Picture 8" descr="TitleSlideTop.jpg"/>
          <p:cNvPicPr>
            <a:picLocks noChangeAspect="1"/>
          </p:cNvPicPr>
          <p:nvPr/>
        </p:nvPicPr>
        <p:blipFill>
          <a:blip r:embed="rId2"/>
          <a:stretch>
            <a:fillRect/>
          </a:stretch>
        </p:blipFill>
        <p:spPr>
          <a:xfrm>
            <a:off x="457200" y="457200"/>
            <a:ext cx="8229600" cy="356646"/>
          </a:xfrm>
          <a:prstGeom prst="rect">
            <a:avLst/>
          </a:prstGeom>
        </p:spPr>
      </p:pic>
      <p:pic>
        <p:nvPicPr>
          <p:cNvPr id="10" name="Picture 9" descr="TitleSlideBottom.jpg"/>
          <p:cNvPicPr>
            <a:picLocks noChangeAspect="1"/>
          </p:cNvPicPr>
          <p:nvPr/>
        </p:nvPicPr>
        <p:blipFill>
          <a:blip r:embed="rId3"/>
          <a:stretch>
            <a:fillRect/>
          </a:stretch>
        </p:blipFill>
        <p:spPr>
          <a:xfrm>
            <a:off x="457200" y="2700601"/>
            <a:ext cx="8229600" cy="3700199"/>
          </a:xfrm>
          <a:prstGeom prst="rect">
            <a:avLst/>
          </a:prstGeom>
        </p:spPr>
      </p:pic>
      <p:sp>
        <p:nvSpPr>
          <p:cNvPr id="11" name="Footer Placeholder 4"/>
          <p:cNvSpPr>
            <a:spLocks noGrp="1"/>
          </p:cNvSpPr>
          <p:nvPr>
            <p:ph type="ftr" sz="quarter" idx="3"/>
          </p:nvPr>
        </p:nvSpPr>
        <p:spPr>
          <a:xfrm>
            <a:off x="318247" y="6492875"/>
            <a:ext cx="3415554" cy="365125"/>
          </a:xfrm>
          <a:prstGeom prst="rect">
            <a:avLst/>
          </a:prstGeom>
        </p:spPr>
        <p:txBody>
          <a:bodyPr vert="horz" lIns="91440" tIns="45720" rIns="91440" bIns="45720" rtlCol="0" anchor="ctr"/>
          <a:lstStyle>
            <a:lvl1pPr marL="0" algn="l"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endParaRPr lang="en-US" dirty="0"/>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fld id="{5120D744-A176-4DCB-9147-2AE7B7E87481}" type="datetimeFigureOut">
              <a:rPr lang="en-US"/>
              <a:pPr/>
              <a:t>30-Apr-2024</a:t>
            </a:fld>
            <a:endParaRPr/>
          </a:p>
        </p:txBody>
      </p:sp>
      <p:sp>
        <p:nvSpPr>
          <p:cNvPr id="5" name="Footer Placeholder 4"/>
          <p:cNvSpPr>
            <a:spLocks noGrp="1"/>
          </p:cNvSpPr>
          <p:nvPr>
            <p:ph type="ftr" sz="quarter" idx="11"/>
          </p:nvPr>
        </p:nvSpPr>
        <p:spPr/>
        <p:txBody>
          <a:bodyPr/>
          <a:lstStyle/>
          <a:p>
            <a:endParaRPr/>
          </a:p>
        </p:txBody>
      </p:sp>
      <p:sp>
        <p:nvSpPr>
          <p:cNvPr id="6" name="Slide Number Placeholder 5"/>
          <p:cNvSpPr>
            <a:spLocks noGrp="1"/>
          </p:cNvSpPr>
          <p:nvPr>
            <p:ph type="sldNum" sz="quarter" idx="12"/>
          </p:nvPr>
        </p:nvSpPr>
        <p:spPr/>
        <p:txBody>
          <a:bodyPr/>
          <a:lstStyle/>
          <a:p>
            <a:fld id="{3FFF1679-83E0-4571-98D7-4BB535B5F505}" type="slidenum">
              <a:rPr/>
              <a:pPr/>
              <a:t>‹#›</a:t>
            </a:fld>
            <a:endParaRPr/>
          </a:p>
        </p:txBody>
      </p:sp>
      <p:pic>
        <p:nvPicPr>
          <p:cNvPr id="7" name="Picture 6" descr="green.gif"/>
          <p:cNvPicPr>
            <a:picLocks noChangeAspect="1"/>
          </p:cNvPicPr>
          <p:nvPr userDrawn="1"/>
        </p:nvPicPr>
        <p:blipFill>
          <a:blip r:embed="rId2"/>
          <a:srcRect/>
          <a:stretch>
            <a:fillRect/>
          </a:stretch>
        </p:blipFill>
        <p:spPr bwMode="auto">
          <a:xfrm>
            <a:off x="8429625" y="5562600"/>
            <a:ext cx="714375" cy="838200"/>
          </a:xfrm>
          <a:prstGeom prst="rect">
            <a:avLst/>
          </a:prstGeom>
          <a:noFill/>
          <a:ln w="9525">
            <a:noFill/>
            <a:miter lim="800000"/>
            <a:headEnd/>
            <a:tailEnd/>
          </a:ln>
        </p:spPr>
      </p:pic>
      <p:pic>
        <p:nvPicPr>
          <p:cNvPr id="8" name="Picture 7" descr="hand.gif"/>
          <p:cNvPicPr>
            <a:picLocks noChangeAspect="1"/>
          </p:cNvPicPr>
          <p:nvPr userDrawn="1"/>
        </p:nvPicPr>
        <p:blipFill>
          <a:blip r:embed="rId3"/>
          <a:srcRect/>
          <a:stretch>
            <a:fillRect/>
          </a:stretch>
        </p:blipFill>
        <p:spPr bwMode="auto">
          <a:xfrm>
            <a:off x="0" y="6115050"/>
            <a:ext cx="1190625" cy="742950"/>
          </a:xfrm>
          <a:prstGeom prst="rect">
            <a:avLst/>
          </a:prstGeom>
          <a:noFill/>
          <a:ln w="9525">
            <a:noFill/>
            <a:miter lim="800000"/>
            <a:headEnd/>
            <a:tailEnd/>
          </a:ln>
        </p:spPr>
      </p:pic>
      <p:sp>
        <p:nvSpPr>
          <p:cNvPr id="9" name="Freeform 8"/>
          <p:cNvSpPr/>
          <p:nvPr userDrawn="1"/>
        </p:nvSpPr>
        <p:spPr>
          <a:xfrm>
            <a:off x="1171575" y="6124575"/>
            <a:ext cx="7286625" cy="219075"/>
          </a:xfrm>
          <a:custGeom>
            <a:avLst/>
            <a:gdLst>
              <a:gd name="connsiteX0" fmla="*/ 0 w 7286625"/>
              <a:gd name="connsiteY0" fmla="*/ 219075 h 219075"/>
              <a:gd name="connsiteX1" fmla="*/ 190500 w 7286625"/>
              <a:gd name="connsiteY1" fmla="*/ 180975 h 219075"/>
              <a:gd name="connsiteX2" fmla="*/ 2790825 w 7286625"/>
              <a:gd name="connsiteY2" fmla="*/ 171450 h 219075"/>
              <a:gd name="connsiteX3" fmla="*/ 2924175 w 7286625"/>
              <a:gd name="connsiteY3" fmla="*/ 152400 h 219075"/>
              <a:gd name="connsiteX4" fmla="*/ 3267075 w 7286625"/>
              <a:gd name="connsiteY4" fmla="*/ 133350 h 219075"/>
              <a:gd name="connsiteX5" fmla="*/ 3390900 w 7286625"/>
              <a:gd name="connsiteY5" fmla="*/ 123825 h 219075"/>
              <a:gd name="connsiteX6" fmla="*/ 3667125 w 7286625"/>
              <a:gd name="connsiteY6" fmla="*/ 85725 h 219075"/>
              <a:gd name="connsiteX7" fmla="*/ 3838575 w 7286625"/>
              <a:gd name="connsiteY7" fmla="*/ 76200 h 219075"/>
              <a:gd name="connsiteX8" fmla="*/ 4381500 w 7286625"/>
              <a:gd name="connsiteY8" fmla="*/ 47625 h 219075"/>
              <a:gd name="connsiteX9" fmla="*/ 4552950 w 7286625"/>
              <a:gd name="connsiteY9" fmla="*/ 38100 h 219075"/>
              <a:gd name="connsiteX10" fmla="*/ 4686300 w 7286625"/>
              <a:gd name="connsiteY10" fmla="*/ 28575 h 219075"/>
              <a:gd name="connsiteX11" fmla="*/ 5562600 w 7286625"/>
              <a:gd name="connsiteY11" fmla="*/ 0 h 219075"/>
              <a:gd name="connsiteX12" fmla="*/ 6486525 w 7286625"/>
              <a:gd name="connsiteY12" fmla="*/ 9525 h 219075"/>
              <a:gd name="connsiteX13" fmla="*/ 6581775 w 7286625"/>
              <a:gd name="connsiteY13" fmla="*/ 19050 h 219075"/>
              <a:gd name="connsiteX14" fmla="*/ 6715125 w 7286625"/>
              <a:gd name="connsiteY14" fmla="*/ 47625 h 219075"/>
              <a:gd name="connsiteX15" fmla="*/ 7210425 w 7286625"/>
              <a:gd name="connsiteY15" fmla="*/ 66675 h 219075"/>
              <a:gd name="connsiteX16" fmla="*/ 7286625 w 7286625"/>
              <a:gd name="connsiteY16" fmla="*/ 76200 h 219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86625" h="219075">
                <a:moveTo>
                  <a:pt x="0" y="219075"/>
                </a:moveTo>
                <a:cubicBezTo>
                  <a:pt x="67827" y="173857"/>
                  <a:pt x="45538" y="182475"/>
                  <a:pt x="190500" y="180975"/>
                </a:cubicBezTo>
                <a:lnTo>
                  <a:pt x="2790825" y="171450"/>
                </a:lnTo>
                <a:cubicBezTo>
                  <a:pt x="2835275" y="165100"/>
                  <a:pt x="2879529" y="157183"/>
                  <a:pt x="2924175" y="152400"/>
                </a:cubicBezTo>
                <a:cubicBezTo>
                  <a:pt x="3020054" y="142127"/>
                  <a:pt x="3181234" y="138255"/>
                  <a:pt x="3267075" y="133350"/>
                </a:cubicBezTo>
                <a:cubicBezTo>
                  <a:pt x="3308405" y="130988"/>
                  <a:pt x="3349625" y="127000"/>
                  <a:pt x="3390900" y="123825"/>
                </a:cubicBezTo>
                <a:cubicBezTo>
                  <a:pt x="3496096" y="104698"/>
                  <a:pt x="3551356" y="92157"/>
                  <a:pt x="3667125" y="85725"/>
                </a:cubicBezTo>
                <a:lnTo>
                  <a:pt x="3838575" y="76200"/>
                </a:lnTo>
                <a:cubicBezTo>
                  <a:pt x="4421283" y="38197"/>
                  <a:pt x="3784538" y="73028"/>
                  <a:pt x="4381500" y="47625"/>
                </a:cubicBezTo>
                <a:cubicBezTo>
                  <a:pt x="4438686" y="45192"/>
                  <a:pt x="4495823" y="41670"/>
                  <a:pt x="4552950" y="38100"/>
                </a:cubicBezTo>
                <a:cubicBezTo>
                  <a:pt x="4597426" y="35320"/>
                  <a:pt x="4641768" y="30255"/>
                  <a:pt x="4686300" y="28575"/>
                </a:cubicBezTo>
                <a:lnTo>
                  <a:pt x="5562600" y="0"/>
                </a:lnTo>
                <a:lnTo>
                  <a:pt x="6486525" y="9525"/>
                </a:lnTo>
                <a:cubicBezTo>
                  <a:pt x="6518428" y="10121"/>
                  <a:pt x="6550352" y="13505"/>
                  <a:pt x="6581775" y="19050"/>
                </a:cubicBezTo>
                <a:cubicBezTo>
                  <a:pt x="6696351" y="39269"/>
                  <a:pt x="6600009" y="39686"/>
                  <a:pt x="6715125" y="47625"/>
                </a:cubicBezTo>
                <a:cubicBezTo>
                  <a:pt x="6818795" y="54775"/>
                  <a:pt x="7128867" y="63956"/>
                  <a:pt x="7210425" y="66675"/>
                </a:cubicBezTo>
                <a:cubicBezTo>
                  <a:pt x="7254060" y="81220"/>
                  <a:pt x="7228960" y="76200"/>
                  <a:pt x="7286625" y="762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pic>
        <p:nvPicPr>
          <p:cNvPr id="10" name="Picture 9" descr="top.gif"/>
          <p:cNvPicPr>
            <a:picLocks noChangeAspect="1"/>
          </p:cNvPicPr>
          <p:nvPr userDrawn="1"/>
        </p:nvPicPr>
        <p:blipFill>
          <a:blip r:embed="rId4"/>
          <a:srcRect/>
          <a:stretch>
            <a:fillRect/>
          </a:stretch>
        </p:blipFill>
        <p:spPr bwMode="auto">
          <a:xfrm rot="18850181">
            <a:off x="-155575" y="330200"/>
            <a:ext cx="2000250" cy="1047750"/>
          </a:xfrm>
          <a:prstGeom prst="rect">
            <a:avLst/>
          </a:prstGeom>
          <a:noFill/>
          <a:ln w="9525">
            <a:noFill/>
            <a:miter lim="800000"/>
            <a:headEnd/>
            <a:tailEnd/>
          </a:ln>
        </p:spPr>
      </p:pic>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10" name="Rectangle 9"/>
          <p:cNvSpPr/>
          <p:nvPr/>
        </p:nvSpPr>
        <p:spPr>
          <a:xfrm>
            <a:off x="326571" y="362857"/>
            <a:ext cx="8440058" cy="251822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3098041" y="3575712"/>
            <a:ext cx="5396671" cy="1340467"/>
          </a:xfrm>
        </p:spPr>
        <p:txBody>
          <a:bodyPr tIns="0" bIns="0" anchor="b" anchorCtr="0"/>
          <a:lstStyle>
            <a:lvl1pPr algn="r">
              <a:defRPr sz="4600" b="0" cap="none" baseline="0">
                <a:solidFill>
                  <a:schemeClr val="accent1"/>
                </a:solidFill>
                <a:effectLst/>
              </a:defRPr>
            </a:lvl1pPr>
          </a:lstStyle>
          <a:p>
            <a:r>
              <a:rPr lang="en-US"/>
              <a:t>Click to edit Master title style</a:t>
            </a:r>
            <a:endParaRPr/>
          </a:p>
        </p:txBody>
      </p:sp>
      <p:sp>
        <p:nvSpPr>
          <p:cNvPr id="3" name="Text Placeholder 2"/>
          <p:cNvSpPr>
            <a:spLocks noGrp="1"/>
          </p:cNvSpPr>
          <p:nvPr>
            <p:ph type="body" idx="1"/>
          </p:nvPr>
        </p:nvSpPr>
        <p:spPr>
          <a:xfrm>
            <a:off x="3098041" y="4980297"/>
            <a:ext cx="5396671" cy="810904"/>
          </a:xfrm>
        </p:spPr>
        <p:txBody>
          <a:bodyPr tIns="0" bIns="0" anchor="t" anchorCtr="0">
            <a:normAutofit/>
          </a:bodyPr>
          <a:lstStyle>
            <a:lvl1pPr marL="0" indent="0" algn="r">
              <a:spcBef>
                <a:spcPts val="300"/>
              </a:spcBef>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60F29AB0-274B-47BE-985F-46164E2F9B8D}"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a:xfrm>
            <a:off x="4306824" y="6492240"/>
            <a:ext cx="533400" cy="365125"/>
          </a:xfrm>
        </p:spPr>
        <p:txBody>
          <a:bodyPr vert="horz" lIns="91440" tIns="45720" rIns="91440" bIns="45720" rtlCol="0" anchor="ctr"/>
          <a:lstStyle>
            <a:lvl1pPr marL="0" algn="ctr"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fld id="{93238FDB-2D8C-4804-B582-7DB90366B95F}" type="slidenum">
              <a:rPr lang="en-US" smtClean="0"/>
              <a:pPr>
                <a:defRPr/>
              </a:pPr>
              <a:t>‹#›</a:t>
            </a:fld>
            <a:endParaRPr lang="en-US" dirty="0"/>
          </a:p>
        </p:txBody>
      </p:sp>
      <p:pic>
        <p:nvPicPr>
          <p:cNvPr id="7" name="Picture 6" descr="SectionHeaderLeft.jpg"/>
          <p:cNvPicPr>
            <a:picLocks noChangeAspect="1"/>
          </p:cNvPicPr>
          <p:nvPr/>
        </p:nvPicPr>
        <p:blipFill>
          <a:blip r:embed="rId2"/>
          <a:stretch>
            <a:fillRect/>
          </a:stretch>
        </p:blipFill>
        <p:spPr>
          <a:xfrm>
            <a:off x="470647" y="457200"/>
            <a:ext cx="2216561" cy="5943600"/>
          </a:xfrm>
          <a:prstGeom prst="rect">
            <a:avLst/>
          </a:prstGeom>
        </p:spPr>
      </p:pic>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rot="5400000">
            <a:off x="-222366" y="3369564"/>
            <a:ext cx="5943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658904" y="2286000"/>
            <a:ext cx="3657600" cy="3840163"/>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831308" y="2286000"/>
            <a:ext cx="3657600" cy="3840163"/>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76F0B030-1580-4866-BCBB-5B9DCBDFAB6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FD77EB8B-B6EB-443D-9CB4-B019CEC8F476}" type="slidenum">
              <a:rPr lang="en-US" smtClean="0"/>
              <a:pPr>
                <a:defRPr/>
              </a:pPr>
              <a:t>‹#›</a:t>
            </a:fld>
            <a:endParaRPr lang="en-US" dirty="0"/>
          </a:p>
        </p:txBody>
      </p:sp>
    </p:spTree>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663388" y="2040081"/>
            <a:ext cx="3657600" cy="730415"/>
          </a:xfrm>
        </p:spPr>
        <p:txBody>
          <a:bodyPr tIns="0" bIns="0" anchor="ctr" anchorCtr="0">
            <a:noAutofit/>
          </a:bodyPr>
          <a:lstStyle>
            <a:lvl1pPr marL="0" indent="0" algn="ctr">
              <a:lnSpc>
                <a:spcPts val="3000"/>
              </a:lnSpc>
              <a:spcBef>
                <a:spcPts val="300"/>
              </a:spcBef>
              <a:buNone/>
              <a:defRPr sz="26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63388" y="2797175"/>
            <a:ext cx="3657600" cy="3328988"/>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828032" y="2040081"/>
            <a:ext cx="3657600" cy="730415"/>
          </a:xfrm>
        </p:spPr>
        <p:txBody>
          <a:bodyPr tIns="0" bIns="0" anchor="ctr" anchorCtr="0">
            <a:noAutofit/>
          </a:bodyPr>
          <a:lstStyle>
            <a:lvl1pPr marL="0" indent="0" algn="ctr">
              <a:lnSpc>
                <a:spcPts val="3000"/>
              </a:lnSpc>
              <a:spcBef>
                <a:spcPts val="300"/>
              </a:spcBef>
              <a:buNone/>
              <a:defRPr sz="26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828032" y="2797175"/>
            <a:ext cx="3657600" cy="3328988"/>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6"/>
          <p:cNvSpPr>
            <a:spLocks noGrp="1"/>
          </p:cNvSpPr>
          <p:nvPr>
            <p:ph type="dt" sz="half" idx="10"/>
          </p:nvPr>
        </p:nvSpPr>
        <p:spPr/>
        <p:txBody>
          <a:bodyPr/>
          <a:lstStyle/>
          <a:p>
            <a:pPr>
              <a:defRPr/>
            </a:pPr>
            <a:fld id="{70FF0F97-1060-4EBF-B543-874A8397FCDC}" type="datetimeFigureOut">
              <a:rPr lang="en-US" smtClean="0"/>
              <a:pPr>
                <a:defRPr/>
              </a:pPr>
              <a:t>30-Apr-2024</a:t>
            </a:fld>
            <a:endParaRPr lang="en-US" dirty="0"/>
          </a:p>
        </p:txBody>
      </p:sp>
      <p:sp>
        <p:nvSpPr>
          <p:cNvPr id="8" name="Footer Placeholder 7"/>
          <p:cNvSpPr>
            <a:spLocks noGrp="1"/>
          </p:cNvSpPr>
          <p:nvPr>
            <p:ph type="ftr" sz="quarter" idx="11"/>
          </p:nvPr>
        </p:nvSpPr>
        <p:spPr/>
        <p:txBody>
          <a:bodyPr/>
          <a:lstStyle/>
          <a:p>
            <a:pPr>
              <a:defRPr/>
            </a:pPr>
            <a:endParaRPr lang="en-US" dirty="0"/>
          </a:p>
        </p:txBody>
      </p:sp>
      <p:sp>
        <p:nvSpPr>
          <p:cNvPr id="9" name="Slide Number Placeholder 8"/>
          <p:cNvSpPr>
            <a:spLocks noGrp="1"/>
          </p:cNvSpPr>
          <p:nvPr>
            <p:ph type="sldNum" sz="quarter" idx="12"/>
          </p:nvPr>
        </p:nvSpPr>
        <p:spPr/>
        <p:txBody>
          <a:bodyPr/>
          <a:lstStyle/>
          <a:p>
            <a:pPr>
              <a:defRPr/>
            </a:pPr>
            <a:fld id="{D56104A5-FF6A-4891-8FE3-D539A7A66E05}" type="slidenum">
              <a:rPr lang="en-US" smtClean="0"/>
              <a:pPr>
                <a:defRPr/>
              </a:pPr>
              <a:t>‹#›</a:t>
            </a:fld>
            <a:endParaRPr lang="en-US" dirty="0"/>
          </a:p>
        </p:txBody>
      </p:sp>
      <p:cxnSp>
        <p:nvCxnSpPr>
          <p:cNvPr id="11" name="Straight Connector 10"/>
          <p:cNvCxnSpPr/>
          <p:nvPr/>
        </p:nvCxnSpPr>
        <p:spPr>
          <a:xfrm rot="5400000">
            <a:off x="2884488" y="4484687"/>
            <a:ext cx="3375025" cy="1588"/>
          </a:xfrm>
          <a:prstGeom prst="line">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cxnSp>
    </p:spTree>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654050" y="2286001"/>
            <a:ext cx="7848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654050" y="4302966"/>
            <a:ext cx="7848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828032"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4828032"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Content Placeholder 2"/>
          <p:cNvSpPr>
            <a:spLocks noGrp="1"/>
          </p:cNvSpPr>
          <p:nvPr>
            <p:ph sz="half" idx="14"/>
          </p:nvPr>
        </p:nvSpPr>
        <p:spPr>
          <a:xfrm>
            <a:off x="654085" y="2286000"/>
            <a:ext cx="3657600" cy="3840163"/>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828032"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4828032"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658906"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5"/>
          </p:nvPr>
        </p:nvSpPr>
        <p:spPr>
          <a:xfrm>
            <a:off x="658906"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Date Placeholder 2"/>
          <p:cNvSpPr>
            <a:spLocks noGrp="1"/>
          </p:cNvSpPr>
          <p:nvPr>
            <p:ph type="dt" sz="half" idx="10"/>
          </p:nvPr>
        </p:nvSpPr>
        <p:spPr/>
        <p:txBody>
          <a:bodyPr/>
          <a:lstStyle/>
          <a:p>
            <a:pPr>
              <a:defRPr/>
            </a:pPr>
            <a:fld id="{E848A180-20FC-43E6-ACF2-E4D2D7D4238C}" type="datetimeFigureOut">
              <a:rPr lang="en-US" smtClean="0"/>
              <a:pPr>
                <a:defRPr/>
              </a:pPr>
              <a:t>30-Apr-2024</a:t>
            </a:fld>
            <a:endParaRPr lang="en-US" dirty="0"/>
          </a:p>
        </p:txBody>
      </p:sp>
      <p:sp>
        <p:nvSpPr>
          <p:cNvPr id="4" name="Footer Placeholder 3"/>
          <p:cNvSpPr>
            <a:spLocks noGrp="1"/>
          </p:cNvSpPr>
          <p:nvPr>
            <p:ph type="ftr" sz="quarter" idx="11"/>
          </p:nvPr>
        </p:nvSpPr>
        <p:spPr/>
        <p:txBody>
          <a:bodyPr/>
          <a:lstStyle/>
          <a:p>
            <a:pPr>
              <a:defRPr/>
            </a:pPr>
            <a:endParaRPr lang="en-US" dirty="0"/>
          </a:p>
        </p:txBody>
      </p:sp>
      <p:sp>
        <p:nvSpPr>
          <p:cNvPr id="5" name="Slide Number Placeholder 4"/>
          <p:cNvSpPr>
            <a:spLocks noGrp="1"/>
          </p:cNvSpPr>
          <p:nvPr>
            <p:ph type="sldNum" sz="quarter" idx="12"/>
          </p:nvPr>
        </p:nvSpPr>
        <p:spPr/>
        <p:txBody>
          <a:bodyPr/>
          <a:lstStyle/>
          <a:p>
            <a:pPr>
              <a:defRPr/>
            </a:pPr>
            <a:fld id="{97012834-41A2-49E3-8762-B14EE3F5CFB1}" type="slidenum">
              <a:rPr lang="en-US" smtClean="0"/>
              <a:pPr>
                <a:defRPr/>
              </a:pPr>
              <a:t>‹#›</a:t>
            </a:fld>
            <a:endParaRPr lang="en-US" dirty="0"/>
          </a:p>
        </p:txBody>
      </p:sp>
    </p:spTree>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7" name="Rectangle 6"/>
          <p:cNvSpPr/>
          <p:nvPr/>
        </p:nvSpPr>
        <p:spPr>
          <a:xfrm>
            <a:off x="355600" y="566057"/>
            <a:ext cx="8396514" cy="259805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5" name="Rectangle 4"/>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6" name="Rectangle 5"/>
          <p:cNvSpPr/>
          <p:nvPr/>
        </p:nvSpPr>
        <p:spPr>
          <a:xfrm>
            <a:off x="457200" y="45720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Date Placeholder 1"/>
          <p:cNvSpPr>
            <a:spLocks noGrp="1"/>
          </p:cNvSpPr>
          <p:nvPr>
            <p:ph type="dt" sz="half" idx="10"/>
          </p:nvPr>
        </p:nvSpPr>
        <p:spPr/>
        <p:txBody>
          <a:bodyPr/>
          <a:lstStyle/>
          <a:p>
            <a:pPr>
              <a:defRPr/>
            </a:pPr>
            <a:fld id="{5B242E86-E886-49FE-9E81-CBA74FDF21F4}" type="datetimeFigureOut">
              <a:rPr lang="en-US" smtClean="0"/>
              <a:pPr>
                <a:defRPr/>
              </a:pPr>
              <a:t>30-Apr-2024</a:t>
            </a:fld>
            <a:endParaRPr lang="en-US" dirty="0"/>
          </a:p>
        </p:txBody>
      </p:sp>
      <p:sp>
        <p:nvSpPr>
          <p:cNvPr id="3" name="Footer Placeholder 2"/>
          <p:cNvSpPr>
            <a:spLocks noGrp="1"/>
          </p:cNvSpPr>
          <p:nvPr>
            <p:ph type="ftr" sz="quarter" idx="11"/>
          </p:nvPr>
        </p:nvSpPr>
        <p:spPr/>
        <p:txBody>
          <a:bodyPr/>
          <a:lstStyle/>
          <a:p>
            <a:pPr>
              <a:defRPr/>
            </a:pPr>
            <a:endParaRPr lang="en-US" dirty="0"/>
          </a:p>
        </p:txBody>
      </p:sp>
      <p:sp>
        <p:nvSpPr>
          <p:cNvPr id="4" name="Slide Number Placeholder 3"/>
          <p:cNvSpPr>
            <a:spLocks noGrp="1"/>
          </p:cNvSpPr>
          <p:nvPr>
            <p:ph type="sldNum" sz="quarter" idx="12"/>
          </p:nvPr>
        </p:nvSpPr>
        <p:spPr/>
        <p:txBody>
          <a:bodyPr/>
          <a:lstStyle/>
          <a:p>
            <a:pPr>
              <a:defRPr/>
            </a:pPr>
            <a:fld id="{0A9A6F0D-A611-4358-861D-7B01E8303898}" type="slidenum">
              <a:rPr lang="en-US" smtClean="0"/>
              <a:pPr>
                <a:defRPr/>
              </a:pPr>
              <a:t>‹#›</a:t>
            </a:fld>
            <a:endParaRPr lang="en-US" dirty="0"/>
          </a:p>
        </p:txBody>
      </p:sp>
    </p:spTree>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10" name="Rectangle 9"/>
          <p:cNvSpPr/>
          <p:nvPr/>
        </p:nvSpPr>
        <p:spPr>
          <a:xfrm>
            <a:off x="333828" y="566057"/>
            <a:ext cx="8454571" cy="21335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a:off x="457200" y="45720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658368" y="1644868"/>
            <a:ext cx="3657600" cy="1098332"/>
          </a:xfrm>
        </p:spPr>
        <p:txBody>
          <a:bodyPr anchor="b"/>
          <a:lstStyle>
            <a:lvl1pPr algn="l">
              <a:defRPr sz="3600" b="0">
                <a:solidFill>
                  <a:schemeClr val="accent1"/>
                </a:solidFill>
                <a:effectLst/>
              </a:defRPr>
            </a:lvl1pPr>
          </a:lstStyle>
          <a:p>
            <a:r>
              <a:rPr lang="en-US"/>
              <a:t>Click to edit Master title style</a:t>
            </a:r>
            <a:endParaRPr/>
          </a:p>
        </p:txBody>
      </p:sp>
      <p:sp>
        <p:nvSpPr>
          <p:cNvPr id="3" name="Content Placeholder 2"/>
          <p:cNvSpPr>
            <a:spLocks noGrp="1"/>
          </p:cNvSpPr>
          <p:nvPr>
            <p:ph idx="1"/>
          </p:nvPr>
        </p:nvSpPr>
        <p:spPr>
          <a:xfrm>
            <a:off x="4828032" y="654268"/>
            <a:ext cx="3657600" cy="5486400"/>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658368" y="2774731"/>
            <a:ext cx="3657600" cy="3168869"/>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35E854A5-A6D3-4FF2-A83D-4A92E35723B6}"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BAB79F47-3AF0-4617-BC60-2E592392BB48}" type="slidenum">
              <a:rPr lang="en-US" smtClean="0"/>
              <a:pPr>
                <a:defRPr/>
              </a:pPr>
              <a:t>‹#›</a:t>
            </a:fld>
            <a:endParaRPr lang="en-US" dirty="0"/>
          </a:p>
        </p:txBody>
      </p:sp>
    </p:spTree>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useBgFill="1">
        <p:nvSpPr>
          <p:cNvPr id="10" name="Rectangle 9"/>
          <p:cNvSpPr/>
          <p:nvPr/>
        </p:nvSpPr>
        <p:spPr>
          <a:xfrm>
            <a:off x="355600" y="348343"/>
            <a:ext cx="8432800" cy="235131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rot="5400000">
            <a:off x="5598058" y="3310469"/>
            <a:ext cx="5943600" cy="237061"/>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658368" y="1644868"/>
            <a:ext cx="3657600" cy="1098332"/>
          </a:xfrm>
        </p:spPr>
        <p:txBody>
          <a:bodyPr anchor="b"/>
          <a:lstStyle>
            <a:lvl1pPr algn="l">
              <a:defRPr sz="3600" b="0">
                <a:solidFill>
                  <a:schemeClr val="accent1"/>
                </a:solidFill>
                <a:effectLst/>
              </a:defRPr>
            </a:lvl1pPr>
          </a:lstStyle>
          <a:p>
            <a:r>
              <a:rPr lang="en-US"/>
              <a:t>Click to edit Master title style</a:t>
            </a:r>
            <a:endParaRPr/>
          </a:p>
        </p:txBody>
      </p:sp>
      <p:sp>
        <p:nvSpPr>
          <p:cNvPr id="4" name="Text Placeholder 3"/>
          <p:cNvSpPr>
            <a:spLocks noGrp="1"/>
          </p:cNvSpPr>
          <p:nvPr>
            <p:ph type="body" sz="half" idx="2"/>
          </p:nvPr>
        </p:nvSpPr>
        <p:spPr>
          <a:xfrm>
            <a:off x="658368" y="2774731"/>
            <a:ext cx="3657600" cy="3168869"/>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4BFCA2E3-A4EC-4D3C-A723-C30C7527518B}"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CADF8B95-FD24-4BC4-B430-69A3136D11E0}" type="slidenum">
              <a:rPr lang="en-US" smtClean="0"/>
              <a:pPr>
                <a:defRPr/>
              </a:pPr>
              <a:t>‹#›</a:t>
            </a:fld>
            <a:endParaRPr lang="en-US" dirty="0"/>
          </a:p>
        </p:txBody>
      </p:sp>
      <p:sp>
        <p:nvSpPr>
          <p:cNvPr id="11" name="Picture Placeholder 10"/>
          <p:cNvSpPr>
            <a:spLocks noGrp="1"/>
          </p:cNvSpPr>
          <p:nvPr>
            <p:ph type="pic" sz="quarter" idx="13"/>
          </p:nvPr>
        </p:nvSpPr>
        <p:spPr>
          <a:xfrm>
            <a:off x="4828032" y="457200"/>
            <a:ext cx="3621024" cy="5943600"/>
          </a:xfrm>
        </p:spPr>
        <p:txBody>
          <a:bodyPr/>
          <a:lstStyle>
            <a:lvl1pPr>
              <a:buNone/>
              <a:defRPr/>
            </a:lvl1pPr>
          </a:lstStyle>
          <a:p>
            <a:r>
              <a:rPr lang="en-US"/>
              <a:t>Click icon to add picture</a:t>
            </a:r>
            <a:endParaRPr/>
          </a:p>
        </p:txBody>
      </p:sp>
    </p:spTree>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a:xfrm>
            <a:off x="609600" y="2286000"/>
            <a:ext cx="7874000" cy="38401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pPr>
              <a:defRPr/>
            </a:pPr>
            <a:fld id="{C2AEB11F-C391-4BDD-82EB-6F3E13A9F9E1}"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p:txBody>
          <a:bodyPr/>
          <a:lstStyle/>
          <a:p>
            <a:pPr>
              <a:defRPr/>
            </a:pPr>
            <a:fld id="{FBF0D068-AB96-40B8-9FAA-4228627632C0}" type="slidenum">
              <a:rPr lang="en-US" smtClean="0"/>
              <a:pPr>
                <a:defRPr/>
              </a:pPr>
              <a:t>‹#›</a:t>
            </a:fld>
            <a:endParaRPr lang="en-US" dirty="0"/>
          </a:p>
        </p:txBody>
      </p:sp>
    </p:spTree>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1" name="Rectangle 10"/>
          <p:cNvSpPr/>
          <p:nvPr/>
        </p:nvSpPr>
        <p:spPr>
          <a:xfrm>
            <a:off x="348342" y="362857"/>
            <a:ext cx="8440057" cy="23368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9" name="Picture 8" descr="VerticalRight.jpg"/>
          <p:cNvPicPr>
            <a:picLocks noChangeAspect="1"/>
          </p:cNvPicPr>
          <p:nvPr/>
        </p:nvPicPr>
        <p:blipFill>
          <a:blip r:embed="rId2"/>
          <a:stretch>
            <a:fillRect/>
          </a:stretch>
        </p:blipFill>
        <p:spPr>
          <a:xfrm>
            <a:off x="7111668" y="457200"/>
            <a:ext cx="1546230" cy="5943600"/>
          </a:xfrm>
          <a:prstGeom prst="rect">
            <a:avLst/>
          </a:prstGeom>
        </p:spPr>
      </p:pic>
      <p:sp>
        <p:nvSpPr>
          <p:cNvPr id="10" name="Rectangle 9"/>
          <p:cNvSpPr/>
          <p:nvPr/>
        </p:nvSpPr>
        <p:spPr>
          <a:xfrm rot="5400000">
            <a:off x="4074414" y="3369564"/>
            <a:ext cx="5943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Vertical Title 1"/>
          <p:cNvSpPr>
            <a:spLocks noGrp="1"/>
          </p:cNvSpPr>
          <p:nvPr>
            <p:ph type="title" orient="vert"/>
          </p:nvPr>
        </p:nvSpPr>
        <p:spPr>
          <a:xfrm>
            <a:off x="7119582" y="693738"/>
            <a:ext cx="1491018" cy="5432425"/>
          </a:xfrm>
        </p:spPr>
        <p:txBody>
          <a:bodyPr vert="eaVert" tIns="45720" bIns="45720"/>
          <a:lstStyle>
            <a:lvl1pPr algn="l">
              <a:defRPr/>
            </a:lvl1pPr>
          </a:lstStyle>
          <a:p>
            <a:r>
              <a:rPr lang="en-US"/>
              <a:t>Click to edit Master title style</a:t>
            </a:r>
            <a:endParaRPr/>
          </a:p>
        </p:txBody>
      </p:sp>
      <p:sp>
        <p:nvSpPr>
          <p:cNvPr id="3" name="Vertical Text Placeholder 2"/>
          <p:cNvSpPr>
            <a:spLocks noGrp="1"/>
          </p:cNvSpPr>
          <p:nvPr>
            <p:ph type="body" orient="vert" idx="1"/>
          </p:nvPr>
        </p:nvSpPr>
        <p:spPr>
          <a:xfrm>
            <a:off x="457200" y="693738"/>
            <a:ext cx="6019800" cy="54324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pPr>
              <a:defRPr/>
            </a:pPr>
            <a:fld id="{042669FE-0345-4152-A335-E3D8B60CD5FA}"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p:txBody>
          <a:bodyPr/>
          <a:lstStyle/>
          <a:p>
            <a:pPr>
              <a:defRPr/>
            </a:pPr>
            <a:fld id="{0E7040A0-6A5C-4BDA-AED7-03967CF0473B}"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image" Target="../media/image2.jpeg"/><Relationship Id="rId2" Type="http://schemas.openxmlformats.org/officeDocument/2006/relationships/slideLayout" Target="../slideLayouts/slideLayout13.xml"/><Relationship Id="rId16" Type="http://schemas.openxmlformats.org/officeDocument/2006/relationships/image" Target="../media/image1.jpe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theme" Target="../theme/theme2.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srcRect/>
          <a:tile tx="0" ty="0" sx="100000" sy="100000" flip="none" algn="tl"/>
        </a:blip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defRPr>
            </a:lvl1pPr>
          </a:lstStyle>
          <a:p>
            <a:pPr>
              <a:defRPr/>
            </a:pPr>
            <a:fld id="{201CF5B1-68BC-4F44-89BE-2F24F67B5729}" type="datetimeFigureOut">
              <a:rPr lang="en-US"/>
              <a:pPr>
                <a:defRPr/>
              </a:pPr>
              <a:t>30-Apr-2024</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defRPr>
            </a:lvl1pPr>
          </a:lstStyle>
          <a:p>
            <a:pPr>
              <a:defRPr/>
            </a:pPr>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defRPr>
            </a:lvl1pPr>
          </a:lstStyle>
          <a:p>
            <a:pPr>
              <a:defRPr/>
            </a:pPr>
            <a:fld id="{F69DAB5F-4C32-47E8-A254-E438E2D0D3F6}"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Lst>
  <p:transition/>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srcRect/>
          <a:tile tx="0" ty="0" sx="100000" sy="100000" flip="none" algn="tl"/>
        </a:blipFill>
        <a:effectLst/>
      </p:bgPr>
    </p:bg>
    <p:spTree>
      <p:nvGrpSpPr>
        <p:cNvPr id="1" name=""/>
        <p:cNvGrpSpPr/>
        <p:nvPr/>
      </p:nvGrpSpPr>
      <p:grpSpPr>
        <a:xfrm>
          <a:off x="0" y="0"/>
          <a:ext cx="0" cy="0"/>
          <a:chOff x="0" y="0"/>
          <a:chExt cx="0" cy="0"/>
        </a:xfrm>
      </p:grpSpPr>
      <p:pic>
        <p:nvPicPr>
          <p:cNvPr id="11" name="Picture 10" descr="RunningTop-R.jpg"/>
          <p:cNvPicPr>
            <a:picLocks noChangeAspect="1"/>
          </p:cNvPicPr>
          <p:nvPr/>
        </p:nvPicPr>
        <p:blipFill>
          <a:blip r:embed="rId17"/>
          <a:stretch>
            <a:fillRect/>
          </a:stretch>
        </p:blipFill>
        <p:spPr>
          <a:xfrm>
            <a:off x="457200" y="457200"/>
            <a:ext cx="8229600" cy="1382002"/>
          </a:xfrm>
          <a:prstGeom prst="rect">
            <a:avLst/>
          </a:prstGeom>
        </p:spPr>
      </p:pic>
      <p:sp>
        <p:nvSpPr>
          <p:cNvPr id="2" name="Title Placeholder 1"/>
          <p:cNvSpPr>
            <a:spLocks noGrp="1"/>
          </p:cNvSpPr>
          <p:nvPr>
            <p:ph type="title"/>
          </p:nvPr>
        </p:nvSpPr>
        <p:spPr>
          <a:xfrm>
            <a:off x="658813" y="456252"/>
            <a:ext cx="7824788" cy="1323041"/>
          </a:xfrm>
          <a:prstGeom prst="rect">
            <a:avLst/>
          </a:prstGeom>
          <a:effectLst/>
        </p:spPr>
        <p:txBody>
          <a:bodyPr vert="horz" lIns="91440" tIns="0" rIns="91440" bIns="0" rtlCol="0" anchor="b" anchorCtr="0">
            <a:noAutofit/>
          </a:bodyPr>
          <a:lstStyle/>
          <a:p>
            <a:r>
              <a:rPr lang="en-US"/>
              <a:t>Click to edit Master title style</a:t>
            </a:r>
            <a:endParaRPr/>
          </a:p>
        </p:txBody>
      </p:sp>
      <p:sp>
        <p:nvSpPr>
          <p:cNvPr id="3" name="Text Placeholder 2"/>
          <p:cNvSpPr>
            <a:spLocks noGrp="1"/>
          </p:cNvSpPr>
          <p:nvPr>
            <p:ph type="body" idx="1"/>
          </p:nvPr>
        </p:nvSpPr>
        <p:spPr>
          <a:xfrm>
            <a:off x="2286000" y="2286000"/>
            <a:ext cx="6197600" cy="38401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690360" y="6492875"/>
            <a:ext cx="2133600" cy="365125"/>
          </a:xfrm>
          <a:prstGeom prst="rect">
            <a:avLst/>
          </a:prstGeom>
        </p:spPr>
        <p:txBody>
          <a:bodyPr vert="horz" lIns="91440" tIns="45720" rIns="91440" bIns="45720" rtlCol="0" anchor="ctr"/>
          <a:lstStyle>
            <a:lvl1pPr algn="r">
              <a:defRPr sz="1100" b="1">
                <a:solidFill>
                  <a:schemeClr val="bg1">
                    <a:lumMod val="65000"/>
                  </a:schemeClr>
                </a:solidFill>
                <a:latin typeface="Calibri" pitchFamily="34" charset="0"/>
              </a:defRPr>
            </a:lvl1pPr>
          </a:lstStyle>
          <a:p>
            <a:pPr>
              <a:defRPr/>
            </a:pPr>
            <a:fld id="{5E62B1BE-7229-4612-B077-302E9FB27D58}" type="datetimeFigureOut">
              <a:rPr lang="en-US" smtClean="0"/>
              <a:pPr>
                <a:defRPr/>
              </a:pPr>
              <a:t>30-Apr-2024</a:t>
            </a:fld>
            <a:endParaRPr lang="en-US" dirty="0"/>
          </a:p>
        </p:txBody>
      </p:sp>
      <p:sp>
        <p:nvSpPr>
          <p:cNvPr id="5" name="Footer Placeholder 4"/>
          <p:cNvSpPr>
            <a:spLocks noGrp="1"/>
          </p:cNvSpPr>
          <p:nvPr>
            <p:ph type="ftr" sz="quarter" idx="3"/>
          </p:nvPr>
        </p:nvSpPr>
        <p:spPr>
          <a:xfrm>
            <a:off x="318247" y="6492875"/>
            <a:ext cx="3415554" cy="365125"/>
          </a:xfrm>
          <a:prstGeom prst="rect">
            <a:avLst/>
          </a:prstGeom>
        </p:spPr>
        <p:txBody>
          <a:bodyPr vert="horz" lIns="91440" tIns="45720" rIns="91440" bIns="45720" rtlCol="0" anchor="ctr"/>
          <a:lstStyle>
            <a:lvl1pPr marL="0" algn="l"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endParaRPr lang="en-US" dirty="0"/>
          </a:p>
        </p:txBody>
      </p:sp>
      <p:sp>
        <p:nvSpPr>
          <p:cNvPr id="6" name="Slide Number Placeholder 5"/>
          <p:cNvSpPr>
            <a:spLocks noGrp="1"/>
          </p:cNvSpPr>
          <p:nvPr>
            <p:ph type="sldNum" sz="quarter" idx="4"/>
          </p:nvPr>
        </p:nvSpPr>
        <p:spPr>
          <a:xfrm>
            <a:off x="378666" y="6149788"/>
            <a:ext cx="533400" cy="365125"/>
          </a:xfrm>
          <a:prstGeom prst="rect">
            <a:avLst/>
          </a:prstGeom>
        </p:spPr>
        <p:txBody>
          <a:bodyPr vert="horz" lIns="91440" tIns="91440" rIns="91440" bIns="91440" rtlCol="0" anchor="ctr"/>
          <a:lstStyle>
            <a:lvl1pPr algn="l">
              <a:defRPr sz="1800" b="0">
                <a:solidFill>
                  <a:schemeClr val="accent1"/>
                </a:solidFill>
                <a:latin typeface="Calibri" pitchFamily="34" charset="0"/>
              </a:defRPr>
            </a:lvl1pPr>
          </a:lstStyle>
          <a:p>
            <a:pPr>
              <a:defRPr/>
            </a:pPr>
            <a:fld id="{E4367C90-D8D8-4A11-9BC3-E7451ACC5EB2}"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10" name="Rectangle 9"/>
          <p:cNvSpPr/>
          <p:nvPr/>
        </p:nvSpPr>
        <p:spPr>
          <a:xfrm>
            <a:off x="457200" y="184096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Lst>
  <p:transition/>
  <p:txStyles>
    <p:titleStyle>
      <a:lvl1pPr algn="r" defTabSz="914400" rtl="0" eaLnBrk="1" latinLnBrk="0" hangingPunct="1">
        <a:lnSpc>
          <a:spcPts val="5400"/>
        </a:lnSpc>
        <a:spcBef>
          <a:spcPct val="0"/>
        </a:spcBef>
        <a:buNone/>
        <a:defRPr sz="5200" kern="1200">
          <a:solidFill>
            <a:schemeClr val="bg1"/>
          </a:solidFill>
          <a:effectLst>
            <a:outerShdw blurRad="50800" dist="38100" dir="2700000" algn="tl" rotWithShape="0">
              <a:prstClr val="black">
                <a:alpha val="40000"/>
              </a:prstClr>
            </a:outerShdw>
          </a:effectLst>
          <a:latin typeface="+mj-lt"/>
          <a:ea typeface="+mj-ea"/>
          <a:cs typeface="+mj-cs"/>
        </a:defRPr>
      </a:lvl1pPr>
    </p:titleStyle>
    <p:bodyStyle>
      <a:lvl1pPr marL="282575" indent="-282575" algn="l" defTabSz="914400" rtl="0" eaLnBrk="1" latinLnBrk="0" hangingPunct="1">
        <a:spcBef>
          <a:spcPts val="1800"/>
        </a:spcBef>
        <a:buClr>
          <a:schemeClr val="accent1"/>
        </a:buClr>
        <a:buSzPct val="75000"/>
        <a:buFont typeface="Wingdings" pitchFamily="2" charset="2"/>
        <a:buChar char="n"/>
        <a:defRPr sz="2000" kern="1200">
          <a:solidFill>
            <a:schemeClr val="tx1">
              <a:lumMod val="85000"/>
              <a:lumOff val="15000"/>
            </a:schemeClr>
          </a:solidFill>
          <a:latin typeface="+mn-lt"/>
          <a:ea typeface="+mn-ea"/>
          <a:cs typeface="+mn-cs"/>
        </a:defRPr>
      </a:lvl1pPr>
      <a:lvl2pPr marL="577850" indent="-2952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2pPr>
      <a:lvl3pPr marL="860425"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3pPr>
      <a:lvl4pPr marL="1143000"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4pPr>
      <a:lvl5pPr marL="1425575"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15.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4.xml"/><Relationship Id="rId1" Type="http://schemas.openxmlformats.org/officeDocument/2006/relationships/slideLayout" Target="../slideLayouts/slideLayout21.xml"/><Relationship Id="rId4" Type="http://schemas.openxmlformats.org/officeDocument/2006/relationships/image" Target="../media/image11.wmf"/></Relationships>
</file>

<file path=ppt/slides/_rels/slide5.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notesSlide" Target="../notesSlides/notesSlide5.xml"/><Relationship Id="rId1" Type="http://schemas.openxmlformats.org/officeDocument/2006/relationships/slideLayout" Target="../slideLayouts/slideLayout21.xml"/><Relationship Id="rId4" Type="http://schemas.openxmlformats.org/officeDocument/2006/relationships/image" Target="../media/image11.wmf"/></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17.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gif"/><Relationship Id="rId2" Type="http://schemas.openxmlformats.org/officeDocument/2006/relationships/notesSlide" Target="../notesSlides/notesSlide7.xml"/><Relationship Id="rId1" Type="http://schemas.openxmlformats.org/officeDocument/2006/relationships/slideLayout" Target="../slideLayouts/slideLayout21.xml"/><Relationship Id="rId4" Type="http://schemas.openxmlformats.org/officeDocument/2006/relationships/image" Target="../media/image14.gif"/></Relationships>
</file>

<file path=ppt/slides/_rels/slide8.xml.rels><?xml version="1.0" encoding="UTF-8" standalone="yes"?>
<Relationships xmlns="http://schemas.openxmlformats.org/package/2006/relationships"><Relationship Id="rId3" Type="http://schemas.openxmlformats.org/officeDocument/2006/relationships/image" Target="../media/image15.gif"/><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1.xml"/><Relationship Id="rId5" Type="http://schemas.openxmlformats.org/officeDocument/2006/relationships/image" Target="../media/image1.jpe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0.xml"/><Relationship Id="rId1" Type="http://schemas.openxmlformats.org/officeDocument/2006/relationships/slideLayout" Target="../slideLayouts/slideLayout20.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1.xml"/><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4.xml"/><Relationship Id="rId1" Type="http://schemas.openxmlformats.org/officeDocument/2006/relationships/slideLayout" Target="../slideLayouts/slideLayout20.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Title 1"/>
          <p:cNvSpPr>
            <a:spLocks noGrp="1"/>
          </p:cNvSpPr>
          <p:nvPr>
            <p:ph type="title"/>
          </p:nvPr>
        </p:nvSpPr>
        <p:spPr/>
        <p:txBody>
          <a:bodyPr/>
          <a:lstStyle/>
          <a:p>
            <a:r>
              <a:rPr lang="en-US" dirty="0"/>
              <a:t>Semaphores, Producer Consumer</a:t>
            </a:r>
          </a:p>
        </p:txBody>
      </p:sp>
      <p:sp>
        <p:nvSpPr>
          <p:cNvPr id="3" name="Subtitle 2"/>
          <p:cNvSpPr>
            <a:spLocks noGrp="1"/>
          </p:cNvSpPr>
          <p:nvPr>
            <p:ph type="body" idx="1"/>
          </p:nvPr>
        </p:nvSpPr>
        <p:spPr>
          <a:xfrm>
            <a:off x="457200" y="1905000"/>
            <a:ext cx="2133601" cy="4191000"/>
          </a:xfrm>
        </p:spPr>
        <p:txBody>
          <a:bodyPr rtlCol="0">
            <a:normAutofit/>
          </a:bodyPr>
          <a:lstStyle/>
          <a:p>
            <a:pPr algn="ctr">
              <a:spcBef>
                <a:spcPct val="20000"/>
              </a:spcBef>
              <a:buClrTx/>
              <a:buSzTx/>
              <a:defRPr/>
            </a:pPr>
            <a:r>
              <a:rPr lang="en-US" sz="3200" i="1" dirty="0">
                <a:solidFill>
                  <a:schemeClr val="bg2">
                    <a:lumMod val="25000"/>
                  </a:schemeClr>
                </a:solidFill>
              </a:rPr>
              <a:t>Operating Systems:</a:t>
            </a:r>
            <a:br>
              <a:rPr lang="en-US" sz="3200" i="1" dirty="0">
                <a:solidFill>
                  <a:schemeClr val="bg2">
                    <a:lumMod val="25000"/>
                  </a:schemeClr>
                </a:solidFill>
              </a:rPr>
            </a:br>
            <a:r>
              <a:rPr lang="en-US" sz="3200" i="1" dirty="0">
                <a:solidFill>
                  <a:schemeClr val="bg2">
                    <a:lumMod val="25000"/>
                  </a:schemeClr>
                </a:solidFill>
              </a:rPr>
              <a:t>Internals and Design Principles</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28800" y="381000"/>
            <a:ext cx="4648200" cy="1142999"/>
          </a:xfrm>
        </p:spPr>
        <p:txBody>
          <a:bodyPr/>
          <a:lstStyle/>
          <a:p>
            <a:r>
              <a:rPr lang="en-NZ" sz="5400" b="1" spc="200" dirty="0">
                <a:ln w="1905"/>
                <a:solidFill>
                  <a:schemeClr val="bg2">
                    <a:lumMod val="10000"/>
                  </a:schemeClr>
                </a:solidFill>
                <a:effectLst>
                  <a:innerShdw blurRad="69850" dist="43180" dir="5400000">
                    <a:srgbClr val="000000">
                      <a:alpha val="65000"/>
                    </a:srgbClr>
                  </a:innerShdw>
                </a:effectLst>
              </a:rPr>
              <a:t>Semaphore</a:t>
            </a:r>
          </a:p>
        </p:txBody>
      </p:sp>
      <p:graphicFrame>
        <p:nvGraphicFramePr>
          <p:cNvPr id="4" name="Content Placeholder 3"/>
          <p:cNvGraphicFramePr>
            <a:graphicFrameLocks noGrp="1"/>
          </p:cNvGraphicFramePr>
          <p:nvPr>
            <p:ph sz="half" idx="1"/>
          </p:nvPr>
        </p:nvGraphicFramePr>
        <p:xfrm>
          <a:off x="533400" y="2057400"/>
          <a:ext cx="8077200" cy="434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p:cNvSpPr txBox="1"/>
          <p:nvPr/>
        </p:nvSpPr>
        <p:spPr>
          <a:xfrm>
            <a:off x="457200" y="4572000"/>
            <a:ext cx="8229600" cy="1831271"/>
          </a:xfrm>
          <a:prstGeom prst="rect">
            <a:avLst/>
          </a:prstGeom>
          <a:blipFill rotWithShape="1">
            <a:blip r:embed="rId8"/>
            <a:tile tx="0" ty="0" sx="100000" sy="100000" flip="none" algn="tl"/>
          </a:blipFill>
        </p:spPr>
        <p:txBody>
          <a:bodyPr wrap="square" rtlCol="0">
            <a:spAutoFit/>
          </a:bodyPr>
          <a:lstStyle/>
          <a:p>
            <a:pPr marL="919163" lvl="0" indent="-457200">
              <a:spcBef>
                <a:spcPts val="1200"/>
              </a:spcBef>
              <a:buFont typeface="+mj-lt"/>
              <a:buAutoNum type="arabicParenR"/>
            </a:pPr>
            <a:r>
              <a:rPr lang="en-US" sz="2500" b="1" dirty="0">
                <a:solidFill>
                  <a:schemeClr val="bg2">
                    <a:lumMod val="25000"/>
                  </a:schemeClr>
                </a:solidFill>
                <a:latin typeface="Cambria"/>
              </a:rPr>
              <a:t>May be initialized to a nonnegative integer value</a:t>
            </a:r>
          </a:p>
          <a:p>
            <a:pPr marL="919163" lvl="0" indent="-457200">
              <a:spcBef>
                <a:spcPts val="1200"/>
              </a:spcBef>
              <a:buFont typeface="+mj-lt"/>
              <a:buAutoNum type="arabicParenR"/>
            </a:pPr>
            <a:r>
              <a:rPr lang="en-US" sz="2500" b="1" dirty="0">
                <a:solidFill>
                  <a:schemeClr val="bg2">
                    <a:lumMod val="25000"/>
                  </a:schemeClr>
                </a:solidFill>
                <a:latin typeface="Cambria"/>
              </a:rPr>
              <a:t>The </a:t>
            </a:r>
            <a:r>
              <a:rPr lang="en-US" sz="2500" b="1" dirty="0" err="1">
                <a:solidFill>
                  <a:schemeClr val="bg2">
                    <a:lumMod val="25000"/>
                  </a:schemeClr>
                </a:solidFill>
                <a:latin typeface="Cambria"/>
              </a:rPr>
              <a:t>semWait</a:t>
            </a:r>
            <a:r>
              <a:rPr lang="en-US" sz="2500" b="1" dirty="0">
                <a:solidFill>
                  <a:schemeClr val="bg2">
                    <a:lumMod val="25000"/>
                  </a:schemeClr>
                </a:solidFill>
                <a:latin typeface="Cambria"/>
              </a:rPr>
              <a:t> operation decrements the value</a:t>
            </a:r>
          </a:p>
          <a:p>
            <a:pPr marL="919163" lvl="0" indent="-457200">
              <a:spcBef>
                <a:spcPts val="1200"/>
              </a:spcBef>
              <a:buFont typeface="+mj-lt"/>
              <a:buAutoNum type="arabicParenR"/>
            </a:pPr>
            <a:r>
              <a:rPr lang="en-US" sz="2500" b="1" dirty="0">
                <a:solidFill>
                  <a:schemeClr val="bg2">
                    <a:lumMod val="25000"/>
                  </a:schemeClr>
                </a:solidFill>
                <a:latin typeface="Cambria"/>
              </a:rPr>
              <a:t>The </a:t>
            </a:r>
            <a:r>
              <a:rPr lang="en-US" sz="2500" b="1" dirty="0" err="1">
                <a:solidFill>
                  <a:schemeClr val="bg2">
                    <a:lumMod val="25000"/>
                  </a:schemeClr>
                </a:solidFill>
                <a:latin typeface="Cambria"/>
              </a:rPr>
              <a:t>semSignal</a:t>
            </a:r>
            <a:r>
              <a:rPr lang="en-US" sz="2500" b="1" dirty="0">
                <a:solidFill>
                  <a:schemeClr val="bg2">
                    <a:lumMod val="25000"/>
                  </a:schemeClr>
                </a:solidFill>
                <a:latin typeface="Cambria"/>
              </a:rPr>
              <a:t> operation increments the value</a:t>
            </a:r>
          </a:p>
          <a:p>
            <a:endParaRPr lang="en-US" dirty="0"/>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067748"/>
          </a:xfrm>
        </p:spPr>
        <p:txBody>
          <a:bodyPr/>
          <a:lstStyle/>
          <a:p>
            <a:pPr algn="ctr"/>
            <a:r>
              <a:rPr lang="en-US" sz="5400" b="1" spc="200" dirty="0">
                <a:ln w="1905"/>
                <a:solidFill>
                  <a:schemeClr val="bg2">
                    <a:lumMod val="10000"/>
                  </a:schemeClr>
                </a:solidFill>
                <a:effectLst>
                  <a:innerShdw blurRad="69850" dist="43180" dir="5400000">
                    <a:srgbClr val="000000">
                      <a:alpha val="65000"/>
                    </a:srgbClr>
                  </a:innerShdw>
                </a:effectLst>
              </a:rPr>
              <a:t>Consequences</a:t>
            </a:r>
          </a:p>
        </p:txBody>
      </p:sp>
      <p:graphicFrame>
        <p:nvGraphicFramePr>
          <p:cNvPr id="8" name="Content Placeholder 7"/>
          <p:cNvGraphicFramePr>
            <a:graphicFrameLocks noGrp="1"/>
          </p:cNvGraphicFramePr>
          <p:nvPr>
            <p:ph sz="half" idx="1"/>
          </p:nvPr>
        </p:nvGraphicFramePr>
        <p:xfrm>
          <a:off x="658812" y="2286000"/>
          <a:ext cx="8104187" cy="38401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762000" y="0"/>
            <a:ext cx="8229600" cy="1371600"/>
          </a:xfrm>
        </p:spPr>
        <p:txBody>
          <a:bodyPr/>
          <a:lstStyle/>
          <a:p>
            <a:pPr algn="ctr"/>
            <a:r>
              <a:rPr lang="en-US" sz="4800" b="1" spc="100" dirty="0">
                <a:solidFill>
                  <a:schemeClr val="accent1">
                    <a:lumMod val="50000"/>
                  </a:schemeClr>
                </a:solidFill>
              </a:rPr>
              <a:t>Semaphore Primitives</a:t>
            </a:r>
          </a:p>
        </p:txBody>
      </p:sp>
      <p:pic>
        <p:nvPicPr>
          <p:cNvPr id="6" name="Content Placeholder 3" descr="Fig05_03.gif"/>
          <p:cNvPicPr>
            <a:picLocks noGrp="1" noChangeAspect="1"/>
          </p:cNvPicPr>
          <p:nvPr/>
        </p:nvPicPr>
        <p:blipFill>
          <a:blip r:embed="rId3"/>
          <a:stretch>
            <a:fillRect/>
          </a:stretch>
        </p:blipFill>
        <p:spPr bwMode="auto">
          <a:xfrm>
            <a:off x="1447800" y="1447800"/>
            <a:ext cx="6981825" cy="5035377"/>
          </a:xfrm>
          <a:prstGeom prst="rect">
            <a:avLst/>
          </a:prstGeom>
          <a:noFill/>
          <a:ln w="9525">
            <a:noFill/>
            <a:miter lim="800000"/>
            <a:headEnd/>
            <a:tailEnd/>
          </a:ln>
        </p:spPr>
      </p:pic>
      <p:pic>
        <p:nvPicPr>
          <p:cNvPr id="4" name="Picture 3"/>
          <p:cNvPicPr>
            <a:picLocks noChangeAspect="1"/>
          </p:cNvPicPr>
          <p:nvPr/>
        </p:nvPicPr>
        <p:blipFill>
          <a:blip r:embed="rId4"/>
          <a:stretch>
            <a:fillRect/>
          </a:stretch>
        </p:blipFill>
        <p:spPr>
          <a:xfrm>
            <a:off x="304800" y="5257800"/>
            <a:ext cx="921488" cy="1219200"/>
          </a:xfrm>
          <a:prstGeom prst="rect">
            <a:avLst/>
          </a:prstGeom>
        </p:spPr>
      </p:pic>
    </p:spTree>
  </p:cSld>
  <p:clrMapOvr>
    <a:masterClrMapping/>
  </p:clrMapOvr>
  <p:transition spd="med">
    <p:check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0" y="533400"/>
            <a:ext cx="9296400" cy="838200"/>
          </a:xfrm>
        </p:spPr>
        <p:txBody>
          <a:bodyPr/>
          <a:lstStyle/>
          <a:p>
            <a:pPr algn="ctr"/>
            <a:r>
              <a:rPr lang="en-US" sz="4800" b="1" dirty="0">
                <a:solidFill>
                  <a:schemeClr val="accent1">
                    <a:lumMod val="50000"/>
                  </a:schemeClr>
                </a:solidFill>
              </a:rPr>
              <a:t>Binary Semaphore Primitives</a:t>
            </a:r>
          </a:p>
        </p:txBody>
      </p:sp>
      <p:pic>
        <p:nvPicPr>
          <p:cNvPr id="6" name="Content Placeholder 3" descr="Fig05_04.gif"/>
          <p:cNvPicPr>
            <a:picLocks noGrp="1" noChangeAspect="1"/>
          </p:cNvPicPr>
          <p:nvPr/>
        </p:nvPicPr>
        <p:blipFill>
          <a:blip r:embed="rId3"/>
          <a:stretch>
            <a:fillRect/>
          </a:stretch>
        </p:blipFill>
        <p:spPr bwMode="auto">
          <a:xfrm>
            <a:off x="1524000" y="1524000"/>
            <a:ext cx="6134100" cy="4959281"/>
          </a:xfrm>
          <a:prstGeom prst="rect">
            <a:avLst/>
          </a:prstGeom>
          <a:noFill/>
          <a:ln w="9525">
            <a:noFill/>
            <a:miter lim="800000"/>
            <a:headEnd/>
            <a:tailEnd/>
          </a:ln>
        </p:spPr>
      </p:pic>
      <p:pic>
        <p:nvPicPr>
          <p:cNvPr id="4" name="Picture 3"/>
          <p:cNvPicPr>
            <a:picLocks noChangeAspect="1"/>
          </p:cNvPicPr>
          <p:nvPr/>
        </p:nvPicPr>
        <p:blipFill>
          <a:blip r:embed="rId4"/>
          <a:stretch>
            <a:fillRect/>
          </a:stretch>
        </p:blipFill>
        <p:spPr>
          <a:xfrm>
            <a:off x="7848599" y="5334000"/>
            <a:ext cx="858579" cy="1135966"/>
          </a:xfrm>
          <a:prstGeom prst="rect">
            <a:avLst/>
          </a:prstGeom>
        </p:spPr>
      </p:pic>
    </p:spTree>
  </p:cSld>
  <p:clrMapOvr>
    <a:masterClrMapping/>
  </p:clrMapOvr>
  <p:transition spd="med">
    <p:checke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067748"/>
          </a:xfrm>
        </p:spPr>
        <p:txBody>
          <a:bodyPr/>
          <a:lstStyle/>
          <a:p>
            <a:r>
              <a:rPr lang="en-NZ" b="1" dirty="0">
                <a:ln w="10541" cmpd="sng">
                  <a:solidFill>
                    <a:schemeClr val="accent1">
                      <a:shade val="88000"/>
                      <a:satMod val="110000"/>
                    </a:schemeClr>
                  </a:solidFill>
                  <a:prstDash val="solid"/>
                </a:ln>
                <a:solidFill>
                  <a:schemeClr val="accent6">
                    <a:lumMod val="50000"/>
                  </a:schemeClr>
                </a:solidFill>
                <a:effectLst/>
              </a:rPr>
              <a:t>Strong/Weak Semaphores</a:t>
            </a:r>
          </a:p>
        </p:txBody>
      </p:sp>
      <p:sp>
        <p:nvSpPr>
          <p:cNvPr id="3" name="Content Placeholder 2"/>
          <p:cNvSpPr>
            <a:spLocks noGrp="1"/>
          </p:cNvSpPr>
          <p:nvPr>
            <p:ph sz="half" idx="1"/>
          </p:nvPr>
        </p:nvSpPr>
        <p:spPr>
          <a:xfrm>
            <a:off x="381000" y="2209799"/>
            <a:ext cx="9067800" cy="609601"/>
          </a:xfrm>
        </p:spPr>
        <p:txBody>
          <a:bodyPr>
            <a:noAutofit/>
          </a:bodyPr>
          <a:lstStyle/>
          <a:p>
            <a:pPr>
              <a:buClr>
                <a:schemeClr val="accent1">
                  <a:lumMod val="75000"/>
                </a:schemeClr>
              </a:buClr>
              <a:buSzPct val="92000"/>
              <a:buFont typeface="Wingdings" charset="2"/>
              <a:buChar char="❋"/>
            </a:pPr>
            <a:r>
              <a:rPr lang="en-NZ" sz="2400" dirty="0"/>
              <a:t>A queue is used to hold processes waiting on the semaphore</a:t>
            </a:r>
          </a:p>
          <a:p>
            <a:endParaRPr lang="en-NZ" sz="2800" dirty="0"/>
          </a:p>
        </p:txBody>
      </p:sp>
      <p:graphicFrame>
        <p:nvGraphicFramePr>
          <p:cNvPr id="4" name="Diagram 3"/>
          <p:cNvGraphicFramePr/>
          <p:nvPr/>
        </p:nvGraphicFramePr>
        <p:xfrm>
          <a:off x="457200" y="2895600"/>
          <a:ext cx="8229600" cy="3530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81000" y="685800"/>
            <a:ext cx="8382000" cy="1295400"/>
          </a:xfrm>
        </p:spPr>
        <p:txBody>
          <a:bodyPr/>
          <a:lstStyle/>
          <a:p>
            <a:pPr algn="ctr"/>
            <a:r>
              <a:rPr lang="en-US" b="1" dirty="0">
                <a:ln w="10541" cmpd="sng">
                  <a:solidFill>
                    <a:schemeClr val="accent1">
                      <a:shade val="88000"/>
                      <a:satMod val="110000"/>
                    </a:schemeClr>
                  </a:solidFill>
                  <a:prstDash val="solid"/>
                </a:ln>
                <a:solidFill>
                  <a:schemeClr val="accent6">
                    <a:lumMod val="50000"/>
                  </a:schemeClr>
                </a:solidFill>
                <a:effectLst/>
              </a:rPr>
              <a:t>Example of Semaphore Mechanism</a:t>
            </a:r>
          </a:p>
        </p:txBody>
      </p:sp>
      <p:pic>
        <p:nvPicPr>
          <p:cNvPr id="5" name="Content Placeholder 3" descr="Fig05_05a.gif"/>
          <p:cNvPicPr>
            <a:picLocks noChangeAspect="1"/>
          </p:cNvPicPr>
          <p:nvPr/>
        </p:nvPicPr>
        <p:blipFill>
          <a:blip r:embed="rId3"/>
          <a:stretch>
            <a:fillRect/>
          </a:stretch>
        </p:blipFill>
        <p:spPr bwMode="auto">
          <a:xfrm>
            <a:off x="457200" y="2209800"/>
            <a:ext cx="3823300" cy="4191000"/>
          </a:xfrm>
          <a:prstGeom prst="rect">
            <a:avLst/>
          </a:prstGeom>
          <a:noFill/>
          <a:ln w="9525">
            <a:noFill/>
            <a:miter lim="800000"/>
            <a:headEnd/>
            <a:tailEnd/>
          </a:ln>
        </p:spPr>
      </p:pic>
      <p:pic>
        <p:nvPicPr>
          <p:cNvPr id="6" name="Content Placeholder 3" descr="Fig05_05b.gif"/>
          <p:cNvPicPr>
            <a:picLocks noChangeAspect="1"/>
          </p:cNvPicPr>
          <p:nvPr/>
        </p:nvPicPr>
        <p:blipFill>
          <a:blip r:embed="rId4"/>
          <a:stretch>
            <a:fillRect/>
          </a:stretch>
        </p:blipFill>
        <p:spPr bwMode="auto">
          <a:xfrm>
            <a:off x="4495800" y="2209800"/>
            <a:ext cx="4217955" cy="4191000"/>
          </a:xfrm>
          <a:prstGeom prst="rect">
            <a:avLst/>
          </a:prstGeom>
          <a:noFill/>
          <a:ln w="9525">
            <a:noFill/>
            <a:miter lim="800000"/>
            <a:headEnd/>
            <a:tailEnd/>
          </a:ln>
        </p:spPr>
      </p:pic>
    </p:spTree>
  </p:cSld>
  <p:clrMapOvr>
    <a:masterClrMapping/>
  </p:clrMapOvr>
  <p:transition spd="med">
    <p:checke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Fig05_06.gif"/>
          <p:cNvPicPr>
            <a:picLocks noGrp="1" noChangeAspect="1"/>
          </p:cNvPicPr>
          <p:nvPr>
            <p:ph idx="4294967295"/>
          </p:nvPr>
        </p:nvPicPr>
        <p:blipFill>
          <a:blip r:embed="rId3"/>
          <a:stretch>
            <a:fillRect/>
          </a:stretch>
        </p:blipFill>
        <p:spPr>
          <a:xfrm>
            <a:off x="990600" y="1371600"/>
            <a:ext cx="7364725" cy="5105400"/>
          </a:xfrm>
        </p:spPr>
      </p:pic>
      <p:sp>
        <p:nvSpPr>
          <p:cNvPr id="3" name="TextBox 2"/>
          <p:cNvSpPr txBox="1"/>
          <p:nvPr/>
        </p:nvSpPr>
        <p:spPr>
          <a:xfrm>
            <a:off x="457200" y="457200"/>
            <a:ext cx="8229600" cy="892552"/>
          </a:xfrm>
          <a:prstGeom prst="rect">
            <a:avLst/>
          </a:prstGeom>
          <a:noFill/>
        </p:spPr>
        <p:txBody>
          <a:bodyPr wrap="square" rtlCol="0">
            <a:spAutoFit/>
          </a:bodyPr>
          <a:lstStyle/>
          <a:p>
            <a:pPr algn="ctr"/>
            <a:r>
              <a:rPr lang="en-US" sz="5200" b="1" spc="300"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latin typeface="+mj-lt"/>
                <a:ea typeface="+mj-ea"/>
                <a:cs typeface="+mj-cs"/>
              </a:rPr>
              <a:t>Mutual Exclusion</a:t>
            </a: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1676400" y="533400"/>
            <a:ext cx="7467600" cy="1371600"/>
          </a:xfrm>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Shared Data Protected </a:t>
            </a:r>
            <a:b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b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by a Semaphore</a:t>
            </a:r>
          </a:p>
        </p:txBody>
      </p:sp>
      <p:pic>
        <p:nvPicPr>
          <p:cNvPr id="1026" name="Picture 2"/>
          <p:cNvPicPr>
            <a:picLocks noChangeAspect="1" noChangeArrowheads="1"/>
          </p:cNvPicPr>
          <p:nvPr/>
        </p:nvPicPr>
        <p:blipFill>
          <a:blip r:embed="rId3"/>
          <a:srcRect/>
          <a:stretch>
            <a:fillRect/>
          </a:stretch>
        </p:blipFill>
        <p:spPr bwMode="auto">
          <a:xfrm>
            <a:off x="2743200" y="1905000"/>
            <a:ext cx="5943600" cy="4546327"/>
          </a:xfrm>
          <a:prstGeom prst="rect">
            <a:avLst/>
          </a:prstGeom>
          <a:noFill/>
          <a:ln w="9525">
            <a:noFill/>
            <a:miter lim="800000"/>
            <a:headEnd/>
            <a:tailEnd/>
          </a:ln>
          <a:effectLst/>
        </p:spPr>
      </p:pic>
      <p:pic>
        <p:nvPicPr>
          <p:cNvPr id="4" name="Picture 3"/>
          <p:cNvPicPr>
            <a:picLocks noChangeAspect="1"/>
          </p:cNvPicPr>
          <p:nvPr/>
        </p:nvPicPr>
        <p:blipFill>
          <a:blip r:embed="rId4"/>
          <a:stretch>
            <a:fillRect/>
          </a:stretch>
        </p:blipFill>
        <p:spPr>
          <a:xfrm>
            <a:off x="381000" y="2209800"/>
            <a:ext cx="2209800" cy="2209800"/>
          </a:xfrm>
          <a:prstGeom prst="rect">
            <a:avLst/>
          </a:prstGeom>
          <a:blipFill rotWithShape="1">
            <a:blip r:embed="rId5"/>
            <a:tile tx="0" ty="0" sx="100000" sy="100000" flip="none" algn="tl"/>
          </a:blipFill>
        </p:spPr>
      </p:pic>
      <p:sp>
        <p:nvSpPr>
          <p:cNvPr id="7" name="TextBox 6"/>
          <p:cNvSpPr txBox="1"/>
          <p:nvPr/>
        </p:nvSpPr>
        <p:spPr>
          <a:xfrm>
            <a:off x="381000" y="2057400"/>
            <a:ext cx="2209800" cy="533400"/>
          </a:xfrm>
          <a:prstGeom prst="rect">
            <a:avLst/>
          </a:prstGeom>
          <a:blipFill rotWithShape="1">
            <a:blip r:embed="rId5"/>
            <a:tile tx="0" ty="0" sx="100000" sy="100000" flip="none" algn="tl"/>
          </a:blipFill>
        </p:spPr>
        <p:txBody>
          <a:bodyPr wrap="square" rtlCol="0">
            <a:spAutoFit/>
          </a:bodyPr>
          <a:lstStyle/>
          <a:p>
            <a:endParaRPr lang="en-US" dirty="0"/>
          </a:p>
        </p:txBody>
      </p:sp>
      <p:sp>
        <p:nvSpPr>
          <p:cNvPr id="8" name="TextBox 7"/>
          <p:cNvSpPr txBox="1"/>
          <p:nvPr/>
        </p:nvSpPr>
        <p:spPr>
          <a:xfrm>
            <a:off x="381000" y="4038600"/>
            <a:ext cx="2209800" cy="533400"/>
          </a:xfrm>
          <a:prstGeom prst="rect">
            <a:avLst/>
          </a:prstGeom>
          <a:blipFill rotWithShape="1">
            <a:blip r:embed="rId5"/>
            <a:tile tx="0" ty="0" sx="100000" sy="100000" flip="none" algn="tl"/>
          </a:blipFill>
        </p:spPr>
        <p:txBody>
          <a:bodyPr wrap="square" rtlCol="0">
            <a:spAutoFit/>
          </a:bodyPr>
          <a:lstStyle/>
          <a:p>
            <a:endParaRPr lang="en-US" dirty="0"/>
          </a:p>
        </p:txBody>
      </p:sp>
    </p:spTree>
  </p:cSld>
  <p:clrMapOvr>
    <a:masterClrMapping/>
  </p:clrMapOvr>
  <p:transition spd="med">
    <p:check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762000"/>
            <a:ext cx="7824788" cy="685801"/>
          </a:xfrm>
        </p:spPr>
        <p:txBody>
          <a:bodyPr/>
          <a:lstStyle/>
          <a:p>
            <a:pPr algn="ctr"/>
            <a:r>
              <a:rPr lang="en-US" sz="4400" b="1" dirty="0">
                <a:solidFill>
                  <a:schemeClr val="accent6">
                    <a:lumMod val="50000"/>
                  </a:schemeClr>
                </a:solidFill>
              </a:rPr>
              <a:t>Producer/Consumer Problem</a:t>
            </a:r>
          </a:p>
        </p:txBody>
      </p:sp>
      <p:graphicFrame>
        <p:nvGraphicFramePr>
          <p:cNvPr id="5" name="Diagram 4"/>
          <p:cNvGraphicFramePr/>
          <p:nvPr/>
        </p:nvGraphicFramePr>
        <p:xfrm>
          <a:off x="762000" y="2362200"/>
          <a:ext cx="7620000" cy="4114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990600" y="0"/>
            <a:ext cx="7824788" cy="1323975"/>
          </a:xfrm>
        </p:spPr>
        <p:txBody>
          <a:bodyPr/>
          <a:lstStyle/>
          <a:p>
            <a:pPr algn="ctr"/>
            <a:r>
              <a:rPr lang="en-US" sz="4800" b="1" dirty="0">
                <a:solidFill>
                  <a:schemeClr val="accent6">
                    <a:lumMod val="50000"/>
                  </a:schemeClr>
                </a:solidFill>
              </a:rPr>
              <a:t>Buffer Structure</a:t>
            </a:r>
          </a:p>
        </p:txBody>
      </p:sp>
      <p:pic>
        <p:nvPicPr>
          <p:cNvPr id="4" name="Content Placeholder 3" descr="Fig05_08.gif"/>
          <p:cNvPicPr>
            <a:picLocks noGrp="1" noChangeAspect="1"/>
          </p:cNvPicPr>
          <p:nvPr>
            <p:ph idx="4294967295"/>
          </p:nvPr>
        </p:nvPicPr>
        <p:blipFill>
          <a:blip r:embed="rId3"/>
          <a:stretch>
            <a:fillRect/>
          </a:stretch>
        </p:blipFill>
        <p:spPr>
          <a:xfrm>
            <a:off x="990600" y="1600200"/>
            <a:ext cx="7472465" cy="4929188"/>
          </a:xfrm>
        </p:spPr>
      </p:pic>
    </p:spTree>
  </p:cSld>
  <p:clrMapOvr>
    <a:masterClrMapping/>
  </p:clrMapOvr>
  <p:transition spd="med">
    <p:checke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4800" b="1" dirty="0">
                <a:ln w="1905"/>
                <a:solidFill>
                  <a:schemeClr val="accent6">
                    <a:lumMod val="75000"/>
                  </a:schemeClr>
                </a:solidFill>
                <a:effectLst>
                  <a:innerShdw blurRad="69850" dist="43180" dir="5400000">
                    <a:srgbClr val="000000">
                      <a:alpha val="65000"/>
                    </a:srgbClr>
                  </a:innerShdw>
                </a:effectLst>
              </a:rPr>
              <a:t>Implementation of Semaphores</a:t>
            </a:r>
          </a:p>
        </p:txBody>
      </p:sp>
      <p:sp>
        <p:nvSpPr>
          <p:cNvPr id="3" name="Content Placeholder 2"/>
          <p:cNvSpPr>
            <a:spLocks noGrp="1"/>
          </p:cNvSpPr>
          <p:nvPr>
            <p:ph sz="half" idx="1"/>
          </p:nvPr>
        </p:nvSpPr>
        <p:spPr>
          <a:xfrm>
            <a:off x="457200" y="2133600"/>
            <a:ext cx="8153400" cy="4267200"/>
          </a:xfrm>
        </p:spPr>
        <p:txBody>
          <a:bodyPr>
            <a:normAutofit lnSpcReduction="10000"/>
          </a:bodyPr>
          <a:lstStyle/>
          <a:p>
            <a:r>
              <a:rPr lang="en-US" sz="3100" dirty="0"/>
              <a:t>Imperative that the </a:t>
            </a:r>
            <a:r>
              <a:rPr lang="en-US" sz="3100" dirty="0" err="1">
                <a:latin typeface="Courier New"/>
              </a:rPr>
              <a:t>semWait</a:t>
            </a:r>
            <a:r>
              <a:rPr lang="en-US" sz="3100" dirty="0"/>
              <a:t> and </a:t>
            </a:r>
            <a:r>
              <a:rPr lang="en-US" sz="3100" dirty="0" err="1">
                <a:latin typeface="Courier New"/>
              </a:rPr>
              <a:t>semSignal</a:t>
            </a:r>
            <a:r>
              <a:rPr lang="en-US" sz="3100" dirty="0"/>
              <a:t> operations be implemented as atomic primitives</a:t>
            </a:r>
          </a:p>
          <a:p>
            <a:r>
              <a:rPr lang="en-US" sz="3100" dirty="0"/>
              <a:t>Can be implemented in hardware or firmware</a:t>
            </a:r>
          </a:p>
          <a:p>
            <a:r>
              <a:rPr lang="en-US" sz="3100" dirty="0"/>
              <a:t>Software schemes such as Dekker’s or Peterson’s algorithms can be used</a:t>
            </a:r>
          </a:p>
          <a:p>
            <a:r>
              <a:rPr lang="en-US" sz="3100" dirty="0"/>
              <a:t>Use one of the hardware-supported     schemes for mutual exclusion</a:t>
            </a:r>
          </a:p>
        </p:txBody>
      </p:sp>
      <p:pic>
        <p:nvPicPr>
          <p:cNvPr id="10" name="Picture 9"/>
          <p:cNvPicPr>
            <a:picLocks noChangeAspect="1"/>
          </p:cNvPicPr>
          <p:nvPr/>
        </p:nvPicPr>
        <p:blipFill>
          <a:blip r:embed="rId3"/>
          <a:stretch>
            <a:fillRect/>
          </a:stretch>
        </p:blipFill>
        <p:spPr>
          <a:xfrm>
            <a:off x="7221713" y="5029200"/>
            <a:ext cx="1465087" cy="1506357"/>
          </a:xfrm>
          <a:prstGeom prst="rect">
            <a:avLst/>
          </a:prstGeom>
        </p:spPr>
      </p:pic>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0" y="457200"/>
            <a:ext cx="7824788" cy="1067748"/>
          </a:xfrm>
        </p:spPr>
        <p:txBody>
          <a:bodyPr/>
          <a:lstStyle/>
          <a:p>
            <a:pPr algn="l"/>
            <a:r>
              <a:rPr lang="en-US" b="1" dirty="0">
                <a:ln w="1905"/>
                <a:solidFill>
                  <a:schemeClr val="accent6">
                    <a:lumMod val="75000"/>
                  </a:schemeClr>
                </a:solidFill>
                <a:effectLst>
                  <a:innerShdw blurRad="69850" dist="43180" dir="5400000">
                    <a:srgbClr val="000000">
                      <a:alpha val="65000"/>
                    </a:srgbClr>
                  </a:innerShdw>
                </a:effectLst>
              </a:rPr>
              <a:t>Monitors</a:t>
            </a:r>
          </a:p>
        </p:txBody>
      </p:sp>
      <p:sp>
        <p:nvSpPr>
          <p:cNvPr id="5" name="Content Placeholder 4"/>
          <p:cNvSpPr>
            <a:spLocks noGrp="1"/>
          </p:cNvSpPr>
          <p:nvPr>
            <p:ph sz="half" idx="1"/>
          </p:nvPr>
        </p:nvSpPr>
        <p:spPr>
          <a:xfrm>
            <a:off x="381000" y="2057400"/>
            <a:ext cx="8382000" cy="4800600"/>
          </a:xfrm>
        </p:spPr>
        <p:txBody>
          <a:bodyPr>
            <a:normAutofit lnSpcReduction="10000"/>
          </a:bodyPr>
          <a:lstStyle/>
          <a:p>
            <a:pPr>
              <a:spcBef>
                <a:spcPts val="600"/>
              </a:spcBef>
            </a:pPr>
            <a:r>
              <a:rPr lang="en-US" sz="2800" dirty="0"/>
              <a:t>Programming language construct that provides equivalent functionality to that of semaphores and is easier to control</a:t>
            </a:r>
          </a:p>
          <a:p>
            <a:pPr>
              <a:spcBef>
                <a:spcPts val="600"/>
              </a:spcBef>
            </a:pPr>
            <a:r>
              <a:rPr lang="en-US" sz="2800" dirty="0"/>
              <a:t>Implemented in a number of programming languages</a:t>
            </a:r>
            <a:endParaRPr lang="en-US" dirty="0"/>
          </a:p>
          <a:p>
            <a:pPr lvl="2"/>
            <a:r>
              <a:rPr lang="en-US" sz="2400" dirty="0"/>
              <a:t>including Concurrent Pascal, Pascal-Plus, Modula-2, Modula-3, and Java</a:t>
            </a:r>
          </a:p>
          <a:p>
            <a:pPr marL="342900" lvl="2" indent="-342900"/>
            <a:r>
              <a:rPr lang="en-US" sz="2800" dirty="0"/>
              <a:t>Has also been implemented as a program library</a:t>
            </a:r>
          </a:p>
          <a:p>
            <a:pPr marL="342900" lvl="2" indent="-342900"/>
            <a:r>
              <a:rPr lang="en-US" sz="2800" dirty="0"/>
              <a:t>Software module consisting of one or more procedures, an initialization sequence, and local data</a:t>
            </a:r>
          </a:p>
        </p:txBody>
      </p:sp>
      <p:pic>
        <p:nvPicPr>
          <p:cNvPr id="6" name="Picture 5"/>
          <p:cNvPicPr>
            <a:picLocks noChangeAspect="1"/>
          </p:cNvPicPr>
          <p:nvPr/>
        </p:nvPicPr>
        <p:blipFill>
          <a:blip r:embed="rId3"/>
          <a:stretch>
            <a:fillRect/>
          </a:stretch>
        </p:blipFill>
        <p:spPr>
          <a:xfrm>
            <a:off x="6019800" y="609600"/>
            <a:ext cx="2476788" cy="1143000"/>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p:cTn id="7" dur="1000" fill="hold"/>
                                        <p:tgtEl>
                                          <p:spTgt spid="5">
                                            <p:txEl>
                                              <p:pRg st="0" end="0"/>
                                            </p:txEl>
                                          </p:spTgt>
                                        </p:tgtEl>
                                        <p:attrNameLst>
                                          <p:attrName>ppt_w</p:attrName>
                                        </p:attrNameLst>
                                      </p:cBhvr>
                                      <p:tavLst>
                                        <p:tav tm="0">
                                          <p:val>
                                            <p:fltVal val="0"/>
                                          </p:val>
                                        </p:tav>
                                        <p:tav tm="100000">
                                          <p:val>
                                            <p:strVal val="#ppt_w"/>
                                          </p:val>
                                        </p:tav>
                                      </p:tavLst>
                                    </p:anim>
                                    <p:anim calcmode="lin" valueType="num">
                                      <p:cBhvr>
                                        <p:cTn id="8" dur="1000" fill="hold"/>
                                        <p:tgtEl>
                                          <p:spTgt spid="5">
                                            <p:txEl>
                                              <p:pRg st="0" end="0"/>
                                            </p:txEl>
                                          </p:spTgt>
                                        </p:tgtEl>
                                        <p:attrNameLst>
                                          <p:attrName>ppt_h</p:attrName>
                                        </p:attrNameLst>
                                      </p:cBhvr>
                                      <p:tavLst>
                                        <p:tav tm="0">
                                          <p:val>
                                            <p:fltVal val="0"/>
                                          </p:val>
                                        </p:tav>
                                        <p:tav tm="100000">
                                          <p:val>
                                            <p:strVal val="#ppt_h"/>
                                          </p:val>
                                        </p:tav>
                                      </p:tavLst>
                                    </p:anim>
                                  </p:childTnLst>
                                </p:cTn>
                              </p:par>
                              <p:par>
                                <p:cTn id="9" presetID="23" presetClass="entr" presetSubtype="16" fill="hold" grpId="0" nodeType="with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 calcmode="lin" valueType="num">
                                      <p:cBhvr>
                                        <p:cTn id="11" dur="1000" fill="hold"/>
                                        <p:tgtEl>
                                          <p:spTgt spid="5">
                                            <p:txEl>
                                              <p:pRg st="1" end="1"/>
                                            </p:txEl>
                                          </p:spTgt>
                                        </p:tgtEl>
                                        <p:attrNameLst>
                                          <p:attrName>ppt_w</p:attrName>
                                        </p:attrNameLst>
                                      </p:cBhvr>
                                      <p:tavLst>
                                        <p:tav tm="0">
                                          <p:val>
                                            <p:fltVal val="0"/>
                                          </p:val>
                                        </p:tav>
                                        <p:tav tm="100000">
                                          <p:val>
                                            <p:strVal val="#ppt_w"/>
                                          </p:val>
                                        </p:tav>
                                      </p:tavLst>
                                    </p:anim>
                                    <p:anim calcmode="lin" valueType="num">
                                      <p:cBhvr>
                                        <p:cTn id="12" dur="1000" fill="hold"/>
                                        <p:tgtEl>
                                          <p:spTgt spid="5">
                                            <p:txEl>
                                              <p:pRg st="1" end="1"/>
                                            </p:txEl>
                                          </p:spTgt>
                                        </p:tgtEl>
                                        <p:attrNameLst>
                                          <p:attrName>ppt_h</p:attrName>
                                        </p:attrNameLst>
                                      </p:cBhvr>
                                      <p:tavLst>
                                        <p:tav tm="0">
                                          <p:val>
                                            <p:fltVal val="0"/>
                                          </p:val>
                                        </p:tav>
                                        <p:tav tm="100000">
                                          <p:val>
                                            <p:strVal val="#ppt_h"/>
                                          </p:val>
                                        </p:tav>
                                      </p:tavLst>
                                    </p:anim>
                                  </p:childTnLst>
                                </p:cTn>
                              </p:par>
                              <p:par>
                                <p:cTn id="13" presetID="23" presetClass="entr" presetSubtype="16"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anim calcmode="lin" valueType="num">
                                      <p:cBhvr>
                                        <p:cTn id="15" dur="1000" fill="hold"/>
                                        <p:tgtEl>
                                          <p:spTgt spid="5">
                                            <p:txEl>
                                              <p:pRg st="2" end="2"/>
                                            </p:txEl>
                                          </p:spTgt>
                                        </p:tgtEl>
                                        <p:attrNameLst>
                                          <p:attrName>ppt_w</p:attrName>
                                        </p:attrNameLst>
                                      </p:cBhvr>
                                      <p:tavLst>
                                        <p:tav tm="0">
                                          <p:val>
                                            <p:fltVal val="0"/>
                                          </p:val>
                                        </p:tav>
                                        <p:tav tm="100000">
                                          <p:val>
                                            <p:strVal val="#ppt_w"/>
                                          </p:val>
                                        </p:tav>
                                      </p:tavLst>
                                    </p:anim>
                                    <p:anim calcmode="lin" valueType="num">
                                      <p:cBhvr>
                                        <p:cTn id="16" dur="1000" fill="hold"/>
                                        <p:tgtEl>
                                          <p:spTgt spid="5">
                                            <p:txEl>
                                              <p:pRg st="2" end="2"/>
                                            </p:txEl>
                                          </p:spTgt>
                                        </p:tgtEl>
                                        <p:attrNameLst>
                                          <p:attrName>ppt_h</p:attrName>
                                        </p:attrNameLst>
                                      </p:cBhvr>
                                      <p:tavLst>
                                        <p:tav tm="0">
                                          <p:val>
                                            <p:fltVal val="0"/>
                                          </p:val>
                                        </p:tav>
                                        <p:tav tm="100000">
                                          <p:val>
                                            <p:strVal val="#ppt_h"/>
                                          </p:val>
                                        </p:tav>
                                      </p:tavLst>
                                    </p:anim>
                                  </p:childTnLst>
                                </p:cTn>
                              </p:par>
                              <p:par>
                                <p:cTn id="17" presetID="23" presetClass="entr" presetSubtype="16" fill="hold" grpId="0" nodeType="with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anim calcmode="lin" valueType="num">
                                      <p:cBhvr>
                                        <p:cTn id="19" dur="1000" fill="hold"/>
                                        <p:tgtEl>
                                          <p:spTgt spid="5">
                                            <p:txEl>
                                              <p:pRg st="3" end="3"/>
                                            </p:txEl>
                                          </p:spTgt>
                                        </p:tgtEl>
                                        <p:attrNameLst>
                                          <p:attrName>ppt_w</p:attrName>
                                        </p:attrNameLst>
                                      </p:cBhvr>
                                      <p:tavLst>
                                        <p:tav tm="0">
                                          <p:val>
                                            <p:fltVal val="0"/>
                                          </p:val>
                                        </p:tav>
                                        <p:tav tm="100000">
                                          <p:val>
                                            <p:strVal val="#ppt_w"/>
                                          </p:val>
                                        </p:tav>
                                      </p:tavLst>
                                    </p:anim>
                                    <p:anim calcmode="lin" valueType="num">
                                      <p:cBhvr>
                                        <p:cTn id="20" dur="1000" fill="hold"/>
                                        <p:tgtEl>
                                          <p:spTgt spid="5">
                                            <p:txEl>
                                              <p:pRg st="3" end="3"/>
                                            </p:txEl>
                                          </p:spTgt>
                                        </p:tgtEl>
                                        <p:attrNameLst>
                                          <p:attrName>ppt_h</p:attrName>
                                        </p:attrNameLst>
                                      </p:cBhvr>
                                      <p:tavLst>
                                        <p:tav tm="0">
                                          <p:val>
                                            <p:fltVal val="0"/>
                                          </p:val>
                                        </p:tav>
                                        <p:tav tm="100000">
                                          <p:val>
                                            <p:strVal val="#ppt_h"/>
                                          </p:val>
                                        </p:tav>
                                      </p:tavLst>
                                    </p:anim>
                                  </p:childTnLst>
                                </p:cTn>
                              </p:par>
                              <p:par>
                                <p:cTn id="21" presetID="23" presetClass="entr" presetSubtype="16" fill="hold" grpId="0" nodeType="with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anim calcmode="lin" valueType="num">
                                      <p:cBhvr>
                                        <p:cTn id="23" dur="1000" fill="hold"/>
                                        <p:tgtEl>
                                          <p:spTgt spid="5">
                                            <p:txEl>
                                              <p:pRg st="4" end="4"/>
                                            </p:txEl>
                                          </p:spTgt>
                                        </p:tgtEl>
                                        <p:attrNameLst>
                                          <p:attrName>ppt_w</p:attrName>
                                        </p:attrNameLst>
                                      </p:cBhvr>
                                      <p:tavLst>
                                        <p:tav tm="0">
                                          <p:val>
                                            <p:fltVal val="0"/>
                                          </p:val>
                                        </p:tav>
                                        <p:tav tm="100000">
                                          <p:val>
                                            <p:strVal val="#ppt_w"/>
                                          </p:val>
                                        </p:tav>
                                      </p:tavLst>
                                    </p:anim>
                                    <p:anim calcmode="lin" valueType="num">
                                      <p:cBhvr>
                                        <p:cTn id="24" dur="1000" fill="hold"/>
                                        <p:tgtEl>
                                          <p:spTgt spid="5">
                                            <p:txEl>
                                              <p:pRg st="4" end="4"/>
                                            </p:txEl>
                                          </p:spTgt>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304800"/>
            <a:ext cx="8077200" cy="1219200"/>
          </a:xfrm>
        </p:spPr>
        <p:txBody>
          <a:bodyPr/>
          <a:lstStyle/>
          <a:p>
            <a:r>
              <a:rPr lang="en-US" b="1" dirty="0">
                <a:solidFill>
                  <a:schemeClr val="tx2">
                    <a:lumMod val="50000"/>
                  </a:schemeClr>
                </a:solidFill>
              </a:rPr>
              <a:t>Monitor Characteristics</a:t>
            </a:r>
            <a:endParaRPr lang="en-NZ" b="1" dirty="0">
              <a:solidFill>
                <a:schemeClr val="tx2">
                  <a:lumMod val="50000"/>
                </a:schemeClr>
              </a:solidFill>
            </a:endParaRPr>
          </a:p>
        </p:txBody>
      </p:sp>
      <p:graphicFrame>
        <p:nvGraphicFramePr>
          <p:cNvPr id="4" name="Content Placeholder 3"/>
          <p:cNvGraphicFramePr>
            <a:graphicFrameLocks noGrp="1"/>
          </p:cNvGraphicFramePr>
          <p:nvPr>
            <p:ph idx="4294967295"/>
          </p:nvPr>
        </p:nvGraphicFramePr>
        <p:xfrm>
          <a:off x="457200" y="1905000"/>
          <a:ext cx="8229600" cy="4953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457200"/>
            <a:ext cx="7848600" cy="1067748"/>
          </a:xfrm>
        </p:spPr>
        <p:txBody>
          <a:bodyPr/>
          <a:lstStyle/>
          <a:p>
            <a:r>
              <a:rPr lang="en-US" b="1" dirty="0">
                <a:ln w="1905"/>
                <a:solidFill>
                  <a:schemeClr val="accent6">
                    <a:lumMod val="75000"/>
                  </a:schemeClr>
                </a:solidFill>
                <a:effectLst>
                  <a:innerShdw blurRad="69850" dist="43180" dir="5400000">
                    <a:srgbClr val="000000">
                      <a:alpha val="65000"/>
                    </a:srgbClr>
                  </a:innerShdw>
                </a:effectLst>
              </a:rPr>
              <a:t>Readers/Writers Problem</a:t>
            </a:r>
          </a:p>
        </p:txBody>
      </p:sp>
      <p:sp>
        <p:nvSpPr>
          <p:cNvPr id="3" name="Content Placeholder 2"/>
          <p:cNvSpPr>
            <a:spLocks noGrp="1"/>
          </p:cNvSpPr>
          <p:nvPr>
            <p:ph idx="4294967295"/>
          </p:nvPr>
        </p:nvSpPr>
        <p:spPr>
          <a:xfrm>
            <a:off x="457200" y="1981200"/>
            <a:ext cx="8382000" cy="4572000"/>
          </a:xfrm>
        </p:spPr>
        <p:txBody>
          <a:bodyPr>
            <a:normAutofit/>
          </a:bodyPr>
          <a:lstStyle/>
          <a:p>
            <a:r>
              <a:rPr lang="en-US" sz="2800" dirty="0"/>
              <a:t>A data area is shared among many processes</a:t>
            </a:r>
          </a:p>
          <a:p>
            <a:pPr lvl="2"/>
            <a:r>
              <a:rPr lang="en-US" sz="2600" dirty="0"/>
              <a:t>some processes only read the data area, (readers) and some only write to the data area (writers)</a:t>
            </a:r>
          </a:p>
          <a:p>
            <a:r>
              <a:rPr lang="en-US" sz="2800" dirty="0"/>
              <a:t>Conditions that must be satisfied:</a:t>
            </a:r>
          </a:p>
          <a:p>
            <a:pPr marL="1371600" lvl="2" indent="-514350">
              <a:buSzPct val="100000"/>
              <a:buFont typeface="+mj-lt"/>
              <a:buAutoNum type="arabicPeriod"/>
            </a:pPr>
            <a:r>
              <a:rPr lang="en-NZ" sz="2800" dirty="0"/>
              <a:t>any number of readers may simultaneously read the file</a:t>
            </a:r>
          </a:p>
          <a:p>
            <a:pPr marL="1371600" lvl="2" indent="-514350">
              <a:buSzPct val="100000"/>
              <a:buFont typeface="+mj-lt"/>
              <a:buAutoNum type="arabicPeriod"/>
            </a:pPr>
            <a:r>
              <a:rPr lang="en-NZ" sz="2800" dirty="0"/>
              <a:t>only one writer at a time may write to the file</a:t>
            </a:r>
          </a:p>
          <a:p>
            <a:pPr marL="1371600" lvl="2" indent="-514350">
              <a:buSzPct val="100000"/>
              <a:buFont typeface="+mj-lt"/>
              <a:buAutoNum type="arabicPeriod"/>
            </a:pPr>
            <a:r>
              <a:rPr lang="en-NZ" sz="2800" dirty="0"/>
              <a:t>if a writer is writing to the file, no reader may  read it</a:t>
            </a:r>
            <a:endParaRPr lang="en-US" sz="2800" dirty="0"/>
          </a:p>
          <a:p>
            <a:endParaRPr lang="en-US" dirty="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entr" presetSubtype="0" fill="hold" grpId="0" nodeType="afterEffect">
                                  <p:stCondLst>
                                    <p:cond delay="50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900" decel="100000" fill="hold"/>
                                        <p:tgtEl>
                                          <p:spTgt spid="3">
                                            <p:txEl>
                                              <p:pRg st="3" end="3"/>
                                            </p:txEl>
                                          </p:spTgt>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3">
                                            <p:txEl>
                                              <p:pRg st="3" end="3"/>
                                            </p:txEl>
                                          </p:spTgt>
                                        </p:tgtEl>
                                        <p:attrNameLst>
                                          <p:attrName>ppt_y</p:attrName>
                                        </p:attrNameLst>
                                      </p:cBhvr>
                                      <p:tavLst>
                                        <p:tav tm="0">
                                          <p:val>
                                            <p:strVal val="#ppt_y-.03"/>
                                          </p:val>
                                        </p:tav>
                                        <p:tav tm="100000">
                                          <p:val>
                                            <p:strVal val="#ppt_y"/>
                                          </p:val>
                                        </p:tav>
                                      </p:tavLst>
                                    </p:anim>
                                  </p:childTnLst>
                                </p:cTn>
                              </p:par>
                              <p:par>
                                <p:cTn id="11" presetID="37"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fade">
                                      <p:cBhvr>
                                        <p:cTn id="13" dur="1000"/>
                                        <p:tgtEl>
                                          <p:spTgt spid="3">
                                            <p:txEl>
                                              <p:pRg st="4" end="4"/>
                                            </p:txEl>
                                          </p:spTgt>
                                        </p:tgtEl>
                                      </p:cBhvr>
                                    </p:animEffect>
                                    <p:anim calcmode="lin" valueType="num">
                                      <p:cBhvr>
                                        <p:cTn id="14"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5" dur="900" decel="100000" fill="hold"/>
                                        <p:tgtEl>
                                          <p:spTgt spid="3">
                                            <p:txEl>
                                              <p:pRg st="4" end="4"/>
                                            </p:txEl>
                                          </p:spTgt>
                                        </p:tgtEl>
                                        <p:attrNameLst>
                                          <p:attrName>ppt_y</p:attrName>
                                        </p:attrNameLst>
                                      </p:cBhvr>
                                      <p:tavLst>
                                        <p:tav tm="0">
                                          <p:val>
                                            <p:strVal val="#ppt_y+1"/>
                                          </p:val>
                                        </p:tav>
                                        <p:tav tm="100000">
                                          <p:val>
                                            <p:strVal val="#ppt_y-.03"/>
                                          </p:val>
                                        </p:tav>
                                      </p:tavLst>
                                    </p:anim>
                                    <p:anim calcmode="lin" valueType="num">
                                      <p:cBhvr>
                                        <p:cTn id="16" dur="100" accel="100000" fill="hold">
                                          <p:stCondLst>
                                            <p:cond delay="900"/>
                                          </p:stCondLst>
                                        </p:cTn>
                                        <p:tgtEl>
                                          <p:spTgt spid="3">
                                            <p:txEl>
                                              <p:pRg st="4" end="4"/>
                                            </p:txEl>
                                          </p:spTgt>
                                        </p:tgtEl>
                                        <p:attrNameLst>
                                          <p:attrName>ppt_y</p:attrName>
                                        </p:attrNameLst>
                                      </p:cBhvr>
                                      <p:tavLst>
                                        <p:tav tm="0">
                                          <p:val>
                                            <p:strVal val="#ppt_y-.03"/>
                                          </p:val>
                                        </p:tav>
                                        <p:tav tm="100000">
                                          <p:val>
                                            <p:strVal val="#ppt_y"/>
                                          </p:val>
                                        </p:tav>
                                      </p:tavLst>
                                    </p:anim>
                                  </p:childTnLst>
                                </p:cTn>
                              </p:par>
                              <p:par>
                                <p:cTn id="17" presetID="37"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animEffect transition="in" filter="fade">
                                      <p:cBhvr>
                                        <p:cTn id="19" dur="1000"/>
                                        <p:tgtEl>
                                          <p:spTgt spid="3">
                                            <p:txEl>
                                              <p:pRg st="5" end="5"/>
                                            </p:txEl>
                                          </p:spTgt>
                                        </p:tgtEl>
                                      </p:cBhvr>
                                    </p:animEffect>
                                    <p:anim calcmode="lin" valueType="num">
                                      <p:cBhvr>
                                        <p:cTn id="2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21" dur="900" decel="100000" fill="hold"/>
                                        <p:tgtEl>
                                          <p:spTgt spid="3">
                                            <p:txEl>
                                              <p:pRg st="5" end="5"/>
                                            </p:txEl>
                                          </p:spTgt>
                                        </p:tgtEl>
                                        <p:attrNameLst>
                                          <p:attrName>ppt_y</p:attrName>
                                        </p:attrNameLst>
                                      </p:cBhvr>
                                      <p:tavLst>
                                        <p:tav tm="0">
                                          <p:val>
                                            <p:strVal val="#ppt_y+1"/>
                                          </p:val>
                                        </p:tav>
                                        <p:tav tm="100000">
                                          <p:val>
                                            <p:strVal val="#ppt_y-.03"/>
                                          </p:val>
                                        </p:tav>
                                      </p:tavLst>
                                    </p:anim>
                                    <p:anim calcmode="lin" valueType="num">
                                      <p:cBhvr>
                                        <p:cTn id="22" dur="100" accel="100000" fill="hold">
                                          <p:stCondLst>
                                            <p:cond delay="900"/>
                                          </p:stCondLst>
                                        </p:cTn>
                                        <p:tgtEl>
                                          <p:spTgt spid="3">
                                            <p:txEl>
                                              <p:pRg st="5" end="5"/>
                                            </p:txEl>
                                          </p:spTgt>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43200" y="152400"/>
            <a:ext cx="4114800" cy="838200"/>
          </a:xfrm>
        </p:spPr>
        <p:txBody>
          <a:bodyPr/>
          <a:lstStyle/>
          <a:p>
            <a:r>
              <a:rPr lang="en-NZ" sz="5800" b="1" dirty="0">
                <a:ln w="10541" cmpd="sng">
                  <a:solidFill>
                    <a:schemeClr val="accent2">
                      <a:lumMod val="50000"/>
                    </a:schemeClr>
                  </a:solidFill>
                  <a:prstDash val="solid"/>
                </a:ln>
                <a:solidFill>
                  <a:schemeClr val="accent2">
                    <a:lumMod val="50000"/>
                  </a:schemeClr>
                </a:solidFill>
              </a:rPr>
              <a:t>Summary</a:t>
            </a:r>
          </a:p>
        </p:txBody>
      </p:sp>
      <p:graphicFrame>
        <p:nvGraphicFramePr>
          <p:cNvPr id="10" name="Content Placeholder 9"/>
          <p:cNvGraphicFramePr>
            <a:graphicFrameLocks noGrp="1"/>
          </p:cNvGraphicFramePr>
          <p:nvPr>
            <p:ph sz="half" idx="4294967295"/>
          </p:nvPr>
        </p:nvGraphicFramePr>
        <p:xfrm>
          <a:off x="304800" y="381000"/>
          <a:ext cx="8534400" cy="6477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x">
  <a:themeElements>
    <a:clrScheme name="Codex">
      <a:dk1>
        <a:sysClr val="windowText" lastClr="000000"/>
      </a:dk1>
      <a:lt1>
        <a:sysClr val="window" lastClr="FFFFFF"/>
      </a:lt1>
      <a:dk2>
        <a:srgbClr val="59564B"/>
      </a:dk2>
      <a:lt2>
        <a:srgbClr val="DFDAC7"/>
      </a:lt2>
      <a:accent1>
        <a:srgbClr val="990000"/>
      </a:accent1>
      <a:accent2>
        <a:srgbClr val="EFAB16"/>
      </a:accent2>
      <a:accent3>
        <a:srgbClr val="78AC35"/>
      </a:accent3>
      <a:accent4>
        <a:srgbClr val="35ACA2"/>
      </a:accent4>
      <a:accent5>
        <a:srgbClr val="4083CF"/>
      </a:accent5>
      <a:accent6>
        <a:srgbClr val="0D335E"/>
      </a:accent6>
      <a:hlink>
        <a:srgbClr val="EF8E1C"/>
      </a:hlink>
      <a:folHlink>
        <a:srgbClr val="FEC60B"/>
      </a:folHlink>
    </a:clrScheme>
    <a:fontScheme name="Codex">
      <a:majorFont>
        <a:latin typeface="Calisto MT"/>
        <a:ea typeface=""/>
        <a:cs typeface=""/>
        <a:font script="Jpan" typeface="ＭＳ 明朝"/>
      </a:majorFont>
      <a:minorFont>
        <a:latin typeface="Calisto MT"/>
        <a:ea typeface=""/>
        <a:cs typeface=""/>
        <a:font script="Jpan" typeface="ＭＳ 明朝"/>
      </a:minorFont>
    </a:fontScheme>
    <a:fmtScheme name="Codex">
      <a:fillStyleLst>
        <a:solidFill>
          <a:schemeClr val="phClr"/>
        </a:solidFill>
        <a:gradFill rotWithShape="1">
          <a:gsLst>
            <a:gs pos="0">
              <a:schemeClr val="phClr">
                <a:tint val="100000"/>
                <a:shade val="60000"/>
                <a:satMod val="135000"/>
              </a:schemeClr>
            </a:gs>
            <a:gs pos="100000">
              <a:schemeClr val="phClr">
                <a:tint val="100000"/>
                <a:shade val="94000"/>
                <a:satMod val="135000"/>
              </a:schemeClr>
            </a:gs>
          </a:gsLst>
          <a:lin ang="16200000" scaled="1"/>
        </a:gradFill>
        <a:gradFill rotWithShape="1">
          <a:gsLst>
            <a:gs pos="0">
              <a:schemeClr val="phClr">
                <a:shade val="51000"/>
                <a:alpha val="90000"/>
                <a:satMod val="115000"/>
              </a:schemeClr>
            </a:gs>
            <a:gs pos="100000">
              <a:schemeClr val="phClr">
                <a:shade val="94000"/>
                <a:alpha val="90000"/>
                <a:satMod val="135000"/>
              </a:schemeClr>
            </a:gs>
          </a:gsLst>
          <a:lin ang="5400000" scaled="1"/>
        </a:gradFill>
      </a:fillStyleLst>
      <a:lnStyleLst>
        <a:ln w="15875" cap="flat" cmpd="sng" algn="ctr">
          <a:solidFill>
            <a:schemeClr val="phClr">
              <a:shade val="95000"/>
              <a:satMod val="105000"/>
            </a:schemeClr>
          </a:solidFill>
          <a:prstDash val="solid"/>
        </a:ln>
        <a:ln w="34925" cap="flat" cmpd="sng" algn="ctr">
          <a:solidFill>
            <a:schemeClr val="phClr"/>
          </a:solidFill>
          <a:prstDash val="solid"/>
        </a:ln>
        <a:ln w="34925" cap="flat" cmpd="sng" algn="ctr">
          <a:solidFill>
            <a:schemeClr val="phClr"/>
          </a:solidFill>
          <a:prstDash val="solid"/>
        </a:ln>
      </a:lnStyleLst>
      <a:effectStyleLst>
        <a:effectStyle>
          <a:effectLst/>
        </a:effectStyle>
        <a:effectStyle>
          <a:effectLst/>
        </a:effectStyle>
        <a:effectStyle>
          <a:effectLst>
            <a:outerShdw blurRad="50800" dist="12700" dir="5400000" rotWithShape="0">
              <a:srgbClr val="525252">
                <a:alpha val="85000"/>
              </a:srgbClr>
            </a:outerShdw>
          </a:effectLst>
          <a:scene3d>
            <a:camera prst="orthographicFront">
              <a:rot lat="0" lon="0" rev="0"/>
            </a:camera>
            <a:lightRig rig="sunrise" dir="t">
              <a:rot lat="0" lon="0" rev="6000000"/>
            </a:lightRig>
          </a:scene3d>
          <a:sp3d prstMaterial="matte">
            <a:bevelT w="50800" h="4445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3221</Words>
  <Application>Microsoft Office PowerPoint</Application>
  <PresentationFormat>On-screen Show (4:3)</PresentationFormat>
  <Paragraphs>146</Paragraphs>
  <Slides>16</Slides>
  <Notes>16</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16</vt:i4>
      </vt:variant>
    </vt:vector>
  </HeadingPairs>
  <TitlesOfParts>
    <vt:vector size="26" baseType="lpstr">
      <vt:lpstr>ＭＳ Ｐゴシック</vt:lpstr>
      <vt:lpstr>Arial</vt:lpstr>
      <vt:lpstr>Calibri</vt:lpstr>
      <vt:lpstr>Calisto MT</vt:lpstr>
      <vt:lpstr>Cambria</vt:lpstr>
      <vt:lpstr>Courier New</vt:lpstr>
      <vt:lpstr>Times New Roman</vt:lpstr>
      <vt:lpstr>Wingdings</vt:lpstr>
      <vt:lpstr>Custom Design</vt:lpstr>
      <vt:lpstr>Codex</vt:lpstr>
      <vt:lpstr>Semaphores, Producer Consumer</vt:lpstr>
      <vt:lpstr>Semaphore</vt:lpstr>
      <vt:lpstr>Consequences</vt:lpstr>
      <vt:lpstr>Semaphore Primitives</vt:lpstr>
      <vt:lpstr>Binary Semaphore Primitives</vt:lpstr>
      <vt:lpstr>Strong/Weak Semaphores</vt:lpstr>
      <vt:lpstr>Example of Semaphore Mechanism</vt:lpstr>
      <vt:lpstr>PowerPoint Presentation</vt:lpstr>
      <vt:lpstr>Shared Data Protected  by a Semaphore</vt:lpstr>
      <vt:lpstr>Producer/Consumer Problem</vt:lpstr>
      <vt:lpstr>Buffer Structure</vt:lpstr>
      <vt:lpstr>Implementation of Semaphores</vt:lpstr>
      <vt:lpstr>Monitors</vt:lpstr>
      <vt:lpstr>Monitor Characteristics</vt:lpstr>
      <vt:lpstr>Readers/Writers Problem</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lastModifiedBy/>
  <cp:revision>1</cp:revision>
  <cp:lastPrinted>2011-02-18T21:50:36Z</cp:lastPrinted>
  <dcterms:created xsi:type="dcterms:W3CDTF">2011-03-15T17:05:26Z</dcterms:created>
  <dcterms:modified xsi:type="dcterms:W3CDTF">2024-04-30T06:07:02Z</dcterms:modified>
</cp:coreProperties>
</file>