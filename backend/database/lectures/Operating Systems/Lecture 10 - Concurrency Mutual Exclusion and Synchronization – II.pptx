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 id="2147483741" r:id="rId2"/>
  </p:sldMasterIdLst>
  <p:notesMasterIdLst>
    <p:notesMasterId r:id="rId18"/>
  </p:notesMasterIdLst>
  <p:sldIdLst>
    <p:sldId id="256" r:id="rId3"/>
    <p:sldId id="285" r:id="rId4"/>
    <p:sldId id="309" r:id="rId5"/>
    <p:sldId id="294" r:id="rId6"/>
    <p:sldId id="288" r:id="rId7"/>
    <p:sldId id="290" r:id="rId8"/>
    <p:sldId id="292" r:id="rId9"/>
    <p:sldId id="289" r:id="rId10"/>
    <p:sldId id="310" r:id="rId11"/>
    <p:sldId id="317" r:id="rId12"/>
    <p:sldId id="312" r:id="rId13"/>
    <p:sldId id="313" r:id="rId14"/>
    <p:sldId id="314" r:id="rId15"/>
    <p:sldId id="315" r:id="rId16"/>
    <p:sldId id="316" r:id="rId17"/>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36" autoAdjust="0"/>
    <p:restoredTop sz="97152" autoAdjust="0"/>
  </p:normalViewPr>
  <p:slideViewPr>
    <p:cSldViewPr>
      <p:cViewPr varScale="1">
        <p:scale>
          <a:sx n="103" d="100"/>
          <a:sy n="103" d="100"/>
        </p:scale>
        <p:origin x="240" y="102"/>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8984BBF-D090-D94A-958C-707853D134BE}" type="doc">
      <dgm:prSet loTypeId="urn:microsoft.com/office/officeart/2005/8/layout/hList1" loCatId="list" qsTypeId="urn:microsoft.com/office/officeart/2005/8/quickstyle/simple4" qsCatId="simple" csTypeId="urn:microsoft.com/office/officeart/2005/8/colors/accent1_2" csCatId="accent1" phldr="1"/>
      <dgm:spPr/>
      <dgm:t>
        <a:bodyPr/>
        <a:lstStyle/>
        <a:p>
          <a:endParaRPr lang="en-US"/>
        </a:p>
      </dgm:t>
    </dgm:pt>
    <dgm:pt modelId="{64C5CEBC-1F30-5443-B794-80FF362A2AF0}">
      <dgm:prSet phldrT="[Text]"/>
      <dgm:spPr>
        <a:solidFill>
          <a:schemeClr val="accent4">
            <a:lumMod val="50000"/>
          </a:schemeClr>
        </a:solidFill>
        <a:ln>
          <a:solidFill>
            <a:schemeClr val="accent4">
              <a:lumMod val="50000"/>
            </a:schemeClr>
          </a:solidFill>
        </a:ln>
      </dgm:spPr>
      <dgm:t>
        <a:bodyPr/>
        <a:lstStyle/>
        <a:p>
          <a:r>
            <a:rPr lang="en-US" b="1" i="1" dirty="0"/>
            <a:t>Pages</a:t>
          </a:r>
          <a:r>
            <a:rPr lang="en-US" dirty="0"/>
            <a:t> </a:t>
          </a:r>
        </a:p>
      </dgm:t>
    </dgm:pt>
    <dgm:pt modelId="{BE0C5935-86C3-CE49-BC7C-DB3DC9A56DBA}" type="parTrans" cxnId="{B3689970-B6AA-F841-8AA9-BF33FA1007D0}">
      <dgm:prSet/>
      <dgm:spPr/>
      <dgm:t>
        <a:bodyPr/>
        <a:lstStyle/>
        <a:p>
          <a:endParaRPr lang="en-US"/>
        </a:p>
      </dgm:t>
    </dgm:pt>
    <dgm:pt modelId="{0242CC9F-7F01-C541-AE84-95B60386F567}" type="sibTrans" cxnId="{B3689970-B6AA-F841-8AA9-BF33FA1007D0}">
      <dgm:prSet/>
      <dgm:spPr/>
      <dgm:t>
        <a:bodyPr/>
        <a:lstStyle/>
        <a:p>
          <a:endParaRPr lang="en-US"/>
        </a:p>
      </dgm:t>
    </dgm:pt>
    <dgm:pt modelId="{7AA8A9FF-58E2-CB47-ADA1-DE9E3BDCDC0F}">
      <dgm:prSet/>
      <dgm:spPr/>
      <dgm:t>
        <a:bodyPr/>
        <a:lstStyle/>
        <a:p>
          <a:r>
            <a:rPr lang="en-US" dirty="0"/>
            <a:t>chunks of a process</a:t>
          </a:r>
        </a:p>
      </dgm:t>
    </dgm:pt>
    <dgm:pt modelId="{C2FDA75E-5210-994A-B144-69E8807A517E}" type="parTrans" cxnId="{74DF4162-BDC2-044A-BC90-1D56E973C6EA}">
      <dgm:prSet/>
      <dgm:spPr/>
      <dgm:t>
        <a:bodyPr/>
        <a:lstStyle/>
        <a:p>
          <a:endParaRPr lang="en-US"/>
        </a:p>
      </dgm:t>
    </dgm:pt>
    <dgm:pt modelId="{D0788B77-3E9F-4D46-8831-D6285F658A86}" type="sibTrans" cxnId="{74DF4162-BDC2-044A-BC90-1D56E973C6EA}">
      <dgm:prSet/>
      <dgm:spPr/>
      <dgm:t>
        <a:bodyPr/>
        <a:lstStyle/>
        <a:p>
          <a:endParaRPr lang="en-US"/>
        </a:p>
      </dgm:t>
    </dgm:pt>
    <dgm:pt modelId="{5BAEB20B-3695-E348-9F13-AECB8D7EFA27}">
      <dgm:prSet/>
      <dgm:spPr>
        <a:solidFill>
          <a:schemeClr val="accent2">
            <a:lumMod val="50000"/>
          </a:schemeClr>
        </a:solidFill>
        <a:ln>
          <a:solidFill>
            <a:schemeClr val="accent2">
              <a:lumMod val="75000"/>
            </a:schemeClr>
          </a:solidFill>
        </a:ln>
      </dgm:spPr>
      <dgm:t>
        <a:bodyPr/>
        <a:lstStyle/>
        <a:p>
          <a:r>
            <a:rPr lang="en-US" b="1" i="1" dirty="0"/>
            <a:t>Frames</a:t>
          </a:r>
        </a:p>
      </dgm:t>
    </dgm:pt>
    <dgm:pt modelId="{F35B4B62-4741-964F-9F55-8BAE5A6BA9A5}" type="parTrans" cxnId="{24914EDD-F887-F145-A25D-9C1F499EEC64}">
      <dgm:prSet/>
      <dgm:spPr/>
      <dgm:t>
        <a:bodyPr/>
        <a:lstStyle/>
        <a:p>
          <a:endParaRPr lang="en-US"/>
        </a:p>
      </dgm:t>
    </dgm:pt>
    <dgm:pt modelId="{E89D1576-1C84-A941-A5F3-6A6E595B57D7}" type="sibTrans" cxnId="{24914EDD-F887-F145-A25D-9C1F499EEC64}">
      <dgm:prSet/>
      <dgm:spPr/>
      <dgm:t>
        <a:bodyPr/>
        <a:lstStyle/>
        <a:p>
          <a:endParaRPr lang="en-US"/>
        </a:p>
      </dgm:t>
    </dgm:pt>
    <dgm:pt modelId="{097D4EAE-CD21-C547-B935-47F8B18B09F5}">
      <dgm:prSet/>
      <dgm:spPr/>
      <dgm:t>
        <a:bodyPr/>
        <a:lstStyle/>
        <a:p>
          <a:r>
            <a:rPr lang="en-US" dirty="0"/>
            <a:t>available chunks of memory</a:t>
          </a:r>
        </a:p>
      </dgm:t>
    </dgm:pt>
    <dgm:pt modelId="{87A55BF3-60A6-CA4A-952B-9DB7A9BFC901}" type="parTrans" cxnId="{00913CB1-9610-624A-BE9D-1C50FCC5CCE3}">
      <dgm:prSet/>
      <dgm:spPr/>
      <dgm:t>
        <a:bodyPr/>
        <a:lstStyle/>
        <a:p>
          <a:endParaRPr lang="en-US"/>
        </a:p>
      </dgm:t>
    </dgm:pt>
    <dgm:pt modelId="{5B396445-CB01-9443-9541-38B17C330104}" type="sibTrans" cxnId="{00913CB1-9610-624A-BE9D-1C50FCC5CCE3}">
      <dgm:prSet/>
      <dgm:spPr/>
      <dgm:t>
        <a:bodyPr/>
        <a:lstStyle/>
        <a:p>
          <a:endParaRPr lang="en-US"/>
        </a:p>
      </dgm:t>
    </dgm:pt>
    <dgm:pt modelId="{7427F0B0-35E5-664A-9214-512C0B3A33C3}" type="pres">
      <dgm:prSet presAssocID="{98984BBF-D090-D94A-958C-707853D134BE}" presName="Name0" presStyleCnt="0">
        <dgm:presLayoutVars>
          <dgm:dir/>
          <dgm:animLvl val="lvl"/>
          <dgm:resizeHandles val="exact"/>
        </dgm:presLayoutVars>
      </dgm:prSet>
      <dgm:spPr/>
    </dgm:pt>
    <dgm:pt modelId="{979F7F9E-BB7E-5E47-AEA2-74D0BA117F83}" type="pres">
      <dgm:prSet presAssocID="{64C5CEBC-1F30-5443-B794-80FF362A2AF0}" presName="composite" presStyleCnt="0"/>
      <dgm:spPr/>
    </dgm:pt>
    <dgm:pt modelId="{141F70A1-56B4-7C45-8D55-136594643679}" type="pres">
      <dgm:prSet presAssocID="{64C5CEBC-1F30-5443-B794-80FF362A2AF0}" presName="parTx" presStyleLbl="alignNode1" presStyleIdx="0" presStyleCnt="2">
        <dgm:presLayoutVars>
          <dgm:chMax val="0"/>
          <dgm:chPref val="0"/>
          <dgm:bulletEnabled val="1"/>
        </dgm:presLayoutVars>
      </dgm:prSet>
      <dgm:spPr/>
    </dgm:pt>
    <dgm:pt modelId="{46D6853D-8FF8-D64F-9F4D-3F18C7AC2088}" type="pres">
      <dgm:prSet presAssocID="{64C5CEBC-1F30-5443-B794-80FF362A2AF0}" presName="desTx" presStyleLbl="alignAccFollowNode1" presStyleIdx="0" presStyleCnt="2">
        <dgm:presLayoutVars>
          <dgm:bulletEnabled val="1"/>
        </dgm:presLayoutVars>
      </dgm:prSet>
      <dgm:spPr/>
    </dgm:pt>
    <dgm:pt modelId="{D2371063-AB88-2A4F-820E-F87872FE7F53}" type="pres">
      <dgm:prSet presAssocID="{0242CC9F-7F01-C541-AE84-95B60386F567}" presName="space" presStyleCnt="0"/>
      <dgm:spPr/>
    </dgm:pt>
    <dgm:pt modelId="{3AA422C0-DB0A-694E-A997-DBCDCCB90F7D}" type="pres">
      <dgm:prSet presAssocID="{5BAEB20B-3695-E348-9F13-AECB8D7EFA27}" presName="composite" presStyleCnt="0"/>
      <dgm:spPr/>
    </dgm:pt>
    <dgm:pt modelId="{E43E3212-8A7F-3040-93CF-F261BAF43BC6}" type="pres">
      <dgm:prSet presAssocID="{5BAEB20B-3695-E348-9F13-AECB8D7EFA27}" presName="parTx" presStyleLbl="alignNode1" presStyleIdx="1" presStyleCnt="2">
        <dgm:presLayoutVars>
          <dgm:chMax val="0"/>
          <dgm:chPref val="0"/>
          <dgm:bulletEnabled val="1"/>
        </dgm:presLayoutVars>
      </dgm:prSet>
      <dgm:spPr/>
    </dgm:pt>
    <dgm:pt modelId="{A1162212-C3C8-3A47-829A-648CCE353B98}" type="pres">
      <dgm:prSet presAssocID="{5BAEB20B-3695-E348-9F13-AECB8D7EFA27}" presName="desTx" presStyleLbl="alignAccFollowNode1" presStyleIdx="1" presStyleCnt="2">
        <dgm:presLayoutVars>
          <dgm:bulletEnabled val="1"/>
        </dgm:presLayoutVars>
      </dgm:prSet>
      <dgm:spPr/>
    </dgm:pt>
  </dgm:ptLst>
  <dgm:cxnLst>
    <dgm:cxn modelId="{9E6EA001-3F24-B24B-9B43-2CBB0F1A61BF}" type="presOf" srcId="{7AA8A9FF-58E2-CB47-ADA1-DE9E3BDCDC0F}" destId="{46D6853D-8FF8-D64F-9F4D-3F18C7AC2088}" srcOrd="0" destOrd="0" presId="urn:microsoft.com/office/officeart/2005/8/layout/hList1"/>
    <dgm:cxn modelId="{6D229A09-1324-424E-A246-48A59282A263}" type="presOf" srcId="{5BAEB20B-3695-E348-9F13-AECB8D7EFA27}" destId="{E43E3212-8A7F-3040-93CF-F261BAF43BC6}" srcOrd="0" destOrd="0" presId="urn:microsoft.com/office/officeart/2005/8/layout/hList1"/>
    <dgm:cxn modelId="{6EED0931-0051-4A49-9DA3-3127BA100172}" type="presOf" srcId="{64C5CEBC-1F30-5443-B794-80FF362A2AF0}" destId="{141F70A1-56B4-7C45-8D55-136594643679}" srcOrd="0" destOrd="0" presId="urn:microsoft.com/office/officeart/2005/8/layout/hList1"/>
    <dgm:cxn modelId="{74DF4162-BDC2-044A-BC90-1D56E973C6EA}" srcId="{64C5CEBC-1F30-5443-B794-80FF362A2AF0}" destId="{7AA8A9FF-58E2-CB47-ADA1-DE9E3BDCDC0F}" srcOrd="0" destOrd="0" parTransId="{C2FDA75E-5210-994A-B144-69E8807A517E}" sibTransId="{D0788B77-3E9F-4D46-8831-D6285F658A86}"/>
    <dgm:cxn modelId="{B3689970-B6AA-F841-8AA9-BF33FA1007D0}" srcId="{98984BBF-D090-D94A-958C-707853D134BE}" destId="{64C5CEBC-1F30-5443-B794-80FF362A2AF0}" srcOrd="0" destOrd="0" parTransId="{BE0C5935-86C3-CE49-BC7C-DB3DC9A56DBA}" sibTransId="{0242CC9F-7F01-C541-AE84-95B60386F567}"/>
    <dgm:cxn modelId="{00913CB1-9610-624A-BE9D-1C50FCC5CCE3}" srcId="{5BAEB20B-3695-E348-9F13-AECB8D7EFA27}" destId="{097D4EAE-CD21-C547-B935-47F8B18B09F5}" srcOrd="0" destOrd="0" parTransId="{87A55BF3-60A6-CA4A-952B-9DB7A9BFC901}" sibTransId="{5B396445-CB01-9443-9541-38B17C330104}"/>
    <dgm:cxn modelId="{24914EDD-F887-F145-A25D-9C1F499EEC64}" srcId="{98984BBF-D090-D94A-958C-707853D134BE}" destId="{5BAEB20B-3695-E348-9F13-AECB8D7EFA27}" srcOrd="1" destOrd="0" parTransId="{F35B4B62-4741-964F-9F55-8BAE5A6BA9A5}" sibTransId="{E89D1576-1C84-A941-A5F3-6A6E595B57D7}"/>
    <dgm:cxn modelId="{848D44E0-2886-AF45-92D3-0D6D99B8E890}" type="presOf" srcId="{097D4EAE-CD21-C547-B935-47F8B18B09F5}" destId="{A1162212-C3C8-3A47-829A-648CCE353B98}" srcOrd="0" destOrd="0" presId="urn:microsoft.com/office/officeart/2005/8/layout/hList1"/>
    <dgm:cxn modelId="{51466DEE-7137-6746-8626-C7E5EE11618B}" type="presOf" srcId="{98984BBF-D090-D94A-958C-707853D134BE}" destId="{7427F0B0-35E5-664A-9214-512C0B3A33C3}" srcOrd="0" destOrd="0" presId="urn:microsoft.com/office/officeart/2005/8/layout/hList1"/>
    <dgm:cxn modelId="{9AA5CDE8-FED1-EB4C-B0D4-6A8B11DC1878}" type="presParOf" srcId="{7427F0B0-35E5-664A-9214-512C0B3A33C3}" destId="{979F7F9E-BB7E-5E47-AEA2-74D0BA117F83}" srcOrd="0" destOrd="0" presId="urn:microsoft.com/office/officeart/2005/8/layout/hList1"/>
    <dgm:cxn modelId="{ECFB20C0-D67D-0948-8168-03352B707B32}" type="presParOf" srcId="{979F7F9E-BB7E-5E47-AEA2-74D0BA117F83}" destId="{141F70A1-56B4-7C45-8D55-136594643679}" srcOrd="0" destOrd="0" presId="urn:microsoft.com/office/officeart/2005/8/layout/hList1"/>
    <dgm:cxn modelId="{1FE50B2A-41F2-A441-B98D-36207E9E496D}" type="presParOf" srcId="{979F7F9E-BB7E-5E47-AEA2-74D0BA117F83}" destId="{46D6853D-8FF8-D64F-9F4D-3F18C7AC2088}" srcOrd="1" destOrd="0" presId="urn:microsoft.com/office/officeart/2005/8/layout/hList1"/>
    <dgm:cxn modelId="{6841475D-6621-494B-A712-CE8470899B3C}" type="presParOf" srcId="{7427F0B0-35E5-664A-9214-512C0B3A33C3}" destId="{D2371063-AB88-2A4F-820E-F87872FE7F53}" srcOrd="1" destOrd="0" presId="urn:microsoft.com/office/officeart/2005/8/layout/hList1"/>
    <dgm:cxn modelId="{CB8178DE-8B54-F844-8074-98ECF9CE6ACC}" type="presParOf" srcId="{7427F0B0-35E5-664A-9214-512C0B3A33C3}" destId="{3AA422C0-DB0A-694E-A997-DBCDCCB90F7D}" srcOrd="2" destOrd="0" presId="urn:microsoft.com/office/officeart/2005/8/layout/hList1"/>
    <dgm:cxn modelId="{0A569493-B825-9748-B7E0-E60C3EE5DBF6}" type="presParOf" srcId="{3AA422C0-DB0A-694E-A997-DBCDCCB90F7D}" destId="{E43E3212-8A7F-3040-93CF-F261BAF43BC6}" srcOrd="0" destOrd="0" presId="urn:microsoft.com/office/officeart/2005/8/layout/hList1"/>
    <dgm:cxn modelId="{841A35E6-1507-DA48-841F-E92C9F7365E3}" type="presParOf" srcId="{3AA422C0-DB0A-694E-A997-DBCDCCB90F7D}" destId="{A1162212-C3C8-3A47-829A-648CCE353B98}"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53F7A2E-3124-D049-8821-899E387D23A7}" type="doc">
      <dgm:prSet loTypeId="urn:microsoft.com/office/officeart/2005/8/layout/arrow3" loCatId="relationship" qsTypeId="urn:microsoft.com/office/officeart/2005/8/quickstyle/simple4" qsCatId="simple" csTypeId="urn:microsoft.com/office/officeart/2005/8/colors/accent1_2" csCatId="accent1" phldr="1"/>
      <dgm:spPr/>
      <dgm:t>
        <a:bodyPr/>
        <a:lstStyle/>
        <a:p>
          <a:endParaRPr lang="en-US"/>
        </a:p>
      </dgm:t>
    </dgm:pt>
    <dgm:pt modelId="{46D3EFDB-DE2F-B24A-921B-E1FD936960E6}">
      <dgm:prSet custT="1"/>
      <dgm:spPr/>
      <dgm:t>
        <a:bodyPr/>
        <a:lstStyle/>
        <a:p>
          <a:pPr rtl="0"/>
          <a:r>
            <a:rPr lang="en-US" sz="1700" dirty="0"/>
            <a:t>If a process has not declared a portion of its memory to be sharable, then no other process should have access to the contents of that portion of memory</a:t>
          </a:r>
        </a:p>
      </dgm:t>
    </dgm:pt>
    <dgm:pt modelId="{F4E8EB9A-31CF-6241-8D8A-2763C54E4045}" type="parTrans" cxnId="{3271905C-C99A-594F-9944-7DAF09E5E39C}">
      <dgm:prSet/>
      <dgm:spPr/>
      <dgm:t>
        <a:bodyPr/>
        <a:lstStyle/>
        <a:p>
          <a:endParaRPr lang="en-US"/>
        </a:p>
      </dgm:t>
    </dgm:pt>
    <dgm:pt modelId="{0DB2B1F7-FEE1-D340-BA94-93D752BAA8E7}" type="sibTrans" cxnId="{3271905C-C99A-594F-9944-7DAF09E5E39C}">
      <dgm:prSet/>
      <dgm:spPr/>
      <dgm:t>
        <a:bodyPr/>
        <a:lstStyle/>
        <a:p>
          <a:endParaRPr lang="en-US"/>
        </a:p>
      </dgm:t>
    </dgm:pt>
    <dgm:pt modelId="{5BB94DE1-C919-E040-A021-85B4CD6EEE2A}">
      <dgm:prSet custT="1"/>
      <dgm:spPr/>
      <dgm:t>
        <a:bodyPr/>
        <a:lstStyle/>
        <a:p>
          <a:pPr rtl="0"/>
          <a:r>
            <a:rPr lang="en-US" sz="1700" dirty="0"/>
            <a:t>If a process declares that a portion of memory may be shared by other designated processes then the security service of the OS must ensure that only the designated processes have access</a:t>
          </a:r>
        </a:p>
      </dgm:t>
    </dgm:pt>
    <dgm:pt modelId="{5A55F045-6BDA-3949-9BA4-1F9D758919DA}" type="parTrans" cxnId="{971F387B-8B65-D847-ADFB-E44FE1C36C71}">
      <dgm:prSet/>
      <dgm:spPr/>
      <dgm:t>
        <a:bodyPr/>
        <a:lstStyle/>
        <a:p>
          <a:endParaRPr lang="en-US"/>
        </a:p>
      </dgm:t>
    </dgm:pt>
    <dgm:pt modelId="{BB91E331-386C-B84A-8745-4AF27D941742}" type="sibTrans" cxnId="{971F387B-8B65-D847-ADFB-E44FE1C36C71}">
      <dgm:prSet/>
      <dgm:spPr/>
      <dgm:t>
        <a:bodyPr/>
        <a:lstStyle/>
        <a:p>
          <a:endParaRPr lang="en-US"/>
        </a:p>
      </dgm:t>
    </dgm:pt>
    <dgm:pt modelId="{858F8F16-1994-4142-830C-3B5CF064889C}" type="pres">
      <dgm:prSet presAssocID="{E53F7A2E-3124-D049-8821-899E387D23A7}" presName="compositeShape" presStyleCnt="0">
        <dgm:presLayoutVars>
          <dgm:chMax val="2"/>
          <dgm:dir/>
          <dgm:resizeHandles val="exact"/>
        </dgm:presLayoutVars>
      </dgm:prSet>
      <dgm:spPr/>
    </dgm:pt>
    <dgm:pt modelId="{2CA48554-425C-2143-8A88-A6CCE1DF700F}" type="pres">
      <dgm:prSet presAssocID="{E53F7A2E-3124-D049-8821-899E387D23A7}" presName="divider" presStyleLbl="fgShp" presStyleIdx="0" presStyleCnt="1"/>
      <dgm:spPr/>
    </dgm:pt>
    <dgm:pt modelId="{2E95D624-474F-1A40-8C27-0381317EB9B1}" type="pres">
      <dgm:prSet presAssocID="{46D3EFDB-DE2F-B24A-921B-E1FD936960E6}" presName="downArrow" presStyleLbl="node1" presStyleIdx="0" presStyleCnt="2" custLinFactNeighborX="1667" custLinFactNeighborY="7341"/>
      <dgm:spPr/>
    </dgm:pt>
    <dgm:pt modelId="{96ADC0CD-D18D-844C-94B9-9105E4C82805}" type="pres">
      <dgm:prSet presAssocID="{46D3EFDB-DE2F-B24A-921B-E1FD936960E6}" presName="downArrowText" presStyleLbl="revTx" presStyleIdx="0" presStyleCnt="2" custLinFactNeighborX="2644" custLinFactNeighborY="7559">
        <dgm:presLayoutVars>
          <dgm:bulletEnabled val="1"/>
        </dgm:presLayoutVars>
      </dgm:prSet>
      <dgm:spPr/>
    </dgm:pt>
    <dgm:pt modelId="{212125D4-770E-2942-B401-3A13D8FCE1F0}" type="pres">
      <dgm:prSet presAssocID="{5BB94DE1-C919-E040-A021-85B4CD6EEE2A}" presName="upArrow" presStyleLbl="node1" presStyleIdx="1" presStyleCnt="2"/>
      <dgm:spPr/>
    </dgm:pt>
    <dgm:pt modelId="{7A654F4F-D068-C843-A87E-FFAB75CD116B}" type="pres">
      <dgm:prSet presAssocID="{5BB94DE1-C919-E040-A021-85B4CD6EEE2A}" presName="upArrowText" presStyleLbl="revTx" presStyleIdx="1" presStyleCnt="2" custScaleX="110337" custScaleY="111641" custLinFactNeighborX="-1803" custLinFactNeighborY="-2041">
        <dgm:presLayoutVars>
          <dgm:bulletEnabled val="1"/>
        </dgm:presLayoutVars>
      </dgm:prSet>
      <dgm:spPr/>
    </dgm:pt>
  </dgm:ptLst>
  <dgm:cxnLst>
    <dgm:cxn modelId="{DDB1881D-BAC1-9547-A293-A1A778367AC9}" type="presOf" srcId="{5BB94DE1-C919-E040-A021-85B4CD6EEE2A}" destId="{7A654F4F-D068-C843-A87E-FFAB75CD116B}" srcOrd="0" destOrd="0" presId="urn:microsoft.com/office/officeart/2005/8/layout/arrow3"/>
    <dgm:cxn modelId="{9FF81340-0D0A-404E-BB62-22E304456FF3}" type="presOf" srcId="{E53F7A2E-3124-D049-8821-899E387D23A7}" destId="{858F8F16-1994-4142-830C-3B5CF064889C}" srcOrd="0" destOrd="0" presId="urn:microsoft.com/office/officeart/2005/8/layout/arrow3"/>
    <dgm:cxn modelId="{3271905C-C99A-594F-9944-7DAF09E5E39C}" srcId="{E53F7A2E-3124-D049-8821-899E387D23A7}" destId="{46D3EFDB-DE2F-B24A-921B-E1FD936960E6}" srcOrd="0" destOrd="0" parTransId="{F4E8EB9A-31CF-6241-8D8A-2763C54E4045}" sibTransId="{0DB2B1F7-FEE1-D340-BA94-93D752BAA8E7}"/>
    <dgm:cxn modelId="{D4065243-F77D-7C4C-BAE6-BB20E18B3B97}" type="presOf" srcId="{46D3EFDB-DE2F-B24A-921B-E1FD936960E6}" destId="{96ADC0CD-D18D-844C-94B9-9105E4C82805}" srcOrd="0" destOrd="0" presId="urn:microsoft.com/office/officeart/2005/8/layout/arrow3"/>
    <dgm:cxn modelId="{971F387B-8B65-D847-ADFB-E44FE1C36C71}" srcId="{E53F7A2E-3124-D049-8821-899E387D23A7}" destId="{5BB94DE1-C919-E040-A021-85B4CD6EEE2A}" srcOrd="1" destOrd="0" parTransId="{5A55F045-6BDA-3949-9BA4-1F9D758919DA}" sibTransId="{BB91E331-386C-B84A-8745-4AF27D941742}"/>
    <dgm:cxn modelId="{F111134D-9F0D-9D41-92A3-1F370149B4E2}" type="presParOf" srcId="{858F8F16-1994-4142-830C-3B5CF064889C}" destId="{2CA48554-425C-2143-8A88-A6CCE1DF700F}" srcOrd="0" destOrd="0" presId="urn:microsoft.com/office/officeart/2005/8/layout/arrow3"/>
    <dgm:cxn modelId="{732EBB56-254E-8B4C-8A4B-EAFA7D501DFC}" type="presParOf" srcId="{858F8F16-1994-4142-830C-3B5CF064889C}" destId="{2E95D624-474F-1A40-8C27-0381317EB9B1}" srcOrd="1" destOrd="0" presId="urn:microsoft.com/office/officeart/2005/8/layout/arrow3"/>
    <dgm:cxn modelId="{40984E54-8F71-054C-9C14-DB72104F9833}" type="presParOf" srcId="{858F8F16-1994-4142-830C-3B5CF064889C}" destId="{96ADC0CD-D18D-844C-94B9-9105E4C82805}" srcOrd="2" destOrd="0" presId="urn:microsoft.com/office/officeart/2005/8/layout/arrow3"/>
    <dgm:cxn modelId="{F76DCE61-76BB-364F-9ADF-70AA390D5815}" type="presParOf" srcId="{858F8F16-1994-4142-830C-3B5CF064889C}" destId="{212125D4-770E-2942-B401-3A13D8FCE1F0}" srcOrd="3" destOrd="0" presId="urn:microsoft.com/office/officeart/2005/8/layout/arrow3"/>
    <dgm:cxn modelId="{4AD06EF7-AD32-084C-B002-A242C0D1B768}" type="presParOf" srcId="{858F8F16-1994-4142-830C-3B5CF064889C}" destId="{7A654F4F-D068-C843-A87E-FFAB75CD116B}"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6914F5B-890A-E349-8B74-730138C9FC30}" type="doc">
      <dgm:prSet loTypeId="urn:microsoft.com/office/officeart/2005/8/layout/vList2" loCatId="list" qsTypeId="urn:microsoft.com/office/officeart/2005/8/quickstyle/simple4" qsCatId="simple" csTypeId="urn:microsoft.com/office/officeart/2005/8/colors/accent1_2" csCatId="accent1" phldr="1"/>
      <dgm:spPr/>
      <dgm:t>
        <a:bodyPr/>
        <a:lstStyle/>
        <a:p>
          <a:endParaRPr lang="en-US"/>
        </a:p>
      </dgm:t>
    </dgm:pt>
    <dgm:pt modelId="{48D0BC5F-21C4-7644-AE1F-70DF9CFCDB2D}">
      <dgm:prSet phldrT="[Text]"/>
      <dgm:spPr>
        <a:solidFill>
          <a:schemeClr val="accent2">
            <a:lumMod val="50000"/>
          </a:schemeClr>
        </a:solidFill>
      </dgm:spPr>
      <dgm:t>
        <a:bodyPr/>
        <a:lstStyle/>
        <a:p>
          <a:r>
            <a:rPr lang="en-US" b="1" i="1" dirty="0"/>
            <a:t>Compile-time Defenses </a:t>
          </a:r>
          <a:endParaRPr lang="en-US" dirty="0"/>
        </a:p>
      </dgm:t>
    </dgm:pt>
    <dgm:pt modelId="{4189D1E5-3AAD-C54F-A129-FD4B87899281}" type="parTrans" cxnId="{F37EF756-D4DC-0649-A844-D3FE27B896F1}">
      <dgm:prSet/>
      <dgm:spPr/>
      <dgm:t>
        <a:bodyPr/>
        <a:lstStyle/>
        <a:p>
          <a:endParaRPr lang="en-US"/>
        </a:p>
      </dgm:t>
    </dgm:pt>
    <dgm:pt modelId="{CDCB3EB4-4267-1E48-A99E-363CAE2D1FAB}" type="sibTrans" cxnId="{F37EF756-D4DC-0649-A844-D3FE27B896F1}">
      <dgm:prSet/>
      <dgm:spPr/>
      <dgm:t>
        <a:bodyPr/>
        <a:lstStyle/>
        <a:p>
          <a:endParaRPr lang="en-US"/>
        </a:p>
      </dgm:t>
    </dgm:pt>
    <dgm:pt modelId="{A24AA80A-694A-5245-8B86-3478BA8DA86F}">
      <dgm:prSet phldrT="[Text]"/>
      <dgm:spPr/>
      <dgm:t>
        <a:bodyPr/>
        <a:lstStyle/>
        <a:p>
          <a:r>
            <a:rPr lang="en-US" dirty="0"/>
            <a:t>aim to harden programs to resist attacks in new programs</a:t>
          </a:r>
        </a:p>
      </dgm:t>
    </dgm:pt>
    <dgm:pt modelId="{A207BAFE-2CD9-5A46-8A98-B46659B41795}" type="parTrans" cxnId="{A75DDBA9-5A32-9046-8D17-D4A745756A06}">
      <dgm:prSet/>
      <dgm:spPr/>
      <dgm:t>
        <a:bodyPr/>
        <a:lstStyle/>
        <a:p>
          <a:endParaRPr lang="en-US"/>
        </a:p>
      </dgm:t>
    </dgm:pt>
    <dgm:pt modelId="{637F0094-EDE0-914C-A33E-3034047AD8A9}" type="sibTrans" cxnId="{A75DDBA9-5A32-9046-8D17-D4A745756A06}">
      <dgm:prSet/>
      <dgm:spPr/>
      <dgm:t>
        <a:bodyPr/>
        <a:lstStyle/>
        <a:p>
          <a:endParaRPr lang="en-US"/>
        </a:p>
      </dgm:t>
    </dgm:pt>
    <dgm:pt modelId="{9538FE5A-9AAE-5342-8536-2C1622FA1CBB}">
      <dgm:prSet phldrT="[Text]"/>
      <dgm:spPr/>
      <dgm:t>
        <a:bodyPr/>
        <a:lstStyle/>
        <a:p>
          <a:r>
            <a:rPr lang="en-US" b="1" i="1" dirty="0"/>
            <a:t>Run-time Defenses </a:t>
          </a:r>
          <a:endParaRPr lang="en-US" dirty="0"/>
        </a:p>
      </dgm:t>
    </dgm:pt>
    <dgm:pt modelId="{BD0EC276-F40F-AB40-9CC6-AD83AC66FE71}" type="parTrans" cxnId="{467F29DA-F8B7-824D-8DE4-840FE42C4ECF}">
      <dgm:prSet/>
      <dgm:spPr/>
      <dgm:t>
        <a:bodyPr/>
        <a:lstStyle/>
        <a:p>
          <a:endParaRPr lang="en-US"/>
        </a:p>
      </dgm:t>
    </dgm:pt>
    <dgm:pt modelId="{0168A5EC-2D22-9F4F-ADC4-B4715FE62728}" type="sibTrans" cxnId="{467F29DA-F8B7-824D-8DE4-840FE42C4ECF}">
      <dgm:prSet/>
      <dgm:spPr/>
      <dgm:t>
        <a:bodyPr/>
        <a:lstStyle/>
        <a:p>
          <a:endParaRPr lang="en-US"/>
        </a:p>
      </dgm:t>
    </dgm:pt>
    <dgm:pt modelId="{A8682F12-EA80-D440-80E3-F91BC88C325C}">
      <dgm:prSet phldrT="[Text]"/>
      <dgm:spPr/>
      <dgm:t>
        <a:bodyPr/>
        <a:lstStyle/>
        <a:p>
          <a:r>
            <a:rPr lang="en-US" dirty="0"/>
            <a:t>aim to detect and abort attacks in existing programs</a:t>
          </a:r>
        </a:p>
      </dgm:t>
    </dgm:pt>
    <dgm:pt modelId="{7E199E14-C7C9-9D4B-8A38-86310EB499B5}" type="parTrans" cxnId="{08EAE9D7-12E4-4740-841F-7886A8D80ECA}">
      <dgm:prSet/>
      <dgm:spPr/>
      <dgm:t>
        <a:bodyPr/>
        <a:lstStyle/>
        <a:p>
          <a:endParaRPr lang="en-US"/>
        </a:p>
      </dgm:t>
    </dgm:pt>
    <dgm:pt modelId="{F2E8820D-5A6A-5640-80EC-0AB968065EC2}" type="sibTrans" cxnId="{08EAE9D7-12E4-4740-841F-7886A8D80ECA}">
      <dgm:prSet/>
      <dgm:spPr/>
      <dgm:t>
        <a:bodyPr/>
        <a:lstStyle/>
        <a:p>
          <a:endParaRPr lang="en-US"/>
        </a:p>
      </dgm:t>
    </dgm:pt>
    <dgm:pt modelId="{98F44B07-173C-1140-8A26-78BAF50597E7}" type="pres">
      <dgm:prSet presAssocID="{16914F5B-890A-E349-8B74-730138C9FC30}" presName="linear" presStyleCnt="0">
        <dgm:presLayoutVars>
          <dgm:animLvl val="lvl"/>
          <dgm:resizeHandles val="exact"/>
        </dgm:presLayoutVars>
      </dgm:prSet>
      <dgm:spPr/>
    </dgm:pt>
    <dgm:pt modelId="{839A55D1-79CF-6E40-BC6A-903CB2C33B88}" type="pres">
      <dgm:prSet presAssocID="{48D0BC5F-21C4-7644-AE1F-70DF9CFCDB2D}" presName="parentText" presStyleLbl="node1" presStyleIdx="0" presStyleCnt="2">
        <dgm:presLayoutVars>
          <dgm:chMax val="0"/>
          <dgm:bulletEnabled val="1"/>
        </dgm:presLayoutVars>
      </dgm:prSet>
      <dgm:spPr/>
    </dgm:pt>
    <dgm:pt modelId="{745C4739-419D-D446-B775-A8F167C45C2E}" type="pres">
      <dgm:prSet presAssocID="{48D0BC5F-21C4-7644-AE1F-70DF9CFCDB2D}" presName="childText" presStyleLbl="revTx" presStyleIdx="0" presStyleCnt="2">
        <dgm:presLayoutVars>
          <dgm:bulletEnabled val="1"/>
        </dgm:presLayoutVars>
      </dgm:prSet>
      <dgm:spPr/>
    </dgm:pt>
    <dgm:pt modelId="{627063D5-7867-4546-918F-8FB5911172D6}" type="pres">
      <dgm:prSet presAssocID="{9538FE5A-9AAE-5342-8536-2C1622FA1CBB}" presName="parentText" presStyleLbl="node1" presStyleIdx="1" presStyleCnt="2">
        <dgm:presLayoutVars>
          <dgm:chMax val="0"/>
          <dgm:bulletEnabled val="1"/>
        </dgm:presLayoutVars>
      </dgm:prSet>
      <dgm:spPr/>
    </dgm:pt>
    <dgm:pt modelId="{8E61D913-79F7-0D44-B8B7-AB80B331D263}" type="pres">
      <dgm:prSet presAssocID="{9538FE5A-9AAE-5342-8536-2C1622FA1CBB}" presName="childText" presStyleLbl="revTx" presStyleIdx="1" presStyleCnt="2">
        <dgm:presLayoutVars>
          <dgm:bulletEnabled val="1"/>
        </dgm:presLayoutVars>
      </dgm:prSet>
      <dgm:spPr/>
    </dgm:pt>
  </dgm:ptLst>
  <dgm:cxnLst>
    <dgm:cxn modelId="{52A2BA36-855E-474E-BBBE-1E91352649DA}" type="presOf" srcId="{48D0BC5F-21C4-7644-AE1F-70DF9CFCDB2D}" destId="{839A55D1-79CF-6E40-BC6A-903CB2C33B88}" srcOrd="0" destOrd="0" presId="urn:microsoft.com/office/officeart/2005/8/layout/vList2"/>
    <dgm:cxn modelId="{7C7B033F-80EA-4A48-A2E5-60EB9A144DF7}" type="presOf" srcId="{A24AA80A-694A-5245-8B86-3478BA8DA86F}" destId="{745C4739-419D-D446-B775-A8F167C45C2E}" srcOrd="0" destOrd="0" presId="urn:microsoft.com/office/officeart/2005/8/layout/vList2"/>
    <dgm:cxn modelId="{5B19E75D-6AA6-504A-A5D6-D92F753C2AB3}" type="presOf" srcId="{16914F5B-890A-E349-8B74-730138C9FC30}" destId="{98F44B07-173C-1140-8A26-78BAF50597E7}" srcOrd="0" destOrd="0" presId="urn:microsoft.com/office/officeart/2005/8/layout/vList2"/>
    <dgm:cxn modelId="{F37EF756-D4DC-0649-A844-D3FE27B896F1}" srcId="{16914F5B-890A-E349-8B74-730138C9FC30}" destId="{48D0BC5F-21C4-7644-AE1F-70DF9CFCDB2D}" srcOrd="0" destOrd="0" parTransId="{4189D1E5-3AAD-C54F-A129-FD4B87899281}" sibTransId="{CDCB3EB4-4267-1E48-A99E-363CAE2D1FAB}"/>
    <dgm:cxn modelId="{65B4E799-040C-874F-BDFB-1F1511486037}" type="presOf" srcId="{A8682F12-EA80-D440-80E3-F91BC88C325C}" destId="{8E61D913-79F7-0D44-B8B7-AB80B331D263}" srcOrd="0" destOrd="0" presId="urn:microsoft.com/office/officeart/2005/8/layout/vList2"/>
    <dgm:cxn modelId="{A75DDBA9-5A32-9046-8D17-D4A745756A06}" srcId="{48D0BC5F-21C4-7644-AE1F-70DF9CFCDB2D}" destId="{A24AA80A-694A-5245-8B86-3478BA8DA86F}" srcOrd="0" destOrd="0" parTransId="{A207BAFE-2CD9-5A46-8A98-B46659B41795}" sibTransId="{637F0094-EDE0-914C-A33E-3034047AD8A9}"/>
    <dgm:cxn modelId="{0757F7BC-18D2-E145-A781-FA64A3FEEB12}" type="presOf" srcId="{9538FE5A-9AAE-5342-8536-2C1622FA1CBB}" destId="{627063D5-7867-4546-918F-8FB5911172D6}" srcOrd="0" destOrd="0" presId="urn:microsoft.com/office/officeart/2005/8/layout/vList2"/>
    <dgm:cxn modelId="{08EAE9D7-12E4-4740-841F-7886A8D80ECA}" srcId="{9538FE5A-9AAE-5342-8536-2C1622FA1CBB}" destId="{A8682F12-EA80-D440-80E3-F91BC88C325C}" srcOrd="0" destOrd="0" parTransId="{7E199E14-C7C9-9D4B-8A38-86310EB499B5}" sibTransId="{F2E8820D-5A6A-5640-80EC-0AB968065EC2}"/>
    <dgm:cxn modelId="{467F29DA-F8B7-824D-8DE4-840FE42C4ECF}" srcId="{16914F5B-890A-E349-8B74-730138C9FC30}" destId="{9538FE5A-9AAE-5342-8536-2C1622FA1CBB}" srcOrd="1" destOrd="0" parTransId="{BD0EC276-F40F-AB40-9CC6-AD83AC66FE71}" sibTransId="{0168A5EC-2D22-9F4F-ADC4-B4715FE62728}"/>
    <dgm:cxn modelId="{493B302E-32BA-4745-BF51-71744A2CEAE2}" type="presParOf" srcId="{98F44B07-173C-1140-8A26-78BAF50597E7}" destId="{839A55D1-79CF-6E40-BC6A-903CB2C33B88}" srcOrd="0" destOrd="0" presId="urn:microsoft.com/office/officeart/2005/8/layout/vList2"/>
    <dgm:cxn modelId="{2EA7211C-B76E-A74B-8092-787F0F2306AD}" type="presParOf" srcId="{98F44B07-173C-1140-8A26-78BAF50597E7}" destId="{745C4739-419D-D446-B775-A8F167C45C2E}" srcOrd="1" destOrd="0" presId="urn:microsoft.com/office/officeart/2005/8/layout/vList2"/>
    <dgm:cxn modelId="{BF880A57-734F-904C-82A7-32F060AA905D}" type="presParOf" srcId="{98F44B07-173C-1140-8A26-78BAF50597E7}" destId="{627063D5-7867-4546-918F-8FB5911172D6}" srcOrd="2" destOrd="0" presId="urn:microsoft.com/office/officeart/2005/8/layout/vList2"/>
    <dgm:cxn modelId="{0339894F-1D8D-A54A-992C-25B111BA8E7A}" type="presParOf" srcId="{98F44B07-173C-1140-8A26-78BAF50597E7}" destId="{8E61D913-79F7-0D44-B8B7-AB80B331D263}"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F70A1-56B4-7C45-8D55-136594643679}">
      <dsp:nvSpPr>
        <dsp:cNvPr id="0" name=""/>
        <dsp:cNvSpPr/>
      </dsp:nvSpPr>
      <dsp:spPr>
        <a:xfrm>
          <a:off x="26" y="37706"/>
          <a:ext cx="2528106" cy="720000"/>
        </a:xfrm>
        <a:prstGeom prst="rect">
          <a:avLst/>
        </a:prstGeom>
        <a:solidFill>
          <a:schemeClr val="accent4">
            <a:lumMod val="50000"/>
          </a:schemeClr>
        </a:solidFill>
        <a:ln w="15875" cap="flat" cmpd="sng" algn="ctr">
          <a:solidFill>
            <a:schemeClr val="accent4">
              <a:lumMod val="5000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b="1" i="1" kern="1200" dirty="0"/>
            <a:t>Pages</a:t>
          </a:r>
          <a:r>
            <a:rPr lang="en-US" sz="2500" kern="1200" dirty="0"/>
            <a:t> </a:t>
          </a:r>
        </a:p>
      </dsp:txBody>
      <dsp:txXfrm>
        <a:off x="26" y="37706"/>
        <a:ext cx="2528106" cy="720000"/>
      </dsp:txXfrm>
    </dsp:sp>
    <dsp:sp modelId="{46D6853D-8FF8-D64F-9F4D-3F18C7AC2088}">
      <dsp:nvSpPr>
        <dsp:cNvPr id="0" name=""/>
        <dsp:cNvSpPr/>
      </dsp:nvSpPr>
      <dsp:spPr>
        <a:xfrm>
          <a:off x="26" y="757706"/>
          <a:ext cx="2528106" cy="1338187"/>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chunks of a process</a:t>
          </a:r>
        </a:p>
      </dsp:txBody>
      <dsp:txXfrm>
        <a:off x="26" y="757706"/>
        <a:ext cx="2528106" cy="1338187"/>
      </dsp:txXfrm>
    </dsp:sp>
    <dsp:sp modelId="{E43E3212-8A7F-3040-93CF-F261BAF43BC6}">
      <dsp:nvSpPr>
        <dsp:cNvPr id="0" name=""/>
        <dsp:cNvSpPr/>
      </dsp:nvSpPr>
      <dsp:spPr>
        <a:xfrm>
          <a:off x="2882067" y="37706"/>
          <a:ext cx="2528106" cy="720000"/>
        </a:xfrm>
        <a:prstGeom prst="rect">
          <a:avLst/>
        </a:prstGeom>
        <a:solidFill>
          <a:schemeClr val="accent2">
            <a:lumMod val="50000"/>
          </a:schemeClr>
        </a:solidFill>
        <a:ln w="15875" cap="flat" cmpd="sng" algn="ctr">
          <a:solidFill>
            <a:schemeClr val="accent2">
              <a:lumMod val="7500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b="1" i="1" kern="1200" dirty="0"/>
            <a:t>Frames</a:t>
          </a:r>
        </a:p>
      </dsp:txBody>
      <dsp:txXfrm>
        <a:off x="2882067" y="37706"/>
        <a:ext cx="2528106" cy="720000"/>
      </dsp:txXfrm>
    </dsp:sp>
    <dsp:sp modelId="{A1162212-C3C8-3A47-829A-648CCE353B98}">
      <dsp:nvSpPr>
        <dsp:cNvPr id="0" name=""/>
        <dsp:cNvSpPr/>
      </dsp:nvSpPr>
      <dsp:spPr>
        <a:xfrm>
          <a:off x="2882067" y="757706"/>
          <a:ext cx="2528106" cy="1338187"/>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available chunks of memory</a:t>
          </a:r>
        </a:p>
      </dsp:txBody>
      <dsp:txXfrm>
        <a:off x="2882067" y="757706"/>
        <a:ext cx="2528106" cy="13381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A48554-425C-2143-8A88-A6CCE1DF700F}">
      <dsp:nvSpPr>
        <dsp:cNvPr id="0" name=""/>
        <dsp:cNvSpPr/>
      </dsp:nvSpPr>
      <dsp:spPr>
        <a:xfrm rot="21300000">
          <a:off x="24319" y="1949330"/>
          <a:ext cx="7876161" cy="901939"/>
        </a:xfrm>
        <a:prstGeom prst="mathMinus">
          <a:avLst/>
        </a:prstGeom>
        <a:gradFill rotWithShape="0">
          <a:gsLst>
            <a:gs pos="0">
              <a:schemeClr val="accent1">
                <a:tint val="60000"/>
                <a:hueOff val="0"/>
                <a:satOff val="0"/>
                <a:lumOff val="0"/>
                <a:alphaOff val="0"/>
                <a:shade val="51000"/>
                <a:alpha val="90000"/>
                <a:satMod val="115000"/>
              </a:schemeClr>
            </a:gs>
            <a:gs pos="100000">
              <a:schemeClr val="accent1">
                <a:tint val="60000"/>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dsp:style>
    </dsp:sp>
    <dsp:sp modelId="{2E95D624-474F-1A40-8C27-0381317EB9B1}">
      <dsp:nvSpPr>
        <dsp:cNvPr id="0" name=""/>
        <dsp:cNvSpPr/>
      </dsp:nvSpPr>
      <dsp:spPr>
        <a:xfrm>
          <a:off x="990607" y="380994"/>
          <a:ext cx="2377440" cy="1920240"/>
        </a:xfrm>
        <a:prstGeom prst="downArrow">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sp>
    <dsp:sp modelId="{96ADC0CD-D18D-844C-94B9-9105E4C82805}">
      <dsp:nvSpPr>
        <dsp:cNvPr id="0" name=""/>
        <dsp:cNvSpPr/>
      </dsp:nvSpPr>
      <dsp:spPr>
        <a:xfrm>
          <a:off x="4267194" y="152408"/>
          <a:ext cx="2535936" cy="2016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ctr" defTabSz="755650" rtl="0">
            <a:lnSpc>
              <a:spcPct val="90000"/>
            </a:lnSpc>
            <a:spcBef>
              <a:spcPct val="0"/>
            </a:spcBef>
            <a:spcAft>
              <a:spcPct val="35000"/>
            </a:spcAft>
            <a:buNone/>
          </a:pPr>
          <a:r>
            <a:rPr lang="en-US" sz="1700" kern="1200" dirty="0"/>
            <a:t>If a process has not declared a portion of its memory to be sharable, then no other process should have access to the contents of that portion of memory</a:t>
          </a:r>
        </a:p>
      </dsp:txBody>
      <dsp:txXfrm>
        <a:off x="4267194" y="152408"/>
        <a:ext cx="2535936" cy="2016252"/>
      </dsp:txXfrm>
    </dsp:sp>
    <dsp:sp modelId="{212125D4-770E-2942-B401-3A13D8FCE1F0}">
      <dsp:nvSpPr>
        <dsp:cNvPr id="0" name=""/>
        <dsp:cNvSpPr/>
      </dsp:nvSpPr>
      <dsp:spPr>
        <a:xfrm>
          <a:off x="4596383" y="2640330"/>
          <a:ext cx="2377440" cy="1920240"/>
        </a:xfrm>
        <a:prstGeom prst="upArrow">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sp>
    <dsp:sp modelId="{7A654F4F-D068-C843-A87E-FFAB75CD116B}">
      <dsp:nvSpPr>
        <dsp:cNvPr id="0" name=""/>
        <dsp:cNvSpPr/>
      </dsp:nvSpPr>
      <dsp:spPr>
        <a:xfrm>
          <a:off x="1011927" y="2625840"/>
          <a:ext cx="2798075" cy="22509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ctr" defTabSz="755650" rtl="0">
            <a:lnSpc>
              <a:spcPct val="90000"/>
            </a:lnSpc>
            <a:spcBef>
              <a:spcPct val="0"/>
            </a:spcBef>
            <a:spcAft>
              <a:spcPct val="35000"/>
            </a:spcAft>
            <a:buNone/>
          </a:pPr>
          <a:r>
            <a:rPr lang="en-US" sz="1700" kern="1200" dirty="0"/>
            <a:t>If a process declares that a portion of memory may be shared by other designated processes then the security service of the OS must ensure that only the designated processes have access</a:t>
          </a:r>
        </a:p>
      </dsp:txBody>
      <dsp:txXfrm>
        <a:off x="1011927" y="2625840"/>
        <a:ext cx="2798075" cy="225096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9A55D1-79CF-6E40-BC6A-903CB2C33B88}">
      <dsp:nvSpPr>
        <dsp:cNvPr id="0" name=""/>
        <dsp:cNvSpPr/>
      </dsp:nvSpPr>
      <dsp:spPr>
        <a:xfrm>
          <a:off x="0" y="38950"/>
          <a:ext cx="6324600" cy="655200"/>
        </a:xfrm>
        <a:prstGeom prst="roundRect">
          <a:avLst/>
        </a:prstGeom>
        <a:solidFill>
          <a:schemeClr val="accent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1" kern="1200" dirty="0"/>
            <a:t>Compile-time Defenses </a:t>
          </a:r>
          <a:endParaRPr lang="en-US" sz="2800" kern="1200" dirty="0"/>
        </a:p>
      </dsp:txBody>
      <dsp:txXfrm>
        <a:off x="31984" y="70934"/>
        <a:ext cx="6260632" cy="591232"/>
      </dsp:txXfrm>
    </dsp:sp>
    <dsp:sp modelId="{745C4739-419D-D446-B775-A8F167C45C2E}">
      <dsp:nvSpPr>
        <dsp:cNvPr id="0" name=""/>
        <dsp:cNvSpPr/>
      </dsp:nvSpPr>
      <dsp:spPr>
        <a:xfrm>
          <a:off x="0" y="694150"/>
          <a:ext cx="6324600" cy="6520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806"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dirty="0"/>
            <a:t>aim to harden programs to resist attacks in new programs</a:t>
          </a:r>
        </a:p>
      </dsp:txBody>
      <dsp:txXfrm>
        <a:off x="0" y="694150"/>
        <a:ext cx="6324600" cy="652050"/>
      </dsp:txXfrm>
    </dsp:sp>
    <dsp:sp modelId="{627063D5-7867-4546-918F-8FB5911172D6}">
      <dsp:nvSpPr>
        <dsp:cNvPr id="0" name=""/>
        <dsp:cNvSpPr/>
      </dsp:nvSpPr>
      <dsp:spPr>
        <a:xfrm>
          <a:off x="0" y="1346200"/>
          <a:ext cx="6324600" cy="65520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1" kern="1200" dirty="0"/>
            <a:t>Run-time Defenses </a:t>
          </a:r>
          <a:endParaRPr lang="en-US" sz="2800" kern="1200" dirty="0"/>
        </a:p>
      </dsp:txBody>
      <dsp:txXfrm>
        <a:off x="31984" y="1378184"/>
        <a:ext cx="6260632" cy="591232"/>
      </dsp:txXfrm>
    </dsp:sp>
    <dsp:sp modelId="{8E61D913-79F7-0D44-B8B7-AB80B331D263}">
      <dsp:nvSpPr>
        <dsp:cNvPr id="0" name=""/>
        <dsp:cNvSpPr/>
      </dsp:nvSpPr>
      <dsp:spPr>
        <a:xfrm>
          <a:off x="0" y="2001400"/>
          <a:ext cx="6324600" cy="6520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0806"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dirty="0"/>
            <a:t>aim to detect and abort attacks in existing programs</a:t>
          </a:r>
        </a:p>
      </dsp:txBody>
      <dsp:txXfrm>
        <a:off x="0" y="2001400"/>
        <a:ext cx="6324600" cy="65205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0118C455-DCBE-41F6-9A52-324D6BC54AEC}" type="datetimeFigureOut">
              <a:rPr lang="en-US"/>
              <a:pPr>
                <a:defRPr/>
              </a:pPr>
              <a:t>30-Apr-2024</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B1F781F4-099F-4112-9B1E-8A4E4163911A}" type="slidenum">
              <a:rPr lang="en-US"/>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Times New Roman" pitchFamily="-106" charset="0"/>
                <a:ea typeface="ＭＳ Ｐゴシック" pitchFamily="-106" charset="-128"/>
                <a:cs typeface="ＭＳ Ｐゴシック" pitchFamily="-106" charset="-128"/>
              </a:rPr>
              <a:t>“</a:t>
            </a:r>
            <a:r>
              <a:rPr kumimoji="1" lang="en-US" dirty="0">
                <a:latin typeface="Times New Roman" pitchFamily="-106" charset="0"/>
                <a:ea typeface="ＭＳ Ｐゴシック" pitchFamily="-106" charset="-128"/>
                <a:cs typeface="ＭＳ Ｐゴシック" pitchFamily="-106" charset="-128"/>
              </a:rPr>
              <a:t>Operating</a:t>
            </a:r>
            <a:r>
              <a:rPr kumimoji="1" lang="en-US" baseline="0" dirty="0">
                <a:latin typeface="Times New Roman" pitchFamily="-106" charset="0"/>
                <a:ea typeface="ＭＳ Ｐゴシック" pitchFamily="-106" charset="-128"/>
                <a:cs typeface="ＭＳ Ｐゴシック" pitchFamily="-106" charset="-128"/>
              </a:rPr>
              <a:t> Systems: Internal and Design Principles</a:t>
            </a:r>
            <a:r>
              <a:rPr lang="en-US" dirty="0">
                <a:latin typeface="Times New Roman" pitchFamily="-106" charset="0"/>
                <a:ea typeface="ＭＳ Ｐゴシック" pitchFamily="-106" charset="-128"/>
                <a:cs typeface="ＭＳ Ｐゴシック" pitchFamily="-106" charset="-128"/>
              </a:rPr>
              <a:t>”, 7/e, by William Stallings, Chapter 7 “</a:t>
            </a:r>
            <a:r>
              <a:rPr kumimoji="1" lang="en-GB" dirty="0">
                <a:latin typeface="Times New Roman" pitchFamily="-106" charset="0"/>
                <a:ea typeface="ＭＳ Ｐゴシック" pitchFamily="-106" charset="-128"/>
                <a:cs typeface="ＭＳ Ｐゴシック" pitchFamily="-106" charset="-128"/>
              </a:rPr>
              <a:t>Memory</a:t>
            </a:r>
            <a:r>
              <a:rPr kumimoji="1" lang="en-GB" baseline="0" dirty="0">
                <a:latin typeface="Times New Roman" pitchFamily="-106" charset="0"/>
                <a:ea typeface="ＭＳ Ｐゴシック" pitchFamily="-106" charset="-128"/>
                <a:cs typeface="ＭＳ Ｐゴシック" pitchFamily="-106" charset="-128"/>
              </a:rPr>
              <a:t> Management</a:t>
            </a:r>
            <a:r>
              <a:rPr lang="en-US" dirty="0">
                <a:latin typeface="Times New Roman" pitchFamily="-106" charset="0"/>
                <a:ea typeface="ＭＳ Ｐゴシック" pitchFamily="-106" charset="-128"/>
                <a:cs typeface="ＭＳ Ｐゴシック" pitchFamily="-106" charset="-128"/>
              </a:rPr>
              <a:t>”.</a:t>
            </a:r>
            <a:endParaRPr lang="en-AU" dirty="0">
              <a:latin typeface="Times New Roman" pitchFamily="-106" charset="0"/>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Both unequal fixed-size and variable-size partitions are inefficient in the use of memory; the former results in internal fragmentation, the latter in external fragmentation. Suppose, however, that main memory is partitioned into equal fixed-size chunks that are relatively small, and that each process is also divided into small fixed-size chunks of the same size. Then the chunks of a process, known as </a:t>
            </a:r>
            <a:r>
              <a:rPr lang="en-US" sz="1200" b="1" kern="1200" baseline="0" dirty="0">
                <a:solidFill>
                  <a:schemeClr val="tx1"/>
                </a:solidFill>
                <a:latin typeface="+mn-lt"/>
                <a:ea typeface="+mn-ea"/>
                <a:cs typeface="+mn-cs"/>
              </a:rPr>
              <a:t>pages , </a:t>
            </a:r>
            <a:r>
              <a:rPr lang="en-US" sz="1200" kern="1200" baseline="0" dirty="0">
                <a:solidFill>
                  <a:schemeClr val="tx1"/>
                </a:solidFill>
                <a:latin typeface="+mn-lt"/>
                <a:ea typeface="+mn-ea"/>
                <a:cs typeface="+mn-cs"/>
              </a:rPr>
              <a:t>could be assigned to available chunks of memory, known as </a:t>
            </a:r>
            <a:r>
              <a:rPr lang="en-US" sz="1200" b="1" kern="1200" baseline="0" dirty="0">
                <a:solidFill>
                  <a:schemeClr val="tx1"/>
                </a:solidFill>
                <a:latin typeface="+mn-lt"/>
                <a:ea typeface="+mn-ea"/>
                <a:cs typeface="+mn-cs"/>
              </a:rPr>
              <a:t>frames , or page frames. </a:t>
            </a:r>
            <a:r>
              <a:rPr lang="en-US" sz="1200" kern="1200" baseline="0" dirty="0">
                <a:solidFill>
                  <a:schemeClr val="tx1"/>
                </a:solidFill>
                <a:latin typeface="+mn-lt"/>
                <a:ea typeface="+mn-ea"/>
                <a:cs typeface="+mn-cs"/>
              </a:rPr>
              <a:t>We show in this section that the wasted space in memory for each process is due to internal fragmentation consisting of only a fraction of the last page of a process. There is no external fragmentation.</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7.9 illustrates the use of pages and frames. At a given point in time, some of the frames in memory are in use and some are free. A list of free frames is maintained by the OS. Process A, stored on disk, consists of four pages. When it is time to load this process, the OS finds four free frames and loads the four pages of process A into the four frames ( Figure 7.9b ). Process B, consisting of three pages, and process C, consisting of four pages, are subsequently loaded. Then process B is suspended and is swapped out of main memory. Later, all of the processes in main memory are blocked, and the OS needs to bring in a new process, process D, which consists of five pages.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Now suppose, as in this example, that there are not sufficient unused contiguous frames to hold the process. Does this prevent the operating system from loading D? The answer is no, because we can once again use the concept of logical address.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 simple base address register will no longer suffice. Rather, the operating system maintains a </a:t>
            </a:r>
            <a:r>
              <a:rPr lang="en-US" sz="1200" b="1" kern="1200" baseline="0" dirty="0">
                <a:solidFill>
                  <a:schemeClr val="tx1"/>
                </a:solidFill>
                <a:latin typeface="+mn-lt"/>
                <a:ea typeface="+mn-ea"/>
                <a:cs typeface="+mn-cs"/>
              </a:rPr>
              <a:t>page table </a:t>
            </a:r>
            <a:r>
              <a:rPr lang="en-US" sz="1200" b="0" kern="1200" baseline="0" dirty="0">
                <a:solidFill>
                  <a:schemeClr val="tx1"/>
                </a:solidFill>
                <a:latin typeface="+mn-lt"/>
                <a:ea typeface="+mn-ea"/>
                <a:cs typeface="+mn-cs"/>
              </a:rPr>
              <a:t>for each process. The page table shows the frame location for </a:t>
            </a:r>
            <a:r>
              <a:rPr lang="en-US" sz="1200" kern="1200" baseline="0" dirty="0">
                <a:solidFill>
                  <a:schemeClr val="tx1"/>
                </a:solidFill>
                <a:latin typeface="+mn-lt"/>
                <a:ea typeface="+mn-ea"/>
                <a:cs typeface="+mn-cs"/>
              </a:rPr>
              <a:t>each page of the process. Within the program, each logical address consists of a page number and an offset within the page. Recall that in the case of simple partition, a logical address is the location of a word relative to the beginning of the program; the processor translates that into a physical address. With paging, the logical-to-physical address translation is still done by processor hardware. Now the processor must know how to access the page table of the current process. Presented with a logical address (page number, offset), the processor uses the page table to produce a physical address (frame number, offset).</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Continuing our example, the five pages of process D are loaded into frames 4, 5, 6, 11, and 12. Figure 7.10 shows the various page tables at this time. A page table contains one entry for each page of the process, so that the table is easily indexed by the page number (starting at page 0 ). Each page table entry contains the number of the frame in main memory, if any, that holds the corresponding page. In addition, the OS maintains a single free-frame list of all the frames in main memory that are currently unoccupied and available for pages.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Thus we see that simple paging, as described here, is similar to fixed partitioning. The differences are that, with paging, the partitions are rather small; a program may occupy more than one partition; and these partitions need not be contiguous.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To make this paging scheme convenient, let us dictate that the page size, hence the frame size, must be a power of 2. With the use of a page size that is a power of 2, it is easy to demonstrate that the relative address, which is defined with reference to the origin of the program, and the logical address, expressed as a page number and offset, are the same. An example is shown in Figure 7.11 . In this example, 16-bit addresses are used, and the page size is 1K  1,024 bytes. The relative address 1502, in binary form, is 0000010111011110. With a page size of 1K, an offset field of 10 bits is needed, leaving 6 bits for the page number. Thus a program can consist of a maximum of 2 6  64 pages of 1K bytes each. As Figure 7.11b shows, relative address 1502 corresponds to an offset of 478 (0111011110) on page 1 (000001), which yields the same 16-bit number, 0000010111011110.</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consequences of using a page size that is a power of 2 are twofold. First, the logical addressing scheme is transparent to the programmer, the assembler, and the linker. Each logical address (page number, offset) of a program is identical to its relative address. Second, it is a relatively easy matter to implement a function in hardware to perform dynamic address translation at run time. Consider an address of </a:t>
            </a:r>
            <a:r>
              <a:rPr lang="en-US" sz="1200" i="1" kern="1200" baseline="0" dirty="0">
                <a:solidFill>
                  <a:schemeClr val="tx1"/>
                </a:solidFill>
                <a:latin typeface="+mn-lt"/>
                <a:ea typeface="+mn-ea"/>
                <a:cs typeface="+mn-cs"/>
              </a:rPr>
              <a:t>n + m bits, where the leftmost n bits are the page number and the rightmost m </a:t>
            </a:r>
            <a:r>
              <a:rPr lang="en-US" sz="1200" kern="1200" baseline="0" dirty="0">
                <a:solidFill>
                  <a:schemeClr val="tx1"/>
                </a:solidFill>
                <a:latin typeface="+mn-lt"/>
                <a:ea typeface="+mn-ea"/>
                <a:cs typeface="+mn-cs"/>
              </a:rPr>
              <a:t>bits are the offset. In our example ( Figure 7.11b ), </a:t>
            </a:r>
            <a:r>
              <a:rPr lang="en-US" sz="1200" i="1" kern="1200" baseline="0" dirty="0">
                <a:solidFill>
                  <a:schemeClr val="tx1"/>
                </a:solidFill>
                <a:latin typeface="+mn-lt"/>
                <a:ea typeface="+mn-ea"/>
                <a:cs typeface="+mn-cs"/>
              </a:rPr>
              <a:t>n  6 and m  10. The following </a:t>
            </a:r>
            <a:r>
              <a:rPr lang="en-US" sz="1200" kern="1200" baseline="0" dirty="0">
                <a:solidFill>
                  <a:schemeClr val="tx1"/>
                </a:solidFill>
                <a:latin typeface="+mn-lt"/>
                <a:ea typeface="+mn-ea"/>
                <a:cs typeface="+mn-cs"/>
              </a:rPr>
              <a:t>steps are needed for address translation:</a:t>
            </a:r>
          </a:p>
          <a:p>
            <a:r>
              <a:rPr lang="en-US" sz="1200" kern="1200" baseline="0" dirty="0">
                <a:solidFill>
                  <a:schemeClr val="tx1"/>
                </a:solidFill>
                <a:latin typeface="+mn-lt"/>
                <a:ea typeface="+mn-ea"/>
                <a:cs typeface="+mn-cs"/>
              </a:rPr>
              <a:t>• Extract the page number as the leftmost </a:t>
            </a:r>
            <a:r>
              <a:rPr lang="en-US" sz="1200" i="1" kern="1200" baseline="0" dirty="0">
                <a:solidFill>
                  <a:schemeClr val="tx1"/>
                </a:solidFill>
                <a:latin typeface="+mn-lt"/>
                <a:ea typeface="+mn-ea"/>
                <a:cs typeface="+mn-cs"/>
              </a:rPr>
              <a:t>n bits of the logical address.</a:t>
            </a:r>
          </a:p>
          <a:p>
            <a:r>
              <a:rPr lang="en-US" sz="1200" kern="1200" baseline="0" dirty="0">
                <a:solidFill>
                  <a:schemeClr val="tx1"/>
                </a:solidFill>
                <a:latin typeface="+mn-lt"/>
                <a:ea typeface="+mn-ea"/>
                <a:cs typeface="+mn-cs"/>
              </a:rPr>
              <a:t>• Use the page number as an index into the process page table to find the frame number, </a:t>
            </a:r>
            <a:r>
              <a:rPr lang="en-US" sz="1200" i="1" kern="1200" baseline="0" dirty="0">
                <a:solidFill>
                  <a:schemeClr val="tx1"/>
                </a:solidFill>
                <a:latin typeface="+mn-lt"/>
                <a:ea typeface="+mn-ea"/>
                <a:cs typeface="+mn-cs"/>
              </a:rPr>
              <a:t>k .</a:t>
            </a:r>
          </a:p>
          <a:p>
            <a:r>
              <a:rPr lang="en-US" sz="1200" kern="1200" baseline="0" dirty="0">
                <a:solidFill>
                  <a:schemeClr val="tx1"/>
                </a:solidFill>
                <a:latin typeface="+mn-lt"/>
                <a:ea typeface="+mn-ea"/>
                <a:cs typeface="+mn-cs"/>
              </a:rPr>
              <a:t>• The starting physical address of the frame is </a:t>
            </a:r>
            <a:r>
              <a:rPr lang="en-US" sz="1200" i="1" kern="1200" baseline="0" dirty="0">
                <a:solidFill>
                  <a:schemeClr val="tx1"/>
                </a:solidFill>
                <a:latin typeface="+mn-lt"/>
                <a:ea typeface="+mn-ea"/>
                <a:cs typeface="+mn-cs"/>
              </a:rPr>
              <a:t>k °— 2 m</a:t>
            </a:r>
          </a:p>
          <a:p>
            <a:r>
              <a:rPr lang="en-US" sz="1200" kern="1200" baseline="0" dirty="0">
                <a:solidFill>
                  <a:schemeClr val="tx1"/>
                </a:solidFill>
                <a:latin typeface="+mn-lt"/>
                <a:ea typeface="+mn-ea"/>
                <a:cs typeface="+mn-cs"/>
              </a:rPr>
              <a:t>  and the physical address of the referenced byte is that number plus the offset. This physical address need not be calculated; it is easily constructed by appending the frame number to the offset.</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In our example, we have the logical address 0000010111011110, which is page number 1, offset 478. Suppose that this page is residing in main memory frame 6  binary 000110. Then the physical address is frame number 6, offset 478  0001100111011110 ( Figure 7.12a ).</a:t>
            </a:r>
          </a:p>
          <a:p>
            <a:endParaRPr lang="en-US" sz="1200" kern="1200" baseline="0" dirty="0">
              <a:solidFill>
                <a:schemeClr val="tx1"/>
              </a:solidFill>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7</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 user program can be subdivided using segmentation, in which the program and its associated data are divided into a number of </a:t>
            </a:r>
            <a:r>
              <a:rPr lang="en-US" sz="1200" b="1" kern="1200" baseline="0" dirty="0">
                <a:solidFill>
                  <a:schemeClr val="tx1"/>
                </a:solidFill>
                <a:latin typeface="+mn-lt"/>
                <a:ea typeface="+mn-ea"/>
                <a:cs typeface="+mn-cs"/>
              </a:rPr>
              <a:t>segments . </a:t>
            </a:r>
            <a:r>
              <a:rPr lang="en-US" sz="1200" b="0" kern="1200" baseline="0" dirty="0">
                <a:solidFill>
                  <a:schemeClr val="tx1"/>
                </a:solidFill>
                <a:latin typeface="+mn-lt"/>
                <a:ea typeface="+mn-ea"/>
                <a:cs typeface="+mn-cs"/>
              </a:rPr>
              <a:t>It is not required that all segments</a:t>
            </a:r>
          </a:p>
          <a:p>
            <a:r>
              <a:rPr lang="en-US" sz="1200" kern="1200" baseline="0" dirty="0">
                <a:solidFill>
                  <a:schemeClr val="tx1"/>
                </a:solidFill>
                <a:latin typeface="+mn-lt"/>
                <a:ea typeface="+mn-ea"/>
                <a:cs typeface="+mn-cs"/>
              </a:rPr>
              <a:t>of all programs be of the same length, although there is a maximum segment length. As with paging, a logical address using segmentation consists of two parts, in this case a segment number and an offset.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Because of the use of unequal-size segments, segmentation is similar to dynamic partitioning. In the absence of an overlay scheme or the use of virtual</a:t>
            </a:r>
          </a:p>
          <a:p>
            <a:r>
              <a:rPr lang="en-US" sz="1200" kern="1200" baseline="0" dirty="0">
                <a:solidFill>
                  <a:schemeClr val="tx1"/>
                </a:solidFill>
                <a:latin typeface="+mn-lt"/>
                <a:ea typeface="+mn-ea"/>
                <a:cs typeface="+mn-cs"/>
              </a:rPr>
              <a:t>memory, it would be required that all of a program’s segments be loaded into memory for execution. The difference, compared to dynamic partitioning, is that with</a:t>
            </a:r>
          </a:p>
          <a:p>
            <a:r>
              <a:rPr lang="en-US" sz="1200" kern="1200" baseline="0" dirty="0">
                <a:solidFill>
                  <a:schemeClr val="tx1"/>
                </a:solidFill>
                <a:latin typeface="+mn-lt"/>
                <a:ea typeface="+mn-ea"/>
                <a:cs typeface="+mn-cs"/>
              </a:rPr>
              <a:t>segmentation a program may occupy more than one partition, and these partitions need not be contiguous. Segmentation eliminates internal fragmentation but, like </a:t>
            </a:r>
          </a:p>
          <a:p>
            <a:r>
              <a:rPr lang="en-US" sz="1200" kern="1200" baseline="0" dirty="0">
                <a:solidFill>
                  <a:schemeClr val="tx1"/>
                </a:solidFill>
                <a:latin typeface="+mn-lt"/>
                <a:ea typeface="+mn-ea"/>
                <a:cs typeface="+mn-cs"/>
              </a:rPr>
              <a:t>dynamic partitioning, it suffers from external fragmentation. However, because a process is broken up into a number of smaller pieces, the external fragmentation</a:t>
            </a:r>
          </a:p>
          <a:p>
            <a:r>
              <a:rPr lang="en-US" sz="1200" kern="1200" baseline="0" dirty="0">
                <a:solidFill>
                  <a:schemeClr val="tx1"/>
                </a:solidFill>
                <a:latin typeface="+mn-lt"/>
                <a:ea typeface="+mn-ea"/>
                <a:cs typeface="+mn-cs"/>
              </a:rPr>
              <a:t>should be less.</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8</a:t>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In our example, we have the logical address 0001001011110000, which is segment number 1, offset 752. Suppose that this segment is residing in main memory starting at physical address 0010000000100000. Then the physical address is 0010000000100000 + 001011110000  0010001100010000 ( Figure 7.12b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sz="1200" kern="1200" baseline="0" dirty="0">
                <a:solidFill>
                  <a:schemeClr val="tx1"/>
                </a:solidFill>
                <a:latin typeface="+mn-lt"/>
                <a:ea typeface="+mn-ea"/>
                <a:cs typeface="+mn-cs"/>
              </a:rPr>
              <a:t>One serious security threat related to memory management remains to be introduced:</a:t>
            </a:r>
          </a:p>
          <a:p>
            <a:r>
              <a:rPr lang="en-US" sz="1200" b="1" kern="1200" baseline="0" dirty="0">
                <a:solidFill>
                  <a:schemeClr val="tx1"/>
                </a:solidFill>
                <a:latin typeface="+mn-lt"/>
                <a:ea typeface="+mn-ea"/>
                <a:cs typeface="+mn-cs"/>
              </a:rPr>
              <a:t>buffer overflow , also known as a buffer overrun , </a:t>
            </a:r>
            <a:r>
              <a:rPr lang="en-US" sz="1200" b="0" kern="1200" baseline="0" dirty="0">
                <a:solidFill>
                  <a:schemeClr val="tx1"/>
                </a:solidFill>
                <a:latin typeface="+mn-lt"/>
                <a:ea typeface="+mn-ea"/>
                <a:cs typeface="+mn-cs"/>
              </a:rPr>
              <a:t>which is defined in the NIST</a:t>
            </a:r>
          </a:p>
          <a:p>
            <a:r>
              <a:rPr lang="en-US" sz="1200" kern="1200" baseline="0" dirty="0">
                <a:solidFill>
                  <a:schemeClr val="tx1"/>
                </a:solidFill>
                <a:latin typeface="+mn-lt"/>
                <a:ea typeface="+mn-ea"/>
                <a:cs typeface="+mn-cs"/>
              </a:rPr>
              <a:t>(National Institute of Standards and Technology) </a:t>
            </a:r>
            <a:r>
              <a:rPr lang="en-US" sz="1200" i="1" kern="1200" baseline="0" dirty="0">
                <a:solidFill>
                  <a:schemeClr val="tx1"/>
                </a:solidFill>
                <a:latin typeface="+mn-lt"/>
                <a:ea typeface="+mn-ea"/>
                <a:cs typeface="+mn-cs"/>
              </a:rPr>
              <a:t>Glossary of Key Information</a:t>
            </a:r>
          </a:p>
          <a:p>
            <a:r>
              <a:rPr lang="en-US" sz="1200" i="1" kern="1200" baseline="0" dirty="0">
                <a:solidFill>
                  <a:schemeClr val="tx1"/>
                </a:solidFill>
                <a:latin typeface="+mn-lt"/>
                <a:ea typeface="+mn-ea"/>
                <a:cs typeface="+mn-cs"/>
              </a:rPr>
              <a:t>Security Terms as follows:</a:t>
            </a:r>
          </a:p>
          <a:p>
            <a:endParaRPr lang="en-US" sz="1200" i="1" kern="1200" baseline="0" dirty="0">
              <a:solidFill>
                <a:schemeClr val="tx1"/>
              </a:solidFill>
              <a:latin typeface="+mn-lt"/>
              <a:ea typeface="+mn-ea"/>
              <a:cs typeface="+mn-cs"/>
            </a:endParaRPr>
          </a:p>
          <a:p>
            <a:r>
              <a:rPr lang="en-US" sz="1200" b="1" kern="1200" baseline="0" dirty="0">
                <a:solidFill>
                  <a:schemeClr val="tx1"/>
                </a:solidFill>
                <a:latin typeface="+mn-lt"/>
                <a:ea typeface="+mn-ea"/>
                <a:cs typeface="+mn-cs"/>
              </a:rPr>
              <a:t>buffer overrun: A condition at an interface under which more input can be</a:t>
            </a:r>
          </a:p>
          <a:p>
            <a:r>
              <a:rPr lang="en-US" sz="1200" kern="1200" baseline="0" dirty="0">
                <a:solidFill>
                  <a:schemeClr val="tx1"/>
                </a:solidFill>
                <a:latin typeface="+mn-lt"/>
                <a:ea typeface="+mn-ea"/>
                <a:cs typeface="+mn-cs"/>
              </a:rPr>
              <a:t>placed into a buffer or data-holding area than the capacity allocated, overwriting</a:t>
            </a:r>
          </a:p>
          <a:p>
            <a:r>
              <a:rPr lang="en-US" sz="1200" kern="1200" baseline="0" dirty="0">
                <a:solidFill>
                  <a:schemeClr val="tx1"/>
                </a:solidFill>
                <a:latin typeface="+mn-lt"/>
                <a:ea typeface="+mn-ea"/>
                <a:cs typeface="+mn-cs"/>
              </a:rPr>
              <a:t>other information. Attackers exploit such a condition to crash a system or to</a:t>
            </a:r>
          </a:p>
          <a:p>
            <a:r>
              <a:rPr lang="en-US" sz="1200" kern="1200" baseline="0" dirty="0">
                <a:solidFill>
                  <a:schemeClr val="tx1"/>
                </a:solidFill>
                <a:latin typeface="+mn-lt"/>
                <a:ea typeface="+mn-ea"/>
                <a:cs typeface="+mn-cs"/>
              </a:rPr>
              <a:t>insert specially crafted code that allows them to gain control of the system.</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buffer overflow can occur as a result of a programming error when a process</a:t>
            </a:r>
          </a:p>
          <a:p>
            <a:r>
              <a:rPr lang="en-US" sz="1200" kern="1200" baseline="0" dirty="0">
                <a:solidFill>
                  <a:schemeClr val="tx1"/>
                </a:solidFill>
                <a:latin typeface="+mn-lt"/>
                <a:ea typeface="+mn-ea"/>
                <a:cs typeface="+mn-cs"/>
              </a:rPr>
              <a:t>attempts to store data beyond the limits of a fixed-sized buffer and consequently</a:t>
            </a:r>
          </a:p>
          <a:p>
            <a:r>
              <a:rPr lang="en-US" sz="1200" kern="1200" baseline="0" dirty="0">
                <a:solidFill>
                  <a:schemeClr val="tx1"/>
                </a:solidFill>
                <a:latin typeface="+mn-lt"/>
                <a:ea typeface="+mn-ea"/>
                <a:cs typeface="+mn-cs"/>
              </a:rPr>
              <a:t>overwrites adjacent memory locations. These locations could hold other program</a:t>
            </a:r>
          </a:p>
          <a:p>
            <a:r>
              <a:rPr lang="en-US" sz="1200" kern="1200" baseline="0" dirty="0">
                <a:solidFill>
                  <a:schemeClr val="tx1"/>
                </a:solidFill>
                <a:latin typeface="+mn-lt"/>
                <a:ea typeface="+mn-ea"/>
                <a:cs typeface="+mn-cs"/>
              </a:rPr>
              <a:t>variables or parameters or program control flow data such as return addresses</a:t>
            </a:r>
          </a:p>
          <a:p>
            <a:r>
              <a:rPr lang="en-US" sz="1200" kern="1200" baseline="0" dirty="0">
                <a:solidFill>
                  <a:schemeClr val="tx1"/>
                </a:solidFill>
                <a:latin typeface="+mn-lt"/>
                <a:ea typeface="+mn-ea"/>
                <a:cs typeface="+mn-cs"/>
              </a:rPr>
              <a:t>and pointers to previous stack frames. The buffer could be located on the stack,</a:t>
            </a:r>
          </a:p>
          <a:p>
            <a:r>
              <a:rPr lang="en-US" sz="1200" kern="1200" baseline="0" dirty="0">
                <a:solidFill>
                  <a:schemeClr val="tx1"/>
                </a:solidFill>
                <a:latin typeface="+mn-lt"/>
                <a:ea typeface="+mn-ea"/>
                <a:cs typeface="+mn-cs"/>
              </a:rPr>
              <a:t>in the heap, or in the data section of the process. The consequences of this error</a:t>
            </a:r>
          </a:p>
          <a:p>
            <a:r>
              <a:rPr lang="en-US" sz="1200" kern="1200" baseline="0" dirty="0">
                <a:solidFill>
                  <a:schemeClr val="tx1"/>
                </a:solidFill>
                <a:latin typeface="+mn-lt"/>
                <a:ea typeface="+mn-ea"/>
                <a:cs typeface="+mn-cs"/>
              </a:rPr>
              <a:t>include corruption of data used by the program, unexpected transfer of control in</a:t>
            </a:r>
          </a:p>
          <a:p>
            <a:r>
              <a:rPr lang="en-US" sz="1200" kern="1200" baseline="0" dirty="0">
                <a:solidFill>
                  <a:schemeClr val="tx1"/>
                </a:solidFill>
                <a:latin typeface="+mn-lt"/>
                <a:ea typeface="+mn-ea"/>
                <a:cs typeface="+mn-cs"/>
              </a:rPr>
              <a:t>the program, possibly memory access violations, and very likely eventual program</a:t>
            </a:r>
          </a:p>
          <a:p>
            <a:r>
              <a:rPr lang="en-US" sz="1200" kern="1200" baseline="0" dirty="0">
                <a:solidFill>
                  <a:schemeClr val="tx1"/>
                </a:solidFill>
                <a:latin typeface="+mn-lt"/>
                <a:ea typeface="+mn-ea"/>
                <a:cs typeface="+mn-cs"/>
              </a:rPr>
              <a:t>termination. When done deliberately as part of an attack on a system, the transfer</a:t>
            </a:r>
          </a:p>
          <a:p>
            <a:r>
              <a:rPr lang="en-US" sz="1200" kern="1200" baseline="0" dirty="0">
                <a:solidFill>
                  <a:schemeClr val="tx1"/>
                </a:solidFill>
                <a:latin typeface="+mn-lt"/>
                <a:ea typeface="+mn-ea"/>
                <a:cs typeface="+mn-cs"/>
              </a:rPr>
              <a:t>of control could be to code of the attacker’s choosing, resulting in the ability to</a:t>
            </a:r>
          </a:p>
          <a:p>
            <a:r>
              <a:rPr lang="en-US" sz="1200" kern="1200" baseline="0" dirty="0">
                <a:solidFill>
                  <a:schemeClr val="tx1"/>
                </a:solidFill>
                <a:latin typeface="+mn-lt"/>
                <a:ea typeface="+mn-ea"/>
                <a:cs typeface="+mn-cs"/>
              </a:rPr>
              <a:t>execute arbitrary code with the privileges of the attacked process. Buffer overflow</a:t>
            </a:r>
          </a:p>
          <a:p>
            <a:r>
              <a:rPr lang="en-US" sz="1200" kern="1200" baseline="0" dirty="0">
                <a:solidFill>
                  <a:schemeClr val="tx1"/>
                </a:solidFill>
                <a:latin typeface="+mn-lt"/>
                <a:ea typeface="+mn-ea"/>
                <a:cs typeface="+mn-cs"/>
              </a:rPr>
              <a:t>attacks are one of the most prevalent and dangerous types of security attacks.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11</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To illustrate the basic operation of a common type of buffer overflow,</a:t>
            </a:r>
          </a:p>
          <a:p>
            <a:r>
              <a:rPr lang="en-US" sz="1200" kern="1200" baseline="0" dirty="0">
                <a:solidFill>
                  <a:schemeClr val="tx1"/>
                </a:solidFill>
                <a:latin typeface="+mn-lt"/>
                <a:ea typeface="+mn-ea"/>
                <a:cs typeface="+mn-cs"/>
              </a:rPr>
              <a:t>known as </a:t>
            </a:r>
            <a:r>
              <a:rPr lang="en-US" sz="1200" b="1" kern="1200" baseline="0" dirty="0">
                <a:solidFill>
                  <a:schemeClr val="tx1"/>
                </a:solidFill>
                <a:latin typeface="+mn-lt"/>
                <a:ea typeface="+mn-ea"/>
                <a:cs typeface="+mn-cs"/>
              </a:rPr>
              <a:t>stack overflow , </a:t>
            </a:r>
            <a:r>
              <a:rPr lang="en-US" sz="1200" b="0" kern="1200" baseline="0" dirty="0">
                <a:solidFill>
                  <a:schemeClr val="tx1"/>
                </a:solidFill>
                <a:latin typeface="+mn-lt"/>
                <a:ea typeface="+mn-ea"/>
                <a:cs typeface="+mn-cs"/>
              </a:rPr>
              <a:t>consider the C main function given in Figure 7.13a . This</a:t>
            </a:r>
          </a:p>
          <a:p>
            <a:r>
              <a:rPr lang="en-US" sz="1200" kern="1200" baseline="0" dirty="0">
                <a:solidFill>
                  <a:schemeClr val="tx1"/>
                </a:solidFill>
                <a:latin typeface="+mn-lt"/>
                <a:ea typeface="+mn-ea"/>
                <a:cs typeface="+mn-cs"/>
              </a:rPr>
              <a:t>contains three variables ( valid , str1 , and str2 ), 2 whose values will typically</a:t>
            </a:r>
          </a:p>
          <a:p>
            <a:r>
              <a:rPr lang="en-US" sz="1200" kern="1200" baseline="0" dirty="0">
                <a:solidFill>
                  <a:schemeClr val="tx1"/>
                </a:solidFill>
                <a:latin typeface="+mn-lt"/>
                <a:ea typeface="+mn-ea"/>
                <a:cs typeface="+mn-cs"/>
              </a:rPr>
              <a:t>be saved in adjacent memory locations. Their order and location depends on the</a:t>
            </a:r>
          </a:p>
          <a:p>
            <a:r>
              <a:rPr lang="en-US" sz="1200" kern="1200" baseline="0" dirty="0">
                <a:solidFill>
                  <a:schemeClr val="tx1"/>
                </a:solidFill>
                <a:latin typeface="+mn-lt"/>
                <a:ea typeface="+mn-ea"/>
                <a:cs typeface="+mn-cs"/>
              </a:rPr>
              <a:t>type of variable (local or global), the language and compiler used, and the target</a:t>
            </a:r>
          </a:p>
          <a:p>
            <a:r>
              <a:rPr lang="en-US" sz="1200" kern="1200" baseline="0" dirty="0">
                <a:solidFill>
                  <a:schemeClr val="tx1"/>
                </a:solidFill>
                <a:latin typeface="+mn-lt"/>
                <a:ea typeface="+mn-ea"/>
                <a:cs typeface="+mn-cs"/>
              </a:rPr>
              <a:t>machine architecture.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12</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0" kern="1200" baseline="0" dirty="0">
                <a:solidFill>
                  <a:schemeClr val="tx1"/>
                </a:solidFill>
                <a:latin typeface="+mn-lt"/>
                <a:ea typeface="+mn-ea"/>
                <a:cs typeface="+mn-cs"/>
              </a:rPr>
              <a:t>Figure 7.14 Basic Buffer Overflow Stack Values</a:t>
            </a:r>
            <a:endParaRPr lang="en-US" b="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13</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Finding and exploiting a stack buffer overflow is not that difficult. The large number</a:t>
            </a:r>
          </a:p>
          <a:p>
            <a:r>
              <a:rPr lang="en-US" sz="1200" kern="1200" baseline="0" dirty="0">
                <a:solidFill>
                  <a:schemeClr val="tx1"/>
                </a:solidFill>
                <a:latin typeface="+mn-lt"/>
                <a:ea typeface="+mn-ea"/>
                <a:cs typeface="+mn-cs"/>
              </a:rPr>
              <a:t>of exploits over the previous couple of decades clearly illustrates this. There</a:t>
            </a:r>
          </a:p>
          <a:p>
            <a:r>
              <a:rPr lang="en-US" sz="1200" kern="1200" baseline="0" dirty="0">
                <a:solidFill>
                  <a:schemeClr val="tx1"/>
                </a:solidFill>
                <a:latin typeface="+mn-lt"/>
                <a:ea typeface="+mn-ea"/>
                <a:cs typeface="+mn-cs"/>
              </a:rPr>
              <a:t>is consequently a need to defend systems against such attacks by either preventing</a:t>
            </a:r>
          </a:p>
          <a:p>
            <a:r>
              <a:rPr lang="en-US" sz="1200" kern="1200" baseline="0" dirty="0">
                <a:solidFill>
                  <a:schemeClr val="tx1"/>
                </a:solidFill>
                <a:latin typeface="+mn-lt"/>
                <a:ea typeface="+mn-ea"/>
                <a:cs typeface="+mn-cs"/>
              </a:rPr>
              <a:t>them or at least detecting and aborting such attacks. Countermeasures can be</a:t>
            </a:r>
          </a:p>
          <a:p>
            <a:r>
              <a:rPr lang="en-US" sz="1200" kern="1200" baseline="0" dirty="0">
                <a:solidFill>
                  <a:schemeClr val="tx1"/>
                </a:solidFill>
                <a:latin typeface="+mn-lt"/>
                <a:ea typeface="+mn-ea"/>
                <a:cs typeface="+mn-cs"/>
              </a:rPr>
              <a:t>broadly classified into two categories:</a:t>
            </a:r>
          </a:p>
          <a:p>
            <a:r>
              <a:rPr lang="en-US" sz="1200" kern="1200" baseline="0" dirty="0">
                <a:solidFill>
                  <a:schemeClr val="tx1"/>
                </a:solidFill>
                <a:latin typeface="+mn-lt"/>
                <a:ea typeface="+mn-ea"/>
                <a:cs typeface="+mn-cs"/>
              </a:rPr>
              <a:t>• Compile-time defenses, which aim to harden programs to resist attacks in new</a:t>
            </a:r>
          </a:p>
          <a:p>
            <a:r>
              <a:rPr lang="en-US" sz="1200" kern="1200" baseline="0" dirty="0">
                <a:solidFill>
                  <a:schemeClr val="tx1"/>
                </a:solidFill>
                <a:latin typeface="+mn-lt"/>
                <a:ea typeface="+mn-ea"/>
                <a:cs typeface="+mn-cs"/>
              </a:rPr>
              <a:t>programs</a:t>
            </a:r>
          </a:p>
          <a:p>
            <a:r>
              <a:rPr lang="en-US" sz="1200" kern="1200" baseline="0" dirty="0">
                <a:solidFill>
                  <a:schemeClr val="tx1"/>
                </a:solidFill>
                <a:latin typeface="+mn-lt"/>
                <a:ea typeface="+mn-ea"/>
                <a:cs typeface="+mn-cs"/>
              </a:rPr>
              <a:t>• Run-time defenses, which aim to detect and abort attacks in existing programs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While suitable defenses have been known for a couple of decades, the very</a:t>
            </a:r>
          </a:p>
          <a:p>
            <a:r>
              <a:rPr lang="en-US" sz="1200" kern="1200" baseline="0" dirty="0">
                <a:solidFill>
                  <a:schemeClr val="tx1"/>
                </a:solidFill>
                <a:latin typeface="+mn-lt"/>
                <a:ea typeface="+mn-ea"/>
                <a:cs typeface="+mn-cs"/>
              </a:rPr>
              <a:t>large existing base of vulnerable software and systems hinders their deployment.</a:t>
            </a:r>
          </a:p>
          <a:p>
            <a:r>
              <a:rPr lang="en-US" sz="1200" kern="1200" baseline="0" dirty="0">
                <a:solidFill>
                  <a:schemeClr val="tx1"/>
                </a:solidFill>
                <a:latin typeface="+mn-lt"/>
                <a:ea typeface="+mn-ea"/>
                <a:cs typeface="+mn-cs"/>
              </a:rPr>
              <a:t>Hence the interest in run-time defenses, which can be deployed in operating</a:t>
            </a:r>
          </a:p>
          <a:p>
            <a:r>
              <a:rPr lang="en-US" sz="1200" kern="1200" baseline="0" dirty="0">
                <a:solidFill>
                  <a:schemeClr val="tx1"/>
                </a:solidFill>
                <a:latin typeface="+mn-lt"/>
                <a:ea typeface="+mn-ea"/>
                <a:cs typeface="+mn-cs"/>
              </a:rPr>
              <a:t>systems and updates and can provide some protection for existing vulnerable</a:t>
            </a:r>
          </a:p>
          <a:p>
            <a:r>
              <a:rPr lang="en-US" sz="1200" kern="1200" baseline="0" dirty="0">
                <a:solidFill>
                  <a:schemeClr val="tx1"/>
                </a:solidFill>
                <a:latin typeface="+mn-lt"/>
                <a:ea typeface="+mn-ea"/>
                <a:cs typeface="+mn-cs"/>
              </a:rPr>
              <a:t>programs.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14</a:t>
            </a:fld>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Chapter 7 Summary</a:t>
            </a:r>
          </a:p>
          <a:p>
            <a:endParaRPr lang="en-US" dirty="0"/>
          </a:p>
          <a:p>
            <a:r>
              <a:rPr lang="en-US" sz="1200" kern="1200" baseline="0" dirty="0">
                <a:solidFill>
                  <a:schemeClr val="tx1"/>
                </a:solidFill>
                <a:latin typeface="+mn-lt"/>
                <a:ea typeface="+mn-ea"/>
                <a:cs typeface="+mn-cs"/>
              </a:rPr>
              <a:t>One of the most important and complex tasks of an operating system is memory</a:t>
            </a:r>
          </a:p>
          <a:p>
            <a:r>
              <a:rPr lang="en-US" sz="1200" kern="1200" baseline="0" dirty="0">
                <a:solidFill>
                  <a:schemeClr val="tx1"/>
                </a:solidFill>
                <a:latin typeface="+mn-lt"/>
                <a:ea typeface="+mn-ea"/>
                <a:cs typeface="+mn-cs"/>
              </a:rPr>
              <a:t>management. Memory management involves treating main memory as a resource</a:t>
            </a:r>
          </a:p>
          <a:p>
            <a:r>
              <a:rPr lang="en-US" sz="1200" kern="1200" baseline="0" dirty="0">
                <a:solidFill>
                  <a:schemeClr val="tx1"/>
                </a:solidFill>
                <a:latin typeface="+mn-lt"/>
                <a:ea typeface="+mn-ea"/>
                <a:cs typeface="+mn-cs"/>
              </a:rPr>
              <a:t>to be allocated to and shared among a number of active processes. To use the processor</a:t>
            </a:r>
          </a:p>
          <a:p>
            <a:r>
              <a:rPr lang="en-US" sz="1200" kern="1200" baseline="0" dirty="0">
                <a:solidFill>
                  <a:schemeClr val="tx1"/>
                </a:solidFill>
                <a:latin typeface="+mn-lt"/>
                <a:ea typeface="+mn-ea"/>
                <a:cs typeface="+mn-cs"/>
              </a:rPr>
              <a:t>and the I/O facilities efficiently, it is desirable to maintain as many processes</a:t>
            </a:r>
          </a:p>
          <a:p>
            <a:r>
              <a:rPr lang="en-US" sz="1200" kern="1200" baseline="0" dirty="0">
                <a:solidFill>
                  <a:schemeClr val="tx1"/>
                </a:solidFill>
                <a:latin typeface="+mn-lt"/>
                <a:ea typeface="+mn-ea"/>
                <a:cs typeface="+mn-cs"/>
              </a:rPr>
              <a:t>in main memory as possible. In addition, it is desirable to free programmers from</a:t>
            </a:r>
          </a:p>
          <a:p>
            <a:r>
              <a:rPr lang="en-US" sz="1200" kern="1200" baseline="0" dirty="0">
                <a:solidFill>
                  <a:schemeClr val="tx1"/>
                </a:solidFill>
                <a:latin typeface="+mn-lt"/>
                <a:ea typeface="+mn-ea"/>
                <a:cs typeface="+mn-cs"/>
              </a:rPr>
              <a:t>size restrictions in program development.</a:t>
            </a:r>
          </a:p>
          <a:p>
            <a:r>
              <a:rPr lang="en-US" sz="1200" kern="1200" baseline="0" dirty="0">
                <a:solidFill>
                  <a:schemeClr val="tx1"/>
                </a:solidFill>
                <a:latin typeface="+mn-lt"/>
                <a:ea typeface="+mn-ea"/>
                <a:cs typeface="+mn-cs"/>
              </a:rPr>
              <a:t>The basic tools of memory management are paging and segmentation. With</a:t>
            </a:r>
          </a:p>
          <a:p>
            <a:r>
              <a:rPr lang="en-US" sz="1200" kern="1200" baseline="0" dirty="0">
                <a:solidFill>
                  <a:schemeClr val="tx1"/>
                </a:solidFill>
                <a:latin typeface="+mn-lt"/>
                <a:ea typeface="+mn-ea"/>
                <a:cs typeface="+mn-cs"/>
              </a:rPr>
              <a:t>paging, each process is divided into relatively small, fixed-size pages. Segmentation</a:t>
            </a:r>
          </a:p>
          <a:p>
            <a:r>
              <a:rPr lang="en-US" sz="1200" kern="1200" baseline="0" dirty="0">
                <a:solidFill>
                  <a:schemeClr val="tx1"/>
                </a:solidFill>
                <a:latin typeface="+mn-lt"/>
                <a:ea typeface="+mn-ea"/>
                <a:cs typeface="+mn-cs"/>
              </a:rPr>
              <a:t>provides for the use of pieces of varying size. It is also possible to combine segmentation</a:t>
            </a:r>
          </a:p>
          <a:p>
            <a:r>
              <a:rPr lang="en-US" sz="1200" kern="1200" baseline="0" dirty="0">
                <a:solidFill>
                  <a:schemeClr val="tx1"/>
                </a:solidFill>
                <a:latin typeface="+mn-lt"/>
                <a:ea typeface="+mn-ea"/>
                <a:cs typeface="+mn-cs"/>
              </a:rPr>
              <a:t>and paging in a single memory management scheme.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15</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356CD45C-81C4-4E27-A18A-8835B7066D8D}"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CAF246AB-72DE-4829-A3EE-183283F17E51}" type="slidenum">
              <a:rPr lang="en-US"/>
              <a:pPr>
                <a:defRPr/>
              </a:pPr>
              <a:t>‹#›</a:t>
            </a:fld>
            <a:endParaRPr lang="en-US" dirty="0"/>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64DF4F1D-9F1B-4CA4-932E-311654E9982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59217303-0E5B-4E24-BCA3-62F5881C102C}" type="slidenum">
              <a:rPr lang="en-US"/>
              <a:pPr>
                <a:defRPr/>
              </a:pPr>
              <a:t>‹#›</a:t>
            </a:fld>
            <a:endParaRPr lang="en-US" dirty="0"/>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BA0E4233-E030-4D82-AE1D-06E871FCE68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DF17966-739A-4E4E-BEF8-5E9D65CAA6DD}" type="slidenum">
              <a:rPr lang="en-US"/>
              <a:pPr>
                <a:defRPr/>
              </a:pPr>
              <a:t>‹#›</a:t>
            </a:fld>
            <a:endParaRPr lang="en-US" dirty="0"/>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C7C5EE9E-C85E-43CC-91D6-50F7B4961BB7}"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69B75778-597E-43D2-A71E-341C60964EE0}" type="slidenum">
              <a:rPr lang="en-US"/>
              <a:pPr>
                <a:defRPr/>
              </a:pPr>
              <a:t>‹#›</a:t>
            </a:fld>
            <a:endParaRPr lang="en-US" dirty="0"/>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E19F8884-1DEA-4C84-A489-E724713CC95E}" type="datetimeFigureOut">
              <a:rPr lang="en-US"/>
              <a:pPr>
                <a:defRPr/>
              </a:pPr>
              <a:t>30-Apr-2024</a:t>
            </a:fld>
            <a:endParaRPr lang="en-US" dirty="0"/>
          </a:p>
        </p:txBody>
      </p:sp>
      <p:sp>
        <p:nvSpPr>
          <p:cNvPr id="8" name="Footer Placeholder 4"/>
          <p:cNvSpPr>
            <a:spLocks noGrp="1"/>
          </p:cNvSpPr>
          <p:nvPr>
            <p:ph type="ftr" sz="quarter" idx="11"/>
          </p:nvPr>
        </p:nvSpPr>
        <p:spPr/>
        <p:txBody>
          <a:bodyPr/>
          <a:lstStyle>
            <a:lvl1pPr>
              <a:defRPr/>
            </a:lvl1pPr>
          </a:lstStyle>
          <a:p>
            <a:pPr>
              <a:defRPr/>
            </a:pPr>
            <a:endParaRPr lang="en-US" dirty="0"/>
          </a:p>
        </p:txBody>
      </p:sp>
      <p:sp>
        <p:nvSpPr>
          <p:cNvPr id="9" name="Slide Number Placeholder 5"/>
          <p:cNvSpPr>
            <a:spLocks noGrp="1"/>
          </p:cNvSpPr>
          <p:nvPr>
            <p:ph type="sldNum" sz="quarter" idx="12"/>
          </p:nvPr>
        </p:nvSpPr>
        <p:spPr/>
        <p:txBody>
          <a:bodyPr/>
          <a:lstStyle>
            <a:lvl1pPr>
              <a:defRPr/>
            </a:lvl1pPr>
          </a:lstStyle>
          <a:p>
            <a:pPr>
              <a:defRPr/>
            </a:pPr>
            <a:fld id="{F8D71189-8D0B-455A-87B2-3A89DCBF685D}" type="slidenum">
              <a:rPr lang="en-US"/>
              <a:pPr>
                <a:defRPr/>
              </a:pPr>
              <a:t>‹#›</a:t>
            </a:fld>
            <a:endParaRPr lang="en-US" dirty="0"/>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02DFE5A-BFC9-454A-A87C-69BA4FE25A0F}" type="datetimeFigureOut">
              <a:rPr lang="en-US"/>
              <a:pPr>
                <a:defRPr/>
              </a:pPr>
              <a:t>30-Apr-2024</a:t>
            </a:fld>
            <a:endParaRPr lang="en-US" dirty="0"/>
          </a:p>
        </p:txBody>
      </p:sp>
      <p:sp>
        <p:nvSpPr>
          <p:cNvPr id="4" name="Footer Placeholder 4"/>
          <p:cNvSpPr>
            <a:spLocks noGrp="1"/>
          </p:cNvSpPr>
          <p:nvPr>
            <p:ph type="ftr" sz="quarter" idx="11"/>
          </p:nvPr>
        </p:nvSpPr>
        <p:spPr/>
        <p:txBody>
          <a:bodyPr/>
          <a:lstStyle>
            <a:lvl1pPr>
              <a:defRPr/>
            </a:lvl1pPr>
          </a:lstStyle>
          <a:p>
            <a:pPr>
              <a:defRPr/>
            </a:pPr>
            <a:endParaRPr lang="en-US" dirty="0"/>
          </a:p>
        </p:txBody>
      </p:sp>
      <p:sp>
        <p:nvSpPr>
          <p:cNvPr id="5" name="Slide Number Placeholder 5"/>
          <p:cNvSpPr>
            <a:spLocks noGrp="1"/>
          </p:cNvSpPr>
          <p:nvPr>
            <p:ph type="sldNum" sz="quarter" idx="12"/>
          </p:nvPr>
        </p:nvSpPr>
        <p:spPr/>
        <p:txBody>
          <a:bodyPr/>
          <a:lstStyle>
            <a:lvl1pPr>
              <a:defRPr/>
            </a:lvl1pPr>
          </a:lstStyle>
          <a:p>
            <a:pPr>
              <a:defRPr/>
            </a:pPr>
            <a:fld id="{6F5D2254-A369-4EE7-927D-AE713623071A}" type="slidenum">
              <a:rPr lang="en-US"/>
              <a:pPr>
                <a:defRPr/>
              </a:pPr>
              <a:t>‹#›</a:t>
            </a:fld>
            <a:endParaRPr lang="en-US" dirty="0"/>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B4A6603-BAC9-4FFA-BE72-57B7C0EDA50D}" type="datetimeFigureOut">
              <a:rPr lang="en-US"/>
              <a:pPr>
                <a:defRPr/>
              </a:pPr>
              <a:t>30-Apr-2024</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dirty="0"/>
          </a:p>
        </p:txBody>
      </p:sp>
      <p:sp>
        <p:nvSpPr>
          <p:cNvPr id="4" name="Slide Number Placeholder 5"/>
          <p:cNvSpPr>
            <a:spLocks noGrp="1"/>
          </p:cNvSpPr>
          <p:nvPr>
            <p:ph type="sldNum" sz="quarter" idx="12"/>
          </p:nvPr>
        </p:nvSpPr>
        <p:spPr/>
        <p:txBody>
          <a:bodyPr/>
          <a:lstStyle>
            <a:lvl1pPr>
              <a:defRPr/>
            </a:lvl1pPr>
          </a:lstStyle>
          <a:p>
            <a:pPr>
              <a:defRPr/>
            </a:pPr>
            <a:fld id="{2269E04E-7B9E-40CB-AECA-9BEEF7D4B165}" type="slidenum">
              <a:rPr lang="en-US"/>
              <a:pPr>
                <a:defRPr/>
              </a:pPr>
              <a:t>‹#›</a:t>
            </a:fld>
            <a:endParaRPr lang="en-US" dirty="0"/>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56F2E53-C0F0-49CC-8B3F-6BA3D019B99D}"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EA175EC1-C65E-447A-8CAE-CC74F7243464}" type="slidenum">
              <a:rPr lang="en-US"/>
              <a:pPr>
                <a:defRPr/>
              </a:pPr>
              <a:t>‹#›</a:t>
            </a:fld>
            <a:endParaRPr lang="en-US" dirty="0"/>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44AA9AB-7925-475F-87E4-57F6EF092961}"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94A6BC3C-EF4C-4932-8208-7FBB5701A0AF}" type="slidenum">
              <a:rPr lang="en-US"/>
              <a:pPr>
                <a:defRPr/>
              </a:pPr>
              <a:t>‹#›</a:t>
            </a:fld>
            <a:endParaRPr lang="en-US" dirty="0"/>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DA9C3780-DD3C-46A5-8303-4579155A8DB3}"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312BAF33-582B-4B0D-B27A-32E91EEEB040}" type="slidenum">
              <a:rPr lang="en-US"/>
              <a:pPr>
                <a:defRPr/>
              </a:pPr>
              <a:t>‹#›</a:t>
            </a:fld>
            <a:endParaRPr lang="en-US" dirty="0"/>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33C4502-BF88-49E9-A189-5718D68C95C9}"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A835F4E-BD93-49E1-84D0-363BA31979D7}" type="slidenum">
              <a:rPr lang="en-US"/>
              <a:pPr>
                <a:defRPr/>
              </a:pPr>
              <a:t>‹#›</a:t>
            </a:fld>
            <a:endParaRPr lang="en-US" dirty="0"/>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12" name="Rectangle 11"/>
          <p:cNvSpPr/>
          <p:nvPr/>
        </p:nvSpPr>
        <p:spPr>
          <a:xfrm>
            <a:off x="341086" y="928914"/>
            <a:ext cx="8432800" cy="177074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ctrTitle"/>
          </p:nvPr>
        </p:nvSpPr>
        <p:spPr>
          <a:xfrm>
            <a:off x="685707" y="968189"/>
            <a:ext cx="7799387" cy="1237130"/>
          </a:xfrm>
        </p:spPr>
        <p:txBody>
          <a:bodyPr anchor="b" anchorCtr="0"/>
          <a:lstStyle>
            <a:lvl1pPr algn="r">
              <a:lnSpc>
                <a:spcPts val="5000"/>
              </a:lnSpc>
              <a:defRPr sz="4600">
                <a:solidFill>
                  <a:schemeClr val="accent1"/>
                </a:solidFill>
                <a:effectLst/>
              </a:defRPr>
            </a:lvl1pPr>
          </a:lstStyle>
          <a:p>
            <a:r>
              <a:rPr lang="en-US"/>
              <a:t>Click to edit Master title style</a:t>
            </a:r>
            <a:endParaRPr/>
          </a:p>
        </p:txBody>
      </p:sp>
      <p:sp>
        <p:nvSpPr>
          <p:cNvPr id="3" name="Subtitle 2"/>
          <p:cNvSpPr>
            <a:spLocks noGrp="1"/>
          </p:cNvSpPr>
          <p:nvPr>
            <p:ph type="subTitle" idx="1"/>
          </p:nvPr>
        </p:nvSpPr>
        <p:spPr>
          <a:xfrm>
            <a:off x="685707" y="2209799"/>
            <a:ext cx="7799387" cy="466165"/>
          </a:xfrm>
        </p:spPr>
        <p:txBody>
          <a:bodyPr/>
          <a:lstStyle>
            <a:lvl1pPr marL="0" indent="0" algn="r">
              <a:lnSpc>
                <a:spcPct val="100000"/>
              </a:lnSpc>
              <a:spcBef>
                <a:spcPts val="0"/>
              </a:spcBef>
              <a:buNone/>
              <a:defRPr sz="1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4" name="Date Placeholder 3"/>
          <p:cNvSpPr>
            <a:spLocks noGrp="1"/>
          </p:cNvSpPr>
          <p:nvPr>
            <p:ph type="dt" sz="half" idx="10"/>
          </p:nvPr>
        </p:nvSpPr>
        <p:spPr/>
        <p:txBody>
          <a:bodyPr/>
          <a:lstStyle/>
          <a:p>
            <a:pPr>
              <a:defRPr/>
            </a:pPr>
            <a:fld id="{EF5D2D3F-B0F1-446B-B7CC-19B90EB0017B}" type="datetimeFigureOut">
              <a:rPr lang="en-US" smtClean="0"/>
              <a:pPr>
                <a:defRPr/>
              </a:pPr>
              <a:t>30-Apr-2024</a:t>
            </a:fld>
            <a:endParaRPr lang="en-US" dirty="0"/>
          </a:p>
        </p:txBody>
      </p:sp>
      <p:sp>
        <p:nvSpPr>
          <p:cNvPr id="6" name="Slide Number Placeholder 5"/>
          <p:cNvSpPr>
            <a:spLocks noGrp="1"/>
          </p:cNvSpPr>
          <p:nvPr>
            <p:ph type="sldNum" sz="quarter" idx="12"/>
          </p:nvPr>
        </p:nvSpPr>
        <p:spPr>
          <a:xfrm>
            <a:off x="4305300" y="6492875"/>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46FA4F69-47FA-46CC-8030-E13D0EF9E85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457200" y="816802"/>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TitleSlideTop.jpg"/>
          <p:cNvPicPr>
            <a:picLocks noChangeAspect="1"/>
          </p:cNvPicPr>
          <p:nvPr/>
        </p:nvPicPr>
        <p:blipFill>
          <a:blip r:embed="rId2"/>
          <a:stretch>
            <a:fillRect/>
          </a:stretch>
        </p:blipFill>
        <p:spPr>
          <a:xfrm>
            <a:off x="457200" y="457200"/>
            <a:ext cx="8229600" cy="356646"/>
          </a:xfrm>
          <a:prstGeom prst="rect">
            <a:avLst/>
          </a:prstGeom>
        </p:spPr>
      </p:pic>
      <p:pic>
        <p:nvPicPr>
          <p:cNvPr id="10" name="Picture 9" descr="TitleSlideBottom.jpg"/>
          <p:cNvPicPr>
            <a:picLocks noChangeAspect="1"/>
          </p:cNvPicPr>
          <p:nvPr/>
        </p:nvPicPr>
        <p:blipFill>
          <a:blip r:embed="rId3"/>
          <a:stretch>
            <a:fillRect/>
          </a:stretch>
        </p:blipFill>
        <p:spPr>
          <a:xfrm>
            <a:off x="457200" y="2700601"/>
            <a:ext cx="8229600" cy="3700199"/>
          </a:xfrm>
          <a:prstGeom prst="rect">
            <a:avLst/>
          </a:prstGeom>
        </p:spPr>
      </p:pic>
      <p:sp>
        <p:nvSpPr>
          <p:cNvPr id="11"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fld id="{5120D744-A176-4DCB-9147-2AE7B7E87481}" type="datetimeFigureOut">
              <a:rPr lang="en-US"/>
              <a:pPr/>
              <a:t>30-Apr-2024</a:t>
            </a:fld>
            <a:endParaRPr/>
          </a:p>
        </p:txBody>
      </p:sp>
      <p:sp>
        <p:nvSpPr>
          <p:cNvPr id="5" name="Footer Placeholder 4"/>
          <p:cNvSpPr>
            <a:spLocks noGrp="1"/>
          </p:cNvSpPr>
          <p:nvPr>
            <p:ph type="ftr" sz="quarter" idx="11"/>
          </p:nvPr>
        </p:nvSpPr>
        <p:spPr/>
        <p:txBody>
          <a:bodyPr/>
          <a:lstStyle/>
          <a:p>
            <a:endParaRPr/>
          </a:p>
        </p:txBody>
      </p:sp>
      <p:sp>
        <p:nvSpPr>
          <p:cNvPr id="6" name="Slide Number Placeholder 5"/>
          <p:cNvSpPr>
            <a:spLocks noGrp="1"/>
          </p:cNvSpPr>
          <p:nvPr>
            <p:ph type="sldNum" sz="quarter" idx="12"/>
          </p:nvPr>
        </p:nvSpPr>
        <p:spPr/>
        <p:txBody>
          <a:bodyPr/>
          <a:lstStyle/>
          <a:p>
            <a:fld id="{3FFF1679-83E0-4571-98D7-4BB535B5F505}" type="slidenum">
              <a:rPr/>
              <a:pPr/>
              <a:t>‹#›</a:t>
            </a:fld>
            <a:endParaRPr/>
          </a:p>
        </p:txBody>
      </p:sp>
      <p:pic>
        <p:nvPicPr>
          <p:cNvPr id="7" name="Picture 6" descr="green.gif"/>
          <p:cNvPicPr>
            <a:picLocks noChangeAspect="1"/>
          </p:cNvPicPr>
          <p:nvPr userDrawn="1"/>
        </p:nvPicPr>
        <p:blipFill>
          <a:blip r:embed="rId2"/>
          <a:srcRect/>
          <a:stretch>
            <a:fillRect/>
          </a:stretch>
        </p:blipFill>
        <p:spPr bwMode="auto">
          <a:xfrm>
            <a:off x="8429625" y="5562600"/>
            <a:ext cx="714375" cy="838200"/>
          </a:xfrm>
          <a:prstGeom prst="rect">
            <a:avLst/>
          </a:prstGeom>
          <a:noFill/>
          <a:ln w="9525">
            <a:noFill/>
            <a:miter lim="800000"/>
            <a:headEnd/>
            <a:tailEnd/>
          </a:ln>
        </p:spPr>
      </p:pic>
      <p:pic>
        <p:nvPicPr>
          <p:cNvPr id="8" name="Picture 7" descr="hand.gif"/>
          <p:cNvPicPr>
            <a:picLocks noChangeAspect="1"/>
          </p:cNvPicPr>
          <p:nvPr userDrawn="1"/>
        </p:nvPicPr>
        <p:blipFill>
          <a:blip r:embed="rId3"/>
          <a:srcRect/>
          <a:stretch>
            <a:fillRect/>
          </a:stretch>
        </p:blipFill>
        <p:spPr bwMode="auto">
          <a:xfrm>
            <a:off x="0" y="6115050"/>
            <a:ext cx="1190625" cy="742950"/>
          </a:xfrm>
          <a:prstGeom prst="rect">
            <a:avLst/>
          </a:prstGeom>
          <a:noFill/>
          <a:ln w="9525">
            <a:noFill/>
            <a:miter lim="800000"/>
            <a:headEnd/>
            <a:tailEnd/>
          </a:ln>
        </p:spPr>
      </p:pic>
      <p:sp>
        <p:nvSpPr>
          <p:cNvPr id="9" name="Freeform 8"/>
          <p:cNvSpPr/>
          <p:nvPr userDrawn="1"/>
        </p:nvSpPr>
        <p:spPr>
          <a:xfrm>
            <a:off x="1171575" y="6124575"/>
            <a:ext cx="7286625" cy="219075"/>
          </a:xfrm>
          <a:custGeom>
            <a:avLst/>
            <a:gdLst>
              <a:gd name="connsiteX0" fmla="*/ 0 w 7286625"/>
              <a:gd name="connsiteY0" fmla="*/ 219075 h 219075"/>
              <a:gd name="connsiteX1" fmla="*/ 190500 w 7286625"/>
              <a:gd name="connsiteY1" fmla="*/ 180975 h 219075"/>
              <a:gd name="connsiteX2" fmla="*/ 2790825 w 7286625"/>
              <a:gd name="connsiteY2" fmla="*/ 171450 h 219075"/>
              <a:gd name="connsiteX3" fmla="*/ 2924175 w 7286625"/>
              <a:gd name="connsiteY3" fmla="*/ 152400 h 219075"/>
              <a:gd name="connsiteX4" fmla="*/ 3267075 w 7286625"/>
              <a:gd name="connsiteY4" fmla="*/ 133350 h 219075"/>
              <a:gd name="connsiteX5" fmla="*/ 3390900 w 7286625"/>
              <a:gd name="connsiteY5" fmla="*/ 123825 h 219075"/>
              <a:gd name="connsiteX6" fmla="*/ 3667125 w 7286625"/>
              <a:gd name="connsiteY6" fmla="*/ 85725 h 219075"/>
              <a:gd name="connsiteX7" fmla="*/ 3838575 w 7286625"/>
              <a:gd name="connsiteY7" fmla="*/ 76200 h 219075"/>
              <a:gd name="connsiteX8" fmla="*/ 4381500 w 7286625"/>
              <a:gd name="connsiteY8" fmla="*/ 47625 h 219075"/>
              <a:gd name="connsiteX9" fmla="*/ 4552950 w 7286625"/>
              <a:gd name="connsiteY9" fmla="*/ 38100 h 219075"/>
              <a:gd name="connsiteX10" fmla="*/ 4686300 w 7286625"/>
              <a:gd name="connsiteY10" fmla="*/ 28575 h 219075"/>
              <a:gd name="connsiteX11" fmla="*/ 5562600 w 7286625"/>
              <a:gd name="connsiteY11" fmla="*/ 0 h 219075"/>
              <a:gd name="connsiteX12" fmla="*/ 6486525 w 7286625"/>
              <a:gd name="connsiteY12" fmla="*/ 9525 h 219075"/>
              <a:gd name="connsiteX13" fmla="*/ 6581775 w 7286625"/>
              <a:gd name="connsiteY13" fmla="*/ 19050 h 219075"/>
              <a:gd name="connsiteX14" fmla="*/ 6715125 w 7286625"/>
              <a:gd name="connsiteY14" fmla="*/ 47625 h 219075"/>
              <a:gd name="connsiteX15" fmla="*/ 7210425 w 7286625"/>
              <a:gd name="connsiteY15" fmla="*/ 66675 h 219075"/>
              <a:gd name="connsiteX16" fmla="*/ 7286625 w 7286625"/>
              <a:gd name="connsiteY16" fmla="*/ 76200 h 21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86625" h="219075">
                <a:moveTo>
                  <a:pt x="0" y="219075"/>
                </a:moveTo>
                <a:cubicBezTo>
                  <a:pt x="67827" y="173857"/>
                  <a:pt x="45538" y="182475"/>
                  <a:pt x="190500" y="180975"/>
                </a:cubicBezTo>
                <a:lnTo>
                  <a:pt x="2790825" y="171450"/>
                </a:lnTo>
                <a:cubicBezTo>
                  <a:pt x="2835275" y="165100"/>
                  <a:pt x="2879529" y="157183"/>
                  <a:pt x="2924175" y="152400"/>
                </a:cubicBezTo>
                <a:cubicBezTo>
                  <a:pt x="3020054" y="142127"/>
                  <a:pt x="3181234" y="138255"/>
                  <a:pt x="3267075" y="133350"/>
                </a:cubicBezTo>
                <a:cubicBezTo>
                  <a:pt x="3308405" y="130988"/>
                  <a:pt x="3349625" y="127000"/>
                  <a:pt x="3390900" y="123825"/>
                </a:cubicBezTo>
                <a:cubicBezTo>
                  <a:pt x="3496096" y="104698"/>
                  <a:pt x="3551356" y="92157"/>
                  <a:pt x="3667125" y="85725"/>
                </a:cubicBezTo>
                <a:lnTo>
                  <a:pt x="3838575" y="76200"/>
                </a:lnTo>
                <a:cubicBezTo>
                  <a:pt x="4421283" y="38197"/>
                  <a:pt x="3784538" y="73028"/>
                  <a:pt x="4381500" y="47625"/>
                </a:cubicBezTo>
                <a:cubicBezTo>
                  <a:pt x="4438686" y="45192"/>
                  <a:pt x="4495823" y="41670"/>
                  <a:pt x="4552950" y="38100"/>
                </a:cubicBezTo>
                <a:cubicBezTo>
                  <a:pt x="4597426" y="35320"/>
                  <a:pt x="4641768" y="30255"/>
                  <a:pt x="4686300" y="28575"/>
                </a:cubicBezTo>
                <a:lnTo>
                  <a:pt x="5562600" y="0"/>
                </a:lnTo>
                <a:lnTo>
                  <a:pt x="6486525" y="9525"/>
                </a:lnTo>
                <a:cubicBezTo>
                  <a:pt x="6518428" y="10121"/>
                  <a:pt x="6550352" y="13505"/>
                  <a:pt x="6581775" y="19050"/>
                </a:cubicBezTo>
                <a:cubicBezTo>
                  <a:pt x="6696351" y="39269"/>
                  <a:pt x="6600009" y="39686"/>
                  <a:pt x="6715125" y="47625"/>
                </a:cubicBezTo>
                <a:cubicBezTo>
                  <a:pt x="6818795" y="54775"/>
                  <a:pt x="7128867" y="63956"/>
                  <a:pt x="7210425" y="66675"/>
                </a:cubicBezTo>
                <a:cubicBezTo>
                  <a:pt x="7254060" y="81220"/>
                  <a:pt x="7228960" y="76200"/>
                  <a:pt x="7286625" y="762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pic>
        <p:nvPicPr>
          <p:cNvPr id="10" name="Picture 9" descr="top.gif"/>
          <p:cNvPicPr>
            <a:picLocks noChangeAspect="1"/>
          </p:cNvPicPr>
          <p:nvPr userDrawn="1"/>
        </p:nvPicPr>
        <p:blipFill>
          <a:blip r:embed="rId4"/>
          <a:srcRect/>
          <a:stretch>
            <a:fillRect/>
          </a:stretch>
        </p:blipFill>
        <p:spPr bwMode="auto">
          <a:xfrm rot="18850181">
            <a:off x="-155575" y="330200"/>
            <a:ext cx="2000250" cy="1047750"/>
          </a:xfrm>
          <a:prstGeom prst="rect">
            <a:avLst/>
          </a:prstGeom>
          <a:noFill/>
          <a:ln w="9525">
            <a:noFill/>
            <a:miter lim="800000"/>
            <a:headEnd/>
            <a:tailEnd/>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10" name="Rectangle 9"/>
          <p:cNvSpPr/>
          <p:nvPr/>
        </p:nvSpPr>
        <p:spPr>
          <a:xfrm>
            <a:off x="326571" y="362857"/>
            <a:ext cx="8440058" cy="251822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3098041" y="3575712"/>
            <a:ext cx="5396671" cy="1340467"/>
          </a:xfrm>
        </p:spPr>
        <p:txBody>
          <a:bodyPr tIns="0" bIns="0" anchor="b" anchorCtr="0"/>
          <a:lstStyle>
            <a:lvl1pPr algn="r">
              <a:defRPr sz="4600" b="0" cap="none" baseline="0">
                <a:solidFill>
                  <a:schemeClr val="accent1"/>
                </a:solidFill>
                <a:effectLst/>
              </a:defRPr>
            </a:lvl1pPr>
          </a:lstStyle>
          <a:p>
            <a:r>
              <a:rPr lang="en-US"/>
              <a:t>Click to edit Master title style</a:t>
            </a:r>
            <a:endParaRPr/>
          </a:p>
        </p:txBody>
      </p:sp>
      <p:sp>
        <p:nvSpPr>
          <p:cNvPr id="3" name="Text Placeholder 2"/>
          <p:cNvSpPr>
            <a:spLocks noGrp="1"/>
          </p:cNvSpPr>
          <p:nvPr>
            <p:ph type="body" idx="1"/>
          </p:nvPr>
        </p:nvSpPr>
        <p:spPr>
          <a:xfrm>
            <a:off x="3098041" y="4980297"/>
            <a:ext cx="5396671" cy="810904"/>
          </a:xfrm>
        </p:spPr>
        <p:txBody>
          <a:bodyPr tIns="0" bIns="0" anchor="t" anchorCtr="0">
            <a:normAutofit/>
          </a:bodyPr>
          <a:lstStyle>
            <a:lvl1pPr marL="0" indent="0" algn="r">
              <a:spcBef>
                <a:spcPts val="300"/>
              </a:spcBef>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F29AB0-274B-47BE-985F-46164E2F9B8D}"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a:xfrm>
            <a:off x="4306824" y="6492240"/>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93238FDB-2D8C-4804-B582-7DB90366B95F}" type="slidenum">
              <a:rPr lang="en-US" smtClean="0"/>
              <a:pPr>
                <a:defRPr/>
              </a:pPr>
              <a:t>‹#›</a:t>
            </a:fld>
            <a:endParaRPr lang="en-US" dirty="0"/>
          </a:p>
        </p:txBody>
      </p:sp>
      <p:pic>
        <p:nvPicPr>
          <p:cNvPr id="7" name="Picture 6" descr="SectionHeaderLeft.jpg"/>
          <p:cNvPicPr>
            <a:picLocks noChangeAspect="1"/>
          </p:cNvPicPr>
          <p:nvPr/>
        </p:nvPicPr>
        <p:blipFill>
          <a:blip r:embed="rId2"/>
          <a:stretch>
            <a:fillRect/>
          </a:stretch>
        </p:blipFill>
        <p:spPr>
          <a:xfrm>
            <a:off x="470647" y="457200"/>
            <a:ext cx="2216561" cy="5943600"/>
          </a:xfrm>
          <a:prstGeom prst="rect">
            <a:avLst/>
          </a:prstGeom>
        </p:spPr>
      </p:pic>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222366"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8904"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831308" y="2286000"/>
            <a:ext cx="3657600" cy="3840163"/>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76F0B030-1580-4866-BCBB-5B9DCBDFAB6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FD77EB8B-B6EB-443D-9CB4-B019CEC8F476}" type="slidenum">
              <a:rPr lang="en-US" smtClean="0"/>
              <a:pPr>
                <a:defRPr/>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663388"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63388"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828032"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828032"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6"/>
          <p:cNvSpPr>
            <a:spLocks noGrp="1"/>
          </p:cNvSpPr>
          <p:nvPr>
            <p:ph type="dt" sz="half" idx="10"/>
          </p:nvPr>
        </p:nvSpPr>
        <p:spPr/>
        <p:txBody>
          <a:bodyPr/>
          <a:lstStyle/>
          <a:p>
            <a:pPr>
              <a:defRPr/>
            </a:pPr>
            <a:fld id="{70FF0F97-1060-4EBF-B543-874A8397FCDC}" type="datetimeFigureOut">
              <a:rPr lang="en-US" smtClean="0"/>
              <a:pPr>
                <a:defRPr/>
              </a:pPr>
              <a:t>30-Apr-2024</a:t>
            </a:fld>
            <a:endParaRPr lang="en-US" dirty="0"/>
          </a:p>
        </p:txBody>
      </p:sp>
      <p:sp>
        <p:nvSpPr>
          <p:cNvPr id="8" name="Footer Placeholder 7"/>
          <p:cNvSpPr>
            <a:spLocks noGrp="1"/>
          </p:cNvSpPr>
          <p:nvPr>
            <p:ph type="ftr" sz="quarter" idx="11"/>
          </p:nvPr>
        </p:nvSpPr>
        <p:spPr/>
        <p:txBody>
          <a:bodyPr/>
          <a:lstStyle/>
          <a:p>
            <a:pPr>
              <a:defRPr/>
            </a:pPr>
            <a:endParaRPr lang="en-US" dirty="0"/>
          </a:p>
        </p:txBody>
      </p:sp>
      <p:sp>
        <p:nvSpPr>
          <p:cNvPr id="9" name="Slide Number Placeholder 8"/>
          <p:cNvSpPr>
            <a:spLocks noGrp="1"/>
          </p:cNvSpPr>
          <p:nvPr>
            <p:ph type="sldNum" sz="quarter" idx="12"/>
          </p:nvPr>
        </p:nvSpPr>
        <p:spPr/>
        <p:txBody>
          <a:bodyPr/>
          <a:lstStyle/>
          <a:p>
            <a:pPr>
              <a:defRPr/>
            </a:pPr>
            <a:fld id="{D56104A5-FF6A-4891-8FE3-D539A7A66E05}" type="slidenum">
              <a:rPr lang="en-US" smtClean="0"/>
              <a:pPr>
                <a:defRPr/>
              </a:pPr>
              <a:t>‹#›</a:t>
            </a:fld>
            <a:endParaRPr lang="en-US" dirty="0"/>
          </a:p>
        </p:txBody>
      </p:sp>
      <p:cxnSp>
        <p:nvCxnSpPr>
          <p:cNvPr id="11" name="Straight Connector 10"/>
          <p:cNvCxnSpPr/>
          <p:nvPr/>
        </p:nvCxnSpPr>
        <p:spPr>
          <a:xfrm rot="5400000">
            <a:off x="2884488" y="4484687"/>
            <a:ext cx="3375025" cy="1588"/>
          </a:xfrm>
          <a:prstGeom prst="line">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4050" y="2286001"/>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654050" y="4302966"/>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Content Placeholder 2"/>
          <p:cNvSpPr>
            <a:spLocks noGrp="1"/>
          </p:cNvSpPr>
          <p:nvPr>
            <p:ph sz="half" idx="14"/>
          </p:nvPr>
        </p:nvSpPr>
        <p:spPr>
          <a:xfrm>
            <a:off x="654085"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658906"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658906"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Date Placeholder 2"/>
          <p:cNvSpPr>
            <a:spLocks noGrp="1"/>
          </p:cNvSpPr>
          <p:nvPr>
            <p:ph type="dt" sz="half" idx="10"/>
          </p:nvPr>
        </p:nvSpPr>
        <p:spPr/>
        <p:txBody>
          <a:bodyPr/>
          <a:lstStyle/>
          <a:p>
            <a:pPr>
              <a:defRPr/>
            </a:pPr>
            <a:fld id="{E848A180-20FC-43E6-ACF2-E4D2D7D4238C}" type="datetimeFigureOut">
              <a:rPr lang="en-US" smtClean="0"/>
              <a:pPr>
                <a:defRPr/>
              </a:pPr>
              <a:t>30-Apr-2024</a:t>
            </a:fld>
            <a:endParaRPr lang="en-US" dirty="0"/>
          </a:p>
        </p:txBody>
      </p:sp>
      <p:sp>
        <p:nvSpPr>
          <p:cNvPr id="4" name="Footer Placeholder 3"/>
          <p:cNvSpPr>
            <a:spLocks noGrp="1"/>
          </p:cNvSpPr>
          <p:nvPr>
            <p:ph type="ftr" sz="quarter" idx="11"/>
          </p:nvPr>
        </p:nvSpPr>
        <p:spPr/>
        <p:txBody>
          <a:bodyPr/>
          <a:lstStyle/>
          <a:p>
            <a:pPr>
              <a:defRPr/>
            </a:pPr>
            <a:endParaRPr lang="en-US" dirty="0"/>
          </a:p>
        </p:txBody>
      </p:sp>
      <p:sp>
        <p:nvSpPr>
          <p:cNvPr id="5" name="Slide Number Placeholder 4"/>
          <p:cNvSpPr>
            <a:spLocks noGrp="1"/>
          </p:cNvSpPr>
          <p:nvPr>
            <p:ph type="sldNum" sz="quarter" idx="12"/>
          </p:nvPr>
        </p:nvSpPr>
        <p:spPr/>
        <p:txBody>
          <a:bodyPr/>
          <a:lstStyle/>
          <a:p>
            <a:pPr>
              <a:defRPr/>
            </a:pPr>
            <a:fld id="{97012834-41A2-49E3-8762-B14EE3F5CFB1}" type="slidenum">
              <a:rPr lang="en-US" smtClean="0"/>
              <a:pPr>
                <a:defRPr/>
              </a:pPr>
              <a:t>‹#›</a:t>
            </a:fld>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7" name="Rectangle 6"/>
          <p:cNvSpPr/>
          <p:nvPr/>
        </p:nvSpPr>
        <p:spPr>
          <a:xfrm>
            <a:off x="355600" y="566057"/>
            <a:ext cx="8396514" cy="259805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5" name="Rectangle 4"/>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6" name="Rectangle 5"/>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Date Placeholder 1"/>
          <p:cNvSpPr>
            <a:spLocks noGrp="1"/>
          </p:cNvSpPr>
          <p:nvPr>
            <p:ph type="dt" sz="half" idx="10"/>
          </p:nvPr>
        </p:nvSpPr>
        <p:spPr/>
        <p:txBody>
          <a:bodyPr/>
          <a:lstStyle/>
          <a:p>
            <a:pPr>
              <a:defRPr/>
            </a:pPr>
            <a:fld id="{5B242E86-E886-49FE-9E81-CBA74FDF21F4}" type="datetimeFigureOut">
              <a:rPr lang="en-US" smtClean="0"/>
              <a:pPr>
                <a:defRPr/>
              </a:pPr>
              <a:t>30-Apr-2024</a:t>
            </a:fld>
            <a:endParaRPr lang="en-US" dirty="0"/>
          </a:p>
        </p:txBody>
      </p:sp>
      <p:sp>
        <p:nvSpPr>
          <p:cNvPr id="3" name="Footer Placeholder 2"/>
          <p:cNvSpPr>
            <a:spLocks noGrp="1"/>
          </p:cNvSpPr>
          <p:nvPr>
            <p:ph type="ftr" sz="quarter" idx="11"/>
          </p:nvPr>
        </p:nvSpPr>
        <p:spPr/>
        <p:txBody>
          <a:bodyPr/>
          <a:lstStyle/>
          <a:p>
            <a:pPr>
              <a:defRPr/>
            </a:pPr>
            <a:endParaRPr lang="en-US" dirty="0"/>
          </a:p>
        </p:txBody>
      </p:sp>
      <p:sp>
        <p:nvSpPr>
          <p:cNvPr id="4" name="Slide Number Placeholder 3"/>
          <p:cNvSpPr>
            <a:spLocks noGrp="1"/>
          </p:cNvSpPr>
          <p:nvPr>
            <p:ph type="sldNum" sz="quarter" idx="12"/>
          </p:nvPr>
        </p:nvSpPr>
        <p:spPr/>
        <p:txBody>
          <a:bodyPr/>
          <a:lstStyle/>
          <a:p>
            <a:pPr>
              <a:defRPr/>
            </a:pPr>
            <a:fld id="{0A9A6F0D-A611-4358-861D-7B01E8303898}" type="slidenum">
              <a:rPr lang="en-US" smtClean="0"/>
              <a:pPr>
                <a:defRPr/>
              </a:pPr>
              <a:t>‹#›</a:t>
            </a:fld>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10" name="Rectangle 9"/>
          <p:cNvSpPr/>
          <p:nvPr/>
        </p:nvSpPr>
        <p:spPr>
          <a:xfrm>
            <a:off x="333828" y="566057"/>
            <a:ext cx="8454571" cy="21335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3" name="Content Placeholder 2"/>
          <p:cNvSpPr>
            <a:spLocks noGrp="1"/>
          </p:cNvSpPr>
          <p:nvPr>
            <p:ph idx="1"/>
          </p:nvPr>
        </p:nvSpPr>
        <p:spPr>
          <a:xfrm>
            <a:off x="4828032" y="654268"/>
            <a:ext cx="3657600" cy="5486400"/>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35E854A5-A6D3-4FF2-A83D-4A92E35723B6}"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BAB79F47-3AF0-4617-BC60-2E592392BB48}" type="slidenum">
              <a:rPr lang="en-US" smtClean="0"/>
              <a:pPr>
                <a:defRPr/>
              </a:pPr>
              <a:t>‹#›</a:t>
            </a:fld>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useBgFill="1">
        <p:nvSpPr>
          <p:cNvPr id="10" name="Rectangle 9"/>
          <p:cNvSpPr/>
          <p:nvPr/>
        </p:nvSpPr>
        <p:spPr>
          <a:xfrm>
            <a:off x="355600" y="348343"/>
            <a:ext cx="8432800" cy="23513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5598058" y="3310469"/>
            <a:ext cx="5943600" cy="237061"/>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4BFCA2E3-A4EC-4D3C-A723-C30C7527518B}"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CADF8B95-FD24-4BC4-B430-69A3136D11E0}" type="slidenum">
              <a:rPr lang="en-US" smtClean="0"/>
              <a:pPr>
                <a:defRPr/>
              </a:pPr>
              <a:t>‹#›</a:t>
            </a:fld>
            <a:endParaRPr lang="en-US" dirty="0"/>
          </a:p>
        </p:txBody>
      </p:sp>
      <p:sp>
        <p:nvSpPr>
          <p:cNvPr id="11" name="Picture Placeholder 10"/>
          <p:cNvSpPr>
            <a:spLocks noGrp="1"/>
          </p:cNvSpPr>
          <p:nvPr>
            <p:ph type="pic" sz="quarter" idx="13"/>
          </p:nvPr>
        </p:nvSpPr>
        <p:spPr>
          <a:xfrm>
            <a:off x="4828032" y="457200"/>
            <a:ext cx="3621024" cy="5943600"/>
          </a:xfrm>
        </p:spPr>
        <p:txBody>
          <a:bodyPr/>
          <a:lstStyle>
            <a:lvl1pPr>
              <a:buNone/>
              <a:defRPr/>
            </a:lvl1pPr>
          </a:lstStyle>
          <a:p>
            <a:r>
              <a:rPr lang="en-US" dirty="0"/>
              <a:t>Click icon to add picture</a:t>
            </a:r>
            <a:endParaRPr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a:xfrm>
            <a:off x="609600" y="2286000"/>
            <a:ext cx="7874000" cy="38401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C2AEB11F-C391-4BDD-82EB-6F3E13A9F9E1}"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FBF0D068-AB96-40B8-9FAA-4228627632C0}" type="slidenum">
              <a:rPr lang="en-US" smtClean="0"/>
              <a:pPr>
                <a:defRPr/>
              </a:pPr>
              <a:t>‹#›</a:t>
            </a:fld>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1" name="Rectangle 10"/>
          <p:cNvSpPr/>
          <p:nvPr/>
        </p:nvSpPr>
        <p:spPr>
          <a:xfrm>
            <a:off x="348342" y="362857"/>
            <a:ext cx="8440057" cy="23368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VerticalRight.jpg"/>
          <p:cNvPicPr>
            <a:picLocks noChangeAspect="1"/>
          </p:cNvPicPr>
          <p:nvPr/>
        </p:nvPicPr>
        <p:blipFill>
          <a:blip r:embed="rId2"/>
          <a:stretch>
            <a:fillRect/>
          </a:stretch>
        </p:blipFill>
        <p:spPr>
          <a:xfrm>
            <a:off x="7111668" y="457200"/>
            <a:ext cx="1546230" cy="5943600"/>
          </a:xfrm>
          <a:prstGeom prst="rect">
            <a:avLst/>
          </a:prstGeom>
        </p:spPr>
      </p:pic>
      <p:sp>
        <p:nvSpPr>
          <p:cNvPr id="10" name="Rectangle 9"/>
          <p:cNvSpPr/>
          <p:nvPr/>
        </p:nvSpPr>
        <p:spPr>
          <a:xfrm rot="5400000">
            <a:off x="4074414"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Vertical Title 1"/>
          <p:cNvSpPr>
            <a:spLocks noGrp="1"/>
          </p:cNvSpPr>
          <p:nvPr>
            <p:ph type="title" orient="vert"/>
          </p:nvPr>
        </p:nvSpPr>
        <p:spPr>
          <a:xfrm>
            <a:off x="7119582" y="693738"/>
            <a:ext cx="1491018" cy="5432425"/>
          </a:xfrm>
        </p:spPr>
        <p:txBody>
          <a:bodyPr vert="eaVert" tIns="45720" bIns="45720"/>
          <a:lstStyle>
            <a:lvl1pPr algn="l">
              <a:defRPr/>
            </a:lvl1pPr>
          </a:lstStyle>
          <a:p>
            <a:r>
              <a:rPr lang="en-US"/>
              <a:t>Click to edit Master title style</a:t>
            </a:r>
            <a:endParaRPr/>
          </a:p>
        </p:txBody>
      </p:sp>
      <p:sp>
        <p:nvSpPr>
          <p:cNvPr id="3" name="Vertical Text Placeholder 2"/>
          <p:cNvSpPr>
            <a:spLocks noGrp="1"/>
          </p:cNvSpPr>
          <p:nvPr>
            <p:ph type="body" orient="vert" idx="1"/>
          </p:nvPr>
        </p:nvSpPr>
        <p:spPr>
          <a:xfrm>
            <a:off x="457200" y="693738"/>
            <a:ext cx="6019800" cy="54324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042669FE-0345-4152-A335-E3D8B60CD5FA}"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0E7040A0-6A5C-4BDA-AED7-03967CF0473B}"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image" Target="../media/image1.jpe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defRPr>
            </a:lvl1pPr>
          </a:lstStyle>
          <a:p>
            <a:pPr>
              <a:defRPr/>
            </a:pPr>
            <a:fld id="{201CF5B1-68BC-4F44-89BE-2F24F67B5729}" type="datetimeFigureOut">
              <a:rPr lang="en-US"/>
              <a:pPr>
                <a:defRPr/>
              </a:pPr>
              <a:t>30-Apr-2024</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defRPr>
            </a:lvl1pPr>
          </a:lstStyle>
          <a:p>
            <a:pPr>
              <a:defRPr/>
            </a:pPr>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defRPr>
            </a:lvl1pPr>
          </a:lstStyle>
          <a:p>
            <a:pPr>
              <a:defRPr/>
            </a:pPr>
            <a:fld id="{F69DAB5F-4C32-47E8-A254-E438E2D0D3F6}"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transition/>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srcRect/>
          <a:tile tx="0" ty="0" sx="100000" sy="100000" flip="none" algn="tl"/>
        </a:blipFill>
        <a:effectLst/>
      </p:bgPr>
    </p:bg>
    <p:spTree>
      <p:nvGrpSpPr>
        <p:cNvPr id="1" name=""/>
        <p:cNvGrpSpPr/>
        <p:nvPr/>
      </p:nvGrpSpPr>
      <p:grpSpPr>
        <a:xfrm>
          <a:off x="0" y="0"/>
          <a:ext cx="0" cy="0"/>
          <a:chOff x="0" y="0"/>
          <a:chExt cx="0" cy="0"/>
        </a:xfrm>
      </p:grpSpPr>
      <p:pic>
        <p:nvPicPr>
          <p:cNvPr id="11" name="Picture 10" descr="RunningTop-R.jpg"/>
          <p:cNvPicPr>
            <a:picLocks noChangeAspect="1"/>
          </p:cNvPicPr>
          <p:nvPr/>
        </p:nvPicPr>
        <p:blipFill>
          <a:blip r:embed="rId17"/>
          <a:stretch>
            <a:fillRect/>
          </a:stretch>
        </p:blipFill>
        <p:spPr>
          <a:xfrm>
            <a:off x="457200" y="457200"/>
            <a:ext cx="8229600" cy="1382002"/>
          </a:xfrm>
          <a:prstGeom prst="rect">
            <a:avLst/>
          </a:prstGeom>
        </p:spPr>
      </p:pic>
      <p:sp>
        <p:nvSpPr>
          <p:cNvPr id="2" name="Title Placeholder 1"/>
          <p:cNvSpPr>
            <a:spLocks noGrp="1"/>
          </p:cNvSpPr>
          <p:nvPr>
            <p:ph type="title"/>
          </p:nvPr>
        </p:nvSpPr>
        <p:spPr>
          <a:xfrm>
            <a:off x="658813" y="456252"/>
            <a:ext cx="7824788" cy="1323041"/>
          </a:xfrm>
          <a:prstGeom prst="rect">
            <a:avLst/>
          </a:prstGeom>
          <a:effectLst/>
        </p:spPr>
        <p:txBody>
          <a:bodyPr vert="horz" lIns="91440" tIns="0" rIns="91440" bIns="0" rtlCol="0" anchor="b" anchorCtr="0">
            <a:noAutofit/>
          </a:bodyPr>
          <a:lstStyle/>
          <a:p>
            <a:r>
              <a:rPr lang="en-US"/>
              <a:t>Click to edit Master title style</a:t>
            </a:r>
            <a:endParaRPr/>
          </a:p>
        </p:txBody>
      </p:sp>
      <p:sp>
        <p:nvSpPr>
          <p:cNvPr id="3" name="Text Placeholder 2"/>
          <p:cNvSpPr>
            <a:spLocks noGrp="1"/>
          </p:cNvSpPr>
          <p:nvPr>
            <p:ph type="body" idx="1"/>
          </p:nvPr>
        </p:nvSpPr>
        <p:spPr>
          <a:xfrm>
            <a:off x="2286000" y="2286000"/>
            <a:ext cx="6197600" cy="3840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690360" y="6492875"/>
            <a:ext cx="2133600" cy="365125"/>
          </a:xfrm>
          <a:prstGeom prst="rect">
            <a:avLst/>
          </a:prstGeom>
        </p:spPr>
        <p:txBody>
          <a:bodyPr vert="horz" lIns="91440" tIns="45720" rIns="91440" bIns="45720" rtlCol="0" anchor="ctr"/>
          <a:lstStyle>
            <a:lvl1pPr algn="r">
              <a:defRPr sz="1100" b="1">
                <a:solidFill>
                  <a:schemeClr val="bg1">
                    <a:lumMod val="65000"/>
                  </a:schemeClr>
                </a:solidFill>
                <a:latin typeface="Calibri" pitchFamily="34" charset="0"/>
              </a:defRPr>
            </a:lvl1pPr>
          </a:lstStyle>
          <a:p>
            <a:pPr>
              <a:defRPr/>
            </a:pPr>
            <a:fld id="{5E62B1BE-7229-4612-B077-302E9FB27D58}" type="datetimeFigureOut">
              <a:rPr lang="en-US" smtClean="0"/>
              <a:pPr>
                <a:defRPr/>
              </a:pPr>
              <a:t>30-Apr-2024</a:t>
            </a:fld>
            <a:endParaRPr lang="en-US" dirty="0"/>
          </a:p>
        </p:txBody>
      </p:sp>
      <p:sp>
        <p:nvSpPr>
          <p:cNvPr id="5"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
        <p:nvSpPr>
          <p:cNvPr id="6" name="Slide Number Placeholder 5"/>
          <p:cNvSpPr>
            <a:spLocks noGrp="1"/>
          </p:cNvSpPr>
          <p:nvPr>
            <p:ph type="sldNum" sz="quarter" idx="4"/>
          </p:nvPr>
        </p:nvSpPr>
        <p:spPr>
          <a:xfrm>
            <a:off x="378666" y="6149788"/>
            <a:ext cx="533400" cy="365125"/>
          </a:xfrm>
          <a:prstGeom prst="rect">
            <a:avLst/>
          </a:prstGeom>
        </p:spPr>
        <p:txBody>
          <a:bodyPr vert="horz" lIns="91440" tIns="91440" rIns="91440" bIns="91440" rtlCol="0" anchor="ctr"/>
          <a:lstStyle>
            <a:lvl1pPr algn="l">
              <a:defRPr sz="1800" b="0">
                <a:solidFill>
                  <a:schemeClr val="accent1"/>
                </a:solidFill>
                <a:latin typeface="Calibri" pitchFamily="34" charset="0"/>
              </a:defRPr>
            </a:lvl1pPr>
          </a:lstStyle>
          <a:p>
            <a:pPr>
              <a:defRPr/>
            </a:pPr>
            <a:fld id="{E4367C90-D8D8-4A11-9BC3-E7451ACC5EB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0" name="Rectangle 9"/>
          <p:cNvSpPr/>
          <p:nvPr/>
        </p:nvSpPr>
        <p:spPr>
          <a:xfrm>
            <a:off x="457200" y="184096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Lst>
  <p:txStyles>
    <p:titleStyle>
      <a:lvl1pPr algn="r" defTabSz="914400" rtl="0" eaLnBrk="1" latinLnBrk="0" hangingPunct="1">
        <a:lnSpc>
          <a:spcPts val="5400"/>
        </a:lnSpc>
        <a:spcBef>
          <a:spcPct val="0"/>
        </a:spcBef>
        <a:buNone/>
        <a:defRPr sz="5200" kern="1200">
          <a:solidFill>
            <a:schemeClr val="bg1"/>
          </a:solidFill>
          <a:effectLst>
            <a:outerShdw blurRad="50800" dist="38100" dir="2700000" algn="tl" rotWithShape="0">
              <a:prstClr val="black">
                <a:alpha val="40000"/>
              </a:prstClr>
            </a:outerShdw>
          </a:effectLst>
          <a:latin typeface="+mj-lt"/>
          <a:ea typeface="+mj-ea"/>
          <a:cs typeface="+mj-cs"/>
        </a:defRPr>
      </a:lvl1pPr>
    </p:titleStyle>
    <p:bodyStyle>
      <a:lvl1pPr marL="282575" indent="-282575" algn="l" defTabSz="914400" rtl="0" eaLnBrk="1" latinLnBrk="0" hangingPunct="1">
        <a:spcBef>
          <a:spcPts val="1800"/>
        </a:spcBef>
        <a:buClr>
          <a:schemeClr val="accent1"/>
        </a:buClr>
        <a:buSzPct val="75000"/>
        <a:buFont typeface="Wingdings" pitchFamily="2" charset="2"/>
        <a:buChar char="n"/>
        <a:defRPr sz="2000" kern="1200">
          <a:solidFill>
            <a:schemeClr val="tx1">
              <a:lumMod val="85000"/>
              <a:lumOff val="15000"/>
            </a:schemeClr>
          </a:solidFill>
          <a:latin typeface="+mn-lt"/>
          <a:ea typeface="+mn-ea"/>
          <a:cs typeface="+mn-cs"/>
        </a:defRPr>
      </a:lvl1pPr>
      <a:lvl2pPr marL="577850" indent="-2952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2pPr>
      <a:lvl3pPr marL="86042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3pPr>
      <a:lvl4pPr marL="1143000"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4pPr>
      <a:lvl5pPr marL="142557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17.png"/><Relationship Id="rId2" Type="http://schemas.openxmlformats.org/officeDocument/2006/relationships/diagramData" Target="../diagrams/data2.xml"/><Relationship Id="rId1" Type="http://schemas.openxmlformats.org/officeDocument/2006/relationships/slideLayout" Target="../slideLayouts/slideLayout20.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0.xml"/><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8" Type="http://schemas.openxmlformats.org/officeDocument/2006/relationships/image" Target="../media/image21.gif"/><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20.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Title 1"/>
          <p:cNvSpPr>
            <a:spLocks noGrp="1"/>
          </p:cNvSpPr>
          <p:nvPr>
            <p:ph type="title"/>
          </p:nvPr>
        </p:nvSpPr>
        <p:spPr/>
        <p:txBody>
          <a:bodyPr/>
          <a:lstStyle/>
          <a:p>
            <a:pPr eaLnBrk="1" hangingPunct="1"/>
            <a:br>
              <a:rPr lang="en-US" dirty="0"/>
            </a:br>
            <a:r>
              <a:rPr lang="en-US" dirty="0"/>
              <a:t>Paging</a:t>
            </a:r>
          </a:p>
        </p:txBody>
      </p:sp>
      <p:sp>
        <p:nvSpPr>
          <p:cNvPr id="3" name="Subtitle 2"/>
          <p:cNvSpPr>
            <a:spLocks noGrp="1"/>
          </p:cNvSpPr>
          <p:nvPr>
            <p:ph type="body" idx="1"/>
          </p:nvPr>
        </p:nvSpPr>
        <p:spPr/>
        <p:txBody>
          <a:bodyPr rtlCol="0">
            <a:normAutofit/>
          </a:bodyPr>
          <a:lstStyle/>
          <a:p>
            <a:pPr>
              <a:defRPr/>
            </a:pPr>
            <a:endParaRPr lang="en-US" i="1" dirty="0">
              <a:solidFill>
                <a:schemeClr val="tx2">
                  <a:lumMod val="75000"/>
                </a:schemeClr>
              </a:solidFill>
            </a:endParaRPr>
          </a:p>
        </p:txBody>
      </p:sp>
      <p:sp>
        <p:nvSpPr>
          <p:cNvPr id="5" name="Rectangle 4"/>
          <p:cNvSpPr/>
          <p:nvPr/>
        </p:nvSpPr>
        <p:spPr>
          <a:xfrm>
            <a:off x="533400" y="1524000"/>
            <a:ext cx="2133600" cy="3046988"/>
          </a:xfrm>
          <a:prstGeom prst="rect">
            <a:avLst/>
          </a:prstGeom>
        </p:spPr>
        <p:txBody>
          <a:bodyPr wrap="square">
            <a:spAutoFit/>
          </a:bodyPr>
          <a:lstStyle/>
          <a:p>
            <a:pPr lvl="0" algn="ctr">
              <a:defRPr/>
            </a:pPr>
            <a:r>
              <a:rPr lang="en-US" sz="3200" i="1" dirty="0">
                <a:solidFill>
                  <a:schemeClr val="bg2">
                    <a:lumMod val="25000"/>
                  </a:schemeClr>
                </a:solidFill>
                <a:latin typeface="Calisto MT"/>
              </a:rPr>
              <a:t>Operating Systems:</a:t>
            </a:r>
            <a:br>
              <a:rPr lang="en-US" sz="3200" i="1" dirty="0">
                <a:solidFill>
                  <a:schemeClr val="bg2">
                    <a:lumMod val="25000"/>
                  </a:schemeClr>
                </a:solidFill>
                <a:latin typeface="Calisto MT"/>
              </a:rPr>
            </a:br>
            <a:r>
              <a:rPr lang="en-US" sz="3200" i="1" dirty="0">
                <a:solidFill>
                  <a:schemeClr val="bg2">
                    <a:lumMod val="25000"/>
                  </a:schemeClr>
                </a:solidFill>
                <a:latin typeface="Calisto MT"/>
              </a:rPr>
              <a:t>Internals and Design Principles</a:t>
            </a:r>
          </a:p>
          <a:p>
            <a:pPr>
              <a:defRPr/>
            </a:pPr>
            <a:endParaRPr lang="en-US" sz="3200" i="1" dirty="0">
              <a:solidFill>
                <a:schemeClr val="bg2">
                  <a:lumMod val="50000"/>
                </a:schemeClr>
              </a:solidFill>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304800"/>
            <a:ext cx="7824788" cy="1323041"/>
          </a:xfrm>
        </p:spPr>
        <p:txBody>
          <a:bodyPr/>
          <a:lstStyle/>
          <a:p>
            <a:pPr algn="ctr"/>
            <a:r>
              <a:rPr lang="en-US" sz="60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Paging</a:t>
            </a:r>
          </a:p>
        </p:txBody>
      </p:sp>
      <p:sp>
        <p:nvSpPr>
          <p:cNvPr id="3" name="Content Placeholder 2"/>
          <p:cNvSpPr>
            <a:spLocks noGrp="1"/>
          </p:cNvSpPr>
          <p:nvPr>
            <p:ph idx="4294967295"/>
          </p:nvPr>
        </p:nvSpPr>
        <p:spPr>
          <a:xfrm>
            <a:off x="533400" y="2209800"/>
            <a:ext cx="8305800" cy="3840163"/>
          </a:xfrm>
        </p:spPr>
        <p:txBody>
          <a:bodyPr>
            <a:normAutofit/>
          </a:bodyPr>
          <a:lstStyle/>
          <a:p>
            <a:r>
              <a:rPr lang="en-US" sz="2200" dirty="0"/>
              <a:t>Partition memory into equal fixed-size chunks that are relatively small</a:t>
            </a:r>
          </a:p>
          <a:p>
            <a:r>
              <a:rPr lang="en-US" sz="2200" dirty="0"/>
              <a:t>Process is also divided into small fixed-size chunks of the same size</a:t>
            </a:r>
          </a:p>
        </p:txBody>
      </p:sp>
      <p:graphicFrame>
        <p:nvGraphicFramePr>
          <p:cNvPr id="4" name="Diagram 3"/>
          <p:cNvGraphicFramePr/>
          <p:nvPr/>
        </p:nvGraphicFramePr>
        <p:xfrm>
          <a:off x="1905000" y="4038600"/>
          <a:ext cx="5410200" cy="213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81000" y="1447800"/>
            <a:ext cx="3200400" cy="2209800"/>
          </a:xfrm>
        </p:spPr>
        <p:txBody>
          <a:bodyPr/>
          <a:lstStyle/>
          <a:p>
            <a:pPr algn="l"/>
            <a:r>
              <a:rPr lang="en-US" sz="3600" b="1" dirty="0">
                <a:solidFill>
                  <a:schemeClr val="accent1">
                    <a:lumMod val="50000"/>
                  </a:schemeClr>
                </a:solidFill>
              </a:rPr>
              <a:t>Assignment of Process to Free Frames</a:t>
            </a:r>
          </a:p>
        </p:txBody>
      </p:sp>
      <p:pic>
        <p:nvPicPr>
          <p:cNvPr id="5" name="Picture 4"/>
          <p:cNvPicPr>
            <a:picLocks noChangeAspect="1"/>
          </p:cNvPicPr>
          <p:nvPr/>
        </p:nvPicPr>
        <p:blipFill>
          <a:blip r:embed="rId3"/>
          <a:stretch>
            <a:fillRect/>
          </a:stretch>
        </p:blipFill>
        <p:spPr>
          <a:xfrm>
            <a:off x="3810000" y="664509"/>
            <a:ext cx="4800600" cy="5751979"/>
          </a:xfrm>
          <a:prstGeom prst="rect">
            <a:avLst/>
          </a:prstGeom>
        </p:spPr>
      </p:pic>
    </p:spTree>
  </p:cSld>
  <p:clrMapOvr>
    <a:masterClrMapping/>
  </p:clrMapOvr>
  <p:transition spd="slow">
    <p:pull dir="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pPr algn="ctr"/>
            <a:r>
              <a:rPr lang="en-US" b="1" dirty="0">
                <a:solidFill>
                  <a:schemeClr val="accent1">
                    <a:lumMod val="75000"/>
                  </a:schemeClr>
                </a:solidFill>
              </a:rPr>
              <a:t>Page Table</a:t>
            </a:r>
          </a:p>
        </p:txBody>
      </p:sp>
      <p:sp>
        <p:nvSpPr>
          <p:cNvPr id="3" name="Content Placeholder 2"/>
          <p:cNvSpPr>
            <a:spLocks noGrp="1"/>
          </p:cNvSpPr>
          <p:nvPr>
            <p:ph idx="4294967295"/>
          </p:nvPr>
        </p:nvSpPr>
        <p:spPr>
          <a:xfrm>
            <a:off x="609600" y="2286000"/>
            <a:ext cx="8153400" cy="3840163"/>
          </a:xfrm>
        </p:spPr>
        <p:txBody>
          <a:bodyPr/>
          <a:lstStyle/>
          <a:p>
            <a:r>
              <a:rPr lang="en-US" sz="2200" dirty="0"/>
              <a:t>Maintained by operating system for each process</a:t>
            </a:r>
          </a:p>
          <a:p>
            <a:r>
              <a:rPr lang="en-US" sz="2200" dirty="0"/>
              <a:t>Contains the frame location for each page in the process</a:t>
            </a:r>
          </a:p>
          <a:p>
            <a:r>
              <a:rPr lang="en-US" sz="2200" dirty="0"/>
              <a:t>Processor must know how to access for the current process</a:t>
            </a:r>
          </a:p>
          <a:p>
            <a:r>
              <a:rPr lang="en-US" sz="2200" dirty="0"/>
              <a:t>Used by processor to produce a physical address</a:t>
            </a:r>
          </a:p>
          <a:p>
            <a:endParaRPr lang="en-US" dirty="0"/>
          </a:p>
          <a:p>
            <a:endParaRPr lang="en-US" dirty="0"/>
          </a:p>
        </p:txBody>
      </p:sp>
      <p:pic>
        <p:nvPicPr>
          <p:cNvPr id="6" name="Picture 5"/>
          <p:cNvPicPr>
            <a:picLocks noChangeAspect="1"/>
          </p:cNvPicPr>
          <p:nvPr/>
        </p:nvPicPr>
        <p:blipFill>
          <a:blip r:embed="rId3"/>
          <a:stretch>
            <a:fillRect/>
          </a:stretch>
        </p:blipFill>
        <p:spPr>
          <a:xfrm>
            <a:off x="6553200" y="4038600"/>
            <a:ext cx="2282215" cy="2401546"/>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900" decel="100000" fill="hold"/>
                                        <p:tgtEl>
                                          <p:spTgt spid="3">
                                            <p:txEl>
                                              <p:pRg st="0" end="0"/>
                                            </p:txEl>
                                          </p:spTgt>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3">
                                            <p:txEl>
                                              <p:pRg st="0" end="0"/>
                                            </p:txEl>
                                          </p:spTgt>
                                        </p:tgtEl>
                                        <p:attrNameLst>
                                          <p:attrName>ppt_y</p:attrName>
                                        </p:attrNameLst>
                                      </p:cBhvr>
                                      <p:tavLst>
                                        <p:tav tm="0">
                                          <p:val>
                                            <p:strVal val="#ppt_y-.03"/>
                                          </p:val>
                                        </p:tav>
                                        <p:tav tm="100000">
                                          <p:val>
                                            <p:strVal val="#ppt_y"/>
                                          </p:val>
                                        </p:tav>
                                      </p:tavLst>
                                    </p:anim>
                                  </p:childTnLst>
                                </p:cTn>
                              </p:par>
                              <p:par>
                                <p:cTn id="11" presetID="37"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1000"/>
                                        <p:tgtEl>
                                          <p:spTgt spid="3">
                                            <p:txEl>
                                              <p:pRg st="1" end="1"/>
                                            </p:txEl>
                                          </p:spTgt>
                                        </p:tgtEl>
                                      </p:cBhvr>
                                    </p:animEffect>
                                    <p:anim calcmode="lin" valueType="num">
                                      <p:cBhvr>
                                        <p:cTn id="14"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5" dur="900" decel="100000" fill="hold"/>
                                        <p:tgtEl>
                                          <p:spTgt spid="3">
                                            <p:txEl>
                                              <p:pRg st="1" end="1"/>
                                            </p:txEl>
                                          </p:spTgt>
                                        </p:tgtEl>
                                        <p:attrNameLst>
                                          <p:attrName>ppt_y</p:attrName>
                                        </p:attrNameLst>
                                      </p:cBhvr>
                                      <p:tavLst>
                                        <p:tav tm="0">
                                          <p:val>
                                            <p:strVal val="#ppt_y+1"/>
                                          </p:val>
                                        </p:tav>
                                        <p:tav tm="100000">
                                          <p:val>
                                            <p:strVal val="#ppt_y-.03"/>
                                          </p:val>
                                        </p:tav>
                                      </p:tavLst>
                                    </p:anim>
                                    <p:anim calcmode="lin" valueType="num">
                                      <p:cBhvr>
                                        <p:cTn id="16" dur="100" accel="100000" fill="hold">
                                          <p:stCondLst>
                                            <p:cond delay="900"/>
                                          </p:stCondLst>
                                        </p:cTn>
                                        <p:tgtEl>
                                          <p:spTgt spid="3">
                                            <p:txEl>
                                              <p:pRg st="1" end="1"/>
                                            </p:txEl>
                                          </p:spTgt>
                                        </p:tgtEl>
                                        <p:attrNameLst>
                                          <p:attrName>ppt_y</p:attrName>
                                        </p:attrNameLst>
                                      </p:cBhvr>
                                      <p:tavLst>
                                        <p:tav tm="0">
                                          <p:val>
                                            <p:strVal val="#ppt_y-.03"/>
                                          </p:val>
                                        </p:tav>
                                        <p:tav tm="100000">
                                          <p:val>
                                            <p:strVal val="#ppt_y"/>
                                          </p:val>
                                        </p:tav>
                                      </p:tavLst>
                                    </p:anim>
                                  </p:childTnLst>
                                </p:cTn>
                              </p:par>
                              <p:par>
                                <p:cTn id="17" presetID="37" presetClass="entr" presetSubtype="0" fill="hold" grpId="0" nodeType="with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900" decel="100000" fill="hold"/>
                                        <p:tgtEl>
                                          <p:spTgt spid="3">
                                            <p:txEl>
                                              <p:pRg st="2" end="2"/>
                                            </p:txEl>
                                          </p:spTgt>
                                        </p:tgtEl>
                                        <p:attrNameLst>
                                          <p:attrName>ppt_y</p:attrName>
                                        </p:attrNameLst>
                                      </p:cBhvr>
                                      <p:tavLst>
                                        <p:tav tm="0">
                                          <p:val>
                                            <p:strVal val="#ppt_y+1"/>
                                          </p:val>
                                        </p:tav>
                                        <p:tav tm="100000">
                                          <p:val>
                                            <p:strVal val="#ppt_y-.03"/>
                                          </p:val>
                                        </p:tav>
                                      </p:tavLst>
                                    </p:anim>
                                    <p:anim calcmode="lin" valueType="num">
                                      <p:cBhvr>
                                        <p:cTn id="22" dur="100" accel="100000" fill="hold">
                                          <p:stCondLst>
                                            <p:cond delay="900"/>
                                          </p:stCondLst>
                                        </p:cTn>
                                        <p:tgtEl>
                                          <p:spTgt spid="3">
                                            <p:txEl>
                                              <p:pRg st="2" end="2"/>
                                            </p:txEl>
                                          </p:spTgt>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1000"/>
                                        <p:tgtEl>
                                          <p:spTgt spid="3">
                                            <p:txEl>
                                              <p:pRg st="3" end="3"/>
                                            </p:txEl>
                                          </p:spTgt>
                                        </p:tgtEl>
                                      </p:cBhvr>
                                    </p:animEffect>
                                    <p:anim calcmode="lin" valueType="num">
                                      <p:cBhvr>
                                        <p:cTn id="26"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7" dur="900" decel="100000" fill="hold"/>
                                        <p:tgtEl>
                                          <p:spTgt spid="3">
                                            <p:txEl>
                                              <p:pRg st="3" end="3"/>
                                            </p:txEl>
                                          </p:spTgt>
                                        </p:tgtEl>
                                        <p:attrNameLst>
                                          <p:attrName>ppt_y</p:attrName>
                                        </p:attrNameLst>
                                      </p:cBhvr>
                                      <p:tavLst>
                                        <p:tav tm="0">
                                          <p:val>
                                            <p:strVal val="#ppt_y+1"/>
                                          </p:val>
                                        </p:tav>
                                        <p:tav tm="100000">
                                          <p:val>
                                            <p:strVal val="#ppt_y-.03"/>
                                          </p:val>
                                        </p:tav>
                                      </p:tavLst>
                                    </p:anim>
                                    <p:anim calcmode="lin" valueType="num">
                                      <p:cBhvr>
                                        <p:cTn id="28" dur="100" accel="100000" fill="hold">
                                          <p:stCondLst>
                                            <p:cond delay="900"/>
                                          </p:stCondLst>
                                        </p:cTn>
                                        <p:tgtEl>
                                          <p:spTgt spid="3">
                                            <p:txEl>
                                              <p:pRg st="3" end="3"/>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1066800" y="533400"/>
            <a:ext cx="5943600" cy="1142999"/>
          </a:xfrm>
        </p:spPr>
        <p:txBody>
          <a:bodyPr/>
          <a:lstStyle/>
          <a:p>
            <a:r>
              <a:rPr lang="en-US" b="1" dirty="0">
                <a:solidFill>
                  <a:schemeClr val="accent1">
                    <a:lumMod val="75000"/>
                  </a:schemeClr>
                </a:solidFill>
              </a:rPr>
              <a:t>Data Structures</a:t>
            </a:r>
          </a:p>
        </p:txBody>
      </p:sp>
      <p:pic>
        <p:nvPicPr>
          <p:cNvPr id="4" name="Content Placeholder 3" descr="Fig07_10.gif"/>
          <p:cNvPicPr>
            <a:picLocks noGrp="1" noChangeAspect="1"/>
          </p:cNvPicPr>
          <p:nvPr>
            <p:ph idx="4294967295"/>
          </p:nvPr>
        </p:nvPicPr>
        <p:blipFill>
          <a:blip r:embed="rId3"/>
          <a:stretch>
            <a:fillRect/>
          </a:stretch>
        </p:blipFill>
        <p:spPr>
          <a:xfrm>
            <a:off x="457200" y="2514600"/>
            <a:ext cx="8240712" cy="3657600"/>
          </a:xfrm>
        </p:spPr>
      </p:pic>
    </p:spTree>
  </p:cSld>
  <p:clrMapOvr>
    <a:masterClrMapping/>
  </p:clrMapOvr>
  <p:transition spd="slow">
    <p:pull dir="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3200" y="685800"/>
            <a:ext cx="8153400" cy="533400"/>
          </a:xfrm>
        </p:spPr>
        <p:txBody>
          <a:bodyPr/>
          <a:lstStyle/>
          <a:p>
            <a:r>
              <a:rPr lang="en-US" b="1" dirty="0">
                <a:solidFill>
                  <a:schemeClr val="accent6">
                    <a:lumMod val="75000"/>
                  </a:schemeClr>
                </a:solidFill>
              </a:rPr>
              <a:t>Logical Addresses</a:t>
            </a:r>
          </a:p>
        </p:txBody>
      </p:sp>
      <p:pic>
        <p:nvPicPr>
          <p:cNvPr id="4" name="Content Placeholder 3" descr="Fig07_11.gif"/>
          <p:cNvPicPr>
            <a:picLocks noGrp="1" noChangeAspect="1"/>
          </p:cNvPicPr>
          <p:nvPr>
            <p:ph idx="1"/>
          </p:nvPr>
        </p:nvPicPr>
        <p:blipFill>
          <a:blip r:embed="rId3"/>
          <a:srcRect t="-43600" b="-43600"/>
          <a:stretch>
            <a:fillRect/>
          </a:stretch>
        </p:blipFill>
        <p:spPr>
          <a:xfrm>
            <a:off x="1447800" y="-914400"/>
            <a:ext cx="6363716" cy="9545574"/>
          </a:xfrm>
        </p:spPr>
      </p:pic>
    </p:spTree>
  </p:cSld>
  <p:clrMapOvr>
    <a:masterClrMapping/>
  </p:clrMapOvr>
  <p:transition spd="slow">
    <p:pull dir="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1143000" y="609600"/>
            <a:ext cx="7063803" cy="1323439"/>
          </a:xfrm>
          <a:prstGeom prst="rect">
            <a:avLst/>
          </a:prstGeom>
          <a:noFill/>
        </p:spPr>
        <p:txBody>
          <a:bodyPr wrap="square" rtlCol="0">
            <a:spAutoFit/>
          </a:bodyPr>
          <a:lstStyle/>
          <a:p>
            <a:r>
              <a:rPr lang="en-US" sz="4000" b="1" dirty="0">
                <a:ln w="1905"/>
                <a:solidFill>
                  <a:schemeClr val="accent6">
                    <a:lumMod val="75000"/>
                  </a:schemeClr>
                </a:solidFill>
                <a:effectLst>
                  <a:innerShdw blurRad="69850" dist="43180" dir="5400000">
                    <a:srgbClr val="000000">
                      <a:alpha val="65000"/>
                    </a:srgbClr>
                  </a:innerShdw>
                </a:effectLst>
              </a:rPr>
              <a:t>Logical-to-Physical Address </a:t>
            </a:r>
          </a:p>
          <a:p>
            <a:r>
              <a:rPr lang="en-US" sz="4000" b="1" dirty="0">
                <a:ln w="1905"/>
                <a:solidFill>
                  <a:schemeClr val="accent6">
                    <a:lumMod val="75000"/>
                  </a:schemeClr>
                </a:solidFill>
                <a:effectLst>
                  <a:innerShdw blurRad="69850" dist="43180" dir="5400000">
                    <a:srgbClr val="000000">
                      <a:alpha val="65000"/>
                    </a:srgbClr>
                  </a:innerShdw>
                </a:effectLst>
              </a:rPr>
              <a:t>       Translation - Paging</a:t>
            </a:r>
          </a:p>
        </p:txBody>
      </p:sp>
      <p:pic>
        <p:nvPicPr>
          <p:cNvPr id="10" name="Picture 9"/>
          <p:cNvPicPr>
            <a:picLocks noChangeAspect="1"/>
          </p:cNvPicPr>
          <p:nvPr/>
        </p:nvPicPr>
        <p:blipFill>
          <a:blip r:embed="rId3"/>
          <a:stretch>
            <a:fillRect/>
          </a:stretch>
        </p:blipFill>
        <p:spPr>
          <a:xfrm>
            <a:off x="1371600" y="2286000"/>
            <a:ext cx="6540500" cy="4000381"/>
          </a:xfrm>
          <a:prstGeom prst="rect">
            <a:avLst/>
          </a:prstGeom>
        </p:spPr>
      </p:pic>
    </p:spTree>
  </p:cSld>
  <p:clrMapOvr>
    <a:masterClrMapping/>
  </p:clrMapOvr>
  <p:transition spd="slow">
    <p:pull dir="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pPr algn="l"/>
            <a:r>
              <a:rPr lang="en-US" b="1" dirty="0">
                <a:solidFill>
                  <a:schemeClr val="accent1">
                    <a:lumMod val="75000"/>
                  </a:schemeClr>
                </a:solidFill>
              </a:rPr>
              <a:t>Segmentation</a:t>
            </a:r>
          </a:p>
        </p:txBody>
      </p:sp>
      <p:sp>
        <p:nvSpPr>
          <p:cNvPr id="3" name="Content Placeholder 2"/>
          <p:cNvSpPr>
            <a:spLocks noGrp="1"/>
          </p:cNvSpPr>
          <p:nvPr>
            <p:ph idx="4294967295"/>
          </p:nvPr>
        </p:nvSpPr>
        <p:spPr>
          <a:xfrm>
            <a:off x="457200" y="2057400"/>
            <a:ext cx="8382000" cy="5410200"/>
          </a:xfrm>
        </p:spPr>
        <p:txBody>
          <a:bodyPr/>
          <a:lstStyle/>
          <a:p>
            <a:r>
              <a:rPr lang="en-US" sz="3100" dirty="0"/>
              <a:t>A program can be subdivided into segments</a:t>
            </a:r>
          </a:p>
          <a:p>
            <a:pPr lvl="2">
              <a:buSzPct val="125000"/>
              <a:buFont typeface="Wingdings" charset="2"/>
              <a:buChar char="§"/>
            </a:pPr>
            <a:r>
              <a:rPr lang="en-US" sz="2400" dirty="0"/>
              <a:t>may vary in length</a:t>
            </a:r>
          </a:p>
          <a:p>
            <a:pPr lvl="2">
              <a:buSzPct val="125000"/>
              <a:buFont typeface="Wingdings" charset="2"/>
              <a:buChar char="§"/>
            </a:pPr>
            <a:r>
              <a:rPr lang="en-US" sz="2400" dirty="0"/>
              <a:t>there is a maximum length</a:t>
            </a:r>
          </a:p>
          <a:p>
            <a:r>
              <a:rPr lang="en-US" sz="3100" dirty="0"/>
              <a:t>Addressing consists of two parts:</a:t>
            </a:r>
          </a:p>
          <a:p>
            <a:pPr lvl="2">
              <a:buSzPct val="125000"/>
              <a:buFont typeface="Wingdings" charset="2"/>
              <a:buChar char="§"/>
            </a:pPr>
            <a:r>
              <a:rPr lang="en-US" sz="2400" dirty="0"/>
              <a:t>segment number </a:t>
            </a:r>
          </a:p>
          <a:p>
            <a:pPr lvl="2">
              <a:buSzPct val="125000"/>
              <a:buFont typeface="Wingdings" charset="2"/>
              <a:buChar char="§"/>
            </a:pPr>
            <a:r>
              <a:rPr lang="en-US" sz="2400" dirty="0"/>
              <a:t>an offset</a:t>
            </a:r>
          </a:p>
          <a:p>
            <a:r>
              <a:rPr lang="en-US" sz="3100" dirty="0"/>
              <a:t>Similar to dynamic partitioning</a:t>
            </a:r>
          </a:p>
          <a:p>
            <a:r>
              <a:rPr lang="en-US" sz="3100" dirty="0"/>
              <a:t>Eliminates internal fragmentation</a:t>
            </a:r>
          </a:p>
          <a:p>
            <a:endParaRPr lang="en-US" dirty="0"/>
          </a:p>
        </p:txBody>
      </p:sp>
      <p:pic>
        <p:nvPicPr>
          <p:cNvPr id="4" name="Picture 3"/>
          <p:cNvPicPr>
            <a:picLocks noChangeAspect="1"/>
          </p:cNvPicPr>
          <p:nvPr/>
        </p:nvPicPr>
        <p:blipFill>
          <a:blip r:embed="rId3"/>
          <a:stretch>
            <a:fillRect/>
          </a:stretch>
        </p:blipFill>
        <p:spPr>
          <a:xfrm rot="1052511">
            <a:off x="6415343" y="3648239"/>
            <a:ext cx="2183326" cy="1444634"/>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500" fill="hold"/>
                                        <p:tgtEl>
                                          <p:spTgt spid="3">
                                            <p:txEl>
                                              <p:pRg st="0" end="0"/>
                                            </p:txEl>
                                          </p:spTgt>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xEl>
                                              <p:pRg st="0" end="0"/>
                                            </p:txEl>
                                          </p:spTgt>
                                        </p:tgtEl>
                                        <p:attrNameLst>
                                          <p:attrName>ppt_y</p:attrName>
                                        </p:attrNameLst>
                                      </p:cBhvr>
                                      <p:tavLst>
                                        <p:tav tm="0">
                                          <p:val>
                                            <p:strVal val="#ppt_y"/>
                                          </p:val>
                                        </p:tav>
                                        <p:tav tm="100000">
                                          <p:val>
                                            <p:strVal val="#ppt_y"/>
                                          </p:val>
                                        </p:tav>
                                      </p:tavLst>
                                    </p:anim>
                                    <p:anim calcmode="lin" valueType="num">
                                      <p:cBhvr>
                                        <p:cTn id="9" dur="500" fill="hold"/>
                                        <p:tgtEl>
                                          <p:spTgt spid="3">
                                            <p:txEl>
                                              <p:pRg st="0" end="0"/>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xEl>
                                              <p:pRg st="0" end="0"/>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xEl>
                                              <p:pRg st="0" end="0"/>
                                            </p:txEl>
                                          </p:spTgt>
                                        </p:tgtEl>
                                      </p:cBhvr>
                                    </p:animEffect>
                                  </p:childTnLst>
                                </p:cTn>
                              </p:par>
                              <p:par>
                                <p:cTn id="12" presetID="10" presetClass="entr" presetSubtype="0" fill="hold" grpId="1" nodeType="with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2000"/>
                                        <p:tgtEl>
                                          <p:spTgt spid="3">
                                            <p:txEl>
                                              <p:pRg st="1" end="1"/>
                                            </p:txEl>
                                          </p:spTgt>
                                        </p:tgtEl>
                                      </p:cBhvr>
                                    </p:animEffect>
                                  </p:childTnLst>
                                </p:cTn>
                              </p:par>
                              <p:par>
                                <p:cTn id="15" presetID="10" presetClass="entr"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par>
                          <p:cTn id="18" fill="hold">
                            <p:stCondLst>
                              <p:cond delay="2200"/>
                            </p:stCondLst>
                            <p:childTnLst>
                              <p:par>
                                <p:cTn id="19" presetID="41" presetClass="entr" presetSubtype="0" fill="hold" grpId="0" nodeType="afterEffect">
                                  <p:stCondLst>
                                    <p:cond delay="0"/>
                                  </p:stCondLst>
                                  <p:iterate type="lt">
                                    <p:tmPct val="10000"/>
                                  </p:iterate>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p:cTn id="21" dur="500" fill="hold"/>
                                        <p:tgtEl>
                                          <p:spTgt spid="3">
                                            <p:txEl>
                                              <p:pRg st="3" end="3"/>
                                            </p:txEl>
                                          </p:spTgt>
                                        </p:tgtEl>
                                        <p:attrNameLst>
                                          <p:attrName>ppt_x</p:attrName>
                                        </p:attrNameLst>
                                      </p:cBhvr>
                                      <p:tavLst>
                                        <p:tav tm="0">
                                          <p:val>
                                            <p:strVal val="#ppt_x"/>
                                          </p:val>
                                        </p:tav>
                                        <p:tav tm="50000">
                                          <p:val>
                                            <p:strVal val="#ppt_x+.1"/>
                                          </p:val>
                                        </p:tav>
                                        <p:tav tm="100000">
                                          <p:val>
                                            <p:strVal val="#ppt_x"/>
                                          </p:val>
                                        </p:tav>
                                      </p:tavLst>
                                    </p:anim>
                                    <p:anim calcmode="lin" valueType="num">
                                      <p:cBhvr>
                                        <p:cTn id="22" dur="500" fill="hold"/>
                                        <p:tgtEl>
                                          <p:spTgt spid="3">
                                            <p:txEl>
                                              <p:pRg st="3" end="3"/>
                                            </p:txEl>
                                          </p:spTgt>
                                        </p:tgtEl>
                                        <p:attrNameLst>
                                          <p:attrName>ppt_y</p:attrName>
                                        </p:attrNameLst>
                                      </p:cBhvr>
                                      <p:tavLst>
                                        <p:tav tm="0">
                                          <p:val>
                                            <p:strVal val="#ppt_y"/>
                                          </p:val>
                                        </p:tav>
                                        <p:tav tm="100000">
                                          <p:val>
                                            <p:strVal val="#ppt_y"/>
                                          </p:val>
                                        </p:tav>
                                      </p:tavLst>
                                    </p:anim>
                                    <p:anim calcmode="lin" valueType="num">
                                      <p:cBhvr>
                                        <p:cTn id="23" dur="500" fill="hold"/>
                                        <p:tgtEl>
                                          <p:spTgt spid="3">
                                            <p:txEl>
                                              <p:pRg st="3" end="3"/>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24" dur="500" fill="hold"/>
                                        <p:tgtEl>
                                          <p:spTgt spid="3">
                                            <p:txEl>
                                              <p:pRg st="3" end="3"/>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25" dur="500" tmFilter="0,0; .5, 1; 1, 1"/>
                                        <p:tgtEl>
                                          <p:spTgt spid="3">
                                            <p:txEl>
                                              <p:pRg st="3" end="3"/>
                                            </p:txEl>
                                          </p:spTgt>
                                        </p:tgtEl>
                                      </p:cBhvr>
                                    </p:animEffect>
                                  </p:childTnLst>
                                </p:cTn>
                              </p:par>
                              <p:par>
                                <p:cTn id="26" presetID="10" presetClass="entr" presetSubtype="0" fill="hold" grpId="1" nodeType="with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2000"/>
                                        <p:tgtEl>
                                          <p:spTgt spid="3">
                                            <p:txEl>
                                              <p:pRg st="4" end="4"/>
                                            </p:txEl>
                                          </p:spTgt>
                                        </p:tgtEl>
                                      </p:cBhvr>
                                    </p:animEffect>
                                  </p:childTnLst>
                                </p:cTn>
                              </p:par>
                              <p:par>
                                <p:cTn id="29" presetID="10" presetClass="entr" presetSubtype="0" fill="hold" grpId="1"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fade">
                                      <p:cBhvr>
                                        <p:cTn id="31" dur="2000"/>
                                        <p:tgtEl>
                                          <p:spTgt spid="3">
                                            <p:txEl>
                                              <p:pRg st="5" end="5"/>
                                            </p:txEl>
                                          </p:spTgt>
                                        </p:tgtEl>
                                      </p:cBhvr>
                                    </p:animEffect>
                                  </p:childTnLst>
                                </p:cTn>
                              </p:par>
                            </p:childTnLst>
                          </p:cTn>
                        </p:par>
                        <p:par>
                          <p:cTn id="32" fill="hold">
                            <p:stCondLst>
                              <p:cond delay="4200"/>
                            </p:stCondLst>
                            <p:childTnLst>
                              <p:par>
                                <p:cTn id="33" presetID="41" presetClass="entr" presetSubtype="0" fill="hold" grpId="0" nodeType="afterEffect">
                                  <p:stCondLst>
                                    <p:cond delay="0"/>
                                  </p:stCondLst>
                                  <p:iterate type="lt">
                                    <p:tmPct val="10000"/>
                                  </p:iterate>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p:cTn id="35" dur="500" fill="hold"/>
                                        <p:tgtEl>
                                          <p:spTgt spid="3">
                                            <p:txEl>
                                              <p:pRg st="6" end="6"/>
                                            </p:txEl>
                                          </p:spTgt>
                                        </p:tgtEl>
                                        <p:attrNameLst>
                                          <p:attrName>ppt_x</p:attrName>
                                        </p:attrNameLst>
                                      </p:cBhvr>
                                      <p:tavLst>
                                        <p:tav tm="0">
                                          <p:val>
                                            <p:strVal val="#ppt_x"/>
                                          </p:val>
                                        </p:tav>
                                        <p:tav tm="50000">
                                          <p:val>
                                            <p:strVal val="#ppt_x+.1"/>
                                          </p:val>
                                        </p:tav>
                                        <p:tav tm="100000">
                                          <p:val>
                                            <p:strVal val="#ppt_x"/>
                                          </p:val>
                                        </p:tav>
                                      </p:tavLst>
                                    </p:anim>
                                    <p:anim calcmode="lin" valueType="num">
                                      <p:cBhvr>
                                        <p:cTn id="36" dur="500" fill="hold"/>
                                        <p:tgtEl>
                                          <p:spTgt spid="3">
                                            <p:txEl>
                                              <p:pRg st="6" end="6"/>
                                            </p:txEl>
                                          </p:spTgt>
                                        </p:tgtEl>
                                        <p:attrNameLst>
                                          <p:attrName>ppt_y</p:attrName>
                                        </p:attrNameLst>
                                      </p:cBhvr>
                                      <p:tavLst>
                                        <p:tav tm="0">
                                          <p:val>
                                            <p:strVal val="#ppt_y"/>
                                          </p:val>
                                        </p:tav>
                                        <p:tav tm="100000">
                                          <p:val>
                                            <p:strVal val="#ppt_y"/>
                                          </p:val>
                                        </p:tav>
                                      </p:tavLst>
                                    </p:anim>
                                    <p:anim calcmode="lin" valueType="num">
                                      <p:cBhvr>
                                        <p:cTn id="37" dur="500" fill="hold"/>
                                        <p:tgtEl>
                                          <p:spTgt spid="3">
                                            <p:txEl>
                                              <p:pRg st="6" end="6"/>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38" dur="500" fill="hold"/>
                                        <p:tgtEl>
                                          <p:spTgt spid="3">
                                            <p:txEl>
                                              <p:pRg st="6" end="6"/>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39" dur="500" tmFilter="0,0; .5, 1; 1, 1"/>
                                        <p:tgtEl>
                                          <p:spTgt spid="3">
                                            <p:txEl>
                                              <p:pRg st="6" end="6"/>
                                            </p:txEl>
                                          </p:spTgt>
                                        </p:tgtEl>
                                      </p:cBhvr>
                                    </p:animEffect>
                                  </p:childTnLst>
                                </p:cTn>
                              </p:par>
                            </p:childTnLst>
                          </p:cTn>
                        </p:par>
                        <p:par>
                          <p:cTn id="40" fill="hold">
                            <p:stCondLst>
                              <p:cond delay="6050"/>
                            </p:stCondLst>
                            <p:childTnLst>
                              <p:par>
                                <p:cTn id="41" presetID="41" presetClass="entr" presetSubtype="0" fill="hold" grpId="0" nodeType="afterEffect">
                                  <p:stCondLst>
                                    <p:cond delay="0"/>
                                  </p:stCondLst>
                                  <p:iterate type="lt">
                                    <p:tmPct val="10000"/>
                                  </p:iterate>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p:cTn id="43" dur="500" fill="hold"/>
                                        <p:tgtEl>
                                          <p:spTgt spid="3">
                                            <p:txEl>
                                              <p:pRg st="7" end="7"/>
                                            </p:txEl>
                                          </p:spTgt>
                                        </p:tgtEl>
                                        <p:attrNameLst>
                                          <p:attrName>ppt_x</p:attrName>
                                        </p:attrNameLst>
                                      </p:cBhvr>
                                      <p:tavLst>
                                        <p:tav tm="0">
                                          <p:val>
                                            <p:strVal val="#ppt_x"/>
                                          </p:val>
                                        </p:tav>
                                        <p:tav tm="50000">
                                          <p:val>
                                            <p:strVal val="#ppt_x+.1"/>
                                          </p:val>
                                        </p:tav>
                                        <p:tav tm="100000">
                                          <p:val>
                                            <p:strVal val="#ppt_x"/>
                                          </p:val>
                                        </p:tav>
                                      </p:tavLst>
                                    </p:anim>
                                    <p:anim calcmode="lin" valueType="num">
                                      <p:cBhvr>
                                        <p:cTn id="44" dur="500" fill="hold"/>
                                        <p:tgtEl>
                                          <p:spTgt spid="3">
                                            <p:txEl>
                                              <p:pRg st="7" end="7"/>
                                            </p:txEl>
                                          </p:spTgt>
                                        </p:tgtEl>
                                        <p:attrNameLst>
                                          <p:attrName>ppt_y</p:attrName>
                                        </p:attrNameLst>
                                      </p:cBhvr>
                                      <p:tavLst>
                                        <p:tav tm="0">
                                          <p:val>
                                            <p:strVal val="#ppt_y"/>
                                          </p:val>
                                        </p:tav>
                                        <p:tav tm="100000">
                                          <p:val>
                                            <p:strVal val="#ppt_y"/>
                                          </p:val>
                                        </p:tav>
                                      </p:tavLst>
                                    </p:anim>
                                    <p:anim calcmode="lin" valueType="num">
                                      <p:cBhvr>
                                        <p:cTn id="45" dur="500" fill="hold"/>
                                        <p:tgtEl>
                                          <p:spTgt spid="3">
                                            <p:txEl>
                                              <p:pRg st="7" end="7"/>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46" dur="500" fill="hold"/>
                                        <p:tgtEl>
                                          <p:spTgt spid="3">
                                            <p:txEl>
                                              <p:pRg st="7" end="7"/>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47" dur="500" tmFilter="0,0; .5, 1; 1, 1"/>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762000" y="381000"/>
            <a:ext cx="7824787" cy="2133600"/>
          </a:xfrm>
        </p:spPr>
        <p:txBody>
          <a:bodyPr/>
          <a:lstStyle/>
          <a:p>
            <a:pPr algn="ctr">
              <a:lnSpc>
                <a:spcPts val="4500"/>
              </a:lnSpc>
              <a:spcBef>
                <a:spcPts val="0"/>
              </a:spcBef>
            </a:pPr>
            <a:br>
              <a:rPr lang="en-US" b="1" dirty="0">
                <a:solidFill>
                  <a:schemeClr val="accent4">
                    <a:lumMod val="50000"/>
                  </a:schemeClr>
                </a:solidFill>
              </a:rPr>
            </a:br>
            <a:r>
              <a:rPr lang="en-US" sz="4000" b="1" dirty="0">
                <a:solidFill>
                  <a:schemeClr val="accent4">
                    <a:lumMod val="50000"/>
                  </a:schemeClr>
                </a:solidFill>
              </a:rPr>
              <a:t>Logical-to-Physical Address </a:t>
            </a:r>
            <a:br>
              <a:rPr lang="en-US" sz="4000" b="1" dirty="0">
                <a:solidFill>
                  <a:schemeClr val="accent4">
                    <a:lumMod val="50000"/>
                  </a:schemeClr>
                </a:solidFill>
              </a:rPr>
            </a:br>
            <a:r>
              <a:rPr lang="en-US" sz="4000" b="1" dirty="0">
                <a:solidFill>
                  <a:schemeClr val="accent4">
                    <a:lumMod val="50000"/>
                  </a:schemeClr>
                </a:solidFill>
              </a:rPr>
              <a:t>Translation - Segmentation</a:t>
            </a:r>
            <a:br>
              <a:rPr lang="en-US" sz="4000" b="1" dirty="0">
                <a:solidFill>
                  <a:schemeClr val="accent4">
                    <a:lumMod val="50000"/>
                  </a:schemeClr>
                </a:solidFill>
              </a:rPr>
            </a:br>
            <a:endParaRPr lang="en-US" sz="4000" dirty="0"/>
          </a:p>
        </p:txBody>
      </p:sp>
      <p:pic>
        <p:nvPicPr>
          <p:cNvPr id="5" name="Picture 4"/>
          <p:cNvPicPr>
            <a:picLocks noChangeAspect="1"/>
          </p:cNvPicPr>
          <p:nvPr/>
        </p:nvPicPr>
        <p:blipFill>
          <a:blip r:embed="rId3"/>
          <a:stretch>
            <a:fillRect/>
          </a:stretch>
        </p:blipFill>
        <p:spPr>
          <a:xfrm>
            <a:off x="1219200" y="2209800"/>
            <a:ext cx="6769100" cy="4140200"/>
          </a:xfrm>
          <a:prstGeom prst="rect">
            <a:avLst/>
          </a:prstGeom>
        </p:spPr>
      </p:pic>
    </p:spTree>
  </p:cSld>
  <p:clrMapOvr>
    <a:masterClrMapping/>
  </p:clrMapOvr>
  <p:transition spd="slow">
    <p:pull dir="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81001"/>
            <a:ext cx="7824788" cy="1143000"/>
          </a:xfrm>
        </p:spPr>
        <p:txBody>
          <a:bodyPr/>
          <a:lstStyle/>
          <a:p>
            <a:pPr algn="ctr"/>
            <a:r>
              <a:rPr lang="en-US" b="1" dirty="0">
                <a:ln w="1905"/>
                <a:solidFill>
                  <a:schemeClr val="accent6">
                    <a:lumMod val="75000"/>
                  </a:schemeClr>
                </a:solidFill>
                <a:effectLst>
                  <a:innerShdw blurRad="69850" dist="43180" dir="5400000">
                    <a:srgbClr val="000000">
                      <a:alpha val="65000"/>
                    </a:srgbClr>
                  </a:innerShdw>
                </a:effectLst>
              </a:rPr>
              <a:t>Security Issues</a:t>
            </a:r>
          </a:p>
        </p:txBody>
      </p:sp>
      <p:graphicFrame>
        <p:nvGraphicFramePr>
          <p:cNvPr id="4" name="Content Placeholder 3"/>
          <p:cNvGraphicFramePr>
            <a:graphicFrameLocks noGrp="1"/>
          </p:cNvGraphicFramePr>
          <p:nvPr>
            <p:ph idx="4294967295"/>
          </p:nvPr>
        </p:nvGraphicFramePr>
        <p:xfrm>
          <a:off x="685800" y="1752600"/>
          <a:ext cx="7924800" cy="4800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p:cNvPicPr>
            <a:picLocks noChangeAspect="1"/>
          </p:cNvPicPr>
          <p:nvPr/>
        </p:nvPicPr>
        <p:blipFill>
          <a:blip r:embed="rId7"/>
          <a:stretch>
            <a:fillRect/>
          </a:stretch>
        </p:blipFill>
        <p:spPr>
          <a:xfrm>
            <a:off x="2362200" y="2362200"/>
            <a:ext cx="1066685" cy="1066685"/>
          </a:xfrm>
          <a:prstGeom prst="rect">
            <a:avLst/>
          </a:prstGeom>
        </p:spPr>
      </p:pic>
      <p:pic>
        <p:nvPicPr>
          <p:cNvPr id="6" name="Picture 5"/>
          <p:cNvPicPr>
            <a:picLocks noChangeAspect="1"/>
          </p:cNvPicPr>
          <p:nvPr/>
        </p:nvPicPr>
        <p:blipFill>
          <a:blip r:embed="rId7"/>
          <a:stretch>
            <a:fillRect/>
          </a:stretch>
        </p:blipFill>
        <p:spPr>
          <a:xfrm>
            <a:off x="6019800" y="5029086"/>
            <a:ext cx="990600" cy="990600"/>
          </a:xfrm>
          <a:prstGeom prst="rect">
            <a:avLst/>
          </a:prstGeom>
        </p:spPr>
      </p:pic>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6">
                    <a:lumMod val="75000"/>
                  </a:schemeClr>
                </a:solidFill>
              </a:rPr>
              <a:t>Buffer Overflow Attacks</a:t>
            </a:r>
          </a:p>
        </p:txBody>
      </p:sp>
      <p:sp>
        <p:nvSpPr>
          <p:cNvPr id="3" name="Content Placeholder 2"/>
          <p:cNvSpPr>
            <a:spLocks noGrp="1"/>
          </p:cNvSpPr>
          <p:nvPr>
            <p:ph idx="4294967295"/>
          </p:nvPr>
        </p:nvSpPr>
        <p:spPr>
          <a:xfrm>
            <a:off x="457200" y="2133600"/>
            <a:ext cx="8229600" cy="4953000"/>
          </a:xfrm>
        </p:spPr>
        <p:txBody>
          <a:bodyPr>
            <a:normAutofit/>
          </a:bodyPr>
          <a:lstStyle/>
          <a:p>
            <a:r>
              <a:rPr lang="en-US" sz="2200" dirty="0"/>
              <a:t>Security threat related to memory management</a:t>
            </a:r>
          </a:p>
          <a:p>
            <a:r>
              <a:rPr lang="en-US" sz="2200" dirty="0"/>
              <a:t>Also known as a buffer overrun</a:t>
            </a:r>
          </a:p>
          <a:p>
            <a:r>
              <a:rPr lang="en-US" sz="2200" dirty="0"/>
              <a:t>Can occur when a process attempts to store data beyond the limits of a fixed-sized buffer</a:t>
            </a:r>
          </a:p>
          <a:p>
            <a:r>
              <a:rPr lang="en-US" sz="2200" dirty="0"/>
              <a:t>One of the most prevalent and dangerous types of security attacks</a:t>
            </a:r>
          </a:p>
        </p:txBody>
      </p:sp>
      <p:pic>
        <p:nvPicPr>
          <p:cNvPr id="6" name="Picture 5"/>
          <p:cNvPicPr>
            <a:picLocks noChangeAspect="1"/>
          </p:cNvPicPr>
          <p:nvPr/>
        </p:nvPicPr>
        <p:blipFill>
          <a:blip r:embed="rId3"/>
          <a:stretch>
            <a:fillRect/>
          </a:stretch>
        </p:blipFill>
        <p:spPr>
          <a:xfrm>
            <a:off x="3886200" y="4876800"/>
            <a:ext cx="2209800" cy="1545199"/>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accel="50000" decel="5000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accel="50000" decel="5000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accel="50000" decel="5000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accel="50000" decel="5000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81000" y="228600"/>
            <a:ext cx="8305800" cy="1323975"/>
          </a:xfrm>
        </p:spPr>
        <p:txBody>
          <a:bodyPr/>
          <a:lstStyle/>
          <a:p>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Buffer Overflow Example</a:t>
            </a:r>
          </a:p>
        </p:txBody>
      </p:sp>
      <p:pic>
        <p:nvPicPr>
          <p:cNvPr id="6" name="Picture 5"/>
          <p:cNvPicPr>
            <a:picLocks noChangeAspect="1"/>
          </p:cNvPicPr>
          <p:nvPr/>
        </p:nvPicPr>
        <p:blipFill>
          <a:blip r:embed="rId3"/>
          <a:stretch>
            <a:fillRect/>
          </a:stretch>
        </p:blipFill>
        <p:spPr>
          <a:xfrm>
            <a:off x="1295400" y="1828800"/>
            <a:ext cx="6705600" cy="4419600"/>
          </a:xfrm>
          <a:prstGeom prst="rect">
            <a:avLst/>
          </a:prstGeom>
        </p:spPr>
      </p:pic>
    </p:spTree>
  </p:cSld>
  <p:clrMapOvr>
    <a:masterClrMapping/>
  </p:clrMapOvr>
  <p:transition spd="slow">
    <p:pull dir="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81000" y="1295400"/>
            <a:ext cx="3733800" cy="1752600"/>
          </a:xfrm>
        </p:spPr>
        <p:txBody>
          <a:bodyPr/>
          <a:lstStyle/>
          <a:p>
            <a:pPr algn="l"/>
            <a:r>
              <a:rPr lang="en-US" sz="4000" b="1" dirty="0">
                <a:ln w="1905"/>
                <a:solidFill>
                  <a:schemeClr val="accent6">
                    <a:lumMod val="75000"/>
                  </a:schemeClr>
                </a:solidFill>
                <a:effectLst>
                  <a:innerShdw blurRad="69850" dist="43180" dir="5400000">
                    <a:srgbClr val="000000">
                      <a:alpha val="65000"/>
                    </a:srgbClr>
                  </a:innerShdw>
                </a:effectLst>
              </a:rPr>
              <a:t>Buffer Overflow </a:t>
            </a:r>
            <a:br>
              <a:rPr lang="en-US" sz="4000" b="1" dirty="0">
                <a:ln w="1905"/>
                <a:solidFill>
                  <a:schemeClr val="accent6">
                    <a:lumMod val="75000"/>
                  </a:schemeClr>
                </a:solidFill>
                <a:effectLst>
                  <a:innerShdw blurRad="69850" dist="43180" dir="5400000">
                    <a:srgbClr val="000000">
                      <a:alpha val="65000"/>
                    </a:srgbClr>
                  </a:innerShdw>
                </a:effectLst>
              </a:rPr>
            </a:br>
            <a:r>
              <a:rPr lang="en-US" sz="4000" b="1" dirty="0">
                <a:ln w="1905"/>
                <a:solidFill>
                  <a:schemeClr val="accent6">
                    <a:lumMod val="75000"/>
                  </a:schemeClr>
                </a:solidFill>
                <a:effectLst>
                  <a:innerShdw blurRad="69850" dist="43180" dir="5400000">
                    <a:srgbClr val="000000">
                      <a:alpha val="65000"/>
                    </a:srgbClr>
                  </a:innerShdw>
                </a:effectLst>
              </a:rPr>
              <a:t>Stack Values</a:t>
            </a:r>
          </a:p>
        </p:txBody>
      </p:sp>
      <p:pic>
        <p:nvPicPr>
          <p:cNvPr id="5" name="Picture 4"/>
          <p:cNvPicPr>
            <a:picLocks noChangeAspect="1"/>
          </p:cNvPicPr>
          <p:nvPr/>
        </p:nvPicPr>
        <p:blipFill>
          <a:blip r:embed="rId3"/>
          <a:stretch>
            <a:fillRect/>
          </a:stretch>
        </p:blipFill>
        <p:spPr>
          <a:xfrm>
            <a:off x="3733800" y="761999"/>
            <a:ext cx="4876800" cy="5711447"/>
          </a:xfrm>
          <a:prstGeom prst="rect">
            <a:avLst/>
          </a:prstGeom>
        </p:spPr>
      </p:pic>
    </p:spTree>
  </p:cSld>
  <p:clrMapOvr>
    <a:masterClrMapping/>
  </p:clrMapOvr>
  <p:transition spd="slow">
    <p:pull dir="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7824788" cy="1371600"/>
          </a:xfrm>
        </p:spPr>
        <p:txBody>
          <a:bodyPr/>
          <a:lstStyle/>
          <a:p>
            <a:pPr algn="ctr"/>
            <a:r>
              <a:rPr lang="en-US" b="1" dirty="0">
                <a:solidFill>
                  <a:schemeClr val="accent6">
                    <a:lumMod val="75000"/>
                  </a:schemeClr>
                </a:solidFill>
              </a:rPr>
              <a:t>Defending Against </a:t>
            </a:r>
            <a:br>
              <a:rPr lang="en-US" b="1" dirty="0">
                <a:solidFill>
                  <a:schemeClr val="accent6">
                    <a:lumMod val="75000"/>
                  </a:schemeClr>
                </a:solidFill>
              </a:rPr>
            </a:br>
            <a:r>
              <a:rPr lang="en-US" b="1" dirty="0">
                <a:solidFill>
                  <a:schemeClr val="accent6">
                    <a:lumMod val="75000"/>
                  </a:schemeClr>
                </a:solidFill>
              </a:rPr>
              <a:t>Buffer Overflows</a:t>
            </a:r>
          </a:p>
        </p:txBody>
      </p:sp>
      <p:sp>
        <p:nvSpPr>
          <p:cNvPr id="3" name="Content Placeholder 2"/>
          <p:cNvSpPr>
            <a:spLocks noGrp="1"/>
          </p:cNvSpPr>
          <p:nvPr>
            <p:ph idx="4294967295"/>
          </p:nvPr>
        </p:nvSpPr>
        <p:spPr>
          <a:xfrm>
            <a:off x="533400" y="2133600"/>
            <a:ext cx="8229600" cy="5029200"/>
          </a:xfrm>
        </p:spPr>
        <p:txBody>
          <a:bodyPr>
            <a:normAutofit/>
          </a:bodyPr>
          <a:lstStyle/>
          <a:p>
            <a:r>
              <a:rPr lang="en-US" sz="2200" dirty="0"/>
              <a:t>Prevention</a:t>
            </a:r>
          </a:p>
          <a:p>
            <a:r>
              <a:rPr lang="en-US" sz="2200" dirty="0"/>
              <a:t>Detecting and aborting</a:t>
            </a:r>
          </a:p>
          <a:p>
            <a:r>
              <a:rPr lang="en-US" sz="2200" dirty="0"/>
              <a:t>Countermeasure categories:</a:t>
            </a:r>
          </a:p>
        </p:txBody>
      </p:sp>
      <p:graphicFrame>
        <p:nvGraphicFramePr>
          <p:cNvPr id="4" name="Diagram 3"/>
          <p:cNvGraphicFramePr/>
          <p:nvPr/>
        </p:nvGraphicFramePr>
        <p:xfrm>
          <a:off x="1524000" y="3733800"/>
          <a:ext cx="6324600" cy="2692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Picture 4"/>
          <p:cNvPicPr>
            <a:picLocks noChangeAspect="1"/>
          </p:cNvPicPr>
          <p:nvPr/>
        </p:nvPicPr>
        <p:blipFill>
          <a:blip r:embed="rId8"/>
          <a:stretch>
            <a:fillRect/>
          </a:stretch>
        </p:blipFill>
        <p:spPr>
          <a:xfrm>
            <a:off x="5715000" y="2590800"/>
            <a:ext cx="1295400" cy="1545115"/>
          </a:xfrm>
          <a:prstGeom prst="rect">
            <a:avLst/>
          </a:prstGeom>
        </p:spPr>
      </p:pic>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381000" y="1066800"/>
            <a:ext cx="8305800" cy="5562600"/>
          </a:xfrm>
        </p:spPr>
        <p:txBody>
          <a:bodyPr/>
          <a:lstStyle/>
          <a:p>
            <a:r>
              <a:rPr lang="en-US" sz="2600" dirty="0"/>
              <a:t>Memory Management</a:t>
            </a:r>
          </a:p>
          <a:p>
            <a:pPr marL="1022350" lvl="2" indent="-395288"/>
            <a:r>
              <a:rPr lang="en-US" sz="2400" dirty="0"/>
              <a:t>one of the most important and complex tasks of an operating system</a:t>
            </a:r>
          </a:p>
          <a:p>
            <a:pPr marL="1022350" lvl="2" indent="-395288"/>
            <a:r>
              <a:rPr lang="en-US" sz="2400" dirty="0"/>
              <a:t>needs to be treated as a resource to be allocated to and shared among a number of active processes</a:t>
            </a:r>
          </a:p>
          <a:p>
            <a:pPr marL="1022350" lvl="2" indent="-395288"/>
            <a:r>
              <a:rPr lang="en-US" sz="2400" dirty="0"/>
              <a:t>desirable to maintain as many processes in main memory as possible</a:t>
            </a:r>
          </a:p>
          <a:p>
            <a:pPr marL="1022350" lvl="2" indent="-395288"/>
            <a:r>
              <a:rPr lang="en-US" sz="2400" dirty="0"/>
              <a:t>desirable to free programmers from size restriction in program development</a:t>
            </a:r>
          </a:p>
          <a:p>
            <a:pPr marL="1022350" lvl="2" indent="-395288"/>
            <a:r>
              <a:rPr lang="en-US" sz="2400" dirty="0"/>
              <a:t>basic tools are paging and segmentation (possible to combine)</a:t>
            </a:r>
          </a:p>
          <a:p>
            <a:pPr marL="1774825" lvl="4" indent="-295275"/>
            <a:r>
              <a:rPr lang="en-US" sz="2000" dirty="0"/>
              <a:t>paging – small fixed-sized pages</a:t>
            </a:r>
          </a:p>
          <a:p>
            <a:pPr marL="1774825" lvl="4" indent="-295275"/>
            <a:r>
              <a:rPr lang="en-US" sz="2000" dirty="0"/>
              <a:t>segmentation – pieces of varying size</a:t>
            </a:r>
          </a:p>
        </p:txBody>
      </p:sp>
      <p:sp>
        <p:nvSpPr>
          <p:cNvPr id="2" name="Title 1"/>
          <p:cNvSpPr>
            <a:spLocks noGrp="1"/>
          </p:cNvSpPr>
          <p:nvPr>
            <p:ph type="title" idx="4294967295"/>
          </p:nvPr>
        </p:nvSpPr>
        <p:spPr>
          <a:xfrm>
            <a:off x="914400" y="0"/>
            <a:ext cx="7824788" cy="1323975"/>
          </a:xfrm>
        </p:spPr>
        <p:txBody>
          <a:bodyPr/>
          <a:lstStyle/>
          <a:p>
            <a:r>
              <a:rPr lang="en-US" b="1" dirty="0">
                <a:solidFill>
                  <a:schemeClr val="accent1">
                    <a:lumMod val="50000"/>
                  </a:schemeClr>
                </a:solidFill>
              </a:rPr>
              <a:t>Summary</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100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slide(fromBottom)">
                                      <p:cBhvr>
                                        <p:cTn id="7" dur="500"/>
                                        <p:tgtEl>
                                          <p:spTgt spid="3">
                                            <p:txEl>
                                              <p:pRg st="6" end="6"/>
                                            </p:txEl>
                                          </p:spTgt>
                                        </p:tgtEl>
                                      </p:cBhvr>
                                    </p:animEffect>
                                  </p:childTnLst>
                                </p:cTn>
                              </p:par>
                            </p:childTnLst>
                          </p:cTn>
                        </p:par>
                        <p:par>
                          <p:cTn id="8" fill="hold">
                            <p:stCondLst>
                              <p:cond delay="1500"/>
                            </p:stCondLst>
                            <p:childTnLst>
                              <p:par>
                                <p:cTn id="9" presetID="12" presetClass="entr" presetSubtype="4" fill="hold" grpId="0" nodeType="afterEffect">
                                  <p:stCondLst>
                                    <p:cond delay="1000"/>
                                  </p:stCondLst>
                                  <p:childTnLst>
                                    <p:set>
                                      <p:cBhvr>
                                        <p:cTn id="10" dur="1" fill="hold">
                                          <p:stCondLst>
                                            <p:cond delay="0"/>
                                          </p:stCondLst>
                                        </p:cTn>
                                        <p:tgtEl>
                                          <p:spTgt spid="3">
                                            <p:txEl>
                                              <p:pRg st="7" end="7"/>
                                            </p:txEl>
                                          </p:spTgt>
                                        </p:tgtEl>
                                        <p:attrNameLst>
                                          <p:attrName>style.visibility</p:attrName>
                                        </p:attrNameLst>
                                      </p:cBhvr>
                                      <p:to>
                                        <p:strVal val="visible"/>
                                      </p:to>
                                    </p:set>
                                    <p:animEffect transition="in" filter="slide(fromBottom)">
                                      <p:cBhvr>
                                        <p:cTn id="1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x">
  <a:themeElements>
    <a:clrScheme name="Codex">
      <a:dk1>
        <a:sysClr val="windowText" lastClr="000000"/>
      </a:dk1>
      <a:lt1>
        <a:sysClr val="window" lastClr="FFFFFF"/>
      </a:lt1>
      <a:dk2>
        <a:srgbClr val="59564B"/>
      </a:dk2>
      <a:lt2>
        <a:srgbClr val="DFDAC7"/>
      </a:lt2>
      <a:accent1>
        <a:srgbClr val="990000"/>
      </a:accent1>
      <a:accent2>
        <a:srgbClr val="EFAB16"/>
      </a:accent2>
      <a:accent3>
        <a:srgbClr val="78AC35"/>
      </a:accent3>
      <a:accent4>
        <a:srgbClr val="35ACA2"/>
      </a:accent4>
      <a:accent5>
        <a:srgbClr val="4083CF"/>
      </a:accent5>
      <a:accent6>
        <a:srgbClr val="0D335E"/>
      </a:accent6>
      <a:hlink>
        <a:srgbClr val="EF8E1C"/>
      </a:hlink>
      <a:folHlink>
        <a:srgbClr val="FEC60B"/>
      </a:folHlink>
    </a:clrScheme>
    <a:fontScheme name="Codex">
      <a:majorFont>
        <a:latin typeface="Calisto MT"/>
        <a:ea typeface=""/>
        <a:cs typeface=""/>
        <a:font script="Jpan" typeface="ＭＳ 明朝"/>
      </a:majorFont>
      <a:minorFont>
        <a:latin typeface="Calisto MT"/>
        <a:ea typeface=""/>
        <a:cs typeface=""/>
        <a:font script="Jpan" typeface="ＭＳ 明朝"/>
      </a:minorFont>
    </a:fontScheme>
    <a:fmtScheme name="Codex">
      <a:fillStyleLst>
        <a:solidFill>
          <a:schemeClr val="phClr"/>
        </a:solidFill>
        <a:gradFill rotWithShape="1">
          <a:gsLst>
            <a:gs pos="0">
              <a:schemeClr val="phClr">
                <a:tint val="100000"/>
                <a:shade val="60000"/>
                <a:satMod val="135000"/>
              </a:schemeClr>
            </a:gs>
            <a:gs pos="100000">
              <a:schemeClr val="phClr">
                <a:tint val="100000"/>
                <a:shade val="94000"/>
                <a:satMod val="135000"/>
              </a:schemeClr>
            </a:gs>
          </a:gsLst>
          <a:lin ang="16200000" scaled="1"/>
        </a:gradFill>
        <a:gradFill rotWithShape="1">
          <a:gsLst>
            <a:gs pos="0">
              <a:schemeClr val="phClr">
                <a:shade val="51000"/>
                <a:alpha val="90000"/>
                <a:satMod val="115000"/>
              </a:schemeClr>
            </a:gs>
            <a:gs pos="100000">
              <a:schemeClr val="phClr">
                <a:shade val="94000"/>
                <a:alpha val="90000"/>
                <a:satMod val="135000"/>
              </a:schemeClr>
            </a:gs>
          </a:gsLst>
          <a:lin ang="5400000" scaled="1"/>
        </a:gradFill>
      </a:fillStyleLst>
      <a:lnStyleLst>
        <a:ln w="15875" cap="flat" cmpd="sng" algn="ctr">
          <a:solidFill>
            <a:schemeClr val="phClr">
              <a:shade val="95000"/>
              <a:satMod val="105000"/>
            </a:schemeClr>
          </a:solidFill>
          <a:prstDash val="solid"/>
        </a:ln>
        <a:ln w="34925"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effectStyle>
        <a:effectStyle>
          <a:effectLst>
            <a:outerShdw blurRad="50800" dist="12700" dir="5400000" rotWithShape="0">
              <a:srgbClr val="525252">
                <a:alpha val="85000"/>
              </a:srgbClr>
            </a:outerShdw>
          </a:effectLst>
          <a:scene3d>
            <a:camera prst="orthographicFront">
              <a:rot lat="0" lon="0" rev="0"/>
            </a:camera>
            <a:lightRig rig="sunrise" dir="t">
              <a:rot lat="0" lon="0" rev="6000000"/>
            </a:lightRig>
          </a:scene3d>
          <a:sp3d prstMaterial="matte">
            <a:bevelT w="50800" h="4445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2340</Words>
  <Application>Microsoft Office PowerPoint</Application>
  <PresentationFormat>On-screen Show (4:3)</PresentationFormat>
  <Paragraphs>151</Paragraphs>
  <Slides>15</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ＭＳ Ｐゴシック</vt:lpstr>
      <vt:lpstr>Arial</vt:lpstr>
      <vt:lpstr>Calibri</vt:lpstr>
      <vt:lpstr>Calisto MT</vt:lpstr>
      <vt:lpstr>Times New Roman</vt:lpstr>
      <vt:lpstr>Wingdings</vt:lpstr>
      <vt:lpstr>Custom Design</vt:lpstr>
      <vt:lpstr>Codex</vt:lpstr>
      <vt:lpstr> Paging</vt:lpstr>
      <vt:lpstr>Paging</vt:lpstr>
      <vt:lpstr>Assignment of Process to Free Frames</vt:lpstr>
      <vt:lpstr>Page Table</vt:lpstr>
      <vt:lpstr>Data Structures</vt:lpstr>
      <vt:lpstr>Logical Addresses</vt:lpstr>
      <vt:lpstr>PowerPoint Presentation</vt:lpstr>
      <vt:lpstr>Segmentation</vt:lpstr>
      <vt:lpstr> Logical-to-Physical Address  Translation - Segmentation </vt:lpstr>
      <vt:lpstr>Security Issues</vt:lpstr>
      <vt:lpstr>Buffer Overflow Attacks</vt:lpstr>
      <vt:lpstr>Buffer Overflow Example</vt:lpstr>
      <vt:lpstr>Buffer Overflow  Stack Values</vt:lpstr>
      <vt:lpstr>Defending Against  Buffer Overflows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dcterms:created xsi:type="dcterms:W3CDTF">2011-03-30T02:08:02Z</dcterms:created>
  <dcterms:modified xsi:type="dcterms:W3CDTF">2024-04-30T06:17:10Z</dcterms:modified>
</cp:coreProperties>
</file>