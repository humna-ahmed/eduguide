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305" r:id="rId2"/>
    <p:sldId id="256" r:id="rId3"/>
    <p:sldId id="300" r:id="rId4"/>
    <p:sldId id="310" r:id="rId5"/>
    <p:sldId id="311" r:id="rId6"/>
    <p:sldId id="312" r:id="rId7"/>
    <p:sldId id="313" r:id="rId8"/>
    <p:sldId id="314" r:id="rId9"/>
    <p:sldId id="315" r:id="rId10"/>
    <p:sldId id="316" r:id="rId11"/>
    <p:sldId id="317" r:id="rId12"/>
    <p:sldId id="318" r:id="rId13"/>
    <p:sldId id="405" r:id="rId14"/>
    <p:sldId id="319" r:id="rId15"/>
    <p:sldId id="320" r:id="rId16"/>
    <p:sldId id="385" r:id="rId17"/>
    <p:sldId id="386" r:id="rId18"/>
    <p:sldId id="321" r:id="rId19"/>
    <p:sldId id="322" r:id="rId20"/>
    <p:sldId id="323" r:id="rId21"/>
    <p:sldId id="324" r:id="rId22"/>
    <p:sldId id="325" r:id="rId23"/>
    <p:sldId id="326" r:id="rId24"/>
    <p:sldId id="307" r:id="rId25"/>
    <p:sldId id="308" r:id="rId26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Georgia" panose="02040502050405020303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3366FF"/>
    <a:srgbClr val="66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141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F05F39-77B8-4AAF-8B10-15C2EF3D068A}" type="datetimeFigureOut">
              <a:rPr lang="en-US" smtClean="0"/>
              <a:pPr/>
              <a:t>5/13/2024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4A571A-13BB-427F-966C-F797F7B2644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158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96224DF-43C0-4AEC-AB60-1527D1D7CF0C}" type="slidenum">
              <a:rPr lang="en-US">
                <a:latin typeface="Times New Roman" pitchFamily="18" charset="0"/>
              </a:rPr>
              <a:pPr/>
              <a:t>4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35738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4098FAE-E443-49CC-A8CE-FB519FEA59BF}" type="slidenum">
              <a:rPr lang="en-US">
                <a:latin typeface="Times New Roman" pitchFamily="18" charset="0"/>
              </a:rPr>
              <a:pPr/>
              <a:t>5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6637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6A8244C-3B36-47BB-B4F4-5361FB8A84EB}" type="slidenum">
              <a:rPr lang="en-US">
                <a:latin typeface="Times New Roman" pitchFamily="18" charset="0"/>
              </a:rPr>
              <a:pPr/>
              <a:t>6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38931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919811B-87FC-411E-B519-E29294AABBFC}" type="slidenum">
              <a:rPr lang="en-US">
                <a:latin typeface="Times New Roman" pitchFamily="18" charset="0"/>
              </a:rPr>
              <a:pPr/>
              <a:t>7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717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D032B73-5D98-42BF-B643-506427C676B8}" type="slidenum">
              <a:rPr lang="en-US">
                <a:latin typeface="Times New Roman" pitchFamily="18" charset="0"/>
              </a:rPr>
              <a:pPr/>
              <a:t>10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1731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096C4B9-1960-434F-BFA6-D2DC54A673BF}" type="slidenum">
              <a:rPr lang="en-US">
                <a:latin typeface="Times New Roman" pitchFamily="18" charset="0"/>
              </a:rPr>
              <a:pPr/>
              <a:t>11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16720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E864612-BF02-4561-9360-BCEC081D3085}" type="slidenum">
              <a:rPr lang="en-US">
                <a:latin typeface="Times New Roman" pitchFamily="18" charset="0"/>
              </a:rPr>
              <a:pPr/>
              <a:t>12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1452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7119F7-3A84-42EB-9E00-753A842AD8C3}" type="slidenum">
              <a:rPr lang="en-US">
                <a:latin typeface="Times New Roman" pitchFamily="18" charset="0"/>
              </a:rPr>
              <a:pPr/>
              <a:t>14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325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8210AC8-3652-4FB6-BE6F-B5D825129655}" type="slidenum">
              <a:rPr lang="en-US">
                <a:latin typeface="Times New Roman" pitchFamily="18" charset="0"/>
              </a:rPr>
              <a:pPr/>
              <a:t>15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108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A5288B-B7F3-4376-BF23-3613E8B6BCDE}" type="slidenum">
              <a:rPr lang="en-US"/>
              <a:pPr/>
              <a:t>16</a:t>
            </a:fld>
            <a:endParaRPr lang="en-US"/>
          </a:p>
        </p:txBody>
      </p:sp>
      <p:sp>
        <p:nvSpPr>
          <p:cNvPr id="369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92225" y="796925"/>
            <a:ext cx="4273550" cy="3205163"/>
          </a:xfrm>
          <a:ln w="12700" cap="flat"/>
        </p:spPr>
      </p:sp>
      <p:sp>
        <p:nvSpPr>
          <p:cNvPr id="3696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8361" y="4335198"/>
            <a:ext cx="4974383" cy="3852684"/>
          </a:xfrm>
          <a:ln/>
        </p:spPr>
        <p:txBody>
          <a:bodyPr lIns="90488" tIns="44450" rIns="90488" bIns="44450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056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DBA5288B-B7F3-4376-BF23-3613E8B6BCDE}" type="slidenum">
              <a:rPr lang="en-US"/>
              <a:pPr/>
              <a:t>17</a:t>
            </a:fld>
            <a:endParaRPr lang="en-US"/>
          </a:p>
        </p:txBody>
      </p:sp>
      <p:sp>
        <p:nvSpPr>
          <p:cNvPr id="3696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92225" y="796925"/>
            <a:ext cx="4273550" cy="3205163"/>
          </a:xfrm>
          <a:ln w="12700" cap="flat"/>
        </p:spPr>
      </p:sp>
      <p:sp>
        <p:nvSpPr>
          <p:cNvPr id="3696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8361" y="4335198"/>
            <a:ext cx="4974383" cy="3852684"/>
          </a:xfrm>
          <a:ln/>
        </p:spPr>
        <p:txBody>
          <a:bodyPr lIns="90488" tIns="44450" rIns="90488" bIns="44450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380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21B1E26-CFB7-4D39-BF88-475877F7FDED}" type="slidenum">
              <a:rPr lang="en-US">
                <a:latin typeface="Times New Roman" pitchFamily="18" charset="0"/>
              </a:rPr>
              <a:pPr/>
              <a:t>18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808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C4F482-516B-4D0C-B004-AEDFFAA1427F}" type="slidenum">
              <a:rPr lang="en-US">
                <a:latin typeface="Times New Roman" pitchFamily="18" charset="0"/>
              </a:rPr>
              <a:pPr/>
              <a:t>20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68079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63CAB13-9D63-447C-BD9D-EC9DC8BCF639}" type="slidenum">
              <a:rPr lang="en-US">
                <a:latin typeface="Times New Roman" pitchFamily="18" charset="0"/>
              </a:rPr>
              <a:pPr/>
              <a:t>21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632316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2C42028-01D8-4BF1-9B6B-8A4D6F4E6EAB}" type="slidenum">
              <a:rPr lang="en-US">
                <a:latin typeface="Times New Roman" pitchFamily="18" charset="0"/>
              </a:rPr>
              <a:pPr/>
              <a:t>22</a:t>
            </a:fld>
            <a:endParaRPr lang="en-US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32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0" y="3962400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5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0" y="3962400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4" name="TextBox 25"/>
          <p:cNvSpPr txBox="1">
            <a:spLocks noChangeArrowheads="1"/>
          </p:cNvSpPr>
          <p:nvPr userDrawn="1"/>
        </p:nvSpPr>
        <p:spPr bwMode="auto">
          <a:xfrm>
            <a:off x="533400" y="6350169"/>
            <a:ext cx="807720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Georgia" pitchFamily="18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Georgia" pitchFamily="18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Georgia" pitchFamily="18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Georgia" pitchFamily="18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Georgia" pitchFamily="18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9pPr>
          </a:lstStyle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80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©2017</a:t>
            </a:r>
            <a:r>
              <a:rPr lang="en-US" altLang="en-US" sz="800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 C</a:t>
            </a:r>
            <a:r>
              <a:rPr lang="en-US" altLang="en-US" sz="80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engage Learning®. May not be scanned, copied or duplicated, or posted to a publicly accessible website, in whole or in part,</a:t>
            </a:r>
            <a:r>
              <a:rPr lang="en-US" altLang="en-US" sz="800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 except for use as permitted in a license distributed with a certain product or service or otherwise on a password-protected website or school-approved learning management system for classroom use.</a:t>
            </a:r>
            <a:r>
              <a:rPr lang="en-US" altLang="en-US" sz="900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  </a:t>
            </a:r>
            <a:endParaRPr lang="en-US" altLang="en-US" sz="900" dirty="0" smtClean="0">
              <a:solidFill>
                <a:schemeClr val="bg1">
                  <a:lumMod val="65000"/>
                </a:schemeClr>
              </a:solidFill>
              <a:latin typeface="Calibri" pitchFamily="34" charset="0"/>
            </a:endParaRPr>
          </a:p>
          <a:p>
            <a:pPr algn="ctr">
              <a:defRPr/>
            </a:pPr>
            <a:r>
              <a:rPr lang="en-US" altLang="en-US" sz="900" dirty="0" smtClean="0">
                <a:solidFill>
                  <a:srgbClr val="262626"/>
                </a:solidFill>
                <a:latin typeface="Calibri" pitchFamily="34" charset="0"/>
                <a:ea typeface="Calibri" pitchFamily="34" charset="0"/>
                <a:cs typeface="Calibri" pitchFamily="34" charset="0"/>
              </a:rPr>
              <a:t>.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64008" indent="0" algn="ctr">
              <a:buNone/>
              <a:defRPr sz="4000">
                <a:solidFill>
                  <a:schemeClr val="accent3">
                    <a:lumMod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pic>
        <p:nvPicPr>
          <p:cNvPr id="15" name="Picture 14" descr="Screen Clippi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521" y="335903"/>
            <a:ext cx="8306959" cy="3120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76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rgbClr val="002060"/>
                </a:solidFill>
              </a:defRPr>
            </a:lvl1pPr>
            <a:lvl2pPr>
              <a:defRPr>
                <a:solidFill>
                  <a:srgbClr val="002060"/>
                </a:solidFill>
              </a:defRPr>
            </a:lvl2pPr>
            <a:lvl3pPr>
              <a:defRPr>
                <a:solidFill>
                  <a:srgbClr val="002060"/>
                </a:solidFill>
              </a:defRPr>
            </a:lvl3pPr>
            <a:lvl4pPr>
              <a:defRPr>
                <a:solidFill>
                  <a:srgbClr val="002060"/>
                </a:solidFill>
              </a:defRPr>
            </a:lvl4pPr>
            <a:lvl5pPr>
              <a:defRPr>
                <a:solidFill>
                  <a:srgbClr val="002060"/>
                </a:solidFill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586538" y="612775"/>
            <a:ext cx="957262" cy="4572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fld id="{55D42B16-DF26-470E-8402-9FDCC4B485CE}" type="datetimeFigureOut">
              <a:rPr lang="en-US"/>
              <a:pPr>
                <a:defRPr/>
              </a:pPr>
              <a:t>5/13/2024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57800" y="612775"/>
            <a:ext cx="1325563" cy="457200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DCEE066-B400-49D8-9289-3749C8DE4F0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840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33600" y="2892427"/>
            <a:ext cx="5715000" cy="1470025"/>
          </a:xfrm>
        </p:spPr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38400" y="4648200"/>
            <a:ext cx="5029200" cy="1371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cxnSp>
        <p:nvCxnSpPr>
          <p:cNvPr id="11" name="Straight Connector 10"/>
          <p:cNvCxnSpPr/>
          <p:nvPr userDrawn="1"/>
        </p:nvCxnSpPr>
        <p:spPr>
          <a:xfrm rot="5400000" flipH="1" flipV="1">
            <a:off x="-494505" y="3162300"/>
            <a:ext cx="4037806" cy="795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Bahria Logo new white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400" y="990600"/>
            <a:ext cx="6676806" cy="17373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92BE8FD-8DEF-445A-9D43-D13709C0193D}" type="datetimeFigureOut">
              <a:rPr lang="en-US" smtClean="0"/>
              <a:pPr/>
              <a:t>5/13/2024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035B48-1707-47FE-892C-3D62A8FA13F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92BE8FD-8DEF-445A-9D43-D13709C0193D}" type="datetimeFigureOut">
              <a:rPr lang="en-US" smtClean="0"/>
              <a:pPr/>
              <a:t>5/13/2024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035B48-1707-47FE-892C-3D62A8FA13F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ounded Rectangle 32"/>
          <p:cNvSpPr/>
          <p:nvPr/>
        </p:nvSpPr>
        <p:spPr bwMode="white">
          <a:xfrm>
            <a:off x="5407025" y="496888"/>
            <a:ext cx="3063875" cy="28575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27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4572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 smtClean="0"/>
              <a:t>Click to edit Master title style</a:t>
            </a:r>
          </a:p>
        </p:txBody>
      </p:sp>
      <p:sp>
        <p:nvSpPr>
          <p:cNvPr id="1028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897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 smtClean="0"/>
              <a:t>Click to edit Master text styles</a:t>
            </a:r>
          </a:p>
          <a:p>
            <a:pPr lvl="1"/>
            <a:r>
              <a:rPr lang="en-US" altLang="en-US" dirty="0" smtClean="0"/>
              <a:t>Second level</a:t>
            </a:r>
          </a:p>
          <a:p>
            <a:pPr lvl="2"/>
            <a:r>
              <a:rPr lang="en-US" altLang="en-US" dirty="0" smtClean="0"/>
              <a:t>Third level</a:t>
            </a:r>
          </a:p>
          <a:p>
            <a:pPr lvl="3"/>
            <a:r>
              <a:rPr lang="en-US" altLang="en-US" dirty="0" smtClean="0"/>
              <a:t>Fourth level</a:t>
            </a:r>
          </a:p>
          <a:p>
            <a:pPr lvl="4"/>
            <a:r>
              <a:rPr lang="en-US" altLang="en-US" dirty="0" smtClean="0"/>
              <a:t>Fifth level</a:t>
            </a: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686800" y="6553200"/>
            <a:ext cx="457200" cy="3048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2295934-098C-46D5-8B6F-5CB26F4D7F6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0" name="Rectangle 19"/>
          <p:cNvSpPr/>
          <p:nvPr userDrawn="1"/>
        </p:nvSpPr>
        <p:spPr>
          <a:xfrm>
            <a:off x="0" y="0"/>
            <a:ext cx="9144000" cy="381000"/>
          </a:xfrm>
          <a:prstGeom prst="rect">
            <a:avLst/>
          </a:prstGeom>
          <a:solidFill>
            <a:srgbClr val="0070C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1" name="Rectangle 20"/>
          <p:cNvSpPr/>
          <p:nvPr userDrawn="1"/>
        </p:nvSpPr>
        <p:spPr>
          <a:xfrm>
            <a:off x="0" y="7938"/>
            <a:ext cx="9144000" cy="220662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24" name="Rectangle 23"/>
          <p:cNvSpPr/>
          <p:nvPr userDrawn="1"/>
        </p:nvSpPr>
        <p:spPr>
          <a:xfrm>
            <a:off x="0" y="381000"/>
            <a:ext cx="9144000" cy="58738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3" name="TextBox 8"/>
          <p:cNvSpPr txBox="1">
            <a:spLocks noChangeArrowheads="1"/>
          </p:cNvSpPr>
          <p:nvPr userDrawn="1"/>
        </p:nvSpPr>
        <p:spPr bwMode="auto">
          <a:xfrm>
            <a:off x="533400" y="6324600"/>
            <a:ext cx="8077200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Georgia" pitchFamily="18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Georgia" pitchFamily="18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Georgia" pitchFamily="18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Georgia" pitchFamily="18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Georgia" pitchFamily="18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Georgia" pitchFamily="18" charset="0"/>
              </a:defRPr>
            </a:lvl9pPr>
          </a:lstStyle>
          <a:p>
            <a:pPr marL="0" marR="0" indent="0" algn="ctr" defTabSz="85341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80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©2017</a:t>
            </a:r>
            <a:r>
              <a:rPr lang="en-US" altLang="en-US" sz="800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 C</a:t>
            </a:r>
            <a:r>
              <a:rPr lang="en-US" altLang="en-US" sz="80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engage Learning®. May not be scanned, copied or duplicated, or posted to a publicly accessible website, in whole or in part,</a:t>
            </a:r>
            <a:r>
              <a:rPr lang="en-US" altLang="en-US" sz="800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 except for use as permitted in a license distributed with a certain product or service or otherwise on a password-protected website or school-approved learning management system for classroom use</a:t>
            </a:r>
            <a:r>
              <a:rPr lang="en-US" altLang="en-US" sz="900" baseline="0" dirty="0" smtClean="0">
                <a:solidFill>
                  <a:schemeClr val="bg1">
                    <a:lumMod val="65000"/>
                  </a:schemeClr>
                </a:solidFill>
                <a:latin typeface="Calibri" pitchFamily="34" charset="0"/>
              </a:rPr>
              <a:t>.  </a:t>
            </a:r>
            <a:endParaRPr lang="en-US" altLang="en-US" sz="900" dirty="0" smtClean="0">
              <a:solidFill>
                <a:schemeClr val="bg1">
                  <a:lumMod val="65000"/>
                </a:schemeClr>
              </a:solidFill>
              <a:latin typeface="Calibri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9" r:id="rId4"/>
    <p:sldLayoutId id="2147483710" r:id="rId5"/>
  </p:sldLayoutIdLst>
  <p:timing>
    <p:tnLst>
      <p:par>
        <p:cTn id="1" dur="indefinite" restart="never" nodeType="tmRoot"/>
      </p:par>
    </p:tnLst>
  </p:timing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accent3">
              <a:lumMod val="75000"/>
            </a:schemeClr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Times New Roman" pitchFamily="18" charset="0"/>
          <a:cs typeface="Times New Roman" pitchFamily="18" charset="0"/>
        </a:defRPr>
      </a:lvl9pPr>
    </p:titleStyle>
    <p:bodyStyle>
      <a:lvl1pPr marL="365125" indent="-255588" algn="l" rtl="0" eaLnBrk="0" fontAlgn="base" hangingPunct="0">
        <a:spcBef>
          <a:spcPts val="300"/>
        </a:spcBef>
        <a:spcAft>
          <a:spcPts val="600"/>
        </a:spcAft>
        <a:buClr>
          <a:srgbClr val="0070C0"/>
        </a:buClr>
        <a:buFont typeface="Wingdings" panose="05000000000000000000" pitchFamily="2" charset="2"/>
        <a:buChar char="§"/>
        <a:defRPr sz="2800" kern="1200">
          <a:solidFill>
            <a:srgbClr val="002060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57225" indent="-246063" algn="l" rtl="0" eaLnBrk="0" fontAlgn="base" hangingPunct="0">
        <a:spcBef>
          <a:spcPts val="300"/>
        </a:spcBef>
        <a:spcAft>
          <a:spcPts val="600"/>
        </a:spcAft>
        <a:buClr>
          <a:srgbClr val="0070C0"/>
        </a:buClr>
        <a:buFont typeface="Wingdings" panose="05000000000000000000" pitchFamily="2" charset="2"/>
        <a:buChar char="§"/>
        <a:defRPr sz="2600" kern="1200">
          <a:solidFill>
            <a:srgbClr val="002060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922338" indent="-219075" algn="l" rtl="0" eaLnBrk="0" fontAlgn="base" hangingPunct="0">
        <a:spcBef>
          <a:spcPts val="300"/>
        </a:spcBef>
        <a:spcAft>
          <a:spcPts val="600"/>
        </a:spcAft>
        <a:buClr>
          <a:srgbClr val="0070C0"/>
        </a:buClr>
        <a:buFont typeface="Wingdings" panose="05000000000000000000" pitchFamily="2" charset="2"/>
        <a:buChar char="§"/>
        <a:defRPr sz="2400" kern="1200">
          <a:solidFill>
            <a:srgbClr val="002060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179513" indent="-200025" algn="l" rtl="0" eaLnBrk="0" fontAlgn="base" hangingPunct="0">
        <a:spcBef>
          <a:spcPts val="300"/>
        </a:spcBef>
        <a:spcAft>
          <a:spcPts val="600"/>
        </a:spcAft>
        <a:buClr>
          <a:srgbClr val="0070C0"/>
        </a:buClr>
        <a:buFont typeface="Wingdings" panose="05000000000000000000" pitchFamily="2" charset="2"/>
        <a:buChar char="§"/>
        <a:defRPr sz="2200" kern="1200">
          <a:solidFill>
            <a:srgbClr val="002060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1389063" indent="-182563" algn="l" rtl="0" eaLnBrk="0" fontAlgn="base" hangingPunct="0">
        <a:spcBef>
          <a:spcPts val="300"/>
        </a:spcBef>
        <a:spcAft>
          <a:spcPts val="600"/>
        </a:spcAft>
        <a:buClr>
          <a:srgbClr val="0070C0"/>
        </a:buClr>
        <a:buFont typeface="Wingdings" panose="05000000000000000000" pitchFamily="2" charset="2"/>
        <a:buChar char="§"/>
        <a:defRPr sz="2000" kern="1200">
          <a:solidFill>
            <a:srgbClr val="002060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w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3352800"/>
            <a:ext cx="7239000" cy="1676400"/>
          </a:xfrm>
        </p:spPr>
        <p:txBody>
          <a:bodyPr>
            <a:no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r>
              <a:rPr lang="en-US" sz="4000" b="1" spc="50" smtClean="0">
                <a:ln w="11430"/>
                <a:solidFill>
                  <a:srgbClr val="7030A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Chapter 06</a:t>
            </a:r>
            <a:r>
              <a:rPr lang="en-US" sz="4000" b="1" spc="50" dirty="0" smtClean="0">
                <a:ln w="11430"/>
                <a:gradFill>
                  <a:gsLst>
                    <a:gs pos="25000">
                      <a:schemeClr val="accent2">
                        <a:satMod val="155000"/>
                      </a:schemeClr>
                    </a:gs>
                    <a:gs pos="100000">
                      <a:schemeClr val="accent2">
                        <a:shade val="45000"/>
                        <a:satMod val="165000"/>
                      </a:schemeClr>
                    </a:gs>
                  </a:gsLst>
                  <a:lin ang="5400000"/>
                </a:gra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/>
            </a:r>
            <a:br>
              <a:rPr lang="en-US" sz="4000" b="1" spc="50" dirty="0" smtClean="0">
                <a:ln w="11430"/>
                <a:gradFill>
                  <a:gsLst>
                    <a:gs pos="25000">
                      <a:schemeClr val="accent2">
                        <a:satMod val="155000"/>
                      </a:schemeClr>
                    </a:gs>
                    <a:gs pos="100000">
                      <a:schemeClr val="accent2">
                        <a:shade val="45000"/>
                        <a:satMod val="165000"/>
                      </a:schemeClr>
                    </a:gs>
                  </a:gsLst>
                  <a:lin ang="5400000"/>
                </a:gra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</a:br>
            <a:r>
              <a:rPr lang="en-US" sz="4000" b="1" spc="50" dirty="0" smtClean="0">
                <a:ln w="11430"/>
                <a:gradFill>
                  <a:gsLst>
                    <a:gs pos="25000">
                      <a:schemeClr val="accent2">
                        <a:satMod val="155000"/>
                      </a:schemeClr>
                    </a:gs>
                    <a:gs pos="100000">
                      <a:schemeClr val="accent2">
                        <a:shade val="45000"/>
                        <a:satMod val="165000"/>
                      </a:schemeClr>
                    </a:gs>
                  </a:gsLst>
                  <a:lin ang="5400000"/>
                </a:gra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/>
            </a:r>
            <a:br>
              <a:rPr lang="en-US" sz="4000" b="1" spc="50" dirty="0" smtClean="0">
                <a:ln w="11430"/>
                <a:gradFill>
                  <a:gsLst>
                    <a:gs pos="25000">
                      <a:schemeClr val="accent2">
                        <a:satMod val="155000"/>
                      </a:schemeClr>
                    </a:gs>
                    <a:gs pos="100000">
                      <a:schemeClr val="accent2">
                        <a:shade val="45000"/>
                        <a:satMod val="165000"/>
                      </a:schemeClr>
                    </a:gs>
                  </a:gsLst>
                  <a:lin ang="5400000"/>
                </a:gra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</a:br>
            <a:r>
              <a:rPr lang="en-US" sz="3600" b="1" spc="50" dirty="0" smtClean="0">
                <a:ln w="11430"/>
                <a:solidFill>
                  <a:srgbClr val="0033CC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Normalization of Database Tables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ubtitle 2"/>
          <p:cNvSpPr>
            <a:spLocks noGrp="1"/>
          </p:cNvSpPr>
          <p:nvPr>
            <p:ph type="subTitle" idx="1"/>
          </p:nvPr>
        </p:nvSpPr>
        <p:spPr>
          <a:xfrm>
            <a:off x="914400" y="4724400"/>
            <a:ext cx="7391399" cy="1295400"/>
          </a:xfrm>
        </p:spPr>
        <p:txBody>
          <a:bodyPr/>
          <a:lstStyle/>
          <a:p>
            <a:pPr marL="63500" eaLnBrk="1" hangingPunct="1"/>
            <a:r>
              <a:rPr lang="en-US" altLang="en-US" dirty="0" smtClean="0"/>
              <a:t>Chapter 6</a:t>
            </a:r>
          </a:p>
          <a:p>
            <a:pPr marL="63500" eaLnBrk="1" hangingPunct="1"/>
            <a:r>
              <a:rPr lang="en-US" altLang="en-US" dirty="0" smtClean="0"/>
              <a:t>Normalization of Database Tables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 smtClean="0">
                <a:solidFill>
                  <a:schemeClr val="tx1"/>
                </a:solidFill>
              </a:rPr>
              <a:t>Learning Objectives</a:t>
            </a:r>
          </a:p>
        </p:txBody>
      </p:sp>
      <p:sp>
        <p:nvSpPr>
          <p:cNvPr id="1433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In this chapter, you will learn: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What normalization is and what role it plays in the database design process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About the normal forms 1NF, 2NF, 3NF, BCNF, and 4NF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How normal forms can be transformed from lower normal forms to higher normal forms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That normalization and ER modeling are used concurrently to produce a good database design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That some situations require </a:t>
            </a:r>
            <a:r>
              <a:rPr lang="en-US" altLang="en-US" sz="2460" dirty="0" err="1" smtClean="0">
                <a:latin typeface="Tahoma" pitchFamily="34" charset="0"/>
                <a:ea typeface="Tahoma" pitchFamily="34" charset="0"/>
                <a:cs typeface="Tahoma" pitchFamily="34" charset="0"/>
              </a:rPr>
              <a:t>denormalization</a:t>
            </a:r>
            <a:r>
              <a:rPr lang="en-US" altLang="en-US" sz="246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 to generate information efficiently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 lIns="90488" tIns="44450" rIns="90488" bIns="44450"/>
          <a:lstStyle/>
          <a:p>
            <a:pPr eaLnBrk="1" hangingPunct="1"/>
            <a:r>
              <a:rPr lang="en-US" sz="2000" dirty="0" smtClean="0">
                <a:solidFill>
                  <a:srgbClr val="D60093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Normalization</a:t>
            </a:r>
            <a:r>
              <a:rPr lang="en-US" sz="20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 is a process for assigning attributes to entities. It reduces data redundancies and helps eliminate the data anomalies. </a:t>
            </a:r>
          </a:p>
          <a:p>
            <a:pPr eaLnBrk="1" hangingPunct="1">
              <a:spcBef>
                <a:spcPct val="50000"/>
              </a:spcBef>
            </a:pPr>
            <a:r>
              <a:rPr lang="en-US" sz="20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Normalization works through a series of stages called normal forms: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First normal form (1NF)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Second normal form (2NF)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Third normal form (3NF)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Boyce-</a:t>
            </a:r>
            <a:r>
              <a:rPr lang="en-US" sz="2000" dirty="0" err="1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Codd</a:t>
            </a:r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 normal form (BCNF)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Fourth normal form (4NF)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Fifth normal Form (5 NF)</a:t>
            </a:r>
          </a:p>
          <a:p>
            <a:pPr lvl="1" eaLnBrk="1" hangingPunct="1"/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Domain Key normal form (DKNF)</a:t>
            </a:r>
          </a:p>
          <a:p>
            <a:pPr eaLnBrk="1" hangingPunct="1">
              <a:spcBef>
                <a:spcPct val="50000"/>
              </a:spcBef>
            </a:pPr>
            <a:r>
              <a:rPr lang="en-US" sz="20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The highest level of normalization is not always desirable.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Database Tables and Normalization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410200" y="2895600"/>
            <a:ext cx="1552575" cy="2781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153400" cy="4897438"/>
          </a:xfrm>
          <a:noFill/>
        </p:spPr>
        <p:txBody>
          <a:bodyPr lIns="90488" tIns="44450" rIns="90488" bIns="44450"/>
          <a:lstStyle/>
          <a:p>
            <a:pPr eaLnBrk="1" hangingPunct="1">
              <a:spcAft>
                <a:spcPts val="0"/>
              </a:spcAft>
            </a:pPr>
            <a:r>
              <a:rPr lang="en-US" sz="2100" dirty="0" smtClean="0">
                <a:solidFill>
                  <a:srgbClr val="0000FF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The Need for Normalization</a:t>
            </a:r>
          </a:p>
          <a:p>
            <a:pPr lvl="1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1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Case of a Construction Company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1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Building project -- Project number, Name, Employees assigned to the project.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1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Employee -- Employee number, Name, Job classification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1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The company charges its clients by billing the hours spent on each project. The hourly billing rate is dependent on the employee’s position.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1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Periodically, a report is generated.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1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The table whose contents correspond to the reporting requirements is shown in Table 5.1.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Database Tables and Normalization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7" name="Picture 4" descr="bl00393_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67200" y="1752600"/>
            <a:ext cx="2689225" cy="3414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148" name="Picture 5" descr="pe01561_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295400" y="3429000"/>
            <a:ext cx="3733800" cy="2478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149" name="Text Box 6"/>
          <p:cNvSpPr txBox="1">
            <a:spLocks noChangeArrowheads="1"/>
          </p:cNvSpPr>
          <p:nvPr/>
        </p:nvSpPr>
        <p:spPr bwMode="auto">
          <a:xfrm>
            <a:off x="685800" y="1828800"/>
            <a:ext cx="388620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rgbClr val="0000CC"/>
                </a:solidFill>
                <a:latin typeface="Tahoma" pitchFamily="34" charset="0"/>
              </a:rPr>
              <a:t>A few employees works for one project.</a:t>
            </a:r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6096000" y="1828800"/>
            <a:ext cx="25146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Project Num : </a:t>
            </a:r>
            <a:r>
              <a:rPr lang="en-US" sz="2000" b="1">
                <a:solidFill>
                  <a:srgbClr val="CC0000"/>
                </a:solidFill>
                <a:latin typeface="Tahoma" pitchFamily="34" charset="0"/>
              </a:rPr>
              <a:t>15</a:t>
            </a: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 </a:t>
            </a:r>
          </a:p>
        </p:txBody>
      </p:sp>
      <p:sp>
        <p:nvSpPr>
          <p:cNvPr id="6151" name="Text Box 8"/>
          <p:cNvSpPr txBox="1">
            <a:spLocks noChangeArrowheads="1"/>
          </p:cNvSpPr>
          <p:nvPr/>
        </p:nvSpPr>
        <p:spPr bwMode="auto">
          <a:xfrm>
            <a:off x="6096000" y="2286000"/>
            <a:ext cx="2514600" cy="70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Project Name : </a:t>
            </a:r>
            <a:r>
              <a:rPr lang="en-US" sz="2000" b="1">
                <a:solidFill>
                  <a:srgbClr val="CC0000"/>
                </a:solidFill>
                <a:latin typeface="Tahoma" pitchFamily="34" charset="0"/>
              </a:rPr>
              <a:t>Evergreen</a:t>
            </a: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 </a:t>
            </a:r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685800" y="2819400"/>
            <a:ext cx="2514600" cy="10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rgbClr val="0000CC"/>
                </a:solidFill>
                <a:latin typeface="Tahoma" pitchFamily="34" charset="0"/>
              </a:rPr>
              <a:t>Employee Num : </a:t>
            </a:r>
            <a:r>
              <a:rPr lang="en-US" sz="2000" b="1" dirty="0">
                <a:solidFill>
                  <a:srgbClr val="CC0000"/>
                </a:solidFill>
                <a:latin typeface="Tahoma" pitchFamily="34" charset="0"/>
              </a:rPr>
              <a:t>101, 102, 103, 105</a:t>
            </a:r>
            <a:endParaRPr lang="en-US" sz="2000" b="1" dirty="0">
              <a:solidFill>
                <a:srgbClr val="0000CC"/>
              </a:solidFill>
              <a:latin typeface="Tahoma" pitchFamily="34" charset="0"/>
            </a:endParaRPr>
          </a:p>
        </p:txBody>
      </p:sp>
      <p:sp>
        <p:nvSpPr>
          <p:cNvPr id="6153" name="AutoShape 10"/>
          <p:cNvSpPr>
            <a:spLocks noChangeArrowheads="1"/>
          </p:cNvSpPr>
          <p:nvPr/>
        </p:nvSpPr>
        <p:spPr bwMode="auto">
          <a:xfrm rot="-1529854">
            <a:off x="3810000" y="2895600"/>
            <a:ext cx="1219200" cy="457200"/>
          </a:xfrm>
          <a:prstGeom prst="curvedDownArrow">
            <a:avLst>
              <a:gd name="adj1" fmla="val 53333"/>
              <a:gd name="adj2" fmla="val 106667"/>
              <a:gd name="adj3" fmla="val 33333"/>
            </a:avLst>
          </a:prstGeom>
          <a:solidFill>
            <a:srgbClr val="CC00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Scenario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01" name="Rectangle 5"/>
          <p:cNvSpPr>
            <a:spLocks noChangeArrowheads="1"/>
          </p:cNvSpPr>
          <p:nvPr/>
        </p:nvSpPr>
        <p:spPr bwMode="auto">
          <a:xfrm>
            <a:off x="533400" y="1905000"/>
            <a:ext cx="8001000" cy="3733800"/>
          </a:xfrm>
          <a:prstGeom prst="rect">
            <a:avLst/>
          </a:prstGeom>
          <a:solidFill>
            <a:srgbClr val="FFFFCC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107763" dir="2700000" algn="ctr" rotWithShape="0">
              <a:schemeClr val="bg2"/>
            </a:outerShdw>
          </a:effectLst>
        </p:spPr>
        <p:txBody>
          <a:bodyPr wrap="none" anchor="ctr"/>
          <a:lstStyle/>
          <a:p>
            <a:pPr>
              <a:defRPr/>
            </a:pPr>
            <a:endParaRPr lang="en-US">
              <a:latin typeface="Times New Roman" charset="0"/>
            </a:endParaRPr>
          </a:p>
        </p:txBody>
      </p:sp>
      <p:sp>
        <p:nvSpPr>
          <p:cNvPr id="7172" name="Text Box 7"/>
          <p:cNvSpPr txBox="1">
            <a:spLocks noChangeArrowheads="1"/>
          </p:cNvSpPr>
          <p:nvPr/>
        </p:nvSpPr>
        <p:spPr bwMode="auto">
          <a:xfrm>
            <a:off x="762000" y="2133600"/>
            <a:ext cx="25146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Project Num   : </a:t>
            </a:r>
            <a:r>
              <a:rPr lang="en-US" sz="2000" b="1">
                <a:solidFill>
                  <a:srgbClr val="CC0000"/>
                </a:solidFill>
                <a:latin typeface="Tahoma" pitchFamily="34" charset="0"/>
              </a:rPr>
              <a:t>15</a:t>
            </a: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 </a:t>
            </a:r>
          </a:p>
        </p:txBody>
      </p:sp>
      <p:sp>
        <p:nvSpPr>
          <p:cNvPr id="7173" name="Text Box 8"/>
          <p:cNvSpPr txBox="1">
            <a:spLocks noChangeArrowheads="1"/>
          </p:cNvSpPr>
          <p:nvPr/>
        </p:nvSpPr>
        <p:spPr bwMode="auto">
          <a:xfrm>
            <a:off x="762000" y="2590800"/>
            <a:ext cx="4648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Project Name :  </a:t>
            </a:r>
            <a:r>
              <a:rPr lang="en-US" sz="2000" b="1">
                <a:solidFill>
                  <a:srgbClr val="CC0000"/>
                </a:solidFill>
                <a:latin typeface="Tahoma" pitchFamily="34" charset="0"/>
              </a:rPr>
              <a:t>Evergreen</a:t>
            </a:r>
            <a:r>
              <a:rPr lang="en-US" sz="2000" b="1">
                <a:solidFill>
                  <a:srgbClr val="0000CC"/>
                </a:solidFill>
                <a:latin typeface="Tahoma" pitchFamily="34" charset="0"/>
              </a:rPr>
              <a:t> </a:t>
            </a:r>
          </a:p>
        </p:txBody>
      </p:sp>
      <p:sp>
        <p:nvSpPr>
          <p:cNvPr id="7174" name="Line 9"/>
          <p:cNvSpPr>
            <a:spLocks noChangeShapeType="1"/>
          </p:cNvSpPr>
          <p:nvPr/>
        </p:nvSpPr>
        <p:spPr bwMode="auto">
          <a:xfrm>
            <a:off x="685800" y="3276600"/>
            <a:ext cx="7696200" cy="0"/>
          </a:xfrm>
          <a:prstGeom prst="line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</p:spPr>
        <p:txBody>
          <a:bodyPr wrap="none"/>
          <a:lstStyle/>
          <a:p>
            <a:endParaRPr lang="en-US"/>
          </a:p>
        </p:txBody>
      </p:sp>
      <p:pic>
        <p:nvPicPr>
          <p:cNvPr id="7175" name="Picture 10" descr="bl00393_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086600" y="1981200"/>
            <a:ext cx="1112838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176" name="Text Box 14"/>
          <p:cNvSpPr txBox="1">
            <a:spLocks noChangeArrowheads="1"/>
          </p:cNvSpPr>
          <p:nvPr/>
        </p:nvSpPr>
        <p:spPr bwMode="auto">
          <a:xfrm>
            <a:off x="5105400" y="3429000"/>
            <a:ext cx="129540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en-US" sz="1600" b="1">
              <a:solidFill>
                <a:srgbClr val="0000CC"/>
              </a:solidFill>
              <a:latin typeface="Tahoma" pitchFamily="34" charset="0"/>
            </a:endParaRPr>
          </a:p>
        </p:txBody>
      </p:sp>
      <p:graphicFrame>
        <p:nvGraphicFramePr>
          <p:cNvPr id="80964" name="Group 68"/>
          <p:cNvGraphicFramePr>
            <a:graphicFrameLocks noGrp="1"/>
          </p:cNvGraphicFramePr>
          <p:nvPr/>
        </p:nvGraphicFramePr>
        <p:xfrm>
          <a:off x="685800" y="3581400"/>
          <a:ext cx="7620000" cy="1676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Emp</a:t>
                      </a: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 Num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Emp Name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Job Class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 err="1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Chr</a:t>
                      </a:r>
                      <a:r>
                        <a:rPr kumimoji="0" lang="en-US" sz="16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 Hours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Hrs Billed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0000CC"/>
                          </a:solidFill>
                          <a:effectLst/>
                          <a:latin typeface="Tahoma" pitchFamily="34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00"/>
                          </a:solidFill>
                          <a:effectLst/>
                          <a:latin typeface="Tahoma" pitchFamily="34" charset="0"/>
                        </a:rPr>
                        <a:t>101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00"/>
                          </a:solidFill>
                          <a:effectLst/>
                          <a:latin typeface="Tahoma" pitchFamily="34" charset="0"/>
                        </a:rPr>
                        <a:t>102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00"/>
                          </a:solidFill>
                          <a:effectLst/>
                          <a:latin typeface="Tahoma" pitchFamily="34" charset="0"/>
                        </a:rPr>
                        <a:t>103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smtClean="0">
                          <a:ln>
                            <a:noFill/>
                          </a:ln>
                          <a:solidFill>
                            <a:srgbClr val="CC0000"/>
                          </a:solidFill>
                          <a:effectLst/>
                          <a:latin typeface="Tahoma" pitchFamily="34" charset="0"/>
                        </a:rPr>
                        <a:t>105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endParaRPr kumimoji="0" lang="en-US" sz="16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Sample Form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9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838200"/>
          </a:xfrm>
        </p:spPr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Sample Report Layout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95338" y="1314450"/>
            <a:ext cx="7553325" cy="5086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3" descr="fig05-0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81000" y="1752600"/>
            <a:ext cx="8405055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9"/>
          <p:cNvSpPr txBox="1">
            <a:spLocks/>
          </p:cNvSpPr>
          <p:nvPr/>
        </p:nvSpPr>
        <p:spPr>
          <a:xfrm>
            <a:off x="179882" y="457200"/>
            <a:ext cx="8735518" cy="10668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Table Structure Matches the Report Format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 lIns="90488" tIns="44450" rIns="90488" bIns="44450"/>
          <a:lstStyle/>
          <a:p>
            <a:pPr eaLnBrk="1" hangingPunct="1">
              <a:spcAft>
                <a:spcPts val="0"/>
              </a:spcAft>
            </a:pPr>
            <a:r>
              <a:rPr lang="en-US" sz="2400" dirty="0" smtClean="0">
                <a:solidFill>
                  <a:srgbClr val="0000CC"/>
                </a:solidFill>
              </a:rPr>
              <a:t>Problems with the Figure 5.1</a:t>
            </a:r>
          </a:p>
          <a:p>
            <a:pPr lvl="1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400" dirty="0" smtClean="0"/>
              <a:t>The project number is intended to be a primary key, but it contains nulls.</a:t>
            </a:r>
          </a:p>
          <a:p>
            <a:pPr lvl="1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400" dirty="0" smtClean="0"/>
              <a:t>The table displays data redundancies.</a:t>
            </a:r>
          </a:p>
          <a:p>
            <a:pPr lvl="1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400" dirty="0" smtClean="0"/>
              <a:t>The table entries invite data inconsistencies.</a:t>
            </a:r>
          </a:p>
          <a:p>
            <a:pPr lvl="1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sz="2400" dirty="0" smtClean="0"/>
              <a:t>The data redundancies yield the following  anomalies: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dirty="0" smtClean="0">
                <a:solidFill>
                  <a:srgbClr val="CC0000"/>
                </a:solidFill>
              </a:rPr>
              <a:t>Update anomalies.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dirty="0" smtClean="0">
                <a:solidFill>
                  <a:srgbClr val="CC0000"/>
                </a:solidFill>
              </a:rPr>
              <a:t>Addition anomalies.</a:t>
            </a:r>
          </a:p>
          <a:p>
            <a:pPr lvl="2" eaLnBrk="1" hangingPunct="1">
              <a:spcBef>
                <a:spcPct val="60000"/>
              </a:spcBef>
              <a:spcAft>
                <a:spcPts val="0"/>
              </a:spcAft>
            </a:pPr>
            <a:r>
              <a:rPr lang="en-US" dirty="0" smtClean="0">
                <a:solidFill>
                  <a:srgbClr val="CC0000"/>
                </a:solidFill>
              </a:rPr>
              <a:t>Deletion anomalies.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Database Tables and Normalization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001000" cy="2209800"/>
          </a:xfrm>
          <a:noFill/>
        </p:spPr>
        <p:txBody>
          <a:bodyPr lIns="90488" tIns="44450" rIns="90488" bIns="44450"/>
          <a:lstStyle/>
          <a:p>
            <a:pPr eaLnBrk="1" hangingPunct="1">
              <a:lnSpc>
                <a:spcPct val="90000"/>
              </a:lnSpc>
            </a:pPr>
            <a:r>
              <a:rPr lang="en-US" sz="2400" dirty="0" smtClean="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Conversion to First Normal Form</a:t>
            </a:r>
          </a:p>
          <a:p>
            <a:pPr lvl="1" eaLnBrk="1" hangingPunct="1">
              <a:lnSpc>
                <a:spcPct val="90000"/>
              </a:lnSpc>
              <a:spcBef>
                <a:spcPct val="60000"/>
              </a:spcBef>
            </a:pPr>
            <a:r>
              <a:rPr lang="en-US" sz="24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A relational table must not contain </a:t>
            </a:r>
            <a:r>
              <a:rPr lang="en-US" sz="2400" dirty="0" smtClean="0">
                <a:solidFill>
                  <a:srgbClr val="D60093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repeating groups</a:t>
            </a:r>
            <a:r>
              <a:rPr lang="en-US" sz="24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.</a:t>
            </a:r>
          </a:p>
          <a:p>
            <a:pPr lvl="1" eaLnBrk="1" hangingPunct="1">
              <a:lnSpc>
                <a:spcPct val="90000"/>
              </a:lnSpc>
              <a:spcBef>
                <a:spcPct val="60000"/>
              </a:spcBef>
            </a:pPr>
            <a:r>
              <a:rPr lang="en-US" sz="2400" dirty="0" smtClean="0">
                <a:solidFill>
                  <a:srgbClr val="0000CC"/>
                </a:solidFill>
                <a:latin typeface="Tahoma" pitchFamily="34" charset="0"/>
                <a:ea typeface="Tahoma" pitchFamily="34" charset="0"/>
                <a:cs typeface="Tahoma" pitchFamily="34" charset="0"/>
              </a:rPr>
              <a:t>Repeating groups can be eliminated by adding the appropriate entry in at least the primary key column(s).</a:t>
            </a:r>
            <a:r>
              <a:rPr lang="en-US" sz="2400" dirty="0" smtClean="0">
                <a:latin typeface="Tahoma" pitchFamily="34" charset="0"/>
                <a:ea typeface="Tahoma" pitchFamily="34" charset="0"/>
                <a:cs typeface="Tahoma" pitchFamily="34" charset="0"/>
              </a:rPr>
              <a:t> </a:t>
            </a:r>
          </a:p>
        </p:txBody>
      </p:sp>
      <p:pic>
        <p:nvPicPr>
          <p:cNvPr id="11267" name="Picture 4" descr="fig 05-02"/>
          <p:cNvPicPr>
            <a:picLocks noChangeAspect="1" noChangeArrowheads="1"/>
          </p:cNvPicPr>
          <p:nvPr/>
        </p:nvPicPr>
        <p:blipFill>
          <a:blip r:embed="rId3"/>
          <a:srcRect l="891" t="6061" r="1961" b="6061"/>
          <a:stretch>
            <a:fillRect/>
          </a:stretch>
        </p:blipFill>
        <p:spPr bwMode="auto">
          <a:xfrm>
            <a:off x="381000" y="4114800"/>
            <a:ext cx="8305800" cy="2209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Database Tables and Normalization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6" descr="fig05-01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33400" y="2743200"/>
            <a:ext cx="4114800" cy="3124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2" name="Picture 7" descr="fig 05-03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343400" y="1676400"/>
            <a:ext cx="4149725" cy="3359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4" name="Text Box 9"/>
          <p:cNvSpPr txBox="1">
            <a:spLocks noChangeArrowheads="1"/>
          </p:cNvSpPr>
          <p:nvPr/>
        </p:nvSpPr>
        <p:spPr bwMode="auto">
          <a:xfrm>
            <a:off x="1905000" y="5791200"/>
            <a:ext cx="1192213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CC"/>
                </a:solidFill>
                <a:latin typeface="Tahoma" pitchFamily="34" charset="0"/>
              </a:rPr>
              <a:t>Before</a:t>
            </a:r>
          </a:p>
        </p:txBody>
      </p:sp>
      <p:sp>
        <p:nvSpPr>
          <p:cNvPr id="12295" name="Text Box 10"/>
          <p:cNvSpPr txBox="1">
            <a:spLocks noChangeArrowheads="1"/>
          </p:cNvSpPr>
          <p:nvPr/>
        </p:nvSpPr>
        <p:spPr bwMode="auto">
          <a:xfrm>
            <a:off x="5943600" y="4953000"/>
            <a:ext cx="947738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CC"/>
                </a:solidFill>
                <a:latin typeface="Tahoma" pitchFamily="34" charset="0"/>
              </a:rPr>
              <a:t>After</a:t>
            </a:r>
          </a:p>
        </p:txBody>
      </p:sp>
      <p:sp>
        <p:nvSpPr>
          <p:cNvPr id="12296" name="Rectangle 11"/>
          <p:cNvSpPr>
            <a:spLocks noChangeArrowheads="1"/>
          </p:cNvSpPr>
          <p:nvPr/>
        </p:nvSpPr>
        <p:spPr bwMode="auto">
          <a:xfrm>
            <a:off x="762000" y="2667000"/>
            <a:ext cx="990600" cy="2895600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297" name="Rectangle 12"/>
          <p:cNvSpPr>
            <a:spLocks noChangeArrowheads="1"/>
          </p:cNvSpPr>
          <p:nvPr/>
        </p:nvSpPr>
        <p:spPr bwMode="auto">
          <a:xfrm>
            <a:off x="4572000" y="1752600"/>
            <a:ext cx="990600" cy="2895600"/>
          </a:xfrm>
          <a:prstGeom prst="rect">
            <a:avLst/>
          </a:prstGeom>
          <a:noFill/>
          <a:ln w="3810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Title 4"/>
          <p:cNvSpPr>
            <a:spLocks noGrp="1"/>
          </p:cNvSpPr>
          <p:nvPr>
            <p:ph type="title"/>
          </p:nvPr>
        </p:nvSpPr>
        <p:spPr>
          <a:xfrm>
            <a:off x="457200" y="457200"/>
            <a:ext cx="8229600" cy="1066800"/>
          </a:xfrm>
        </p:spPr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Data Organization:  First Normal Form</a:t>
            </a:r>
          </a:p>
        </p:txBody>
      </p:sp>
      <p:sp>
        <p:nvSpPr>
          <p:cNvPr id="12" name="Right Arrow 11"/>
          <p:cNvSpPr/>
          <p:nvPr/>
        </p:nvSpPr>
        <p:spPr>
          <a:xfrm rot="20986459">
            <a:off x="1342669" y="2095800"/>
            <a:ext cx="3034457" cy="295576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7" descr="fig 05-0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9600" y="455951"/>
            <a:ext cx="7654925" cy="6196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5032469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001000" cy="4267200"/>
          </a:xfrm>
          <a:noFill/>
        </p:spPr>
        <p:txBody>
          <a:bodyPr lIns="90488" tIns="44450" rIns="90488" bIns="44450"/>
          <a:lstStyle/>
          <a:p>
            <a:pPr eaLnBrk="1" hangingPunct="1"/>
            <a:r>
              <a:rPr lang="en-US" dirty="0" smtClean="0">
                <a:solidFill>
                  <a:srgbClr val="FF0000"/>
                </a:solidFill>
                <a:latin typeface="Tahoma" pitchFamily="34" charset="0"/>
              </a:rPr>
              <a:t>1NF Definition</a:t>
            </a:r>
          </a:p>
          <a:p>
            <a:pPr lvl="1" eaLnBrk="1" hangingPunct="1"/>
            <a:r>
              <a:rPr lang="en-US" sz="2800" dirty="0" smtClean="0">
                <a:latin typeface="Tahoma" pitchFamily="34" charset="0"/>
              </a:rPr>
              <a:t>The term first normal form (</a:t>
            </a:r>
            <a:r>
              <a:rPr lang="en-US" sz="2800" dirty="0" smtClean="0">
                <a:solidFill>
                  <a:srgbClr val="FF0000"/>
                </a:solidFill>
                <a:latin typeface="Tahoma" pitchFamily="34" charset="0"/>
              </a:rPr>
              <a:t>1NF</a:t>
            </a:r>
            <a:r>
              <a:rPr lang="en-US" sz="2800" dirty="0" smtClean="0">
                <a:latin typeface="Tahoma" pitchFamily="34" charset="0"/>
              </a:rPr>
              <a:t>) describes the tabular format in which:</a:t>
            </a:r>
          </a:p>
          <a:p>
            <a:pPr lvl="2" eaLnBrk="1" hangingPunct="1"/>
            <a:r>
              <a:rPr lang="en-US" sz="2800" dirty="0" smtClean="0">
                <a:solidFill>
                  <a:srgbClr val="0000FF"/>
                </a:solidFill>
                <a:latin typeface="Tahoma" pitchFamily="34" charset="0"/>
              </a:rPr>
              <a:t>All the key attributes are defined.</a:t>
            </a:r>
          </a:p>
          <a:p>
            <a:pPr lvl="2" eaLnBrk="1" hangingPunct="1"/>
            <a:r>
              <a:rPr lang="en-US" sz="2800" dirty="0" smtClean="0">
                <a:solidFill>
                  <a:srgbClr val="0000FF"/>
                </a:solidFill>
                <a:latin typeface="Tahoma" pitchFamily="34" charset="0"/>
              </a:rPr>
              <a:t>There are no repeating groups in the table. </a:t>
            </a:r>
          </a:p>
          <a:p>
            <a:pPr lvl="2" eaLnBrk="1" hangingPunct="1"/>
            <a:r>
              <a:rPr lang="en-US" sz="2800" dirty="0" smtClean="0">
                <a:solidFill>
                  <a:srgbClr val="0000FF"/>
                </a:solidFill>
                <a:latin typeface="Tahoma" pitchFamily="34" charset="0"/>
              </a:rPr>
              <a:t>All attributes are dependent on the primary key.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First Normal Form (1 NF)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457200" y="1524000"/>
            <a:ext cx="8001000" cy="2895600"/>
          </a:xfrm>
          <a:noFill/>
        </p:spPr>
        <p:txBody>
          <a:bodyPr lIns="90488" tIns="44450" rIns="90488" bIns="44450">
            <a:no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sz="2200" dirty="0" smtClean="0">
                <a:solidFill>
                  <a:srgbClr val="FF0000"/>
                </a:solidFill>
              </a:rPr>
              <a:t>Dependency Diagram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200" dirty="0" smtClean="0"/>
              <a:t>The primary key components are bold, underlined, and shaded in a different color.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200" dirty="0" smtClean="0"/>
              <a:t>The arrows above entities indicate all desirable dependencies, i.e., dependencies that are based on PK.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200" dirty="0" smtClean="0"/>
              <a:t>The arrows below the dependency diagram indicate less desirable dependencies -- </a:t>
            </a:r>
            <a:r>
              <a:rPr lang="en-US" sz="2200" dirty="0" smtClean="0">
                <a:solidFill>
                  <a:srgbClr val="D60093"/>
                </a:solidFill>
              </a:rPr>
              <a:t>partial dependencies </a:t>
            </a:r>
            <a:r>
              <a:rPr lang="en-US" sz="2200" dirty="0" smtClean="0">
                <a:solidFill>
                  <a:srgbClr val="0000CC"/>
                </a:solidFill>
              </a:rPr>
              <a:t>and</a:t>
            </a:r>
            <a:r>
              <a:rPr lang="en-US" sz="2200" dirty="0" smtClean="0">
                <a:solidFill>
                  <a:srgbClr val="D60093"/>
                </a:solidFill>
              </a:rPr>
              <a:t> transitive dependencies</a:t>
            </a:r>
            <a:r>
              <a:rPr lang="en-US" sz="2200" dirty="0" smtClean="0"/>
              <a:t>.</a:t>
            </a:r>
          </a:p>
        </p:txBody>
      </p:sp>
      <p:pic>
        <p:nvPicPr>
          <p:cNvPr id="14339" name="Picture 4" descr="fig 05-0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9600" y="4343400"/>
            <a:ext cx="7696200" cy="2182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Dependency Diagram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title"/>
          </p:nvPr>
        </p:nvSpPr>
        <p:spPr>
          <a:xfrm>
            <a:off x="612648" y="116632"/>
            <a:ext cx="8153400" cy="990600"/>
          </a:xfrm>
          <a:noFill/>
          <a:ln/>
        </p:spPr>
        <p:txBody>
          <a:bodyPr lIns="90488" tIns="44450" rIns="90488" bIns="44450" anchor="b">
            <a:normAutofit/>
          </a:bodyPr>
          <a:lstStyle/>
          <a:p>
            <a:r>
              <a:rPr lang="en-US" dirty="0">
                <a:cs typeface="Times New Roman" pitchFamily="18" charset="0"/>
              </a:rPr>
              <a:t>Functional Dependencies</a:t>
            </a:r>
            <a:endParaRPr lang="en-GB" dirty="0"/>
          </a:p>
        </p:txBody>
      </p:sp>
      <p:sp>
        <p:nvSpPr>
          <p:cNvPr id="7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DCBC4E7C-8F0A-4D13-A818-9470306A20A3}" type="slidenum">
              <a:rPr lang="en-US"/>
              <a:pPr/>
              <a:t>16</a:t>
            </a:fld>
            <a:endParaRPr lang="en-US"/>
          </a:p>
        </p:txBody>
      </p:sp>
      <p:sp>
        <p:nvSpPr>
          <p:cNvPr id="36864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381000" y="1524000"/>
            <a:ext cx="8229600" cy="4648200"/>
          </a:xfrm>
          <a:noFill/>
          <a:ln/>
        </p:spPr>
        <p:txBody>
          <a:bodyPr lIns="90488" tIns="44450" rIns="90488" bIns="44450">
            <a:normAutofit/>
          </a:bodyPr>
          <a:lstStyle/>
          <a:p>
            <a:r>
              <a:rPr lang="en-US" sz="2400" b="1" i="1" dirty="0">
                <a:solidFill>
                  <a:srgbClr val="0066FF"/>
                </a:solidFill>
              </a:rPr>
              <a:t>Partial</a:t>
            </a:r>
            <a:r>
              <a:rPr lang="en-US" sz="2400" b="1" i="1" dirty="0"/>
              <a:t> </a:t>
            </a:r>
            <a:r>
              <a:rPr lang="en-US" sz="2400" b="1" i="1" dirty="0">
                <a:solidFill>
                  <a:srgbClr val="0066FF"/>
                </a:solidFill>
              </a:rPr>
              <a:t>Dependency</a:t>
            </a:r>
            <a:r>
              <a:rPr lang="en-US" sz="2400" dirty="0"/>
              <a:t> – when an </a:t>
            </a:r>
            <a:r>
              <a:rPr lang="en-US" sz="2400" b="1" dirty="0">
                <a:solidFill>
                  <a:srgbClr val="7030A0"/>
                </a:solidFill>
              </a:rPr>
              <a:t>non-key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00B050"/>
                </a:solidFill>
              </a:rPr>
              <a:t>attribute</a:t>
            </a:r>
            <a:r>
              <a:rPr lang="en-US" sz="2400" b="1" dirty="0"/>
              <a:t> </a:t>
            </a:r>
            <a:r>
              <a:rPr lang="en-US" sz="2400" dirty="0"/>
              <a:t>is determined by a part, but not the whole, of a </a:t>
            </a:r>
            <a:r>
              <a:rPr lang="en-US" sz="2400" b="1" dirty="0"/>
              <a:t>COMPOSITE</a:t>
            </a:r>
            <a:r>
              <a:rPr lang="en-US" sz="2400" dirty="0"/>
              <a:t> primary </a:t>
            </a:r>
            <a:r>
              <a:rPr lang="en-US" sz="2400" dirty="0" smtClean="0"/>
              <a:t>key (The Primary Key must be a Composite Key).</a:t>
            </a:r>
            <a:endParaRPr lang="en-US" sz="2400" dirty="0"/>
          </a:p>
          <a:p>
            <a:pPr algn="just"/>
            <a:endParaRPr lang="en-GB" sz="24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600" y="2924944"/>
            <a:ext cx="4724010" cy="30843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35127" y="4797152"/>
            <a:ext cx="352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 smtClean="0">
                <a:solidFill>
                  <a:schemeClr val="tx1"/>
                </a:solidFill>
              </a:rPr>
              <a:t>Cust_ID</a:t>
            </a:r>
            <a:r>
              <a:rPr lang="en-US" dirty="0" smtClean="0">
                <a:solidFill>
                  <a:schemeClr val="tx1"/>
                </a:solidFill>
              </a:rPr>
              <a:t> → Name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171668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title"/>
          </p:nvPr>
        </p:nvSpPr>
        <p:spPr>
          <a:xfrm>
            <a:off x="612648" y="116632"/>
            <a:ext cx="8153400" cy="990600"/>
          </a:xfrm>
          <a:noFill/>
          <a:ln/>
        </p:spPr>
        <p:txBody>
          <a:bodyPr lIns="90488" tIns="44450" rIns="90488" bIns="44450" anchor="b">
            <a:normAutofit/>
          </a:bodyPr>
          <a:lstStyle/>
          <a:p>
            <a:r>
              <a:rPr lang="en-US" dirty="0">
                <a:cs typeface="Times New Roman" pitchFamily="18" charset="0"/>
              </a:rPr>
              <a:t>Functional Dependencies</a:t>
            </a:r>
            <a:endParaRPr lang="en-GB" dirty="0"/>
          </a:p>
        </p:txBody>
      </p:sp>
      <p:sp>
        <p:nvSpPr>
          <p:cNvPr id="7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DCBC4E7C-8F0A-4D13-A818-9470306A20A3}" type="slidenum">
              <a:rPr lang="en-US"/>
              <a:pPr/>
              <a:t>17</a:t>
            </a:fld>
            <a:endParaRPr lang="en-US"/>
          </a:p>
        </p:txBody>
      </p:sp>
      <p:sp>
        <p:nvSpPr>
          <p:cNvPr id="368643" name="Rectangle 3"/>
          <p:cNvSpPr>
            <a:spLocks noGrp="1" noChangeArrowheads="1"/>
          </p:cNvSpPr>
          <p:nvPr>
            <p:ph sz="quarter" idx="1"/>
          </p:nvPr>
        </p:nvSpPr>
        <p:spPr>
          <a:xfrm>
            <a:off x="381000" y="1524000"/>
            <a:ext cx="8229600" cy="5334000"/>
          </a:xfrm>
          <a:noFill/>
          <a:ln/>
        </p:spPr>
        <p:txBody>
          <a:bodyPr lIns="90488" tIns="44450" rIns="90488" bIns="44450">
            <a:normAutofit/>
          </a:bodyPr>
          <a:lstStyle/>
          <a:p>
            <a:r>
              <a:rPr lang="en-US" sz="2400" b="1" i="1" dirty="0">
                <a:solidFill>
                  <a:srgbClr val="0066FF"/>
                </a:solidFill>
              </a:rPr>
              <a:t>Transitive</a:t>
            </a:r>
            <a:r>
              <a:rPr lang="en-US" sz="2400" b="1" i="1" dirty="0"/>
              <a:t> </a:t>
            </a:r>
            <a:r>
              <a:rPr lang="en-US" sz="2400" b="1" i="1" dirty="0">
                <a:solidFill>
                  <a:srgbClr val="0066FF"/>
                </a:solidFill>
              </a:rPr>
              <a:t>Dependency</a:t>
            </a:r>
            <a:r>
              <a:rPr lang="en-US" sz="2400" dirty="0"/>
              <a:t> – when a non-key attribute determines another non-key attribute.</a:t>
            </a:r>
          </a:p>
          <a:p>
            <a:pPr marL="0" indent="0" algn="just">
              <a:buNone/>
            </a:pPr>
            <a:endParaRPr lang="en-GB" sz="2400" b="1" dirty="0"/>
          </a:p>
        </p:txBody>
      </p:sp>
      <p:sp>
        <p:nvSpPr>
          <p:cNvPr id="6" name="TextBox 5"/>
          <p:cNvSpPr txBox="1"/>
          <p:nvPr/>
        </p:nvSpPr>
        <p:spPr>
          <a:xfrm>
            <a:off x="1979712" y="5795972"/>
            <a:ext cx="460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 err="1" smtClean="0">
                <a:solidFill>
                  <a:schemeClr val="tx1"/>
                </a:solidFill>
              </a:rPr>
              <a:t>Dept_ID</a:t>
            </a:r>
            <a:r>
              <a:rPr lang="en-US" dirty="0" smtClean="0">
                <a:solidFill>
                  <a:schemeClr val="tx1"/>
                </a:solidFill>
              </a:rPr>
              <a:t> → </a:t>
            </a:r>
            <a:r>
              <a:rPr lang="en-US" dirty="0" err="1" smtClean="0">
                <a:solidFill>
                  <a:schemeClr val="tx1"/>
                </a:solidFill>
              </a:rPr>
              <a:t>Dept_Name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35" y="2581479"/>
            <a:ext cx="7540129" cy="2791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2860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 lIns="90488" tIns="44450" rIns="90488" bIns="44450"/>
          <a:lstStyle/>
          <a:p>
            <a:pPr eaLnBrk="1" hangingPunct="1"/>
            <a:r>
              <a:rPr lang="en-US" sz="2400" dirty="0" smtClean="0">
                <a:solidFill>
                  <a:srgbClr val="0000FF"/>
                </a:solidFill>
                <a:latin typeface="Tahoma" pitchFamily="34" charset="0"/>
              </a:rPr>
              <a:t>Conversion to Second Normal Form</a:t>
            </a:r>
          </a:p>
          <a:p>
            <a:pPr lvl="1" eaLnBrk="1" hangingPunct="1"/>
            <a:r>
              <a:rPr lang="en-US" sz="2400" dirty="0" smtClean="0">
                <a:latin typeface="Tahoma" pitchFamily="34" charset="0"/>
              </a:rPr>
              <a:t>Starting with the 1NF format, the database can be converted into the 2NF format by</a:t>
            </a:r>
          </a:p>
          <a:p>
            <a:pPr lvl="2" eaLnBrk="1" hangingPunct="1"/>
            <a:r>
              <a:rPr lang="en-US" dirty="0" smtClean="0">
                <a:latin typeface="Tahoma" pitchFamily="34" charset="0"/>
              </a:rPr>
              <a:t>Writing each key component on a separate line, and then writing the original key on the last line and</a:t>
            </a:r>
          </a:p>
          <a:p>
            <a:pPr lvl="2" eaLnBrk="1" hangingPunct="1"/>
            <a:r>
              <a:rPr lang="en-US" dirty="0" smtClean="0">
                <a:latin typeface="Tahoma" pitchFamily="34" charset="0"/>
              </a:rPr>
              <a:t>Writing the dependent attributes after each new key.</a:t>
            </a:r>
          </a:p>
          <a:p>
            <a:pPr lvl="2" eaLnBrk="1" hangingPunct="1">
              <a:buFont typeface="Wingdings" pitchFamily="2" charset="2"/>
              <a:buNone/>
            </a:pPr>
            <a:endParaRPr lang="en-US" dirty="0" smtClean="0">
              <a:latin typeface="Tahoma" pitchFamily="34" charset="0"/>
            </a:endParaRPr>
          </a:p>
          <a:p>
            <a:pPr lvl="2" eaLnBrk="1" hangingPunct="1">
              <a:buFont typeface="Wingdings" pitchFamily="2" charset="2"/>
              <a:buNone/>
            </a:pPr>
            <a:r>
              <a:rPr lang="en-US" sz="2000" dirty="0" smtClean="0">
                <a:latin typeface="Tahoma" pitchFamily="34" charset="0"/>
              </a:rPr>
              <a:t>PROJECT (</a:t>
            </a:r>
            <a:r>
              <a:rPr lang="en-US" sz="2000" u="sng" dirty="0" smtClean="0">
                <a:solidFill>
                  <a:srgbClr val="FF0000"/>
                </a:solidFill>
                <a:latin typeface="Tahoma" pitchFamily="34" charset="0"/>
              </a:rPr>
              <a:t>PROJ_NUM</a:t>
            </a:r>
            <a:r>
              <a:rPr lang="en-US" sz="2000" u="sng" dirty="0" smtClean="0">
                <a:solidFill>
                  <a:srgbClr val="0000FF"/>
                </a:solidFill>
                <a:latin typeface="Tahoma" pitchFamily="34" charset="0"/>
              </a:rPr>
              <a:t>,</a:t>
            </a:r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</a:rPr>
              <a:t> PROJ_NAME</a:t>
            </a:r>
            <a:r>
              <a:rPr lang="en-US" sz="2000" dirty="0" smtClean="0">
                <a:latin typeface="Tahoma" pitchFamily="34" charset="0"/>
              </a:rPr>
              <a:t>)</a:t>
            </a:r>
          </a:p>
          <a:p>
            <a:pPr lvl="2" eaLnBrk="1" hangingPunct="1">
              <a:buFont typeface="Wingdings" pitchFamily="2" charset="2"/>
              <a:buNone/>
            </a:pPr>
            <a:r>
              <a:rPr lang="en-US" sz="2000" dirty="0" smtClean="0">
                <a:latin typeface="Tahoma" pitchFamily="34" charset="0"/>
              </a:rPr>
              <a:t>EMPLOYEE (</a:t>
            </a:r>
            <a:r>
              <a:rPr lang="en-US" sz="2000" u="sng" dirty="0" smtClean="0">
                <a:solidFill>
                  <a:srgbClr val="FF0000"/>
                </a:solidFill>
                <a:latin typeface="Tahoma" pitchFamily="34" charset="0"/>
              </a:rPr>
              <a:t>EMP_NUM</a:t>
            </a:r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</a:rPr>
              <a:t>, EMP_NAME, JOB_CLASS, CHG_HOUR</a:t>
            </a:r>
            <a:r>
              <a:rPr lang="en-US" sz="2000" dirty="0" smtClean="0">
                <a:latin typeface="Tahoma" pitchFamily="34" charset="0"/>
              </a:rPr>
              <a:t>)</a:t>
            </a:r>
          </a:p>
          <a:p>
            <a:pPr lvl="2" eaLnBrk="1" hangingPunct="1">
              <a:buFont typeface="Wingdings" pitchFamily="2" charset="2"/>
              <a:buNone/>
            </a:pPr>
            <a:r>
              <a:rPr lang="en-US" sz="2000" dirty="0" smtClean="0">
                <a:latin typeface="Tahoma" pitchFamily="34" charset="0"/>
              </a:rPr>
              <a:t>ASSIGN (</a:t>
            </a:r>
            <a:r>
              <a:rPr lang="en-US" sz="2000" u="sng" dirty="0" smtClean="0">
                <a:solidFill>
                  <a:srgbClr val="FF0000"/>
                </a:solidFill>
                <a:latin typeface="Tahoma" pitchFamily="34" charset="0"/>
              </a:rPr>
              <a:t>PROJ_NUM</a:t>
            </a:r>
            <a:r>
              <a:rPr lang="en-US" sz="2000" u="sng" dirty="0" smtClean="0">
                <a:solidFill>
                  <a:srgbClr val="0000FF"/>
                </a:solidFill>
                <a:latin typeface="Tahoma" pitchFamily="34" charset="0"/>
              </a:rPr>
              <a:t>,</a:t>
            </a:r>
            <a:r>
              <a:rPr lang="en-US" sz="2000" u="sng" dirty="0" smtClean="0">
                <a:solidFill>
                  <a:srgbClr val="FF0000"/>
                </a:solidFill>
                <a:latin typeface="Tahoma" pitchFamily="34" charset="0"/>
              </a:rPr>
              <a:t> EMP_NUM</a:t>
            </a:r>
            <a:r>
              <a:rPr lang="en-US" sz="2000" dirty="0" smtClean="0">
                <a:solidFill>
                  <a:srgbClr val="0000FF"/>
                </a:solidFill>
                <a:latin typeface="Tahoma" pitchFamily="34" charset="0"/>
              </a:rPr>
              <a:t>, HOURS</a:t>
            </a:r>
            <a:r>
              <a:rPr lang="en-US" sz="2000" dirty="0" smtClean="0">
                <a:latin typeface="Tahoma" pitchFamily="34" charset="0"/>
              </a:rPr>
              <a:t>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chemeClr val="tx1"/>
                </a:solidFill>
              </a:rPr>
              <a:t>Second Normal Form (2 NF)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3" descr="fig 05-05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3400" y="1524000"/>
            <a:ext cx="8134276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le 3"/>
          <p:cNvSpPr txBox="1">
            <a:spLocks/>
          </p:cNvSpPr>
          <p:nvPr/>
        </p:nvSpPr>
        <p:spPr>
          <a:xfrm>
            <a:off x="457200" y="457200"/>
            <a:ext cx="8229600" cy="10668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Dependency Diagram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457200" y="1828800"/>
            <a:ext cx="8229600" cy="4419600"/>
          </a:xfrm>
          <a:noFill/>
        </p:spPr>
        <p:txBody>
          <a:bodyPr lIns="90488" tIns="44450" rIns="90488" bIns="44450">
            <a:noAutofit/>
          </a:bodyPr>
          <a:lstStyle/>
          <a:p>
            <a:pPr eaLnBrk="1" hangingPunct="1">
              <a:buFont typeface="Wingdings" pitchFamily="2" charset="2"/>
              <a:buNone/>
            </a:pPr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A table is in 2NF if:</a:t>
            </a:r>
          </a:p>
          <a:p>
            <a:pPr eaLnBrk="1" hangingPunct="1">
              <a:spcBef>
                <a:spcPct val="60000"/>
              </a:spcBef>
            </a:pPr>
            <a:r>
              <a:rPr lang="en-US" sz="2400" dirty="0" smtClean="0">
                <a:latin typeface="Tahoma" pitchFamily="34" charset="0"/>
              </a:rPr>
              <a:t>It is in 1NF and</a:t>
            </a:r>
          </a:p>
          <a:p>
            <a:pPr eaLnBrk="1" hangingPunct="1">
              <a:spcBef>
                <a:spcPct val="60000"/>
              </a:spcBef>
            </a:pPr>
            <a:r>
              <a:rPr lang="en-US" sz="2400" dirty="0" smtClean="0">
                <a:latin typeface="Tahoma" pitchFamily="34" charset="0"/>
              </a:rPr>
              <a:t>It includes no partial dependencies; that is, no attribute is dependent on only a portion of the primary key.</a:t>
            </a:r>
          </a:p>
          <a:p>
            <a:pPr eaLnBrk="1" hangingPunct="1">
              <a:spcBef>
                <a:spcPct val="60000"/>
              </a:spcBef>
              <a:buFont typeface="Wingdings" pitchFamily="2" charset="2"/>
              <a:buNone/>
            </a:pPr>
            <a:r>
              <a:rPr lang="en-US" sz="2400" dirty="0" smtClean="0">
                <a:latin typeface="Tahoma" pitchFamily="34" charset="0"/>
              </a:rPr>
              <a:t>	(It is still possible for a table in 2NF to exhibit </a:t>
            </a:r>
            <a:r>
              <a:rPr lang="en-US" sz="2400" dirty="0" smtClean="0">
                <a:solidFill>
                  <a:srgbClr val="D60093"/>
                </a:solidFill>
                <a:latin typeface="Tahoma" pitchFamily="34" charset="0"/>
              </a:rPr>
              <a:t>transitive dependency</a:t>
            </a:r>
            <a:r>
              <a:rPr lang="en-US" sz="2400" dirty="0" smtClean="0">
                <a:latin typeface="Tahoma" pitchFamily="34" charset="0"/>
              </a:rPr>
              <a:t>; that is, one or more attributes may be functionally dependent on </a:t>
            </a:r>
            <a:r>
              <a:rPr lang="en-US" sz="2400" dirty="0" err="1" smtClean="0">
                <a:latin typeface="Tahoma" pitchFamily="34" charset="0"/>
              </a:rPr>
              <a:t>nonkey</a:t>
            </a:r>
            <a:r>
              <a:rPr lang="en-US" sz="2400" dirty="0" smtClean="0">
                <a:latin typeface="Tahoma" pitchFamily="34" charset="0"/>
              </a:rPr>
              <a:t> attributes.)</a:t>
            </a:r>
          </a:p>
        </p:txBody>
      </p:sp>
      <p:sp>
        <p:nvSpPr>
          <p:cNvPr id="4" name="Title 3"/>
          <p:cNvSpPr txBox="1">
            <a:spLocks/>
          </p:cNvSpPr>
          <p:nvPr/>
        </p:nvSpPr>
        <p:spPr bwMode="auto">
          <a:xfrm>
            <a:off x="457200" y="4572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Second Normal Form (2 NF)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3400" y="1676400"/>
            <a:ext cx="8001000" cy="4267200"/>
          </a:xfrm>
          <a:noFill/>
        </p:spPr>
        <p:txBody>
          <a:bodyPr lIns="90488" tIns="44450" rIns="90488" bIns="44450">
            <a:normAutofit/>
          </a:bodyPr>
          <a:lstStyle/>
          <a:p>
            <a:pPr eaLnBrk="1" hangingPunct="1"/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Conversion to Third Normal Form</a:t>
            </a:r>
          </a:p>
          <a:p>
            <a:pPr lvl="1" eaLnBrk="1" hangingPunct="1"/>
            <a:r>
              <a:rPr lang="en-US" sz="2800" dirty="0" smtClean="0">
                <a:latin typeface="Tahoma" pitchFamily="34" charset="0"/>
              </a:rPr>
              <a:t>Create a separate table with attributes in a transitive functional dependence relationship.</a:t>
            </a:r>
          </a:p>
          <a:p>
            <a:pPr lvl="1" eaLnBrk="1" hangingPunct="1">
              <a:buFontTx/>
              <a:buNone/>
            </a:pPr>
            <a:endParaRPr lang="en-US" sz="2400" dirty="0" smtClean="0">
              <a:latin typeface="Tahoma" pitchFamily="34" charset="0"/>
            </a:endParaRPr>
          </a:p>
          <a:p>
            <a:pPr lvl="2" eaLnBrk="1" hangingPunct="1">
              <a:buFont typeface="Wingdings" pitchFamily="2" charset="2"/>
              <a:buNone/>
            </a:pPr>
            <a:r>
              <a:rPr lang="en-US" dirty="0" smtClean="0">
                <a:latin typeface="Tahoma" pitchFamily="34" charset="0"/>
              </a:rPr>
              <a:t>PROJECT (</a:t>
            </a:r>
            <a:r>
              <a:rPr lang="en-US" u="sng" dirty="0" smtClean="0">
                <a:solidFill>
                  <a:srgbClr val="CC0000"/>
                </a:solidFill>
                <a:latin typeface="Tahoma" pitchFamily="34" charset="0"/>
              </a:rPr>
              <a:t>PROJ_NUM,</a:t>
            </a:r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 PROJ_NAME</a:t>
            </a:r>
            <a:r>
              <a:rPr lang="en-US" dirty="0" smtClean="0">
                <a:latin typeface="Tahoma" pitchFamily="34" charset="0"/>
              </a:rPr>
              <a:t>)</a:t>
            </a:r>
          </a:p>
          <a:p>
            <a:pPr lvl="2" eaLnBrk="1" hangingPunct="1">
              <a:buFont typeface="Wingdings" pitchFamily="2" charset="2"/>
              <a:buNone/>
            </a:pPr>
            <a:r>
              <a:rPr lang="en-US" dirty="0" smtClean="0">
                <a:latin typeface="Tahoma" pitchFamily="34" charset="0"/>
              </a:rPr>
              <a:t>ASSIGN (</a:t>
            </a:r>
            <a:r>
              <a:rPr lang="en-US" u="sng" dirty="0" smtClean="0">
                <a:solidFill>
                  <a:srgbClr val="CC0000"/>
                </a:solidFill>
                <a:latin typeface="Tahoma" pitchFamily="34" charset="0"/>
              </a:rPr>
              <a:t>PROJ_NUM, EMP_NUM</a:t>
            </a:r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, HOURS</a:t>
            </a:r>
            <a:r>
              <a:rPr lang="en-US" dirty="0" smtClean="0">
                <a:latin typeface="Tahoma" pitchFamily="34" charset="0"/>
              </a:rPr>
              <a:t>)</a:t>
            </a:r>
          </a:p>
          <a:p>
            <a:pPr lvl="2" eaLnBrk="1" hangingPunct="1">
              <a:buFont typeface="Wingdings" pitchFamily="2" charset="2"/>
              <a:buNone/>
            </a:pPr>
            <a:r>
              <a:rPr lang="en-US" dirty="0" smtClean="0">
                <a:latin typeface="Tahoma" pitchFamily="34" charset="0"/>
              </a:rPr>
              <a:t>EMPLOYEE (</a:t>
            </a:r>
            <a:r>
              <a:rPr lang="en-US" u="sng" dirty="0" smtClean="0">
                <a:solidFill>
                  <a:srgbClr val="CC0000"/>
                </a:solidFill>
                <a:latin typeface="Tahoma" pitchFamily="34" charset="0"/>
              </a:rPr>
              <a:t>EMP_NUM</a:t>
            </a:r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, EMP_NAME, JOB_CLASS</a:t>
            </a:r>
            <a:r>
              <a:rPr lang="en-US" dirty="0" smtClean="0">
                <a:latin typeface="Tahoma" pitchFamily="34" charset="0"/>
              </a:rPr>
              <a:t>)</a:t>
            </a:r>
          </a:p>
          <a:p>
            <a:pPr lvl="2" eaLnBrk="1" hangingPunct="1">
              <a:buFont typeface="Wingdings" pitchFamily="2" charset="2"/>
              <a:buNone/>
            </a:pPr>
            <a:r>
              <a:rPr lang="en-US" dirty="0" smtClean="0">
                <a:latin typeface="Tahoma" pitchFamily="34" charset="0"/>
              </a:rPr>
              <a:t>JOB (</a:t>
            </a:r>
            <a:r>
              <a:rPr lang="en-US" u="sng" dirty="0" smtClean="0">
                <a:solidFill>
                  <a:srgbClr val="CC0000"/>
                </a:solidFill>
                <a:latin typeface="Tahoma" pitchFamily="34" charset="0"/>
              </a:rPr>
              <a:t>JOB_CLASS</a:t>
            </a:r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, CHG_HOUR</a:t>
            </a:r>
            <a:r>
              <a:rPr lang="en-US" dirty="0" smtClean="0">
                <a:latin typeface="Tahoma" pitchFamily="34" charset="0"/>
              </a:rPr>
              <a:t>)</a:t>
            </a:r>
          </a:p>
          <a:p>
            <a:pPr eaLnBrk="1" hangingPunct="1">
              <a:buFont typeface="Wingdings" pitchFamily="2" charset="2"/>
              <a:buNone/>
            </a:pPr>
            <a:endParaRPr lang="en-US" sz="2000" dirty="0" smtClean="0">
              <a:latin typeface="Tahoma" pitchFamily="34" charset="0"/>
            </a:endParaRPr>
          </a:p>
        </p:txBody>
      </p:sp>
      <p:sp>
        <p:nvSpPr>
          <p:cNvPr id="4" name="Title 3"/>
          <p:cNvSpPr txBox="1">
            <a:spLocks/>
          </p:cNvSpPr>
          <p:nvPr/>
        </p:nvSpPr>
        <p:spPr bwMode="auto">
          <a:xfrm>
            <a:off x="457200" y="4572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Third Normal Form (3 NF)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457200" y="1676400"/>
            <a:ext cx="8229600" cy="3352800"/>
          </a:xfrm>
          <a:noFill/>
        </p:spPr>
        <p:txBody>
          <a:bodyPr lIns="90488" tIns="44450" rIns="90488" bIns="44450"/>
          <a:lstStyle/>
          <a:p>
            <a:pPr eaLnBrk="1" hangingPunct="1"/>
            <a:r>
              <a:rPr lang="en-US" dirty="0" smtClean="0">
                <a:solidFill>
                  <a:srgbClr val="CC0000"/>
                </a:solidFill>
                <a:latin typeface="Tahoma" pitchFamily="34" charset="0"/>
              </a:rPr>
              <a:t>3NF Definition</a:t>
            </a:r>
          </a:p>
          <a:p>
            <a:pPr lvl="1" eaLnBrk="1" hangingPunct="1"/>
            <a:r>
              <a:rPr lang="en-US" sz="2400" dirty="0" smtClean="0">
                <a:latin typeface="Tahoma" pitchFamily="34" charset="0"/>
              </a:rPr>
              <a:t>A table is in 3NF if:</a:t>
            </a:r>
          </a:p>
          <a:p>
            <a:pPr lvl="2" eaLnBrk="1" hangingPunct="1"/>
            <a:r>
              <a:rPr lang="en-US" dirty="0" smtClean="0">
                <a:solidFill>
                  <a:srgbClr val="0000CC"/>
                </a:solidFill>
                <a:latin typeface="Tahoma" pitchFamily="34" charset="0"/>
              </a:rPr>
              <a:t>It is in 2NF and</a:t>
            </a:r>
          </a:p>
          <a:p>
            <a:pPr lvl="2" eaLnBrk="1" hangingPunct="1"/>
            <a:r>
              <a:rPr lang="en-US" dirty="0" smtClean="0">
                <a:solidFill>
                  <a:srgbClr val="0000CC"/>
                </a:solidFill>
                <a:latin typeface="Tahoma" pitchFamily="34" charset="0"/>
              </a:rPr>
              <a:t>It contains no transitive dependencies.</a:t>
            </a:r>
          </a:p>
        </p:txBody>
      </p:sp>
      <p:sp>
        <p:nvSpPr>
          <p:cNvPr id="4" name="Title 3"/>
          <p:cNvSpPr txBox="1">
            <a:spLocks/>
          </p:cNvSpPr>
          <p:nvPr/>
        </p:nvSpPr>
        <p:spPr bwMode="auto">
          <a:xfrm>
            <a:off x="457200" y="457200"/>
            <a:ext cx="822960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Third Normal Form (3 NF)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 txBox="1">
            <a:spLocks/>
          </p:cNvSpPr>
          <p:nvPr/>
        </p:nvSpPr>
        <p:spPr>
          <a:xfrm>
            <a:off x="457200" y="457200"/>
            <a:ext cx="8229600" cy="1066800"/>
          </a:xfrm>
          <a:prstGeom prst="rect">
            <a:avLst/>
          </a:prstGeom>
        </p:spPr>
        <p:txBody>
          <a:bodyPr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The Completed Database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47800" y="1447800"/>
            <a:ext cx="6424863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 t="54299"/>
          <a:stretch>
            <a:fillRect/>
          </a:stretch>
        </p:blipFill>
        <p:spPr bwMode="auto">
          <a:xfrm>
            <a:off x="4495800" y="3562350"/>
            <a:ext cx="4381500" cy="1924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04800" y="3505200"/>
            <a:ext cx="4057650" cy="2324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800" kern="1200" dirty="0" smtClean="0">
                <a:solidFill>
                  <a:schemeClr val="tx1"/>
                </a:solidFill>
              </a:rPr>
              <a:t>Exercise 1</a:t>
            </a:r>
            <a:endParaRPr lang="th-TH" sz="4800" kern="1200" dirty="0">
              <a:solidFill>
                <a:schemeClr val="tx1"/>
              </a:solidFill>
              <a:cs typeface="AngsanaUPC" pitchFamily="18" charset="-34"/>
            </a:endParaRPr>
          </a:p>
        </p:txBody>
      </p:sp>
      <p:sp>
        <p:nvSpPr>
          <p:cNvPr id="36867" name="Text Box 4"/>
          <p:cNvSpPr txBox="1">
            <a:spLocks noChangeArrowheads="1"/>
          </p:cNvSpPr>
          <p:nvPr/>
        </p:nvSpPr>
        <p:spPr bwMode="auto">
          <a:xfrm>
            <a:off x="8382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u="sng">
                <a:ea typeface="GungsuhChe" pitchFamily="49" charset="-127"/>
              </a:rPr>
              <a:t>A</a:t>
            </a:r>
            <a:endParaRPr lang="th-TH" u="sng">
              <a:ea typeface="GungsuhChe" pitchFamily="49" charset="-127"/>
            </a:endParaRPr>
          </a:p>
        </p:txBody>
      </p:sp>
      <p:sp>
        <p:nvSpPr>
          <p:cNvPr id="36868" name="Text Box 6"/>
          <p:cNvSpPr txBox="1">
            <a:spLocks noChangeArrowheads="1"/>
          </p:cNvSpPr>
          <p:nvPr/>
        </p:nvSpPr>
        <p:spPr bwMode="auto">
          <a:xfrm>
            <a:off x="19050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u="sng">
                <a:ea typeface="GungsuhChe" pitchFamily="49" charset="-127"/>
              </a:rPr>
              <a:t>B</a:t>
            </a:r>
            <a:endParaRPr lang="th-TH" u="sng">
              <a:ea typeface="GungsuhChe" pitchFamily="49" charset="-127"/>
            </a:endParaRPr>
          </a:p>
        </p:txBody>
      </p:sp>
      <p:sp>
        <p:nvSpPr>
          <p:cNvPr id="36869" name="Text Box 7"/>
          <p:cNvSpPr txBox="1">
            <a:spLocks noChangeArrowheads="1"/>
          </p:cNvSpPr>
          <p:nvPr/>
        </p:nvSpPr>
        <p:spPr bwMode="auto">
          <a:xfrm>
            <a:off x="29718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ea typeface="GungsuhChe" pitchFamily="49" charset="-127"/>
              </a:rPr>
              <a:t>C</a:t>
            </a:r>
            <a:endParaRPr lang="th-TH">
              <a:ea typeface="GungsuhChe" pitchFamily="49" charset="-127"/>
            </a:endParaRPr>
          </a:p>
        </p:txBody>
      </p:sp>
      <p:sp>
        <p:nvSpPr>
          <p:cNvPr id="36870" name="Text Box 8"/>
          <p:cNvSpPr txBox="1">
            <a:spLocks noChangeArrowheads="1"/>
          </p:cNvSpPr>
          <p:nvPr/>
        </p:nvSpPr>
        <p:spPr bwMode="auto">
          <a:xfrm>
            <a:off x="40386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ea typeface="GungsuhChe" pitchFamily="49" charset="-127"/>
              </a:rPr>
              <a:t>D</a:t>
            </a:r>
            <a:endParaRPr lang="th-TH">
              <a:ea typeface="GungsuhChe" pitchFamily="49" charset="-127"/>
            </a:endParaRPr>
          </a:p>
        </p:txBody>
      </p:sp>
      <p:sp>
        <p:nvSpPr>
          <p:cNvPr id="36871" name="Text Box 9"/>
          <p:cNvSpPr txBox="1">
            <a:spLocks noChangeArrowheads="1"/>
          </p:cNvSpPr>
          <p:nvPr/>
        </p:nvSpPr>
        <p:spPr bwMode="auto">
          <a:xfrm>
            <a:off x="51054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ea typeface="GungsuhChe" pitchFamily="49" charset="-127"/>
              </a:rPr>
              <a:t>E</a:t>
            </a:r>
            <a:endParaRPr lang="th-TH">
              <a:ea typeface="GungsuhChe" pitchFamily="49" charset="-127"/>
            </a:endParaRPr>
          </a:p>
        </p:txBody>
      </p:sp>
      <p:sp>
        <p:nvSpPr>
          <p:cNvPr id="36872" name="Text Box 10"/>
          <p:cNvSpPr txBox="1">
            <a:spLocks noChangeArrowheads="1"/>
          </p:cNvSpPr>
          <p:nvPr/>
        </p:nvSpPr>
        <p:spPr bwMode="auto">
          <a:xfrm>
            <a:off x="61722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ea typeface="GungsuhChe" pitchFamily="49" charset="-127"/>
              </a:rPr>
              <a:t>F</a:t>
            </a:r>
            <a:endParaRPr lang="th-TH">
              <a:ea typeface="GungsuhChe" pitchFamily="49" charset="-127"/>
            </a:endParaRPr>
          </a:p>
        </p:txBody>
      </p:sp>
      <p:sp>
        <p:nvSpPr>
          <p:cNvPr id="36873" name="Text Box 11"/>
          <p:cNvSpPr txBox="1">
            <a:spLocks noChangeArrowheads="1"/>
          </p:cNvSpPr>
          <p:nvPr/>
        </p:nvSpPr>
        <p:spPr bwMode="auto">
          <a:xfrm>
            <a:off x="7239000" y="2943225"/>
            <a:ext cx="1066800" cy="714375"/>
          </a:xfrm>
          <a:prstGeom prst="rect">
            <a:avLst/>
          </a:prstGeom>
          <a:noFill/>
          <a:ln w="12700" cap="sq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>
                <a:ea typeface="GungsuhChe" pitchFamily="49" charset="-127"/>
              </a:rPr>
              <a:t>G</a:t>
            </a:r>
            <a:endParaRPr lang="th-TH">
              <a:ea typeface="GungsuhChe" pitchFamily="49" charset="-127"/>
            </a:endParaRPr>
          </a:p>
        </p:txBody>
      </p:sp>
      <p:sp>
        <p:nvSpPr>
          <p:cNvPr id="36874" name="Line 12"/>
          <p:cNvSpPr>
            <a:spLocks noChangeShapeType="1"/>
          </p:cNvSpPr>
          <p:nvPr/>
        </p:nvSpPr>
        <p:spPr bwMode="auto">
          <a:xfrm flipV="1">
            <a:off x="1371600" y="2286000"/>
            <a:ext cx="0" cy="6096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75" name="Line 13"/>
          <p:cNvSpPr>
            <a:spLocks noChangeShapeType="1"/>
          </p:cNvSpPr>
          <p:nvPr/>
        </p:nvSpPr>
        <p:spPr bwMode="auto">
          <a:xfrm>
            <a:off x="1371600" y="2286000"/>
            <a:ext cx="64008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76" name="Line 14"/>
          <p:cNvSpPr>
            <a:spLocks noChangeShapeType="1"/>
          </p:cNvSpPr>
          <p:nvPr/>
        </p:nvSpPr>
        <p:spPr bwMode="auto">
          <a:xfrm>
            <a:off x="7772400" y="2271713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77" name="Line 15"/>
          <p:cNvSpPr>
            <a:spLocks noChangeShapeType="1"/>
          </p:cNvSpPr>
          <p:nvPr/>
        </p:nvSpPr>
        <p:spPr bwMode="auto">
          <a:xfrm>
            <a:off x="6705600" y="2286000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78" name="Line 16"/>
          <p:cNvSpPr>
            <a:spLocks noChangeShapeType="1"/>
          </p:cNvSpPr>
          <p:nvPr/>
        </p:nvSpPr>
        <p:spPr bwMode="auto">
          <a:xfrm>
            <a:off x="5638800" y="2286000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79" name="Line 17"/>
          <p:cNvSpPr>
            <a:spLocks noChangeShapeType="1"/>
          </p:cNvSpPr>
          <p:nvPr/>
        </p:nvSpPr>
        <p:spPr bwMode="auto">
          <a:xfrm>
            <a:off x="4572000" y="2286000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80" name="Line 18"/>
          <p:cNvSpPr>
            <a:spLocks noChangeShapeType="1"/>
          </p:cNvSpPr>
          <p:nvPr/>
        </p:nvSpPr>
        <p:spPr bwMode="auto">
          <a:xfrm>
            <a:off x="3505200" y="2286000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81" name="Line 20"/>
          <p:cNvSpPr>
            <a:spLocks noChangeShapeType="1"/>
          </p:cNvSpPr>
          <p:nvPr/>
        </p:nvSpPr>
        <p:spPr bwMode="auto">
          <a:xfrm flipV="1">
            <a:off x="2438400" y="2286000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82" name="Line 21"/>
          <p:cNvSpPr>
            <a:spLocks noChangeShapeType="1"/>
          </p:cNvSpPr>
          <p:nvPr/>
        </p:nvSpPr>
        <p:spPr bwMode="auto">
          <a:xfrm>
            <a:off x="1371600" y="3657600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83" name="Line 22"/>
          <p:cNvSpPr>
            <a:spLocks noChangeShapeType="1"/>
          </p:cNvSpPr>
          <p:nvPr/>
        </p:nvSpPr>
        <p:spPr bwMode="auto">
          <a:xfrm>
            <a:off x="1371600" y="4495800"/>
            <a:ext cx="32004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84" name="Line 23"/>
          <p:cNvSpPr>
            <a:spLocks noChangeShapeType="1"/>
          </p:cNvSpPr>
          <p:nvPr/>
        </p:nvSpPr>
        <p:spPr bwMode="auto">
          <a:xfrm flipV="1">
            <a:off x="4572000" y="3657600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85" name="Line 24"/>
          <p:cNvSpPr>
            <a:spLocks noChangeShapeType="1"/>
          </p:cNvSpPr>
          <p:nvPr/>
        </p:nvSpPr>
        <p:spPr bwMode="auto">
          <a:xfrm flipV="1">
            <a:off x="2438400" y="3657600"/>
            <a:ext cx="0" cy="533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886" name="Line 25"/>
          <p:cNvSpPr>
            <a:spLocks noChangeShapeType="1"/>
          </p:cNvSpPr>
          <p:nvPr/>
        </p:nvSpPr>
        <p:spPr bwMode="auto">
          <a:xfrm>
            <a:off x="2438400" y="4191000"/>
            <a:ext cx="9906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87" name="Line 26"/>
          <p:cNvSpPr>
            <a:spLocks noChangeShapeType="1"/>
          </p:cNvSpPr>
          <p:nvPr/>
        </p:nvSpPr>
        <p:spPr bwMode="auto">
          <a:xfrm flipV="1">
            <a:off x="3429000" y="3657600"/>
            <a:ext cx="0" cy="533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88" name="Line 27"/>
          <p:cNvSpPr>
            <a:spLocks noChangeShapeType="1"/>
          </p:cNvSpPr>
          <p:nvPr/>
        </p:nvSpPr>
        <p:spPr bwMode="auto">
          <a:xfrm>
            <a:off x="5638800" y="3657600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89" name="Line 28"/>
          <p:cNvSpPr>
            <a:spLocks noChangeShapeType="1"/>
          </p:cNvSpPr>
          <p:nvPr/>
        </p:nvSpPr>
        <p:spPr bwMode="auto">
          <a:xfrm>
            <a:off x="5638800" y="4495800"/>
            <a:ext cx="21336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890" name="Line 29"/>
          <p:cNvSpPr>
            <a:spLocks noChangeShapeType="1"/>
          </p:cNvSpPr>
          <p:nvPr/>
        </p:nvSpPr>
        <p:spPr bwMode="auto">
          <a:xfrm flipV="1">
            <a:off x="7772400" y="3657600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4800" kern="1200" dirty="0" smtClean="0">
                <a:solidFill>
                  <a:schemeClr val="tx1"/>
                </a:solidFill>
              </a:rPr>
              <a:t>Exercise 2</a:t>
            </a:r>
            <a:endParaRPr lang="th-TH" sz="4800" kern="1200" dirty="0">
              <a:solidFill>
                <a:schemeClr val="tx1"/>
              </a:solidFill>
              <a:cs typeface="AngsanaUPC" pitchFamily="18" charset="-34"/>
            </a:endParaRPr>
          </a:p>
        </p:txBody>
      </p:sp>
      <p:sp>
        <p:nvSpPr>
          <p:cNvPr id="37898" name="Line 11"/>
          <p:cNvSpPr>
            <a:spLocks noChangeShapeType="1"/>
          </p:cNvSpPr>
          <p:nvPr/>
        </p:nvSpPr>
        <p:spPr bwMode="auto">
          <a:xfrm flipV="1">
            <a:off x="609600" y="2605087"/>
            <a:ext cx="0" cy="6096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899" name="Line 12"/>
          <p:cNvSpPr>
            <a:spLocks noChangeShapeType="1"/>
          </p:cNvSpPr>
          <p:nvPr/>
        </p:nvSpPr>
        <p:spPr bwMode="auto">
          <a:xfrm>
            <a:off x="609600" y="2605087"/>
            <a:ext cx="78486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900" name="Line 13"/>
          <p:cNvSpPr>
            <a:spLocks noChangeShapeType="1"/>
          </p:cNvSpPr>
          <p:nvPr/>
        </p:nvSpPr>
        <p:spPr bwMode="auto">
          <a:xfrm>
            <a:off x="5943600" y="2590800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01" name="Line 14"/>
          <p:cNvSpPr>
            <a:spLocks noChangeShapeType="1"/>
          </p:cNvSpPr>
          <p:nvPr/>
        </p:nvSpPr>
        <p:spPr bwMode="auto">
          <a:xfrm>
            <a:off x="51054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02" name="Line 15"/>
          <p:cNvSpPr>
            <a:spLocks noChangeShapeType="1"/>
          </p:cNvSpPr>
          <p:nvPr/>
        </p:nvSpPr>
        <p:spPr bwMode="auto">
          <a:xfrm>
            <a:off x="42672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03" name="Line 16"/>
          <p:cNvSpPr>
            <a:spLocks noChangeShapeType="1"/>
          </p:cNvSpPr>
          <p:nvPr/>
        </p:nvSpPr>
        <p:spPr bwMode="auto">
          <a:xfrm>
            <a:off x="33528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04" name="Line 17"/>
          <p:cNvSpPr>
            <a:spLocks noChangeShapeType="1"/>
          </p:cNvSpPr>
          <p:nvPr/>
        </p:nvSpPr>
        <p:spPr bwMode="auto">
          <a:xfrm>
            <a:off x="25146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05" name="Line 18"/>
          <p:cNvSpPr>
            <a:spLocks noChangeShapeType="1"/>
          </p:cNvSpPr>
          <p:nvPr/>
        </p:nvSpPr>
        <p:spPr bwMode="auto">
          <a:xfrm flipV="1">
            <a:off x="15240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906" name="Line 19"/>
          <p:cNvSpPr>
            <a:spLocks noChangeShapeType="1"/>
          </p:cNvSpPr>
          <p:nvPr/>
        </p:nvSpPr>
        <p:spPr bwMode="auto">
          <a:xfrm>
            <a:off x="6096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907" name="Line 20"/>
          <p:cNvSpPr>
            <a:spLocks noChangeShapeType="1"/>
          </p:cNvSpPr>
          <p:nvPr/>
        </p:nvSpPr>
        <p:spPr bwMode="auto">
          <a:xfrm>
            <a:off x="609600" y="4814887"/>
            <a:ext cx="76200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908" name="Line 21"/>
          <p:cNvSpPr>
            <a:spLocks noChangeShapeType="1"/>
          </p:cNvSpPr>
          <p:nvPr/>
        </p:nvSpPr>
        <p:spPr bwMode="auto">
          <a:xfrm flipV="1">
            <a:off x="41910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09" name="Line 22"/>
          <p:cNvSpPr>
            <a:spLocks noChangeShapeType="1"/>
          </p:cNvSpPr>
          <p:nvPr/>
        </p:nvSpPr>
        <p:spPr bwMode="auto">
          <a:xfrm flipV="1">
            <a:off x="2438400" y="3976687"/>
            <a:ext cx="0" cy="533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10" name="Line 23"/>
          <p:cNvSpPr>
            <a:spLocks noChangeShapeType="1"/>
          </p:cNvSpPr>
          <p:nvPr/>
        </p:nvSpPr>
        <p:spPr bwMode="auto">
          <a:xfrm>
            <a:off x="1447800" y="4510087"/>
            <a:ext cx="9906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911" name="Line 24"/>
          <p:cNvSpPr>
            <a:spLocks noChangeShapeType="1"/>
          </p:cNvSpPr>
          <p:nvPr/>
        </p:nvSpPr>
        <p:spPr bwMode="auto">
          <a:xfrm flipV="1">
            <a:off x="1447800" y="3976687"/>
            <a:ext cx="0" cy="533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5593" name="Line 25"/>
          <p:cNvSpPr>
            <a:spLocks noChangeShapeType="1"/>
          </p:cNvSpPr>
          <p:nvPr/>
        </p:nvSpPr>
        <p:spPr bwMode="auto">
          <a:xfrm>
            <a:off x="6781800" y="3976687"/>
            <a:ext cx="0" cy="1295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>
              <a:defRPr/>
            </a:pPr>
            <a:endParaRPr lang="th-TH">
              <a:latin typeface="Arial" pitchFamily="34" charset="0"/>
            </a:endParaRPr>
          </a:p>
        </p:txBody>
      </p:sp>
      <p:sp>
        <p:nvSpPr>
          <p:cNvPr id="365594" name="Line 26"/>
          <p:cNvSpPr>
            <a:spLocks noChangeShapeType="1"/>
          </p:cNvSpPr>
          <p:nvPr/>
        </p:nvSpPr>
        <p:spPr bwMode="auto">
          <a:xfrm>
            <a:off x="6781800" y="5272087"/>
            <a:ext cx="1752600" cy="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none" w="sm" len="sm"/>
          </a:ln>
          <a:effectLst/>
        </p:spPr>
        <p:txBody>
          <a:bodyPr/>
          <a:lstStyle/>
          <a:p>
            <a:pPr>
              <a:defRPr/>
            </a:pPr>
            <a:endParaRPr lang="th-TH">
              <a:latin typeface="Arial" pitchFamily="34" charset="0"/>
            </a:endParaRPr>
          </a:p>
        </p:txBody>
      </p:sp>
      <p:sp>
        <p:nvSpPr>
          <p:cNvPr id="365595" name="Line 27"/>
          <p:cNvSpPr>
            <a:spLocks noChangeShapeType="1"/>
          </p:cNvSpPr>
          <p:nvPr/>
        </p:nvSpPr>
        <p:spPr bwMode="auto">
          <a:xfrm flipV="1">
            <a:off x="7620000" y="3976687"/>
            <a:ext cx="0" cy="1295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  <a:effectLst/>
        </p:spPr>
        <p:txBody>
          <a:bodyPr/>
          <a:lstStyle/>
          <a:p>
            <a:pPr>
              <a:defRPr/>
            </a:pPr>
            <a:endParaRPr lang="th-TH">
              <a:latin typeface="Arial" pitchFamily="34" charset="0"/>
            </a:endParaRPr>
          </a:p>
        </p:txBody>
      </p:sp>
      <p:sp>
        <p:nvSpPr>
          <p:cNvPr id="37918" name="Line 31"/>
          <p:cNvSpPr>
            <a:spLocks noChangeShapeType="1"/>
          </p:cNvSpPr>
          <p:nvPr/>
        </p:nvSpPr>
        <p:spPr bwMode="auto">
          <a:xfrm>
            <a:off x="67818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19" name="Line 32"/>
          <p:cNvSpPr>
            <a:spLocks noChangeShapeType="1"/>
          </p:cNvSpPr>
          <p:nvPr/>
        </p:nvSpPr>
        <p:spPr bwMode="auto">
          <a:xfrm>
            <a:off x="76200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20" name="Line 33"/>
          <p:cNvSpPr>
            <a:spLocks noChangeShapeType="1"/>
          </p:cNvSpPr>
          <p:nvPr/>
        </p:nvSpPr>
        <p:spPr bwMode="auto">
          <a:xfrm>
            <a:off x="8458200" y="2605087"/>
            <a:ext cx="0" cy="6858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5602" name="Line 34"/>
          <p:cNvSpPr>
            <a:spLocks noChangeShapeType="1"/>
          </p:cNvSpPr>
          <p:nvPr/>
        </p:nvSpPr>
        <p:spPr bwMode="auto">
          <a:xfrm flipV="1">
            <a:off x="8534400" y="3976687"/>
            <a:ext cx="0" cy="12954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  <a:effectLst/>
        </p:spPr>
        <p:txBody>
          <a:bodyPr/>
          <a:lstStyle/>
          <a:p>
            <a:pPr>
              <a:defRPr/>
            </a:pPr>
            <a:endParaRPr lang="th-TH">
              <a:latin typeface="Arial" pitchFamily="34" charset="0"/>
            </a:endParaRPr>
          </a:p>
        </p:txBody>
      </p:sp>
      <p:sp>
        <p:nvSpPr>
          <p:cNvPr id="37922" name="Line 35"/>
          <p:cNvSpPr>
            <a:spLocks noChangeShapeType="1"/>
          </p:cNvSpPr>
          <p:nvPr/>
        </p:nvSpPr>
        <p:spPr bwMode="auto">
          <a:xfrm flipV="1">
            <a:off x="51054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23" name="Line 36"/>
          <p:cNvSpPr>
            <a:spLocks noChangeShapeType="1"/>
          </p:cNvSpPr>
          <p:nvPr/>
        </p:nvSpPr>
        <p:spPr bwMode="auto">
          <a:xfrm flipV="1">
            <a:off x="59436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24" name="Line 37"/>
          <p:cNvSpPr>
            <a:spLocks noChangeShapeType="1"/>
          </p:cNvSpPr>
          <p:nvPr/>
        </p:nvSpPr>
        <p:spPr bwMode="auto">
          <a:xfrm flipV="1">
            <a:off x="65532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25" name="Line 38"/>
          <p:cNvSpPr>
            <a:spLocks noChangeShapeType="1"/>
          </p:cNvSpPr>
          <p:nvPr/>
        </p:nvSpPr>
        <p:spPr bwMode="auto">
          <a:xfrm flipV="1">
            <a:off x="73152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926" name="Line 39"/>
          <p:cNvSpPr>
            <a:spLocks noChangeShapeType="1"/>
          </p:cNvSpPr>
          <p:nvPr/>
        </p:nvSpPr>
        <p:spPr bwMode="auto">
          <a:xfrm flipV="1">
            <a:off x="8229600" y="3976687"/>
            <a:ext cx="0" cy="838200"/>
          </a:xfrm>
          <a:prstGeom prst="line">
            <a:avLst/>
          </a:prstGeom>
          <a:noFill/>
          <a:ln w="12700" cap="sq">
            <a:solidFill>
              <a:schemeClr val="tx1"/>
            </a:solidFill>
            <a:round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228600" y="3352800"/>
          <a:ext cx="86868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0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lang="en-US" sz="1200" b="1" u="sng" dirty="0" smtClean="0"/>
                        <a:t>Member Cod</a:t>
                      </a:r>
                      <a:endParaRPr lang="en-US" sz="1200" b="1" u="sng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u="sng" dirty="0" smtClean="0"/>
                        <a:t>Skill Code</a:t>
                      </a:r>
                      <a:endParaRPr lang="en-US" sz="1200" b="1" u="sng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Skill Type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Title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Name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Last Name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Age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Group Code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City Code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Post Code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Urban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Urban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Urban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834</TotalTime>
  <Words>826</Words>
  <Application>Microsoft Office PowerPoint</Application>
  <PresentationFormat>On-screen Show (4:3)</PresentationFormat>
  <Paragraphs>147</Paragraphs>
  <Slides>25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AngsanaUPC</vt:lpstr>
      <vt:lpstr>Arial</vt:lpstr>
      <vt:lpstr>Calibri</vt:lpstr>
      <vt:lpstr>Georgia</vt:lpstr>
      <vt:lpstr>GungsuhChe</vt:lpstr>
      <vt:lpstr>Tahoma</vt:lpstr>
      <vt:lpstr>Times New Roman</vt:lpstr>
      <vt:lpstr>Wingdings</vt:lpstr>
      <vt:lpstr>Urban</vt:lpstr>
      <vt:lpstr>Chapter 06  Normalization of Database Tables</vt:lpstr>
      <vt:lpstr>PowerPoint Presentation</vt:lpstr>
      <vt:lpstr>Learning Objectives</vt:lpstr>
      <vt:lpstr>Database Tables and Normalization</vt:lpstr>
      <vt:lpstr>Database Tables and Normalization</vt:lpstr>
      <vt:lpstr>Scenario</vt:lpstr>
      <vt:lpstr>Sample Form</vt:lpstr>
      <vt:lpstr>Sample Report Layout</vt:lpstr>
      <vt:lpstr>PowerPoint Presentation</vt:lpstr>
      <vt:lpstr>Database Tables and Normalization</vt:lpstr>
      <vt:lpstr>Database Tables and Normalization</vt:lpstr>
      <vt:lpstr>Data Organization:  First Normal Form</vt:lpstr>
      <vt:lpstr>PowerPoint Presentation</vt:lpstr>
      <vt:lpstr>First Normal Form (1 NF)</vt:lpstr>
      <vt:lpstr>Dependency Diagram</vt:lpstr>
      <vt:lpstr>Functional Dependencies</vt:lpstr>
      <vt:lpstr>Functional Dependencies</vt:lpstr>
      <vt:lpstr>Second Normal Form (2 NF)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 1</vt:lpstr>
      <vt:lpstr>Exercise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Sharon Thomas</dc:creator>
  <cp:lastModifiedBy>BUKC</cp:lastModifiedBy>
  <cp:revision>204</cp:revision>
  <dcterms:created xsi:type="dcterms:W3CDTF">2014-01-28T12:09:28Z</dcterms:created>
  <dcterms:modified xsi:type="dcterms:W3CDTF">2024-05-13T05:00:28Z</dcterms:modified>
</cp:coreProperties>
</file>