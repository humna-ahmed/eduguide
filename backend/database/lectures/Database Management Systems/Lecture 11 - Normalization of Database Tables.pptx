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305" r:id="rId2"/>
    <p:sldId id="256" r:id="rId3"/>
    <p:sldId id="300" r:id="rId4"/>
    <p:sldId id="327" r:id="rId5"/>
    <p:sldId id="328" r:id="rId6"/>
    <p:sldId id="329" r:id="rId7"/>
    <p:sldId id="330" r:id="rId8"/>
    <p:sldId id="331" r:id="rId9"/>
    <p:sldId id="375" r:id="rId10"/>
    <p:sldId id="332" r:id="rId11"/>
    <p:sldId id="333" r:id="rId12"/>
    <p:sldId id="378" r:id="rId13"/>
    <p:sldId id="379" r:id="rId14"/>
    <p:sldId id="380" r:id="rId15"/>
    <p:sldId id="381" r:id="rId16"/>
    <p:sldId id="382" r:id="rId17"/>
    <p:sldId id="383" r:id="rId18"/>
    <p:sldId id="374" r:id="rId19"/>
    <p:sldId id="359" r:id="rId20"/>
    <p:sldId id="387" r:id="rId21"/>
    <p:sldId id="389" r:id="rId22"/>
    <p:sldId id="390" r:id="rId23"/>
    <p:sldId id="360" r:id="rId24"/>
    <p:sldId id="361" r:id="rId25"/>
    <p:sldId id="362" r:id="rId26"/>
    <p:sldId id="363" r:id="rId27"/>
    <p:sldId id="364" r:id="rId28"/>
    <p:sldId id="384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3366FF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05F39-77B8-4AAF-8B10-15C2EF3D068A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A571A-13BB-427F-966C-F797F7B264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5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7C4DE1-8C17-4CC3-8922-D394CA14FF89}" type="slidenum">
              <a:rPr lang="en-US">
                <a:latin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074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7FF3A8-8E85-41DD-B350-2DACF00BA3A5}" type="slidenum">
              <a:rPr lang="en-US">
                <a:latin typeface="Times New Roman" pitchFamily="18" charset="0"/>
              </a:rPr>
              <a:pPr/>
              <a:t>5</a:t>
            </a:fld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17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98B0DA-9841-4A52-92AF-1ED3FF471F2E}" type="slidenum">
              <a:rPr lang="en-US">
                <a:latin typeface="Times New Roman" pitchFamily="18" charset="0"/>
              </a:rPr>
              <a:pPr/>
              <a:t>6</a:t>
            </a:fld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47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5DFF09-D4E7-405A-8F0A-F9242DB49E31}" type="slidenum">
              <a:rPr lang="en-US">
                <a:latin typeface="Times New Roman" pitchFamily="18" charset="0"/>
              </a:rPr>
              <a:pPr/>
              <a:t>8</a:t>
            </a:fld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795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Solution hidden</a:t>
            </a:r>
            <a:r>
              <a:rPr lang="en-US" baseline="0" dirty="0" smtClean="0"/>
              <a:t> behind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A571A-13BB-427F-966C-F797F7B2644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77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68274E-2CB1-4D71-85EE-1B6B784E39DA}" type="slidenum">
              <a:rPr lang="en-US">
                <a:latin typeface="Times New Roman" pitchFamily="18" charset="0"/>
              </a:rPr>
              <a:pPr/>
              <a:t>10</a:t>
            </a:fld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504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C8A5DC-0330-453F-B613-7A19F42D777A}" type="slidenum">
              <a:rPr lang="en-US">
                <a:latin typeface="Times New Roman" pitchFamily="18" charset="0"/>
              </a:rPr>
              <a:pPr/>
              <a:t>11</a:t>
            </a:fld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024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081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611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160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677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To understand why this is an odd table, suppose that Nancy Meyers is assigned </a:t>
            </a:r>
            <a:r>
              <a:rPr lang="en-US" dirty="0" smtClean="0"/>
              <a:t>a new </a:t>
            </a:r>
            <a:r>
              <a:rPr lang="en-US" dirty="0"/>
              <a:t>SKU, say 101300. What addition should we make to this table</a:t>
            </a:r>
            <a:r>
              <a:rPr lang="en-US" dirty="0" smtClean="0"/>
              <a:t>?</a:t>
            </a:r>
          </a:p>
          <a:p>
            <a:r>
              <a:rPr lang="en-US" dirty="0" smtClean="0"/>
              <a:t>Clearly</a:t>
            </a:r>
            <a:r>
              <a:rPr lang="en-US" dirty="0"/>
              <a:t>, we </a:t>
            </a:r>
            <a:r>
              <a:rPr lang="en-US" dirty="0" smtClean="0"/>
              <a:t>need to </a:t>
            </a:r>
            <a:r>
              <a:rPr lang="en-US" dirty="0"/>
              <a:t>add a row for the new SKU, but if we add just one row, say the row ('Nancy Meyers</a:t>
            </a:r>
            <a:r>
              <a:rPr lang="en-US" dirty="0" smtClean="0"/>
              <a:t>', 101300</a:t>
            </a:r>
            <a:r>
              <a:rPr lang="en-US" dirty="0"/>
              <a:t>, 'Art'), it will appear that she manages product 101300 as an Art major, but </a:t>
            </a:r>
            <a:r>
              <a:rPr lang="en-US" dirty="0" smtClean="0"/>
              <a:t>not as </a:t>
            </a:r>
            <a:r>
              <a:rPr lang="en-US" dirty="0"/>
              <a:t>an Info Systems major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</a:t>
            </a:r>
            <a:r>
              <a:rPr lang="en-US" dirty="0"/>
              <a:t>avoid such an illogical state, we need to add two rows:</a:t>
            </a:r>
          </a:p>
          <a:p>
            <a:r>
              <a:rPr lang="en-US" dirty="0"/>
              <a:t>('Nancy Meyers', 101300, 'Art') and ('Nancy Meyers', 101300, 'Info Systems</a:t>
            </a:r>
            <a:r>
              <a:rPr lang="en-US" dirty="0" smtClean="0"/>
              <a:t>').</a:t>
            </a:r>
          </a:p>
          <a:p>
            <a:r>
              <a:rPr lang="en-US" dirty="0" smtClean="0">
                <a:latin typeface="Arial" panose="020B0604020202020204" pitchFamily="34" charset="0"/>
              </a:rPr>
              <a:t>Now, that is strange!</a:t>
            </a:r>
            <a:endParaRPr lang="en-US" dirty="0">
              <a:latin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385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069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83370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0191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47B9C6-CFCD-44C3-BA3D-CC5C15DCE205}" type="slidenum">
              <a:rPr lang="en-US" smtClean="0"/>
              <a:pPr/>
              <a:t>21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42485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charset="0"/>
            </a:endParaRPr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A9C942-A7F3-4AF7-93B7-CA97A47E39CD}" type="slidenum">
              <a:rPr lang="en-US" smtClean="0"/>
              <a:pPr/>
              <a:t>22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37263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3962400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TextBox 25"/>
          <p:cNvSpPr txBox="1">
            <a:spLocks noChangeArrowheads="1"/>
          </p:cNvSpPr>
          <p:nvPr userDrawn="1"/>
        </p:nvSpPr>
        <p:spPr bwMode="auto">
          <a:xfrm>
            <a:off x="533400" y="6350169"/>
            <a:ext cx="80772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80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©2017</a:t>
            </a:r>
            <a:r>
              <a:rPr lang="en-US" altLang="en-US" sz="800" baseline="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 C</a:t>
            </a:r>
            <a:r>
              <a:rPr lang="en-US" altLang="en-US" sz="80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engage Learning®. May not be scanned, copied or duplicated, or posted to a publicly accessible website, in whole or in part,</a:t>
            </a:r>
            <a:r>
              <a:rPr lang="en-US" altLang="en-US" sz="800" baseline="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 except for use as permitted in a license distributed with a certain product or service or otherwise on a password-protected website or school-approved learning management system for classroom use.</a:t>
            </a:r>
            <a:r>
              <a:rPr lang="en-US" altLang="en-US" sz="900" baseline="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  </a:t>
            </a:r>
            <a:endParaRPr lang="en-US" altLang="en-US" sz="900" dirty="0" smtClean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  <a:p>
            <a:pPr algn="ctr">
              <a:defRPr/>
            </a:pPr>
            <a:r>
              <a:rPr lang="en-US" altLang="en-US" sz="900" dirty="0" smtClean="0">
                <a:solidFill>
                  <a:srgbClr val="262626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64008" indent="0" algn="ctr">
              <a:buNone/>
              <a:defRPr sz="40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5" name="Picture 14" descr="Screen Clippi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21" y="335903"/>
            <a:ext cx="8306959" cy="312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6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5D42B16-DF26-470E-8402-9FDCC4B485CE}" type="datetimeFigureOut">
              <a:rPr lang="en-US"/>
              <a:pPr>
                <a:defRPr/>
              </a:pPr>
              <a:t>5/13/2024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CEE066-B400-49D8-9289-3749C8DE4F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40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892427"/>
            <a:ext cx="57150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4648200"/>
            <a:ext cx="5029200" cy="1371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 rot="5400000" flipH="1" flipV="1">
            <a:off x="-494505" y="3162300"/>
            <a:ext cx="4037806" cy="795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Bahria Logo new white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6400" y="990600"/>
            <a:ext cx="6676806" cy="17373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92BE8FD-8DEF-445A-9D43-D13709C0193D}" type="datetimeFigureOut">
              <a:rPr lang="en-US" smtClean="0"/>
              <a:pPr/>
              <a:t>5/13/2024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5B48-1707-47FE-892C-3D62A8FA13F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0"/>
            <a:ext cx="8001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2362200"/>
            <a:ext cx="8001000" cy="3733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742FE-03C3-4E36-91F9-D0630664E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F978D"/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457200" y="6248400"/>
            <a:ext cx="5410200" cy="476250"/>
          </a:xfrm>
          <a:prstGeom prst="rect">
            <a:avLst/>
          </a:prstGeom>
        </p:spPr>
        <p:txBody>
          <a:bodyPr/>
          <a:lstStyle>
            <a:lvl1pPr>
              <a:defRPr smtClean="0">
                <a:solidFill>
                  <a:srgbClr val="0000CC"/>
                </a:solidFill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srgbClr val="D57A15"/>
                </a:solidFill>
              </a:rPr>
              <a:t>KROENKE AND AUER - DATABASE PROCESSING, 14th Edition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5F978D"/>
                </a:solidFill>
              </a:rPr>
              <a:t>© 2016 Pearson Education, Inc.</a:t>
            </a:r>
            <a:endParaRPr lang="en-US" dirty="0">
              <a:solidFill>
                <a:srgbClr val="5F978D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7B7ABB"/>
                </a:solidFill>
              </a:defRPr>
            </a:lvl1pPr>
          </a:lstStyle>
          <a:p>
            <a:pPr>
              <a:defRPr/>
            </a:pPr>
            <a:r>
              <a:rPr lang="en-US" smtClean="0"/>
              <a:t>3-</a:t>
            </a:r>
            <a:fld id="{F6661826-2724-4861-8343-6BABF56BCB63}" type="slidenum">
              <a:rPr lang="en-US" smtClean="0"/>
              <a:pPr>
                <a:defRPr/>
              </a:pPr>
              <a:t>‹#›</a:t>
            </a:fld>
            <a:endParaRPr lang="en-US" smtClean="0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1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7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9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86800" y="6553200"/>
            <a:ext cx="457200" cy="3048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2295934-098C-46D5-8B6F-5CB26F4D7F6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" name="Rectangle 19"/>
          <p:cNvSpPr/>
          <p:nvPr userDrawn="1"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Rectangle 20"/>
          <p:cNvSpPr/>
          <p:nvPr userDrawn="1"/>
        </p:nvSpPr>
        <p:spPr>
          <a:xfrm>
            <a:off x="0" y="7938"/>
            <a:ext cx="9144000" cy="220662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0" y="381000"/>
            <a:ext cx="9144000" cy="58738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3" name="TextBox 8"/>
          <p:cNvSpPr txBox="1">
            <a:spLocks noChangeArrowheads="1"/>
          </p:cNvSpPr>
          <p:nvPr userDrawn="1"/>
        </p:nvSpPr>
        <p:spPr bwMode="auto">
          <a:xfrm>
            <a:off x="533400" y="6324600"/>
            <a:ext cx="807720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 marL="0" marR="0" indent="0" algn="ctr" defTabSz="8534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80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©2017</a:t>
            </a:r>
            <a:r>
              <a:rPr lang="en-US" altLang="en-US" sz="800" baseline="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 C</a:t>
            </a:r>
            <a:r>
              <a:rPr lang="en-US" altLang="en-US" sz="80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engage Learning®. May not be scanned, copied or duplicated, or posted to a publicly accessible website, in whole or in part,</a:t>
            </a:r>
            <a:r>
              <a:rPr lang="en-US" altLang="en-US" sz="800" baseline="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 except for use as permitted in a license distributed with a certain product or service or otherwise on a password-protected website or school-approved learning management system for classroom use</a:t>
            </a:r>
            <a:r>
              <a:rPr lang="en-US" altLang="en-US" sz="900" baseline="0" dirty="0" smtClean="0">
                <a:solidFill>
                  <a:schemeClr val="bg1">
                    <a:lumMod val="65000"/>
                  </a:schemeClr>
                </a:solidFill>
                <a:latin typeface="Calibri" pitchFamily="34" charset="0"/>
              </a:rPr>
              <a:t>.  </a:t>
            </a:r>
            <a:endParaRPr lang="en-US" altLang="en-US" sz="900" dirty="0" smtClean="0">
              <a:solidFill>
                <a:schemeClr val="bg1">
                  <a:lumMod val="65000"/>
                </a:schemeClr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9" r:id="rId4"/>
    <p:sldLayoutId id="2147483711" r:id="rId5"/>
    <p:sldLayoutId id="2147483712" r:id="rId6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accent3">
              <a:lumMod val="75000"/>
            </a:schemeClr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8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57225" indent="-246063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6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22338" indent="-219075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4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79513" indent="-200025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2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389063" indent="-182563" algn="l" rtl="0" eaLnBrk="0" fontAlgn="base" hangingPunct="0">
        <a:spcBef>
          <a:spcPts val="300"/>
        </a:spcBef>
        <a:spcAft>
          <a:spcPts val="600"/>
        </a:spcAft>
        <a:buClr>
          <a:srgbClr val="0070C0"/>
        </a:buClr>
        <a:buFont typeface="Wingdings" panose="05000000000000000000" pitchFamily="2" charset="2"/>
        <a:buChar char="§"/>
        <a:defRPr sz="2000" kern="1200">
          <a:solidFill>
            <a:srgbClr val="002060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352800"/>
            <a:ext cx="7239000" cy="167640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4000" b="1" spc="50" smtClean="0">
                <a:ln w="11430"/>
                <a:solidFill>
                  <a:srgbClr val="7030A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Chapter 06</a:t>
            </a:r>
            <a:r>
              <a:rPr lang="en-US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/>
            </a:r>
            <a:br>
              <a:rPr lang="en-US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r>
              <a:rPr lang="en-US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/>
            </a:r>
            <a:br>
              <a:rPr lang="en-US" sz="4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r>
              <a:rPr lang="en-US" sz="3600" b="1" spc="50" dirty="0" smtClean="0">
                <a:ln w="11430"/>
                <a:solidFill>
                  <a:srgbClr val="0033CC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Normalization of Database Tables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ubtitle 2"/>
          <p:cNvSpPr>
            <a:spLocks noGrp="1"/>
          </p:cNvSpPr>
          <p:nvPr>
            <p:ph type="subTitle" idx="1"/>
          </p:nvPr>
        </p:nvSpPr>
        <p:spPr>
          <a:xfrm>
            <a:off x="914400" y="4724400"/>
            <a:ext cx="7391399" cy="1295400"/>
          </a:xfrm>
        </p:spPr>
        <p:txBody>
          <a:bodyPr/>
          <a:lstStyle/>
          <a:p>
            <a:pPr marL="63500" eaLnBrk="1" hangingPunct="1"/>
            <a:r>
              <a:rPr lang="en-US" altLang="en-US" dirty="0" smtClean="0"/>
              <a:t>Chapter 6</a:t>
            </a:r>
          </a:p>
          <a:p>
            <a:pPr marL="63500" eaLnBrk="1" hangingPunct="1"/>
            <a:r>
              <a:rPr lang="en-US" altLang="en-US" dirty="0" smtClean="0"/>
              <a:t>Normalization of Database Tables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</a:rPr>
              <a:t>Learning Objectives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6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In this chapter, you will learn: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6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What normalization is and what role it plays in the database design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6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About the normal forms 1NF, 2NF, 3NF, BCNF, and 4NF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6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How normal forms can be transformed from lower normal forms to higher normal forms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6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That normalization and ER modeling are used concurrently to produce a good database design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6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That some situations require </a:t>
            </a:r>
            <a:r>
              <a:rPr lang="en-US" altLang="en-US" sz="246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denormalization</a:t>
            </a:r>
            <a:r>
              <a:rPr lang="en-US" altLang="en-US" sz="246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to generate information efficiently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648200"/>
          </a:xfrm>
          <a:noFill/>
        </p:spPr>
        <p:txBody>
          <a:bodyPr lIns="90488" tIns="44450" rIns="90488" bIns="44450">
            <a:noAutofit/>
          </a:bodyPr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200" dirty="0" smtClean="0">
                <a:latin typeface="Tahoma" pitchFamily="34" charset="0"/>
              </a:rPr>
              <a:t>A table is in </a:t>
            </a:r>
            <a:r>
              <a:rPr lang="en-US" sz="2200" dirty="0" smtClean="0">
                <a:solidFill>
                  <a:srgbClr val="D60093"/>
                </a:solidFill>
                <a:latin typeface="Tahoma" pitchFamily="34" charset="0"/>
              </a:rPr>
              <a:t>Boyce-</a:t>
            </a:r>
            <a:r>
              <a:rPr lang="en-US" sz="2200" dirty="0" err="1" smtClean="0">
                <a:solidFill>
                  <a:srgbClr val="D60093"/>
                </a:solidFill>
                <a:latin typeface="Tahoma" pitchFamily="34" charset="0"/>
              </a:rPr>
              <a:t>Codd</a:t>
            </a:r>
            <a:r>
              <a:rPr lang="en-US" sz="2200" dirty="0" smtClean="0">
                <a:solidFill>
                  <a:srgbClr val="D60093"/>
                </a:solidFill>
                <a:latin typeface="Tahoma" pitchFamily="34" charset="0"/>
              </a:rPr>
              <a:t> normal form</a:t>
            </a:r>
            <a:r>
              <a:rPr lang="en-US" sz="2200" dirty="0" smtClean="0">
                <a:latin typeface="Tahoma" pitchFamily="34" charset="0"/>
              </a:rPr>
              <a:t> (</a:t>
            </a:r>
            <a:r>
              <a:rPr lang="en-US" sz="2200" dirty="0" smtClean="0">
                <a:solidFill>
                  <a:srgbClr val="D60093"/>
                </a:solidFill>
                <a:latin typeface="Tahoma" pitchFamily="34" charset="0"/>
              </a:rPr>
              <a:t>BCNF</a:t>
            </a:r>
            <a:r>
              <a:rPr lang="en-US" sz="2200" dirty="0" smtClean="0">
                <a:latin typeface="Tahoma" pitchFamily="34" charset="0"/>
              </a:rPr>
              <a:t>) if every determinant in the table is a candidate key.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None/>
            </a:pPr>
            <a:r>
              <a:rPr lang="en-US" sz="2200" dirty="0" smtClean="0">
                <a:latin typeface="Tahoma" pitchFamily="34" charset="0"/>
              </a:rPr>
              <a:t>	</a:t>
            </a:r>
            <a:r>
              <a:rPr lang="en-US" sz="2200" dirty="0" smtClean="0">
                <a:solidFill>
                  <a:srgbClr val="0000FF"/>
                </a:solidFill>
                <a:latin typeface="Tahoma" pitchFamily="34" charset="0"/>
              </a:rPr>
              <a:t>(A determinant is any attribute whose value determines other values with a row.)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200" dirty="0" smtClean="0">
                <a:latin typeface="Tahoma" pitchFamily="34" charset="0"/>
              </a:rPr>
              <a:t>If a table contains only one candidate key, the 3NF and the BCNF are equivalent.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200" dirty="0" smtClean="0">
                <a:latin typeface="Tahoma" pitchFamily="34" charset="0"/>
              </a:rPr>
              <a:t>BCNF is a special case of 3NF.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200" dirty="0" smtClean="0">
                <a:latin typeface="Tahoma" pitchFamily="34" charset="0"/>
              </a:rPr>
              <a:t>Figure 5.7 illustrates a table that is in 3NF but not in BCNF.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200" dirty="0" smtClean="0">
                <a:latin typeface="Tahoma" pitchFamily="34" charset="0"/>
              </a:rPr>
              <a:t>Figure 5.8 shows how the table can be decomposed to conform to the BCNF form.</a:t>
            </a:r>
          </a:p>
        </p:txBody>
      </p:sp>
      <p:sp>
        <p:nvSpPr>
          <p:cNvPr id="4" name="Title 3"/>
          <p:cNvSpPr txBox="1">
            <a:spLocks/>
          </p:cNvSpPr>
          <p:nvPr/>
        </p:nvSpPr>
        <p:spPr bwMode="auto"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Boyce-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Codd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Normal Form (BCNF)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2209800"/>
            <a:ext cx="7391400" cy="39124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" name="Title 3"/>
          <p:cNvSpPr txBox="1">
            <a:spLocks/>
          </p:cNvSpPr>
          <p:nvPr/>
        </p:nvSpPr>
        <p:spPr bwMode="auto">
          <a:xfrm>
            <a:off x="457200" y="457200"/>
            <a:ext cx="8229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en-US" sz="4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Table That Is In 3NF </a:t>
            </a:r>
            <a:br>
              <a:rPr lang="en-US" sz="4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sz="4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But Not In BCNF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904999"/>
            <a:ext cx="7620000" cy="436005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" name="Title 3"/>
          <p:cNvSpPr txBox="1">
            <a:spLocks/>
          </p:cNvSpPr>
          <p:nvPr/>
        </p:nvSpPr>
        <p:spPr bwMode="auto">
          <a:xfrm>
            <a:off x="457200" y="457200"/>
            <a:ext cx="8229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en-US" sz="4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Decomposition of a Table Structure to Meet BCNF Requirements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4" descr="fig 05-t0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981200"/>
            <a:ext cx="7620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3"/>
          <p:cNvSpPr txBox="1">
            <a:spLocks/>
          </p:cNvSpPr>
          <p:nvPr/>
        </p:nvSpPr>
        <p:spPr bwMode="auto"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en-US" sz="4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Sample Data for a BCNF Conversion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81200" y="1752600"/>
            <a:ext cx="4962525" cy="2117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5604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95400" y="4191000"/>
            <a:ext cx="6324600" cy="165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5" name="Title 3"/>
          <p:cNvSpPr txBox="1">
            <a:spLocks/>
          </p:cNvSpPr>
          <p:nvPr/>
        </p:nvSpPr>
        <p:spPr bwMode="auto"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en-US" sz="4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Decomposition into BCNF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(Activity)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 the following table into BCNF</a:t>
            </a:r>
            <a:endParaRPr lang="en-GB" i="1" dirty="0"/>
          </a:p>
          <a:p>
            <a:endParaRPr lang="en-US" i="1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57800" y="3200400"/>
            <a:ext cx="2057400" cy="210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514600"/>
            <a:ext cx="844647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5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001000" cy="38862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dirty="0" smtClean="0">
                <a:solidFill>
                  <a:srgbClr val="CC0000"/>
                </a:solidFill>
                <a:latin typeface="Tahoma" pitchFamily="34" charset="0"/>
              </a:rPr>
              <a:t>BCNF Definition</a:t>
            </a:r>
          </a:p>
          <a:p>
            <a:pPr lvl="1" eaLnBrk="1" hangingPunct="1"/>
            <a:r>
              <a:rPr lang="en-US" sz="2800" dirty="0" smtClean="0">
                <a:solidFill>
                  <a:srgbClr val="0000CC"/>
                </a:solidFill>
                <a:latin typeface="Tahoma" pitchFamily="34" charset="0"/>
              </a:rPr>
              <a:t>A table is in BCNF if every determinant in that table is a candidate key. If a table contains only one candidate key, 3NF and BCNF are equivalent.</a:t>
            </a:r>
          </a:p>
        </p:txBody>
      </p:sp>
      <p:sp>
        <p:nvSpPr>
          <p:cNvPr id="4" name="Title 3"/>
          <p:cNvSpPr txBox="1">
            <a:spLocks/>
          </p:cNvSpPr>
          <p:nvPr/>
        </p:nvSpPr>
        <p:spPr bwMode="auto"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en-US" sz="4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BCNF Definition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077200" cy="2362200"/>
          </a:xfrm>
          <a:noFill/>
        </p:spPr>
        <p:txBody>
          <a:bodyPr lIns="90488" tIns="44450" rIns="90488" bIns="44450"/>
          <a:lstStyle/>
          <a:p>
            <a:pPr lvl="1" eaLnBrk="1" hangingPunct="1"/>
            <a:r>
              <a:rPr lang="en-US" sz="2800" dirty="0" smtClean="0">
                <a:solidFill>
                  <a:srgbClr val="0000CC"/>
                </a:solidFill>
                <a:latin typeface="Tahoma" pitchFamily="34" charset="0"/>
              </a:rPr>
              <a:t>Normalization will help us identify correct and appropriate </a:t>
            </a:r>
            <a:r>
              <a:rPr lang="en-US" sz="2800" dirty="0" smtClean="0">
                <a:solidFill>
                  <a:srgbClr val="FF0000"/>
                </a:solidFill>
                <a:latin typeface="Tahoma" pitchFamily="34" charset="0"/>
              </a:rPr>
              <a:t>TABLES</a:t>
            </a:r>
            <a:r>
              <a:rPr lang="en-US" sz="2800" dirty="0" smtClean="0">
                <a:solidFill>
                  <a:srgbClr val="0000CC"/>
                </a:solidFill>
                <a:latin typeface="Tahoma" pitchFamily="34" charset="0"/>
              </a:rPr>
              <a:t>.</a:t>
            </a:r>
          </a:p>
          <a:p>
            <a:pPr lvl="1" eaLnBrk="1" hangingPunct="1"/>
            <a:r>
              <a:rPr lang="en-US" sz="2800" dirty="0" smtClean="0">
                <a:solidFill>
                  <a:srgbClr val="0000CC"/>
                </a:solidFill>
                <a:latin typeface="Tahoma" pitchFamily="34" charset="0"/>
              </a:rPr>
              <a:t>Until Now we have </a:t>
            </a:r>
            <a:r>
              <a:rPr lang="en-US" sz="3200" dirty="0" smtClean="0">
                <a:solidFill>
                  <a:srgbClr val="FF0000"/>
                </a:solidFill>
                <a:latin typeface="Tahoma" pitchFamily="34" charset="0"/>
              </a:rPr>
              <a:t>4</a:t>
            </a:r>
            <a:r>
              <a:rPr lang="en-US" sz="2800" dirty="0" smtClean="0">
                <a:solidFill>
                  <a:srgbClr val="0000CC"/>
                </a:solidFill>
                <a:latin typeface="Tahoma" pitchFamily="34" charset="0"/>
              </a:rPr>
              <a:t> tables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838200" y="3733800"/>
            <a:ext cx="7467600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2">
              <a:spcBef>
                <a:spcPct val="5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Tahoma" pitchFamily="34" charset="0"/>
              </a:rPr>
              <a:t>PROJECT</a:t>
            </a:r>
            <a:r>
              <a:rPr lang="en-US" sz="2000" dirty="0">
                <a:latin typeface="Tahoma" pitchFamily="34" charset="0"/>
              </a:rPr>
              <a:t> (</a:t>
            </a:r>
            <a:r>
              <a:rPr lang="en-US" sz="2000" u="sng" dirty="0">
                <a:solidFill>
                  <a:srgbClr val="CC0000"/>
                </a:solidFill>
                <a:latin typeface="Tahoma" pitchFamily="34" charset="0"/>
              </a:rPr>
              <a:t>PROJ_NUM,</a:t>
            </a:r>
            <a:r>
              <a:rPr lang="en-US" sz="2000" dirty="0">
                <a:solidFill>
                  <a:srgbClr val="CC0000"/>
                </a:solidFill>
                <a:latin typeface="Tahoma" pitchFamily="34" charset="0"/>
              </a:rPr>
              <a:t> PROJ_NAME</a:t>
            </a:r>
            <a:r>
              <a:rPr lang="en-US" sz="2000" dirty="0">
                <a:latin typeface="Tahoma" pitchFamily="34" charset="0"/>
              </a:rPr>
              <a:t>)</a:t>
            </a:r>
          </a:p>
          <a:p>
            <a:pPr lvl="2">
              <a:spcBef>
                <a:spcPct val="5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Tahoma" pitchFamily="34" charset="0"/>
              </a:rPr>
              <a:t>ASSIGN</a:t>
            </a:r>
            <a:r>
              <a:rPr lang="en-US" sz="2000" dirty="0">
                <a:latin typeface="Tahoma" pitchFamily="34" charset="0"/>
              </a:rPr>
              <a:t> (</a:t>
            </a:r>
            <a:r>
              <a:rPr lang="en-US" sz="2000" u="sng" dirty="0">
                <a:solidFill>
                  <a:srgbClr val="CC0000"/>
                </a:solidFill>
                <a:latin typeface="Tahoma" pitchFamily="34" charset="0"/>
              </a:rPr>
              <a:t>PROJ_NUM, EMP_NUM</a:t>
            </a:r>
            <a:r>
              <a:rPr lang="en-US" sz="2000" dirty="0">
                <a:solidFill>
                  <a:srgbClr val="CC0000"/>
                </a:solidFill>
                <a:latin typeface="Tahoma" pitchFamily="34" charset="0"/>
              </a:rPr>
              <a:t>, HOURS</a:t>
            </a:r>
            <a:r>
              <a:rPr lang="en-US" sz="2000" dirty="0">
                <a:latin typeface="Tahoma" pitchFamily="34" charset="0"/>
              </a:rPr>
              <a:t>)</a:t>
            </a:r>
          </a:p>
          <a:p>
            <a:pPr lvl="2">
              <a:spcBef>
                <a:spcPct val="5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Tahoma" pitchFamily="34" charset="0"/>
              </a:rPr>
              <a:t>EMPLOYEE</a:t>
            </a:r>
            <a:r>
              <a:rPr lang="en-US" sz="2000" dirty="0">
                <a:latin typeface="Tahoma" pitchFamily="34" charset="0"/>
              </a:rPr>
              <a:t> (</a:t>
            </a:r>
            <a:r>
              <a:rPr lang="en-US" sz="2000" u="sng" dirty="0">
                <a:solidFill>
                  <a:srgbClr val="CC0000"/>
                </a:solidFill>
                <a:latin typeface="Tahoma" pitchFamily="34" charset="0"/>
              </a:rPr>
              <a:t>EMP_NUM</a:t>
            </a:r>
            <a:r>
              <a:rPr lang="en-US" sz="2000" dirty="0">
                <a:solidFill>
                  <a:srgbClr val="CC0000"/>
                </a:solidFill>
                <a:latin typeface="Tahoma" pitchFamily="34" charset="0"/>
              </a:rPr>
              <a:t>, EMP_NAME, JOB_CLASS</a:t>
            </a:r>
            <a:r>
              <a:rPr lang="en-US" sz="2000" dirty="0">
                <a:latin typeface="Tahoma" pitchFamily="34" charset="0"/>
              </a:rPr>
              <a:t>)</a:t>
            </a:r>
          </a:p>
          <a:p>
            <a:pPr lvl="2">
              <a:spcBef>
                <a:spcPct val="5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sz="2000" b="1" dirty="0">
                <a:latin typeface="Tahoma" pitchFamily="34" charset="0"/>
              </a:rPr>
              <a:t>JOB</a:t>
            </a:r>
            <a:r>
              <a:rPr lang="en-US" sz="2000" dirty="0">
                <a:latin typeface="Tahoma" pitchFamily="34" charset="0"/>
              </a:rPr>
              <a:t> (</a:t>
            </a:r>
            <a:r>
              <a:rPr lang="en-US" sz="2000" u="sng" dirty="0">
                <a:solidFill>
                  <a:srgbClr val="CC0000"/>
                </a:solidFill>
                <a:latin typeface="Tahoma" pitchFamily="34" charset="0"/>
              </a:rPr>
              <a:t>JOB_CLASS</a:t>
            </a:r>
            <a:r>
              <a:rPr lang="en-US" sz="2000" dirty="0">
                <a:solidFill>
                  <a:srgbClr val="CC0000"/>
                </a:solidFill>
                <a:latin typeface="Tahoma" pitchFamily="34" charset="0"/>
              </a:rPr>
              <a:t>, CHG_HOUR</a:t>
            </a:r>
            <a:r>
              <a:rPr lang="en-US" sz="2000" dirty="0">
                <a:latin typeface="Tahoma" pitchFamily="34" charset="0"/>
              </a:rPr>
              <a:t>)</a:t>
            </a: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457200" y="457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hangingPunct="0"/>
            <a:r>
              <a:rPr lang="en-US" sz="4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Normalization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>
                <a:solidFill>
                  <a:schemeClr val="tx1"/>
                </a:solidFill>
              </a:rPr>
              <a:t>Multivalued</a:t>
            </a:r>
            <a:r>
              <a:rPr lang="en-US" dirty="0" smtClean="0">
                <a:solidFill>
                  <a:schemeClr val="tx1"/>
                </a:solidFill>
              </a:rPr>
              <a:t> Dependencies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</a:rPr>
              <a:t>A </a:t>
            </a:r>
            <a:r>
              <a:rPr lang="en-US" b="1" dirty="0" smtClean="0">
                <a:solidFill>
                  <a:schemeClr val="tx1"/>
                </a:solidFill>
              </a:rPr>
              <a:t>multivalued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dependency</a:t>
            </a:r>
            <a:r>
              <a:rPr lang="en-US" dirty="0" smtClean="0">
                <a:solidFill>
                  <a:schemeClr val="tx1"/>
                </a:solidFill>
              </a:rPr>
              <a:t> occurs when a determinant is matched with a particular </a:t>
            </a:r>
            <a:r>
              <a:rPr lang="en-US" i="1" dirty="0" smtClean="0">
                <a:solidFill>
                  <a:schemeClr val="tx1"/>
                </a:solidFill>
              </a:rPr>
              <a:t>set</a:t>
            </a:r>
            <a:r>
              <a:rPr lang="en-US" dirty="0" smtClean="0">
                <a:solidFill>
                  <a:schemeClr val="tx1"/>
                </a:solidFill>
              </a:rPr>
              <a:t> of values:</a:t>
            </a:r>
          </a:p>
          <a:p>
            <a:pPr eaLnBrk="1" hangingPunct="1">
              <a:buFontTx/>
              <a:buNone/>
            </a:pPr>
            <a:r>
              <a:rPr lang="en-US" sz="2800" dirty="0" smtClean="0">
                <a:solidFill>
                  <a:schemeClr val="tx1"/>
                </a:solidFill>
                <a:sym typeface="Wingdings" panose="05000000000000000000" pitchFamily="2" charset="2"/>
              </a:rPr>
              <a:t>	 </a:t>
            </a:r>
            <a:r>
              <a:rPr lang="en-US" sz="2400" dirty="0" smtClean="0">
                <a:solidFill>
                  <a:schemeClr val="tx1"/>
                </a:solidFill>
                <a:sym typeface="Wingdings" panose="05000000000000000000" pitchFamily="2" charset="2"/>
              </a:rPr>
              <a:t>Employee  Degree</a:t>
            </a:r>
          </a:p>
          <a:p>
            <a:pPr lvl="1" eaLnBrk="1" hangingPunct="1">
              <a:buFontTx/>
              <a:buNone/>
            </a:pPr>
            <a:r>
              <a:rPr lang="en-US" sz="2400" dirty="0" smtClean="0">
                <a:solidFill>
                  <a:schemeClr val="tx1"/>
                </a:solidFill>
                <a:sym typeface="Wingdings" panose="05000000000000000000" pitchFamily="2" charset="2"/>
              </a:rPr>
              <a:t>Employee  Sibling</a:t>
            </a:r>
          </a:p>
          <a:p>
            <a:pPr lvl="1" eaLnBrk="1" hangingPunct="1">
              <a:buFontTx/>
              <a:buNone/>
            </a:pPr>
            <a:r>
              <a:rPr lang="en-US" sz="2400" dirty="0" err="1" smtClean="0">
                <a:solidFill>
                  <a:schemeClr val="tx1"/>
                </a:solidFill>
                <a:sym typeface="Wingdings" panose="05000000000000000000" pitchFamily="2" charset="2"/>
              </a:rPr>
              <a:t>PartKit</a:t>
            </a:r>
            <a:r>
              <a:rPr lang="en-US" sz="2400" dirty="0" smtClean="0">
                <a:solidFill>
                  <a:schemeClr val="tx1"/>
                </a:solidFill>
                <a:sym typeface="Wingdings" panose="05000000000000000000" pitchFamily="2" charset="2"/>
              </a:rPr>
              <a:t>  Part</a:t>
            </a:r>
          </a:p>
          <a:p>
            <a:pPr eaLnBrk="1" hangingPunct="1"/>
            <a:r>
              <a:rPr lang="en-US" dirty="0" smtClean="0">
                <a:solidFill>
                  <a:schemeClr val="tx1"/>
                </a:solidFill>
              </a:rPr>
              <a:t>The determinant of a multivalued dependency can </a:t>
            </a:r>
            <a:r>
              <a:rPr lang="en-US" i="1" dirty="0" smtClean="0">
                <a:solidFill>
                  <a:schemeClr val="tx1"/>
                </a:solidFill>
              </a:rPr>
              <a:t>never</a:t>
            </a:r>
            <a:r>
              <a:rPr lang="en-US" dirty="0" smtClean="0">
                <a:solidFill>
                  <a:schemeClr val="tx1"/>
                </a:solidFill>
              </a:rPr>
              <a:t> be a primary key.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47800"/>
            <a:ext cx="6873240" cy="48736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3-</a:t>
            </a:r>
            <a:fld id="{F6661826-2724-4861-8343-6BABF56BCB63}" type="slidenum">
              <a:rPr lang="en-US" smtClean="0"/>
              <a:pPr>
                <a:defRPr/>
              </a:pPr>
              <a:t>13</a:t>
            </a:fld>
            <a:endParaRPr lang="en-US" smtClean="0"/>
          </a:p>
          <a:p>
            <a:pPr>
              <a:defRPr/>
            </a:pPr>
            <a:endParaRPr 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  <a:noFill/>
        </p:spPr>
        <p:txBody>
          <a:bodyPr/>
          <a:lstStyle/>
          <a:p>
            <a:pPr eaLnBrk="1" hangingPunct="1"/>
            <a:r>
              <a:rPr lang="en-US" dirty="0" err="1" smtClean="0">
                <a:solidFill>
                  <a:schemeClr val="tx1"/>
                </a:solidFill>
              </a:rPr>
              <a:t>Multivalued</a:t>
            </a:r>
            <a:r>
              <a:rPr lang="en-US" dirty="0" smtClean="0">
                <a:solidFill>
                  <a:schemeClr val="tx1"/>
                </a:solidFill>
              </a:rPr>
              <a:t> Dependencies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868362"/>
          </a:xfrm>
          <a:noFill/>
        </p:spPr>
        <p:txBody>
          <a:bodyPr/>
          <a:lstStyle/>
          <a:p>
            <a:pPr eaLnBrk="1" hangingPunct="1"/>
            <a:r>
              <a:rPr lang="en-US" dirty="0" smtClean="0"/>
              <a:t>Two Multivalued Dependencies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828800"/>
          <a:ext cx="79248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EmployeeName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EmployeeDegree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EmployeeSibling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Chau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Eileen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Chau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Jonathan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Nikki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Nikki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PhD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Nikki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Frank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Sally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Frank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Sally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62200" y="1295400"/>
            <a:ext cx="3640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EMPLOYEE_DEGREE_SIBLING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87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>
                <a:solidFill>
                  <a:schemeClr val="tx1"/>
                </a:solidFill>
              </a:rPr>
              <a:t>Eliminating Anomalies from </a:t>
            </a:r>
            <a:r>
              <a:rPr lang="en-US" sz="4000" dirty="0" err="1" smtClean="0">
                <a:solidFill>
                  <a:schemeClr val="tx1"/>
                </a:solidFill>
              </a:rPr>
              <a:t>Multivalued</a:t>
            </a:r>
            <a:r>
              <a:rPr lang="en-US" sz="4000" dirty="0" smtClean="0">
                <a:solidFill>
                  <a:schemeClr val="tx1"/>
                </a:solidFill>
              </a:rPr>
              <a:t> Dependencies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4592638"/>
          </a:xfrm>
        </p:spPr>
        <p:txBody>
          <a:bodyPr/>
          <a:lstStyle/>
          <a:p>
            <a:pPr eaLnBrk="1" hangingPunct="1"/>
            <a:r>
              <a:rPr lang="en-US" dirty="0" err="1" smtClean="0">
                <a:solidFill>
                  <a:schemeClr val="tx1"/>
                </a:solidFill>
              </a:rPr>
              <a:t>Multivalued</a:t>
            </a:r>
            <a:r>
              <a:rPr lang="en-US" dirty="0" smtClean="0">
                <a:solidFill>
                  <a:schemeClr val="tx1"/>
                </a:solidFill>
              </a:rPr>
              <a:t> dependencies are not a problem if they are in a separate relation, so:</a:t>
            </a:r>
          </a:p>
          <a:p>
            <a:pPr lvl="1" eaLnBrk="1" hangingPunct="1"/>
            <a:r>
              <a:rPr lang="en-US" dirty="0" smtClean="0">
                <a:solidFill>
                  <a:schemeClr val="tx1"/>
                </a:solidFill>
              </a:rPr>
              <a:t>Always put </a:t>
            </a:r>
            <a:r>
              <a:rPr lang="en-US" dirty="0" err="1" smtClean="0">
                <a:solidFill>
                  <a:schemeClr val="tx1"/>
                </a:solidFill>
              </a:rPr>
              <a:t>multivalued</a:t>
            </a:r>
            <a:r>
              <a:rPr lang="en-US" dirty="0" smtClean="0">
                <a:solidFill>
                  <a:schemeClr val="tx1"/>
                </a:solidFill>
              </a:rPr>
              <a:t> dependencies into their own relation.</a:t>
            </a:r>
          </a:p>
          <a:p>
            <a:pPr lvl="1" eaLnBrk="1" hangingPunct="1"/>
            <a:r>
              <a:rPr lang="en-US" dirty="0" smtClean="0">
                <a:solidFill>
                  <a:schemeClr val="tx1"/>
                </a:solidFill>
              </a:rPr>
              <a:t>This is known as </a:t>
            </a:r>
            <a:r>
              <a:rPr lang="en-US" b="1" dirty="0" smtClean="0">
                <a:solidFill>
                  <a:schemeClr val="tx1"/>
                </a:solidFill>
              </a:rPr>
              <a:t>Fourth Normal Form (4NF)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792162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</a:rPr>
              <a:t>That Very Strange Table Again</a:t>
            </a:r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609600" y="5592762"/>
            <a:ext cx="80772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800" dirty="0" smtClean="0"/>
              <a:t>Now we understand why this is a very strange table.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800" dirty="0" smtClean="0"/>
              <a:t> It has </a:t>
            </a:r>
            <a:r>
              <a:rPr lang="en-US" sz="1800" b="1" dirty="0" smtClean="0"/>
              <a:t>multivalued dependencies</a:t>
            </a:r>
            <a:r>
              <a:rPr lang="en-US" sz="1800" dirty="0" smtClean="0"/>
              <a:t>!</a:t>
            </a:r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1443037"/>
            <a:ext cx="5105400" cy="405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6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03238"/>
            <a:ext cx="8229600" cy="868362"/>
          </a:xfrm>
          <a:noFill/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</a:rPr>
              <a:t>4NF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76514"/>
            <a:ext cx="8229601" cy="3209886"/>
          </a:xfrm>
          <a:prstGeom prst="rect">
            <a:avLst/>
          </a:prstGeom>
        </p:spPr>
      </p:pic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609600" y="1601291"/>
            <a:ext cx="8077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sz="1800" dirty="0" smtClean="0"/>
              <a:t>Use </a:t>
            </a:r>
            <a:r>
              <a:rPr lang="en-US" sz="1800" b="1" dirty="0" smtClean="0"/>
              <a:t>4NF</a:t>
            </a:r>
            <a:r>
              <a:rPr lang="en-US" sz="1800" dirty="0" smtClean="0"/>
              <a:t> to resolve the </a:t>
            </a:r>
            <a:r>
              <a:rPr lang="en-US" sz="1800" b="1" dirty="0" smtClean="0"/>
              <a:t>multivalued dependencies</a:t>
            </a:r>
            <a:r>
              <a:rPr lang="en-US" sz="1800" dirty="0" smtClean="0"/>
              <a:t>!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1939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FA34AA-6A8D-4839-8694-733933994948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Denormalization</a:t>
            </a:r>
            <a:endParaRPr lang="en-US" sz="3200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81125"/>
            <a:ext cx="8239125" cy="5006975"/>
          </a:xfrm>
        </p:spPr>
        <p:txBody>
          <a:bodyPr/>
          <a:lstStyle/>
          <a:p>
            <a:pPr marL="533400" indent="-533400" eaLnBrk="1" hangingPunct="1"/>
            <a:r>
              <a:rPr lang="en-US" alt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Normalization is one of many database design goals.</a:t>
            </a:r>
          </a:p>
          <a:p>
            <a:pPr marL="533400" indent="-533400" eaLnBrk="1" hangingPunct="1"/>
            <a:r>
              <a:rPr lang="en-US" alt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However, normalized tables result in:</a:t>
            </a:r>
            <a:endParaRPr lang="en-US" alt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14400" lvl="1" indent="-457200" eaLnBrk="1" hangingPunct="1"/>
            <a:r>
              <a:rPr lang="en-US" alt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additional processing</a:t>
            </a:r>
          </a:p>
          <a:p>
            <a:pPr marL="914400" lvl="1" indent="-457200" eaLnBrk="1" hangingPunct="1"/>
            <a:r>
              <a:rPr lang="en-US" alt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loss of system speed</a:t>
            </a:r>
          </a:p>
          <a:p>
            <a:pPr marL="533400" indent="-533400" eaLnBrk="1" hangingPunct="1"/>
            <a:r>
              <a:rPr lang="en-US" altLang="en-US" sz="2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When normalization purity is difficult to sustain due to conflict in:</a:t>
            </a:r>
            <a:endParaRPr lang="en-US" altLang="en-US" sz="20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14400" lvl="1" indent="-457200" eaLnBrk="1" hangingPunct="1"/>
            <a:r>
              <a:rPr lang="en-US" alt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design efficiency</a:t>
            </a:r>
          </a:p>
          <a:p>
            <a:pPr marL="914400" lvl="1" indent="-457200" eaLnBrk="1" hangingPunct="1"/>
            <a:r>
              <a:rPr lang="en-US" alt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information requirements</a:t>
            </a:r>
          </a:p>
          <a:p>
            <a:pPr marL="914400" lvl="1" indent="-457200" eaLnBrk="1" hangingPunct="1"/>
            <a:r>
              <a:rPr lang="en-US" alt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processing speed</a:t>
            </a:r>
            <a:br>
              <a:rPr lang="en-US" alt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endParaRPr lang="en-US" altLang="en-US" sz="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914400" lvl="1" indent="-457200" eaLnBrk="1" hangingPunct="1">
              <a:buSzPct val="100000"/>
              <a:buFont typeface="Symbol" pitchFamily="18" charset="2"/>
              <a:buChar char="®"/>
            </a:pPr>
            <a:r>
              <a:rPr lang="en-US" altLang="en-US" sz="20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Denormalize</a:t>
            </a:r>
            <a:r>
              <a:rPr lang="en-US" altLang="en-US" sz="20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by</a:t>
            </a:r>
          </a:p>
          <a:p>
            <a:pPr marL="1314450" lvl="2" indent="-457200" eaLnBrk="1" hangingPunct="1"/>
            <a:r>
              <a:rPr lang="en-US" alt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use of lower normal form</a:t>
            </a:r>
          </a:p>
          <a:p>
            <a:pPr marL="1314450" lvl="2" indent="-457200" eaLnBrk="1" hangingPunct="1"/>
            <a:r>
              <a:rPr lang="en-US" altLang="en-US" sz="18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use of controlled data redundancies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</a:rPr>
              <a:t>Table 6.6 – Common </a:t>
            </a:r>
            <a:r>
              <a:rPr lang="en-US" altLang="en-US" dirty="0" err="1" smtClean="0">
                <a:solidFill>
                  <a:schemeClr val="tx1"/>
                </a:solidFill>
              </a:rPr>
              <a:t>Denormalization</a:t>
            </a:r>
            <a:r>
              <a:rPr lang="en-US" altLang="en-US" dirty="0" smtClean="0">
                <a:solidFill>
                  <a:schemeClr val="tx1"/>
                </a:solidFill>
              </a:rPr>
              <a:t> Examples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057400"/>
            <a:ext cx="7186759" cy="4056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FA34AA-6A8D-4839-8694-733933994948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Denormalization</a:t>
            </a:r>
            <a:endParaRPr lang="en-US" sz="3200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990600"/>
            <a:ext cx="579324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Denormalization</a:t>
            </a:r>
            <a:endParaRPr lang="en-US" dirty="0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1981200"/>
          </a:xfrm>
        </p:spPr>
        <p:txBody>
          <a:bodyPr/>
          <a:lstStyle/>
          <a:p>
            <a:r>
              <a:rPr lang="en-US" dirty="0" smtClean="0"/>
              <a:t>In order to generate the report below, a temporary </a:t>
            </a:r>
            <a:r>
              <a:rPr lang="en-US" dirty="0" err="1" smtClean="0"/>
              <a:t>denormalized</a:t>
            </a:r>
            <a:r>
              <a:rPr lang="en-US" dirty="0" smtClean="0"/>
              <a:t> table is used since the last four semesters of each faculty member could be different due to sabbatical, leave, start date, etc</a:t>
            </a:r>
          </a:p>
          <a:p>
            <a:endParaRPr lang="en-US" dirty="0" smtClean="0"/>
          </a:p>
        </p:txBody>
      </p:sp>
      <p:pic>
        <p:nvPicPr>
          <p:cNvPr id="63494" name="Picture 2"/>
          <p:cNvPicPr>
            <a:picLocks noChangeAspect="1" noChangeArrowheads="1"/>
          </p:cNvPicPr>
          <p:nvPr/>
        </p:nvPicPr>
        <p:blipFill>
          <a:blip r:embed="rId3"/>
          <a:srcRect l="12516" t="24765" r="12386" b="7692"/>
          <a:stretch>
            <a:fillRect/>
          </a:stretch>
        </p:blipFill>
        <p:spPr bwMode="auto">
          <a:xfrm>
            <a:off x="685800" y="3505200"/>
            <a:ext cx="768096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Denormalization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534400" cy="1447800"/>
          </a:xfrm>
        </p:spPr>
        <p:txBody>
          <a:bodyPr/>
          <a:lstStyle/>
          <a:p>
            <a:r>
              <a:rPr lang="en-US" sz="2400" dirty="0" smtClean="0"/>
              <a:t>EVALDATA is the master data table which is normalized</a:t>
            </a:r>
          </a:p>
          <a:p>
            <a:r>
              <a:rPr lang="en-US" sz="2400" dirty="0" smtClean="0"/>
              <a:t>FACHIST is created via a series of queries in order to produce the desired report</a:t>
            </a:r>
          </a:p>
        </p:txBody>
      </p:sp>
      <p:pic>
        <p:nvPicPr>
          <p:cNvPr id="64518" name="Picture 2"/>
          <p:cNvPicPr>
            <a:picLocks noChangeAspect="1" noChangeArrowheads="1"/>
          </p:cNvPicPr>
          <p:nvPr/>
        </p:nvPicPr>
        <p:blipFill>
          <a:blip r:embed="rId3"/>
          <a:srcRect t="14590" b="3343"/>
          <a:stretch>
            <a:fillRect/>
          </a:stretch>
        </p:blipFill>
        <p:spPr bwMode="auto">
          <a:xfrm>
            <a:off x="990600" y="2895600"/>
            <a:ext cx="7137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</a:rPr>
              <a:t>Table 6.7 - Data-Modeling Checklist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38400"/>
            <a:ext cx="7968157" cy="196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0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</a:rPr>
              <a:t>Table 6.7 - Data-Modeling Checklist (cont’d.)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62200"/>
            <a:ext cx="8207101" cy="3268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</a:rPr>
              <a:t>Table 6.7 - Data-Modeling Checklist (cont’d.)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79"/>
          <a:stretch/>
        </p:blipFill>
        <p:spPr>
          <a:xfrm>
            <a:off x="457200" y="2362200"/>
            <a:ext cx="8207101" cy="2775857"/>
          </a:xfrm>
          <a:prstGeom prst="rect">
            <a:avLst/>
          </a:prstGeom>
        </p:spPr>
      </p:pic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2667000"/>
            <a:ext cx="80772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4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</a:rPr>
              <a:t>Table 6.7 - Data-Modeling Checklist (cont’d.)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663"/>
          <a:stretch/>
        </p:blipFill>
        <p:spPr>
          <a:xfrm>
            <a:off x="457200" y="2362201"/>
            <a:ext cx="8207101" cy="2201090"/>
          </a:xfrm>
          <a:prstGeom prst="rect">
            <a:avLst/>
          </a:prstGeom>
        </p:spPr>
      </p:pic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67000"/>
            <a:ext cx="8205611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34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>
            <a:normAutofit/>
          </a:bodyPr>
          <a:lstStyle/>
          <a:p>
            <a:r>
              <a:rPr lang="en-GB" dirty="0" smtClean="0"/>
              <a:t>Normalization Process</a:t>
            </a:r>
            <a:endParaRPr lang="en-US" dirty="0"/>
          </a:p>
        </p:txBody>
      </p:sp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94AF871B-F9E2-4502-8D49-A033BD665AAB}" type="slidenum">
              <a:rPr lang="en-US"/>
              <a:pPr/>
              <a:t>27</a:t>
            </a:fld>
            <a:endParaRPr lang="en-US"/>
          </a:p>
        </p:txBody>
      </p:sp>
      <p:sp>
        <p:nvSpPr>
          <p:cNvPr id="396291" name="Rectangle 3"/>
          <p:cNvSpPr>
            <a:spLocks noChangeArrowheads="1"/>
          </p:cNvSpPr>
          <p:nvPr/>
        </p:nvSpPr>
        <p:spPr bwMode="auto">
          <a:xfrm>
            <a:off x="2667001" y="5105400"/>
            <a:ext cx="838200" cy="457200"/>
          </a:xfrm>
          <a:prstGeom prst="rect">
            <a:avLst/>
          </a:prstGeom>
          <a:solidFill>
            <a:srgbClr val="FF00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sz="1600" dirty="0">
                <a:solidFill>
                  <a:schemeClr val="bg1"/>
                </a:solidFill>
              </a:rPr>
              <a:t>2NF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743200" y="1960569"/>
            <a:ext cx="2943225" cy="630238"/>
            <a:chOff x="528" y="2250"/>
            <a:chExt cx="1854" cy="397"/>
          </a:xfrm>
        </p:grpSpPr>
        <p:sp>
          <p:nvSpPr>
            <p:cNvPr id="396294" name="Rectangle 6"/>
            <p:cNvSpPr>
              <a:spLocks noChangeArrowheads="1"/>
            </p:cNvSpPr>
            <p:nvPr/>
          </p:nvSpPr>
          <p:spPr bwMode="auto">
            <a:xfrm>
              <a:off x="528" y="2304"/>
              <a:ext cx="528" cy="288"/>
            </a:xfrm>
            <a:prstGeom prst="rect">
              <a:avLst/>
            </a:prstGeom>
            <a:solidFill>
              <a:srgbClr val="FF0066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sz="1600" dirty="0">
                  <a:solidFill>
                    <a:schemeClr val="bg1"/>
                  </a:solidFill>
                </a:rPr>
                <a:t>UNF</a:t>
              </a:r>
            </a:p>
          </p:txBody>
        </p:sp>
        <p:sp>
          <p:nvSpPr>
            <p:cNvPr id="396295" name="Text Box 7"/>
            <p:cNvSpPr txBox="1">
              <a:spLocks noChangeArrowheads="1"/>
            </p:cNvSpPr>
            <p:nvPr/>
          </p:nvSpPr>
          <p:spPr bwMode="auto">
            <a:xfrm>
              <a:off x="1020" y="2250"/>
              <a:ext cx="1362" cy="3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342900" indent="-342900" algn="l"/>
              <a:r>
                <a:rPr lang="en-US" sz="1600" b="0" dirty="0" smtClean="0">
                  <a:solidFill>
                    <a:srgbClr val="800080"/>
                  </a:solidFill>
                </a:rPr>
                <a:t>1)Repeat Group</a:t>
              </a:r>
            </a:p>
            <a:p>
              <a:pPr marL="342900" indent="-342900" algn="l"/>
              <a:r>
                <a:rPr lang="en-US" sz="1600" b="0" dirty="0" smtClean="0">
                  <a:solidFill>
                    <a:srgbClr val="800080"/>
                  </a:solidFill>
                </a:rPr>
                <a:t>2)PK is not defined</a:t>
              </a:r>
              <a:endParaRPr lang="en-US" sz="1600" b="0" dirty="0">
                <a:solidFill>
                  <a:srgbClr val="800080"/>
                </a:solidFill>
              </a:endParaRP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774950" y="3290279"/>
            <a:ext cx="4143375" cy="830263"/>
            <a:chOff x="912" y="2592"/>
            <a:chExt cx="3474" cy="523"/>
          </a:xfrm>
        </p:grpSpPr>
        <p:sp>
          <p:nvSpPr>
            <p:cNvPr id="396297" name="Rectangle 9"/>
            <p:cNvSpPr>
              <a:spLocks noChangeArrowheads="1"/>
            </p:cNvSpPr>
            <p:nvPr/>
          </p:nvSpPr>
          <p:spPr bwMode="auto">
            <a:xfrm>
              <a:off x="912" y="2640"/>
              <a:ext cx="528" cy="288"/>
            </a:xfrm>
            <a:prstGeom prst="rect">
              <a:avLst/>
            </a:prstGeom>
            <a:solidFill>
              <a:srgbClr val="FF0066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sz="1600" dirty="0">
                  <a:solidFill>
                    <a:schemeClr val="bg1"/>
                  </a:solidFill>
                </a:rPr>
                <a:t>1NF</a:t>
              </a:r>
            </a:p>
          </p:txBody>
        </p:sp>
        <p:sp>
          <p:nvSpPr>
            <p:cNvPr id="396298" name="Text Box 10"/>
            <p:cNvSpPr txBox="1">
              <a:spLocks noChangeArrowheads="1"/>
            </p:cNvSpPr>
            <p:nvPr/>
          </p:nvSpPr>
          <p:spPr bwMode="auto">
            <a:xfrm>
              <a:off x="1410" y="2592"/>
              <a:ext cx="2976" cy="52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342900" indent="-342900" algn="l"/>
              <a:r>
                <a:rPr lang="en-US" sz="1600" b="0" dirty="0">
                  <a:solidFill>
                    <a:srgbClr val="800080"/>
                  </a:solidFill>
                </a:rPr>
                <a:t>1)Remove Repeat Group</a:t>
              </a:r>
            </a:p>
            <a:p>
              <a:pPr marL="342900" indent="-342900" algn="l"/>
              <a:r>
                <a:rPr lang="en-US" sz="1600" b="0" dirty="0">
                  <a:solidFill>
                    <a:srgbClr val="800080"/>
                  </a:solidFill>
                </a:rPr>
                <a:t>2)Defined PK </a:t>
              </a:r>
              <a:r>
                <a:rPr lang="en-US" sz="1600" b="0" dirty="0">
                  <a:solidFill>
                    <a:srgbClr val="800080"/>
                  </a:solidFill>
                  <a:sym typeface="Wingdings" pitchFamily="2" charset="2"/>
                </a:rPr>
                <a:t> composite PK consist of attributes</a:t>
              </a:r>
              <a:endParaRPr lang="en-US" sz="1600" b="0" dirty="0">
                <a:solidFill>
                  <a:srgbClr val="800080"/>
                </a:solidFill>
              </a:endParaRPr>
            </a:p>
          </p:txBody>
        </p:sp>
      </p:grpSp>
      <p:sp>
        <p:nvSpPr>
          <p:cNvPr id="396299" name="Rectangle 11"/>
          <p:cNvSpPr>
            <a:spLocks noChangeArrowheads="1"/>
          </p:cNvSpPr>
          <p:nvPr/>
        </p:nvSpPr>
        <p:spPr bwMode="auto">
          <a:xfrm>
            <a:off x="3689350" y="4107843"/>
            <a:ext cx="278765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l"/>
            <a:r>
              <a:rPr lang="en-US" sz="1600" b="0" dirty="0">
                <a:solidFill>
                  <a:srgbClr val="800080"/>
                </a:solidFill>
              </a:rPr>
              <a:t>Test for </a:t>
            </a:r>
            <a:r>
              <a:rPr lang="en-US" sz="1600" i="1" u="sng" dirty="0">
                <a:solidFill>
                  <a:srgbClr val="800080"/>
                </a:solidFill>
              </a:rPr>
              <a:t>partial dependency</a:t>
            </a:r>
          </a:p>
          <a:p>
            <a:pPr marL="342900" indent="-342900" algn="l"/>
            <a:r>
              <a:rPr lang="en-US" sz="1600" b="0" dirty="0">
                <a:solidFill>
                  <a:srgbClr val="800080"/>
                </a:solidFill>
              </a:rPr>
              <a:t>If (exist)</a:t>
            </a:r>
          </a:p>
        </p:txBody>
      </p:sp>
      <p:sp>
        <p:nvSpPr>
          <p:cNvPr id="396300" name="Line 12"/>
          <p:cNvSpPr>
            <a:spLocks noChangeShapeType="1"/>
          </p:cNvSpPr>
          <p:nvPr/>
        </p:nvSpPr>
        <p:spPr bwMode="auto">
          <a:xfrm>
            <a:off x="3048000" y="3962400"/>
            <a:ext cx="609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01" name="Line 13"/>
          <p:cNvSpPr>
            <a:spLocks noChangeShapeType="1"/>
          </p:cNvSpPr>
          <p:nvPr/>
        </p:nvSpPr>
        <p:spPr bwMode="auto">
          <a:xfrm flipH="1">
            <a:off x="3133726" y="4724400"/>
            <a:ext cx="981074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02" name="Rectangle 14"/>
          <p:cNvSpPr>
            <a:spLocks noChangeArrowheads="1"/>
          </p:cNvSpPr>
          <p:nvPr/>
        </p:nvSpPr>
        <p:spPr bwMode="auto">
          <a:xfrm>
            <a:off x="5334001" y="1981200"/>
            <a:ext cx="10668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l"/>
            <a:r>
              <a:rPr lang="en-US" sz="1400" dirty="0"/>
              <a:t>(1 Table)</a:t>
            </a:r>
          </a:p>
        </p:txBody>
      </p:sp>
      <p:sp>
        <p:nvSpPr>
          <p:cNvPr id="396303" name="Rectangle 15"/>
          <p:cNvSpPr>
            <a:spLocks noChangeArrowheads="1"/>
          </p:cNvSpPr>
          <p:nvPr/>
        </p:nvSpPr>
        <p:spPr bwMode="auto">
          <a:xfrm>
            <a:off x="3400425" y="5676900"/>
            <a:ext cx="3076575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 algn="l"/>
            <a:r>
              <a:rPr lang="en-US" sz="1600" b="0" dirty="0">
                <a:solidFill>
                  <a:srgbClr val="800080"/>
                </a:solidFill>
              </a:rPr>
              <a:t>Test for </a:t>
            </a:r>
            <a:r>
              <a:rPr lang="en-US" sz="1600" i="1" u="sng" dirty="0">
                <a:solidFill>
                  <a:srgbClr val="800080"/>
                </a:solidFill>
              </a:rPr>
              <a:t>transitive dependency</a:t>
            </a:r>
          </a:p>
          <a:p>
            <a:pPr marL="342900" indent="-342900" algn="l"/>
            <a:r>
              <a:rPr lang="en-US" sz="1600" b="0" dirty="0">
                <a:solidFill>
                  <a:srgbClr val="800080"/>
                </a:solidFill>
              </a:rPr>
              <a:t>If (exist)</a:t>
            </a:r>
          </a:p>
        </p:txBody>
      </p:sp>
      <p:sp>
        <p:nvSpPr>
          <p:cNvPr id="396305" name="Rectangle 17"/>
          <p:cNvSpPr>
            <a:spLocks noChangeArrowheads="1"/>
          </p:cNvSpPr>
          <p:nvPr/>
        </p:nvSpPr>
        <p:spPr bwMode="auto">
          <a:xfrm>
            <a:off x="4876800" y="3276600"/>
            <a:ext cx="164306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l"/>
            <a:r>
              <a:rPr lang="en-US" sz="1400" dirty="0"/>
              <a:t>(1 or 2 Tables)</a:t>
            </a:r>
          </a:p>
        </p:txBody>
      </p:sp>
      <p:sp>
        <p:nvSpPr>
          <p:cNvPr id="396306" name="Rectangle 18"/>
          <p:cNvSpPr>
            <a:spLocks noChangeArrowheads="1"/>
          </p:cNvSpPr>
          <p:nvPr/>
        </p:nvSpPr>
        <p:spPr bwMode="auto">
          <a:xfrm>
            <a:off x="3519489" y="4991100"/>
            <a:ext cx="2438400" cy="560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l"/>
            <a:r>
              <a:rPr lang="en-US" sz="1400" dirty="0"/>
              <a:t>(2 or 3 Tables)</a:t>
            </a:r>
          </a:p>
          <a:p>
            <a:pPr marL="342900" indent="-342900" algn="l"/>
            <a:r>
              <a:rPr lang="en-US" sz="1400" dirty="0"/>
              <a:t>(more then 1 table)</a:t>
            </a:r>
          </a:p>
        </p:txBody>
      </p:sp>
      <p:sp>
        <p:nvSpPr>
          <p:cNvPr id="396308" name="Rectangle 20"/>
          <p:cNvSpPr>
            <a:spLocks noChangeArrowheads="1"/>
          </p:cNvSpPr>
          <p:nvPr/>
        </p:nvSpPr>
        <p:spPr bwMode="auto">
          <a:xfrm>
            <a:off x="276225" y="5080980"/>
            <a:ext cx="1752600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l"/>
            <a:r>
              <a:rPr lang="en-US" sz="1600" b="0" dirty="0" smtClean="0">
                <a:sym typeface="Wingdings" pitchFamily="2" charset="2"/>
              </a:rPr>
              <a:t>(</a:t>
            </a:r>
            <a:r>
              <a:rPr lang="en-US" sz="1600" b="0" u="sng" dirty="0">
                <a:sym typeface="Wingdings" pitchFamily="2" charset="2"/>
              </a:rPr>
              <a:t>a</a:t>
            </a:r>
            <a:r>
              <a:rPr lang="en-US" sz="1600" b="0" dirty="0">
                <a:sym typeface="Wingdings" pitchFamily="2" charset="2"/>
              </a:rPr>
              <a:t>  </a:t>
            </a:r>
            <a:r>
              <a:rPr lang="en-US" sz="1600" b="0" dirty="0" smtClean="0">
                <a:sym typeface="Wingdings" pitchFamily="2" charset="2"/>
              </a:rPr>
              <a:t>…… TD</a:t>
            </a:r>
            <a:r>
              <a:rPr lang="en-US" sz="1600" b="0" dirty="0">
                <a:sym typeface="Wingdings" pitchFamily="2" charset="2"/>
              </a:rPr>
              <a:t>) </a:t>
            </a:r>
            <a:r>
              <a:rPr lang="en-US" sz="1600" b="0" dirty="0" smtClean="0">
                <a:sym typeface="Wingdings" pitchFamily="2" charset="2"/>
              </a:rPr>
              <a:t>1</a:t>
            </a:r>
            <a:endParaRPr lang="en-US" sz="1600" b="0" dirty="0">
              <a:sym typeface="Wingdings" pitchFamily="2" charset="2"/>
            </a:endParaRPr>
          </a:p>
          <a:p>
            <a:pPr marL="342900" indent="-342900" algn="l"/>
            <a:r>
              <a:rPr lang="en-US" sz="1600" b="0" dirty="0">
                <a:sym typeface="Wingdings" pitchFamily="2" charset="2"/>
              </a:rPr>
              <a:t>(</a:t>
            </a:r>
            <a:r>
              <a:rPr lang="en-US" sz="1600" b="0" u="sng" dirty="0">
                <a:sym typeface="Wingdings" pitchFamily="2" charset="2"/>
              </a:rPr>
              <a:t>b</a:t>
            </a:r>
            <a:r>
              <a:rPr lang="en-US" sz="1600" b="0" dirty="0">
                <a:sym typeface="Wingdings" pitchFamily="2" charset="2"/>
              </a:rPr>
              <a:t>  </a:t>
            </a:r>
            <a:r>
              <a:rPr lang="en-US" sz="1600" b="0" dirty="0" smtClean="0">
                <a:sym typeface="Wingdings" pitchFamily="2" charset="2"/>
              </a:rPr>
              <a:t>….. TD</a:t>
            </a:r>
            <a:r>
              <a:rPr lang="en-US" sz="1600" b="0" dirty="0">
                <a:sym typeface="Wingdings" pitchFamily="2" charset="2"/>
              </a:rPr>
              <a:t>) </a:t>
            </a:r>
            <a:r>
              <a:rPr lang="en-US" sz="1600" dirty="0" smtClean="0">
                <a:sym typeface="Wingdings" pitchFamily="2" charset="2"/>
              </a:rPr>
              <a:t>2</a:t>
            </a:r>
            <a:endParaRPr lang="en-US" sz="1600" b="0" dirty="0" smtClean="0">
              <a:sym typeface="Wingdings" pitchFamily="2" charset="2"/>
            </a:endParaRPr>
          </a:p>
          <a:p>
            <a:pPr marL="342900" indent="-342900"/>
            <a:r>
              <a:rPr lang="en-US" sz="1600" dirty="0" smtClean="0"/>
              <a:t>(</a:t>
            </a:r>
            <a:r>
              <a:rPr lang="en-US" sz="1600" u="sng" dirty="0" smtClean="0"/>
              <a:t>a</a:t>
            </a:r>
            <a:r>
              <a:rPr lang="en-US" sz="1600" dirty="0" smtClean="0"/>
              <a:t> </a:t>
            </a:r>
            <a:r>
              <a:rPr lang="en-US" sz="1600" u="sng" dirty="0" smtClean="0"/>
              <a:t>b</a:t>
            </a:r>
            <a:r>
              <a:rPr lang="en-US" sz="1600" dirty="0" smtClean="0">
                <a:sym typeface="Wingdings" pitchFamily="2" charset="2"/>
              </a:rPr>
              <a:t> …. TD) 3</a:t>
            </a:r>
          </a:p>
        </p:txBody>
      </p:sp>
      <p:sp>
        <p:nvSpPr>
          <p:cNvPr id="396318" name="Line 30"/>
          <p:cNvSpPr>
            <a:spLocks noChangeShapeType="1"/>
          </p:cNvSpPr>
          <p:nvPr/>
        </p:nvSpPr>
        <p:spPr bwMode="auto">
          <a:xfrm>
            <a:off x="6629400" y="1447800"/>
            <a:ext cx="0" cy="5359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19" name="Rectangle 31"/>
          <p:cNvSpPr>
            <a:spLocks noChangeArrowheads="1"/>
          </p:cNvSpPr>
          <p:nvPr/>
        </p:nvSpPr>
        <p:spPr bwMode="auto">
          <a:xfrm>
            <a:off x="1981200" y="1276350"/>
            <a:ext cx="3733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GB" sz="1400">
                <a:solidFill>
                  <a:schemeClr val="tx1"/>
                </a:solidFill>
                <a:latin typeface="Verdana" pitchFamily="34" charset="0"/>
              </a:rPr>
              <a:t>Normalization Process</a:t>
            </a:r>
            <a:r>
              <a:rPr lang="en-GB" sz="2400" b="0">
                <a:solidFill>
                  <a:schemeClr val="tx1"/>
                </a:solidFill>
                <a:latin typeface="Verdana" pitchFamily="34" charset="0"/>
              </a:rPr>
              <a:t> </a:t>
            </a:r>
            <a:endParaRPr lang="en-US" sz="2400" b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396320" name="Line 32"/>
          <p:cNvSpPr>
            <a:spLocks noChangeShapeType="1"/>
          </p:cNvSpPr>
          <p:nvPr/>
        </p:nvSpPr>
        <p:spPr bwMode="auto">
          <a:xfrm>
            <a:off x="0" y="1419225"/>
            <a:ext cx="0" cy="5410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1" name="Line 33"/>
          <p:cNvSpPr>
            <a:spLocks noChangeShapeType="1"/>
          </p:cNvSpPr>
          <p:nvPr/>
        </p:nvSpPr>
        <p:spPr bwMode="auto">
          <a:xfrm flipH="1">
            <a:off x="9134475" y="1409700"/>
            <a:ext cx="9525" cy="5448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2" name="Line 34"/>
          <p:cNvSpPr>
            <a:spLocks noChangeShapeType="1"/>
          </p:cNvSpPr>
          <p:nvPr/>
        </p:nvSpPr>
        <p:spPr bwMode="auto">
          <a:xfrm>
            <a:off x="0" y="68580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3" name="Line 35"/>
          <p:cNvSpPr>
            <a:spLocks noChangeShapeType="1"/>
          </p:cNvSpPr>
          <p:nvPr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4" name="Line 36"/>
          <p:cNvSpPr>
            <a:spLocks noChangeShapeType="1"/>
          </p:cNvSpPr>
          <p:nvPr/>
        </p:nvSpPr>
        <p:spPr bwMode="auto">
          <a:xfrm>
            <a:off x="0" y="18288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6" name="Line 38"/>
          <p:cNvSpPr>
            <a:spLocks noChangeShapeType="1"/>
          </p:cNvSpPr>
          <p:nvPr/>
        </p:nvSpPr>
        <p:spPr bwMode="auto">
          <a:xfrm>
            <a:off x="12700" y="323948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31" name="Rectangle 43"/>
          <p:cNvSpPr>
            <a:spLocks noChangeArrowheads="1"/>
          </p:cNvSpPr>
          <p:nvPr/>
        </p:nvSpPr>
        <p:spPr bwMode="auto">
          <a:xfrm>
            <a:off x="6591300" y="1314450"/>
            <a:ext cx="3733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GB" sz="1400" dirty="0" smtClean="0">
                <a:solidFill>
                  <a:schemeClr val="tx1"/>
                </a:solidFill>
                <a:latin typeface="Verdana" pitchFamily="34" charset="0"/>
              </a:rPr>
              <a:t>Relation/Table </a:t>
            </a:r>
            <a:r>
              <a:rPr lang="en-GB" sz="1400" dirty="0">
                <a:solidFill>
                  <a:schemeClr val="tx1"/>
                </a:solidFill>
                <a:latin typeface="Verdana" pitchFamily="34" charset="0"/>
              </a:rPr>
              <a:t>Format</a:t>
            </a:r>
            <a:r>
              <a:rPr lang="en-GB" sz="2000" b="0" dirty="0">
                <a:solidFill>
                  <a:schemeClr val="tx1"/>
                </a:solidFill>
                <a:latin typeface="Verdana" pitchFamily="34" charset="0"/>
              </a:rPr>
              <a:t> </a:t>
            </a:r>
            <a:endParaRPr lang="en-US" sz="2000" b="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396332" name="Rectangle 44"/>
          <p:cNvSpPr>
            <a:spLocks noChangeArrowheads="1"/>
          </p:cNvSpPr>
          <p:nvPr/>
        </p:nvSpPr>
        <p:spPr bwMode="auto">
          <a:xfrm>
            <a:off x="6670675" y="1871663"/>
            <a:ext cx="2320925" cy="79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  <a:buClrTx/>
              <a:buSzTx/>
              <a:buFontTx/>
              <a:buChar char="-"/>
            </a:pPr>
            <a: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Have repeating group</a:t>
            </a:r>
            <a:b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</a:br>
            <a: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-PK not defined</a:t>
            </a:r>
            <a:endParaRPr lang="en-US" sz="1400" dirty="0">
              <a:solidFill>
                <a:srgbClr val="0066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6333" name="Rectangle 45"/>
          <p:cNvSpPr>
            <a:spLocks noChangeArrowheads="1"/>
          </p:cNvSpPr>
          <p:nvPr/>
        </p:nvSpPr>
        <p:spPr bwMode="auto">
          <a:xfrm>
            <a:off x="6629400" y="3485543"/>
            <a:ext cx="2320925" cy="79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  <a:buClrTx/>
              <a:buSzTx/>
              <a:buFontTx/>
              <a:buChar char="-"/>
            </a:pPr>
            <a: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No repeating group</a:t>
            </a:r>
            <a:b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</a:br>
            <a: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-PK defined</a:t>
            </a:r>
            <a:b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</a:br>
            <a: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-Test partial dependency</a:t>
            </a:r>
            <a:endParaRPr lang="en-US" sz="1400" dirty="0">
              <a:solidFill>
                <a:srgbClr val="0066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6335" name="Rectangle 47"/>
          <p:cNvSpPr>
            <a:spLocks noChangeArrowheads="1"/>
          </p:cNvSpPr>
          <p:nvPr/>
        </p:nvSpPr>
        <p:spPr bwMode="auto">
          <a:xfrm>
            <a:off x="6629400" y="5161943"/>
            <a:ext cx="2514600" cy="79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  <a:buClrTx/>
              <a:buSzTx/>
              <a:buFontTx/>
              <a:buChar char="-"/>
            </a:pPr>
            <a: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No repeating group</a:t>
            </a:r>
            <a:b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</a:br>
            <a: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-PK defined</a:t>
            </a:r>
            <a:b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</a:br>
            <a: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-No partial dependency</a:t>
            </a:r>
            <a:b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</a:br>
            <a:r>
              <a:rPr lang="en-GB" sz="1400" dirty="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-Test transitive dependency</a:t>
            </a:r>
            <a:endParaRPr lang="en-US" sz="1400" dirty="0">
              <a:solidFill>
                <a:srgbClr val="0066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>
            <a:off x="0" y="483968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981200"/>
            <a:ext cx="2438400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1" y="3352800"/>
            <a:ext cx="2478677" cy="1005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>
            <a:normAutofit/>
          </a:bodyPr>
          <a:lstStyle/>
          <a:p>
            <a:r>
              <a:rPr lang="en-GB" dirty="0" smtClean="0"/>
              <a:t>Normalization Process</a:t>
            </a:r>
            <a:endParaRPr lang="en-US" dirty="0"/>
          </a:p>
        </p:txBody>
      </p:sp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94AF871B-F9E2-4502-8D49-A033BD665AAB}" type="slidenum">
              <a:rPr lang="en-US"/>
              <a:pPr/>
              <a:t>28</a:t>
            </a:fld>
            <a:endParaRPr lang="en-US"/>
          </a:p>
        </p:txBody>
      </p:sp>
      <p:sp>
        <p:nvSpPr>
          <p:cNvPr id="396294" name="Rectangle 6"/>
          <p:cNvSpPr>
            <a:spLocks noChangeArrowheads="1"/>
          </p:cNvSpPr>
          <p:nvPr/>
        </p:nvSpPr>
        <p:spPr bwMode="auto">
          <a:xfrm>
            <a:off x="2971800" y="4343400"/>
            <a:ext cx="838200" cy="457200"/>
          </a:xfrm>
          <a:prstGeom prst="rect">
            <a:avLst/>
          </a:prstGeom>
          <a:solidFill>
            <a:srgbClr val="FF00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sz="1600" dirty="0" smtClean="0">
                <a:solidFill>
                  <a:schemeClr val="bg1"/>
                </a:solidFill>
              </a:rPr>
              <a:t>4NF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96318" name="Line 30"/>
          <p:cNvSpPr>
            <a:spLocks noChangeShapeType="1"/>
          </p:cNvSpPr>
          <p:nvPr/>
        </p:nvSpPr>
        <p:spPr bwMode="auto">
          <a:xfrm>
            <a:off x="6629400" y="1447800"/>
            <a:ext cx="0" cy="5359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19" name="Rectangle 31"/>
          <p:cNvSpPr>
            <a:spLocks noChangeArrowheads="1"/>
          </p:cNvSpPr>
          <p:nvPr/>
        </p:nvSpPr>
        <p:spPr bwMode="auto">
          <a:xfrm>
            <a:off x="1981200" y="1276350"/>
            <a:ext cx="3733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GB" sz="1400">
                <a:solidFill>
                  <a:schemeClr val="tx1"/>
                </a:solidFill>
                <a:latin typeface="Verdana" pitchFamily="34" charset="0"/>
              </a:rPr>
              <a:t>Normalization Process</a:t>
            </a:r>
            <a:r>
              <a:rPr lang="en-GB" sz="2400" b="0">
                <a:solidFill>
                  <a:schemeClr val="tx1"/>
                </a:solidFill>
                <a:latin typeface="Verdana" pitchFamily="34" charset="0"/>
              </a:rPr>
              <a:t> </a:t>
            </a:r>
            <a:endParaRPr lang="en-US" sz="2400" b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396320" name="Line 32"/>
          <p:cNvSpPr>
            <a:spLocks noChangeShapeType="1"/>
          </p:cNvSpPr>
          <p:nvPr/>
        </p:nvSpPr>
        <p:spPr bwMode="auto">
          <a:xfrm>
            <a:off x="0" y="1419225"/>
            <a:ext cx="0" cy="5410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1" name="Line 33"/>
          <p:cNvSpPr>
            <a:spLocks noChangeShapeType="1"/>
          </p:cNvSpPr>
          <p:nvPr/>
        </p:nvSpPr>
        <p:spPr bwMode="auto">
          <a:xfrm flipH="1">
            <a:off x="9134475" y="1409700"/>
            <a:ext cx="9525" cy="5448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2" name="Line 34"/>
          <p:cNvSpPr>
            <a:spLocks noChangeShapeType="1"/>
          </p:cNvSpPr>
          <p:nvPr/>
        </p:nvSpPr>
        <p:spPr bwMode="auto">
          <a:xfrm>
            <a:off x="0" y="68580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3" name="Line 35"/>
          <p:cNvSpPr>
            <a:spLocks noChangeShapeType="1"/>
          </p:cNvSpPr>
          <p:nvPr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24" name="Line 36"/>
          <p:cNvSpPr>
            <a:spLocks noChangeShapeType="1"/>
          </p:cNvSpPr>
          <p:nvPr/>
        </p:nvSpPr>
        <p:spPr bwMode="auto">
          <a:xfrm>
            <a:off x="0" y="18288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6331" name="Rectangle 43"/>
          <p:cNvSpPr>
            <a:spLocks noChangeArrowheads="1"/>
          </p:cNvSpPr>
          <p:nvPr/>
        </p:nvSpPr>
        <p:spPr bwMode="auto">
          <a:xfrm>
            <a:off x="6591300" y="1314450"/>
            <a:ext cx="3733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GB" sz="1400" dirty="0" smtClean="0">
                <a:solidFill>
                  <a:schemeClr val="tx1"/>
                </a:solidFill>
                <a:latin typeface="Verdana" pitchFamily="34" charset="0"/>
              </a:rPr>
              <a:t>Relation/Table </a:t>
            </a:r>
            <a:r>
              <a:rPr lang="en-GB" sz="1400" dirty="0">
                <a:solidFill>
                  <a:schemeClr val="tx1"/>
                </a:solidFill>
                <a:latin typeface="Verdana" pitchFamily="34" charset="0"/>
              </a:rPr>
              <a:t>Format</a:t>
            </a:r>
            <a:r>
              <a:rPr lang="en-GB" sz="2000" b="0" dirty="0">
                <a:solidFill>
                  <a:schemeClr val="tx1"/>
                </a:solidFill>
                <a:latin typeface="Verdana" pitchFamily="34" charset="0"/>
              </a:rPr>
              <a:t> </a:t>
            </a:r>
            <a:endParaRPr lang="en-US" sz="2000" b="0" dirty="0">
              <a:solidFill>
                <a:schemeClr val="tx1"/>
              </a:solidFill>
              <a:latin typeface="Verdana" pitchFamily="34" charset="0"/>
            </a:endParaRPr>
          </a:p>
        </p:txBody>
      </p:sp>
      <p:sp>
        <p:nvSpPr>
          <p:cNvPr id="44" name="Line 11"/>
          <p:cNvSpPr>
            <a:spLocks noChangeShapeType="1"/>
          </p:cNvSpPr>
          <p:nvPr/>
        </p:nvSpPr>
        <p:spPr bwMode="auto">
          <a:xfrm flipV="1">
            <a:off x="3908687" y="5024437"/>
            <a:ext cx="346106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Line 12"/>
          <p:cNvSpPr>
            <a:spLocks noChangeShapeType="1"/>
          </p:cNvSpPr>
          <p:nvPr/>
        </p:nvSpPr>
        <p:spPr bwMode="auto">
          <a:xfrm>
            <a:off x="3898250" y="5734050"/>
            <a:ext cx="355353" cy="427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316851" y="4983162"/>
          <a:ext cx="3493148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318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COURSE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CRS_TEXT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CRS_INSTRUCTOR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318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S511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DB design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Jones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3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S511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DB design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Smith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3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S511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Inside Access 2007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Jones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31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S511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Inside Access 2007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Smith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4355450" y="4678362"/>
          <a:ext cx="1972275" cy="8841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94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COURSE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CRS_TEXT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S511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DB design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S511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Inside Access 2007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355450" y="5897562"/>
          <a:ext cx="2121550" cy="731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7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94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COURSE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CRS_INSTRUCTOR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S511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Jones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946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S511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Smith</a:t>
                      </a:r>
                      <a:endParaRPr lang="en-US" sz="1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40" marB="4574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6629400" y="4267200"/>
            <a:ext cx="2514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1000" indent="-381000">
              <a:buFont typeface="Wingdings" pitchFamily="2" charset="2"/>
              <a:buChar char="§"/>
            </a:pPr>
            <a:r>
              <a:rPr lang="en-US" altLang="en-US" dirty="0" smtClean="0">
                <a:solidFill>
                  <a:srgbClr val="3366FF"/>
                </a:solidFill>
                <a:latin typeface="Arial" pitchFamily="34" charset="0"/>
              </a:rPr>
              <a:t>Identify multiple multi-valued attributes</a:t>
            </a:r>
          </a:p>
          <a:p>
            <a:pPr marL="381000" indent="-381000">
              <a:buFont typeface="Wingdings" pitchFamily="2" charset="2"/>
              <a:buChar char="§"/>
            </a:pPr>
            <a:r>
              <a:rPr lang="en-US" altLang="en-US" dirty="0" smtClean="0">
                <a:solidFill>
                  <a:srgbClr val="3366FF"/>
                </a:solidFill>
                <a:latin typeface="Arial" pitchFamily="34" charset="0"/>
              </a:rPr>
              <a:t>Create separate tables containing each of multi-valued attributes</a:t>
            </a:r>
            <a:endParaRPr lang="en-US" altLang="en-US" sz="1600" b="1" dirty="0" smtClean="0">
              <a:solidFill>
                <a:srgbClr val="3366FF"/>
              </a:solidFill>
              <a:latin typeface="Arial" pitchFamily="34" charset="0"/>
            </a:endParaRPr>
          </a:p>
        </p:txBody>
      </p:sp>
      <p:sp>
        <p:nvSpPr>
          <p:cNvPr id="50" name="Line 16"/>
          <p:cNvSpPr>
            <a:spLocks noChangeShapeType="1"/>
          </p:cNvSpPr>
          <p:nvPr/>
        </p:nvSpPr>
        <p:spPr bwMode="auto">
          <a:xfrm>
            <a:off x="3352800" y="3810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Line 41"/>
          <p:cNvSpPr>
            <a:spLocks noChangeShapeType="1"/>
          </p:cNvSpPr>
          <p:nvPr/>
        </p:nvSpPr>
        <p:spPr bwMode="auto">
          <a:xfrm>
            <a:off x="0" y="38862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2914650" y="2534412"/>
            <a:ext cx="838200" cy="457200"/>
          </a:xfrm>
          <a:prstGeom prst="rect">
            <a:avLst/>
          </a:prstGeom>
          <a:solidFill>
            <a:srgbClr val="FF00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sz="1600">
                <a:solidFill>
                  <a:schemeClr val="bg1"/>
                </a:solidFill>
              </a:rPr>
              <a:t>3NF</a:t>
            </a:r>
          </a:p>
        </p:txBody>
      </p:sp>
      <p:sp>
        <p:nvSpPr>
          <p:cNvPr id="22" name="Line 16"/>
          <p:cNvSpPr>
            <a:spLocks noChangeShapeType="1"/>
          </p:cNvSpPr>
          <p:nvPr/>
        </p:nvSpPr>
        <p:spPr bwMode="auto">
          <a:xfrm>
            <a:off x="3324225" y="1828800"/>
            <a:ext cx="0" cy="6675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4800600" y="1905000"/>
            <a:ext cx="164306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l"/>
            <a:r>
              <a:rPr lang="en-US" sz="1400" dirty="0"/>
              <a:t>(3 or 4 Tables)</a:t>
            </a: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276225" y="1926400"/>
            <a:ext cx="2590800" cy="18158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l"/>
            <a:r>
              <a:rPr lang="en-US" sz="1600" b="0" dirty="0"/>
              <a:t>(</a:t>
            </a:r>
            <a:r>
              <a:rPr lang="en-US" sz="1600" b="0" u="sng" dirty="0"/>
              <a:t>a</a:t>
            </a:r>
            <a:r>
              <a:rPr lang="en-US" sz="1600" b="0" dirty="0"/>
              <a:t>, </a:t>
            </a:r>
            <a:r>
              <a:rPr lang="en-US" sz="1600" b="0" u="sng" dirty="0"/>
              <a:t>b</a:t>
            </a:r>
            <a:r>
              <a:rPr lang="en-US" sz="1600" b="0" dirty="0"/>
              <a:t> </a:t>
            </a:r>
            <a:r>
              <a:rPr lang="en-US" sz="1600" b="0" dirty="0">
                <a:sym typeface="Wingdings" pitchFamily="2" charset="2"/>
              </a:rPr>
              <a:t> x, y</a:t>
            </a:r>
            <a:r>
              <a:rPr lang="en-US" sz="1600" b="0" dirty="0" smtClean="0">
                <a:sym typeface="Wingdings" pitchFamily="2" charset="2"/>
              </a:rPr>
              <a:t>)</a:t>
            </a:r>
          </a:p>
          <a:p>
            <a:pPr marL="342900" indent="-342900" algn="l"/>
            <a:r>
              <a:rPr lang="en-US" sz="1600" b="0" dirty="0" smtClean="0">
                <a:sym typeface="Wingdings" pitchFamily="2" charset="2"/>
              </a:rPr>
              <a:t> </a:t>
            </a:r>
            <a:endParaRPr lang="en-US" sz="1600" b="0" dirty="0">
              <a:sym typeface="Wingdings" pitchFamily="2" charset="2"/>
            </a:endParaRPr>
          </a:p>
          <a:p>
            <a:pPr marL="342900" indent="-342900" algn="l"/>
            <a:r>
              <a:rPr lang="en-US" sz="1600" b="0" dirty="0">
                <a:sym typeface="Wingdings" pitchFamily="2" charset="2"/>
              </a:rPr>
              <a:t>(</a:t>
            </a:r>
            <a:r>
              <a:rPr lang="en-US" sz="1600" b="0" u="sng" dirty="0">
                <a:sym typeface="Wingdings" pitchFamily="2" charset="2"/>
              </a:rPr>
              <a:t>a</a:t>
            </a:r>
            <a:r>
              <a:rPr lang="en-US" sz="1600" b="0" dirty="0">
                <a:sym typeface="Wingdings" pitchFamily="2" charset="2"/>
              </a:rPr>
              <a:t> 	  </a:t>
            </a:r>
            <a:r>
              <a:rPr lang="en-US" sz="1600" b="0" dirty="0" smtClean="0">
                <a:sym typeface="Wingdings" pitchFamily="2" charset="2"/>
              </a:rPr>
              <a:t> c</a:t>
            </a:r>
            <a:r>
              <a:rPr lang="en-US" sz="1600" b="0" dirty="0">
                <a:sym typeface="Wingdings" pitchFamily="2" charset="2"/>
              </a:rPr>
              <a:t>, </a:t>
            </a:r>
            <a:r>
              <a:rPr lang="en-US" sz="1600" b="0" dirty="0" smtClean="0">
                <a:sym typeface="Wingdings" pitchFamily="2" charset="2"/>
              </a:rPr>
              <a:t>     d</a:t>
            </a:r>
            <a:r>
              <a:rPr lang="en-US" sz="1600" b="0" dirty="0">
                <a:sym typeface="Wingdings" pitchFamily="2" charset="2"/>
              </a:rPr>
              <a:t>) </a:t>
            </a:r>
            <a:r>
              <a:rPr lang="en-US" sz="1600" b="0" dirty="0" smtClean="0">
                <a:sym typeface="Wingdings" pitchFamily="2" charset="2"/>
              </a:rPr>
              <a:t>  [TD]</a:t>
            </a:r>
          </a:p>
          <a:p>
            <a:pPr marL="342900" indent="-342900" algn="l"/>
            <a:endParaRPr lang="en-US" sz="1600" b="0" dirty="0">
              <a:sym typeface="Wingdings" pitchFamily="2" charset="2"/>
            </a:endParaRPr>
          </a:p>
          <a:p>
            <a:pPr marL="342900" indent="-342900" algn="l"/>
            <a:r>
              <a:rPr lang="en-US" sz="1600" b="0" dirty="0">
                <a:sym typeface="Wingdings" pitchFamily="2" charset="2"/>
              </a:rPr>
              <a:t>(</a:t>
            </a:r>
            <a:r>
              <a:rPr lang="en-US" sz="1600" b="0" u="sng" dirty="0">
                <a:sym typeface="Wingdings" pitchFamily="2" charset="2"/>
              </a:rPr>
              <a:t>b</a:t>
            </a:r>
            <a:r>
              <a:rPr lang="en-US" sz="1600" b="0" dirty="0">
                <a:sym typeface="Wingdings" pitchFamily="2" charset="2"/>
              </a:rPr>
              <a:t> 	   z) </a:t>
            </a:r>
            <a:endParaRPr lang="en-US" sz="1600" b="0" dirty="0" smtClean="0">
              <a:sym typeface="Wingdings" pitchFamily="2" charset="2"/>
            </a:endParaRPr>
          </a:p>
          <a:p>
            <a:pPr marL="342900" indent="-342900" algn="l"/>
            <a:endParaRPr lang="en-US" sz="1600" b="0" dirty="0">
              <a:sym typeface="Wingdings" pitchFamily="2" charset="2"/>
            </a:endParaRPr>
          </a:p>
          <a:p>
            <a:pPr marL="342900" indent="-342900" algn="l"/>
            <a:r>
              <a:rPr lang="en-US" sz="1600" b="0" dirty="0"/>
              <a:t>(c 	  </a:t>
            </a:r>
            <a:r>
              <a:rPr lang="en-US" sz="1600" b="0" dirty="0">
                <a:sym typeface="Wingdings" pitchFamily="2" charset="2"/>
              </a:rPr>
              <a:t> d</a:t>
            </a:r>
            <a:r>
              <a:rPr lang="en-US" sz="1600" b="0" dirty="0"/>
              <a:t>)</a:t>
            </a: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 flipV="1">
            <a:off x="495300" y="2286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Arc 23"/>
          <p:cNvSpPr>
            <a:spLocks/>
          </p:cNvSpPr>
          <p:nvPr/>
        </p:nvSpPr>
        <p:spPr bwMode="auto">
          <a:xfrm flipV="1">
            <a:off x="533400" y="2215322"/>
            <a:ext cx="200024" cy="832677"/>
          </a:xfrm>
          <a:custGeom>
            <a:avLst/>
            <a:gdLst>
              <a:gd name="G0" fmla="+- 0 0 0"/>
              <a:gd name="G1" fmla="+- 21566 0 0"/>
              <a:gd name="G2" fmla="+- 21600 0 0"/>
              <a:gd name="T0" fmla="*/ 1207 w 21600"/>
              <a:gd name="T1" fmla="*/ 0 h 29505"/>
              <a:gd name="T2" fmla="*/ 20088 w 21600"/>
              <a:gd name="T3" fmla="*/ 29505 h 29505"/>
              <a:gd name="T4" fmla="*/ 0 w 21600"/>
              <a:gd name="T5" fmla="*/ 21566 h 295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9505" fill="none" extrusionOk="0">
                <a:moveTo>
                  <a:pt x="1207" y="-1"/>
                </a:moveTo>
                <a:cubicBezTo>
                  <a:pt x="12649" y="640"/>
                  <a:pt x="21600" y="10105"/>
                  <a:pt x="21600" y="21566"/>
                </a:cubicBezTo>
                <a:cubicBezTo>
                  <a:pt x="21600" y="24283"/>
                  <a:pt x="21087" y="26977"/>
                  <a:pt x="20088" y="29505"/>
                </a:cubicBezTo>
              </a:path>
              <a:path w="21600" h="29505" stroke="0" extrusionOk="0">
                <a:moveTo>
                  <a:pt x="1207" y="-1"/>
                </a:moveTo>
                <a:cubicBezTo>
                  <a:pt x="12649" y="640"/>
                  <a:pt x="21600" y="10105"/>
                  <a:pt x="21600" y="21566"/>
                </a:cubicBezTo>
                <a:cubicBezTo>
                  <a:pt x="21600" y="24283"/>
                  <a:pt x="21087" y="26977"/>
                  <a:pt x="20088" y="29505"/>
                </a:cubicBezTo>
                <a:lnTo>
                  <a:pt x="0" y="2156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 rot="699114" flipV="1">
            <a:off x="613792" y="2704753"/>
            <a:ext cx="296417" cy="8263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Line 25"/>
          <p:cNvSpPr>
            <a:spLocks noChangeShapeType="1"/>
          </p:cNvSpPr>
          <p:nvPr/>
        </p:nvSpPr>
        <p:spPr bwMode="auto">
          <a:xfrm flipH="1">
            <a:off x="1219200" y="25908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 flipH="1">
            <a:off x="1508760" y="2438400"/>
            <a:ext cx="91440" cy="2743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Rectangle 48"/>
          <p:cNvSpPr>
            <a:spLocks noChangeArrowheads="1"/>
          </p:cNvSpPr>
          <p:nvPr/>
        </p:nvSpPr>
        <p:spPr bwMode="auto">
          <a:xfrm>
            <a:off x="6629400" y="2153412"/>
            <a:ext cx="2514600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  <a:buClrTx/>
              <a:buSzTx/>
              <a:buFontTx/>
              <a:buChar char="-"/>
            </a:pPr>
            <a:r>
              <a:rPr lang="en-GB" sz="140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No repeating group</a:t>
            </a:r>
            <a:br>
              <a:rPr lang="en-GB" sz="140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</a:br>
            <a:r>
              <a:rPr lang="en-GB" sz="140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-PK defined</a:t>
            </a:r>
            <a:br>
              <a:rPr lang="en-GB" sz="140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</a:br>
            <a:r>
              <a:rPr lang="en-GB" sz="140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-No partial dependency</a:t>
            </a:r>
            <a:br>
              <a:rPr lang="en-GB" sz="140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</a:br>
            <a:r>
              <a:rPr lang="en-GB" sz="1400">
                <a:solidFill>
                  <a:srgbClr val="0066FF"/>
                </a:solidFill>
                <a:latin typeface="Arial" pitchFamily="34" charset="0"/>
                <a:cs typeface="Arial" pitchFamily="34" charset="0"/>
              </a:rPr>
              <a:t>-No transitive dependency</a:t>
            </a:r>
            <a:endParaRPr lang="en-US" sz="1400">
              <a:solidFill>
                <a:srgbClr val="0066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5486400" y="2362200"/>
            <a:ext cx="838200" cy="457200"/>
          </a:xfrm>
          <a:prstGeom prst="rect">
            <a:avLst/>
          </a:prstGeom>
          <a:solidFill>
            <a:srgbClr val="FF00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sz="1600" dirty="0" smtClean="0">
                <a:solidFill>
                  <a:schemeClr val="bg1"/>
                </a:solidFill>
              </a:rPr>
              <a:t>BCNF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2" name="Line 16"/>
          <p:cNvSpPr>
            <a:spLocks noChangeShapeType="1"/>
          </p:cNvSpPr>
          <p:nvPr/>
        </p:nvSpPr>
        <p:spPr bwMode="auto">
          <a:xfrm flipV="1">
            <a:off x="3810000" y="2590800"/>
            <a:ext cx="16002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3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2895600"/>
            <a:ext cx="1627186" cy="9310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833</TotalTime>
  <Words>818</Words>
  <Application>Microsoft Office PowerPoint</Application>
  <PresentationFormat>On-screen Show (4:3)</PresentationFormat>
  <Paragraphs>209</Paragraphs>
  <Slides>28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Georgia</vt:lpstr>
      <vt:lpstr>Symbol</vt:lpstr>
      <vt:lpstr>Tahoma</vt:lpstr>
      <vt:lpstr>Times New Roman</vt:lpstr>
      <vt:lpstr>Verdana</vt:lpstr>
      <vt:lpstr>Wingdings</vt:lpstr>
      <vt:lpstr>Urban</vt:lpstr>
      <vt:lpstr>Chapter 06  Normalization of Database Tables</vt:lpstr>
      <vt:lpstr>PowerPoint Presentation</vt:lpstr>
      <vt:lpstr>Learning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BCNF (Activity)</vt:lpstr>
      <vt:lpstr>PowerPoint Presentation</vt:lpstr>
      <vt:lpstr>PowerPoint Presentation</vt:lpstr>
      <vt:lpstr>Multivalued Dependencies</vt:lpstr>
      <vt:lpstr>Multivalued Dependencies</vt:lpstr>
      <vt:lpstr>Two Multivalued Dependencies</vt:lpstr>
      <vt:lpstr>Eliminating Anomalies from Multivalued Dependencies</vt:lpstr>
      <vt:lpstr>That Very Strange Table Again</vt:lpstr>
      <vt:lpstr>4NF</vt:lpstr>
      <vt:lpstr>Denormalization</vt:lpstr>
      <vt:lpstr>Table 6.6 – Common Denormalization Examples</vt:lpstr>
      <vt:lpstr>Denormalization</vt:lpstr>
      <vt:lpstr>Denormalization</vt:lpstr>
      <vt:lpstr>Denormalization</vt:lpstr>
      <vt:lpstr>Table 6.7 - Data-Modeling Checklist</vt:lpstr>
      <vt:lpstr>Table 6.7 - Data-Modeling Checklist (cont’d.)</vt:lpstr>
      <vt:lpstr>Table 6.7 - Data-Modeling Checklist (cont’d.)</vt:lpstr>
      <vt:lpstr>Table 6.7 - Data-Modeling Checklist (cont’d.)</vt:lpstr>
      <vt:lpstr>Normalization Process</vt:lpstr>
      <vt:lpstr>Normalization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Sharon Thomas</dc:creator>
  <cp:lastModifiedBy>BUKC</cp:lastModifiedBy>
  <cp:revision>204</cp:revision>
  <dcterms:created xsi:type="dcterms:W3CDTF">2014-01-28T12:09:28Z</dcterms:created>
  <dcterms:modified xsi:type="dcterms:W3CDTF">2024-05-13T05:01:39Z</dcterms:modified>
</cp:coreProperties>
</file>