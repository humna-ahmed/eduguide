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2"/>
  </p:notesMasterIdLst>
  <p:sldIdLst>
    <p:sldId id="257" r:id="rId2"/>
    <p:sldId id="259"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67" d="100"/>
          <a:sy n="67" d="100"/>
        </p:scale>
        <p:origin x="64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95DAA2-0C26-4A26-B2E9-F5B0077C396C}" type="datetimeFigureOut">
              <a:rPr lang="en-US" smtClean="0"/>
              <a:t>6/7/2020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6A899D-4567-4A1C-B0E1-9D47BB11FCA6}" type="slidenum">
              <a:rPr lang="en-US" smtClean="0"/>
              <a:t>‹#›</a:t>
            </a:fld>
            <a:endParaRPr lang="en-US"/>
          </a:p>
        </p:txBody>
      </p:sp>
    </p:spTree>
    <p:extLst>
      <p:ext uri="{BB962C8B-B14F-4D97-AF65-F5344CB8AC3E}">
        <p14:creationId xmlns:p14="http://schemas.microsoft.com/office/powerpoint/2010/main" val="2608884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1AA5E6E1-EE70-4F42-A784-3BDA13E77CF5}" type="slidenum">
              <a:rPr lang="en-US" altLang="en-US" sz="1200">
                <a:solidFill>
                  <a:srgbClr val="000000"/>
                </a:solidFill>
                <a:latin typeface="Times New Roman" panose="02020603050405020304" pitchFamily="18" charset="0"/>
              </a:rPr>
              <a:pPr/>
              <a:t>1</a:t>
            </a:fld>
            <a:endParaRPr lang="en-US" altLang="en-US" sz="1200">
              <a:solidFill>
                <a:srgbClr val="000000"/>
              </a:solidFill>
              <a:latin typeface="Times New Roman" panose="02020603050405020304" pitchFamily="18" charset="0"/>
            </a:endParaRPr>
          </a:p>
        </p:txBody>
      </p:sp>
      <p:sp>
        <p:nvSpPr>
          <p:cNvPr id="17410" name="Rectangle 2"/>
          <p:cNvSpPr>
            <a:spLocks noGrp="1" noRot="1" noChangeAspect="1" noChangeArrowheads="1" noTextEdit="1"/>
          </p:cNvSpPr>
          <p:nvPr>
            <p:ph type="sldImg"/>
          </p:nvPr>
        </p:nvSpPr>
        <p:spPr>
          <a:ln/>
        </p:spPr>
      </p:sp>
      <p:sp>
        <p:nvSpPr>
          <p:cNvPr id="17411" name="Rectangle 3"/>
          <p:cNvSpPr>
            <a:spLocks noGrp="1" noChangeArrowheads="1"/>
          </p:cNvSpPr>
          <p:nvPr>
            <p:ph type="body" idx="1"/>
          </p:nvPr>
        </p:nvSpPr>
        <p:spPr>
          <a:xfrm>
            <a:off x="931863" y="4410075"/>
            <a:ext cx="5133975" cy="417671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9316226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9A1862F0-28A8-4978-97AB-FB96C2DC5E30}" type="slidenum">
              <a:rPr lang="en-US" altLang="en-US" sz="1200">
                <a:solidFill>
                  <a:srgbClr val="000000"/>
                </a:solidFill>
                <a:latin typeface="Times New Roman" panose="02020603050405020304" pitchFamily="18" charset="0"/>
              </a:rPr>
              <a:pPr/>
              <a:t>2</a:t>
            </a:fld>
            <a:endParaRPr lang="en-US" altLang="en-US" sz="1200">
              <a:solidFill>
                <a:srgbClr val="000000"/>
              </a:solidFill>
              <a:latin typeface="Times New Roman" panose="02020603050405020304" pitchFamily="18" charset="0"/>
            </a:endParaRPr>
          </a:p>
        </p:txBody>
      </p:sp>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9381256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81235960-AA98-4542-9759-D5CEAA910E56}" type="slidenum">
              <a:rPr lang="en-US" altLang="en-US" sz="1200">
                <a:solidFill>
                  <a:srgbClr val="000000"/>
                </a:solidFill>
                <a:latin typeface="Times New Roman" panose="02020603050405020304" pitchFamily="18" charset="0"/>
              </a:rPr>
              <a:pPr/>
              <a:t>3</a:t>
            </a:fld>
            <a:endParaRPr lang="en-US" altLang="en-US" sz="1200">
              <a:solidFill>
                <a:srgbClr val="000000"/>
              </a:solidFill>
              <a:latin typeface="Times New Roman" panose="02020603050405020304" pitchFamily="18" charset="0"/>
            </a:endParaRPr>
          </a:p>
        </p:txBody>
      </p:sp>
      <p:sp>
        <p:nvSpPr>
          <p:cNvPr id="23554" name="Rectangle 2"/>
          <p:cNvSpPr>
            <a:spLocks noGrp="1" noRot="1" noChangeAspect="1" noChangeArrowheads="1" noTextEdit="1"/>
          </p:cNvSpPr>
          <p:nvPr>
            <p:ph type="sldImg"/>
          </p:nvPr>
        </p:nvSpPr>
        <p:spPr>
          <a:ln/>
        </p:spPr>
      </p:sp>
      <p:sp>
        <p:nvSpPr>
          <p:cNvPr id="235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0618611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72D6E48C-2683-455D-A219-60067B7AFF43}" type="slidenum">
              <a:rPr lang="en-US" altLang="en-US" sz="1200">
                <a:solidFill>
                  <a:srgbClr val="000000"/>
                </a:solidFill>
                <a:latin typeface="Times New Roman" panose="02020603050405020304" pitchFamily="18" charset="0"/>
              </a:rPr>
              <a:pPr/>
              <a:t>4</a:t>
            </a:fld>
            <a:endParaRPr lang="en-US" altLang="en-US" sz="1200">
              <a:solidFill>
                <a:srgbClr val="000000"/>
              </a:solidFill>
              <a:latin typeface="Times New Roman" panose="02020603050405020304" pitchFamily="18" charset="0"/>
            </a:endParaRPr>
          </a:p>
        </p:txBody>
      </p:sp>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431122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txBox="1">
            <a:spLocks noGrp="1" noChangeArrowheads="1"/>
          </p:cNvSpPr>
          <p:nvPr/>
        </p:nvSpPr>
        <p:spPr bwMode="auto">
          <a:xfrm>
            <a:off x="3963988" y="8818563"/>
            <a:ext cx="303212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8002" tIns="44001" rIns="88002" bIns="44001" anchor="b"/>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algn="r" eaLnBrk="0" fontAlgn="base" hangingPunct="0">
              <a:spcBef>
                <a:spcPct val="0"/>
              </a:spcBef>
              <a:spcAft>
                <a:spcPct val="0"/>
              </a:spcAft>
            </a:pPr>
            <a:fld id="{4DF475A3-5E96-4302-B814-79CE4201571F}" type="slidenum">
              <a:rPr lang="en-US" altLang="en-US" sz="1200">
                <a:solidFill>
                  <a:srgbClr val="000000"/>
                </a:solidFill>
                <a:latin typeface="Times New Roman" panose="02020603050405020304" pitchFamily="18" charset="0"/>
              </a:rPr>
              <a:pPr algn="r" eaLnBrk="0" fontAlgn="base" hangingPunct="0">
                <a:spcBef>
                  <a:spcPct val="0"/>
                </a:spcBef>
                <a:spcAft>
                  <a:spcPct val="0"/>
                </a:spcAft>
              </a:pPr>
              <a:t>5</a:t>
            </a:fld>
            <a:endParaRPr lang="en-US" altLang="en-US" sz="1200">
              <a:solidFill>
                <a:srgbClr val="000000"/>
              </a:solidFill>
              <a:latin typeface="Times New Roman" panose="02020603050405020304" pitchFamily="18" charset="0"/>
            </a:endParaRPr>
          </a:p>
        </p:txBody>
      </p:sp>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7860779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7"/>
          <p:cNvSpPr txBox="1">
            <a:spLocks noGrp="1" noChangeArrowheads="1"/>
          </p:cNvSpPr>
          <p:nvPr/>
        </p:nvSpPr>
        <p:spPr bwMode="auto">
          <a:xfrm>
            <a:off x="3963988" y="8818563"/>
            <a:ext cx="3032125"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8002" tIns="44001" rIns="88002" bIns="44001" anchor="b"/>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algn="r" eaLnBrk="0" fontAlgn="base" hangingPunct="0">
              <a:spcBef>
                <a:spcPct val="0"/>
              </a:spcBef>
              <a:spcAft>
                <a:spcPct val="0"/>
              </a:spcAft>
            </a:pPr>
            <a:fld id="{EDF882BF-5ACF-41DD-BF47-8EA73CC1316E}" type="slidenum">
              <a:rPr lang="en-US" altLang="en-US" sz="1200">
                <a:solidFill>
                  <a:srgbClr val="000000"/>
                </a:solidFill>
                <a:latin typeface="Times New Roman" panose="02020603050405020304" pitchFamily="18" charset="0"/>
              </a:rPr>
              <a:pPr algn="r" eaLnBrk="0" fontAlgn="base" hangingPunct="0">
                <a:spcBef>
                  <a:spcPct val="0"/>
                </a:spcBef>
                <a:spcAft>
                  <a:spcPct val="0"/>
                </a:spcAft>
              </a:pPr>
              <a:t>6</a:t>
            </a:fld>
            <a:endParaRPr lang="en-US" altLang="en-US" sz="1200">
              <a:solidFill>
                <a:srgbClr val="000000"/>
              </a:solidFill>
              <a:latin typeface="Times New Roman" panose="02020603050405020304" pitchFamily="18" charset="0"/>
            </a:endParaRPr>
          </a:p>
        </p:txBody>
      </p:sp>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269561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CCA27499-B183-444E-8C0F-E113003329BF}" type="slidenum">
              <a:rPr lang="en-US" altLang="en-US" sz="1200">
                <a:solidFill>
                  <a:srgbClr val="000000"/>
                </a:solidFill>
                <a:latin typeface="Times New Roman" panose="02020603050405020304" pitchFamily="18" charset="0"/>
              </a:rPr>
              <a:pPr/>
              <a:t>7</a:t>
            </a:fld>
            <a:endParaRPr lang="en-US" altLang="en-US" sz="1200">
              <a:solidFill>
                <a:srgbClr val="000000"/>
              </a:solidFill>
              <a:latin typeface="Times New Roman" panose="02020603050405020304" pitchFamily="18" charset="0"/>
            </a:endParaRPr>
          </a:p>
        </p:txBody>
      </p:sp>
      <p:sp>
        <p:nvSpPr>
          <p:cNvPr id="31746" name="Rectangle 2"/>
          <p:cNvSpPr>
            <a:spLocks noGrp="1" noRot="1" noChangeAspect="1" noChangeArrowheads="1" noTextEdit="1"/>
          </p:cNvSpPr>
          <p:nvPr>
            <p:ph type="sldImg"/>
          </p:nvPr>
        </p:nvSpPr>
        <p:spPr>
          <a:ln/>
        </p:spPr>
      </p:sp>
      <p:sp>
        <p:nvSpPr>
          <p:cNvPr id="317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521087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79DE12DF-AEE2-4CDF-943A-467C774F77B7}" type="slidenum">
              <a:rPr lang="en-US" altLang="en-US" sz="1200">
                <a:solidFill>
                  <a:srgbClr val="000000"/>
                </a:solidFill>
                <a:latin typeface="Times New Roman" panose="02020603050405020304" pitchFamily="18" charset="0"/>
              </a:rPr>
              <a:pPr/>
              <a:t>8</a:t>
            </a:fld>
            <a:endParaRPr lang="en-US" altLang="en-US" sz="1200">
              <a:solidFill>
                <a:srgbClr val="000000"/>
              </a:solidFill>
              <a:latin typeface="Times New Roman" panose="02020603050405020304" pitchFamily="18" charset="0"/>
            </a:endParaRPr>
          </a:p>
        </p:txBody>
      </p:sp>
      <p:sp>
        <p:nvSpPr>
          <p:cNvPr id="33794" name="Rectangle 2"/>
          <p:cNvSpPr>
            <a:spLocks noGrp="1" noRot="1" noChangeAspect="1" noChangeArrowheads="1" noTextEdit="1"/>
          </p:cNvSpPr>
          <p:nvPr>
            <p:ph type="sldImg"/>
          </p:nvPr>
        </p:nvSpPr>
        <p:spPr>
          <a:ln/>
        </p:spPr>
      </p:sp>
      <p:sp>
        <p:nvSpPr>
          <p:cNvPr id="3379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084706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A56FA970-221E-40FF-971E-A412D5B09B4E}" type="slidenum">
              <a:rPr lang="en-US" altLang="en-US" sz="1200">
                <a:solidFill>
                  <a:srgbClr val="000000"/>
                </a:solidFill>
                <a:latin typeface="Times New Roman" panose="02020603050405020304" pitchFamily="18" charset="0"/>
              </a:rPr>
              <a:pPr/>
              <a:t>9</a:t>
            </a:fld>
            <a:endParaRPr lang="en-US" altLang="en-US" sz="1200">
              <a:solidFill>
                <a:srgbClr val="000000"/>
              </a:solidFill>
              <a:latin typeface="Times New Roman" panose="02020603050405020304" pitchFamily="18" charset="0"/>
            </a:endParaRPr>
          </a:p>
        </p:txBody>
      </p:sp>
      <p:sp>
        <p:nvSpPr>
          <p:cNvPr id="35842" name="Rectangle 2"/>
          <p:cNvSpPr>
            <a:spLocks noGrp="1" noRot="1" noChangeAspect="1" noChangeArrowheads="1" noTextEdit="1"/>
          </p:cNvSpPr>
          <p:nvPr>
            <p:ph type="sldImg"/>
          </p:nvPr>
        </p:nvSpPr>
        <p:spPr>
          <a:ln/>
        </p:spPr>
      </p:sp>
      <p:sp>
        <p:nvSpPr>
          <p:cNvPr id="358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663252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F716FA14-B94B-490A-A335-D367FD796E0E}" type="slidenum">
              <a:rPr lang="en-US" altLang="en-US" sz="1200">
                <a:solidFill>
                  <a:srgbClr val="000000"/>
                </a:solidFill>
                <a:latin typeface="Times New Roman" panose="02020603050405020304" pitchFamily="18" charset="0"/>
              </a:rPr>
              <a:pPr/>
              <a:t>10</a:t>
            </a:fld>
            <a:endParaRPr lang="en-US" altLang="en-US" sz="1200">
              <a:solidFill>
                <a:srgbClr val="000000"/>
              </a:solidFill>
              <a:latin typeface="Times New Roman" panose="02020603050405020304" pitchFamily="18" charset="0"/>
            </a:endParaRPr>
          </a:p>
        </p:txBody>
      </p:sp>
      <p:sp>
        <p:nvSpPr>
          <p:cNvPr id="37890" name="Rectangle 2"/>
          <p:cNvSpPr>
            <a:spLocks noGrp="1" noRot="1" noChangeAspect="1" noChangeArrowheads="1" noTextEdit="1"/>
          </p:cNvSpPr>
          <p:nvPr>
            <p:ph type="sldImg"/>
          </p:nvPr>
        </p:nvSpPr>
        <p:spPr>
          <a:ln/>
        </p:spPr>
      </p:sp>
      <p:sp>
        <p:nvSpPr>
          <p:cNvPr id="3789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3826352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64A26D88-5DB7-4EFC-970B-04D6E4113586}" type="slidenum">
              <a:rPr lang="en-US" altLang="en-US" sz="1200">
                <a:solidFill>
                  <a:srgbClr val="000000"/>
                </a:solidFill>
                <a:latin typeface="Times New Roman" panose="02020603050405020304" pitchFamily="18" charset="0"/>
              </a:rPr>
              <a:pPr/>
              <a:t>11</a:t>
            </a:fld>
            <a:endParaRPr lang="en-US" altLang="en-US" sz="1200">
              <a:solidFill>
                <a:srgbClr val="000000"/>
              </a:solidFill>
              <a:latin typeface="Times New Roman" panose="02020603050405020304" pitchFamily="18" charset="0"/>
            </a:endParaRPr>
          </a:p>
        </p:txBody>
      </p:sp>
      <p:sp>
        <p:nvSpPr>
          <p:cNvPr id="39938" name="Rectangle 2"/>
          <p:cNvSpPr>
            <a:spLocks noGrp="1" noRot="1" noChangeAspect="1" noChangeArrowheads="1" noTextEdit="1"/>
          </p:cNvSpPr>
          <p:nvPr>
            <p:ph type="sldImg"/>
          </p:nvPr>
        </p:nvSpPr>
        <p:spPr>
          <a:ln/>
        </p:spPr>
      </p:sp>
      <p:sp>
        <p:nvSpPr>
          <p:cNvPr id="399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8852567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3D5ACFB1-B514-4DFA-9A6B-A02044C1B11D}" type="slidenum">
              <a:rPr lang="en-US" altLang="en-US" sz="1200">
                <a:solidFill>
                  <a:srgbClr val="000000"/>
                </a:solidFill>
                <a:latin typeface="Times New Roman" panose="02020603050405020304" pitchFamily="18" charset="0"/>
              </a:rPr>
              <a:pPr/>
              <a:t>12</a:t>
            </a:fld>
            <a:endParaRPr lang="en-US" altLang="en-US" sz="1200">
              <a:solidFill>
                <a:srgbClr val="000000"/>
              </a:solidFill>
              <a:latin typeface="Times New Roman" panose="02020603050405020304" pitchFamily="18" charset="0"/>
            </a:endParaRPr>
          </a:p>
        </p:txBody>
      </p:sp>
      <p:sp>
        <p:nvSpPr>
          <p:cNvPr id="41986" name="Rectangle 2"/>
          <p:cNvSpPr>
            <a:spLocks noGrp="1" noRot="1" noChangeAspect="1" noChangeArrowheads="1" noTextEdit="1"/>
          </p:cNvSpPr>
          <p:nvPr>
            <p:ph type="sldImg"/>
          </p:nvPr>
        </p:nvSpPr>
        <p:spPr>
          <a:ln/>
        </p:spPr>
      </p:sp>
      <p:sp>
        <p:nvSpPr>
          <p:cNvPr id="419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2497617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4B3AB7B2-3AB3-417A-A2C1-0592F07AC740}" type="slidenum">
              <a:rPr lang="en-US" altLang="en-US" sz="1200">
                <a:solidFill>
                  <a:srgbClr val="000000"/>
                </a:solidFill>
                <a:latin typeface="Times New Roman" panose="02020603050405020304" pitchFamily="18" charset="0"/>
              </a:rPr>
              <a:pPr/>
              <a:t>16</a:t>
            </a:fld>
            <a:endParaRPr lang="en-US" altLang="en-US" sz="1200">
              <a:solidFill>
                <a:srgbClr val="000000"/>
              </a:solidFill>
              <a:latin typeface="Times New Roman" panose="02020603050405020304" pitchFamily="18" charset="0"/>
            </a:endParaRPr>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2552621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1C5688AE-23EF-429F-AB43-CAA99559E655}" type="slidenum">
              <a:rPr lang="en-US" altLang="en-US" sz="1200">
                <a:solidFill>
                  <a:srgbClr val="000000"/>
                </a:solidFill>
                <a:latin typeface="Times New Roman" panose="02020603050405020304" pitchFamily="18" charset="0"/>
              </a:rPr>
              <a:pPr/>
              <a:t>17</a:t>
            </a:fld>
            <a:endParaRPr lang="en-US" altLang="en-US" sz="1200">
              <a:solidFill>
                <a:srgbClr val="000000"/>
              </a:solidFill>
              <a:latin typeface="Times New Roman" panose="02020603050405020304" pitchFamily="18" charset="0"/>
            </a:endParaRPr>
          </a:p>
        </p:txBody>
      </p:sp>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224020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E25AB112-1157-4D2A-A5D2-09C1858F19BA}" type="slidenum">
              <a:rPr lang="en-US" altLang="en-US" sz="1200">
                <a:solidFill>
                  <a:srgbClr val="000000"/>
                </a:solidFill>
                <a:latin typeface="Times New Roman" panose="02020603050405020304" pitchFamily="18" charset="0"/>
              </a:rPr>
              <a:pPr/>
              <a:t>18</a:t>
            </a:fld>
            <a:endParaRPr lang="en-US" altLang="en-US" sz="1200">
              <a:solidFill>
                <a:srgbClr val="000000"/>
              </a:solidFill>
              <a:latin typeface="Times New Roman" panose="02020603050405020304" pitchFamily="18" charset="0"/>
            </a:endParaRPr>
          </a:p>
        </p:txBody>
      </p:sp>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7262850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F48403A3-5F89-49D4-A536-BF88B8A516B8}" type="slidenum">
              <a:rPr lang="en-US" altLang="en-US" sz="1200">
                <a:solidFill>
                  <a:srgbClr val="000000"/>
                </a:solidFill>
                <a:latin typeface="Times New Roman" panose="02020603050405020304" pitchFamily="18" charset="0"/>
              </a:rPr>
              <a:pPr/>
              <a:t>19</a:t>
            </a:fld>
            <a:endParaRPr lang="en-US" altLang="en-US" sz="1200">
              <a:solidFill>
                <a:srgbClr val="000000"/>
              </a:solidFill>
              <a:latin typeface="Times New Roman" panose="02020603050405020304" pitchFamily="18" charset="0"/>
            </a:endParaRPr>
          </a:p>
        </p:txBody>
      </p:sp>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2176741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79475">
              <a:defRPr sz="1600">
                <a:solidFill>
                  <a:schemeClr val="tx1"/>
                </a:solidFill>
                <a:latin typeface="Helvetica" panose="020B0604020202030204" pitchFamily="34" charset="0"/>
                <a:ea typeface="MS PGothic" panose="020B0600070205080204" pitchFamily="34" charset="-128"/>
              </a:defRPr>
            </a:lvl1pPr>
            <a:lvl2pPr marL="742950" indent="-285750" defTabSz="879475">
              <a:defRPr sz="1600">
                <a:solidFill>
                  <a:schemeClr val="tx1"/>
                </a:solidFill>
                <a:latin typeface="Helvetica" panose="020B0604020202030204" pitchFamily="34" charset="0"/>
                <a:ea typeface="MS PGothic" panose="020B0600070205080204" pitchFamily="34" charset="-128"/>
              </a:defRPr>
            </a:lvl2pPr>
            <a:lvl3pPr marL="1143000" indent="-228600" defTabSz="879475">
              <a:defRPr sz="1600">
                <a:solidFill>
                  <a:schemeClr val="tx1"/>
                </a:solidFill>
                <a:latin typeface="Helvetica" panose="020B0604020202030204" pitchFamily="34" charset="0"/>
                <a:ea typeface="MS PGothic" panose="020B0600070205080204" pitchFamily="34" charset="-128"/>
              </a:defRPr>
            </a:lvl3pPr>
            <a:lvl4pPr marL="1600200" indent="-228600" defTabSz="879475">
              <a:defRPr sz="1600">
                <a:solidFill>
                  <a:schemeClr val="tx1"/>
                </a:solidFill>
                <a:latin typeface="Helvetica" panose="020B0604020202030204" pitchFamily="34" charset="0"/>
                <a:ea typeface="MS PGothic" panose="020B0600070205080204" pitchFamily="34" charset="-128"/>
              </a:defRPr>
            </a:lvl4pPr>
            <a:lvl5pPr marL="2057400" indent="-228600" defTabSz="879475">
              <a:defRPr sz="1600">
                <a:solidFill>
                  <a:schemeClr val="tx1"/>
                </a:solidFill>
                <a:latin typeface="Helvetica" panose="020B0604020202030204" pitchFamily="34" charset="0"/>
                <a:ea typeface="MS PGothic" panose="020B0600070205080204" pitchFamily="34" charset="-128"/>
              </a:defRPr>
            </a:lvl5pPr>
            <a:lvl6pPr marL="25146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defTabSz="879475"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fld id="{705F412F-4E3A-4EF6-B147-535DCE4E9E82}" type="slidenum">
              <a:rPr lang="en-US" altLang="en-US" sz="1200">
                <a:solidFill>
                  <a:srgbClr val="000000"/>
                </a:solidFill>
                <a:latin typeface="Times New Roman" panose="02020603050405020304" pitchFamily="18" charset="0"/>
              </a:rPr>
              <a:pPr/>
              <a:t>20</a:t>
            </a:fld>
            <a:endParaRPr lang="en-US" altLang="en-US" sz="1200">
              <a:solidFill>
                <a:srgbClr val="000000"/>
              </a:solidFill>
              <a:latin typeface="Times New Roman" panose="02020603050405020304" pitchFamily="18" charset="0"/>
            </a:endParaRPr>
          </a:p>
        </p:txBody>
      </p:sp>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47149001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vmlDrawing" Target="../drawings/vmlDrawing1.vml"/><Relationship Id="rId5" Type="http://schemas.openxmlformats.org/officeDocument/2006/relationships/image" Target="../media/image2.jpeg"/><Relationship Id="rId4" Type="http://schemas.openxmlformats.org/officeDocument/2006/relationships/hyperlink" Target="http://www.db-book.com/" TargetMode="Externa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aphicFrame>
        <p:nvGraphicFramePr>
          <p:cNvPr id="4" name="Rectangle 2"/>
          <p:cNvGraphicFramePr>
            <a:graphicFrameLocks/>
          </p:cNvGraphicFramePr>
          <p:nvPr/>
        </p:nvGraphicFramePr>
        <p:xfrm>
          <a:off x="2032000" y="1397000"/>
          <a:ext cx="8128000" cy="4064000"/>
        </p:xfrm>
        <a:graphic>
          <a:graphicData uri="http://schemas.openxmlformats.org/presentationml/2006/ole">
            <mc:AlternateContent xmlns:mc="http://schemas.openxmlformats.org/markup-compatibility/2006">
              <mc:Choice xmlns:v="urn:schemas-microsoft-com:vml" Requires="v">
                <p:oleObj spid="_x0000_s1029" name="Clip" r:id="rId3" imgW="0" imgH="0" progId="MS_ClipArt_Gallery.2">
                  <p:embed/>
                </p:oleObj>
              </mc:Choice>
              <mc:Fallback>
                <p:oleObj name="Clip" r:id="rId3" imgW="0" imgH="0" progId="MS_ClipArt_Gallery.2">
                  <p:embed/>
                  <p:pic>
                    <p:nvPicPr>
                      <p:cNvPr id="0" name=""/>
                      <p:cNvPicPr>
                        <a:picLocks noChangeArrowheads="1"/>
                      </p:cNvPicPr>
                      <p:nvPr/>
                    </p:nvPicPr>
                    <p:blipFill>
                      <a:blip>
                        <a:extLst>
                          <a:ext uri="{28A0092B-C50C-407E-A947-70E740481C1C}">
                            <a14:useLocalDpi xmlns:a14="http://schemas.microsoft.com/office/drawing/2010/main" val="0"/>
                          </a:ext>
                        </a:extLst>
                      </a:blip>
                      <a:srcRect/>
                      <a:stretch>
                        <a:fillRect/>
                      </a:stretch>
                    </p:blipFill>
                    <p:spPr bwMode="auto">
                      <a:xfrm>
                        <a:off x="2032000" y="1397000"/>
                        <a:ext cx="8128000" cy="4064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
        <p:nvSpPr>
          <p:cNvPr id="5" name="Text Box 7"/>
          <p:cNvSpPr txBox="1">
            <a:spLocks noChangeArrowheads="1"/>
          </p:cNvSpPr>
          <p:nvPr/>
        </p:nvSpPr>
        <p:spPr bwMode="auto">
          <a:xfrm>
            <a:off x="4167277" y="5726113"/>
            <a:ext cx="3724096" cy="80021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algn="ctr" eaLnBrk="0" fontAlgn="base" hangingPunct="0">
              <a:spcBef>
                <a:spcPct val="50000"/>
              </a:spcBef>
              <a:spcAft>
                <a:spcPct val="0"/>
              </a:spcAft>
            </a:pPr>
            <a:r>
              <a:rPr lang="en-US" altLang="en-US" sz="1600" b="1">
                <a:solidFill>
                  <a:srgbClr val="CC3300"/>
                </a:solidFill>
              </a:rPr>
              <a:t>Database System Concepts, 6</a:t>
            </a:r>
            <a:r>
              <a:rPr lang="en-US" altLang="en-US" sz="1600" b="1" baseline="30000">
                <a:solidFill>
                  <a:srgbClr val="CC3300"/>
                </a:solidFill>
              </a:rPr>
              <a:t>th</a:t>
            </a:r>
            <a:r>
              <a:rPr lang="en-US" altLang="en-US" sz="1600" b="1">
                <a:solidFill>
                  <a:srgbClr val="CC3300"/>
                </a:solidFill>
              </a:rPr>
              <a:t> Ed</a:t>
            </a:r>
            <a:r>
              <a:rPr lang="en-US" altLang="en-US" sz="1600">
                <a:solidFill>
                  <a:srgbClr val="CC3300"/>
                </a:solidFill>
              </a:rPr>
              <a:t>.</a:t>
            </a:r>
          </a:p>
          <a:p>
            <a:pPr algn="ctr" eaLnBrk="0" fontAlgn="base" hangingPunct="0">
              <a:spcBef>
                <a:spcPct val="50000"/>
              </a:spcBef>
              <a:spcAft>
                <a:spcPct val="0"/>
              </a:spcAft>
            </a:pPr>
            <a:r>
              <a:rPr lang="en-US" altLang="en-US" sz="1200" b="1">
                <a:solidFill>
                  <a:srgbClr val="CC3300"/>
                </a:solidFill>
              </a:rPr>
              <a:t>©Silberschatz, Korth and Sudarshan</a:t>
            </a:r>
            <a:br>
              <a:rPr lang="en-US" altLang="en-US" sz="1200" b="1">
                <a:solidFill>
                  <a:srgbClr val="CC3300"/>
                </a:solidFill>
              </a:rPr>
            </a:br>
            <a:r>
              <a:rPr lang="en-US" altLang="en-US" sz="1200" b="1">
                <a:solidFill>
                  <a:srgbClr val="CC3300"/>
                </a:solidFill>
              </a:rPr>
              <a:t>See </a:t>
            </a:r>
            <a:r>
              <a:rPr lang="en-US" altLang="en-US" sz="1200" b="1">
                <a:solidFill>
                  <a:srgbClr val="CC3300"/>
                </a:solidFill>
                <a:hlinkClick r:id="rId4"/>
              </a:rPr>
              <a:t>www.db-book.com</a:t>
            </a:r>
            <a:r>
              <a:rPr lang="en-US" altLang="en-US" sz="1200" b="1">
                <a:solidFill>
                  <a:srgbClr val="CC3300"/>
                </a:solidFill>
              </a:rPr>
              <a:t> for conditions on re-use </a:t>
            </a:r>
          </a:p>
        </p:txBody>
      </p:sp>
      <p:pic>
        <p:nvPicPr>
          <p:cNvPr id="6" name="Picture 8" descr="Cover-6Ed"/>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1"/>
            <a:ext cx="1856317"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3954" name="Rectangle 2"/>
          <p:cNvSpPr>
            <a:spLocks noGrp="1" noChangeArrowheads="1"/>
          </p:cNvSpPr>
          <p:nvPr>
            <p:ph type="ctrTitle"/>
          </p:nvPr>
        </p:nvSpPr>
        <p:spPr>
          <a:xfrm>
            <a:off x="914400" y="2286000"/>
            <a:ext cx="10363200" cy="1143000"/>
          </a:xfrm>
        </p:spPr>
        <p:txBody>
          <a:bodyPr/>
          <a:lstStyle>
            <a:lvl1pPr>
              <a:defRPr>
                <a:solidFill>
                  <a:srgbClr val="CC3300"/>
                </a:solidFill>
              </a:defRPr>
            </a:lvl1pPr>
          </a:lstStyle>
          <a:p>
            <a:r>
              <a:rPr lang="en-US"/>
              <a:t>Click to edit Master title style</a:t>
            </a:r>
          </a:p>
        </p:txBody>
      </p:sp>
      <p:sp>
        <p:nvSpPr>
          <p:cNvPr id="253955" name="Rectangle 3"/>
          <p:cNvSpPr>
            <a:spLocks noGrp="1" noChangeArrowheads="1"/>
          </p:cNvSpPr>
          <p:nvPr>
            <p:ph type="subTitle" idx="1"/>
          </p:nvPr>
        </p:nvSpPr>
        <p:spPr>
          <a:xfrm>
            <a:off x="1828800" y="3886200"/>
            <a:ext cx="8534400" cy="1752600"/>
          </a:xfrm>
        </p:spPr>
        <p:txBody>
          <a:bodyPr/>
          <a:lstStyle>
            <a:lvl1pPr marL="0" indent="0" algn="ctr">
              <a:buFont typeface="Monotype Sorts" charset="2"/>
              <a:buNone/>
              <a:defRPr/>
            </a:lvl1pPr>
          </a:lstStyle>
          <a:p>
            <a:r>
              <a:rPr lang="en-US"/>
              <a:t>Click to edit Master subtitle style</a:t>
            </a:r>
          </a:p>
        </p:txBody>
      </p:sp>
      <p:sp>
        <p:nvSpPr>
          <p:cNvPr id="7" name="Rectangle 4"/>
          <p:cNvSpPr>
            <a:spLocks noGrp="1" noChangeArrowheads="1"/>
          </p:cNvSpPr>
          <p:nvPr>
            <p:ph type="ftr" sz="quarter" idx="10"/>
          </p:nvPr>
        </p:nvSpPr>
        <p:spPr bwMode="auto">
          <a:xfrm>
            <a:off x="3816351" y="5780088"/>
            <a:ext cx="4597400" cy="45720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lgn="ctr">
              <a:spcBef>
                <a:spcPct val="50000"/>
              </a:spcBef>
              <a:defRPr>
                <a:solidFill>
                  <a:srgbClr val="578963"/>
                </a:solidFill>
                <a:latin typeface="Times New Roman" charset="0"/>
                <a:ea typeface="+mn-ea"/>
                <a:cs typeface="+mn-cs"/>
              </a:defRPr>
            </a:lvl1pPr>
          </a:lstStyle>
          <a:p>
            <a:pPr eaLnBrk="0" fontAlgn="base" hangingPunct="0">
              <a:spcAft>
                <a:spcPct val="0"/>
              </a:spcAft>
              <a:defRPr/>
            </a:pPr>
            <a:endParaRPr lang="en-US" sz="1600"/>
          </a:p>
        </p:txBody>
      </p:sp>
      <p:sp>
        <p:nvSpPr>
          <p:cNvPr id="8" name="Rectangle 5"/>
          <p:cNvSpPr>
            <a:spLocks noGrp="1" noChangeArrowheads="1"/>
          </p:cNvSpPr>
          <p:nvPr>
            <p:ph type="sldNum" sz="quarter" idx="11"/>
          </p:nvPr>
        </p:nvSpPr>
        <p:spPr>
          <a:xfrm>
            <a:off x="8794751" y="6218238"/>
            <a:ext cx="2540000" cy="457200"/>
          </a:xfrm>
        </p:spPr>
        <p:txBody>
          <a:bodyPr/>
          <a:lstStyle>
            <a:lvl1pPr>
              <a:defRPr>
                <a:solidFill>
                  <a:srgbClr val="578963"/>
                </a:solidFill>
              </a:defRPr>
            </a:lvl1pPr>
          </a:lstStyle>
          <a:p>
            <a:fld id="{D584CE0D-6598-4920-A5E9-301AE9065A80}" type="slidenum">
              <a:rPr lang="en-US" altLang="en-US"/>
              <a:pPr/>
              <a:t>‹#›</a:t>
            </a:fld>
            <a:endParaRPr lang="en-US" altLang="en-US"/>
          </a:p>
        </p:txBody>
      </p:sp>
    </p:spTree>
    <p:extLst>
      <p:ext uri="{BB962C8B-B14F-4D97-AF65-F5344CB8AC3E}">
        <p14:creationId xmlns:p14="http://schemas.microsoft.com/office/powerpoint/2010/main" val="39217669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p:cNvSpPr>
            <a:spLocks noGrp="1" noChangeArrowheads="1"/>
          </p:cNvSpPr>
          <p:nvPr>
            <p:ph type="sldNum" sz="quarter" idx="10"/>
          </p:nvPr>
        </p:nvSpPr>
        <p:spPr>
          <a:ln/>
        </p:spPr>
        <p:txBody>
          <a:bodyPr/>
          <a:lstStyle>
            <a:lvl1pPr>
              <a:defRPr/>
            </a:lvl1pPr>
          </a:lstStyle>
          <a:p>
            <a:fld id="{6CF09B8A-837A-42C9-8A84-47888EC789EC}"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5237214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p:cNvSpPr>
            <a:spLocks noGrp="1" noChangeArrowheads="1"/>
          </p:cNvSpPr>
          <p:nvPr>
            <p:ph type="sldNum" sz="quarter" idx="10"/>
          </p:nvPr>
        </p:nvSpPr>
        <p:spPr>
          <a:ln/>
        </p:spPr>
        <p:txBody>
          <a:bodyPr/>
          <a:lstStyle>
            <a:lvl1pPr>
              <a:defRPr/>
            </a:lvl1pPr>
          </a:lstStyle>
          <a:p>
            <a:fld id="{FC89E1D1-F912-412C-94B0-EC1161962BB3}"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3967005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085851" y="1093789"/>
            <a:ext cx="5005916" cy="4903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94967" y="1093789"/>
            <a:ext cx="5005917" cy="4903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p:cNvSpPr>
            <a:spLocks noGrp="1" noChangeArrowheads="1"/>
          </p:cNvSpPr>
          <p:nvPr>
            <p:ph type="sldNum" sz="quarter" idx="10"/>
          </p:nvPr>
        </p:nvSpPr>
        <p:spPr>
          <a:ln/>
        </p:spPr>
        <p:txBody>
          <a:bodyPr/>
          <a:lstStyle>
            <a:lvl1pPr>
              <a:defRPr/>
            </a:lvl1pPr>
          </a:lstStyle>
          <a:p>
            <a:fld id="{7939EA35-050A-4B74-8263-182FD36B63ED}"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40624362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p:cNvSpPr>
            <a:spLocks noGrp="1" noChangeArrowheads="1"/>
          </p:cNvSpPr>
          <p:nvPr>
            <p:ph type="sldNum" sz="quarter" idx="10"/>
          </p:nvPr>
        </p:nvSpPr>
        <p:spPr>
          <a:ln/>
        </p:spPr>
        <p:txBody>
          <a:bodyPr/>
          <a:lstStyle>
            <a:lvl1pPr>
              <a:defRPr/>
            </a:lvl1pPr>
          </a:lstStyle>
          <a:p>
            <a:fld id="{73496690-5F2D-486B-B313-7202576EEFF8}"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24279379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p:cNvSpPr>
            <a:spLocks noGrp="1" noChangeArrowheads="1"/>
          </p:cNvSpPr>
          <p:nvPr>
            <p:ph type="sldNum" sz="quarter" idx="10"/>
          </p:nvPr>
        </p:nvSpPr>
        <p:spPr>
          <a:ln/>
        </p:spPr>
        <p:txBody>
          <a:bodyPr/>
          <a:lstStyle>
            <a:lvl1pPr>
              <a:defRPr/>
            </a:lvl1pPr>
          </a:lstStyle>
          <a:p>
            <a:fld id="{3447C0F2-E47E-4D74-8A73-6AB3877CF6B9}"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10129509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Rectangle 3"/>
          <p:cNvSpPr>
            <a:spLocks noGrp="1" noChangeArrowheads="1"/>
          </p:cNvSpPr>
          <p:nvPr>
            <p:ph type="sldNum" sz="quarter" idx="10"/>
          </p:nvPr>
        </p:nvSpPr>
        <p:spPr>
          <a:ln/>
        </p:spPr>
        <p:txBody>
          <a:bodyPr/>
          <a:lstStyle>
            <a:lvl1pPr>
              <a:defRPr/>
            </a:lvl1pPr>
          </a:lstStyle>
          <a:p>
            <a:fld id="{60570671-F25F-4E83-BF1D-CFFF8FA42C46}"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15897889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p:cNvSpPr>
            <a:spLocks noGrp="1" noChangeArrowheads="1"/>
          </p:cNvSpPr>
          <p:nvPr>
            <p:ph type="sldNum" sz="quarter" idx="10"/>
          </p:nvPr>
        </p:nvSpPr>
        <p:spPr>
          <a:ln/>
        </p:spPr>
        <p:txBody>
          <a:bodyPr/>
          <a:lstStyle>
            <a:lvl1pPr>
              <a:defRPr/>
            </a:lvl1pPr>
          </a:lstStyle>
          <a:p>
            <a:fld id="{C35BAB80-5B49-491B-92A9-BACE6BBE81E5}"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2362763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p:cNvSpPr>
            <a:spLocks noGrp="1" noChangeArrowheads="1"/>
          </p:cNvSpPr>
          <p:nvPr>
            <p:ph type="sldNum" sz="quarter" idx="10"/>
          </p:nvPr>
        </p:nvSpPr>
        <p:spPr>
          <a:ln/>
        </p:spPr>
        <p:txBody>
          <a:bodyPr/>
          <a:lstStyle>
            <a:lvl1pPr>
              <a:defRPr/>
            </a:lvl1pPr>
          </a:lstStyle>
          <a:p>
            <a:fld id="{11852BBC-FA7D-48A8-AD45-489EE837D143}"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1225470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p:cNvSpPr>
            <a:spLocks noGrp="1" noChangeArrowheads="1"/>
          </p:cNvSpPr>
          <p:nvPr>
            <p:ph type="sldNum" sz="quarter" idx="10"/>
          </p:nvPr>
        </p:nvSpPr>
        <p:spPr>
          <a:ln/>
        </p:spPr>
        <p:txBody>
          <a:bodyPr/>
          <a:lstStyle>
            <a:lvl1pPr>
              <a:defRPr/>
            </a:lvl1pPr>
          </a:lstStyle>
          <a:p>
            <a:fld id="{BBFEAC61-987F-430F-BD60-FF765400CCB6}"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41410939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01667" y="117475"/>
            <a:ext cx="26924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024467" y="117475"/>
            <a:ext cx="78740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p:cNvSpPr>
            <a:spLocks noGrp="1" noChangeArrowheads="1"/>
          </p:cNvSpPr>
          <p:nvPr>
            <p:ph type="sldNum" sz="quarter" idx="10"/>
          </p:nvPr>
        </p:nvSpPr>
        <p:spPr>
          <a:ln/>
        </p:spPr>
        <p:txBody>
          <a:bodyPr/>
          <a:lstStyle>
            <a:lvl1pPr>
              <a:defRPr/>
            </a:lvl1pPr>
          </a:lstStyle>
          <a:p>
            <a:fld id="{1143FCC6-633A-4389-89E9-B3E6025CA4DA}"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34497944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p:cNvSpPr>
            <a:spLocks noGrp="1" noChangeArrowheads="1"/>
          </p:cNvSpPr>
          <p:nvPr>
            <p:ph type="sldNum" sz="quarter" idx="10"/>
          </p:nvPr>
        </p:nvSpPr>
        <p:spPr>
          <a:ln/>
        </p:spPr>
        <p:txBody>
          <a:bodyPr/>
          <a:lstStyle>
            <a:lvl1pPr>
              <a:defRPr/>
            </a:lvl1pPr>
          </a:lstStyle>
          <a:p>
            <a:fld id="{E3CCA692-2888-44DE-AA4F-6B4ABB62CD7B}" type="slidenum">
              <a:rPr lang="en-US" altLang="en-US">
                <a:solidFill>
                  <a:srgbClr val="666699"/>
                </a:solidFill>
              </a:rPr>
              <a:pPr/>
              <a:t>‹#›</a:t>
            </a:fld>
            <a:endParaRPr lang="en-US" altLang="en-US">
              <a:solidFill>
                <a:srgbClr val="666699"/>
              </a:solidFill>
            </a:endParaRPr>
          </a:p>
        </p:txBody>
      </p:sp>
    </p:spTree>
    <p:extLst>
      <p:ext uri="{BB962C8B-B14F-4D97-AF65-F5344CB8AC3E}">
        <p14:creationId xmlns:p14="http://schemas.microsoft.com/office/powerpoint/2010/main" val="1063415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body" idx="1"/>
          </p:nvPr>
        </p:nvSpPr>
        <p:spPr bwMode="auto">
          <a:xfrm>
            <a:off x="1085852" y="1093789"/>
            <a:ext cx="10215033" cy="4903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252931" name="Rectangle 3"/>
          <p:cNvSpPr>
            <a:spLocks noGrp="1" noChangeArrowheads="1"/>
          </p:cNvSpPr>
          <p:nvPr>
            <p:ph type="sldNum" sz="quarter" idx="4"/>
          </p:nvPr>
        </p:nvSpPr>
        <p:spPr bwMode="auto">
          <a:xfrm>
            <a:off x="8737600" y="6400800"/>
            <a:ext cx="2540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a:solidFill>
                  <a:schemeClr val="bg2"/>
                </a:solidFill>
                <a:latin typeface="Times New Roman" panose="02020603050405020304" pitchFamily="18" charset="0"/>
              </a:defRPr>
            </a:lvl1pPr>
          </a:lstStyle>
          <a:p>
            <a:pPr eaLnBrk="0" fontAlgn="base" hangingPunct="0">
              <a:spcAft>
                <a:spcPct val="0"/>
              </a:spcAft>
            </a:pPr>
            <a:fld id="{D0E8D6FA-564D-4C8D-B838-FC9E777266E7}" type="slidenum">
              <a:rPr lang="en-US" altLang="en-US">
                <a:solidFill>
                  <a:srgbClr val="666699"/>
                </a:solidFill>
                <a:ea typeface="MS PGothic" panose="020B0600070205080204" pitchFamily="34" charset="-128"/>
              </a:rPr>
              <a:pPr eaLnBrk="0" fontAlgn="base" hangingPunct="0">
                <a:spcAft>
                  <a:spcPct val="0"/>
                </a:spcAft>
              </a:pPr>
              <a:t>‹#›</a:t>
            </a:fld>
            <a:endParaRPr lang="en-US" altLang="en-US">
              <a:solidFill>
                <a:srgbClr val="666699"/>
              </a:solidFill>
              <a:ea typeface="MS PGothic" panose="020B0600070205080204" pitchFamily="34" charset="-128"/>
            </a:endParaRPr>
          </a:p>
        </p:txBody>
      </p:sp>
      <p:sp>
        <p:nvSpPr>
          <p:cNvPr id="1028" name="Text Box 4"/>
          <p:cNvSpPr txBox="1">
            <a:spLocks noChangeArrowheads="1"/>
          </p:cNvSpPr>
          <p:nvPr/>
        </p:nvSpPr>
        <p:spPr bwMode="auto">
          <a:xfrm>
            <a:off x="9402889" y="6613526"/>
            <a:ext cx="2403222" cy="2462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algn="ctr" eaLnBrk="0" fontAlgn="base" hangingPunct="0">
              <a:spcBef>
                <a:spcPct val="50000"/>
              </a:spcBef>
              <a:spcAft>
                <a:spcPct val="0"/>
              </a:spcAft>
            </a:pPr>
            <a:r>
              <a:rPr lang="en-US" altLang="en-US" sz="1000" b="1">
                <a:solidFill>
                  <a:srgbClr val="CC3300"/>
                </a:solidFill>
              </a:rPr>
              <a:t>©Silberschatz, Korth and Sudarshan</a:t>
            </a:r>
          </a:p>
        </p:txBody>
      </p:sp>
      <p:sp>
        <p:nvSpPr>
          <p:cNvPr id="252933" name="Text Box 5"/>
          <p:cNvSpPr txBox="1">
            <a:spLocks noChangeArrowheads="1"/>
          </p:cNvSpPr>
          <p:nvPr/>
        </p:nvSpPr>
        <p:spPr bwMode="auto">
          <a:xfrm>
            <a:off x="6012638" y="6613526"/>
            <a:ext cx="518091" cy="246221"/>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algn="ctr" eaLnBrk="0" fontAlgn="base" hangingPunct="0">
              <a:spcBef>
                <a:spcPct val="50000"/>
              </a:spcBef>
              <a:spcAft>
                <a:spcPct val="0"/>
              </a:spcAft>
            </a:pPr>
            <a:r>
              <a:rPr lang="en-US" altLang="en-US" sz="1000" b="1">
                <a:solidFill>
                  <a:srgbClr val="CC3300"/>
                </a:solidFill>
              </a:rPr>
              <a:t>16.</a:t>
            </a:r>
            <a:fld id="{51767CF0-AEEB-4FC2-81F1-6FF9EBF49952}" type="slidenum">
              <a:rPr lang="en-US" altLang="en-US" sz="1000" b="1">
                <a:solidFill>
                  <a:srgbClr val="CC3300"/>
                </a:solidFill>
              </a:rPr>
              <a:pPr algn="ctr" eaLnBrk="0" fontAlgn="base" hangingPunct="0">
                <a:spcBef>
                  <a:spcPct val="50000"/>
                </a:spcBef>
                <a:spcAft>
                  <a:spcPct val="0"/>
                </a:spcAft>
              </a:pPr>
              <a:t>‹#›</a:t>
            </a:fld>
            <a:endParaRPr lang="en-US" altLang="en-US" sz="1000" b="1">
              <a:solidFill>
                <a:srgbClr val="CC3300"/>
              </a:solidFill>
            </a:endParaRPr>
          </a:p>
        </p:txBody>
      </p:sp>
      <p:sp>
        <p:nvSpPr>
          <p:cNvPr id="252934" name="Rectangle 6"/>
          <p:cNvSpPr>
            <a:spLocks noGrp="1" noChangeArrowheads="1"/>
          </p:cNvSpPr>
          <p:nvPr>
            <p:ph type="title"/>
          </p:nvPr>
        </p:nvSpPr>
        <p:spPr bwMode="auto">
          <a:xfrm>
            <a:off x="1024467" y="117475"/>
            <a:ext cx="107696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a:t>Click to edit Master title style</a:t>
            </a:r>
          </a:p>
        </p:txBody>
      </p:sp>
      <p:sp>
        <p:nvSpPr>
          <p:cNvPr id="1031" name="Text Box 7"/>
          <p:cNvSpPr txBox="1">
            <a:spLocks noChangeArrowheads="1"/>
          </p:cNvSpPr>
          <p:nvPr/>
        </p:nvSpPr>
        <p:spPr bwMode="auto">
          <a:xfrm>
            <a:off x="0" y="6613526"/>
            <a:ext cx="2595582" cy="2462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eaLnBrk="0" fontAlgn="base" hangingPunct="0">
              <a:spcBef>
                <a:spcPct val="50000"/>
              </a:spcBef>
              <a:spcAft>
                <a:spcPct val="0"/>
              </a:spcAft>
              <a:defRPr/>
            </a:pPr>
            <a:r>
              <a:rPr lang="en-US" sz="1000" b="1">
                <a:solidFill>
                  <a:srgbClr val="CC3300"/>
                </a:solidFill>
              </a:rPr>
              <a:t>Database System Concepts - 6</a:t>
            </a:r>
            <a:r>
              <a:rPr lang="en-US" sz="1000" b="1" baseline="30000">
                <a:solidFill>
                  <a:srgbClr val="CC3300"/>
                </a:solidFill>
              </a:rPr>
              <a:t>th</a:t>
            </a:r>
            <a:r>
              <a:rPr lang="en-US" sz="1000" b="1">
                <a:solidFill>
                  <a:srgbClr val="CC3300"/>
                </a:solidFill>
              </a:rPr>
              <a:t> Edition</a:t>
            </a:r>
          </a:p>
        </p:txBody>
      </p:sp>
      <p:sp>
        <p:nvSpPr>
          <p:cNvPr id="1032" name="Freeform 8"/>
          <p:cNvSpPr>
            <a:spLocks/>
          </p:cNvSpPr>
          <p:nvPr/>
        </p:nvSpPr>
        <p:spPr bwMode="auto">
          <a:xfrm>
            <a:off x="11889317" y="5445126"/>
            <a:ext cx="302683" cy="47625"/>
          </a:xfrm>
          <a:custGeom>
            <a:avLst/>
            <a:gdLst>
              <a:gd name="T0" fmla="*/ 0 w 285"/>
              <a:gd name="T1" fmla="*/ 46064 h 61"/>
              <a:gd name="T2" fmla="*/ 1593 w 285"/>
              <a:gd name="T3" fmla="*/ 37475 h 61"/>
              <a:gd name="T4" fmla="*/ 7169 w 285"/>
              <a:gd name="T5" fmla="*/ 26545 h 61"/>
              <a:gd name="T6" fmla="*/ 13541 w 285"/>
              <a:gd name="T7" fmla="*/ 19518 h 61"/>
              <a:gd name="T8" fmla="*/ 23896 w 285"/>
              <a:gd name="T9" fmla="*/ 13273 h 61"/>
              <a:gd name="T10" fmla="*/ 35844 w 285"/>
              <a:gd name="T11" fmla="*/ 7807 h 61"/>
              <a:gd name="T12" fmla="*/ 45402 w 285"/>
              <a:gd name="T13" fmla="*/ 4684 h 61"/>
              <a:gd name="T14" fmla="*/ 55757 w 285"/>
              <a:gd name="T15" fmla="*/ 1561 h 61"/>
              <a:gd name="T16" fmla="*/ 67705 w 285"/>
              <a:gd name="T17" fmla="*/ 0 h 61"/>
              <a:gd name="T18" fmla="*/ 79653 w 285"/>
              <a:gd name="T19" fmla="*/ 0 h 61"/>
              <a:gd name="T20" fmla="*/ 93991 w 285"/>
              <a:gd name="T21" fmla="*/ 0 h 61"/>
              <a:gd name="T22" fmla="*/ 109125 w 285"/>
              <a:gd name="T23" fmla="*/ 0 h 61"/>
              <a:gd name="T24" fmla="*/ 122666 w 285"/>
              <a:gd name="T25" fmla="*/ 1561 h 61"/>
              <a:gd name="T26" fmla="*/ 137800 w 285"/>
              <a:gd name="T27" fmla="*/ 4684 h 61"/>
              <a:gd name="T28" fmla="*/ 152934 w 285"/>
              <a:gd name="T29" fmla="*/ 6246 h 61"/>
              <a:gd name="T30" fmla="*/ 166475 w 285"/>
              <a:gd name="T31" fmla="*/ 9369 h 61"/>
              <a:gd name="T32" fmla="*/ 178423 w 285"/>
              <a:gd name="T33" fmla="*/ 11711 h 61"/>
              <a:gd name="T34" fmla="*/ 190371 w 285"/>
              <a:gd name="T35" fmla="*/ 14834 h 61"/>
              <a:gd name="T36" fmla="*/ 202319 w 285"/>
              <a:gd name="T37" fmla="*/ 17957 h 61"/>
              <a:gd name="T38" fmla="*/ 211878 w 285"/>
              <a:gd name="T39" fmla="*/ 19518 h 61"/>
              <a:gd name="T40" fmla="*/ 217454 w 285"/>
              <a:gd name="T41" fmla="*/ 21080 h 61"/>
              <a:gd name="T42" fmla="*/ 225419 w 285"/>
              <a:gd name="T43" fmla="*/ 24203 h 61"/>
              <a:gd name="T44" fmla="*/ 222233 w 285"/>
              <a:gd name="T45" fmla="*/ 34352 h 61"/>
              <a:gd name="T46" fmla="*/ 217454 w 285"/>
              <a:gd name="T47" fmla="*/ 32791 h 61"/>
              <a:gd name="T48" fmla="*/ 207099 w 285"/>
              <a:gd name="T49" fmla="*/ 31230 h 61"/>
              <a:gd name="T50" fmla="*/ 191965 w 285"/>
              <a:gd name="T51" fmla="*/ 28107 h 61"/>
              <a:gd name="T52" fmla="*/ 183203 w 285"/>
              <a:gd name="T53" fmla="*/ 26545 h 61"/>
              <a:gd name="T54" fmla="*/ 173644 w 285"/>
              <a:gd name="T55" fmla="*/ 24984 h 61"/>
              <a:gd name="T56" fmla="*/ 164882 w 285"/>
              <a:gd name="T57" fmla="*/ 24203 h 61"/>
              <a:gd name="T58" fmla="*/ 156121 w 285"/>
              <a:gd name="T59" fmla="*/ 22641 h 61"/>
              <a:gd name="T60" fmla="*/ 144969 w 285"/>
              <a:gd name="T61" fmla="*/ 21080 h 61"/>
              <a:gd name="T62" fmla="*/ 137800 w 285"/>
              <a:gd name="T63" fmla="*/ 19518 h 61"/>
              <a:gd name="T64" fmla="*/ 129835 w 285"/>
              <a:gd name="T65" fmla="*/ 17957 h 61"/>
              <a:gd name="T66" fmla="*/ 122666 w 285"/>
              <a:gd name="T67" fmla="*/ 16395 h 61"/>
              <a:gd name="T68" fmla="*/ 113108 w 285"/>
              <a:gd name="T69" fmla="*/ 14834 h 61"/>
              <a:gd name="T70" fmla="*/ 87619 w 285"/>
              <a:gd name="T71" fmla="*/ 11711 h 61"/>
              <a:gd name="T72" fmla="*/ 66112 w 285"/>
              <a:gd name="T73" fmla="*/ 16395 h 61"/>
              <a:gd name="T74" fmla="*/ 46995 w 285"/>
              <a:gd name="T75" fmla="*/ 22641 h 61"/>
              <a:gd name="T76" fmla="*/ 42216 w 285"/>
              <a:gd name="T77" fmla="*/ 24203 h 61"/>
              <a:gd name="T78" fmla="*/ 34251 w 285"/>
              <a:gd name="T79" fmla="*/ 26545 h 61"/>
              <a:gd name="T80" fmla="*/ 25489 w 285"/>
              <a:gd name="T81" fmla="*/ 29668 h 61"/>
              <a:gd name="T82" fmla="*/ 18320 w 285"/>
              <a:gd name="T83" fmla="*/ 34352 h 61"/>
              <a:gd name="T84" fmla="*/ 5576 w 285"/>
              <a:gd name="T85" fmla="*/ 42941 h 61"/>
              <a:gd name="T86" fmla="*/ 1593 w 285"/>
              <a:gd name="T87" fmla="*/ 47625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pic>
        <p:nvPicPr>
          <p:cNvPr id="1033" name="Picture 9" descr="Cover-6Ed"/>
          <p:cNvPicPr>
            <a:picLocks noChangeAspect="1" noChangeArrowheads="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4233" y="1"/>
            <a:ext cx="891117" cy="815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7974538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mj-lt"/>
          <a:ea typeface="MS PGothic" panose="020B0600070205080204" pitchFamily="34" charset="-128"/>
          <a:cs typeface="ＭＳ Ｐゴシック" charset="0"/>
        </a:defRPr>
      </a:lvl1pPr>
      <a:lvl2pPr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ea typeface="MS PGothic" panose="020B0600070205080204" pitchFamily="34" charset="-128"/>
          <a:cs typeface="ＭＳ Ｐゴシック" charset="0"/>
        </a:defRPr>
      </a:lvl2pPr>
      <a:lvl3pPr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ea typeface="MS PGothic" panose="020B0600070205080204" pitchFamily="34" charset="-128"/>
          <a:cs typeface="ＭＳ Ｐゴシック" charset="0"/>
        </a:defRPr>
      </a:lvl3pPr>
      <a:lvl4pPr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ea typeface="MS PGothic" panose="020B0600070205080204" pitchFamily="34" charset="-128"/>
          <a:cs typeface="ＭＳ Ｐゴシック" charset="0"/>
        </a:defRPr>
      </a:lvl4pPr>
      <a:lvl5pPr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ea typeface="MS PGothic" panose="020B0600070205080204" pitchFamily="34" charset="-128"/>
          <a:cs typeface="ＭＳ Ｐゴシック" charset="0"/>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chemeClr val="tx2"/>
        </a:buClr>
        <a:buSzPct val="90000"/>
        <a:buFont typeface="Monotype Sorts" charset="2"/>
        <a:buChar char="n"/>
        <a:defRPr kumimoji="1">
          <a:solidFill>
            <a:schemeClr val="tx1"/>
          </a:solidFill>
          <a:latin typeface="+mn-lt"/>
          <a:ea typeface="MS PGothic" panose="020B0600070205080204" pitchFamily="34" charset="-128"/>
          <a:cs typeface="ＭＳ Ｐゴシック" charset="0"/>
        </a:defRPr>
      </a:lvl1pPr>
      <a:lvl2pPr marL="742950" indent="-285750" algn="l" rtl="0" eaLnBrk="0" fontAlgn="base" hangingPunct="0">
        <a:spcBef>
          <a:spcPct val="35000"/>
        </a:spcBef>
        <a:spcAft>
          <a:spcPct val="0"/>
        </a:spcAft>
        <a:buClr>
          <a:schemeClr val="folHlink"/>
        </a:buClr>
        <a:buSzPct val="80000"/>
        <a:buFont typeface="Monotype Sorts" charset="2"/>
        <a:buChar char="l"/>
        <a:defRPr kumimoji="1">
          <a:solidFill>
            <a:schemeClr val="tx1"/>
          </a:solidFill>
          <a:latin typeface="+mn-lt"/>
          <a:ea typeface="MS PGothic" panose="020B0600070205080204" pitchFamily="34" charset="-128"/>
        </a:defRPr>
      </a:lvl2pPr>
      <a:lvl3pPr marL="1085850" indent="-228600" algn="l" rtl="0" eaLnBrk="0" fontAlgn="base" hangingPunct="0">
        <a:spcBef>
          <a:spcPct val="35000"/>
        </a:spcBef>
        <a:spcAft>
          <a:spcPct val="0"/>
        </a:spcAft>
        <a:buClr>
          <a:srgbClr val="33CC33"/>
        </a:buClr>
        <a:buSzPct val="75000"/>
        <a:buFont typeface="Webdings" panose="05030102010509060703" pitchFamily="18" charset="2"/>
        <a:buChar char="4"/>
        <a:defRPr kumimoji="1">
          <a:solidFill>
            <a:schemeClr val="tx1"/>
          </a:solidFill>
          <a:latin typeface="+mn-lt"/>
          <a:ea typeface="MS PGothic" panose="020B0600070205080204" pitchFamily="34" charset="-12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a:solidFill>
            <a:schemeClr val="tx1"/>
          </a:solidFill>
          <a:latin typeface="+mn-lt"/>
          <a:ea typeface="MS PGothic" panose="020B0600070205080204" pitchFamily="34" charset="-128"/>
        </a:defRPr>
      </a:lvl4pPr>
      <a:lvl5pPr marL="1771650" indent="-228600" algn="l" rtl="0" eaLnBrk="0" fontAlgn="base" hangingPunct="0">
        <a:spcBef>
          <a:spcPct val="35000"/>
        </a:spcBef>
        <a:spcAft>
          <a:spcPct val="0"/>
        </a:spcAft>
        <a:buClr>
          <a:schemeClr val="tx2"/>
        </a:buClr>
        <a:buSzPct val="75000"/>
        <a:buChar char="»"/>
        <a:defRPr kumimoji="1">
          <a:solidFill>
            <a:schemeClr val="tx1"/>
          </a:solidFill>
          <a:latin typeface="+mn-lt"/>
          <a:ea typeface="MS PGothic" panose="020B0600070205080204" pitchFamily="34" charset="-12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2338" name="Rectangle 2"/>
          <p:cNvSpPr>
            <a:spLocks noGrp="1" noChangeArrowheads="1"/>
          </p:cNvSpPr>
          <p:nvPr>
            <p:ph type="ctrTitle"/>
          </p:nvPr>
        </p:nvSpPr>
        <p:spPr/>
        <p:txBody>
          <a:bodyPr/>
          <a:lstStyle/>
          <a:p>
            <a:r>
              <a:rPr lang="en-US" altLang="en-US">
                <a:effectLst>
                  <a:outerShdw blurRad="38100" dist="38100" dir="2700000" algn="tl">
                    <a:srgbClr val="C0C0C0"/>
                  </a:outerShdw>
                </a:effectLst>
              </a:rPr>
              <a:t>Chapter 16: Recovery System</a:t>
            </a:r>
          </a:p>
        </p:txBody>
      </p:sp>
    </p:spTree>
    <p:extLst>
      <p:ext uri="{BB962C8B-B14F-4D97-AF65-F5344CB8AC3E}">
        <p14:creationId xmlns:p14="http://schemas.microsoft.com/office/powerpoint/2010/main" val="19134740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Failure Classification</a:t>
            </a:r>
          </a:p>
        </p:txBody>
      </p:sp>
      <p:sp>
        <p:nvSpPr>
          <p:cNvPr id="20482" name="Rectangle 3"/>
          <p:cNvSpPr>
            <a:spLocks noGrp="1" noChangeArrowheads="1"/>
          </p:cNvSpPr>
          <p:nvPr>
            <p:ph type="body" idx="4294967295"/>
          </p:nvPr>
        </p:nvSpPr>
        <p:spPr/>
        <p:txBody>
          <a:bodyPr/>
          <a:lstStyle/>
          <a:p>
            <a:r>
              <a:rPr lang="en-US" altLang="en-US" b="1"/>
              <a:t>Transaction failure</a:t>
            </a:r>
            <a:r>
              <a:rPr lang="en-US" altLang="en-US"/>
              <a:t> :</a:t>
            </a:r>
          </a:p>
          <a:p>
            <a:pPr lvl="1"/>
            <a:r>
              <a:rPr lang="en-US" altLang="en-US" b="1"/>
              <a:t>Logical errors</a:t>
            </a:r>
            <a:r>
              <a:rPr lang="en-US" altLang="en-US"/>
              <a:t>: transaction cannot complete due to some internal error condition</a:t>
            </a:r>
          </a:p>
          <a:p>
            <a:pPr lvl="1"/>
            <a:r>
              <a:rPr lang="en-US" altLang="en-US" b="1"/>
              <a:t>System errors</a:t>
            </a:r>
            <a:r>
              <a:rPr lang="en-US" altLang="en-US"/>
              <a:t>: the database system must terminate an active transaction due to an error condition (e.g., deadlock)</a:t>
            </a:r>
          </a:p>
          <a:p>
            <a:r>
              <a:rPr lang="en-US" altLang="en-US" b="1"/>
              <a:t>System crash</a:t>
            </a:r>
            <a:r>
              <a:rPr lang="en-US" altLang="en-US"/>
              <a:t>: a power failure or other hardware or software failure causes the system to crash.</a:t>
            </a:r>
          </a:p>
          <a:p>
            <a:pPr lvl="1"/>
            <a:r>
              <a:rPr lang="en-US" altLang="en-US" b="1">
                <a:solidFill>
                  <a:srgbClr val="000099"/>
                </a:solidFill>
              </a:rPr>
              <a:t>Fail-stop assumption</a:t>
            </a:r>
            <a:r>
              <a:rPr lang="en-US" altLang="en-US"/>
              <a:t>: non-volatile storage contents are assumed to not be corrupted by system crash</a:t>
            </a:r>
          </a:p>
          <a:p>
            <a:pPr lvl="2"/>
            <a:r>
              <a:rPr lang="en-US" altLang="en-US"/>
              <a:t>Database systems have numerous integrity checks to prevent corruption of disk data </a:t>
            </a:r>
          </a:p>
          <a:p>
            <a:r>
              <a:rPr lang="en-US" altLang="en-US" b="1"/>
              <a:t>Disk failure</a:t>
            </a:r>
            <a:r>
              <a:rPr lang="en-US" altLang="en-US"/>
              <a:t>: a head crash or similar disk failure destroys all or part of disk storage</a:t>
            </a:r>
          </a:p>
          <a:p>
            <a:pPr lvl="1"/>
            <a:r>
              <a:rPr lang="en-US" altLang="en-US"/>
              <a:t>Destruction is assumed to be detectable: disk drives use checksums to detect failures</a:t>
            </a:r>
          </a:p>
        </p:txBody>
      </p:sp>
    </p:spTree>
    <p:extLst>
      <p:ext uri="{BB962C8B-B14F-4D97-AF65-F5344CB8AC3E}">
        <p14:creationId xmlns:p14="http://schemas.microsoft.com/office/powerpoint/2010/main" val="7636096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3666"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Recovery Algorithms</a:t>
            </a:r>
          </a:p>
        </p:txBody>
      </p:sp>
      <p:sp>
        <p:nvSpPr>
          <p:cNvPr id="22530" name="Rectangle 3"/>
          <p:cNvSpPr>
            <a:spLocks noGrp="1" noChangeArrowheads="1"/>
          </p:cNvSpPr>
          <p:nvPr>
            <p:ph type="body" idx="1"/>
          </p:nvPr>
        </p:nvSpPr>
        <p:spPr>
          <a:xfrm>
            <a:off x="2338389" y="1093788"/>
            <a:ext cx="7691437" cy="5086350"/>
          </a:xfrm>
        </p:spPr>
        <p:txBody>
          <a:bodyPr/>
          <a:lstStyle/>
          <a:p>
            <a:pPr marL="381000" indent="-381000"/>
            <a:r>
              <a:rPr lang="en-US" altLang="en-US"/>
              <a:t>Consider transaction </a:t>
            </a:r>
            <a:r>
              <a:rPr lang="en-US" altLang="en-US" i="1"/>
              <a:t>T</a:t>
            </a:r>
            <a:r>
              <a:rPr lang="en-US" altLang="en-US" i="1" baseline="-25000"/>
              <a:t>i</a:t>
            </a:r>
            <a:r>
              <a:rPr lang="en-US" altLang="en-US"/>
              <a:t> that transfers $50 from account </a:t>
            </a:r>
            <a:r>
              <a:rPr lang="en-US" altLang="en-US" i="1"/>
              <a:t>A</a:t>
            </a:r>
            <a:r>
              <a:rPr lang="en-US" altLang="en-US"/>
              <a:t> to account </a:t>
            </a:r>
            <a:r>
              <a:rPr lang="en-US" altLang="en-US" i="1"/>
              <a:t>B</a:t>
            </a:r>
          </a:p>
          <a:p>
            <a:pPr marL="800100" lvl="1" indent="-342900"/>
            <a:r>
              <a:rPr lang="en-US" altLang="en-US"/>
              <a:t>Two updates: subtract 50 from A and add 50 to B </a:t>
            </a:r>
          </a:p>
          <a:p>
            <a:pPr marL="381000" indent="-381000"/>
            <a:r>
              <a:rPr lang="en-US" altLang="en-US"/>
              <a:t>Transaction </a:t>
            </a:r>
            <a:r>
              <a:rPr lang="en-US" altLang="en-US" i="1"/>
              <a:t>T</a:t>
            </a:r>
            <a:r>
              <a:rPr lang="en-US" altLang="en-US" i="1" baseline="-25000"/>
              <a:t>i</a:t>
            </a:r>
            <a:r>
              <a:rPr lang="en-US" altLang="en-US"/>
              <a:t>  requires updates to A and B to be output to the database. </a:t>
            </a:r>
          </a:p>
          <a:p>
            <a:pPr marL="800100" lvl="1" indent="-342900"/>
            <a:r>
              <a:rPr lang="en-US" altLang="en-US"/>
              <a:t>A failure may occur after one of these modifications have been made but before both of them are made. </a:t>
            </a:r>
          </a:p>
          <a:p>
            <a:pPr marL="800100" lvl="1" indent="-342900"/>
            <a:r>
              <a:rPr lang="en-US" altLang="en-US"/>
              <a:t>Modifying the database without ensuring that the transaction will commit  may leave the database in an inconsistent state</a:t>
            </a:r>
          </a:p>
          <a:p>
            <a:pPr marL="800100" lvl="1" indent="-342900"/>
            <a:r>
              <a:rPr lang="en-US" altLang="en-US"/>
              <a:t>Not modifying the database may result in lost updates if failure occurs just after transaction commits</a:t>
            </a:r>
          </a:p>
          <a:p>
            <a:pPr marL="381000" indent="-381000"/>
            <a:r>
              <a:rPr lang="en-US" altLang="en-US"/>
              <a:t>Recovery algorithms have two parts</a:t>
            </a:r>
          </a:p>
          <a:p>
            <a:pPr marL="800100" lvl="1" indent="-342900">
              <a:buFont typeface="Monotype Sorts" charset="2"/>
              <a:buAutoNum type="arabicPeriod"/>
            </a:pPr>
            <a:r>
              <a:rPr lang="en-US" altLang="en-US"/>
              <a:t>Actions taken during normal transaction processing to ensure enough information exists to recover from failures</a:t>
            </a:r>
          </a:p>
          <a:p>
            <a:pPr marL="800100" lvl="1" indent="-342900">
              <a:buFont typeface="Monotype Sorts" charset="2"/>
              <a:buAutoNum type="arabicPeriod"/>
            </a:pPr>
            <a:r>
              <a:rPr lang="en-US" altLang="en-US"/>
              <a:t>Actions taken after a failure to recover the database contents to a state that ensures atomicity, consistency and durability</a:t>
            </a:r>
          </a:p>
        </p:txBody>
      </p:sp>
    </p:spTree>
    <p:extLst>
      <p:ext uri="{BB962C8B-B14F-4D97-AF65-F5344CB8AC3E}">
        <p14:creationId xmlns:p14="http://schemas.microsoft.com/office/powerpoint/2010/main" val="80184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Storage Structure</a:t>
            </a:r>
          </a:p>
        </p:txBody>
      </p:sp>
      <p:sp>
        <p:nvSpPr>
          <p:cNvPr id="24578" name="Rectangle 3"/>
          <p:cNvSpPr>
            <a:spLocks noGrp="1" noChangeArrowheads="1"/>
          </p:cNvSpPr>
          <p:nvPr>
            <p:ph type="body" idx="4294967295"/>
          </p:nvPr>
        </p:nvSpPr>
        <p:spPr/>
        <p:txBody>
          <a:bodyPr/>
          <a:lstStyle/>
          <a:p>
            <a:r>
              <a:rPr lang="en-US" altLang="en-US" b="1">
                <a:solidFill>
                  <a:srgbClr val="000099"/>
                </a:solidFill>
              </a:rPr>
              <a:t>Volatile storage</a:t>
            </a:r>
            <a:r>
              <a:rPr lang="en-US" altLang="en-US"/>
              <a:t>:</a:t>
            </a:r>
          </a:p>
          <a:p>
            <a:pPr lvl="1"/>
            <a:r>
              <a:rPr lang="en-US" altLang="en-US"/>
              <a:t>does not survive system crashes</a:t>
            </a:r>
          </a:p>
          <a:p>
            <a:pPr lvl="1"/>
            <a:r>
              <a:rPr lang="en-US" altLang="en-US"/>
              <a:t>examples: main memory, cache memory</a:t>
            </a:r>
          </a:p>
          <a:p>
            <a:r>
              <a:rPr lang="en-US" altLang="en-US" b="1">
                <a:solidFill>
                  <a:srgbClr val="000099"/>
                </a:solidFill>
              </a:rPr>
              <a:t>Nonvolatile storage</a:t>
            </a:r>
            <a:r>
              <a:rPr lang="en-US" altLang="en-US"/>
              <a:t>:</a:t>
            </a:r>
          </a:p>
          <a:p>
            <a:pPr lvl="1"/>
            <a:r>
              <a:rPr lang="en-US" altLang="en-US"/>
              <a:t>survives system crashes</a:t>
            </a:r>
          </a:p>
          <a:p>
            <a:pPr lvl="1"/>
            <a:r>
              <a:rPr lang="en-US" altLang="en-US"/>
              <a:t>examples: disk, tape, flash memory, </a:t>
            </a:r>
            <a:br>
              <a:rPr lang="en-US" altLang="en-US"/>
            </a:br>
            <a:r>
              <a:rPr lang="en-US" altLang="en-US"/>
              <a:t>                  non-volatile (battery backed up) RAM </a:t>
            </a:r>
          </a:p>
          <a:p>
            <a:pPr lvl="1"/>
            <a:r>
              <a:rPr lang="en-US" altLang="en-US"/>
              <a:t>but may still fail, losing data</a:t>
            </a:r>
          </a:p>
          <a:p>
            <a:r>
              <a:rPr lang="en-US" altLang="en-US" b="1">
                <a:solidFill>
                  <a:srgbClr val="000099"/>
                </a:solidFill>
              </a:rPr>
              <a:t>Stable storage</a:t>
            </a:r>
            <a:r>
              <a:rPr lang="en-US" altLang="en-US"/>
              <a:t>:</a:t>
            </a:r>
          </a:p>
          <a:p>
            <a:pPr lvl="1"/>
            <a:r>
              <a:rPr lang="en-US" altLang="en-US"/>
              <a:t>a mythical form of storage that survives all failures</a:t>
            </a:r>
          </a:p>
          <a:p>
            <a:pPr lvl="1"/>
            <a:r>
              <a:rPr lang="en-US" altLang="en-US"/>
              <a:t>approximated by maintaining multiple copies on distinct nonvolatile media</a:t>
            </a:r>
          </a:p>
          <a:p>
            <a:pPr lvl="1"/>
            <a:r>
              <a:rPr lang="en-US" altLang="en-US"/>
              <a:t>See book for more details on how to implement stable storage</a:t>
            </a:r>
          </a:p>
        </p:txBody>
      </p:sp>
    </p:spTree>
    <p:extLst>
      <p:ext uri="{BB962C8B-B14F-4D97-AF65-F5344CB8AC3E}">
        <p14:creationId xmlns:p14="http://schemas.microsoft.com/office/powerpoint/2010/main" val="10910203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242" name="Rectangle 2"/>
          <p:cNvSpPr>
            <a:spLocks noGrp="1" noChangeArrowheads="1"/>
          </p:cNvSpPr>
          <p:nvPr>
            <p:ph type="title" idx="4294967295"/>
          </p:nvPr>
        </p:nvSpPr>
        <p:spPr/>
        <p:txBody>
          <a:bodyPr/>
          <a:lstStyle/>
          <a:p>
            <a:r>
              <a:rPr lang="en-US" altLang="en-US">
                <a:effectLst>
                  <a:outerShdw blurRad="38100" dist="38100" dir="2700000" algn="tl">
                    <a:srgbClr val="C0C0C0"/>
                  </a:outerShdw>
                </a:effectLst>
              </a:rPr>
              <a:t>Stable-Storage Implementation</a:t>
            </a:r>
          </a:p>
        </p:txBody>
      </p:sp>
      <p:sp>
        <p:nvSpPr>
          <p:cNvPr id="26626" name="Rectangle 3"/>
          <p:cNvSpPr>
            <a:spLocks noGrp="1" noChangeArrowheads="1"/>
          </p:cNvSpPr>
          <p:nvPr>
            <p:ph type="body" idx="4294967295"/>
          </p:nvPr>
        </p:nvSpPr>
        <p:spPr/>
        <p:txBody>
          <a:bodyPr/>
          <a:lstStyle/>
          <a:p>
            <a:pPr>
              <a:lnSpc>
                <a:spcPct val="90000"/>
              </a:lnSpc>
            </a:pPr>
            <a:r>
              <a:rPr lang="en-US" altLang="en-US"/>
              <a:t>Maintain multiple copies of each block on separate disks</a:t>
            </a:r>
          </a:p>
          <a:p>
            <a:pPr marL="762000" lvl="1" indent="-304800">
              <a:lnSpc>
                <a:spcPct val="90000"/>
              </a:lnSpc>
            </a:pPr>
            <a:r>
              <a:rPr lang="en-US" altLang="en-US"/>
              <a:t>copies can be at remote sites to protect against disasters such as fire or flooding.</a:t>
            </a:r>
          </a:p>
          <a:p>
            <a:pPr>
              <a:lnSpc>
                <a:spcPct val="90000"/>
              </a:lnSpc>
            </a:pPr>
            <a:r>
              <a:rPr lang="en-US" altLang="en-US"/>
              <a:t>Failure during data transfer can still result in inconsistent copies: Block transfer can result in</a:t>
            </a:r>
          </a:p>
          <a:p>
            <a:pPr marL="762000" lvl="1" indent="-304800">
              <a:lnSpc>
                <a:spcPct val="90000"/>
              </a:lnSpc>
            </a:pPr>
            <a:r>
              <a:rPr lang="en-US" altLang="en-US"/>
              <a:t>Successful completion</a:t>
            </a:r>
          </a:p>
          <a:p>
            <a:pPr marL="762000" lvl="1" indent="-304800">
              <a:lnSpc>
                <a:spcPct val="90000"/>
              </a:lnSpc>
            </a:pPr>
            <a:r>
              <a:rPr lang="en-US" altLang="en-US"/>
              <a:t>Partial failure: destination block has incorrect information</a:t>
            </a:r>
          </a:p>
          <a:p>
            <a:pPr marL="762000" lvl="1" indent="-304800">
              <a:lnSpc>
                <a:spcPct val="90000"/>
              </a:lnSpc>
            </a:pPr>
            <a:r>
              <a:rPr lang="en-US" altLang="en-US"/>
              <a:t>Total failure: destination block was never updated</a:t>
            </a:r>
          </a:p>
          <a:p>
            <a:pPr>
              <a:lnSpc>
                <a:spcPct val="90000"/>
              </a:lnSpc>
            </a:pPr>
            <a:r>
              <a:rPr lang="en-US" altLang="en-US"/>
              <a:t>Protecting storage media from failure during data transfer (one solution):</a:t>
            </a:r>
          </a:p>
          <a:p>
            <a:pPr marL="762000" lvl="1" indent="-304800">
              <a:lnSpc>
                <a:spcPct val="90000"/>
              </a:lnSpc>
            </a:pPr>
            <a:r>
              <a:rPr lang="en-US" altLang="en-US"/>
              <a:t>Execute output operation as follows (assuming two copies of each block):</a:t>
            </a:r>
          </a:p>
          <a:p>
            <a:pPr marL="1162050" lvl="2" indent="-304800">
              <a:lnSpc>
                <a:spcPct val="90000"/>
              </a:lnSpc>
              <a:buFont typeface="Monotype Sorts" charset="2"/>
              <a:buAutoNum type="arabicPeriod"/>
            </a:pPr>
            <a:r>
              <a:rPr lang="en-US" altLang="en-US"/>
              <a:t>Write the information onto the first physical block.</a:t>
            </a:r>
          </a:p>
          <a:p>
            <a:pPr marL="1162050" lvl="2" indent="-304800">
              <a:lnSpc>
                <a:spcPct val="90000"/>
              </a:lnSpc>
              <a:buFont typeface="Monotype Sorts" charset="2"/>
              <a:buAutoNum type="arabicPeriod"/>
            </a:pPr>
            <a:r>
              <a:rPr lang="en-US" altLang="en-US"/>
              <a:t>When the first write successfully completes, write the same information onto the second physical block.</a:t>
            </a:r>
          </a:p>
          <a:p>
            <a:pPr marL="1162050" lvl="2" indent="-304800">
              <a:lnSpc>
                <a:spcPct val="90000"/>
              </a:lnSpc>
              <a:buFont typeface="Monotype Sorts" charset="2"/>
              <a:buAutoNum type="arabicPeriod"/>
            </a:pPr>
            <a:r>
              <a:rPr lang="en-US" altLang="en-US"/>
              <a:t>The output is completed only after the second write successfully completes.</a:t>
            </a:r>
          </a:p>
        </p:txBody>
      </p:sp>
    </p:spTree>
    <p:extLst>
      <p:ext uri="{BB962C8B-B14F-4D97-AF65-F5344CB8AC3E}">
        <p14:creationId xmlns:p14="http://schemas.microsoft.com/office/powerpoint/2010/main" val="26735266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290" name="Rectangle 2"/>
          <p:cNvSpPr>
            <a:spLocks noGrp="1" noChangeArrowheads="1"/>
          </p:cNvSpPr>
          <p:nvPr>
            <p:ph type="title" idx="4294967295"/>
          </p:nvPr>
        </p:nvSpPr>
        <p:spPr>
          <a:xfrm>
            <a:off x="2286000" y="0"/>
            <a:ext cx="8077200" cy="609600"/>
          </a:xfrm>
        </p:spPr>
        <p:txBody>
          <a:bodyPr/>
          <a:lstStyle/>
          <a:p>
            <a:r>
              <a:rPr lang="en-US" altLang="en-US">
                <a:effectLst>
                  <a:outerShdw blurRad="38100" dist="38100" dir="2700000" algn="tl">
                    <a:srgbClr val="C0C0C0"/>
                  </a:outerShdw>
                </a:effectLst>
              </a:rPr>
              <a:t>Stable-Storage Implementation (Cont.)</a:t>
            </a:r>
          </a:p>
        </p:txBody>
      </p:sp>
      <p:sp>
        <p:nvSpPr>
          <p:cNvPr id="28674" name="Rectangle 3"/>
          <p:cNvSpPr>
            <a:spLocks noGrp="1" noChangeArrowheads="1"/>
          </p:cNvSpPr>
          <p:nvPr>
            <p:ph type="body" idx="4294967295"/>
          </p:nvPr>
        </p:nvSpPr>
        <p:spPr>
          <a:xfrm>
            <a:off x="2366963" y="1106488"/>
            <a:ext cx="8382000" cy="4876800"/>
          </a:xfrm>
        </p:spPr>
        <p:txBody>
          <a:bodyPr/>
          <a:lstStyle/>
          <a:p>
            <a:pPr marL="381000" indent="-381000"/>
            <a:r>
              <a:rPr lang="en-US" altLang="en-US"/>
              <a:t>Protecting storage media from failure during data transfer (cont.):</a:t>
            </a:r>
          </a:p>
          <a:p>
            <a:pPr marL="381000" indent="-381000"/>
            <a:r>
              <a:rPr lang="en-US" altLang="en-US"/>
              <a:t>Copies of a block may differ due to failure during output operation. To recover from failure:</a:t>
            </a:r>
          </a:p>
          <a:p>
            <a:pPr marL="800100" lvl="1" indent="-342900">
              <a:buFont typeface="Monotype Sorts" charset="2"/>
              <a:buAutoNum type="arabicPeriod"/>
            </a:pPr>
            <a:r>
              <a:rPr lang="en-US" altLang="en-US"/>
              <a:t>First find inconsistent blocks:</a:t>
            </a:r>
          </a:p>
          <a:p>
            <a:pPr marL="1200150" lvl="2" indent="-342900">
              <a:buFont typeface="Monotype Sorts" charset="2"/>
              <a:buAutoNum type="arabicPeriod"/>
            </a:pPr>
            <a:r>
              <a:rPr lang="en-US" altLang="en-US" i="1"/>
              <a:t>Expensive solution</a:t>
            </a:r>
            <a:r>
              <a:rPr lang="en-US" altLang="en-US"/>
              <a:t>: Compare the two copies of every disk block.</a:t>
            </a:r>
          </a:p>
          <a:p>
            <a:pPr marL="1200150" lvl="2" indent="-342900">
              <a:buFont typeface="Monotype Sorts" charset="2"/>
              <a:buAutoNum type="arabicPeriod"/>
            </a:pPr>
            <a:r>
              <a:rPr lang="en-US" altLang="en-US" i="1"/>
              <a:t>Better solution</a:t>
            </a:r>
            <a:r>
              <a:rPr lang="en-US" altLang="en-US"/>
              <a:t>: </a:t>
            </a:r>
          </a:p>
          <a:p>
            <a:pPr marL="1543050" lvl="3" indent="-342900">
              <a:buSzPct val="80000"/>
              <a:buFont typeface="Monotype Sorts" charset="2"/>
              <a:buChar char="l"/>
            </a:pPr>
            <a:r>
              <a:rPr lang="en-US" altLang="en-US"/>
              <a:t>Record in-progress disk writes on non-volatile storage (Non-volatile RAM or special area of disk). </a:t>
            </a:r>
          </a:p>
          <a:p>
            <a:pPr marL="1543050" lvl="3" indent="-342900">
              <a:buSzPct val="80000"/>
              <a:buFont typeface="Monotype Sorts" charset="2"/>
              <a:buChar char="l"/>
            </a:pPr>
            <a:r>
              <a:rPr lang="en-US" altLang="en-US"/>
              <a:t> Use this information during recovery  to find blocks that may be inconsistent, and only compare copies of these. </a:t>
            </a:r>
          </a:p>
          <a:p>
            <a:pPr marL="1543050" lvl="3" indent="-342900">
              <a:buSzPct val="80000"/>
              <a:buFont typeface="Monotype Sorts" charset="2"/>
              <a:buChar char="l"/>
            </a:pPr>
            <a:r>
              <a:rPr lang="en-US" altLang="en-US"/>
              <a:t>Used in hardware RAID systems</a:t>
            </a:r>
          </a:p>
          <a:p>
            <a:pPr marL="800100" lvl="1" indent="-342900">
              <a:buFont typeface="Monotype Sorts" charset="2"/>
              <a:buAutoNum type="arabicPeriod"/>
            </a:pPr>
            <a:r>
              <a:rPr lang="en-US" altLang="en-US"/>
              <a:t>If either copy of an inconsistent block is detected to have an error (bad checksum), overwrite it by the other copy.  If both have no error, but are different, overwrite the second block by the first block.   </a:t>
            </a:r>
          </a:p>
        </p:txBody>
      </p:sp>
    </p:spTree>
    <p:extLst>
      <p:ext uri="{BB962C8B-B14F-4D97-AF65-F5344CB8AC3E}">
        <p14:creationId xmlns:p14="http://schemas.microsoft.com/office/powerpoint/2010/main" val="4047778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Data Access</a:t>
            </a:r>
          </a:p>
        </p:txBody>
      </p:sp>
      <p:sp>
        <p:nvSpPr>
          <p:cNvPr id="30722" name="Rectangle 3"/>
          <p:cNvSpPr>
            <a:spLocks noGrp="1" noChangeArrowheads="1"/>
          </p:cNvSpPr>
          <p:nvPr>
            <p:ph type="body" idx="4294967295"/>
          </p:nvPr>
        </p:nvSpPr>
        <p:spPr>
          <a:xfrm>
            <a:off x="2338389" y="1093789"/>
            <a:ext cx="7661275" cy="4473575"/>
          </a:xfrm>
        </p:spPr>
        <p:txBody>
          <a:bodyPr/>
          <a:lstStyle/>
          <a:p>
            <a:r>
              <a:rPr lang="en-US" altLang="en-US" b="1">
                <a:solidFill>
                  <a:srgbClr val="000099"/>
                </a:solidFill>
              </a:rPr>
              <a:t>Physical blocks</a:t>
            </a:r>
            <a:r>
              <a:rPr lang="en-US" altLang="en-US"/>
              <a:t> are those blocks residing on the disk. </a:t>
            </a:r>
          </a:p>
          <a:p>
            <a:r>
              <a:rPr lang="en-US" altLang="en-US" b="1">
                <a:solidFill>
                  <a:srgbClr val="000099"/>
                </a:solidFill>
              </a:rPr>
              <a:t>Buffer blocks</a:t>
            </a:r>
            <a:r>
              <a:rPr lang="en-US" altLang="en-US"/>
              <a:t> are the blocks residing temporarily in main memory.</a:t>
            </a:r>
          </a:p>
          <a:p>
            <a:r>
              <a:rPr lang="en-US" altLang="en-US"/>
              <a:t>Block movements between  disk and main memory are initiated through the following two operations:</a:t>
            </a:r>
          </a:p>
          <a:p>
            <a:pPr lvl="1"/>
            <a:r>
              <a:rPr lang="en-US" altLang="en-US" b="1">
                <a:solidFill>
                  <a:srgbClr val="000099"/>
                </a:solidFill>
              </a:rPr>
              <a:t>input</a:t>
            </a:r>
            <a:r>
              <a:rPr lang="en-US" altLang="en-US"/>
              <a:t>(</a:t>
            </a:r>
            <a:r>
              <a:rPr lang="en-US" altLang="en-US" i="1"/>
              <a:t>B</a:t>
            </a:r>
            <a:r>
              <a:rPr lang="en-US" altLang="en-US"/>
              <a:t>) transfers the physical block </a:t>
            </a:r>
            <a:r>
              <a:rPr lang="en-US" altLang="en-US" i="1"/>
              <a:t>B  </a:t>
            </a:r>
            <a:r>
              <a:rPr lang="en-US" altLang="en-US"/>
              <a:t>to main memory.</a:t>
            </a:r>
          </a:p>
          <a:p>
            <a:pPr lvl="1"/>
            <a:r>
              <a:rPr lang="en-US" altLang="en-US" b="1">
                <a:solidFill>
                  <a:srgbClr val="000099"/>
                </a:solidFill>
              </a:rPr>
              <a:t>output</a:t>
            </a:r>
            <a:r>
              <a:rPr lang="en-US" altLang="en-US"/>
              <a:t>(</a:t>
            </a:r>
            <a:r>
              <a:rPr lang="en-US" altLang="en-US" i="1"/>
              <a:t>B</a:t>
            </a:r>
            <a:r>
              <a:rPr lang="en-US" altLang="en-US"/>
              <a:t>) transfers the buffer block </a:t>
            </a:r>
            <a:r>
              <a:rPr lang="en-US" altLang="en-US" i="1"/>
              <a:t>B </a:t>
            </a:r>
            <a:r>
              <a:rPr lang="en-US" altLang="en-US"/>
              <a:t>to the disk, and replaces the appropriate physical block there.</a:t>
            </a:r>
          </a:p>
          <a:p>
            <a:r>
              <a:rPr lang="en-US" altLang="en-US"/>
              <a:t>We assume, for simplicity, that each data item fits in, and is stored inside, a single block.</a:t>
            </a:r>
          </a:p>
        </p:txBody>
      </p:sp>
    </p:spTree>
    <p:extLst>
      <p:ext uri="{BB962C8B-B14F-4D97-AF65-F5344CB8AC3E}">
        <p14:creationId xmlns:p14="http://schemas.microsoft.com/office/powerpoint/2010/main" val="40429811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Example of Data Access</a:t>
            </a:r>
          </a:p>
        </p:txBody>
      </p:sp>
      <p:sp>
        <p:nvSpPr>
          <p:cNvPr id="32770" name="Rectangle 3"/>
          <p:cNvSpPr>
            <a:spLocks noChangeArrowheads="1"/>
          </p:cNvSpPr>
          <p:nvPr/>
        </p:nvSpPr>
        <p:spPr bwMode="auto">
          <a:xfrm>
            <a:off x="5551489" y="1352551"/>
            <a:ext cx="1139825" cy="133826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endParaRPr lang="en-US" altLang="en-US">
              <a:solidFill>
                <a:srgbClr val="000000"/>
              </a:solidFill>
            </a:endParaRPr>
          </a:p>
        </p:txBody>
      </p:sp>
      <p:sp>
        <p:nvSpPr>
          <p:cNvPr id="32771" name="Rectangle 4"/>
          <p:cNvSpPr>
            <a:spLocks noChangeArrowheads="1"/>
          </p:cNvSpPr>
          <p:nvPr/>
        </p:nvSpPr>
        <p:spPr bwMode="auto">
          <a:xfrm>
            <a:off x="5741988" y="1443039"/>
            <a:ext cx="671512" cy="31908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algn="ctr" eaLnBrk="0" fontAlgn="base" hangingPunct="0">
              <a:spcBef>
                <a:spcPct val="0"/>
              </a:spcBef>
              <a:spcAft>
                <a:spcPct val="0"/>
              </a:spcAft>
            </a:pPr>
            <a:r>
              <a:rPr lang="en-US" altLang="en-US" sz="1800">
                <a:solidFill>
                  <a:srgbClr val="000000"/>
                </a:solidFill>
              </a:rPr>
              <a:t>X      </a:t>
            </a:r>
          </a:p>
        </p:txBody>
      </p:sp>
      <p:sp>
        <p:nvSpPr>
          <p:cNvPr id="32772" name="Rectangle 5"/>
          <p:cNvSpPr>
            <a:spLocks noChangeArrowheads="1"/>
          </p:cNvSpPr>
          <p:nvPr/>
        </p:nvSpPr>
        <p:spPr bwMode="auto">
          <a:xfrm>
            <a:off x="5741989" y="1900239"/>
            <a:ext cx="657225" cy="31908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algn="ctr" eaLnBrk="0" fontAlgn="base" hangingPunct="0">
              <a:spcBef>
                <a:spcPct val="0"/>
              </a:spcBef>
              <a:spcAft>
                <a:spcPct val="0"/>
              </a:spcAft>
            </a:pPr>
            <a:r>
              <a:rPr lang="en-US" altLang="en-US" sz="1800">
                <a:solidFill>
                  <a:srgbClr val="000000"/>
                </a:solidFill>
              </a:rPr>
              <a:t>Y     </a:t>
            </a:r>
          </a:p>
        </p:txBody>
      </p:sp>
      <p:sp>
        <p:nvSpPr>
          <p:cNvPr id="32773" name="Oval 9"/>
          <p:cNvSpPr>
            <a:spLocks noChangeArrowheads="1"/>
          </p:cNvSpPr>
          <p:nvPr/>
        </p:nvSpPr>
        <p:spPr bwMode="auto">
          <a:xfrm>
            <a:off x="8147050" y="1095375"/>
            <a:ext cx="1143000" cy="381000"/>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endParaRPr lang="en-US" altLang="en-US">
              <a:solidFill>
                <a:srgbClr val="000000"/>
              </a:solidFill>
            </a:endParaRPr>
          </a:p>
        </p:txBody>
      </p:sp>
      <p:sp>
        <p:nvSpPr>
          <p:cNvPr id="32774" name="Line 11"/>
          <p:cNvSpPr>
            <a:spLocks noChangeShapeType="1"/>
          </p:cNvSpPr>
          <p:nvPr/>
        </p:nvSpPr>
        <p:spPr bwMode="auto">
          <a:xfrm>
            <a:off x="8147050" y="1247775"/>
            <a:ext cx="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32775" name="Line 12"/>
          <p:cNvSpPr>
            <a:spLocks noChangeShapeType="1"/>
          </p:cNvSpPr>
          <p:nvPr/>
        </p:nvSpPr>
        <p:spPr bwMode="auto">
          <a:xfrm>
            <a:off x="9290050" y="1266825"/>
            <a:ext cx="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32776" name="Freeform 18"/>
          <p:cNvSpPr>
            <a:spLocks/>
          </p:cNvSpPr>
          <p:nvPr/>
        </p:nvSpPr>
        <p:spPr bwMode="auto">
          <a:xfrm>
            <a:off x="8147050" y="2390775"/>
            <a:ext cx="1143000" cy="177800"/>
          </a:xfrm>
          <a:custGeom>
            <a:avLst/>
            <a:gdLst>
              <a:gd name="T0" fmla="*/ 0 w 720"/>
              <a:gd name="T1" fmla="*/ 0 h 112"/>
              <a:gd name="T2" fmla="*/ 604837500 w 720"/>
              <a:gd name="T3" fmla="*/ 241935000 h 112"/>
              <a:gd name="T4" fmla="*/ 1330642500 w 720"/>
              <a:gd name="T5" fmla="*/ 241935000 h 112"/>
              <a:gd name="T6" fmla="*/ 1814512500 w 720"/>
              <a:gd name="T7" fmla="*/ 0 h 112"/>
              <a:gd name="T8" fmla="*/ 0 60000 65536"/>
              <a:gd name="T9" fmla="*/ 0 60000 65536"/>
              <a:gd name="T10" fmla="*/ 0 60000 65536"/>
              <a:gd name="T11" fmla="*/ 0 60000 65536"/>
              <a:gd name="T12" fmla="*/ 0 w 720"/>
              <a:gd name="T13" fmla="*/ 0 h 112"/>
              <a:gd name="T14" fmla="*/ 720 w 720"/>
              <a:gd name="T15" fmla="*/ 112 h 112"/>
            </a:gdLst>
            <a:ahLst/>
            <a:cxnLst>
              <a:cxn ang="T8">
                <a:pos x="T0" y="T1"/>
              </a:cxn>
              <a:cxn ang="T9">
                <a:pos x="T2" y="T3"/>
              </a:cxn>
              <a:cxn ang="T10">
                <a:pos x="T4" y="T5"/>
              </a:cxn>
              <a:cxn ang="T11">
                <a:pos x="T6" y="T7"/>
              </a:cxn>
            </a:cxnLst>
            <a:rect l="T12" t="T13" r="T14" b="T15"/>
            <a:pathLst>
              <a:path w="720" h="112">
                <a:moveTo>
                  <a:pt x="0" y="0"/>
                </a:moveTo>
                <a:cubicBezTo>
                  <a:pt x="76" y="40"/>
                  <a:pt x="152" y="80"/>
                  <a:pt x="240" y="96"/>
                </a:cubicBezTo>
                <a:cubicBezTo>
                  <a:pt x="328" y="112"/>
                  <a:pt x="448" y="112"/>
                  <a:pt x="528" y="96"/>
                </a:cubicBezTo>
                <a:cubicBezTo>
                  <a:pt x="608" y="80"/>
                  <a:pt x="688" y="16"/>
                  <a:pt x="720"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32777" name="Rectangle 19"/>
          <p:cNvSpPr>
            <a:spLocks noChangeArrowheads="1"/>
          </p:cNvSpPr>
          <p:nvPr/>
        </p:nvSpPr>
        <p:spPr bwMode="auto">
          <a:xfrm>
            <a:off x="8528050" y="1552575"/>
            <a:ext cx="304800" cy="304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endParaRPr lang="en-US" altLang="en-US">
              <a:solidFill>
                <a:srgbClr val="000000"/>
              </a:solidFill>
            </a:endParaRPr>
          </a:p>
        </p:txBody>
      </p:sp>
      <p:sp>
        <p:nvSpPr>
          <p:cNvPr id="32778" name="Rectangle 20"/>
          <p:cNvSpPr>
            <a:spLocks noChangeArrowheads="1"/>
          </p:cNvSpPr>
          <p:nvPr/>
        </p:nvSpPr>
        <p:spPr bwMode="auto">
          <a:xfrm>
            <a:off x="8528050" y="2009775"/>
            <a:ext cx="304800" cy="304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endParaRPr lang="en-US" altLang="en-US">
              <a:solidFill>
                <a:srgbClr val="000000"/>
              </a:solidFill>
            </a:endParaRPr>
          </a:p>
        </p:txBody>
      </p:sp>
      <p:sp>
        <p:nvSpPr>
          <p:cNvPr id="32779" name="Text Box 21"/>
          <p:cNvSpPr txBox="1">
            <a:spLocks noChangeArrowheads="1"/>
          </p:cNvSpPr>
          <p:nvPr/>
        </p:nvSpPr>
        <p:spPr bwMode="auto">
          <a:xfrm>
            <a:off x="8893176" y="1487489"/>
            <a:ext cx="354013"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A</a:t>
            </a:r>
          </a:p>
        </p:txBody>
      </p:sp>
      <p:sp>
        <p:nvSpPr>
          <p:cNvPr id="32780" name="Text Box 22"/>
          <p:cNvSpPr txBox="1">
            <a:spLocks noChangeArrowheads="1"/>
          </p:cNvSpPr>
          <p:nvPr/>
        </p:nvSpPr>
        <p:spPr bwMode="auto">
          <a:xfrm>
            <a:off x="8909051" y="1927226"/>
            <a:ext cx="354013"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B</a:t>
            </a:r>
          </a:p>
        </p:txBody>
      </p:sp>
      <p:sp>
        <p:nvSpPr>
          <p:cNvPr id="32781" name="Rectangle 23"/>
          <p:cNvSpPr>
            <a:spLocks noChangeArrowheads="1"/>
          </p:cNvSpPr>
          <p:nvPr/>
        </p:nvSpPr>
        <p:spPr bwMode="auto">
          <a:xfrm>
            <a:off x="4713288" y="3576638"/>
            <a:ext cx="762000" cy="1143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endParaRPr lang="en-US" altLang="en-US">
              <a:solidFill>
                <a:srgbClr val="000000"/>
              </a:solidFill>
            </a:endParaRPr>
          </a:p>
        </p:txBody>
      </p:sp>
      <p:sp>
        <p:nvSpPr>
          <p:cNvPr id="32782" name="Rectangle 24"/>
          <p:cNvSpPr>
            <a:spLocks noChangeArrowheads="1"/>
          </p:cNvSpPr>
          <p:nvPr/>
        </p:nvSpPr>
        <p:spPr bwMode="auto">
          <a:xfrm>
            <a:off x="5932488" y="3576638"/>
            <a:ext cx="762000" cy="1143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endParaRPr lang="en-US" altLang="en-US">
              <a:solidFill>
                <a:srgbClr val="000000"/>
              </a:solidFill>
            </a:endParaRPr>
          </a:p>
        </p:txBody>
      </p:sp>
      <p:sp>
        <p:nvSpPr>
          <p:cNvPr id="32783" name="Rectangle 27"/>
          <p:cNvSpPr>
            <a:spLocks noChangeArrowheads="1"/>
          </p:cNvSpPr>
          <p:nvPr/>
        </p:nvSpPr>
        <p:spPr bwMode="auto">
          <a:xfrm>
            <a:off x="6237288" y="3729038"/>
            <a:ext cx="228600" cy="228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endParaRPr lang="en-US" altLang="en-US">
              <a:solidFill>
                <a:srgbClr val="000000"/>
              </a:solidFill>
            </a:endParaRPr>
          </a:p>
        </p:txBody>
      </p:sp>
      <p:sp>
        <p:nvSpPr>
          <p:cNvPr id="32784" name="Rectangle 28"/>
          <p:cNvSpPr>
            <a:spLocks noChangeArrowheads="1"/>
          </p:cNvSpPr>
          <p:nvPr/>
        </p:nvSpPr>
        <p:spPr bwMode="auto">
          <a:xfrm>
            <a:off x="5094288" y="3881438"/>
            <a:ext cx="228600" cy="228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endParaRPr lang="en-US" altLang="en-US">
              <a:solidFill>
                <a:srgbClr val="000000"/>
              </a:solidFill>
            </a:endParaRPr>
          </a:p>
        </p:txBody>
      </p:sp>
      <p:sp>
        <p:nvSpPr>
          <p:cNvPr id="32785" name="Rectangle 29"/>
          <p:cNvSpPr>
            <a:spLocks noChangeArrowheads="1"/>
          </p:cNvSpPr>
          <p:nvPr/>
        </p:nvSpPr>
        <p:spPr bwMode="auto">
          <a:xfrm>
            <a:off x="5094288" y="4338638"/>
            <a:ext cx="228600" cy="228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endParaRPr lang="en-US" altLang="en-US">
              <a:solidFill>
                <a:srgbClr val="000000"/>
              </a:solidFill>
            </a:endParaRPr>
          </a:p>
        </p:txBody>
      </p:sp>
      <p:sp>
        <p:nvSpPr>
          <p:cNvPr id="32786" name="Line 30"/>
          <p:cNvSpPr>
            <a:spLocks noChangeShapeType="1"/>
          </p:cNvSpPr>
          <p:nvPr/>
        </p:nvSpPr>
        <p:spPr bwMode="auto">
          <a:xfrm flipV="1">
            <a:off x="4637088" y="5557838"/>
            <a:ext cx="455295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32787" name="Text Box 31"/>
          <p:cNvSpPr txBox="1">
            <a:spLocks noChangeArrowheads="1"/>
          </p:cNvSpPr>
          <p:nvPr/>
        </p:nvSpPr>
        <p:spPr bwMode="auto">
          <a:xfrm>
            <a:off x="4754563" y="3816350"/>
            <a:ext cx="40748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x</a:t>
            </a:r>
            <a:r>
              <a:rPr lang="en-US" altLang="en-US" sz="2000" baseline="-25000">
                <a:solidFill>
                  <a:srgbClr val="000000"/>
                </a:solidFill>
              </a:rPr>
              <a:t>1</a:t>
            </a:r>
            <a:endParaRPr lang="en-US" altLang="en-US" sz="2000">
              <a:solidFill>
                <a:srgbClr val="000000"/>
              </a:solidFill>
            </a:endParaRPr>
          </a:p>
        </p:txBody>
      </p:sp>
      <p:sp>
        <p:nvSpPr>
          <p:cNvPr id="32788" name="Text Box 32"/>
          <p:cNvSpPr txBox="1">
            <a:spLocks noChangeArrowheads="1"/>
          </p:cNvSpPr>
          <p:nvPr/>
        </p:nvSpPr>
        <p:spPr bwMode="auto">
          <a:xfrm>
            <a:off x="4751388" y="4211638"/>
            <a:ext cx="4555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y</a:t>
            </a:r>
            <a:r>
              <a:rPr lang="en-US" altLang="en-US" sz="2000" baseline="-25000">
                <a:solidFill>
                  <a:srgbClr val="000000"/>
                </a:solidFill>
              </a:rPr>
              <a:t>1 </a:t>
            </a:r>
            <a:endParaRPr lang="en-US" altLang="en-US" sz="2000">
              <a:solidFill>
                <a:srgbClr val="000000"/>
              </a:solidFill>
            </a:endParaRPr>
          </a:p>
        </p:txBody>
      </p:sp>
      <p:sp>
        <p:nvSpPr>
          <p:cNvPr id="32789" name="Text Box 33"/>
          <p:cNvSpPr txBox="1">
            <a:spLocks noChangeArrowheads="1"/>
          </p:cNvSpPr>
          <p:nvPr/>
        </p:nvSpPr>
        <p:spPr bwMode="auto">
          <a:xfrm>
            <a:off x="5611813" y="996951"/>
            <a:ext cx="8318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99"/>
                </a:solidFill>
              </a:rPr>
              <a:t>buffer</a:t>
            </a:r>
          </a:p>
        </p:txBody>
      </p:sp>
      <p:sp>
        <p:nvSpPr>
          <p:cNvPr id="32790" name="Text Box 34"/>
          <p:cNvSpPr txBox="1">
            <a:spLocks noChangeArrowheads="1"/>
          </p:cNvSpPr>
          <p:nvPr/>
        </p:nvSpPr>
        <p:spPr bwMode="auto">
          <a:xfrm>
            <a:off x="3073400" y="1330326"/>
            <a:ext cx="18621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i="1">
                <a:solidFill>
                  <a:srgbClr val="000000"/>
                </a:solidFill>
              </a:rPr>
              <a:t>Buffer Block A</a:t>
            </a:r>
            <a:r>
              <a:rPr lang="en-US" altLang="en-US" sz="2000">
                <a:solidFill>
                  <a:srgbClr val="000000"/>
                </a:solidFill>
              </a:rPr>
              <a:t> </a:t>
            </a:r>
          </a:p>
        </p:txBody>
      </p:sp>
      <p:sp>
        <p:nvSpPr>
          <p:cNvPr id="32791" name="Text Box 35"/>
          <p:cNvSpPr txBox="1">
            <a:spLocks noChangeArrowheads="1"/>
          </p:cNvSpPr>
          <p:nvPr/>
        </p:nvSpPr>
        <p:spPr bwMode="auto">
          <a:xfrm>
            <a:off x="3059114" y="1847851"/>
            <a:ext cx="1792287"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i="1">
                <a:solidFill>
                  <a:srgbClr val="000000"/>
                </a:solidFill>
              </a:rPr>
              <a:t>Buffer Block B</a:t>
            </a:r>
            <a:endParaRPr lang="en-US" altLang="en-US" sz="2000">
              <a:solidFill>
                <a:srgbClr val="000000"/>
              </a:solidFill>
            </a:endParaRPr>
          </a:p>
        </p:txBody>
      </p:sp>
      <p:sp>
        <p:nvSpPr>
          <p:cNvPr id="32792" name="Line 36"/>
          <p:cNvSpPr>
            <a:spLocks noChangeShapeType="1"/>
          </p:cNvSpPr>
          <p:nvPr/>
        </p:nvSpPr>
        <p:spPr bwMode="auto">
          <a:xfrm>
            <a:off x="4881563" y="1562100"/>
            <a:ext cx="8382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32793" name="Line 37"/>
          <p:cNvSpPr>
            <a:spLocks noChangeShapeType="1"/>
          </p:cNvSpPr>
          <p:nvPr/>
        </p:nvSpPr>
        <p:spPr bwMode="auto">
          <a:xfrm>
            <a:off x="4865688" y="2052638"/>
            <a:ext cx="89535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32794" name="Line 38"/>
          <p:cNvSpPr>
            <a:spLocks noChangeShapeType="1"/>
          </p:cNvSpPr>
          <p:nvPr/>
        </p:nvSpPr>
        <p:spPr bwMode="auto">
          <a:xfrm flipH="1" flipV="1">
            <a:off x="6389688" y="1593851"/>
            <a:ext cx="2101850" cy="93663"/>
          </a:xfrm>
          <a:prstGeom prst="line">
            <a:avLst/>
          </a:prstGeom>
          <a:noFill/>
          <a:ln w="9525">
            <a:solidFill>
              <a:schemeClr val="tx1"/>
            </a:solidFill>
            <a:round/>
            <a:headEnd/>
            <a:tailEnd type="triangle" w="lg" len="lg"/>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32795" name="Line 39"/>
          <p:cNvSpPr>
            <a:spLocks noChangeShapeType="1"/>
          </p:cNvSpPr>
          <p:nvPr/>
        </p:nvSpPr>
        <p:spPr bwMode="auto">
          <a:xfrm>
            <a:off x="6392863" y="2052639"/>
            <a:ext cx="2082800" cy="104775"/>
          </a:xfrm>
          <a:prstGeom prst="line">
            <a:avLst/>
          </a:prstGeom>
          <a:noFill/>
          <a:ln w="9525">
            <a:solidFill>
              <a:schemeClr val="tx1"/>
            </a:solidFill>
            <a:round/>
            <a:headEnd/>
            <a:tailEnd type="triangle" w="lg" len="lg"/>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32796" name="Text Box 40"/>
          <p:cNvSpPr txBox="1">
            <a:spLocks noChangeArrowheads="1"/>
          </p:cNvSpPr>
          <p:nvPr/>
        </p:nvSpPr>
        <p:spPr bwMode="auto">
          <a:xfrm>
            <a:off x="6877050" y="1231901"/>
            <a:ext cx="10731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input(A)</a:t>
            </a:r>
          </a:p>
        </p:txBody>
      </p:sp>
      <p:sp>
        <p:nvSpPr>
          <p:cNvPr id="32797" name="Text Box 41"/>
          <p:cNvSpPr txBox="1">
            <a:spLocks noChangeArrowheads="1"/>
          </p:cNvSpPr>
          <p:nvPr/>
        </p:nvSpPr>
        <p:spPr bwMode="auto">
          <a:xfrm>
            <a:off x="6819900" y="2155826"/>
            <a:ext cx="129698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output(B) </a:t>
            </a:r>
          </a:p>
        </p:txBody>
      </p:sp>
      <p:sp>
        <p:nvSpPr>
          <p:cNvPr id="32798" name="Line 42"/>
          <p:cNvSpPr>
            <a:spLocks noChangeShapeType="1"/>
          </p:cNvSpPr>
          <p:nvPr/>
        </p:nvSpPr>
        <p:spPr bwMode="auto">
          <a:xfrm flipH="1">
            <a:off x="5189538" y="1671638"/>
            <a:ext cx="533400" cy="2209800"/>
          </a:xfrm>
          <a:prstGeom prst="line">
            <a:avLst/>
          </a:prstGeom>
          <a:noFill/>
          <a:ln w="9525">
            <a:solidFill>
              <a:schemeClr val="tx1"/>
            </a:solidFill>
            <a:round/>
            <a:headEnd/>
            <a:tailEnd type="triangle" w="lg" len="lg"/>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32799" name="Line 43"/>
          <p:cNvSpPr>
            <a:spLocks noChangeShapeType="1"/>
          </p:cNvSpPr>
          <p:nvPr/>
        </p:nvSpPr>
        <p:spPr bwMode="auto">
          <a:xfrm flipV="1">
            <a:off x="5322888" y="2205038"/>
            <a:ext cx="609600" cy="2286000"/>
          </a:xfrm>
          <a:prstGeom prst="line">
            <a:avLst/>
          </a:prstGeom>
          <a:noFill/>
          <a:ln w="9525">
            <a:solidFill>
              <a:schemeClr val="tx1"/>
            </a:solidFill>
            <a:round/>
            <a:headEnd/>
            <a:tailEnd type="triangle" w="lg" len="lg"/>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32800" name="Text Box 44"/>
          <p:cNvSpPr txBox="1">
            <a:spLocks noChangeArrowheads="1"/>
          </p:cNvSpPr>
          <p:nvPr/>
        </p:nvSpPr>
        <p:spPr bwMode="auto">
          <a:xfrm>
            <a:off x="4405314" y="2605089"/>
            <a:ext cx="1030287"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read(X)</a:t>
            </a:r>
          </a:p>
        </p:txBody>
      </p:sp>
      <p:sp>
        <p:nvSpPr>
          <p:cNvPr id="32801" name="Text Box 45"/>
          <p:cNvSpPr txBox="1">
            <a:spLocks noChangeArrowheads="1"/>
          </p:cNvSpPr>
          <p:nvPr/>
        </p:nvSpPr>
        <p:spPr bwMode="auto">
          <a:xfrm>
            <a:off x="5719764" y="2936875"/>
            <a:ext cx="106792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write(Y)</a:t>
            </a:r>
          </a:p>
        </p:txBody>
      </p:sp>
      <p:sp>
        <p:nvSpPr>
          <p:cNvPr id="32802" name="Text Box 46"/>
          <p:cNvSpPr txBox="1">
            <a:spLocks noChangeArrowheads="1"/>
          </p:cNvSpPr>
          <p:nvPr/>
        </p:nvSpPr>
        <p:spPr bwMode="auto">
          <a:xfrm>
            <a:off x="8485189" y="5748339"/>
            <a:ext cx="636587"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99"/>
                </a:solidFill>
              </a:rPr>
              <a:t>disk</a:t>
            </a:r>
          </a:p>
        </p:txBody>
      </p:sp>
      <p:sp>
        <p:nvSpPr>
          <p:cNvPr id="32803" name="Text Box 63"/>
          <p:cNvSpPr txBox="1">
            <a:spLocks noChangeArrowheads="1"/>
          </p:cNvSpPr>
          <p:nvPr/>
        </p:nvSpPr>
        <p:spPr bwMode="auto">
          <a:xfrm>
            <a:off x="4495800" y="4795839"/>
            <a:ext cx="1371600"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work area</a:t>
            </a:r>
          </a:p>
          <a:p>
            <a:pPr eaLnBrk="0" fontAlgn="base" hangingPunct="0">
              <a:spcBef>
                <a:spcPct val="0"/>
              </a:spcBef>
              <a:spcAft>
                <a:spcPct val="0"/>
              </a:spcAft>
            </a:pPr>
            <a:r>
              <a:rPr lang="en-US" altLang="en-US" sz="2000">
                <a:solidFill>
                  <a:srgbClr val="000000"/>
                </a:solidFill>
              </a:rPr>
              <a:t>of T</a:t>
            </a:r>
            <a:r>
              <a:rPr lang="en-US" altLang="en-US" sz="2000" baseline="-25000">
                <a:solidFill>
                  <a:srgbClr val="000000"/>
                </a:solidFill>
              </a:rPr>
              <a:t>1</a:t>
            </a:r>
            <a:endParaRPr lang="en-US" altLang="en-US" sz="2000">
              <a:solidFill>
                <a:srgbClr val="000000"/>
              </a:solidFill>
            </a:endParaRPr>
          </a:p>
        </p:txBody>
      </p:sp>
      <p:sp>
        <p:nvSpPr>
          <p:cNvPr id="32804" name="Text Box 64"/>
          <p:cNvSpPr txBox="1">
            <a:spLocks noChangeArrowheads="1"/>
          </p:cNvSpPr>
          <p:nvPr/>
        </p:nvSpPr>
        <p:spPr bwMode="auto">
          <a:xfrm>
            <a:off x="5940425" y="4768850"/>
            <a:ext cx="1309974"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work area</a:t>
            </a:r>
          </a:p>
          <a:p>
            <a:pPr eaLnBrk="0" fontAlgn="base" hangingPunct="0">
              <a:spcBef>
                <a:spcPct val="0"/>
              </a:spcBef>
              <a:spcAft>
                <a:spcPct val="0"/>
              </a:spcAft>
            </a:pPr>
            <a:r>
              <a:rPr lang="en-US" altLang="en-US" sz="2000">
                <a:solidFill>
                  <a:srgbClr val="000000"/>
                </a:solidFill>
              </a:rPr>
              <a:t>of T</a:t>
            </a:r>
            <a:r>
              <a:rPr lang="en-US" altLang="en-US" sz="2000" baseline="-25000">
                <a:solidFill>
                  <a:srgbClr val="000000"/>
                </a:solidFill>
              </a:rPr>
              <a:t>2 </a:t>
            </a:r>
            <a:endParaRPr lang="en-US" altLang="en-US" sz="2000">
              <a:solidFill>
                <a:srgbClr val="000000"/>
              </a:solidFill>
            </a:endParaRPr>
          </a:p>
        </p:txBody>
      </p:sp>
      <p:sp>
        <p:nvSpPr>
          <p:cNvPr id="32805" name="Text Box 65"/>
          <p:cNvSpPr txBox="1">
            <a:spLocks noChangeArrowheads="1"/>
          </p:cNvSpPr>
          <p:nvPr/>
        </p:nvSpPr>
        <p:spPr bwMode="auto">
          <a:xfrm>
            <a:off x="5859464" y="5762626"/>
            <a:ext cx="1100137"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99"/>
                </a:solidFill>
              </a:rPr>
              <a:t>memory</a:t>
            </a:r>
          </a:p>
        </p:txBody>
      </p:sp>
      <p:sp>
        <p:nvSpPr>
          <p:cNvPr id="32806" name="Text Box 66"/>
          <p:cNvSpPr txBox="1">
            <a:spLocks noChangeArrowheads="1"/>
          </p:cNvSpPr>
          <p:nvPr/>
        </p:nvSpPr>
        <p:spPr bwMode="auto">
          <a:xfrm>
            <a:off x="5913438" y="3589338"/>
            <a:ext cx="40748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x</a:t>
            </a:r>
            <a:r>
              <a:rPr lang="en-US" altLang="en-US" sz="2000" baseline="-25000">
                <a:solidFill>
                  <a:srgbClr val="000000"/>
                </a:solidFill>
              </a:rPr>
              <a:t>2</a:t>
            </a:r>
            <a:endParaRPr lang="en-US" altLang="en-US" sz="2000">
              <a:solidFill>
                <a:srgbClr val="000000"/>
              </a:solidFill>
            </a:endParaRPr>
          </a:p>
        </p:txBody>
      </p:sp>
      <p:sp>
        <p:nvSpPr>
          <p:cNvPr id="32807" name="Line 67"/>
          <p:cNvSpPr>
            <a:spLocks noChangeShapeType="1"/>
          </p:cNvSpPr>
          <p:nvPr/>
        </p:nvSpPr>
        <p:spPr bwMode="auto">
          <a:xfrm>
            <a:off x="7967663" y="784225"/>
            <a:ext cx="0" cy="55435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Tree>
    <p:extLst>
      <p:ext uri="{BB962C8B-B14F-4D97-AF65-F5344CB8AC3E}">
        <p14:creationId xmlns:p14="http://schemas.microsoft.com/office/powerpoint/2010/main" val="325414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Data Access (Cont.)</a:t>
            </a:r>
          </a:p>
        </p:txBody>
      </p:sp>
      <p:sp>
        <p:nvSpPr>
          <p:cNvPr id="34818" name="Rectangle 3"/>
          <p:cNvSpPr>
            <a:spLocks noGrp="1" noChangeArrowheads="1"/>
          </p:cNvSpPr>
          <p:nvPr>
            <p:ph type="body" idx="4294967295"/>
          </p:nvPr>
        </p:nvSpPr>
        <p:spPr>
          <a:xfrm>
            <a:off x="2338389" y="1093789"/>
            <a:ext cx="7661275" cy="5208587"/>
          </a:xfrm>
        </p:spPr>
        <p:txBody>
          <a:bodyPr/>
          <a:lstStyle/>
          <a:p>
            <a:r>
              <a:rPr lang="en-US" altLang="en-US"/>
              <a:t>Each transaction </a:t>
            </a:r>
            <a:r>
              <a:rPr lang="en-US" altLang="en-US" i="1"/>
              <a:t>T</a:t>
            </a:r>
            <a:r>
              <a:rPr lang="en-US" altLang="en-US" sz="2400" i="1" baseline="-25000"/>
              <a:t>i</a:t>
            </a:r>
            <a:r>
              <a:rPr lang="en-US" altLang="en-US" i="1"/>
              <a:t> </a:t>
            </a:r>
            <a:r>
              <a:rPr lang="en-US" altLang="en-US"/>
              <a:t>has its private work-area in which local copies of all data items accessed and updated by it are kept.</a:t>
            </a:r>
          </a:p>
          <a:p>
            <a:pPr lvl="1"/>
            <a:r>
              <a:rPr lang="en-US" altLang="en-US"/>
              <a:t> </a:t>
            </a:r>
            <a:r>
              <a:rPr lang="en-US" altLang="en-US" i="1"/>
              <a:t>T</a:t>
            </a:r>
            <a:r>
              <a:rPr lang="en-US" altLang="en-US" sz="2400" i="1" baseline="-25000"/>
              <a:t>i</a:t>
            </a:r>
            <a:r>
              <a:rPr lang="en-US" altLang="en-US"/>
              <a:t>'s local copy of a data item </a:t>
            </a:r>
            <a:r>
              <a:rPr lang="en-US" altLang="en-US" i="1"/>
              <a:t>X</a:t>
            </a:r>
            <a:r>
              <a:rPr lang="en-US" altLang="en-US"/>
              <a:t> is called </a:t>
            </a:r>
            <a:r>
              <a:rPr lang="en-US" altLang="en-US" i="1"/>
              <a:t>x</a:t>
            </a:r>
            <a:r>
              <a:rPr lang="en-US" altLang="en-US" sz="2400" i="1" baseline="-25000"/>
              <a:t>i</a:t>
            </a:r>
            <a:r>
              <a:rPr lang="en-US" altLang="en-US" i="1"/>
              <a:t>.</a:t>
            </a:r>
            <a:endParaRPr lang="en-US" altLang="en-US"/>
          </a:p>
          <a:p>
            <a:r>
              <a:rPr lang="en-US" altLang="en-US"/>
              <a:t>Transferring data items between system buffer blocks and its private work-area done by:</a:t>
            </a:r>
          </a:p>
          <a:p>
            <a:pPr lvl="1"/>
            <a:r>
              <a:rPr lang="en-US" altLang="en-US" b="1">
                <a:solidFill>
                  <a:srgbClr val="000099"/>
                </a:solidFill>
              </a:rPr>
              <a:t>read</a:t>
            </a:r>
            <a:r>
              <a:rPr lang="en-US" altLang="en-US"/>
              <a:t>(</a:t>
            </a:r>
            <a:r>
              <a:rPr lang="en-US" altLang="en-US" i="1"/>
              <a:t>X</a:t>
            </a:r>
            <a:r>
              <a:rPr lang="en-US" altLang="en-US"/>
              <a:t>) assigns the value of data item </a:t>
            </a:r>
            <a:r>
              <a:rPr lang="en-US" altLang="en-US" i="1"/>
              <a:t>X</a:t>
            </a:r>
            <a:r>
              <a:rPr lang="en-US" altLang="en-US"/>
              <a:t> to the local variable </a:t>
            </a:r>
            <a:r>
              <a:rPr lang="en-US" altLang="en-US" i="1"/>
              <a:t>x</a:t>
            </a:r>
            <a:r>
              <a:rPr lang="en-US" altLang="en-US" sz="2400" i="1" baseline="-25000"/>
              <a:t>i</a:t>
            </a:r>
            <a:r>
              <a:rPr lang="en-US" altLang="en-US"/>
              <a:t>.</a:t>
            </a:r>
          </a:p>
          <a:p>
            <a:pPr lvl="1"/>
            <a:r>
              <a:rPr lang="en-US" altLang="en-US" b="1">
                <a:solidFill>
                  <a:srgbClr val="000099"/>
                </a:solidFill>
              </a:rPr>
              <a:t>write</a:t>
            </a:r>
            <a:r>
              <a:rPr lang="en-US" altLang="en-US"/>
              <a:t>(</a:t>
            </a:r>
            <a:r>
              <a:rPr lang="en-US" altLang="en-US" i="1"/>
              <a:t>X</a:t>
            </a:r>
            <a:r>
              <a:rPr lang="en-US" altLang="en-US"/>
              <a:t>) assigns the value of local variable </a:t>
            </a:r>
            <a:r>
              <a:rPr lang="en-US" altLang="en-US" i="1"/>
              <a:t>x</a:t>
            </a:r>
            <a:r>
              <a:rPr lang="en-US" altLang="en-US" sz="2400" i="1" baseline="-25000"/>
              <a:t>i</a:t>
            </a:r>
            <a:r>
              <a:rPr lang="en-US" altLang="en-US" i="1"/>
              <a:t> </a:t>
            </a:r>
            <a:r>
              <a:rPr lang="en-US" altLang="en-US"/>
              <a:t>to data item {</a:t>
            </a:r>
            <a:r>
              <a:rPr lang="en-US" altLang="en-US" i="1"/>
              <a:t>X</a:t>
            </a:r>
            <a:r>
              <a:rPr lang="en-US" altLang="en-US"/>
              <a:t>} in the buffer block.</a:t>
            </a:r>
          </a:p>
          <a:p>
            <a:pPr lvl="1"/>
            <a:r>
              <a:rPr lang="en-US" altLang="en-US" b="1"/>
              <a:t>Note: output</a:t>
            </a:r>
            <a:r>
              <a:rPr lang="en-US" altLang="en-US"/>
              <a:t>(</a:t>
            </a:r>
            <a:r>
              <a:rPr lang="en-US" altLang="en-US" i="1"/>
              <a:t>B</a:t>
            </a:r>
            <a:r>
              <a:rPr lang="en-US" altLang="en-US" i="1" baseline="-25000"/>
              <a:t>X</a:t>
            </a:r>
            <a:r>
              <a:rPr lang="en-US" altLang="en-US"/>
              <a:t>) need not immediately follow </a:t>
            </a:r>
            <a:r>
              <a:rPr lang="en-US" altLang="en-US" b="1"/>
              <a:t>write</a:t>
            </a:r>
            <a:r>
              <a:rPr lang="en-US" altLang="en-US"/>
              <a:t>(</a:t>
            </a:r>
            <a:r>
              <a:rPr lang="en-US" altLang="en-US" i="1"/>
              <a:t>X</a:t>
            </a:r>
            <a:r>
              <a:rPr lang="en-US" altLang="en-US"/>
              <a:t>). System can perform the </a:t>
            </a:r>
            <a:r>
              <a:rPr lang="en-US" altLang="en-US" b="1"/>
              <a:t>output</a:t>
            </a:r>
            <a:r>
              <a:rPr lang="en-US" altLang="en-US"/>
              <a:t> operation when it deems fit.</a:t>
            </a:r>
          </a:p>
          <a:p>
            <a:r>
              <a:rPr lang="en-US" altLang="en-US"/>
              <a:t>Transactions </a:t>
            </a:r>
          </a:p>
          <a:p>
            <a:pPr lvl="1"/>
            <a:r>
              <a:rPr lang="en-US" altLang="en-US"/>
              <a:t>Must perform </a:t>
            </a:r>
            <a:r>
              <a:rPr lang="en-US" altLang="en-US" b="1"/>
              <a:t>read</a:t>
            </a:r>
            <a:r>
              <a:rPr lang="en-US" altLang="en-US"/>
              <a:t>(</a:t>
            </a:r>
            <a:r>
              <a:rPr lang="en-US" altLang="en-US" i="1"/>
              <a:t>X</a:t>
            </a:r>
            <a:r>
              <a:rPr lang="en-US" altLang="en-US"/>
              <a:t>) before accessing </a:t>
            </a:r>
            <a:r>
              <a:rPr lang="en-US" altLang="en-US" i="1"/>
              <a:t>X</a:t>
            </a:r>
            <a:r>
              <a:rPr lang="en-US" altLang="en-US"/>
              <a:t> for the first time (subsequent reads can be from local copy) </a:t>
            </a:r>
          </a:p>
          <a:p>
            <a:pPr lvl="1"/>
            <a:r>
              <a:rPr lang="en-US" altLang="en-US" b="1"/>
              <a:t>write</a:t>
            </a:r>
            <a:r>
              <a:rPr lang="en-US" altLang="en-US"/>
              <a:t>(</a:t>
            </a:r>
            <a:r>
              <a:rPr lang="en-US" altLang="en-US" i="1"/>
              <a:t>X</a:t>
            </a:r>
            <a:r>
              <a:rPr lang="en-US" altLang="en-US"/>
              <a:t>) can be executed at any time before the transaction commits</a:t>
            </a:r>
          </a:p>
        </p:txBody>
      </p:sp>
    </p:spTree>
    <p:extLst>
      <p:ext uri="{BB962C8B-B14F-4D97-AF65-F5344CB8AC3E}">
        <p14:creationId xmlns:p14="http://schemas.microsoft.com/office/powerpoint/2010/main" val="2123495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4690"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Recovery and Atomicity</a:t>
            </a:r>
          </a:p>
        </p:txBody>
      </p:sp>
      <p:sp>
        <p:nvSpPr>
          <p:cNvPr id="36866" name="Rectangle 3"/>
          <p:cNvSpPr>
            <a:spLocks noGrp="1" noChangeArrowheads="1"/>
          </p:cNvSpPr>
          <p:nvPr>
            <p:ph type="body" idx="1"/>
          </p:nvPr>
        </p:nvSpPr>
        <p:spPr/>
        <p:txBody>
          <a:bodyPr/>
          <a:lstStyle/>
          <a:p>
            <a:r>
              <a:rPr lang="en-US" altLang="en-US"/>
              <a:t>To ensure atomicity despite failures, we first output information describing the modifications to stable storage without modifying the database itself.</a:t>
            </a:r>
          </a:p>
          <a:p>
            <a:r>
              <a:rPr lang="en-US" altLang="en-US"/>
              <a:t>We study </a:t>
            </a:r>
            <a:r>
              <a:rPr lang="en-US" altLang="en-US" b="1">
                <a:solidFill>
                  <a:srgbClr val="000099"/>
                </a:solidFill>
              </a:rPr>
              <a:t>log-based recovery</a:t>
            </a:r>
            <a:r>
              <a:rPr lang="en-US" altLang="en-US"/>
              <a:t> </a:t>
            </a:r>
            <a:r>
              <a:rPr lang="en-US" altLang="en-US" b="1">
                <a:solidFill>
                  <a:srgbClr val="000099"/>
                </a:solidFill>
              </a:rPr>
              <a:t>mechanisms</a:t>
            </a:r>
            <a:r>
              <a:rPr lang="en-US" altLang="en-US"/>
              <a:t> in detail</a:t>
            </a:r>
          </a:p>
          <a:p>
            <a:pPr lvl="1"/>
            <a:r>
              <a:rPr lang="en-US" altLang="en-US"/>
              <a:t>We first present key concepts</a:t>
            </a:r>
          </a:p>
          <a:p>
            <a:pPr lvl="1"/>
            <a:r>
              <a:rPr lang="en-US" altLang="en-US"/>
              <a:t>And then present the actual recovery algorithm</a:t>
            </a:r>
          </a:p>
          <a:p>
            <a:r>
              <a:rPr lang="en-US" altLang="en-US"/>
              <a:t>Less used alternative: </a:t>
            </a:r>
            <a:r>
              <a:rPr lang="en-US" altLang="en-US" b="1">
                <a:solidFill>
                  <a:srgbClr val="000099"/>
                </a:solidFill>
              </a:rPr>
              <a:t>shadow-copy </a:t>
            </a:r>
            <a:r>
              <a:rPr lang="en-US" altLang="en-US"/>
              <a:t>and</a:t>
            </a:r>
            <a:r>
              <a:rPr lang="en-US" altLang="en-US">
                <a:solidFill>
                  <a:srgbClr val="000099"/>
                </a:solidFill>
              </a:rPr>
              <a:t> </a:t>
            </a:r>
            <a:r>
              <a:rPr lang="en-US" altLang="en-US" b="1">
                <a:solidFill>
                  <a:srgbClr val="000099"/>
                </a:solidFill>
              </a:rPr>
              <a:t>shadow-paging </a:t>
            </a:r>
            <a:r>
              <a:rPr lang="en-US" altLang="en-US"/>
              <a:t>(brief details in book)</a:t>
            </a:r>
          </a:p>
          <a:p>
            <a:pPr>
              <a:buFont typeface="Monotype Sorts" charset="2"/>
              <a:buNone/>
            </a:pPr>
            <a:endParaRPr lang="en-US" altLang="en-US"/>
          </a:p>
        </p:txBody>
      </p:sp>
      <p:pic>
        <p:nvPicPr>
          <p:cNvPr id="36867" name="Picture 1" descr="15-02.gif"/>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5600" y="3876675"/>
            <a:ext cx="5081588" cy="2446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68" name="TextBox 2"/>
          <p:cNvSpPr txBox="1">
            <a:spLocks noChangeArrowheads="1"/>
          </p:cNvSpPr>
          <p:nvPr/>
        </p:nvSpPr>
        <p:spPr bwMode="auto">
          <a:xfrm>
            <a:off x="2276475" y="5164138"/>
            <a:ext cx="155202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b="1">
                <a:solidFill>
                  <a:srgbClr val="000099"/>
                </a:solidFill>
              </a:rPr>
              <a:t>shadow-copy </a:t>
            </a:r>
            <a:endParaRPr lang="en-US" altLang="en-US">
              <a:solidFill>
                <a:srgbClr val="000000"/>
              </a:solidFill>
            </a:endParaRPr>
          </a:p>
        </p:txBody>
      </p:sp>
    </p:spTree>
    <p:extLst>
      <p:ext uri="{BB962C8B-B14F-4D97-AF65-F5344CB8AC3E}">
        <p14:creationId xmlns:p14="http://schemas.microsoft.com/office/powerpoint/2010/main" val="15290586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Log-Based Recovery</a:t>
            </a:r>
          </a:p>
        </p:txBody>
      </p:sp>
      <p:sp>
        <p:nvSpPr>
          <p:cNvPr id="38914" name="Rectangle 3"/>
          <p:cNvSpPr>
            <a:spLocks noGrp="1" noChangeArrowheads="1"/>
          </p:cNvSpPr>
          <p:nvPr>
            <p:ph type="body" idx="4294967295"/>
          </p:nvPr>
        </p:nvSpPr>
        <p:spPr>
          <a:xfrm>
            <a:off x="2366963" y="1106488"/>
            <a:ext cx="7848600" cy="5029200"/>
          </a:xfrm>
        </p:spPr>
        <p:txBody>
          <a:bodyPr/>
          <a:lstStyle/>
          <a:p>
            <a:pPr>
              <a:lnSpc>
                <a:spcPct val="90000"/>
              </a:lnSpc>
            </a:pPr>
            <a:r>
              <a:rPr lang="en-US" altLang="en-US"/>
              <a:t>A  </a:t>
            </a:r>
            <a:r>
              <a:rPr lang="en-US" altLang="en-US" b="1">
                <a:solidFill>
                  <a:srgbClr val="000099"/>
                </a:solidFill>
              </a:rPr>
              <a:t>log</a:t>
            </a:r>
            <a:r>
              <a:rPr lang="en-US" altLang="en-US"/>
              <a:t> is kept on stable storage. </a:t>
            </a:r>
          </a:p>
          <a:p>
            <a:pPr lvl="1">
              <a:lnSpc>
                <a:spcPct val="90000"/>
              </a:lnSpc>
            </a:pPr>
            <a:r>
              <a:rPr lang="en-US" altLang="en-US"/>
              <a:t>The log is a sequence of </a:t>
            </a:r>
            <a:r>
              <a:rPr lang="en-US" altLang="en-US" b="1">
                <a:solidFill>
                  <a:srgbClr val="000099"/>
                </a:solidFill>
              </a:rPr>
              <a:t>log records</a:t>
            </a:r>
            <a:r>
              <a:rPr lang="en-US" altLang="en-US"/>
              <a:t>, and maintains a record of update activities on the database.</a:t>
            </a:r>
          </a:p>
          <a:p>
            <a:pPr>
              <a:lnSpc>
                <a:spcPct val="90000"/>
              </a:lnSpc>
            </a:pPr>
            <a:r>
              <a:rPr lang="en-US" altLang="en-US"/>
              <a:t>When transaction </a:t>
            </a:r>
            <a:r>
              <a:rPr lang="en-US" altLang="en-US" i="1"/>
              <a:t>T</a:t>
            </a:r>
            <a:r>
              <a:rPr lang="en-US" altLang="en-US" i="1" baseline="-25000"/>
              <a:t>i</a:t>
            </a:r>
            <a:r>
              <a:rPr lang="en-US" altLang="en-US" i="1"/>
              <a:t> </a:t>
            </a:r>
            <a:r>
              <a:rPr lang="en-US" altLang="en-US"/>
              <a:t>starts, it registers itself by writing a </a:t>
            </a:r>
            <a:br>
              <a:rPr lang="en-US" altLang="en-US"/>
            </a:br>
            <a:r>
              <a:rPr lang="en-US" altLang="en-US"/>
              <a:t>       </a:t>
            </a:r>
            <a:r>
              <a:rPr lang="en-US" altLang="en-US" i="1"/>
              <a:t>&lt;T</a:t>
            </a:r>
            <a:r>
              <a:rPr lang="en-US" altLang="en-US" i="1" baseline="-25000"/>
              <a:t>i  </a:t>
            </a:r>
            <a:r>
              <a:rPr lang="en-US" altLang="en-US" b="1"/>
              <a:t>start</a:t>
            </a:r>
            <a:r>
              <a:rPr lang="en-US" altLang="en-US"/>
              <a:t>&gt;log record</a:t>
            </a:r>
          </a:p>
          <a:p>
            <a:pPr>
              <a:lnSpc>
                <a:spcPct val="90000"/>
              </a:lnSpc>
            </a:pPr>
            <a:r>
              <a:rPr lang="en-US" altLang="en-US" i="1"/>
              <a:t>Before T</a:t>
            </a:r>
            <a:r>
              <a:rPr lang="en-US" altLang="en-US" i="1" baseline="-25000"/>
              <a:t>i</a:t>
            </a:r>
            <a:r>
              <a:rPr lang="en-US" altLang="en-US" i="1"/>
              <a:t> </a:t>
            </a:r>
            <a:r>
              <a:rPr lang="en-US" altLang="en-US"/>
              <a:t>executes </a:t>
            </a:r>
            <a:r>
              <a:rPr lang="en-US" altLang="en-US" b="1"/>
              <a:t>write</a:t>
            </a:r>
            <a:r>
              <a:rPr lang="en-US" altLang="en-US"/>
              <a:t>(</a:t>
            </a:r>
            <a:r>
              <a:rPr lang="en-US" altLang="en-US" i="1"/>
              <a:t>X</a:t>
            </a:r>
            <a:r>
              <a:rPr lang="en-US" altLang="en-US"/>
              <a:t>), a log record </a:t>
            </a:r>
            <a:br>
              <a:rPr lang="en-US" altLang="en-US"/>
            </a:br>
            <a:r>
              <a:rPr lang="en-US" altLang="en-US"/>
              <a:t>         </a:t>
            </a:r>
            <a:r>
              <a:rPr lang="en-US" altLang="en-US" i="1"/>
              <a:t>&lt;T</a:t>
            </a:r>
            <a:r>
              <a:rPr lang="en-US" altLang="en-US" i="1" baseline="-25000"/>
              <a:t>i</a:t>
            </a:r>
            <a:r>
              <a:rPr lang="en-US" altLang="en-US" i="1"/>
              <a:t>, X,  V</a:t>
            </a:r>
            <a:r>
              <a:rPr lang="en-US" altLang="en-US" i="1" baseline="-25000"/>
              <a:t>1</a:t>
            </a:r>
            <a:r>
              <a:rPr lang="en-US" altLang="en-US" i="1"/>
              <a:t>,  V</a:t>
            </a:r>
            <a:r>
              <a:rPr lang="en-US" altLang="en-US" i="1" baseline="-25000"/>
              <a:t>2</a:t>
            </a:r>
            <a:r>
              <a:rPr lang="en-US" altLang="en-US" i="1"/>
              <a:t>&gt; </a:t>
            </a:r>
            <a:br>
              <a:rPr lang="en-US" altLang="en-US" i="1"/>
            </a:br>
            <a:r>
              <a:rPr lang="en-US" altLang="en-US"/>
              <a:t>is written, where</a:t>
            </a:r>
            <a:r>
              <a:rPr lang="en-US" altLang="en-US" i="1"/>
              <a:t> V</a:t>
            </a:r>
            <a:r>
              <a:rPr lang="en-US" altLang="en-US" i="1" baseline="-25000"/>
              <a:t>1</a:t>
            </a:r>
            <a:r>
              <a:rPr lang="en-US" altLang="en-US"/>
              <a:t> is the value of </a:t>
            </a:r>
            <a:r>
              <a:rPr lang="en-US" altLang="en-US" i="1"/>
              <a:t>X</a:t>
            </a:r>
            <a:r>
              <a:rPr lang="en-US" altLang="en-US"/>
              <a:t>  before the write (the </a:t>
            </a:r>
            <a:r>
              <a:rPr lang="en-US" altLang="en-US" b="1">
                <a:solidFill>
                  <a:srgbClr val="000099"/>
                </a:solidFill>
              </a:rPr>
              <a:t>old value</a:t>
            </a:r>
            <a:r>
              <a:rPr lang="en-US" altLang="en-US"/>
              <a:t>)</a:t>
            </a:r>
            <a:r>
              <a:rPr lang="en-US" altLang="en-US" b="1"/>
              <a:t>,</a:t>
            </a:r>
            <a:r>
              <a:rPr lang="en-US" altLang="en-US"/>
              <a:t> and </a:t>
            </a:r>
            <a:r>
              <a:rPr lang="en-US" altLang="en-US" i="1"/>
              <a:t>V</a:t>
            </a:r>
            <a:r>
              <a:rPr lang="en-US" altLang="en-US" i="1" baseline="-25000"/>
              <a:t>2</a:t>
            </a:r>
            <a:r>
              <a:rPr lang="en-US" altLang="en-US" i="1"/>
              <a:t> </a:t>
            </a:r>
            <a:r>
              <a:rPr lang="en-US" altLang="en-US"/>
              <a:t>is the value to be written to </a:t>
            </a:r>
            <a:r>
              <a:rPr lang="en-US" altLang="en-US" i="1"/>
              <a:t>X </a:t>
            </a:r>
            <a:r>
              <a:rPr lang="en-US" altLang="en-US"/>
              <a:t>(the </a:t>
            </a:r>
            <a:r>
              <a:rPr lang="en-US" altLang="en-US" b="1">
                <a:solidFill>
                  <a:srgbClr val="000099"/>
                </a:solidFill>
              </a:rPr>
              <a:t>new value</a:t>
            </a:r>
            <a:r>
              <a:rPr lang="en-US" altLang="en-US" b="1"/>
              <a:t>)</a:t>
            </a:r>
            <a:r>
              <a:rPr lang="en-US" altLang="en-US"/>
              <a:t>. </a:t>
            </a:r>
          </a:p>
          <a:p>
            <a:pPr>
              <a:lnSpc>
                <a:spcPct val="90000"/>
              </a:lnSpc>
            </a:pPr>
            <a:r>
              <a:rPr lang="en-US" altLang="en-US"/>
              <a:t>When </a:t>
            </a:r>
            <a:r>
              <a:rPr lang="en-US" altLang="en-US" i="1"/>
              <a:t>T</a:t>
            </a:r>
            <a:r>
              <a:rPr lang="en-US" altLang="en-US" i="1" baseline="-25000"/>
              <a:t>i</a:t>
            </a:r>
            <a:r>
              <a:rPr lang="en-US" altLang="en-US"/>
              <a:t> finishes it last statement, the log record &lt;</a:t>
            </a:r>
            <a:r>
              <a:rPr lang="en-US" altLang="en-US" i="1"/>
              <a:t>T</a:t>
            </a:r>
            <a:r>
              <a:rPr lang="en-US" altLang="en-US" i="1" baseline="-25000"/>
              <a:t>i</a:t>
            </a:r>
            <a:r>
              <a:rPr lang="en-US" altLang="en-US" i="1"/>
              <a:t> </a:t>
            </a:r>
            <a:r>
              <a:rPr lang="en-US" altLang="en-US" b="1" i="1"/>
              <a:t> </a:t>
            </a:r>
            <a:r>
              <a:rPr lang="en-US" altLang="en-US" b="1"/>
              <a:t>commi</a:t>
            </a:r>
            <a:r>
              <a:rPr lang="en-US" altLang="en-US"/>
              <a:t>t&gt; is written. </a:t>
            </a:r>
          </a:p>
          <a:p>
            <a:pPr>
              <a:lnSpc>
                <a:spcPct val="90000"/>
              </a:lnSpc>
            </a:pPr>
            <a:r>
              <a:rPr lang="en-US" altLang="en-US"/>
              <a:t>Two approaches using logs</a:t>
            </a:r>
          </a:p>
          <a:p>
            <a:pPr lvl="1">
              <a:lnSpc>
                <a:spcPct val="90000"/>
              </a:lnSpc>
            </a:pPr>
            <a:r>
              <a:rPr lang="en-US" altLang="en-US"/>
              <a:t>Deferred database modification</a:t>
            </a:r>
          </a:p>
          <a:p>
            <a:pPr lvl="1">
              <a:lnSpc>
                <a:spcPct val="90000"/>
              </a:lnSpc>
            </a:pPr>
            <a:r>
              <a:rPr lang="en-US" altLang="en-US"/>
              <a:t>Immediate database modification</a:t>
            </a:r>
          </a:p>
        </p:txBody>
      </p:sp>
    </p:spTree>
    <p:extLst>
      <p:ext uri="{BB962C8B-B14F-4D97-AF65-F5344CB8AC3E}">
        <p14:creationId xmlns:p14="http://schemas.microsoft.com/office/powerpoint/2010/main" val="19876766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Immediate Database Modification</a:t>
            </a:r>
          </a:p>
        </p:txBody>
      </p:sp>
      <p:sp>
        <p:nvSpPr>
          <p:cNvPr id="40962" name="Rectangle 3"/>
          <p:cNvSpPr>
            <a:spLocks noGrp="1" noChangeArrowheads="1"/>
          </p:cNvSpPr>
          <p:nvPr>
            <p:ph type="body" idx="4294967295"/>
          </p:nvPr>
        </p:nvSpPr>
        <p:spPr/>
        <p:txBody>
          <a:bodyPr/>
          <a:lstStyle/>
          <a:p>
            <a:pPr>
              <a:lnSpc>
                <a:spcPct val="90000"/>
              </a:lnSpc>
            </a:pPr>
            <a:r>
              <a:rPr lang="en-US" altLang="en-US"/>
              <a:t>The </a:t>
            </a:r>
            <a:r>
              <a:rPr lang="en-US" altLang="en-US" b="1">
                <a:solidFill>
                  <a:srgbClr val="000099"/>
                </a:solidFill>
              </a:rPr>
              <a:t>immediate-modification</a:t>
            </a:r>
            <a:r>
              <a:rPr lang="en-US" altLang="en-US"/>
              <a:t> scheme allows updates of an uncommitted transaction to be made to the buffer, or the disk itself, before the transaction commits</a:t>
            </a:r>
          </a:p>
          <a:p>
            <a:pPr>
              <a:lnSpc>
                <a:spcPct val="90000"/>
              </a:lnSpc>
            </a:pPr>
            <a:r>
              <a:rPr lang="en-US" altLang="en-US"/>
              <a:t>Update log record must be written </a:t>
            </a:r>
            <a:r>
              <a:rPr lang="en-US" altLang="en-US" i="1"/>
              <a:t>before</a:t>
            </a:r>
            <a:r>
              <a:rPr lang="en-US" altLang="en-US"/>
              <a:t> database item is written</a:t>
            </a:r>
          </a:p>
          <a:p>
            <a:pPr lvl="1">
              <a:lnSpc>
                <a:spcPct val="90000"/>
              </a:lnSpc>
            </a:pPr>
            <a:r>
              <a:rPr lang="en-US" altLang="en-US"/>
              <a:t>We assume that the log record is output directly to stable storage</a:t>
            </a:r>
          </a:p>
          <a:p>
            <a:pPr lvl="1">
              <a:lnSpc>
                <a:spcPct val="90000"/>
              </a:lnSpc>
            </a:pPr>
            <a:r>
              <a:rPr lang="en-US" altLang="en-US"/>
              <a:t>(Will see later that how to postpone log record output to some extent)</a:t>
            </a:r>
          </a:p>
          <a:p>
            <a:pPr>
              <a:lnSpc>
                <a:spcPct val="90000"/>
              </a:lnSpc>
            </a:pPr>
            <a:r>
              <a:rPr lang="en-US" altLang="en-US"/>
              <a:t>Output of updated blocks to stable storage can take place at any time before or  after transaction commit</a:t>
            </a:r>
          </a:p>
          <a:p>
            <a:pPr>
              <a:lnSpc>
                <a:spcPct val="90000"/>
              </a:lnSpc>
            </a:pPr>
            <a:r>
              <a:rPr lang="en-US" altLang="en-US"/>
              <a:t>Order in which blocks are output can be different from the order in which they are written.</a:t>
            </a:r>
          </a:p>
          <a:p>
            <a:pPr>
              <a:lnSpc>
                <a:spcPct val="90000"/>
              </a:lnSpc>
            </a:pPr>
            <a:r>
              <a:rPr lang="en-US" altLang="en-US"/>
              <a:t>The </a:t>
            </a:r>
            <a:r>
              <a:rPr lang="en-US" altLang="en-US" b="1">
                <a:solidFill>
                  <a:srgbClr val="000099"/>
                </a:solidFill>
              </a:rPr>
              <a:t>deferred-modification</a:t>
            </a:r>
            <a:r>
              <a:rPr lang="en-US" altLang="en-US"/>
              <a:t> scheme performs updates to buffer/disk only at the time of transaction commit</a:t>
            </a:r>
          </a:p>
          <a:p>
            <a:pPr lvl="1">
              <a:lnSpc>
                <a:spcPct val="90000"/>
              </a:lnSpc>
            </a:pPr>
            <a:r>
              <a:rPr lang="en-US" altLang="en-US"/>
              <a:t>Simplifies some aspects of recovery</a:t>
            </a:r>
          </a:p>
          <a:p>
            <a:pPr lvl="1">
              <a:lnSpc>
                <a:spcPct val="90000"/>
              </a:lnSpc>
            </a:pPr>
            <a:r>
              <a:rPr lang="en-US" altLang="en-US"/>
              <a:t>But has overhead of storing local copy</a:t>
            </a:r>
          </a:p>
        </p:txBody>
      </p:sp>
    </p:spTree>
    <p:extLst>
      <p:ext uri="{BB962C8B-B14F-4D97-AF65-F5344CB8AC3E}">
        <p14:creationId xmlns:p14="http://schemas.microsoft.com/office/powerpoint/2010/main" val="3748059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3009" name="Rectangle 2"/>
          <p:cNvSpPr>
            <a:spLocks noGrp="1" noChangeArrowheads="1"/>
          </p:cNvSpPr>
          <p:nvPr>
            <p:ph type="title"/>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effectLst/>
              </a:rPr>
              <a:t>Transaction Commit</a:t>
            </a:r>
          </a:p>
        </p:txBody>
      </p:sp>
      <p:sp>
        <p:nvSpPr>
          <p:cNvPr id="43010" name="Rectangle 3"/>
          <p:cNvSpPr>
            <a:spLocks noGrp="1" noChangeArrowheads="1"/>
          </p:cNvSpPr>
          <p:nvPr>
            <p:ph type="body" idx="1"/>
          </p:nvPr>
        </p:nvSpPr>
        <p:spPr/>
        <p:txBody>
          <a:bodyPr/>
          <a:lstStyle/>
          <a:p>
            <a:r>
              <a:rPr lang="en-US" altLang="en-US"/>
              <a:t>A transaction is said to have committed when its commit log record is output to stable storage </a:t>
            </a:r>
          </a:p>
          <a:p>
            <a:pPr lvl="1"/>
            <a:r>
              <a:rPr lang="en-US" altLang="en-US"/>
              <a:t>all previous log records of the transaction must have been output already </a:t>
            </a:r>
          </a:p>
          <a:p>
            <a:r>
              <a:rPr lang="en-US" altLang="en-US"/>
              <a:t>Writes performed by a transaction may still be in the buffer when the transaction commits, and may be output later</a:t>
            </a:r>
          </a:p>
        </p:txBody>
      </p:sp>
    </p:spTree>
    <p:extLst>
      <p:ext uri="{BB962C8B-B14F-4D97-AF65-F5344CB8AC3E}">
        <p14:creationId xmlns:p14="http://schemas.microsoft.com/office/powerpoint/2010/main" val="27026322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6081" name="Rectangle 2"/>
          <p:cNvSpPr>
            <a:spLocks noGrp="1" noChangeArrowheads="1"/>
          </p:cNvSpPr>
          <p:nvPr>
            <p:ph type="title"/>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effectLst/>
              </a:rPr>
              <a:t>Concurrency Control and Recovery</a:t>
            </a:r>
          </a:p>
        </p:txBody>
      </p:sp>
      <p:sp>
        <p:nvSpPr>
          <p:cNvPr id="46082" name="Rectangle 3"/>
          <p:cNvSpPr>
            <a:spLocks noGrp="1" noChangeArrowheads="1"/>
          </p:cNvSpPr>
          <p:nvPr>
            <p:ph type="body" idx="1"/>
          </p:nvPr>
        </p:nvSpPr>
        <p:spPr/>
        <p:txBody>
          <a:bodyPr/>
          <a:lstStyle/>
          <a:p>
            <a:r>
              <a:rPr lang="en-US" altLang="en-US"/>
              <a:t>With concurrent transactions, all transactions share a single disk buffer and a single log</a:t>
            </a:r>
          </a:p>
          <a:p>
            <a:pPr lvl="1"/>
            <a:r>
              <a:rPr lang="en-US" altLang="en-US"/>
              <a:t>A buffer block can have data items updated by one or more transactions</a:t>
            </a:r>
          </a:p>
          <a:p>
            <a:r>
              <a:rPr lang="en-US" altLang="en-US"/>
              <a:t>We assume that </a:t>
            </a:r>
            <a:r>
              <a:rPr lang="en-US" altLang="en-US" i="1">
                <a:solidFill>
                  <a:srgbClr val="000099"/>
                </a:solidFill>
              </a:rPr>
              <a:t>if a transaction T</a:t>
            </a:r>
            <a:r>
              <a:rPr lang="en-US" altLang="en-US" i="1" baseline="-25000">
                <a:solidFill>
                  <a:srgbClr val="000099"/>
                </a:solidFill>
              </a:rPr>
              <a:t>i</a:t>
            </a:r>
            <a:r>
              <a:rPr lang="en-US" altLang="en-US" i="1">
                <a:solidFill>
                  <a:srgbClr val="000099"/>
                </a:solidFill>
              </a:rPr>
              <a:t> has modified an item, no other transaction can modify the same item until T</a:t>
            </a:r>
            <a:r>
              <a:rPr lang="en-US" altLang="en-US" i="1" baseline="-25000">
                <a:solidFill>
                  <a:srgbClr val="000099"/>
                </a:solidFill>
              </a:rPr>
              <a:t>i  </a:t>
            </a:r>
            <a:r>
              <a:rPr lang="en-US" altLang="en-US" i="1">
                <a:solidFill>
                  <a:srgbClr val="000099"/>
                </a:solidFill>
              </a:rPr>
              <a:t>has committed or aborted</a:t>
            </a:r>
          </a:p>
          <a:p>
            <a:pPr lvl="1"/>
            <a:r>
              <a:rPr lang="en-US" altLang="en-US"/>
              <a:t>i.e. the updates of uncommitted transactions should not be visible to other transactions</a:t>
            </a:r>
          </a:p>
          <a:p>
            <a:pPr lvl="2"/>
            <a:r>
              <a:rPr lang="en-US" altLang="en-US"/>
              <a:t>Otherwise how to perform undo if T1 updates A, then T2 updates A and commits, and finally T1 has to abort?</a:t>
            </a:r>
          </a:p>
          <a:p>
            <a:pPr lvl="1"/>
            <a:r>
              <a:rPr lang="en-US" altLang="en-US"/>
              <a:t>Can be ensured by obtaining exclusive locks on updated items and holding the locks till end of transaction (strict two-phase locking)</a:t>
            </a:r>
          </a:p>
          <a:p>
            <a:r>
              <a:rPr lang="en-US" altLang="en-US"/>
              <a:t>Log records of different transactions may be interspersed in the log.</a:t>
            </a:r>
          </a:p>
          <a:p>
            <a:endParaRPr lang="en-US" altLang="en-US"/>
          </a:p>
        </p:txBody>
      </p:sp>
    </p:spTree>
    <p:extLst>
      <p:ext uri="{BB962C8B-B14F-4D97-AF65-F5344CB8AC3E}">
        <p14:creationId xmlns:p14="http://schemas.microsoft.com/office/powerpoint/2010/main" val="30135172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7105" name="Rectangle 2"/>
          <p:cNvSpPr>
            <a:spLocks noGrp="1" noChangeArrowheads="1"/>
          </p:cNvSpPr>
          <p:nvPr>
            <p:ph type="title"/>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effectLst/>
              </a:rPr>
              <a:t>Undo and Redo Operations</a:t>
            </a:r>
          </a:p>
        </p:txBody>
      </p:sp>
      <p:sp>
        <p:nvSpPr>
          <p:cNvPr id="47106" name="Rectangle 3"/>
          <p:cNvSpPr>
            <a:spLocks noGrp="1" noChangeArrowheads="1"/>
          </p:cNvSpPr>
          <p:nvPr>
            <p:ph type="body" idx="1"/>
          </p:nvPr>
        </p:nvSpPr>
        <p:spPr/>
        <p:txBody>
          <a:bodyPr/>
          <a:lstStyle/>
          <a:p>
            <a:r>
              <a:rPr lang="en-US" altLang="en-US" b="1">
                <a:solidFill>
                  <a:srgbClr val="000099"/>
                </a:solidFill>
              </a:rPr>
              <a:t>Undo</a:t>
            </a:r>
            <a:r>
              <a:rPr lang="en-US" altLang="en-US"/>
              <a:t> of a log record </a:t>
            </a:r>
            <a:r>
              <a:rPr lang="en-US" altLang="en-US" i="1"/>
              <a:t>&lt;T</a:t>
            </a:r>
            <a:r>
              <a:rPr lang="en-US" altLang="en-US" i="1" baseline="-25000"/>
              <a:t>i</a:t>
            </a:r>
            <a:r>
              <a:rPr lang="en-US" altLang="en-US" i="1"/>
              <a:t>, X,  V</a:t>
            </a:r>
            <a:r>
              <a:rPr lang="en-US" altLang="en-US" i="1" baseline="-25000"/>
              <a:t>1</a:t>
            </a:r>
            <a:r>
              <a:rPr lang="en-US" altLang="en-US" i="1"/>
              <a:t>,  V</a:t>
            </a:r>
            <a:r>
              <a:rPr lang="en-US" altLang="en-US" i="1" baseline="-25000"/>
              <a:t>2</a:t>
            </a:r>
            <a:r>
              <a:rPr lang="en-US" altLang="en-US" i="1"/>
              <a:t>&gt; </a:t>
            </a:r>
            <a:r>
              <a:rPr lang="en-US" altLang="en-US"/>
              <a:t>writes the </a:t>
            </a:r>
            <a:r>
              <a:rPr lang="en-US" altLang="en-US" b="1"/>
              <a:t>old</a:t>
            </a:r>
            <a:r>
              <a:rPr lang="en-US" altLang="en-US"/>
              <a:t> value </a:t>
            </a:r>
            <a:r>
              <a:rPr lang="en-US" altLang="en-US" i="1"/>
              <a:t>V</a:t>
            </a:r>
            <a:r>
              <a:rPr lang="en-US" altLang="en-US" i="1" baseline="-25000"/>
              <a:t>1</a:t>
            </a:r>
            <a:r>
              <a:rPr lang="en-US" altLang="en-US" i="1"/>
              <a:t> </a:t>
            </a:r>
            <a:r>
              <a:rPr lang="en-US" altLang="en-US"/>
              <a:t>to</a:t>
            </a:r>
            <a:r>
              <a:rPr lang="en-US" altLang="en-US" i="1"/>
              <a:t> X</a:t>
            </a:r>
          </a:p>
          <a:p>
            <a:r>
              <a:rPr lang="en-US" altLang="en-US" b="1">
                <a:solidFill>
                  <a:srgbClr val="000099"/>
                </a:solidFill>
              </a:rPr>
              <a:t>Redo</a:t>
            </a:r>
            <a:r>
              <a:rPr lang="en-US" altLang="en-US"/>
              <a:t> of a log record </a:t>
            </a:r>
            <a:r>
              <a:rPr lang="en-US" altLang="en-US" i="1"/>
              <a:t>&lt;T</a:t>
            </a:r>
            <a:r>
              <a:rPr lang="en-US" altLang="en-US" i="1" baseline="-25000"/>
              <a:t>i</a:t>
            </a:r>
            <a:r>
              <a:rPr lang="en-US" altLang="en-US" i="1"/>
              <a:t>, X,  V</a:t>
            </a:r>
            <a:r>
              <a:rPr lang="en-US" altLang="en-US" i="1" baseline="-25000"/>
              <a:t>1</a:t>
            </a:r>
            <a:r>
              <a:rPr lang="en-US" altLang="en-US" i="1"/>
              <a:t>,  V</a:t>
            </a:r>
            <a:r>
              <a:rPr lang="en-US" altLang="en-US" i="1" baseline="-25000"/>
              <a:t>2</a:t>
            </a:r>
            <a:r>
              <a:rPr lang="en-US" altLang="en-US" i="1"/>
              <a:t>&gt; </a:t>
            </a:r>
            <a:r>
              <a:rPr lang="en-US" altLang="en-US"/>
              <a:t>writes the </a:t>
            </a:r>
            <a:r>
              <a:rPr lang="en-US" altLang="en-US" b="1"/>
              <a:t>new</a:t>
            </a:r>
            <a:r>
              <a:rPr lang="en-US" altLang="en-US"/>
              <a:t> value </a:t>
            </a:r>
            <a:r>
              <a:rPr lang="en-US" altLang="en-US" i="1"/>
              <a:t>V</a:t>
            </a:r>
            <a:r>
              <a:rPr lang="en-US" altLang="en-US" i="1" baseline="-25000"/>
              <a:t>2</a:t>
            </a:r>
            <a:r>
              <a:rPr lang="en-US" altLang="en-US" i="1"/>
              <a:t> </a:t>
            </a:r>
            <a:r>
              <a:rPr lang="en-US" altLang="en-US"/>
              <a:t>to</a:t>
            </a:r>
            <a:r>
              <a:rPr lang="en-US" altLang="en-US" i="1"/>
              <a:t> X</a:t>
            </a:r>
          </a:p>
          <a:p>
            <a:r>
              <a:rPr lang="en-US" altLang="en-US" b="1">
                <a:solidFill>
                  <a:srgbClr val="000099"/>
                </a:solidFill>
              </a:rPr>
              <a:t>Undo and Redo of Transactions</a:t>
            </a:r>
          </a:p>
          <a:p>
            <a:pPr lvl="1"/>
            <a:r>
              <a:rPr lang="en-US" altLang="en-US" b="1"/>
              <a:t>undo</a:t>
            </a:r>
            <a:r>
              <a:rPr lang="en-US" altLang="en-US"/>
              <a:t>(</a:t>
            </a:r>
            <a:r>
              <a:rPr lang="en-US" altLang="en-US" i="1"/>
              <a:t>T</a:t>
            </a:r>
            <a:r>
              <a:rPr lang="en-US" altLang="en-US" baseline="-25000"/>
              <a:t>i</a:t>
            </a:r>
            <a:r>
              <a:rPr lang="en-US" altLang="en-US"/>
              <a:t>) restores the value of all data items updated by </a:t>
            </a:r>
            <a:r>
              <a:rPr lang="en-US" altLang="en-US" i="1"/>
              <a:t>T</a:t>
            </a:r>
            <a:r>
              <a:rPr lang="en-US" altLang="en-US" i="1" baseline="-25000"/>
              <a:t>i</a:t>
            </a:r>
            <a:r>
              <a:rPr lang="en-US" altLang="en-US"/>
              <a:t> to their old values, going backwards from the last log record for </a:t>
            </a:r>
            <a:r>
              <a:rPr lang="en-US" altLang="en-US" i="1"/>
              <a:t>T</a:t>
            </a:r>
            <a:r>
              <a:rPr lang="en-US" altLang="en-US" i="1" baseline="-25000"/>
              <a:t>i</a:t>
            </a:r>
            <a:endParaRPr lang="en-US" altLang="en-US" i="1"/>
          </a:p>
          <a:p>
            <a:pPr lvl="2"/>
            <a:r>
              <a:rPr lang="en-US" altLang="en-US"/>
              <a:t>each time a data item X is restored to its old value V a special  log record </a:t>
            </a:r>
            <a:r>
              <a:rPr lang="en-US" altLang="en-US" i="1"/>
              <a:t>&lt;T</a:t>
            </a:r>
            <a:r>
              <a:rPr lang="en-US" altLang="en-US" i="1" baseline="-25000"/>
              <a:t>i</a:t>
            </a:r>
            <a:r>
              <a:rPr lang="en-US" altLang="en-US" i="1"/>
              <a:t> , X, V&gt; </a:t>
            </a:r>
            <a:r>
              <a:rPr lang="en-US" altLang="en-US"/>
              <a:t>is written out</a:t>
            </a:r>
          </a:p>
          <a:p>
            <a:pPr lvl="2"/>
            <a:r>
              <a:rPr lang="en-US" altLang="en-US"/>
              <a:t>when undo of a transaction is complete, a log record </a:t>
            </a:r>
            <a:br>
              <a:rPr lang="en-US" altLang="en-US"/>
            </a:br>
            <a:r>
              <a:rPr lang="en-US" altLang="en-US" i="1"/>
              <a:t>&lt;T</a:t>
            </a:r>
            <a:r>
              <a:rPr lang="en-US" altLang="en-US" i="1" baseline="-25000"/>
              <a:t>i</a:t>
            </a:r>
            <a:r>
              <a:rPr lang="en-US" altLang="en-US" i="1"/>
              <a:t> </a:t>
            </a:r>
            <a:r>
              <a:rPr lang="en-US" altLang="en-US" b="1"/>
              <a:t>abort</a:t>
            </a:r>
            <a:r>
              <a:rPr lang="en-US" altLang="en-US" i="1"/>
              <a:t>&gt; </a:t>
            </a:r>
            <a:r>
              <a:rPr lang="en-US" altLang="en-US"/>
              <a:t>is written out.</a:t>
            </a:r>
          </a:p>
          <a:p>
            <a:pPr lvl="1"/>
            <a:r>
              <a:rPr lang="en-US" altLang="en-US" b="1"/>
              <a:t>redo</a:t>
            </a:r>
            <a:r>
              <a:rPr lang="en-US" altLang="en-US"/>
              <a:t>(</a:t>
            </a:r>
            <a:r>
              <a:rPr lang="en-US" altLang="en-US" i="1"/>
              <a:t>T</a:t>
            </a:r>
            <a:r>
              <a:rPr lang="en-US" altLang="en-US" baseline="-25000"/>
              <a:t>i</a:t>
            </a:r>
            <a:r>
              <a:rPr lang="en-US" altLang="en-US"/>
              <a:t>) sets the value of all data items updated by </a:t>
            </a:r>
            <a:r>
              <a:rPr lang="en-US" altLang="en-US" i="1"/>
              <a:t>T</a:t>
            </a:r>
            <a:r>
              <a:rPr lang="en-US" altLang="en-US" i="1" baseline="-25000"/>
              <a:t>i</a:t>
            </a:r>
            <a:r>
              <a:rPr lang="en-US" altLang="en-US" i="1"/>
              <a:t> </a:t>
            </a:r>
            <a:r>
              <a:rPr lang="en-US" altLang="en-US"/>
              <a:t>to the new values, going forward from the first log record for </a:t>
            </a:r>
            <a:r>
              <a:rPr lang="en-US" altLang="en-US" i="1"/>
              <a:t>T</a:t>
            </a:r>
            <a:r>
              <a:rPr lang="en-US" altLang="en-US" i="1" baseline="-25000"/>
              <a:t>i</a:t>
            </a:r>
            <a:endParaRPr lang="en-US" altLang="en-US" b="1">
              <a:solidFill>
                <a:schemeClr val="tx2"/>
              </a:solidFill>
            </a:endParaRPr>
          </a:p>
          <a:p>
            <a:pPr lvl="2"/>
            <a:r>
              <a:rPr lang="en-US" altLang="en-US"/>
              <a:t>No logging is done in this case</a:t>
            </a:r>
          </a:p>
          <a:p>
            <a:endParaRPr lang="en-US" altLang="en-US" i="1"/>
          </a:p>
          <a:p>
            <a:endParaRPr lang="en-US" altLang="en-US" i="1" baseline="-25000"/>
          </a:p>
        </p:txBody>
      </p:sp>
    </p:spTree>
    <p:extLst>
      <p:ext uri="{BB962C8B-B14F-4D97-AF65-F5344CB8AC3E}">
        <p14:creationId xmlns:p14="http://schemas.microsoft.com/office/powerpoint/2010/main" val="34455494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r>
              <a:rPr lang="en-US" altLang="en-US" sz="2800">
                <a:effectLst>
                  <a:outerShdw blurRad="38100" dist="38100" dir="2700000" algn="tl">
                    <a:srgbClr val="C0C0C0"/>
                  </a:outerShdw>
                </a:effectLst>
              </a:rPr>
              <a:t>Undo and Redo on Recovering from Failure</a:t>
            </a:r>
          </a:p>
        </p:txBody>
      </p:sp>
      <p:sp>
        <p:nvSpPr>
          <p:cNvPr id="48130" name="Rectangle 3"/>
          <p:cNvSpPr>
            <a:spLocks noGrp="1" noChangeArrowheads="1"/>
          </p:cNvSpPr>
          <p:nvPr>
            <p:ph type="body" idx="4294967295"/>
          </p:nvPr>
        </p:nvSpPr>
        <p:spPr>
          <a:xfrm>
            <a:off x="2093914" y="1060450"/>
            <a:ext cx="8167687" cy="5378450"/>
          </a:xfrm>
        </p:spPr>
        <p:txBody>
          <a:bodyPr/>
          <a:lstStyle/>
          <a:p>
            <a:r>
              <a:rPr lang="en-US" altLang="en-US"/>
              <a:t>When recovering after failure:</a:t>
            </a:r>
          </a:p>
          <a:p>
            <a:pPr lvl="1"/>
            <a:r>
              <a:rPr lang="en-US" altLang="en-US"/>
              <a:t>Transaction</a:t>
            </a:r>
            <a:r>
              <a:rPr lang="en-US" altLang="en-US" i="1"/>
              <a:t> T</a:t>
            </a:r>
            <a:r>
              <a:rPr lang="en-US" altLang="en-US" i="1" baseline="-25000"/>
              <a:t>i</a:t>
            </a:r>
            <a:r>
              <a:rPr lang="en-US" altLang="en-US" i="1"/>
              <a:t> </a:t>
            </a:r>
            <a:r>
              <a:rPr lang="en-US" altLang="en-US"/>
              <a:t>needs to be undone if the log </a:t>
            </a:r>
          </a:p>
          <a:p>
            <a:pPr lvl="2"/>
            <a:r>
              <a:rPr lang="en-US" altLang="en-US"/>
              <a:t>contains the record </a:t>
            </a:r>
            <a:r>
              <a:rPr lang="en-US" altLang="en-US" i="1"/>
              <a:t>&lt;T</a:t>
            </a:r>
            <a:r>
              <a:rPr lang="en-US" altLang="en-US" i="1" baseline="-25000"/>
              <a:t>i</a:t>
            </a:r>
            <a:r>
              <a:rPr lang="en-US" altLang="en-US"/>
              <a:t> </a:t>
            </a:r>
            <a:r>
              <a:rPr lang="en-US" altLang="en-US" b="1"/>
              <a:t>start</a:t>
            </a:r>
            <a:r>
              <a:rPr lang="en-US" altLang="en-US" i="1"/>
              <a:t>&gt;</a:t>
            </a:r>
            <a:r>
              <a:rPr lang="en-US" altLang="en-US"/>
              <a:t>,</a:t>
            </a:r>
          </a:p>
          <a:p>
            <a:pPr lvl="2"/>
            <a:r>
              <a:rPr lang="en-US" altLang="en-US"/>
              <a:t>but does not contain either the record </a:t>
            </a:r>
            <a:r>
              <a:rPr lang="en-US" altLang="en-US" i="1"/>
              <a:t>&lt;T</a:t>
            </a:r>
            <a:r>
              <a:rPr lang="en-US" altLang="en-US" i="1" baseline="-25000"/>
              <a:t>i</a:t>
            </a:r>
            <a:r>
              <a:rPr lang="en-US" altLang="en-US" i="1"/>
              <a:t> </a:t>
            </a:r>
            <a:r>
              <a:rPr lang="en-US" altLang="en-US" b="1"/>
              <a:t>commit</a:t>
            </a:r>
            <a:r>
              <a:rPr lang="en-US" altLang="en-US" i="1"/>
              <a:t>&gt; or &lt;T</a:t>
            </a:r>
            <a:r>
              <a:rPr lang="en-US" altLang="en-US" i="1" baseline="-25000"/>
              <a:t>i</a:t>
            </a:r>
            <a:r>
              <a:rPr lang="en-US" altLang="en-US" i="1"/>
              <a:t> </a:t>
            </a:r>
            <a:r>
              <a:rPr lang="en-US" altLang="en-US" b="1"/>
              <a:t>abort</a:t>
            </a:r>
            <a:r>
              <a:rPr lang="en-US" altLang="en-US" i="1"/>
              <a:t>&gt;</a:t>
            </a:r>
            <a:r>
              <a:rPr lang="en-US" altLang="en-US"/>
              <a:t>.</a:t>
            </a:r>
          </a:p>
          <a:p>
            <a:pPr lvl="1"/>
            <a:r>
              <a:rPr lang="en-US" altLang="en-US"/>
              <a:t>Transaction </a:t>
            </a:r>
            <a:r>
              <a:rPr lang="en-US" altLang="en-US" i="1"/>
              <a:t>T</a:t>
            </a:r>
            <a:r>
              <a:rPr lang="en-US" altLang="en-US" i="1" baseline="-25000"/>
              <a:t>i</a:t>
            </a:r>
            <a:r>
              <a:rPr lang="en-US" altLang="en-US" i="1"/>
              <a:t> </a:t>
            </a:r>
            <a:r>
              <a:rPr lang="en-US" altLang="en-US"/>
              <a:t>needs to be redone if the log </a:t>
            </a:r>
          </a:p>
          <a:p>
            <a:pPr lvl="2"/>
            <a:r>
              <a:rPr lang="en-US" altLang="en-US"/>
              <a:t>contains the records </a:t>
            </a:r>
            <a:r>
              <a:rPr lang="en-US" altLang="en-US" i="1"/>
              <a:t>&lt;T</a:t>
            </a:r>
            <a:r>
              <a:rPr lang="en-US" altLang="en-US" i="1" baseline="-25000"/>
              <a:t>i</a:t>
            </a:r>
            <a:r>
              <a:rPr lang="en-US" altLang="en-US" i="1"/>
              <a:t> </a:t>
            </a:r>
            <a:r>
              <a:rPr lang="en-US" altLang="en-US" b="1"/>
              <a:t>start</a:t>
            </a:r>
            <a:r>
              <a:rPr lang="en-US" altLang="en-US" i="1"/>
              <a:t>&gt;</a:t>
            </a:r>
            <a:r>
              <a:rPr lang="en-US" altLang="en-US"/>
              <a:t> </a:t>
            </a:r>
          </a:p>
          <a:p>
            <a:pPr lvl="2"/>
            <a:r>
              <a:rPr lang="en-US" altLang="en-US"/>
              <a:t>and contains the record </a:t>
            </a:r>
            <a:r>
              <a:rPr lang="en-US" altLang="en-US" i="1"/>
              <a:t>&lt;T</a:t>
            </a:r>
            <a:r>
              <a:rPr lang="en-US" altLang="en-US" i="1" baseline="-25000"/>
              <a:t>i </a:t>
            </a:r>
            <a:r>
              <a:rPr lang="en-US" altLang="en-US" b="1"/>
              <a:t>commit</a:t>
            </a:r>
            <a:r>
              <a:rPr lang="en-US" altLang="en-US" i="1"/>
              <a:t>&gt; or &lt;T</a:t>
            </a:r>
            <a:r>
              <a:rPr lang="en-US" altLang="en-US" i="1" baseline="-25000"/>
              <a:t>i</a:t>
            </a:r>
            <a:r>
              <a:rPr lang="en-US" altLang="en-US" i="1"/>
              <a:t> </a:t>
            </a:r>
            <a:r>
              <a:rPr lang="en-US" altLang="en-US" b="1"/>
              <a:t>abort</a:t>
            </a:r>
            <a:r>
              <a:rPr lang="en-US" altLang="en-US" i="1"/>
              <a:t>&gt;</a:t>
            </a:r>
          </a:p>
          <a:p>
            <a:r>
              <a:rPr lang="en-US" altLang="en-US"/>
              <a:t>Note that If transaction </a:t>
            </a:r>
            <a:r>
              <a:rPr lang="en-US" altLang="en-US" i="1"/>
              <a:t>T</a:t>
            </a:r>
            <a:r>
              <a:rPr lang="en-US" altLang="en-US" i="1" baseline="-25000"/>
              <a:t>i</a:t>
            </a:r>
            <a:r>
              <a:rPr lang="en-US" altLang="en-US"/>
              <a:t> was undone earlier and the </a:t>
            </a:r>
            <a:r>
              <a:rPr lang="en-US" altLang="en-US" i="1"/>
              <a:t>&lt;T</a:t>
            </a:r>
            <a:r>
              <a:rPr lang="en-US" altLang="en-US" i="1" baseline="-25000"/>
              <a:t>i</a:t>
            </a:r>
            <a:r>
              <a:rPr lang="en-US" altLang="en-US" i="1"/>
              <a:t> </a:t>
            </a:r>
            <a:r>
              <a:rPr lang="en-US" altLang="en-US" b="1"/>
              <a:t>abort</a:t>
            </a:r>
            <a:r>
              <a:rPr lang="en-US" altLang="en-US" i="1"/>
              <a:t>&gt; </a:t>
            </a:r>
            <a:r>
              <a:rPr lang="en-US" altLang="en-US"/>
              <a:t>record written to the log, and then a failure occurs, on recovery from failure </a:t>
            </a:r>
            <a:r>
              <a:rPr lang="en-US" altLang="en-US" i="1"/>
              <a:t>T</a:t>
            </a:r>
            <a:r>
              <a:rPr lang="en-US" altLang="en-US" i="1" baseline="-25000"/>
              <a:t>i </a:t>
            </a:r>
            <a:r>
              <a:rPr lang="en-US" altLang="en-US"/>
              <a:t> is redone</a:t>
            </a:r>
          </a:p>
          <a:p>
            <a:pPr lvl="1"/>
            <a:r>
              <a:rPr lang="en-US" altLang="en-US" b="1"/>
              <a:t>such a redo redoes all the original actions</a:t>
            </a:r>
            <a:r>
              <a:rPr lang="en-US" altLang="en-US"/>
              <a:t> </a:t>
            </a:r>
            <a:r>
              <a:rPr lang="en-US" altLang="en-US" b="1" i="1"/>
              <a:t>including the steps that restored old values</a:t>
            </a:r>
          </a:p>
          <a:p>
            <a:pPr lvl="2"/>
            <a:r>
              <a:rPr lang="en-US" altLang="en-US"/>
              <a:t>Known as </a:t>
            </a:r>
            <a:r>
              <a:rPr lang="en-US" altLang="en-US" b="1">
                <a:solidFill>
                  <a:srgbClr val="000099"/>
                </a:solidFill>
              </a:rPr>
              <a:t>repeating history</a:t>
            </a:r>
          </a:p>
          <a:p>
            <a:pPr lvl="2"/>
            <a:r>
              <a:rPr lang="en-US" altLang="en-US"/>
              <a:t>Seems wasteful, but simplifies recovery greatly</a:t>
            </a:r>
          </a:p>
        </p:txBody>
      </p:sp>
    </p:spTree>
    <p:extLst>
      <p:ext uri="{BB962C8B-B14F-4D97-AF65-F5344CB8AC3E}">
        <p14:creationId xmlns:p14="http://schemas.microsoft.com/office/powerpoint/2010/main" val="4736711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2076450" y="352426"/>
            <a:ext cx="8210550" cy="790575"/>
          </a:xfrm>
        </p:spPr>
        <p:txBody>
          <a:bodyPr/>
          <a:lstStyle/>
          <a:p>
            <a:pPr>
              <a:defRPr/>
            </a:pPr>
            <a:r>
              <a:rPr lang="en-US" sz="3000">
                <a:ea typeface="ＭＳ Ｐゴシック" charset="0"/>
              </a:rPr>
              <a:t>Immediate DB Modification Recovery Example</a:t>
            </a:r>
            <a:endParaRPr lang="en-US">
              <a:ea typeface="ＭＳ Ｐゴシック" charset="0"/>
            </a:endParaRPr>
          </a:p>
        </p:txBody>
      </p:sp>
      <p:sp>
        <p:nvSpPr>
          <p:cNvPr id="50178" name="Rectangle 3"/>
          <p:cNvSpPr>
            <a:spLocks noGrp="1" noChangeArrowheads="1"/>
          </p:cNvSpPr>
          <p:nvPr>
            <p:ph type="body" idx="4294967295"/>
          </p:nvPr>
        </p:nvSpPr>
        <p:spPr>
          <a:xfrm>
            <a:off x="2179639" y="1257300"/>
            <a:ext cx="8061325" cy="5183188"/>
          </a:xfrm>
        </p:spPr>
        <p:txBody>
          <a:bodyPr/>
          <a:lstStyle/>
          <a:p>
            <a:pPr>
              <a:lnSpc>
                <a:spcPct val="110000"/>
              </a:lnSpc>
              <a:buFont typeface="Monotype Sorts" charset="2"/>
              <a:buNone/>
            </a:pPr>
            <a:r>
              <a:rPr lang="en-US" altLang="en-US" sz="1600"/>
              <a:t>  </a:t>
            </a:r>
            <a:r>
              <a:rPr lang="en-US" altLang="en-US"/>
              <a:t>Below we show the log as it appears at three instances of time.</a:t>
            </a:r>
          </a:p>
          <a:p>
            <a:pPr>
              <a:lnSpc>
                <a:spcPct val="70000"/>
              </a:lnSpc>
              <a:buFont typeface="Monotype Sorts" charset="2"/>
              <a:buNone/>
            </a:pPr>
            <a:endParaRPr lang="en-US" altLang="en-US"/>
          </a:p>
          <a:p>
            <a:pPr>
              <a:lnSpc>
                <a:spcPct val="70000"/>
              </a:lnSpc>
              <a:buFont typeface="Monotype Sorts" charset="2"/>
              <a:buNone/>
            </a:pPr>
            <a:endParaRPr lang="en-US" altLang="en-US"/>
          </a:p>
          <a:p>
            <a:pPr>
              <a:lnSpc>
                <a:spcPct val="70000"/>
              </a:lnSpc>
              <a:buFont typeface="Monotype Sorts" charset="2"/>
              <a:buNone/>
            </a:pPr>
            <a:endParaRPr lang="en-US" altLang="en-US"/>
          </a:p>
          <a:p>
            <a:pPr>
              <a:lnSpc>
                <a:spcPct val="70000"/>
              </a:lnSpc>
              <a:buFont typeface="Monotype Sorts" charset="2"/>
              <a:buNone/>
            </a:pPr>
            <a:endParaRPr lang="en-US" altLang="en-US"/>
          </a:p>
          <a:p>
            <a:pPr>
              <a:lnSpc>
                <a:spcPct val="70000"/>
              </a:lnSpc>
              <a:buFont typeface="Monotype Sorts" charset="2"/>
              <a:buNone/>
            </a:pPr>
            <a:endParaRPr lang="en-US" altLang="en-US"/>
          </a:p>
          <a:p>
            <a:pPr>
              <a:lnSpc>
                <a:spcPct val="70000"/>
              </a:lnSpc>
              <a:buFont typeface="Monotype Sorts" charset="2"/>
              <a:buNone/>
            </a:pPr>
            <a:endParaRPr lang="en-US" altLang="en-US"/>
          </a:p>
          <a:p>
            <a:pPr>
              <a:lnSpc>
                <a:spcPct val="70000"/>
              </a:lnSpc>
              <a:buFont typeface="Monotype Sorts" charset="2"/>
              <a:buNone/>
            </a:pPr>
            <a:endParaRPr lang="en-US" altLang="en-US"/>
          </a:p>
          <a:p>
            <a:pPr>
              <a:lnSpc>
                <a:spcPct val="30000"/>
              </a:lnSpc>
              <a:buFont typeface="Monotype Sorts" charset="2"/>
              <a:buNone/>
            </a:pPr>
            <a:endParaRPr lang="en-US" altLang="en-US"/>
          </a:p>
          <a:p>
            <a:pPr>
              <a:lnSpc>
                <a:spcPct val="70000"/>
              </a:lnSpc>
              <a:buFont typeface="Monotype Sorts" charset="2"/>
              <a:buNone/>
            </a:pPr>
            <a:endParaRPr lang="en-US" altLang="en-US"/>
          </a:p>
          <a:p>
            <a:pPr>
              <a:lnSpc>
                <a:spcPct val="70000"/>
              </a:lnSpc>
              <a:buFont typeface="Monotype Sorts" charset="2"/>
              <a:buNone/>
            </a:pPr>
            <a:r>
              <a:rPr lang="en-US" altLang="en-US"/>
              <a:t>Recovery actions in each case above are:</a:t>
            </a:r>
          </a:p>
          <a:p>
            <a:pPr>
              <a:lnSpc>
                <a:spcPct val="90000"/>
              </a:lnSpc>
              <a:buFont typeface="Monotype Sorts" charset="2"/>
              <a:buNone/>
            </a:pPr>
            <a:r>
              <a:rPr lang="en-US" altLang="en-US"/>
              <a:t>(a)  undo (</a:t>
            </a:r>
            <a:r>
              <a:rPr lang="en-US" altLang="en-US" i="1"/>
              <a:t>T</a:t>
            </a:r>
            <a:r>
              <a:rPr lang="en-US" altLang="en-US" baseline="-25000"/>
              <a:t>0</a:t>
            </a:r>
            <a:r>
              <a:rPr lang="en-US" altLang="en-US"/>
              <a:t>): B is restored to 2000 and A to 1000, and log records</a:t>
            </a:r>
            <a:br>
              <a:rPr lang="en-US" altLang="en-US"/>
            </a:br>
            <a:r>
              <a:rPr lang="en-US" altLang="en-US"/>
              <a:t>&lt;</a:t>
            </a:r>
            <a:r>
              <a:rPr lang="en-US" altLang="en-US" i="1"/>
              <a:t>T</a:t>
            </a:r>
            <a:r>
              <a:rPr lang="en-US" altLang="en-US" baseline="-25000"/>
              <a:t>0</a:t>
            </a:r>
            <a:r>
              <a:rPr lang="en-US" altLang="en-US"/>
              <a:t>, B, 2000&gt;, &lt;</a:t>
            </a:r>
            <a:r>
              <a:rPr lang="en-US" altLang="en-US" i="1"/>
              <a:t>T</a:t>
            </a:r>
            <a:r>
              <a:rPr lang="en-US" altLang="en-US" baseline="-25000"/>
              <a:t>0</a:t>
            </a:r>
            <a:r>
              <a:rPr lang="en-US" altLang="en-US"/>
              <a:t>, A, 1000&gt;, &lt;</a:t>
            </a:r>
            <a:r>
              <a:rPr lang="en-US" altLang="en-US" i="1"/>
              <a:t>T</a:t>
            </a:r>
            <a:r>
              <a:rPr lang="en-US" altLang="en-US" baseline="-25000"/>
              <a:t>0</a:t>
            </a:r>
            <a:r>
              <a:rPr lang="en-US" altLang="en-US"/>
              <a:t>, </a:t>
            </a:r>
            <a:r>
              <a:rPr lang="en-US" altLang="en-US" b="1"/>
              <a:t>abort</a:t>
            </a:r>
            <a:r>
              <a:rPr lang="en-US" altLang="en-US"/>
              <a:t>&gt; are written out</a:t>
            </a:r>
          </a:p>
          <a:p>
            <a:pPr>
              <a:lnSpc>
                <a:spcPct val="90000"/>
              </a:lnSpc>
              <a:buFont typeface="Monotype Sorts" charset="2"/>
              <a:buNone/>
            </a:pPr>
            <a:r>
              <a:rPr lang="en-US" altLang="en-US"/>
              <a:t>(b) redo (</a:t>
            </a:r>
            <a:r>
              <a:rPr lang="en-US" altLang="en-US" i="1"/>
              <a:t>T</a:t>
            </a:r>
            <a:r>
              <a:rPr lang="en-US" altLang="en-US" baseline="-25000"/>
              <a:t>0</a:t>
            </a:r>
            <a:r>
              <a:rPr lang="en-US" altLang="en-US"/>
              <a:t>) and undo (</a:t>
            </a:r>
            <a:r>
              <a:rPr lang="en-US" altLang="en-US" i="1"/>
              <a:t>T</a:t>
            </a:r>
            <a:r>
              <a:rPr lang="en-US" altLang="en-US" baseline="-25000"/>
              <a:t>1</a:t>
            </a:r>
            <a:r>
              <a:rPr lang="en-US" altLang="en-US"/>
              <a:t>): </a:t>
            </a:r>
            <a:r>
              <a:rPr lang="en-US" altLang="en-US" i="1"/>
              <a:t>A</a:t>
            </a:r>
            <a:r>
              <a:rPr lang="en-US" altLang="en-US"/>
              <a:t> and </a:t>
            </a:r>
            <a:r>
              <a:rPr lang="en-US" altLang="en-US" i="1"/>
              <a:t>B</a:t>
            </a:r>
            <a:r>
              <a:rPr lang="en-US" altLang="en-US"/>
              <a:t> are set to 950 and 2050 and C is restored to 700.  Log records &lt;</a:t>
            </a:r>
            <a:r>
              <a:rPr lang="en-US" altLang="en-US" i="1"/>
              <a:t>T</a:t>
            </a:r>
            <a:r>
              <a:rPr lang="en-US" altLang="en-US" baseline="-25000"/>
              <a:t>1</a:t>
            </a:r>
            <a:r>
              <a:rPr lang="en-US" altLang="en-US"/>
              <a:t>, C, 700&gt;, &lt;</a:t>
            </a:r>
            <a:r>
              <a:rPr lang="en-US" altLang="en-US" i="1"/>
              <a:t>T</a:t>
            </a:r>
            <a:r>
              <a:rPr lang="en-US" altLang="en-US" baseline="-25000"/>
              <a:t>1</a:t>
            </a:r>
            <a:r>
              <a:rPr lang="en-US" altLang="en-US"/>
              <a:t>, </a:t>
            </a:r>
            <a:r>
              <a:rPr lang="en-US" altLang="en-US" b="1"/>
              <a:t>abort</a:t>
            </a:r>
            <a:r>
              <a:rPr lang="en-US" altLang="en-US"/>
              <a:t>&gt; are written out.</a:t>
            </a:r>
          </a:p>
          <a:p>
            <a:pPr>
              <a:lnSpc>
                <a:spcPct val="90000"/>
              </a:lnSpc>
              <a:buFont typeface="Monotype Sorts" charset="2"/>
              <a:buNone/>
            </a:pPr>
            <a:r>
              <a:rPr lang="en-US" altLang="en-US"/>
              <a:t>(c)  redo (</a:t>
            </a:r>
            <a:r>
              <a:rPr lang="en-US" altLang="en-US" i="1"/>
              <a:t>T</a:t>
            </a:r>
            <a:r>
              <a:rPr lang="en-US" altLang="en-US" baseline="-25000"/>
              <a:t>0</a:t>
            </a:r>
            <a:r>
              <a:rPr lang="en-US" altLang="en-US"/>
              <a:t>) and redo (</a:t>
            </a:r>
            <a:r>
              <a:rPr lang="en-US" altLang="en-US" i="1"/>
              <a:t>T</a:t>
            </a:r>
            <a:r>
              <a:rPr lang="en-US" altLang="en-US" baseline="-25000"/>
              <a:t>1</a:t>
            </a:r>
            <a:r>
              <a:rPr lang="en-US" altLang="en-US"/>
              <a:t>): A and B are set to 950 and 2050 </a:t>
            </a:r>
          </a:p>
          <a:p>
            <a:pPr>
              <a:lnSpc>
                <a:spcPct val="90000"/>
              </a:lnSpc>
              <a:buFont typeface="Monotype Sorts" charset="2"/>
              <a:buNone/>
            </a:pPr>
            <a:r>
              <a:rPr lang="en-US" altLang="en-US"/>
              <a:t>       respectively. Then </a:t>
            </a:r>
            <a:r>
              <a:rPr lang="en-US" altLang="en-US" i="1"/>
              <a:t>C</a:t>
            </a:r>
            <a:r>
              <a:rPr lang="en-US" altLang="en-US"/>
              <a:t> is set to 600</a:t>
            </a:r>
          </a:p>
        </p:txBody>
      </p:sp>
      <p:pic>
        <p:nvPicPr>
          <p:cNvPr id="50179" name="Picture 1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9550" y="1773239"/>
            <a:ext cx="6554788" cy="2166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979431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Checkpoints</a:t>
            </a:r>
          </a:p>
        </p:txBody>
      </p:sp>
      <p:sp>
        <p:nvSpPr>
          <p:cNvPr id="52226" name="Rectangle 3"/>
          <p:cNvSpPr>
            <a:spLocks noGrp="1" noChangeArrowheads="1"/>
          </p:cNvSpPr>
          <p:nvPr>
            <p:ph type="body" idx="4294967295"/>
          </p:nvPr>
        </p:nvSpPr>
        <p:spPr/>
        <p:txBody>
          <a:bodyPr/>
          <a:lstStyle/>
          <a:p>
            <a:pPr marL="381000" indent="-381000"/>
            <a:r>
              <a:rPr lang="en-US" altLang="en-US"/>
              <a:t>Redoing/undoing all transactions recorded in the log can be very slow </a:t>
            </a:r>
          </a:p>
          <a:p>
            <a:pPr marL="800100" lvl="1" indent="-342900">
              <a:buFont typeface="Monotype Sorts" charset="2"/>
              <a:buAutoNum type="arabicPeriod"/>
            </a:pPr>
            <a:r>
              <a:rPr lang="en-US" altLang="en-US"/>
              <a:t>processing the entire log is time-consuming if the system has run for a long time</a:t>
            </a:r>
          </a:p>
          <a:p>
            <a:pPr marL="800100" lvl="1" indent="-342900">
              <a:buFont typeface="Monotype Sorts" charset="2"/>
              <a:buAutoNum type="arabicPeriod"/>
            </a:pPr>
            <a:r>
              <a:rPr lang="en-US" altLang="en-US"/>
              <a:t>we might unnecessarily redo transactions which have already output their updates to the database.</a:t>
            </a:r>
          </a:p>
          <a:p>
            <a:pPr marL="381000" indent="-381000"/>
            <a:r>
              <a:rPr lang="en-US" altLang="en-US"/>
              <a:t>Streamline recovery procedure by periodically performing </a:t>
            </a:r>
            <a:r>
              <a:rPr lang="en-US" altLang="en-US" b="1">
                <a:solidFill>
                  <a:srgbClr val="000099"/>
                </a:solidFill>
              </a:rPr>
              <a:t>checkpointing</a:t>
            </a:r>
            <a:r>
              <a:rPr lang="en-US" altLang="en-US"/>
              <a:t> </a:t>
            </a:r>
          </a:p>
          <a:p>
            <a:pPr marL="800100" lvl="1" indent="-342900">
              <a:buFont typeface="Monotype Sorts" charset="2"/>
              <a:buAutoNum type="arabicPeriod"/>
            </a:pPr>
            <a:r>
              <a:rPr lang="en-US" altLang="en-US"/>
              <a:t>Output all log records currently residing in main memory onto stable storage.</a:t>
            </a:r>
          </a:p>
          <a:p>
            <a:pPr marL="800100" lvl="1" indent="-342900">
              <a:buFont typeface="Monotype Sorts" charset="2"/>
              <a:buAutoNum type="arabicPeriod"/>
            </a:pPr>
            <a:r>
              <a:rPr lang="en-US" altLang="en-US"/>
              <a:t>Output all modified buffer blocks to the disk.</a:t>
            </a:r>
          </a:p>
          <a:p>
            <a:pPr marL="800100" lvl="1" indent="-342900">
              <a:buFont typeface="Monotype Sorts" charset="2"/>
              <a:buAutoNum type="arabicPeriod"/>
            </a:pPr>
            <a:r>
              <a:rPr lang="en-US" altLang="en-US"/>
              <a:t>Write a log record &lt;</a:t>
            </a:r>
            <a:r>
              <a:rPr lang="en-US" altLang="en-US" b="1"/>
              <a:t> checkpoint </a:t>
            </a:r>
            <a:r>
              <a:rPr lang="en-US" altLang="en-US" i="1"/>
              <a:t>L</a:t>
            </a:r>
            <a:r>
              <a:rPr lang="en-US" altLang="en-US"/>
              <a:t>&gt; onto stable storage where </a:t>
            </a:r>
            <a:r>
              <a:rPr lang="en-US" altLang="en-US" i="1"/>
              <a:t>L</a:t>
            </a:r>
            <a:r>
              <a:rPr lang="en-US" altLang="en-US"/>
              <a:t> is a list of all transactions active at the time of checkpoint.</a:t>
            </a:r>
          </a:p>
          <a:p>
            <a:pPr marL="800100" lvl="1" indent="-342900"/>
            <a:r>
              <a:rPr lang="en-US" altLang="en-US"/>
              <a:t>All updates are stopped while doing checkpointing</a:t>
            </a:r>
          </a:p>
        </p:txBody>
      </p:sp>
    </p:spTree>
    <p:extLst>
      <p:ext uri="{BB962C8B-B14F-4D97-AF65-F5344CB8AC3E}">
        <p14:creationId xmlns:p14="http://schemas.microsoft.com/office/powerpoint/2010/main" val="28071829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Checkpoints (Cont.)</a:t>
            </a:r>
          </a:p>
        </p:txBody>
      </p:sp>
      <p:sp>
        <p:nvSpPr>
          <p:cNvPr id="54274" name="Rectangle 3"/>
          <p:cNvSpPr>
            <a:spLocks noGrp="1" noChangeArrowheads="1"/>
          </p:cNvSpPr>
          <p:nvPr>
            <p:ph type="body" idx="4294967295"/>
          </p:nvPr>
        </p:nvSpPr>
        <p:spPr/>
        <p:txBody>
          <a:bodyPr/>
          <a:lstStyle/>
          <a:p>
            <a:pPr marL="381000" indent="-381000"/>
            <a:r>
              <a:rPr lang="en-US" altLang="en-US"/>
              <a:t>During recovery we need to consider only the most recent transaction T</a:t>
            </a:r>
            <a:r>
              <a:rPr lang="en-US" altLang="en-US" baseline="-25000"/>
              <a:t>i</a:t>
            </a:r>
            <a:r>
              <a:rPr lang="en-US" altLang="en-US"/>
              <a:t> that started before the checkpoint, and transactions that started after </a:t>
            </a:r>
            <a:r>
              <a:rPr lang="en-US" altLang="en-US" i="1"/>
              <a:t>T</a:t>
            </a:r>
            <a:r>
              <a:rPr lang="en-US" altLang="en-US" i="1" baseline="-25000"/>
              <a:t>i</a:t>
            </a:r>
            <a:r>
              <a:rPr lang="en-US" altLang="en-US"/>
              <a:t>. </a:t>
            </a:r>
          </a:p>
          <a:p>
            <a:pPr marL="800100" lvl="1" indent="-342900">
              <a:buFont typeface="Monotype Sorts" charset="2"/>
              <a:buAutoNum type="arabicPeriod"/>
            </a:pPr>
            <a:r>
              <a:rPr lang="en-US" altLang="en-US"/>
              <a:t>Scan backwards from end of log to find the most recent &lt;</a:t>
            </a:r>
            <a:r>
              <a:rPr lang="en-US" altLang="en-US" b="1"/>
              <a:t>checkpoint </a:t>
            </a:r>
            <a:r>
              <a:rPr lang="en-US" altLang="en-US" i="1"/>
              <a:t>L</a:t>
            </a:r>
            <a:r>
              <a:rPr lang="en-US" altLang="en-US"/>
              <a:t>&gt; record </a:t>
            </a:r>
          </a:p>
          <a:p>
            <a:pPr marL="800100" lvl="1" indent="-342900"/>
            <a:r>
              <a:rPr lang="en-US" altLang="en-US"/>
              <a:t>Only transactions that are in </a:t>
            </a:r>
            <a:r>
              <a:rPr lang="en-US" altLang="en-US" i="1"/>
              <a:t>L</a:t>
            </a:r>
            <a:r>
              <a:rPr lang="en-US" altLang="en-US"/>
              <a:t> or started after the checkpoint need to be redone or undone</a:t>
            </a:r>
          </a:p>
          <a:p>
            <a:pPr marL="800100" lvl="1" indent="-342900"/>
            <a:r>
              <a:rPr lang="en-US" altLang="en-US"/>
              <a:t>Transactions that committed or aborted before the checkpoint already have all their updates output to stable storage.</a:t>
            </a:r>
          </a:p>
          <a:p>
            <a:pPr marL="381000" indent="-381000"/>
            <a:r>
              <a:rPr lang="en-US" altLang="en-US"/>
              <a:t>Some earlier part of the log may be needed for undo operations</a:t>
            </a:r>
          </a:p>
          <a:p>
            <a:pPr marL="800100" lvl="1" indent="-342900">
              <a:buFont typeface="Monotype Sorts" charset="2"/>
              <a:buAutoNum type="arabicPeriod"/>
            </a:pPr>
            <a:r>
              <a:rPr lang="en-US" altLang="en-US"/>
              <a:t>Continue scanning backwards till a record </a:t>
            </a:r>
            <a:r>
              <a:rPr lang="en-US" altLang="en-US" i="1"/>
              <a:t>&lt;T</a:t>
            </a:r>
            <a:r>
              <a:rPr lang="en-US" altLang="en-US" i="1" baseline="-25000"/>
              <a:t>i</a:t>
            </a:r>
            <a:r>
              <a:rPr lang="en-US" altLang="en-US" b="1"/>
              <a:t> start</a:t>
            </a:r>
            <a:r>
              <a:rPr lang="en-US" altLang="en-US"/>
              <a:t>&gt; is found for every transaction </a:t>
            </a:r>
            <a:r>
              <a:rPr lang="en-US" altLang="en-US" i="1"/>
              <a:t>T</a:t>
            </a:r>
            <a:r>
              <a:rPr lang="en-US" altLang="en-US" i="1" baseline="-25000"/>
              <a:t>i </a:t>
            </a:r>
            <a:r>
              <a:rPr lang="en-US" altLang="en-US" i="1"/>
              <a:t> </a:t>
            </a:r>
            <a:r>
              <a:rPr lang="en-US" altLang="en-US"/>
              <a:t>in </a:t>
            </a:r>
            <a:r>
              <a:rPr lang="en-US" altLang="en-US" i="1"/>
              <a:t>L</a:t>
            </a:r>
            <a:r>
              <a:rPr lang="en-US" altLang="en-US"/>
              <a:t>.</a:t>
            </a:r>
          </a:p>
          <a:p>
            <a:pPr marL="800100" lvl="1" indent="-342900"/>
            <a:r>
              <a:rPr lang="en-US" altLang="en-US"/>
              <a:t>Parts of log prior to earliest </a:t>
            </a:r>
            <a:r>
              <a:rPr lang="en-US" altLang="en-US" i="1"/>
              <a:t>&lt;T</a:t>
            </a:r>
            <a:r>
              <a:rPr lang="en-US" altLang="en-US" i="1" baseline="-25000"/>
              <a:t>i</a:t>
            </a:r>
            <a:r>
              <a:rPr lang="en-US" altLang="en-US" b="1"/>
              <a:t> start</a:t>
            </a:r>
            <a:r>
              <a:rPr lang="en-US" altLang="en-US"/>
              <a:t>&gt; record above are not needed for recovery, and can be erased whenever desired.</a:t>
            </a:r>
          </a:p>
          <a:p>
            <a:pPr marL="800100" lvl="1" indent="-342900"/>
            <a:endParaRPr lang="en-US" altLang="en-US"/>
          </a:p>
          <a:p>
            <a:pPr marL="800100" lvl="1" indent="-342900">
              <a:buFont typeface="Monotype Sorts" charset="2"/>
              <a:buAutoNum type="arabicPeriod"/>
            </a:pPr>
            <a:endParaRPr lang="en-US" altLang="en-US"/>
          </a:p>
        </p:txBody>
      </p:sp>
    </p:spTree>
    <p:extLst>
      <p:ext uri="{BB962C8B-B14F-4D97-AF65-F5344CB8AC3E}">
        <p14:creationId xmlns:p14="http://schemas.microsoft.com/office/powerpoint/2010/main" val="2841794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r>
              <a:rPr lang="en-US" altLang="en-US">
                <a:effectLst>
                  <a:outerShdw blurRad="38100" dist="38100" dir="2700000" algn="tl">
                    <a:srgbClr val="C0C0C0"/>
                  </a:outerShdw>
                </a:effectLst>
              </a:rPr>
              <a:t>Example of Checkpoints</a:t>
            </a:r>
          </a:p>
        </p:txBody>
      </p:sp>
      <p:sp>
        <p:nvSpPr>
          <p:cNvPr id="56322" name="Rectangle 3"/>
          <p:cNvSpPr>
            <a:spLocks noGrp="1" noChangeArrowheads="1"/>
          </p:cNvSpPr>
          <p:nvPr>
            <p:ph type="body" idx="4294967295"/>
          </p:nvPr>
        </p:nvSpPr>
        <p:spPr>
          <a:xfrm>
            <a:off x="2400300" y="1263651"/>
            <a:ext cx="8267700" cy="5000625"/>
          </a:xfrm>
        </p:spPr>
        <p:txBody>
          <a:bodyPr/>
          <a:lstStyle/>
          <a:p>
            <a:endParaRPr lang="en-US" altLang="en-US"/>
          </a:p>
          <a:p>
            <a:endParaRPr lang="en-US" altLang="en-US"/>
          </a:p>
          <a:p>
            <a:endParaRPr lang="en-US" altLang="en-US"/>
          </a:p>
          <a:p>
            <a:endParaRPr lang="en-US" altLang="en-US"/>
          </a:p>
          <a:p>
            <a:endParaRPr lang="en-US" altLang="en-US"/>
          </a:p>
          <a:p>
            <a:endParaRPr lang="en-US" altLang="en-US"/>
          </a:p>
          <a:p>
            <a:endParaRPr lang="en-US" altLang="en-US"/>
          </a:p>
          <a:p>
            <a:endParaRPr lang="en-US" altLang="en-US"/>
          </a:p>
          <a:p>
            <a:r>
              <a:rPr lang="en-US" altLang="en-US" i="1"/>
              <a:t>T</a:t>
            </a:r>
            <a:r>
              <a:rPr lang="en-US" altLang="en-US" baseline="-25000"/>
              <a:t>1</a:t>
            </a:r>
            <a:r>
              <a:rPr lang="en-US" altLang="en-US"/>
              <a:t> can be ignored (updates already output to disk due to checkpoint)</a:t>
            </a:r>
          </a:p>
          <a:p>
            <a:r>
              <a:rPr lang="en-US" altLang="en-US" i="1"/>
              <a:t>T</a:t>
            </a:r>
            <a:r>
              <a:rPr lang="en-US" altLang="en-US" baseline="-25000"/>
              <a:t>2</a:t>
            </a:r>
            <a:r>
              <a:rPr lang="en-US" altLang="en-US"/>
              <a:t> and </a:t>
            </a:r>
            <a:r>
              <a:rPr lang="en-US" altLang="en-US" i="1"/>
              <a:t>T</a:t>
            </a:r>
            <a:r>
              <a:rPr lang="en-US" altLang="en-US" baseline="-25000"/>
              <a:t>3</a:t>
            </a:r>
            <a:r>
              <a:rPr lang="en-US" altLang="en-US"/>
              <a:t> redone.</a:t>
            </a:r>
          </a:p>
          <a:p>
            <a:r>
              <a:rPr lang="en-US" altLang="en-US" i="1"/>
              <a:t>T</a:t>
            </a:r>
            <a:r>
              <a:rPr lang="en-US" altLang="en-US" baseline="-25000"/>
              <a:t>4</a:t>
            </a:r>
            <a:r>
              <a:rPr lang="en-US" altLang="en-US"/>
              <a:t> undone</a:t>
            </a:r>
          </a:p>
        </p:txBody>
      </p:sp>
      <p:sp>
        <p:nvSpPr>
          <p:cNvPr id="56323" name="Line 4"/>
          <p:cNvSpPr>
            <a:spLocks noChangeShapeType="1"/>
          </p:cNvSpPr>
          <p:nvPr/>
        </p:nvSpPr>
        <p:spPr bwMode="auto">
          <a:xfrm>
            <a:off x="3124200" y="1600200"/>
            <a:ext cx="5638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24" name="Line 5"/>
          <p:cNvSpPr>
            <a:spLocks noChangeShapeType="1"/>
          </p:cNvSpPr>
          <p:nvPr/>
        </p:nvSpPr>
        <p:spPr bwMode="auto">
          <a:xfrm>
            <a:off x="4419600" y="1600200"/>
            <a:ext cx="0" cy="2209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25" name="Line 6"/>
          <p:cNvSpPr>
            <a:spLocks noChangeShapeType="1"/>
          </p:cNvSpPr>
          <p:nvPr/>
        </p:nvSpPr>
        <p:spPr bwMode="auto">
          <a:xfrm>
            <a:off x="7391400" y="1600200"/>
            <a:ext cx="0" cy="2209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26" name="Text Box 7"/>
          <p:cNvSpPr txBox="1">
            <a:spLocks noChangeArrowheads="1"/>
          </p:cNvSpPr>
          <p:nvPr/>
        </p:nvSpPr>
        <p:spPr bwMode="auto">
          <a:xfrm>
            <a:off x="4327525" y="1230313"/>
            <a:ext cx="42672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i="1">
                <a:solidFill>
                  <a:srgbClr val="000000"/>
                </a:solidFill>
              </a:rPr>
              <a:t>T</a:t>
            </a:r>
            <a:r>
              <a:rPr lang="en-US" altLang="en-US" sz="2000" i="1" baseline="-25000">
                <a:solidFill>
                  <a:srgbClr val="000000"/>
                </a:solidFill>
              </a:rPr>
              <a:t>c</a:t>
            </a:r>
            <a:endParaRPr lang="en-US" altLang="en-US" sz="2000" i="1">
              <a:solidFill>
                <a:srgbClr val="000000"/>
              </a:solidFill>
            </a:endParaRPr>
          </a:p>
        </p:txBody>
      </p:sp>
      <p:sp>
        <p:nvSpPr>
          <p:cNvPr id="56327" name="Text Box 8"/>
          <p:cNvSpPr txBox="1">
            <a:spLocks noChangeArrowheads="1"/>
          </p:cNvSpPr>
          <p:nvPr/>
        </p:nvSpPr>
        <p:spPr bwMode="auto">
          <a:xfrm>
            <a:off x="7169150" y="1206500"/>
            <a:ext cx="3898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i="1">
                <a:solidFill>
                  <a:srgbClr val="000000"/>
                </a:solidFill>
              </a:rPr>
              <a:t>T</a:t>
            </a:r>
            <a:r>
              <a:rPr lang="en-US" altLang="en-US" sz="2000" baseline="-25000">
                <a:solidFill>
                  <a:srgbClr val="000000"/>
                </a:solidFill>
              </a:rPr>
              <a:t>f</a:t>
            </a:r>
            <a:endParaRPr lang="en-US" altLang="en-US" sz="2000" i="1">
              <a:solidFill>
                <a:srgbClr val="000000"/>
              </a:solidFill>
            </a:endParaRPr>
          </a:p>
        </p:txBody>
      </p:sp>
      <p:sp>
        <p:nvSpPr>
          <p:cNvPr id="56328" name="Line 9"/>
          <p:cNvSpPr>
            <a:spLocks noChangeShapeType="1"/>
          </p:cNvSpPr>
          <p:nvPr/>
        </p:nvSpPr>
        <p:spPr bwMode="auto">
          <a:xfrm>
            <a:off x="3200400" y="1981200"/>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29" name="Line 10"/>
          <p:cNvSpPr>
            <a:spLocks noChangeShapeType="1"/>
          </p:cNvSpPr>
          <p:nvPr/>
        </p:nvSpPr>
        <p:spPr bwMode="auto">
          <a:xfrm>
            <a:off x="3200400" y="2057400"/>
            <a:ext cx="7620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30" name="Line 11"/>
          <p:cNvSpPr>
            <a:spLocks noChangeShapeType="1"/>
          </p:cNvSpPr>
          <p:nvPr/>
        </p:nvSpPr>
        <p:spPr bwMode="auto">
          <a:xfrm>
            <a:off x="3962400" y="1981200"/>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31" name="Line 12"/>
          <p:cNvSpPr>
            <a:spLocks noChangeShapeType="1"/>
          </p:cNvSpPr>
          <p:nvPr/>
        </p:nvSpPr>
        <p:spPr bwMode="auto">
          <a:xfrm>
            <a:off x="4267200" y="2362200"/>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32" name="Line 13"/>
          <p:cNvSpPr>
            <a:spLocks noChangeShapeType="1"/>
          </p:cNvSpPr>
          <p:nvPr/>
        </p:nvSpPr>
        <p:spPr bwMode="auto">
          <a:xfrm>
            <a:off x="4267200" y="2438400"/>
            <a:ext cx="7620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33" name="Line 14"/>
          <p:cNvSpPr>
            <a:spLocks noChangeShapeType="1"/>
          </p:cNvSpPr>
          <p:nvPr/>
        </p:nvSpPr>
        <p:spPr bwMode="auto">
          <a:xfrm>
            <a:off x="5029200" y="2362200"/>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34" name="Line 15"/>
          <p:cNvSpPr>
            <a:spLocks noChangeShapeType="1"/>
          </p:cNvSpPr>
          <p:nvPr/>
        </p:nvSpPr>
        <p:spPr bwMode="auto">
          <a:xfrm>
            <a:off x="5486400" y="2743200"/>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35" name="Line 16"/>
          <p:cNvSpPr>
            <a:spLocks noChangeShapeType="1"/>
          </p:cNvSpPr>
          <p:nvPr/>
        </p:nvSpPr>
        <p:spPr bwMode="auto">
          <a:xfrm>
            <a:off x="5486400" y="2819400"/>
            <a:ext cx="7620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36" name="Line 17"/>
          <p:cNvSpPr>
            <a:spLocks noChangeShapeType="1"/>
          </p:cNvSpPr>
          <p:nvPr/>
        </p:nvSpPr>
        <p:spPr bwMode="auto">
          <a:xfrm>
            <a:off x="6248400" y="2743200"/>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37" name="Line 18"/>
          <p:cNvSpPr>
            <a:spLocks noChangeShapeType="1"/>
          </p:cNvSpPr>
          <p:nvPr/>
        </p:nvSpPr>
        <p:spPr bwMode="auto">
          <a:xfrm>
            <a:off x="6629400" y="3200400"/>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38" name="Line 19"/>
          <p:cNvSpPr>
            <a:spLocks noChangeShapeType="1"/>
          </p:cNvSpPr>
          <p:nvPr/>
        </p:nvSpPr>
        <p:spPr bwMode="auto">
          <a:xfrm>
            <a:off x="6629400" y="3276600"/>
            <a:ext cx="7620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39" name="Line 20"/>
          <p:cNvSpPr>
            <a:spLocks noChangeShapeType="1"/>
          </p:cNvSpPr>
          <p:nvPr/>
        </p:nvSpPr>
        <p:spPr bwMode="auto">
          <a:xfrm>
            <a:off x="7391400" y="3200400"/>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eaLnBrk="0" fontAlgn="base" hangingPunct="0">
              <a:spcBef>
                <a:spcPct val="0"/>
              </a:spcBef>
              <a:spcAft>
                <a:spcPct val="0"/>
              </a:spcAft>
            </a:pPr>
            <a:endParaRPr lang="en-US" sz="1600">
              <a:solidFill>
                <a:srgbClr val="000000"/>
              </a:solidFill>
              <a:ea typeface="MS PGothic" panose="020B0600070205080204" pitchFamily="34" charset="-128"/>
            </a:endParaRPr>
          </a:p>
        </p:txBody>
      </p:sp>
      <p:sp>
        <p:nvSpPr>
          <p:cNvPr id="56340" name="Text Box 21"/>
          <p:cNvSpPr txBox="1">
            <a:spLocks noChangeArrowheads="1"/>
          </p:cNvSpPr>
          <p:nvPr/>
        </p:nvSpPr>
        <p:spPr bwMode="auto">
          <a:xfrm>
            <a:off x="3489325" y="1687513"/>
            <a:ext cx="43633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i="1">
                <a:solidFill>
                  <a:srgbClr val="000000"/>
                </a:solidFill>
              </a:rPr>
              <a:t>T</a:t>
            </a:r>
            <a:r>
              <a:rPr lang="en-US" altLang="en-US" sz="2000" baseline="-25000">
                <a:solidFill>
                  <a:srgbClr val="000000"/>
                </a:solidFill>
              </a:rPr>
              <a:t>1</a:t>
            </a:r>
            <a:endParaRPr lang="en-US" altLang="en-US" sz="2000" i="1">
              <a:solidFill>
                <a:srgbClr val="000000"/>
              </a:solidFill>
            </a:endParaRPr>
          </a:p>
        </p:txBody>
      </p:sp>
      <p:sp>
        <p:nvSpPr>
          <p:cNvPr id="56341" name="Text Box 22"/>
          <p:cNvSpPr txBox="1">
            <a:spLocks noChangeArrowheads="1"/>
          </p:cNvSpPr>
          <p:nvPr/>
        </p:nvSpPr>
        <p:spPr bwMode="auto">
          <a:xfrm>
            <a:off x="4422775" y="2051050"/>
            <a:ext cx="43633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i="1">
                <a:solidFill>
                  <a:srgbClr val="000000"/>
                </a:solidFill>
              </a:rPr>
              <a:t>T</a:t>
            </a:r>
            <a:r>
              <a:rPr lang="en-US" altLang="en-US" sz="2000" baseline="-25000">
                <a:solidFill>
                  <a:srgbClr val="000000"/>
                </a:solidFill>
              </a:rPr>
              <a:t>2</a:t>
            </a:r>
            <a:endParaRPr lang="en-US" altLang="en-US" sz="2000" i="1">
              <a:solidFill>
                <a:srgbClr val="000000"/>
              </a:solidFill>
            </a:endParaRPr>
          </a:p>
        </p:txBody>
      </p:sp>
      <p:sp>
        <p:nvSpPr>
          <p:cNvPr id="56342" name="Text Box 23"/>
          <p:cNvSpPr txBox="1">
            <a:spLocks noChangeArrowheads="1"/>
          </p:cNvSpPr>
          <p:nvPr/>
        </p:nvSpPr>
        <p:spPr bwMode="auto">
          <a:xfrm>
            <a:off x="5641975" y="2432050"/>
            <a:ext cx="43633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i="1">
                <a:solidFill>
                  <a:srgbClr val="000000"/>
                </a:solidFill>
              </a:rPr>
              <a:t>T</a:t>
            </a:r>
            <a:r>
              <a:rPr lang="en-US" altLang="en-US" sz="2000" baseline="-25000">
                <a:solidFill>
                  <a:srgbClr val="000000"/>
                </a:solidFill>
              </a:rPr>
              <a:t>3</a:t>
            </a:r>
            <a:endParaRPr lang="en-US" altLang="en-US" sz="2000" i="1">
              <a:solidFill>
                <a:srgbClr val="000000"/>
              </a:solidFill>
            </a:endParaRPr>
          </a:p>
        </p:txBody>
      </p:sp>
      <p:sp>
        <p:nvSpPr>
          <p:cNvPr id="56343" name="Text Box 24"/>
          <p:cNvSpPr txBox="1">
            <a:spLocks noChangeArrowheads="1"/>
          </p:cNvSpPr>
          <p:nvPr/>
        </p:nvSpPr>
        <p:spPr bwMode="auto">
          <a:xfrm>
            <a:off x="6861175" y="2889250"/>
            <a:ext cx="43633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i="1">
                <a:solidFill>
                  <a:srgbClr val="000000"/>
                </a:solidFill>
              </a:rPr>
              <a:t>T</a:t>
            </a:r>
            <a:r>
              <a:rPr lang="en-US" altLang="en-US" sz="2000" baseline="-25000">
                <a:solidFill>
                  <a:srgbClr val="000000"/>
                </a:solidFill>
              </a:rPr>
              <a:t>4</a:t>
            </a:r>
            <a:endParaRPr lang="en-US" altLang="en-US" sz="2000" i="1">
              <a:solidFill>
                <a:srgbClr val="000000"/>
              </a:solidFill>
            </a:endParaRPr>
          </a:p>
        </p:txBody>
      </p:sp>
      <p:sp>
        <p:nvSpPr>
          <p:cNvPr id="56344" name="Text Box 25"/>
          <p:cNvSpPr txBox="1">
            <a:spLocks noChangeArrowheads="1"/>
          </p:cNvSpPr>
          <p:nvPr/>
        </p:nvSpPr>
        <p:spPr bwMode="auto">
          <a:xfrm>
            <a:off x="3886200" y="3821114"/>
            <a:ext cx="139858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checkpoint</a:t>
            </a:r>
          </a:p>
        </p:txBody>
      </p:sp>
      <p:sp>
        <p:nvSpPr>
          <p:cNvPr id="56345" name="Text Box 26"/>
          <p:cNvSpPr txBox="1">
            <a:spLocks noChangeArrowheads="1"/>
          </p:cNvSpPr>
          <p:nvPr/>
        </p:nvSpPr>
        <p:spPr bwMode="auto">
          <a:xfrm>
            <a:off x="6629401" y="3797301"/>
            <a:ext cx="17494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600">
                <a:solidFill>
                  <a:schemeClr val="tx1"/>
                </a:solidFill>
                <a:latin typeface="Helvetica" panose="020B0604020202030204" pitchFamily="34" charset="0"/>
                <a:ea typeface="MS PGothic" panose="020B0600070205080204" pitchFamily="34" charset="-128"/>
              </a:defRPr>
            </a:lvl1pPr>
            <a:lvl2pPr marL="742950" indent="-285750">
              <a:defRPr sz="1600">
                <a:solidFill>
                  <a:schemeClr val="tx1"/>
                </a:solidFill>
                <a:latin typeface="Helvetica" panose="020B0604020202030204" pitchFamily="34" charset="0"/>
                <a:ea typeface="MS PGothic" panose="020B0600070205080204" pitchFamily="34" charset="-128"/>
              </a:defRPr>
            </a:lvl2pPr>
            <a:lvl3pPr marL="1143000" indent="-228600">
              <a:defRPr sz="1600">
                <a:solidFill>
                  <a:schemeClr val="tx1"/>
                </a:solidFill>
                <a:latin typeface="Helvetica" panose="020B0604020202030204" pitchFamily="34" charset="0"/>
                <a:ea typeface="MS PGothic" panose="020B0600070205080204" pitchFamily="34" charset="-128"/>
              </a:defRPr>
            </a:lvl3pPr>
            <a:lvl4pPr marL="1600200" indent="-228600">
              <a:defRPr sz="1600">
                <a:solidFill>
                  <a:schemeClr val="tx1"/>
                </a:solidFill>
                <a:latin typeface="Helvetica" panose="020B0604020202030204" pitchFamily="34" charset="0"/>
                <a:ea typeface="MS PGothic" panose="020B0600070205080204" pitchFamily="34" charset="-128"/>
              </a:defRPr>
            </a:lvl4pPr>
            <a:lvl5pPr marL="2057400" indent="-228600">
              <a:defRPr sz="1600">
                <a:solidFill>
                  <a:schemeClr val="tx1"/>
                </a:solidFill>
                <a:latin typeface="Helvetica" panose="020B060402020203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30204" pitchFamily="34" charset="0"/>
                <a:ea typeface="MS PGothic" panose="020B0600070205080204" pitchFamily="34" charset="-128"/>
              </a:defRPr>
            </a:lvl9pPr>
          </a:lstStyle>
          <a:p>
            <a:pPr eaLnBrk="0" fontAlgn="base" hangingPunct="0">
              <a:spcBef>
                <a:spcPct val="0"/>
              </a:spcBef>
              <a:spcAft>
                <a:spcPct val="0"/>
              </a:spcAft>
            </a:pPr>
            <a:r>
              <a:rPr lang="en-US" altLang="en-US" sz="2000">
                <a:solidFill>
                  <a:srgbClr val="000000"/>
                </a:solidFill>
              </a:rPr>
              <a:t>system failure</a:t>
            </a:r>
          </a:p>
        </p:txBody>
      </p:sp>
    </p:spTree>
    <p:extLst>
      <p:ext uri="{BB962C8B-B14F-4D97-AF65-F5344CB8AC3E}">
        <p14:creationId xmlns:p14="http://schemas.microsoft.com/office/powerpoint/2010/main" val="2639571652"/>
      </p:ext>
    </p:extLst>
  </p:cSld>
  <p:clrMapOvr>
    <a:masterClrMapping/>
  </p:clrMapOvr>
</p:sld>
</file>

<file path=ppt/theme/theme1.xml><?xml version="1.0" encoding="utf-8"?>
<a:theme xmlns:a="http://schemas.openxmlformats.org/drawingml/2006/main" name="2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Theme1</Template>
  <TotalTime>60</TotalTime>
  <Words>1849</Words>
  <Application>Microsoft Office PowerPoint</Application>
  <PresentationFormat>Widescreen</PresentationFormat>
  <Paragraphs>221</Paragraphs>
  <Slides>20</Slides>
  <Notes>17</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20</vt:i4>
      </vt:variant>
    </vt:vector>
  </HeadingPairs>
  <TitlesOfParts>
    <vt:vector size="27" baseType="lpstr">
      <vt:lpstr>Calibri</vt:lpstr>
      <vt:lpstr>Helvetica</vt:lpstr>
      <vt:lpstr>Monotype Sorts</vt:lpstr>
      <vt:lpstr>Times New Roman</vt:lpstr>
      <vt:lpstr>Webdings</vt:lpstr>
      <vt:lpstr>2_db-5-grey</vt:lpstr>
      <vt:lpstr>Clip</vt:lpstr>
      <vt:lpstr>Chapter 16: Recovery System</vt:lpstr>
      <vt:lpstr>Failure Classification</vt:lpstr>
      <vt:lpstr>Recovery Algorithms</vt:lpstr>
      <vt:lpstr>Storage Structure</vt:lpstr>
      <vt:lpstr>Stable-Storage Implementation</vt:lpstr>
      <vt:lpstr>Stable-Storage Implementation (Cont.)</vt:lpstr>
      <vt:lpstr>Data Access</vt:lpstr>
      <vt:lpstr>Example of Data Access</vt:lpstr>
      <vt:lpstr>Data Access (Cont.)</vt:lpstr>
      <vt:lpstr>Recovery and Atomicity</vt:lpstr>
      <vt:lpstr>Log-Based Recovery</vt:lpstr>
      <vt:lpstr>Immediate Database Modification</vt:lpstr>
      <vt:lpstr>Transaction Commit</vt:lpstr>
      <vt:lpstr>Concurrency Control and Recovery</vt:lpstr>
      <vt:lpstr>Undo and Redo Operations</vt:lpstr>
      <vt:lpstr>Undo and Redo on Recovering from Failure</vt:lpstr>
      <vt:lpstr>Immediate DB Modification Recovery Example</vt:lpstr>
      <vt:lpstr>Checkpoints</vt:lpstr>
      <vt:lpstr>Checkpoints (Cont.)</vt:lpstr>
      <vt:lpstr>Example of Checkpoints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16: Recovery System</dc:title>
  <dc:creator>Bahria</dc:creator>
  <cp:lastModifiedBy>Bushra Fazal BUKC</cp:lastModifiedBy>
  <cp:revision>4</cp:revision>
  <dcterms:created xsi:type="dcterms:W3CDTF">2019-05-15T03:55:21Z</dcterms:created>
  <dcterms:modified xsi:type="dcterms:W3CDTF">2020-06-07T07:01:15Z</dcterms:modified>
</cp:coreProperties>
</file>