
<file path=[Content_Types].xml><?xml version="1.0" encoding="utf-8"?>
<Types xmlns="http://schemas.openxmlformats.org/package/2006/content-types">
  <Default Extension="png" ContentType="image/png"/>
  <Default Extension="wmf" ContentType="image/x-wmf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45"/>
  </p:notesMasterIdLst>
  <p:handoutMasterIdLst>
    <p:handoutMasterId r:id="rId46"/>
  </p:handoutMasterIdLst>
  <p:sldIdLst>
    <p:sldId id="1764" r:id="rId2"/>
    <p:sldId id="1765" r:id="rId3"/>
    <p:sldId id="1766" r:id="rId4"/>
    <p:sldId id="1767" r:id="rId5"/>
    <p:sldId id="1768" r:id="rId6"/>
    <p:sldId id="1769" r:id="rId7"/>
    <p:sldId id="1617" r:id="rId8"/>
    <p:sldId id="1722" r:id="rId9"/>
    <p:sldId id="1723" r:id="rId10"/>
    <p:sldId id="1724" r:id="rId11"/>
    <p:sldId id="1770" r:id="rId12"/>
    <p:sldId id="1725" r:id="rId13"/>
    <p:sldId id="1727" r:id="rId14"/>
    <p:sldId id="1762" r:id="rId15"/>
    <p:sldId id="1728" r:id="rId16"/>
    <p:sldId id="1729" r:id="rId17"/>
    <p:sldId id="1731" r:id="rId18"/>
    <p:sldId id="1773" r:id="rId19"/>
    <p:sldId id="1774" r:id="rId20"/>
    <p:sldId id="1732" r:id="rId21"/>
    <p:sldId id="1733" r:id="rId22"/>
    <p:sldId id="1734" r:id="rId23"/>
    <p:sldId id="1740" r:id="rId24"/>
    <p:sldId id="1741" r:id="rId25"/>
    <p:sldId id="1735" r:id="rId26"/>
    <p:sldId id="1738" r:id="rId27"/>
    <p:sldId id="1763" r:id="rId28"/>
    <p:sldId id="1739" r:id="rId29"/>
    <p:sldId id="1742" r:id="rId30"/>
    <p:sldId id="1743" r:id="rId31"/>
    <p:sldId id="1744" r:id="rId32"/>
    <p:sldId id="1746" r:id="rId33"/>
    <p:sldId id="1745" r:id="rId34"/>
    <p:sldId id="1775" r:id="rId35"/>
    <p:sldId id="1747" r:id="rId36"/>
    <p:sldId id="1748" r:id="rId37"/>
    <p:sldId id="1771" r:id="rId38"/>
    <p:sldId id="1749" r:id="rId39"/>
    <p:sldId id="1750" r:id="rId40"/>
    <p:sldId id="1772" r:id="rId41"/>
    <p:sldId id="1755" r:id="rId42"/>
    <p:sldId id="1756" r:id="rId43"/>
    <p:sldId id="1757" r:id="rId44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99"/>
    <a:srgbClr val="2906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69" d="100"/>
          <a:sy n="69" d="100"/>
        </p:scale>
        <p:origin x="1416" y="7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handoutMaster" Target="handoutMasters/handout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B6CA34-8411-407E-893D-8E71990DC10C}" type="datetimeFigureOut">
              <a:rPr lang="en-US" smtClean="0"/>
              <a:pPr/>
              <a:t>6/6/2024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4777B9-B548-4935-8E6D-F45127D4619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3272576"/>
      </p:ext>
    </p:extLst>
  </p:cSld>
  <p:clrMap bg1="lt1" tx1="dk1" bg2="lt2" tx2="dk2" accent1="accent1" accent2="accent2" accent3="accent3" accent4="accent4" accent5="accent5" accent6="accent6" hlink="hlink" folHlink="folHlink"/>
  <p:hf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C7C770-57F1-4183-B1B5-424B207D1741}" type="datetimeFigureOut">
              <a:rPr lang="en-US" smtClean="0"/>
              <a:pPr/>
              <a:t>6/6/2024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A4ED4D-EFD9-46AD-897E-D5BE4B53CB4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023883"/>
      </p:ext>
    </p:extLst>
  </p:cSld>
  <p:clrMap bg1="lt1" tx1="dk1" bg2="lt2" tx2="dk2" accent1="accent1" accent2="accent2" accent3="accent3" accent4="accent4" accent5="accent5" accent6="accent6" hlink="hlink" folHlink="folHlink"/>
  <p:hf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5A4ED4D-EFD9-46AD-897E-D5BE4B53CB4B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02642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5A4ED4D-EFD9-46AD-897E-D5BE4B53CB4B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795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9B007E-8C7F-4E2E-BC7B-2A3A1679722A}" type="datetime1">
              <a:rPr lang="en-US" smtClean="0"/>
              <a:pPr/>
              <a:t>6/6/2024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A4BC5-AE2A-401E-9EDD-DF8812A14A6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9117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9CFE0C-32D0-48F6-B754-86DDD932679A}" type="datetime1">
              <a:rPr lang="en-US" smtClean="0"/>
              <a:pPr/>
              <a:t>6/6/2024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A4BC5-AE2A-401E-9EDD-DF8812A14A6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0343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65F951-6F0A-4BC8-8E78-042EB20EDAB0}" type="datetime1">
              <a:rPr lang="en-US" smtClean="0"/>
              <a:pPr/>
              <a:t>6/6/2024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A4BC5-AE2A-401E-9EDD-DF8812A14A6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9632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627F7-2F2A-48BC-9DFD-9A2600CFA556}" type="datetime1">
              <a:rPr lang="en-US" smtClean="0"/>
              <a:pPr/>
              <a:t>6/6/2024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A4BC5-AE2A-401E-9EDD-DF8812A14A6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30925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2BFDD5-512B-4522-BA85-F72134273AE1}" type="datetime1">
              <a:rPr lang="en-US" smtClean="0"/>
              <a:pPr/>
              <a:t>6/6/2024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A4BC5-AE2A-401E-9EDD-DF8812A14A6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5060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58DFD-FDB4-43ED-A73B-376F2F66B10F}" type="datetime1">
              <a:rPr lang="en-US" smtClean="0"/>
              <a:pPr/>
              <a:t>6/6/2024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A4BC5-AE2A-401E-9EDD-DF8812A14A6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1328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AB476-D146-4EA7-B6A7-C7ED67CB0904}" type="datetime1">
              <a:rPr lang="en-US" smtClean="0"/>
              <a:pPr/>
              <a:t>6/6/2024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A4BC5-AE2A-401E-9EDD-DF8812A14A6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88388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A0457E-5E49-4C84-A5ED-8D6AE6DEE17A}" type="datetime1">
              <a:rPr lang="en-US" smtClean="0"/>
              <a:pPr/>
              <a:t>6/6/2024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A4BC5-AE2A-401E-9EDD-DF8812A14A6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2836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47378-4043-40E8-88FD-3B9FC25ACA76}" type="datetime1">
              <a:rPr lang="en-US" smtClean="0"/>
              <a:pPr/>
              <a:t>6/6/2024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A4BC5-AE2A-401E-9EDD-DF8812A14A6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03452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85160-A181-4E5D-A8B9-6CC6B5BAC31C}" type="datetime1">
              <a:rPr lang="en-US" smtClean="0"/>
              <a:pPr/>
              <a:t>6/6/2024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A4BC5-AE2A-401E-9EDD-DF8812A14A6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36339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1D89C-2CB1-4680-B533-FD01CA337ED3}" type="datetime1">
              <a:rPr lang="en-US" smtClean="0"/>
              <a:pPr/>
              <a:t>6/6/2024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A4BC5-AE2A-401E-9EDD-DF8812A14A6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33897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l="75000" t="84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9FE058-E24E-44D4-8AE6-4ED6084A3F18}" type="datetime1">
              <a:rPr lang="en-US" smtClean="0"/>
              <a:pPr/>
              <a:t>6/6/2024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CA4BC5-AE2A-401E-9EDD-DF8812A14A6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0681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wmf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wm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gif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wmf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wmf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wmf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wmf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emf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Distributed Databases and </a:t>
            </a:r>
            <a:r>
              <a:rPr lang="en-US" dirty="0" err="1"/>
              <a:t>NoSQL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1266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80C374-5A58-3435-AC16-CE64CF1C14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9D6136-36A4-9284-6384-A4C5DBCCBF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8138FE1-6FC7-5B74-E9AD-9B41198B62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371" y="705411"/>
            <a:ext cx="7391400" cy="3295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30318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B185EF-0D56-206D-5068-9962D6F91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07BCD4-EB44-8B55-8308-9B42BA64AC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566E522-473C-C5B3-FEB1-EF8BFA5968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003" y="533400"/>
            <a:ext cx="5167313" cy="3301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89953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2C8F9D-82F7-46FC-7DBB-C6C4695153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D787B1-DA1F-FAF9-BF92-D415EDAF64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B1C592-3A91-19DD-A5D9-E1E7B081FE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55" y="681037"/>
            <a:ext cx="7939741" cy="4131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83421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FCE1C-5201-727E-19D0-6BE37F7A7C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4B503-4A9C-3695-B0EC-561FCD7F0F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E1B61B2-F24B-1BE4-6C48-8622A09F8D3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3566"/>
          <a:stretch/>
        </p:blipFill>
        <p:spPr>
          <a:xfrm>
            <a:off x="381000" y="533400"/>
            <a:ext cx="8571743" cy="472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25313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D838A-40C4-AB7C-75D2-F6A6DAC57E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3DEE42-4C64-D677-1343-B3B89C5F51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CB89B78-04B1-08F8-AD97-2AB0C754DEC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4206"/>
          <a:stretch/>
        </p:blipFill>
        <p:spPr>
          <a:xfrm>
            <a:off x="490433" y="811428"/>
            <a:ext cx="8621669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21971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1143000"/>
          </a:xfrm>
        </p:spPr>
        <p:txBody>
          <a:bodyPr/>
          <a:lstStyle/>
          <a:p>
            <a:r>
              <a:rPr lang="en-US" dirty="0"/>
              <a:t>Types of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24000"/>
            <a:ext cx="8458200" cy="5257800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§"/>
            </a:pPr>
            <a:r>
              <a:rPr lang="en-US" sz="2800" dirty="0"/>
              <a:t>Data can be broadly classified into four types: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sz="2600" dirty="0">
                <a:solidFill>
                  <a:srgbClr val="00B0F0"/>
                </a:solidFill>
              </a:rPr>
              <a:t>Structured Data: </a:t>
            </a:r>
          </a:p>
          <a:p>
            <a:pPr lvl="2">
              <a:buFont typeface="Wingdings" pitchFamily="2" charset="2"/>
              <a:buChar char="§"/>
            </a:pPr>
            <a:r>
              <a:rPr lang="en-US" dirty="0"/>
              <a:t>Have a predefined model, which organizes data into a form that is relatively easy to store, process, retrieve </a:t>
            </a:r>
            <a:br>
              <a:rPr lang="en-US" dirty="0"/>
            </a:br>
            <a:r>
              <a:rPr lang="en-US" dirty="0"/>
              <a:t>and manage</a:t>
            </a:r>
          </a:p>
          <a:p>
            <a:pPr lvl="2">
              <a:buFont typeface="Wingdings" pitchFamily="2" charset="2"/>
              <a:buChar char="§"/>
            </a:pPr>
            <a:r>
              <a:rPr lang="en-US" dirty="0"/>
              <a:t>E.g., relational data</a:t>
            </a:r>
          </a:p>
          <a:p>
            <a:pPr lvl="2">
              <a:buFont typeface="Wingdings" pitchFamily="2" charset="2"/>
              <a:buChar char="§"/>
            </a:pPr>
            <a:endParaRPr lang="en-US" sz="1800" dirty="0"/>
          </a:p>
          <a:p>
            <a:pPr marL="971550" lvl="1" indent="-514350">
              <a:buFont typeface="+mj-lt"/>
              <a:buAutoNum type="arabicPeriod"/>
            </a:pPr>
            <a:r>
              <a:rPr lang="en-US" sz="2600" dirty="0">
                <a:solidFill>
                  <a:srgbClr val="00B0F0"/>
                </a:solidFill>
              </a:rPr>
              <a:t>Unstructured Data:</a:t>
            </a:r>
          </a:p>
          <a:p>
            <a:pPr lvl="2">
              <a:buFont typeface="Wingdings" pitchFamily="2" charset="2"/>
              <a:buChar char="§"/>
            </a:pPr>
            <a:r>
              <a:rPr lang="en-US" dirty="0"/>
              <a:t>Opposite of structured data</a:t>
            </a:r>
          </a:p>
          <a:p>
            <a:pPr lvl="2">
              <a:buFont typeface="Wingdings" pitchFamily="2" charset="2"/>
              <a:buChar char="§"/>
            </a:pPr>
            <a:r>
              <a:rPr lang="en-US" dirty="0"/>
              <a:t>E.g., Flat binary files containing text, video or audio</a:t>
            </a:r>
          </a:p>
          <a:p>
            <a:pPr lvl="2">
              <a:buFont typeface="Wingdings" pitchFamily="2" charset="2"/>
              <a:buChar char="§"/>
            </a:pPr>
            <a:r>
              <a:rPr lang="en-US" u="sng" dirty="0"/>
              <a:t>Note</a:t>
            </a:r>
            <a:r>
              <a:rPr lang="en-US" dirty="0"/>
              <a:t>: data is not completely devoid of a structure (e.g., an audio file may still have an encoding structure and some metadata associated with it)</a:t>
            </a:r>
          </a:p>
          <a:p>
            <a:pPr lvl="2">
              <a:buFont typeface="Wingdings" pitchFamily="2" charset="2"/>
              <a:buChar char="§"/>
            </a:pPr>
            <a:endParaRPr lang="en-US" sz="1800" dirty="0"/>
          </a:p>
          <a:p>
            <a:pPr lvl="1">
              <a:buFont typeface="Wingdings" pitchFamily="2" charset="2"/>
              <a:buChar char="§"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8630188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1143000"/>
          </a:xfrm>
        </p:spPr>
        <p:txBody>
          <a:bodyPr/>
          <a:lstStyle/>
          <a:p>
            <a:r>
              <a:rPr lang="en-US" dirty="0"/>
              <a:t>Types of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24000"/>
            <a:ext cx="8458200" cy="5257800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§"/>
            </a:pPr>
            <a:r>
              <a:rPr lang="en-US" sz="2800" dirty="0"/>
              <a:t>Data can be broadly classified into four types:</a:t>
            </a:r>
          </a:p>
          <a:p>
            <a:pPr marL="971550" lvl="1" indent="-514350">
              <a:buFont typeface="+mj-lt"/>
              <a:buAutoNum type="arabicPeriod" startAt="3"/>
            </a:pPr>
            <a:r>
              <a:rPr lang="en-US" sz="2600" dirty="0">
                <a:solidFill>
                  <a:srgbClr val="00B0F0"/>
                </a:solidFill>
              </a:rPr>
              <a:t>Dynamic Data: </a:t>
            </a:r>
          </a:p>
          <a:p>
            <a:pPr lvl="2">
              <a:buFont typeface="Wingdings" pitchFamily="2" charset="2"/>
              <a:buChar char="§"/>
            </a:pPr>
            <a:r>
              <a:rPr lang="en-US" dirty="0"/>
              <a:t>Data that changes relatively frequently</a:t>
            </a:r>
          </a:p>
          <a:p>
            <a:pPr lvl="2">
              <a:buFont typeface="Wingdings" pitchFamily="2" charset="2"/>
              <a:buChar char="§"/>
            </a:pPr>
            <a:r>
              <a:rPr lang="en-US" dirty="0"/>
              <a:t>E.g., office documents and transactional entries in a financial database</a:t>
            </a:r>
          </a:p>
          <a:p>
            <a:pPr lvl="2">
              <a:buFont typeface="Wingdings" pitchFamily="2" charset="2"/>
              <a:buChar char="§"/>
            </a:pPr>
            <a:endParaRPr lang="en-US" sz="1800" dirty="0"/>
          </a:p>
          <a:p>
            <a:pPr marL="971550" lvl="1" indent="-514350">
              <a:buFont typeface="+mj-lt"/>
              <a:buAutoNum type="arabicPeriod" startAt="3"/>
            </a:pPr>
            <a:r>
              <a:rPr lang="en-US" sz="2600" dirty="0">
                <a:solidFill>
                  <a:srgbClr val="00B0F0"/>
                </a:solidFill>
              </a:rPr>
              <a:t>Static Data:</a:t>
            </a:r>
          </a:p>
          <a:p>
            <a:pPr lvl="2">
              <a:buFont typeface="Wingdings" pitchFamily="2" charset="2"/>
              <a:buChar char="§"/>
            </a:pPr>
            <a:r>
              <a:rPr lang="en-US" dirty="0"/>
              <a:t>Opposite of dynamic data</a:t>
            </a:r>
          </a:p>
          <a:p>
            <a:pPr lvl="2">
              <a:buFont typeface="Wingdings" pitchFamily="2" charset="2"/>
              <a:buChar char="§"/>
            </a:pPr>
            <a:r>
              <a:rPr lang="en-US" dirty="0"/>
              <a:t>E.g., Medical imaging data from MRI or CT scans</a:t>
            </a:r>
          </a:p>
          <a:p>
            <a:pPr lvl="2">
              <a:buFont typeface="Wingdings" pitchFamily="2" charset="2"/>
              <a:buChar char="§"/>
            </a:pPr>
            <a:endParaRPr lang="en-US" sz="1800" dirty="0"/>
          </a:p>
          <a:p>
            <a:pPr lvl="1">
              <a:buFont typeface="Wingdings" pitchFamily="2" charset="2"/>
              <a:buChar char="§"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410826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1143000"/>
          </a:xfrm>
        </p:spPr>
        <p:txBody>
          <a:bodyPr/>
          <a:lstStyle/>
          <a:p>
            <a:r>
              <a:rPr lang="en-US" dirty="0"/>
              <a:t>Why Classifying Data?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" y="1524000"/>
            <a:ext cx="8839200" cy="5257800"/>
          </a:xfrm>
        </p:spPr>
        <p:txBody>
          <a:bodyPr>
            <a:normAutofit lnSpcReduction="10000"/>
          </a:bodyPr>
          <a:lstStyle/>
          <a:p>
            <a:pPr>
              <a:buFont typeface="Wingdings" pitchFamily="2" charset="2"/>
              <a:buChar char="§"/>
            </a:pPr>
            <a:r>
              <a:rPr lang="en-US" sz="2600" dirty="0"/>
              <a:t>Segmenting data into one of the following 4 quadrants can help in designing and developing a pertaining storage solution </a:t>
            </a:r>
          </a:p>
          <a:p>
            <a:pPr>
              <a:buFont typeface="Wingdings" pitchFamily="2" charset="2"/>
              <a:buChar char="§"/>
            </a:pPr>
            <a:endParaRPr lang="en-US" sz="2800" dirty="0"/>
          </a:p>
          <a:p>
            <a:pPr>
              <a:buFont typeface="Wingdings" pitchFamily="2" charset="2"/>
              <a:buChar char="§"/>
            </a:pPr>
            <a:endParaRPr lang="en-US" sz="2800" dirty="0"/>
          </a:p>
          <a:p>
            <a:pPr>
              <a:buFont typeface="Wingdings" pitchFamily="2" charset="2"/>
              <a:buChar char="§"/>
            </a:pPr>
            <a:endParaRPr lang="en-US" sz="2800" dirty="0"/>
          </a:p>
          <a:p>
            <a:pPr>
              <a:buFont typeface="Wingdings" pitchFamily="2" charset="2"/>
              <a:buChar char="§"/>
            </a:pPr>
            <a:endParaRPr lang="en-US" sz="2800" dirty="0"/>
          </a:p>
          <a:p>
            <a:pPr>
              <a:buFont typeface="Wingdings" pitchFamily="2" charset="2"/>
              <a:buChar char="§"/>
            </a:pPr>
            <a:endParaRPr lang="en-US" sz="2800" dirty="0"/>
          </a:p>
          <a:p>
            <a:pPr>
              <a:buFont typeface="Wingdings" pitchFamily="2" charset="2"/>
              <a:buChar char="§"/>
            </a:pPr>
            <a:endParaRPr lang="en-US" sz="2800" dirty="0"/>
          </a:p>
          <a:p>
            <a:pPr>
              <a:buFont typeface="Wingdings" pitchFamily="2" charset="2"/>
              <a:buChar char="§"/>
            </a:pPr>
            <a:r>
              <a:rPr lang="en-US" sz="2600" dirty="0"/>
              <a:t>Relational databases are usually used for structured data</a:t>
            </a:r>
          </a:p>
          <a:p>
            <a:pPr>
              <a:buFont typeface="Wingdings" pitchFamily="2" charset="2"/>
              <a:buChar char="§"/>
            </a:pPr>
            <a:endParaRPr lang="en-US" sz="2600" dirty="0"/>
          </a:p>
          <a:p>
            <a:pPr>
              <a:buFont typeface="Wingdings" pitchFamily="2" charset="2"/>
              <a:buChar char="§"/>
            </a:pPr>
            <a:r>
              <a:rPr lang="en-US" sz="2600" dirty="0"/>
              <a:t>File systems or </a:t>
            </a:r>
            <a:r>
              <a:rPr lang="en-US" sz="2600" i="1" dirty="0">
                <a:solidFill>
                  <a:srgbClr val="00B0F0"/>
                </a:solidFill>
              </a:rPr>
              <a:t>NoSQL databases</a:t>
            </a:r>
            <a:r>
              <a:rPr lang="en-US" sz="2600" dirty="0">
                <a:solidFill>
                  <a:srgbClr val="00B0F0"/>
                </a:solidFill>
              </a:rPr>
              <a:t> </a:t>
            </a:r>
            <a:r>
              <a:rPr lang="en-US" sz="2600" dirty="0"/>
              <a:t>can be used for (static), unstructured data (</a:t>
            </a:r>
            <a:r>
              <a:rPr lang="en-US" sz="2600" i="1" dirty="0"/>
              <a:t>more on these later</a:t>
            </a:r>
            <a:r>
              <a:rPr lang="en-US" sz="2600" dirty="0"/>
              <a:t>)</a:t>
            </a:r>
          </a:p>
          <a:p>
            <a:pPr lvl="2">
              <a:buFont typeface="Wingdings" pitchFamily="2" charset="2"/>
              <a:buChar char="§"/>
            </a:pPr>
            <a:endParaRPr lang="en-US" sz="1800" dirty="0"/>
          </a:p>
          <a:p>
            <a:pPr lvl="1">
              <a:buFont typeface="Wingdings" pitchFamily="2" charset="2"/>
              <a:buChar char="§"/>
            </a:pPr>
            <a:endParaRPr lang="en-US" sz="1800" dirty="0"/>
          </a:p>
        </p:txBody>
      </p:sp>
      <p:sp>
        <p:nvSpPr>
          <p:cNvPr id="4" name="Rectangle 3"/>
          <p:cNvSpPr/>
          <p:nvPr/>
        </p:nvSpPr>
        <p:spPr>
          <a:xfrm>
            <a:off x="2133600" y="2719864"/>
            <a:ext cx="2667000" cy="942945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Media Production, </a:t>
            </a:r>
            <a:r>
              <a:rPr lang="en-US" dirty="0" err="1"/>
              <a:t>eCAD</a:t>
            </a:r>
            <a:r>
              <a:rPr lang="en-US" dirty="0"/>
              <a:t>, </a:t>
            </a:r>
            <a:r>
              <a:rPr lang="en-US" dirty="0" err="1"/>
              <a:t>mCAD</a:t>
            </a:r>
            <a:r>
              <a:rPr lang="en-US" dirty="0"/>
              <a:t>, Office Docs</a:t>
            </a:r>
          </a:p>
        </p:txBody>
      </p:sp>
      <p:sp>
        <p:nvSpPr>
          <p:cNvPr id="5" name="Rectangle 4"/>
          <p:cNvSpPr/>
          <p:nvPr/>
        </p:nvSpPr>
        <p:spPr>
          <a:xfrm>
            <a:off x="4953000" y="2719864"/>
            <a:ext cx="2667000" cy="942945"/>
          </a:xfrm>
          <a:prstGeom prst="rect">
            <a:avLst/>
          </a:prstGeom>
          <a:solidFill>
            <a:srgbClr val="0070C0"/>
          </a:solidFill>
          <a:ln>
            <a:solidFill>
              <a:srgbClr val="0070C0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Media Archive, Broadcast, Medical Imaging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2133600" y="3786664"/>
            <a:ext cx="2667000" cy="942945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Transaction Systems, ERP, CRM</a:t>
            </a:r>
          </a:p>
        </p:txBody>
      </p:sp>
      <p:sp>
        <p:nvSpPr>
          <p:cNvPr id="7" name="Rectangle 6"/>
          <p:cNvSpPr/>
          <p:nvPr/>
        </p:nvSpPr>
        <p:spPr>
          <a:xfrm>
            <a:off x="4953000" y="3770253"/>
            <a:ext cx="2667000" cy="935111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BI, Data Warehousing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56255" y="2333655"/>
            <a:ext cx="10166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Dynamic</a:t>
            </a:r>
          </a:p>
        </p:txBody>
      </p:sp>
      <p:sp>
        <p:nvSpPr>
          <p:cNvPr id="9" name="TextBox 8"/>
          <p:cNvSpPr txBox="1"/>
          <p:nvPr/>
        </p:nvSpPr>
        <p:spPr>
          <a:xfrm rot="16200000">
            <a:off x="1159142" y="2962363"/>
            <a:ext cx="14507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Unstructured</a:t>
            </a:r>
          </a:p>
        </p:txBody>
      </p:sp>
      <p:sp>
        <p:nvSpPr>
          <p:cNvPr id="10" name="TextBox 9"/>
          <p:cNvSpPr txBox="1"/>
          <p:nvPr/>
        </p:nvSpPr>
        <p:spPr>
          <a:xfrm rot="16200000">
            <a:off x="1281176" y="4153555"/>
            <a:ext cx="11968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Structured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20154" y="2286000"/>
            <a:ext cx="7157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Static</a:t>
            </a:r>
          </a:p>
        </p:txBody>
      </p:sp>
    </p:spTree>
    <p:extLst>
      <p:ext uri="{BB962C8B-B14F-4D97-AF65-F5344CB8AC3E}">
        <p14:creationId xmlns:p14="http://schemas.microsoft.com/office/powerpoint/2010/main" val="1094800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/>
      <p:bldP spid="9" grpId="0"/>
      <p:bldP spid="10" grpId="0"/>
      <p:bldP spid="1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1143000"/>
          </a:xfrm>
        </p:spPr>
        <p:txBody>
          <a:bodyPr/>
          <a:lstStyle/>
          <a:p>
            <a:r>
              <a:rPr lang="en-US" dirty="0"/>
              <a:t>Scaling Traditional Databases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24000"/>
            <a:ext cx="8458200" cy="5257800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§"/>
            </a:pPr>
            <a:r>
              <a:rPr lang="en-US" sz="2800" dirty="0"/>
              <a:t>Traditional RDBMSs can be either scaled:</a:t>
            </a:r>
          </a:p>
          <a:p>
            <a:pPr lvl="1">
              <a:buFont typeface="Wingdings" pitchFamily="2" charset="2"/>
              <a:buChar char="§"/>
            </a:pPr>
            <a:r>
              <a:rPr lang="en-US" sz="2600" dirty="0">
                <a:solidFill>
                  <a:srgbClr val="C00000"/>
                </a:solidFill>
              </a:rPr>
              <a:t>Vertically</a:t>
            </a:r>
            <a:r>
              <a:rPr lang="en-US" sz="2600" dirty="0"/>
              <a:t> (or </a:t>
            </a:r>
            <a:r>
              <a:rPr lang="en-US" sz="2600" dirty="0">
                <a:solidFill>
                  <a:srgbClr val="C00000"/>
                </a:solidFill>
              </a:rPr>
              <a:t>Up</a:t>
            </a:r>
            <a:r>
              <a:rPr lang="en-US" sz="2600" dirty="0"/>
              <a:t>)</a:t>
            </a:r>
          </a:p>
          <a:p>
            <a:pPr lvl="2">
              <a:buFont typeface="Wingdings" pitchFamily="2" charset="2"/>
              <a:buChar char="§"/>
            </a:pPr>
            <a:r>
              <a:rPr lang="en-US" dirty="0"/>
              <a:t>Can be achieved by hardware upgrades (e.g., faster CPU, more memory, or larger disk)</a:t>
            </a:r>
          </a:p>
          <a:p>
            <a:pPr lvl="2">
              <a:buFont typeface="Wingdings" pitchFamily="2" charset="2"/>
              <a:buChar char="§"/>
            </a:pPr>
            <a:r>
              <a:rPr lang="en-US" dirty="0"/>
              <a:t>Limited by the amount of CPU, RAM and disk that can be configured on a single machine</a:t>
            </a:r>
          </a:p>
          <a:p>
            <a:pPr lvl="2">
              <a:buFont typeface="Wingdings" pitchFamily="2" charset="2"/>
              <a:buChar char="§"/>
            </a:pPr>
            <a:endParaRPr lang="en-US" dirty="0"/>
          </a:p>
          <a:p>
            <a:pPr lvl="1">
              <a:buFont typeface="Wingdings" pitchFamily="2" charset="2"/>
              <a:buChar char="§"/>
            </a:pPr>
            <a:r>
              <a:rPr lang="en-US" sz="2600" dirty="0">
                <a:solidFill>
                  <a:srgbClr val="C00000"/>
                </a:solidFill>
              </a:rPr>
              <a:t>Horizontally</a:t>
            </a:r>
            <a:r>
              <a:rPr lang="en-US" sz="2600" dirty="0"/>
              <a:t> (or </a:t>
            </a:r>
            <a:r>
              <a:rPr lang="en-US" sz="2600" dirty="0">
                <a:solidFill>
                  <a:srgbClr val="C00000"/>
                </a:solidFill>
              </a:rPr>
              <a:t>Out</a:t>
            </a:r>
            <a:r>
              <a:rPr lang="en-US" sz="2600" dirty="0"/>
              <a:t>)</a:t>
            </a:r>
          </a:p>
          <a:p>
            <a:pPr lvl="2">
              <a:buFont typeface="Wingdings" pitchFamily="2" charset="2"/>
              <a:buChar char="§"/>
            </a:pPr>
            <a:r>
              <a:rPr lang="en-US" dirty="0"/>
              <a:t>Can be achieved by adding more machines</a:t>
            </a:r>
          </a:p>
          <a:p>
            <a:pPr lvl="2">
              <a:buFont typeface="Wingdings" pitchFamily="2" charset="2"/>
              <a:buChar char="§"/>
            </a:pPr>
            <a:r>
              <a:rPr lang="en-US" dirty="0"/>
              <a:t>Requires database </a:t>
            </a:r>
            <a:r>
              <a:rPr lang="en-US" i="1" dirty="0">
                <a:solidFill>
                  <a:srgbClr val="0070C0"/>
                </a:solidFill>
              </a:rPr>
              <a:t>sharding</a:t>
            </a:r>
            <a:r>
              <a:rPr lang="en-US" dirty="0"/>
              <a:t> and probably </a:t>
            </a:r>
            <a:r>
              <a:rPr lang="en-US" i="1" dirty="0">
                <a:solidFill>
                  <a:srgbClr val="0070C0"/>
                </a:solidFill>
              </a:rPr>
              <a:t>replication</a:t>
            </a:r>
          </a:p>
          <a:p>
            <a:pPr lvl="2">
              <a:buFont typeface="Wingdings" pitchFamily="2" charset="2"/>
              <a:buChar char="§"/>
            </a:pPr>
            <a:r>
              <a:rPr lang="en-US" dirty="0"/>
              <a:t>Limited by the Read-to-Write ratio and communication overhead</a:t>
            </a:r>
          </a:p>
          <a:p>
            <a:pPr lvl="1">
              <a:buFont typeface="Wingdings" pitchFamily="2" charset="2"/>
              <a:buChar char="§"/>
            </a:pPr>
            <a:endParaRPr lang="en-US" dirty="0"/>
          </a:p>
          <a:p>
            <a:pPr lvl="2">
              <a:buFont typeface="Wingdings" pitchFamily="2" charset="2"/>
              <a:buChar char="§"/>
            </a:pPr>
            <a:endParaRPr lang="en-US" sz="1800" dirty="0"/>
          </a:p>
          <a:p>
            <a:pPr lvl="1">
              <a:buFont typeface="Wingdings" pitchFamily="2" charset="2"/>
              <a:buChar char="§"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330743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C1E1D-E63C-ACD7-9FED-541CA7A83F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8CDCFB-D907-667D-F67A-DA7DC52119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F4D957-9FA9-BCD7-2D02-3563869371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1037"/>
            <a:ext cx="8229600" cy="4455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78079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1143000"/>
          </a:xfrm>
        </p:spPr>
        <p:txBody>
          <a:bodyPr/>
          <a:lstStyle/>
          <a:p>
            <a:r>
              <a:rPr lang="en-US" dirty="0"/>
              <a:t>Why Sharding Data?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24000"/>
            <a:ext cx="8458200" cy="5257800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§"/>
            </a:pPr>
            <a:r>
              <a:rPr lang="en-US" sz="2800" dirty="0"/>
              <a:t>Data is typically </a:t>
            </a:r>
            <a:r>
              <a:rPr lang="en-US" sz="2800" i="1" dirty="0"/>
              <a:t>sharded</a:t>
            </a:r>
            <a:r>
              <a:rPr lang="en-US" sz="2800" dirty="0"/>
              <a:t> (or </a:t>
            </a:r>
            <a:r>
              <a:rPr lang="en-US" sz="2800" i="1" dirty="0"/>
              <a:t>striped</a:t>
            </a:r>
            <a:r>
              <a:rPr lang="en-US" sz="2800" dirty="0"/>
              <a:t>) to allow for concurrent/parallel </a:t>
            </a:r>
            <a:r>
              <a:rPr lang="en-US" sz="2800" dirty="0" smtClean="0"/>
              <a:t>accesses(Fragmentation)</a:t>
            </a:r>
            <a:endParaRPr lang="en-US" dirty="0"/>
          </a:p>
          <a:p>
            <a:pPr lvl="1">
              <a:buFont typeface="Wingdings" pitchFamily="2" charset="2"/>
              <a:buChar char="§"/>
            </a:pPr>
            <a:endParaRPr lang="en-US" dirty="0"/>
          </a:p>
          <a:p>
            <a:pPr lvl="2">
              <a:buFont typeface="Wingdings" pitchFamily="2" charset="2"/>
              <a:buChar char="§"/>
            </a:pPr>
            <a:endParaRPr lang="en-US" sz="1800" dirty="0"/>
          </a:p>
          <a:p>
            <a:pPr lvl="1">
              <a:buFont typeface="Wingdings" pitchFamily="2" charset="2"/>
              <a:buChar char="§"/>
            </a:pPr>
            <a:endParaRPr lang="en-US" sz="1800" dirty="0"/>
          </a:p>
        </p:txBody>
      </p:sp>
      <p:sp>
        <p:nvSpPr>
          <p:cNvPr id="4" name="Rectangle 3"/>
          <p:cNvSpPr/>
          <p:nvPr/>
        </p:nvSpPr>
        <p:spPr>
          <a:xfrm>
            <a:off x="2895600" y="2895600"/>
            <a:ext cx="3048000" cy="457200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/>
              <a:t>Input data: A large file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1295400" y="3733800"/>
            <a:ext cx="1447800" cy="9144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algn="ctr">
              <a:defRPr/>
            </a:pPr>
            <a:r>
              <a:rPr lang="en-US" sz="1400" dirty="0"/>
              <a:t>Machine 1</a:t>
            </a:r>
          </a:p>
          <a:p>
            <a:pPr algn="ctr">
              <a:defRPr/>
            </a:pPr>
            <a:endParaRPr lang="en-US" sz="1200" dirty="0"/>
          </a:p>
        </p:txBody>
      </p:sp>
      <p:sp>
        <p:nvSpPr>
          <p:cNvPr id="6" name="Rounded Rectangle 5"/>
          <p:cNvSpPr/>
          <p:nvPr/>
        </p:nvSpPr>
        <p:spPr>
          <a:xfrm>
            <a:off x="1323975" y="3990975"/>
            <a:ext cx="1371600" cy="304800"/>
          </a:xfrm>
          <a:prstGeom prst="round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anchor="ctr"/>
          <a:lstStyle/>
          <a:p>
            <a:pPr algn="ctr">
              <a:defRPr/>
            </a:pPr>
            <a:r>
              <a:rPr lang="en-US" sz="1100" dirty="0"/>
              <a:t>Chunk1 of input data</a:t>
            </a:r>
          </a:p>
        </p:txBody>
      </p:sp>
      <p:sp>
        <p:nvSpPr>
          <p:cNvPr id="7" name="Down Arrow 6"/>
          <p:cNvSpPr/>
          <p:nvPr/>
        </p:nvSpPr>
        <p:spPr>
          <a:xfrm>
            <a:off x="1752600" y="3200400"/>
            <a:ext cx="533400" cy="457200"/>
          </a:xfrm>
          <a:prstGeom prst="down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885950" y="3048000"/>
            <a:ext cx="1009650" cy="157163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9" name="Down Arrow 8"/>
          <p:cNvSpPr/>
          <p:nvPr/>
        </p:nvSpPr>
        <p:spPr>
          <a:xfrm>
            <a:off x="6553200" y="3200400"/>
            <a:ext cx="533400" cy="457200"/>
          </a:xfrm>
          <a:prstGeom prst="down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5943600" y="3048000"/>
            <a:ext cx="1009650" cy="157163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3657600" y="3733800"/>
            <a:ext cx="1447800" cy="9144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algn="ctr">
              <a:defRPr/>
            </a:pPr>
            <a:r>
              <a:rPr lang="en-US" sz="1400" dirty="0"/>
              <a:t>Machine 2</a:t>
            </a:r>
          </a:p>
          <a:p>
            <a:pPr algn="ctr">
              <a:defRPr/>
            </a:pPr>
            <a:endParaRPr lang="en-US" sz="1200" dirty="0"/>
          </a:p>
        </p:txBody>
      </p:sp>
      <p:sp>
        <p:nvSpPr>
          <p:cNvPr id="12" name="Rounded Rectangle 11"/>
          <p:cNvSpPr/>
          <p:nvPr/>
        </p:nvSpPr>
        <p:spPr>
          <a:xfrm>
            <a:off x="3695700" y="3990975"/>
            <a:ext cx="1371600" cy="304800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anchor="ctr"/>
          <a:lstStyle/>
          <a:p>
            <a:pPr algn="ctr">
              <a:defRPr/>
            </a:pPr>
            <a:r>
              <a:rPr lang="en-US" sz="1100" dirty="0"/>
              <a:t>Chunk3 of input data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0" y="3733800"/>
            <a:ext cx="1447800" cy="9144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algn="ctr">
              <a:defRPr/>
            </a:pPr>
            <a:r>
              <a:rPr lang="en-US" sz="1400" dirty="0"/>
              <a:t>Machine 3</a:t>
            </a:r>
          </a:p>
          <a:p>
            <a:pPr algn="ctr">
              <a:defRPr/>
            </a:pPr>
            <a:endParaRPr lang="en-US" sz="1200" dirty="0"/>
          </a:p>
        </p:txBody>
      </p:sp>
      <p:sp>
        <p:nvSpPr>
          <p:cNvPr id="14" name="Rounded Rectangle 13"/>
          <p:cNvSpPr/>
          <p:nvPr/>
        </p:nvSpPr>
        <p:spPr>
          <a:xfrm>
            <a:off x="6134100" y="3990975"/>
            <a:ext cx="1371600" cy="304800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anchor="ctr"/>
          <a:lstStyle/>
          <a:p>
            <a:pPr algn="ctr">
              <a:defRPr/>
            </a:pPr>
            <a:r>
              <a:rPr lang="en-US" sz="1100" dirty="0"/>
              <a:t>Chunk5 of input data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4114800" y="3352800"/>
            <a:ext cx="533400" cy="304800"/>
          </a:xfrm>
          <a:prstGeom prst="down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16" name="Rounded Rectangle 15"/>
          <p:cNvSpPr/>
          <p:nvPr/>
        </p:nvSpPr>
        <p:spPr>
          <a:xfrm>
            <a:off x="1325563" y="4324350"/>
            <a:ext cx="1371600" cy="304800"/>
          </a:xfrm>
          <a:prstGeom prst="round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anchor="ctr"/>
          <a:lstStyle/>
          <a:p>
            <a:pPr algn="ctr">
              <a:defRPr/>
            </a:pPr>
            <a:r>
              <a:rPr lang="en-US" sz="1100" dirty="0"/>
              <a:t>Chunk2 of input data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97288" y="4324350"/>
            <a:ext cx="1371600" cy="304800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anchor="ctr"/>
          <a:lstStyle/>
          <a:p>
            <a:pPr algn="ctr">
              <a:defRPr/>
            </a:pPr>
            <a:r>
              <a:rPr lang="en-US" sz="1100" dirty="0"/>
              <a:t>Chunk4 of input data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35688" y="4324350"/>
            <a:ext cx="1371600" cy="304800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anchor="ctr"/>
          <a:lstStyle/>
          <a:p>
            <a:pPr algn="ctr">
              <a:defRPr/>
            </a:pPr>
            <a:r>
              <a:rPr lang="en-US" sz="1100" dirty="0"/>
              <a:t>Chunk5 of input data</a:t>
            </a:r>
          </a:p>
        </p:txBody>
      </p:sp>
      <p:cxnSp>
        <p:nvCxnSpPr>
          <p:cNvPr id="20" name="Straight Arrow Connector 19"/>
          <p:cNvCxnSpPr/>
          <p:nvPr/>
        </p:nvCxnSpPr>
        <p:spPr>
          <a:xfrm flipV="1">
            <a:off x="2009775" y="4648200"/>
            <a:ext cx="0" cy="533400"/>
          </a:xfrm>
          <a:prstGeom prst="straightConnector1">
            <a:avLst/>
          </a:prstGeom>
          <a:ln w="60325">
            <a:solidFill>
              <a:srgbClr val="0070C0"/>
            </a:solidFill>
            <a:prstDash val="soli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>
            <a:off x="2009775" y="5181600"/>
            <a:ext cx="4826476" cy="0"/>
          </a:xfrm>
          <a:prstGeom prst="line">
            <a:avLst/>
          </a:prstGeom>
          <a:ln w="60325">
            <a:solidFill>
              <a:srgbClr val="0070C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endCxn id="17" idx="2"/>
          </p:cNvCxnSpPr>
          <p:nvPr/>
        </p:nvCxnSpPr>
        <p:spPr>
          <a:xfrm flipV="1">
            <a:off x="4383088" y="4629150"/>
            <a:ext cx="0" cy="552450"/>
          </a:xfrm>
          <a:prstGeom prst="straightConnector1">
            <a:avLst/>
          </a:prstGeom>
          <a:ln w="60325">
            <a:solidFill>
              <a:srgbClr val="0070C0"/>
            </a:solidFill>
            <a:prstDash val="soli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/>
          <p:cNvCxnSpPr/>
          <p:nvPr/>
        </p:nvCxnSpPr>
        <p:spPr>
          <a:xfrm flipV="1">
            <a:off x="6836251" y="4629150"/>
            <a:ext cx="0" cy="552450"/>
          </a:xfrm>
          <a:prstGeom prst="straightConnector1">
            <a:avLst/>
          </a:prstGeom>
          <a:ln w="60325">
            <a:solidFill>
              <a:srgbClr val="0070C0"/>
            </a:solidFill>
            <a:prstDash val="soli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1219200" y="5345668"/>
            <a:ext cx="63494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0070C0"/>
                </a:solidFill>
              </a:rPr>
              <a:t>E.g., Chunks 1, 3 and 5 can be accessed in parallel</a:t>
            </a:r>
          </a:p>
        </p:txBody>
      </p:sp>
    </p:spTree>
    <p:extLst>
      <p:ext uri="{BB962C8B-B14F-4D97-AF65-F5344CB8AC3E}">
        <p14:creationId xmlns:p14="http://schemas.microsoft.com/office/powerpoint/2010/main" val="29021109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9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1143000"/>
          </a:xfrm>
        </p:spPr>
        <p:txBody>
          <a:bodyPr/>
          <a:lstStyle/>
          <a:p>
            <a:r>
              <a:rPr lang="en-US" dirty="0"/>
              <a:t>Why Replicating Data?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24000"/>
            <a:ext cx="8458200" cy="5257800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§"/>
            </a:pPr>
            <a:r>
              <a:rPr lang="en-US" sz="2800" dirty="0"/>
              <a:t>Replicating data across servers helps in: </a:t>
            </a:r>
          </a:p>
          <a:p>
            <a:pPr lvl="1">
              <a:buFont typeface="Wingdings" pitchFamily="2" charset="2"/>
              <a:buChar char="§"/>
            </a:pPr>
            <a:r>
              <a:rPr lang="en-US" sz="2400" dirty="0"/>
              <a:t>Avoiding performance bottlenecks</a:t>
            </a:r>
          </a:p>
          <a:p>
            <a:pPr lvl="1">
              <a:buFont typeface="Wingdings" pitchFamily="2" charset="2"/>
              <a:buChar char="§"/>
            </a:pPr>
            <a:r>
              <a:rPr lang="en-US" sz="2400" dirty="0"/>
              <a:t>Avoiding single point of failures</a:t>
            </a:r>
          </a:p>
          <a:p>
            <a:pPr lvl="1">
              <a:buFont typeface="Wingdings" pitchFamily="2" charset="2"/>
              <a:buChar char="§"/>
            </a:pPr>
            <a:r>
              <a:rPr lang="en-US" sz="2400" dirty="0"/>
              <a:t>And, hence, enhancing scalability and availability</a:t>
            </a:r>
            <a:endParaRPr lang="en-US" dirty="0"/>
          </a:p>
          <a:p>
            <a:pPr lvl="1">
              <a:buFont typeface="Wingdings" pitchFamily="2" charset="2"/>
              <a:buChar char="§"/>
            </a:pPr>
            <a:endParaRPr lang="en-US" dirty="0"/>
          </a:p>
          <a:p>
            <a:pPr lvl="2">
              <a:buFont typeface="Wingdings" pitchFamily="2" charset="2"/>
              <a:buChar char="§"/>
            </a:pPr>
            <a:endParaRPr lang="en-US" sz="1800" dirty="0"/>
          </a:p>
          <a:p>
            <a:pPr lvl="1">
              <a:buFont typeface="Wingdings" pitchFamily="2" charset="2"/>
              <a:buChar char="§"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4076503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1143000"/>
          </a:xfrm>
        </p:spPr>
        <p:txBody>
          <a:bodyPr/>
          <a:lstStyle/>
          <a:p>
            <a:r>
              <a:rPr lang="en-US" dirty="0"/>
              <a:t>Why Replicating Data?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24000"/>
            <a:ext cx="8458200" cy="5257800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§"/>
            </a:pPr>
            <a:r>
              <a:rPr lang="en-US" sz="2800" dirty="0"/>
              <a:t>Replicating data across servers helps in: </a:t>
            </a:r>
          </a:p>
          <a:p>
            <a:pPr lvl="1">
              <a:buFont typeface="Wingdings" pitchFamily="2" charset="2"/>
              <a:buChar char="§"/>
            </a:pPr>
            <a:r>
              <a:rPr lang="en-US" sz="2400" dirty="0"/>
              <a:t>Avoiding performance bottlenecks</a:t>
            </a:r>
          </a:p>
          <a:p>
            <a:pPr lvl="1">
              <a:buFont typeface="Wingdings" pitchFamily="2" charset="2"/>
              <a:buChar char="§"/>
            </a:pPr>
            <a:r>
              <a:rPr lang="en-US" sz="2400" dirty="0"/>
              <a:t>Avoiding single point of failures</a:t>
            </a:r>
          </a:p>
          <a:p>
            <a:pPr lvl="1">
              <a:buFont typeface="Wingdings" pitchFamily="2" charset="2"/>
              <a:buChar char="§"/>
            </a:pPr>
            <a:r>
              <a:rPr lang="en-US" sz="2400" dirty="0"/>
              <a:t>And, hence, enhancing scalability and availability</a:t>
            </a:r>
            <a:endParaRPr lang="en-US" dirty="0"/>
          </a:p>
          <a:p>
            <a:pPr lvl="1">
              <a:buFont typeface="Wingdings" pitchFamily="2" charset="2"/>
              <a:buChar char="§"/>
            </a:pPr>
            <a:endParaRPr lang="en-US" dirty="0"/>
          </a:p>
          <a:p>
            <a:pPr lvl="2">
              <a:buFont typeface="Wingdings" pitchFamily="2" charset="2"/>
              <a:buChar char="§"/>
            </a:pPr>
            <a:endParaRPr lang="en-US" sz="1800" dirty="0"/>
          </a:p>
          <a:p>
            <a:pPr lvl="1">
              <a:buFont typeface="Wingdings" pitchFamily="2" charset="2"/>
              <a:buChar char="§"/>
            </a:pPr>
            <a:endParaRPr lang="en-US" sz="1800" dirty="0"/>
          </a:p>
        </p:txBody>
      </p:sp>
      <p:pic>
        <p:nvPicPr>
          <p:cNvPr id="87" name="Picture 2" descr="http://igcministries.org/images/WorldMap.gif"/>
          <p:cNvPicPr>
            <a:picLocks noChangeAspect="1" noChangeArrowheads="1"/>
          </p:cNvPicPr>
          <p:nvPr/>
        </p:nvPicPr>
        <p:blipFill>
          <a:blip r:embed="rId2" cstate="print">
            <a:duotone>
              <a:schemeClr val="accent3">
                <a:shade val="45000"/>
                <a:satMod val="135000"/>
              </a:schemeClr>
              <a:prstClr val="white"/>
            </a:duotone>
          </a:blip>
          <a:srcRect/>
          <a:stretch>
            <a:fillRect/>
          </a:stretch>
        </p:blipFill>
        <p:spPr bwMode="auto">
          <a:xfrm>
            <a:off x="1689991" y="3429000"/>
            <a:ext cx="5472809" cy="2690026"/>
          </a:xfrm>
          <a:prstGeom prst="rect">
            <a:avLst/>
          </a:prstGeom>
          <a:noFill/>
        </p:spPr>
      </p:pic>
      <p:sp>
        <p:nvSpPr>
          <p:cNvPr id="88" name="Can 87"/>
          <p:cNvSpPr/>
          <p:nvPr/>
        </p:nvSpPr>
        <p:spPr>
          <a:xfrm>
            <a:off x="1981200" y="4191000"/>
            <a:ext cx="228600" cy="152400"/>
          </a:xfrm>
          <a:prstGeom prst="can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89" name="Can 88"/>
          <p:cNvSpPr/>
          <p:nvPr/>
        </p:nvSpPr>
        <p:spPr>
          <a:xfrm>
            <a:off x="2514600" y="4876800"/>
            <a:ext cx="228600" cy="152400"/>
          </a:xfrm>
          <a:prstGeom prst="can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90" name="Can 89"/>
          <p:cNvSpPr/>
          <p:nvPr/>
        </p:nvSpPr>
        <p:spPr>
          <a:xfrm>
            <a:off x="3810000" y="3962400"/>
            <a:ext cx="228600" cy="152400"/>
          </a:xfrm>
          <a:prstGeom prst="can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91" name="Can 90"/>
          <p:cNvSpPr/>
          <p:nvPr/>
        </p:nvSpPr>
        <p:spPr>
          <a:xfrm>
            <a:off x="5257800" y="4572000"/>
            <a:ext cx="228600" cy="152400"/>
          </a:xfrm>
          <a:prstGeom prst="can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92" name="Can 91"/>
          <p:cNvSpPr/>
          <p:nvPr/>
        </p:nvSpPr>
        <p:spPr>
          <a:xfrm>
            <a:off x="5638800" y="4267200"/>
            <a:ext cx="228600" cy="152400"/>
          </a:xfrm>
          <a:prstGeom prst="can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93" name="Can 92"/>
          <p:cNvSpPr/>
          <p:nvPr/>
        </p:nvSpPr>
        <p:spPr>
          <a:xfrm>
            <a:off x="6248400" y="5410200"/>
            <a:ext cx="228600" cy="152400"/>
          </a:xfrm>
          <a:prstGeom prst="can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cxnSp>
        <p:nvCxnSpPr>
          <p:cNvPr id="94" name="Straight Connector 93"/>
          <p:cNvCxnSpPr/>
          <p:nvPr/>
        </p:nvCxnSpPr>
        <p:spPr>
          <a:xfrm>
            <a:off x="2095500" y="4343400"/>
            <a:ext cx="533400" cy="5334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/>
          <p:cNvCxnSpPr/>
          <p:nvPr/>
        </p:nvCxnSpPr>
        <p:spPr>
          <a:xfrm flipV="1">
            <a:off x="2209800" y="4038600"/>
            <a:ext cx="1600200" cy="2286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/>
          <p:cNvCxnSpPr/>
          <p:nvPr/>
        </p:nvCxnSpPr>
        <p:spPr>
          <a:xfrm>
            <a:off x="3924300" y="4114800"/>
            <a:ext cx="1333500" cy="5334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/>
          <p:cNvCxnSpPr/>
          <p:nvPr/>
        </p:nvCxnSpPr>
        <p:spPr>
          <a:xfrm>
            <a:off x="2095500" y="4343400"/>
            <a:ext cx="4152900" cy="11430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/>
          <p:cNvCxnSpPr/>
          <p:nvPr/>
        </p:nvCxnSpPr>
        <p:spPr>
          <a:xfrm flipH="1" flipV="1">
            <a:off x="4038600" y="4038600"/>
            <a:ext cx="1600200" cy="3048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TextBox 16"/>
          <p:cNvSpPr txBox="1">
            <a:spLocks noChangeArrowheads="1"/>
          </p:cNvSpPr>
          <p:nvPr/>
        </p:nvSpPr>
        <p:spPr bwMode="auto">
          <a:xfrm>
            <a:off x="1752600" y="3505200"/>
            <a:ext cx="110490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sz="1200" dirty="0"/>
              <a:t>Main Server</a:t>
            </a:r>
          </a:p>
        </p:txBody>
      </p:sp>
      <p:cxnSp>
        <p:nvCxnSpPr>
          <p:cNvPr id="100" name="Straight Connector 99"/>
          <p:cNvCxnSpPr/>
          <p:nvPr/>
        </p:nvCxnSpPr>
        <p:spPr>
          <a:xfrm>
            <a:off x="2095500" y="3690938"/>
            <a:ext cx="0" cy="500062"/>
          </a:xfrm>
          <a:prstGeom prst="line">
            <a:avLst/>
          </a:prstGeom>
          <a:ln w="6350">
            <a:solidFill>
              <a:schemeClr val="tx1"/>
            </a:solidFill>
            <a:prstDash val="sysDot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/>
          <p:nvPr/>
        </p:nvCxnSpPr>
        <p:spPr>
          <a:xfrm flipH="1" flipV="1">
            <a:off x="2628900" y="5029200"/>
            <a:ext cx="1181100" cy="609600"/>
          </a:xfrm>
          <a:prstGeom prst="line">
            <a:avLst/>
          </a:prstGeom>
          <a:ln w="6350">
            <a:solidFill>
              <a:schemeClr val="tx1"/>
            </a:solidFill>
            <a:prstDash val="sysDot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TextBox 19"/>
          <p:cNvSpPr txBox="1">
            <a:spLocks noChangeArrowheads="1"/>
          </p:cNvSpPr>
          <p:nvPr/>
        </p:nvSpPr>
        <p:spPr bwMode="auto">
          <a:xfrm>
            <a:off x="3805238" y="5638800"/>
            <a:ext cx="1566862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sz="1200" dirty="0"/>
              <a:t>Replicated Servers</a:t>
            </a:r>
          </a:p>
        </p:txBody>
      </p:sp>
      <p:cxnSp>
        <p:nvCxnSpPr>
          <p:cNvPr id="103" name="Straight Connector 102"/>
          <p:cNvCxnSpPr/>
          <p:nvPr/>
        </p:nvCxnSpPr>
        <p:spPr>
          <a:xfrm flipV="1">
            <a:off x="5257800" y="5486400"/>
            <a:ext cx="990600" cy="290513"/>
          </a:xfrm>
          <a:prstGeom prst="line">
            <a:avLst/>
          </a:prstGeom>
          <a:ln w="6350">
            <a:solidFill>
              <a:schemeClr val="tx1"/>
            </a:solidFill>
            <a:prstDash val="sysDot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4" name="Picture 2" descr="C:\Users\vkolar\AppData\Local\Microsoft\Windows\Temporary Internet Files\Content.IE5\E2H73JIM\MC900322405[1].wm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489700" y="4953000"/>
            <a:ext cx="377825" cy="419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05" name="Straight Connector 104"/>
          <p:cNvCxnSpPr/>
          <p:nvPr/>
        </p:nvCxnSpPr>
        <p:spPr>
          <a:xfrm flipH="1">
            <a:off x="6489700" y="5372100"/>
            <a:ext cx="188913" cy="114300"/>
          </a:xfrm>
          <a:prstGeom prst="line">
            <a:avLst/>
          </a:prstGeom>
          <a:ln w="28575">
            <a:solidFill>
              <a:srgbClr val="00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6" name="Picture 2" descr="C:\Users\vkolar\AppData\Local\Microsoft\Windows\Temporary Internet Files\Content.IE5\E2H73JIM\MC900322405[1].wm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119563" y="3690938"/>
            <a:ext cx="376237" cy="419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07" name="Straight Connector 106"/>
          <p:cNvCxnSpPr/>
          <p:nvPr/>
        </p:nvCxnSpPr>
        <p:spPr>
          <a:xfrm flipH="1">
            <a:off x="3924300" y="3781425"/>
            <a:ext cx="247650" cy="180975"/>
          </a:xfrm>
          <a:prstGeom prst="line">
            <a:avLst/>
          </a:prstGeom>
          <a:ln w="28575">
            <a:solidFill>
              <a:srgbClr val="00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8" name="Picture 2" descr="C:\Users\vkolar\AppData\Local\Microsoft\Windows\Temporary Internet Files\Content.IE5\E2H73JIM\MC900322405[1].wm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359025" y="3843338"/>
            <a:ext cx="376238" cy="419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09" name="Straight Connector 108"/>
          <p:cNvCxnSpPr/>
          <p:nvPr/>
        </p:nvCxnSpPr>
        <p:spPr>
          <a:xfrm flipH="1">
            <a:off x="2162175" y="4052888"/>
            <a:ext cx="196850" cy="138112"/>
          </a:xfrm>
          <a:prstGeom prst="line">
            <a:avLst/>
          </a:prstGeom>
          <a:ln w="28575">
            <a:solidFill>
              <a:srgbClr val="00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0" name="Picture 2" descr="C:\Users\vkolar\AppData\Local\Microsoft\Windows\Temporary Internet Files\Content.IE5\E2H73JIM\MC900322405[1].wm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981200" y="4419600"/>
            <a:ext cx="377825" cy="419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1" name="Picture 2" descr="C:\Users\vkolar\AppData\Local\Microsoft\Windows\Temporary Internet Files\Content.IE5\E2H73JIM\MC900322405[1].wm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172200" y="3962400"/>
            <a:ext cx="377825" cy="419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2" name="Picture 2" descr="C:\Users\vkolar\AppData\Local\Microsoft\Windows\Temporary Internet Files\Content.IE5\E2H73JIM\MC900322405[1].wm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715000" y="4572000"/>
            <a:ext cx="377825" cy="419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3" name="Picture 2" descr="C:\Users\vkolar\AppData\Local\Microsoft\Windows\Temporary Internet Files\Content.IE5\E2H73JIM\MC900322405[1].wm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629400" y="5562600"/>
            <a:ext cx="377825" cy="419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4" name="Picture 2" descr="C:\Users\vkolar\AppData\Local\Microsoft\Windows\Temporary Internet Files\Content.IE5\E2H73JIM\MC900322405[1].wm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410200" y="4876800"/>
            <a:ext cx="377825" cy="419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5" name="Picture 2" descr="C:\Users\vkolar\AppData\Local\Microsoft\Windows\Temporary Internet Files\Content.IE5\E2H73JIM\MC900322405[1].wm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791200" y="3810000"/>
            <a:ext cx="377825" cy="419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6" name="Picture 2" descr="C:\Users\vkolar\AppData\Local\Microsoft\Windows\Temporary Internet Files\Content.IE5\E2H73JIM\MC900322405[1].wm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172200" y="4343400"/>
            <a:ext cx="377825" cy="419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7" name="Picture 2" descr="C:\Users\vkolar\AppData\Local\Microsoft\Windows\Temporary Internet Files\Content.IE5\E2H73JIM\MC900322405[1].wm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657600" y="3429000"/>
            <a:ext cx="377825" cy="419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8" name="Picture 2" descr="C:\Users\vkolar\AppData\Local\Microsoft\Windows\Temporary Internet Files\Content.IE5\E2H73JIM\MC900322405[1].wm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733800" y="4343400"/>
            <a:ext cx="377825" cy="419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9" name="Picture 2" descr="C:\Users\vkolar\AppData\Local\Microsoft\Windows\Temporary Internet Files\Content.IE5\E2H73JIM\MC900322405[1].wm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667000" y="5257800"/>
            <a:ext cx="377825" cy="419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20" name="Picture 2" descr="C:\Users\vkolar\AppData\Local\Microsoft\Windows\Temporary Internet Files\Content.IE5\E2H73JIM\MC900322405[1].wm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0" y="5181600"/>
            <a:ext cx="377825" cy="419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21" name="Straight Connector 120"/>
          <p:cNvCxnSpPr>
            <a:stCxn id="88" idx="3"/>
            <a:endCxn id="110" idx="1"/>
          </p:cNvCxnSpPr>
          <p:nvPr/>
        </p:nvCxnSpPr>
        <p:spPr>
          <a:xfrm flipH="1">
            <a:off x="1981200" y="4343400"/>
            <a:ext cx="114300" cy="285750"/>
          </a:xfrm>
          <a:prstGeom prst="line">
            <a:avLst/>
          </a:prstGeom>
          <a:ln w="28575">
            <a:solidFill>
              <a:srgbClr val="00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/>
          <p:cNvCxnSpPr>
            <a:stCxn id="89" idx="3"/>
            <a:endCxn id="120" idx="0"/>
          </p:cNvCxnSpPr>
          <p:nvPr/>
        </p:nvCxnSpPr>
        <p:spPr>
          <a:xfrm flipH="1">
            <a:off x="2474913" y="5029200"/>
            <a:ext cx="153987" cy="152400"/>
          </a:xfrm>
          <a:prstGeom prst="line">
            <a:avLst/>
          </a:prstGeom>
          <a:ln w="28575">
            <a:solidFill>
              <a:srgbClr val="00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/>
          <p:cNvCxnSpPr>
            <a:endCxn id="119" idx="0"/>
          </p:cNvCxnSpPr>
          <p:nvPr/>
        </p:nvCxnSpPr>
        <p:spPr>
          <a:xfrm>
            <a:off x="2667000" y="5029200"/>
            <a:ext cx="188913" cy="228600"/>
          </a:xfrm>
          <a:prstGeom prst="line">
            <a:avLst/>
          </a:prstGeom>
          <a:ln w="28575">
            <a:solidFill>
              <a:srgbClr val="00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/>
          <p:cNvCxnSpPr>
            <a:stCxn id="90" idx="0"/>
            <a:endCxn id="117" idx="2"/>
          </p:cNvCxnSpPr>
          <p:nvPr/>
        </p:nvCxnSpPr>
        <p:spPr>
          <a:xfrm flipH="1" flipV="1">
            <a:off x="3846513" y="3848100"/>
            <a:ext cx="77787" cy="152400"/>
          </a:xfrm>
          <a:prstGeom prst="line">
            <a:avLst/>
          </a:prstGeom>
          <a:ln w="28575">
            <a:solidFill>
              <a:srgbClr val="00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/>
          <p:cNvCxnSpPr>
            <a:endCxn id="118" idx="0"/>
          </p:cNvCxnSpPr>
          <p:nvPr/>
        </p:nvCxnSpPr>
        <p:spPr>
          <a:xfrm>
            <a:off x="3886200" y="4114800"/>
            <a:ext cx="36513" cy="228600"/>
          </a:xfrm>
          <a:prstGeom prst="line">
            <a:avLst/>
          </a:prstGeom>
          <a:ln w="28575">
            <a:solidFill>
              <a:srgbClr val="00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/>
          <p:cNvCxnSpPr>
            <a:stCxn id="91" idx="3"/>
            <a:endCxn id="114" idx="0"/>
          </p:cNvCxnSpPr>
          <p:nvPr/>
        </p:nvCxnSpPr>
        <p:spPr>
          <a:xfrm>
            <a:off x="5372100" y="4724400"/>
            <a:ext cx="227013" cy="152400"/>
          </a:xfrm>
          <a:prstGeom prst="line">
            <a:avLst/>
          </a:prstGeom>
          <a:ln w="28575">
            <a:solidFill>
              <a:srgbClr val="00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/>
          <p:cNvCxnSpPr>
            <a:endCxn id="112" idx="1"/>
          </p:cNvCxnSpPr>
          <p:nvPr/>
        </p:nvCxnSpPr>
        <p:spPr>
          <a:xfrm>
            <a:off x="5410200" y="4724400"/>
            <a:ext cx="304800" cy="57150"/>
          </a:xfrm>
          <a:prstGeom prst="line">
            <a:avLst/>
          </a:prstGeom>
          <a:ln w="28575">
            <a:solidFill>
              <a:srgbClr val="00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/>
          <p:cNvCxnSpPr>
            <a:stCxn id="92" idx="0"/>
            <a:endCxn id="115" idx="1"/>
          </p:cNvCxnSpPr>
          <p:nvPr/>
        </p:nvCxnSpPr>
        <p:spPr>
          <a:xfrm flipV="1">
            <a:off x="5753100" y="4019550"/>
            <a:ext cx="38100" cy="285750"/>
          </a:xfrm>
          <a:prstGeom prst="line">
            <a:avLst/>
          </a:prstGeom>
          <a:ln w="28575">
            <a:solidFill>
              <a:srgbClr val="00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Connector 128"/>
          <p:cNvCxnSpPr>
            <a:stCxn id="92" idx="4"/>
          </p:cNvCxnSpPr>
          <p:nvPr/>
        </p:nvCxnSpPr>
        <p:spPr>
          <a:xfrm flipV="1">
            <a:off x="5867400" y="4191000"/>
            <a:ext cx="304800" cy="152400"/>
          </a:xfrm>
          <a:prstGeom prst="line">
            <a:avLst/>
          </a:prstGeom>
          <a:ln w="28575">
            <a:solidFill>
              <a:srgbClr val="00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/>
          <p:cNvCxnSpPr>
            <a:stCxn id="92" idx="4"/>
            <a:endCxn id="116" idx="1"/>
          </p:cNvCxnSpPr>
          <p:nvPr/>
        </p:nvCxnSpPr>
        <p:spPr>
          <a:xfrm>
            <a:off x="5867400" y="4343400"/>
            <a:ext cx="304800" cy="209550"/>
          </a:xfrm>
          <a:prstGeom prst="line">
            <a:avLst/>
          </a:prstGeom>
          <a:ln w="28575">
            <a:solidFill>
              <a:srgbClr val="00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/>
          <p:cNvCxnSpPr>
            <a:stCxn id="93" idx="1"/>
            <a:endCxn id="104" idx="1"/>
          </p:cNvCxnSpPr>
          <p:nvPr/>
        </p:nvCxnSpPr>
        <p:spPr>
          <a:xfrm flipV="1">
            <a:off x="6362700" y="5162550"/>
            <a:ext cx="127000" cy="247650"/>
          </a:xfrm>
          <a:prstGeom prst="line">
            <a:avLst/>
          </a:prstGeom>
          <a:ln w="28575">
            <a:solidFill>
              <a:srgbClr val="00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Connector 131"/>
          <p:cNvCxnSpPr>
            <a:stCxn id="93" idx="3"/>
            <a:endCxn id="113" idx="1"/>
          </p:cNvCxnSpPr>
          <p:nvPr/>
        </p:nvCxnSpPr>
        <p:spPr>
          <a:xfrm>
            <a:off x="6362700" y="5562600"/>
            <a:ext cx="266700" cy="209550"/>
          </a:xfrm>
          <a:prstGeom prst="line">
            <a:avLst/>
          </a:prstGeom>
          <a:ln w="28575">
            <a:solidFill>
              <a:srgbClr val="00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/>
          <p:cNvCxnSpPr>
            <a:endCxn id="88" idx="4"/>
          </p:cNvCxnSpPr>
          <p:nvPr/>
        </p:nvCxnSpPr>
        <p:spPr>
          <a:xfrm flipH="1">
            <a:off x="2209800" y="4052888"/>
            <a:ext cx="304800" cy="214312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Straight Connector 133"/>
          <p:cNvCxnSpPr>
            <a:stCxn id="117" idx="1"/>
          </p:cNvCxnSpPr>
          <p:nvPr/>
        </p:nvCxnSpPr>
        <p:spPr>
          <a:xfrm flipH="1">
            <a:off x="2260600" y="3638550"/>
            <a:ext cx="1397000" cy="62865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Connector 134"/>
          <p:cNvCxnSpPr>
            <a:stCxn id="106" idx="1"/>
          </p:cNvCxnSpPr>
          <p:nvPr/>
        </p:nvCxnSpPr>
        <p:spPr>
          <a:xfrm flipH="1">
            <a:off x="2260600" y="3900488"/>
            <a:ext cx="1858963" cy="366712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/>
          <p:cNvCxnSpPr>
            <a:endCxn id="88" idx="4"/>
          </p:cNvCxnSpPr>
          <p:nvPr/>
        </p:nvCxnSpPr>
        <p:spPr>
          <a:xfrm flipH="1" flipV="1">
            <a:off x="2209800" y="4267200"/>
            <a:ext cx="1595438" cy="180975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/>
          <p:cNvCxnSpPr>
            <a:stCxn id="115" idx="1"/>
            <a:endCxn id="88" idx="4"/>
          </p:cNvCxnSpPr>
          <p:nvPr/>
        </p:nvCxnSpPr>
        <p:spPr>
          <a:xfrm flipH="1">
            <a:off x="2209800" y="4019550"/>
            <a:ext cx="3581400" cy="24765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/>
          <p:cNvCxnSpPr>
            <a:stCxn id="111" idx="1"/>
            <a:endCxn id="88" idx="4"/>
          </p:cNvCxnSpPr>
          <p:nvPr/>
        </p:nvCxnSpPr>
        <p:spPr>
          <a:xfrm flipH="1">
            <a:off x="2209800" y="4171950"/>
            <a:ext cx="3962400" cy="9525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/>
          <p:cNvCxnSpPr>
            <a:stCxn id="116" idx="1"/>
          </p:cNvCxnSpPr>
          <p:nvPr/>
        </p:nvCxnSpPr>
        <p:spPr>
          <a:xfrm flipH="1" flipV="1">
            <a:off x="2260600" y="4267200"/>
            <a:ext cx="3911600" cy="28575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Connector 139"/>
          <p:cNvCxnSpPr>
            <a:stCxn id="112" idx="1"/>
          </p:cNvCxnSpPr>
          <p:nvPr/>
        </p:nvCxnSpPr>
        <p:spPr>
          <a:xfrm flipH="1" flipV="1">
            <a:off x="2209800" y="4267200"/>
            <a:ext cx="3505200" cy="51435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/>
          <p:cNvCxnSpPr>
            <a:stCxn id="114" idx="1"/>
            <a:endCxn id="88" idx="4"/>
          </p:cNvCxnSpPr>
          <p:nvPr/>
        </p:nvCxnSpPr>
        <p:spPr>
          <a:xfrm flipH="1" flipV="1">
            <a:off x="2209800" y="4267200"/>
            <a:ext cx="3200400" cy="81915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Straight Connector 141"/>
          <p:cNvCxnSpPr>
            <a:stCxn id="104" idx="1"/>
            <a:endCxn id="88" idx="4"/>
          </p:cNvCxnSpPr>
          <p:nvPr/>
        </p:nvCxnSpPr>
        <p:spPr>
          <a:xfrm flipH="1" flipV="1">
            <a:off x="2209800" y="4267200"/>
            <a:ext cx="4279900" cy="89535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Straight Connector 142"/>
          <p:cNvCxnSpPr>
            <a:stCxn id="113" idx="1"/>
            <a:endCxn id="88" idx="4"/>
          </p:cNvCxnSpPr>
          <p:nvPr/>
        </p:nvCxnSpPr>
        <p:spPr>
          <a:xfrm flipH="1" flipV="1">
            <a:off x="2209800" y="4267200"/>
            <a:ext cx="4419600" cy="150495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Connector 143"/>
          <p:cNvCxnSpPr>
            <a:endCxn id="88" idx="4"/>
          </p:cNvCxnSpPr>
          <p:nvPr/>
        </p:nvCxnSpPr>
        <p:spPr>
          <a:xfrm flipV="1">
            <a:off x="2170112" y="4267200"/>
            <a:ext cx="39688" cy="28575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Connector 144"/>
          <p:cNvCxnSpPr>
            <a:stCxn id="120" idx="0"/>
            <a:endCxn id="88" idx="4"/>
          </p:cNvCxnSpPr>
          <p:nvPr/>
        </p:nvCxnSpPr>
        <p:spPr>
          <a:xfrm flipH="1" flipV="1">
            <a:off x="2209800" y="4267200"/>
            <a:ext cx="265113" cy="91440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/>
          <p:cNvCxnSpPr>
            <a:stCxn id="119" idx="0"/>
            <a:endCxn id="88" idx="4"/>
          </p:cNvCxnSpPr>
          <p:nvPr/>
        </p:nvCxnSpPr>
        <p:spPr>
          <a:xfrm flipH="1" flipV="1">
            <a:off x="2209800" y="4267200"/>
            <a:ext cx="646113" cy="99060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9759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8" grpId="0" animBg="1"/>
      <p:bldP spid="89" grpId="0" animBg="1"/>
      <p:bldP spid="90" grpId="0" animBg="1"/>
      <p:bldP spid="91" grpId="0" animBg="1"/>
      <p:bldP spid="92" grpId="0" animBg="1"/>
      <p:bldP spid="93" grpId="0" animBg="1"/>
      <p:bldP spid="99" grpId="0"/>
      <p:bldP spid="10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1143000"/>
          </a:xfrm>
        </p:spPr>
        <p:txBody>
          <a:bodyPr>
            <a:normAutofit/>
          </a:bodyPr>
          <a:lstStyle/>
          <a:p>
            <a:r>
              <a:rPr lang="en-US" dirty="0"/>
              <a:t>But, Consistency Becomes a Challenge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24000"/>
            <a:ext cx="8458200" cy="5257800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§"/>
            </a:pPr>
            <a:r>
              <a:rPr lang="en-US" sz="2800" dirty="0"/>
              <a:t>An example:</a:t>
            </a:r>
          </a:p>
          <a:p>
            <a:pPr lvl="1">
              <a:buFont typeface="Wingdings" pitchFamily="2" charset="2"/>
              <a:buChar char="§"/>
            </a:pPr>
            <a:r>
              <a:rPr lang="en-US" sz="2600" dirty="0"/>
              <a:t>In an e-commerce application, the bank database has been replicated across two servers</a:t>
            </a:r>
          </a:p>
          <a:p>
            <a:pPr lvl="1">
              <a:buFont typeface="Wingdings" pitchFamily="2" charset="2"/>
              <a:buChar char="§"/>
            </a:pPr>
            <a:r>
              <a:rPr lang="en-US" sz="2600" dirty="0"/>
              <a:t>Maintaining consistency of replicated data is a challenge</a:t>
            </a:r>
          </a:p>
          <a:p>
            <a:pPr lvl="1">
              <a:buFont typeface="Wingdings" pitchFamily="2" charset="2"/>
              <a:buChar char="§"/>
            </a:pPr>
            <a:endParaRPr lang="en-US" dirty="0"/>
          </a:p>
          <a:p>
            <a:pPr lvl="2">
              <a:buFont typeface="Wingdings" pitchFamily="2" charset="2"/>
              <a:buChar char="§"/>
            </a:pPr>
            <a:endParaRPr lang="en-US" sz="1800" dirty="0"/>
          </a:p>
          <a:p>
            <a:pPr lvl="1">
              <a:buFont typeface="Wingdings" pitchFamily="2" charset="2"/>
              <a:buChar char="§"/>
            </a:pPr>
            <a:endParaRPr lang="en-US" sz="1800" dirty="0"/>
          </a:p>
        </p:txBody>
      </p:sp>
      <p:sp>
        <p:nvSpPr>
          <p:cNvPr id="4" name="Can 3"/>
          <p:cNvSpPr/>
          <p:nvPr/>
        </p:nvSpPr>
        <p:spPr>
          <a:xfrm>
            <a:off x="1795462" y="4800600"/>
            <a:ext cx="990600" cy="1447800"/>
          </a:xfrm>
          <a:prstGeom prst="can">
            <a:avLst/>
          </a:prstGeom>
          <a:solidFill>
            <a:schemeClr val="bg2">
              <a:lumMod val="75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1871663" y="5410200"/>
            <a:ext cx="838200" cy="3048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r>
              <a:rPr lang="en-US" sz="1200" dirty="0" err="1">
                <a:solidFill>
                  <a:schemeClr val="tx1"/>
                </a:solidFill>
              </a:rPr>
              <a:t>Bal</a:t>
            </a:r>
            <a:r>
              <a:rPr lang="en-US" sz="1200" dirty="0">
                <a:solidFill>
                  <a:schemeClr val="tx1"/>
                </a:solidFill>
              </a:rPr>
              <a:t>=1000</a:t>
            </a:r>
          </a:p>
        </p:txBody>
      </p:sp>
      <p:sp>
        <p:nvSpPr>
          <p:cNvPr id="6" name="Can 5"/>
          <p:cNvSpPr/>
          <p:nvPr/>
        </p:nvSpPr>
        <p:spPr>
          <a:xfrm>
            <a:off x="5872162" y="4800600"/>
            <a:ext cx="990600" cy="1447800"/>
          </a:xfrm>
          <a:prstGeom prst="can">
            <a:avLst/>
          </a:prstGeom>
          <a:solidFill>
            <a:schemeClr val="bg2">
              <a:lumMod val="75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5948363" y="5410200"/>
            <a:ext cx="838200" cy="3048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r>
              <a:rPr lang="en-US" sz="1200" dirty="0" err="1">
                <a:solidFill>
                  <a:schemeClr val="tx1"/>
                </a:solidFill>
              </a:rPr>
              <a:t>Bal</a:t>
            </a:r>
            <a:r>
              <a:rPr lang="en-US" sz="1200" dirty="0">
                <a:solidFill>
                  <a:schemeClr val="tx1"/>
                </a:solidFill>
              </a:rPr>
              <a:t>=1000</a:t>
            </a:r>
          </a:p>
        </p:txBody>
      </p:sp>
      <p:sp>
        <p:nvSpPr>
          <p:cNvPr id="8" name="TextBox 5"/>
          <p:cNvSpPr txBox="1">
            <a:spLocks noChangeArrowheads="1"/>
          </p:cNvSpPr>
          <p:nvPr/>
        </p:nvSpPr>
        <p:spPr bwMode="auto">
          <a:xfrm>
            <a:off x="3433763" y="5867400"/>
            <a:ext cx="190500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en-US" sz="1400"/>
              <a:t>Replicated Database</a:t>
            </a:r>
          </a:p>
        </p:txBody>
      </p:sp>
      <p:cxnSp>
        <p:nvCxnSpPr>
          <p:cNvPr id="9" name="Straight Connector 8"/>
          <p:cNvCxnSpPr>
            <a:stCxn id="8" idx="1"/>
          </p:cNvCxnSpPr>
          <p:nvPr/>
        </p:nvCxnSpPr>
        <p:spPr>
          <a:xfrm flipH="1" flipV="1">
            <a:off x="2786063" y="5562600"/>
            <a:ext cx="647700" cy="458788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8" idx="3"/>
          </p:cNvCxnSpPr>
          <p:nvPr/>
        </p:nvCxnSpPr>
        <p:spPr>
          <a:xfrm flipV="1">
            <a:off x="5338763" y="5503863"/>
            <a:ext cx="533400" cy="517525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1109663" y="3848100"/>
            <a:ext cx="2362200" cy="34290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r>
              <a:rPr lang="en-US" sz="1600" dirty="0">
                <a:solidFill>
                  <a:schemeClr val="tx1"/>
                </a:solidFill>
              </a:rPr>
              <a:t>Event 1 = Add $1000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62525" y="3830638"/>
            <a:ext cx="2809875" cy="342900"/>
          </a:xfrm>
          <a:prstGeom prst="rect">
            <a:avLst/>
          </a:prstGeom>
          <a:ln>
            <a:solidFill>
              <a:srgbClr val="0000FF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r>
              <a:rPr lang="en-US" sz="1600" dirty="0">
                <a:solidFill>
                  <a:srgbClr val="0000FF"/>
                </a:solidFill>
              </a:rPr>
              <a:t>Event 2 = Add interest of 5%</a:t>
            </a:r>
          </a:p>
        </p:txBody>
      </p:sp>
      <p:cxnSp>
        <p:nvCxnSpPr>
          <p:cNvPr id="13" name="Straight Arrow Connector 12"/>
          <p:cNvCxnSpPr>
            <a:stCxn id="11" idx="2"/>
            <a:endCxn id="5" idx="0"/>
          </p:cNvCxnSpPr>
          <p:nvPr/>
        </p:nvCxnSpPr>
        <p:spPr>
          <a:xfrm>
            <a:off x="2290763" y="4191000"/>
            <a:ext cx="0" cy="121920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>
            <a:stCxn id="11" idx="2"/>
            <a:endCxn id="7" idx="1"/>
          </p:cNvCxnSpPr>
          <p:nvPr/>
        </p:nvCxnSpPr>
        <p:spPr>
          <a:xfrm>
            <a:off x="2290763" y="4191000"/>
            <a:ext cx="3657600" cy="137160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1860550" y="5410200"/>
            <a:ext cx="838200" cy="3048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r>
              <a:rPr lang="en-US" sz="1200" dirty="0" err="1">
                <a:solidFill>
                  <a:schemeClr val="tx1"/>
                </a:solidFill>
              </a:rPr>
              <a:t>Bal</a:t>
            </a:r>
            <a:r>
              <a:rPr lang="en-US" sz="1200" dirty="0">
                <a:solidFill>
                  <a:schemeClr val="tx1"/>
                </a:solidFill>
              </a:rPr>
              <a:t>=2000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09763" y="4419600"/>
            <a:ext cx="304800" cy="30480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/>
              <a:t>1</a:t>
            </a:r>
          </a:p>
        </p:txBody>
      </p:sp>
      <p:cxnSp>
        <p:nvCxnSpPr>
          <p:cNvPr id="17" name="Straight Arrow Connector 16"/>
          <p:cNvCxnSpPr>
            <a:stCxn id="12" idx="2"/>
            <a:endCxn id="7" idx="0"/>
          </p:cNvCxnSpPr>
          <p:nvPr/>
        </p:nvCxnSpPr>
        <p:spPr>
          <a:xfrm>
            <a:off x="6367463" y="4173538"/>
            <a:ext cx="0" cy="1236662"/>
          </a:xfrm>
          <a:prstGeom prst="straightConnector1">
            <a:avLst/>
          </a:prstGeom>
          <a:ln w="38100">
            <a:solidFill>
              <a:srgbClr val="0000FF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5948363" y="4406900"/>
            <a:ext cx="304800" cy="30480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/>
              <a:t>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8363" y="5410200"/>
            <a:ext cx="838200" cy="3048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r>
              <a:rPr lang="en-US" sz="1200" dirty="0" err="1">
                <a:solidFill>
                  <a:schemeClr val="tx1"/>
                </a:solidFill>
              </a:rPr>
              <a:t>Bal</a:t>
            </a:r>
            <a:r>
              <a:rPr lang="en-US" sz="1200" dirty="0">
                <a:solidFill>
                  <a:schemeClr val="tx1"/>
                </a:solidFill>
              </a:rPr>
              <a:t>=1050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10163" y="5410200"/>
            <a:ext cx="304800" cy="30480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/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8363" y="5410200"/>
            <a:ext cx="838200" cy="3048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r>
              <a:rPr lang="en-US" sz="1200" dirty="0" err="1">
                <a:solidFill>
                  <a:schemeClr val="tx1"/>
                </a:solidFill>
              </a:rPr>
              <a:t>Bal</a:t>
            </a:r>
            <a:r>
              <a:rPr lang="en-US" sz="1200" dirty="0">
                <a:solidFill>
                  <a:schemeClr val="tx1"/>
                </a:solidFill>
              </a:rPr>
              <a:t>=2050</a:t>
            </a:r>
          </a:p>
        </p:txBody>
      </p:sp>
      <p:cxnSp>
        <p:nvCxnSpPr>
          <p:cNvPr id="22" name="Straight Arrow Connector 21"/>
          <p:cNvCxnSpPr>
            <a:stCxn id="12" idx="2"/>
          </p:cNvCxnSpPr>
          <p:nvPr/>
        </p:nvCxnSpPr>
        <p:spPr>
          <a:xfrm flipH="1">
            <a:off x="2698750" y="4173538"/>
            <a:ext cx="3668713" cy="1236662"/>
          </a:xfrm>
          <a:prstGeom prst="straightConnector1">
            <a:avLst/>
          </a:prstGeom>
          <a:ln w="38100">
            <a:solidFill>
              <a:srgbClr val="0000FF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3109913" y="5372100"/>
            <a:ext cx="304800" cy="30480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/>
              <a:t>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70075" y="5410200"/>
            <a:ext cx="838200" cy="3048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r>
              <a:rPr lang="en-US" sz="1200" dirty="0" err="1">
                <a:solidFill>
                  <a:schemeClr val="tx1"/>
                </a:solidFill>
              </a:rPr>
              <a:t>Bal</a:t>
            </a:r>
            <a:r>
              <a:rPr lang="en-US" sz="1200" dirty="0">
                <a:solidFill>
                  <a:schemeClr val="tx1"/>
                </a:solidFill>
              </a:rPr>
              <a:t>=2100</a:t>
            </a:r>
          </a:p>
        </p:txBody>
      </p:sp>
      <p:pic>
        <p:nvPicPr>
          <p:cNvPr id="25" name="Picture 3" descr="C:\Users\vkolar\AppData\Local\Microsoft\Windows\Temporary Internet Files\Content.IE5\HRUY4RJ7\MC900441523[1].wmf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657600" y="3678238"/>
            <a:ext cx="1047750" cy="895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6" name="Oval 25"/>
          <p:cNvSpPr/>
          <p:nvPr/>
        </p:nvSpPr>
        <p:spPr>
          <a:xfrm>
            <a:off x="1447800" y="5126038"/>
            <a:ext cx="1662113" cy="895350"/>
          </a:xfrm>
          <a:prstGeom prst="ellipse">
            <a:avLst/>
          </a:prstGeom>
          <a:solidFill>
            <a:srgbClr val="FF0000">
              <a:alpha val="25000"/>
            </a:srgbClr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27" name="Oval 26"/>
          <p:cNvSpPr/>
          <p:nvPr/>
        </p:nvSpPr>
        <p:spPr>
          <a:xfrm>
            <a:off x="5565775" y="5126038"/>
            <a:ext cx="1662113" cy="895350"/>
          </a:xfrm>
          <a:prstGeom prst="ellipse">
            <a:avLst/>
          </a:prstGeom>
          <a:solidFill>
            <a:srgbClr val="FF0000">
              <a:alpha val="25000"/>
            </a:srgbClr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87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32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24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25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26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27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28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32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38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39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40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41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42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32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52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53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54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55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56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32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66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67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68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69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70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11" grpId="0" animBg="1"/>
      <p:bldP spid="12" grpId="0" animBg="1"/>
      <p:bldP spid="15" grpId="0" animBg="1"/>
      <p:bldP spid="15" grpId="1" animBg="1"/>
      <p:bldP spid="16" grpId="0" animBg="1"/>
      <p:bldP spid="18" grpId="0" animBg="1"/>
      <p:bldP spid="19" grpId="0" animBg="1"/>
      <p:bldP spid="19" grpId="1" animBg="1"/>
      <p:bldP spid="20" grpId="0" animBg="1"/>
      <p:bldP spid="21" grpId="0" animBg="1"/>
      <p:bldP spid="21" grpId="1" animBg="1"/>
      <p:bldP spid="23" grpId="0" animBg="1"/>
      <p:bldP spid="24" grpId="0" animBg="1"/>
      <p:bldP spid="24" grpId="1" animBg="1"/>
      <p:bldP spid="26" grpId="0" animBg="1"/>
      <p:bldP spid="2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1143000"/>
          </a:xfrm>
        </p:spPr>
        <p:txBody>
          <a:bodyPr>
            <a:normAutofit/>
          </a:bodyPr>
          <a:lstStyle/>
          <a:p>
            <a:r>
              <a:rPr lang="en-US" dirty="0"/>
              <a:t>The Two-Phase Commit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24000"/>
            <a:ext cx="8458200" cy="5257800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§"/>
            </a:pPr>
            <a:r>
              <a:rPr lang="en-US" sz="2800" dirty="0"/>
              <a:t>The two-phase commit protocol (2PC) can be used to ensure atomicity and consistency </a:t>
            </a:r>
            <a:endParaRPr lang="en-US" sz="2600" dirty="0"/>
          </a:p>
          <a:p>
            <a:pPr lvl="1">
              <a:buFont typeface="Wingdings" pitchFamily="2" charset="2"/>
              <a:buChar char="§"/>
            </a:pPr>
            <a:endParaRPr lang="en-US" dirty="0"/>
          </a:p>
          <a:p>
            <a:pPr lvl="2">
              <a:buFont typeface="Wingdings" pitchFamily="2" charset="2"/>
              <a:buChar char="§"/>
            </a:pPr>
            <a:endParaRPr lang="en-US" sz="1800" dirty="0"/>
          </a:p>
          <a:p>
            <a:pPr lvl="1">
              <a:buFont typeface="Wingdings" pitchFamily="2" charset="2"/>
              <a:buChar char="§"/>
            </a:pPr>
            <a:endParaRPr lang="en-US" sz="1800" dirty="0"/>
          </a:p>
        </p:txBody>
      </p:sp>
      <p:sp>
        <p:nvSpPr>
          <p:cNvPr id="28" name="AutoShape 2" descr="data:image/jpeg;base64,/9j/4AAQSkZJRgABAQAAAQABAAD/2wCEAAkGBxAPEA8UEA8WEBUQEBQQFBARFBYVERAVFBUXFhQVGBQYKCggGBsnHRQVITIhJiksLi4uFx8zODMtNygtLywBCgoKDg0OGxAQFywkHx0uLC0yLC43LC8sLDQvLCsuLywsLCw3LC8sLC0rNDcsLCwsLCwsLCwsLSwsLCwsLCwsLP/AABEIAOEA4QMBIgACEQEDEQH/xAAcAAEAAQUBAQAAAAAAAAAAAAAABwECBAUGAwj/xABGEAABAwIBBggLBQgDAAMAAAABAAIDBBEFBhIhMUFhBxMiNVFxgbIUMjNScnN0kaGxsyNCYpLwJEOCosHC0eElNFNEVJP/xAAZAQEBAAMBAAAAAAAAAAAAAAAAAQIDBAX/xAArEQEBAAEDAAkEAgMAAAAAAAAAAQIDBBESITEyQVFhcYEUM6HRE/AiYpH/2gAMAwEAAhEDEQA/AJxREQEREBERAREQEREBERARczlTl1Q4ddsknGS20U8VnSbs7YwdZG66hzKrhBrsQJZneDwuNhBCTd99QfJ4z+oWBvqROUp5V8JdFQ5zIz4XMNHFxEcWw/jl1DqFzuCiLHsr8QxOQNfI6zjyKanDgz8reU89d91ltMl+DSqqs19RekiNjZw+3eN0Z8Trd7ipWwLJ2jw1n2EYYSLOmfypX9bzp7BYblREuS3CPXUBDJCaqJpsYpnHjGWOkNkNyLdDrjRbQpiyXyzosSFoJM2S13U8tmzN6bDU4b2kha7KTI6ixIZz2ZkhGioisJN2dseOvssolylyFrcOPGAGaNhzhUQXBjtqLmjlRneLgdKHY+jEUGZKcK1VTZrKwGri1cZoFQwdeqTtsfxFS9gGUVJXsz6WZslvGZqkjvscw6W/I7FDltUREUREQEREBERAREQEREBERAREQEREBFr8axqmoozJUzNibszvGcehrRpcdwBKibKrhbmlzmUDOIZq4+QAzO9FulrOs3PUUEn5R5U0eHNvUzBriLtibypX+iwabbzYb1D+VfClV1ecymvRxG4u0/bvG+QeJ1N0jzitFgWTFdijy9jXODncurnc7MJ1El5uZD1X32Ur5McHdHRZr5B4VKNPGSgcWw9LI9IHWbneFU7UZZM5B1tfZ+b4PE434+YG776SWM1v69APSpayayMosOAcxmfIBpqJbF49HYwdXaSt1PWhvi8o/Ba6eZz/ABj2bB2KcjMqMRA0MF951e7atZLI5xu43Qq0rEXQzuYbtNt2w9i2lNibXaHck9P3T27FpyqFBh5UcHVHW5z4v2WU6c+MDi3n8cegdosetRVi+AV+ESte4OizTyKqBxzDuzxYtv5rrX6Cpnpqx8eo3HmnV/pbSKrimaWuA5QsY3gFrgdY06CNysojrJXhde3NjxFmeNXhMQ5Y3viGg9bbeiVK2GYnBVRiSnlbMw/eYbi+0HoO46VG2VHBbBNnPoXCnfr4l1zA47tsfZcbgo4LcRwaov8AaUknSNMcwHvZK3dptuKyH02ii/JXhcikzY8QZxDtA4+MEwuP4m6XM+I6SFJlPOyRjXxvbI1wu17CHNcOkOGghRXoiIgIiICIiAiIgIiICKyWRrGlznBrWi5c4gAAaySdQUcZVcLVPBnMoWiqfq443FO07jrk7LD8SCQq6tip43STSNiY3W97g1o7Sotyr4XQM6PDmZ2zwmZpzf4IjpPW63olR9VVeIYxUAOMlXJrbG0ciIHoaLNjGzONt5K77JjgpY2z8Qfxh1+DxEhg9OTQXdQsN5VRwNJQ4hjE7nDjKqS9nzSHkR7bF55LBpvmjsCkzJjgvpoM19YRVSa+LtanafR1yfxaPwruIIooGNZExsbGizY4wGtb1AaAvKWYncNynJw9nzMYAGgaBYNboAA2blhTTudrOjoGpUKsKivMq0r0KsKiPMq0q8q0oLCrSryrSgtVpVxVEGXS4i9mg8odB1jqKz5mU9ZGY5WNla7XHIAe2x27wsKnw5x0vOYP5j2bFmszWCzBm9J+8e1VUX5d8HMVJDLU00pDI80ugk5RAc4N5Ems6SNDr7dK9uAmskFTVQ5x4swcbmX5Ie17W5wGwkON+mw6F2fCVzVW+gz6rFwnAZzhUexu+rEsk8U4IiKKIiICIiAiIgIiIPm7KvKStxOpfG573M44shpYwczQ6zBmDx36BpNzcm1hoXS5McFUj819e/im6/B4yDIdz36Q3qFzvC5XJfnel9uH1F9Dq1IwsLwynpIxHTxNiYNjRpcelx1uO8kle73nZoV7gvMhYq8XKwr1IXmQg8yrCvQqwqDzKsK9CrCiPMq0q8q0oLCrSvaOFzzZov8AIdqz4aFjNL+UejYP8oMCno3yahYecdX+1sIYGRahnO84/wBF6PkJ6uheZKqj3k61YShKsJQa/hJ5qrfQZ9Vi4HgM5wn9if8AViXfcJHNVb6tv1GLgOA3nGb2KT6sKsTxTmiIiiIiAiIgIiICIiD5pyX53pfbh9RTrjlY6BsTm6ftQC3zmlrrj4fBQVkvzvS+3D6inHKMciL1w7j0qRn01Q2Vgew3B946Qd6q4LnKNz4XZ0WkHxozqdvHQV0FLVMmF2mxGtp0OaeghRRwXmV7PbZeRCDyKsK9SvMoPMqwr0K9YqUu16B8VEYmaTqF9yy4aDa82/CNfvWUxrWeKO3arXOVVXOAFmiw3LzJQlWkoKEqwlVJVhKASrCUJVpKiMThH5rrfVt+o1R9wG85TewyfWgUhcIvNdd6od9qjvgOP/Jy+wS/Wp1lC9qdkREUREQEREBERAREQfNOS/O9L7cPqKc8oPJsPRID/K5QZkvzvS+3D6inLKXyGjTyv7HJUjTYRiEVQ3OieHC9jsIO8HSFtmjSDqI2jX71BVJi89HPnMJb/UaLgg6CNx+Ck/JzLOnqg1shEUmrSfs3Hc46juPxUHaRVXnDtH+F6ANdqP66lhNXhKiti+A9a8xA47Lda1wr5GanX3O0/wC1XHsRkZFTlhzTM9gcRrAIBIHQg2zImt3lVc66oVQlBQlWkoSrCUAlWEqpKsJQCVYShKtJURQlWkoSrCUHnwic113qh32qOeA/nST2CX61OpG4Q+a671P9zVHPAhzpJ7DL9WBZQqd0REUREQEREBERAREQfNOS/O9L7cPqKdMoDaJp6Hg/yuUF5L870vtw+opyyl8h/F/Y5KkcJWYLS4oxz4nBkgNnAjb+No1H8Q+K5ym4P63OfYZmboBL2gP6td+2y9cpI58NrHPhu1ucSCNovpHQd4K6rJvLiCoAbMRC/Vnfu3HrPiHcdG9QcbRZU1uHP4p5JDDm8XILtFtYtrb2Gy6mh4Q6eWwlYYz0tIc33GxHuK2mU2SENeQ/P4t+aBnWzmvtqJGg3touDqUfYvkFVwXLW8Y0bY+V/L43wKdQkmkxGKoaXQvzwDY6CCDrsQetZOUvkqH1jO6Fy+QEJZSvDhYiXN0i2pjL/G66jKXyVD6xndCDoCVaSjirCUUJVhKqSrCUAlWEoSrSVEUJVpKEqwlAJVhKqSrCUFeEHmuu9Se8FG/Ajzo/2KX6sKknhA5rrvUH5hRtwJc6O9il+pCsoVPCIiKIiICIiAiIgIiIPmnJfnel9uH1FOmUAvE0HbIB/K5QXkvzvS+3D6inXHvJt9YO65KkaWqhiqGFlU242Tge4vA8U/jGjpAXBZSZBTQEyQctpGcHM03Gu9hrG8KRadZMbCy/FuzLm5YRnRuPSWdO8WO9QQzheVFbQnNzjmj7juVH+U6uyy6yh4SIngCaLNPTGdH5XWt7yunxfAqWqB46AxOP72K72HrA5Q9x61wmM8HErQX0z2zs6YyDbrA1Hcg7ehxOKqZnxEkA5puLEGwNvcQsrKbyVD6xndC5vIamfFTPa9paRKRYi2pjB/RdJlP5Kh9YzuhFbxxVhKq4qwlAJVhKErX4vi8FIzPnkDAdQ1ueehrRpKSW3iJbx2s0lWkri6nKmsn/AOtTtgZ/61Ol5HSGDV8QtNVTyP8A+xiUj/wQnMb1WZoXVhs8729TRluMZ2JIlkDfGIb1m3zWM7EIf/aP87f8qMTBQg3Mb5CfvOJues3Cr+xf/VPvP+Vu+h/2/DX9V6JNbVRu8WRrupwPyV7lFxjoTrp3DqJ/yvWBkDbcTUz0/QGvcG+4KXY+WX4Wbr0Shl/zXXeoPzCjXgT50d7HL9SJZtZiOIzU00PhUdXHKwsOe1olaD5rm7fSWHwWWosUHhLhCH08kTTJyQXufGWi50ac0rTnt88fVtx1sck8IiLnbhERAREQEREBERB805L870vtw+op1x7ybfWDuuUFZL87Uvtw+op1x7ybfWDuuSpGtp1mtWDAelc7JjksznFkrom2u1sYjBzTpaXmRrruI02FgL202utGvr4aOPSzrHPOYTmuzasaaMZ2cOS7z2ktf+YaVh5OYoahjg+xfGRcgWD2uvmuzdhu1wI6W31EBZ8y2Y5TKSzsrKXmcxgPbYuJcXFzs4k26ANgGwBVyn8lResZ3QqyqmVHkqL1je6FkrcOKsJVXFWEojBxrEm0sEsztIjbfN1ZzibNb2kgKN5JnAioqftZ5RnNafFhbsDR90C/60ldZwkc3y+sj74Wtx3A5KinhqqdpkDYwyVjRdzLaSQNouTfdY9K9DaTGY9K+N4cm45t4ng5apq3yHluJ3amjsXiqAqq9FxiIiAiIgq1xBuDY9I0FZ0da2QcXUNEjDozj4zd9/6rAWwwTBpq2QRwtJ899uRGOlx+Q1lY5cSc1ZzbxHb8HePSxVBoKh5kaWF9NI48rNaLmInaLAkdGadlgJIURROjGO4cyI5wiL4y4feIjkztO3XbsKl1eTucZMpZ4zl6OhbceL4CIi524REQEREBUKqvNxQfNuS/O1L7cPqKdce8m31g7rlBWS3O1L7cPqKdce8m31g7rkqRqRHntc29s5pbfouLLhpGvjc8OFnDx23AzDtvf7ush2oixXe06yH07HkFzGuLdRc0Et6idS5NztsdfGS3sa9TTmc4rS5F0bmsfIdUgaxv4msL3F43EyEA7Q240ELeTL3avCZb8MJhjMZ2RnJxOIwpVTKnyVF6xvdCrKqZU+SovWN7oWbJs3FWEqrirCVEczwjH9gk9ZH3wrcl8TfTi7ToJ5Tdh0D4qvCL/wBCT1kfeCwcN8QfrYF6W2kujZfNx61s1JZ5OrrsEw+vGe+Iwvfp42HkknaXDUT1g9a0FVwauN/B6xj+hsrS09rm3+S6LDHfZM6j8ysqZ9mOI1gFYTUzwvGNZ9HHKc2I/qOD/EWaomSehI3+/NWKcisSH/w3f/pEfk5do+ulGqRw6jZYsuJT/wDvJ+dy3TW1fT8tV08PVzMeQuJuP/Vzd7pYrD3OJ+CzouDqqGmeeCBu0ueSR2WA+Ky566Y65pD1vd/layY30nTvKy6epfGT4Y9HCeFbCPAsJpdM9U+scP3cIzWHtB/vXji2VT3R8TSxNo4dIzY9D3A67uFrX2207ytTKsSVZTDm85Xn++SXPjqnUysledcN9N/03qcgoOyWH/KYceh7/puU3tK5N7357Ona92+69ERcbpEREBERBQrwmcvZxWFUvQfO+S3O1L7a36inbH/Jt9YO65QTkrztSe2t+op2x/ybfWDuuSpER4Ll9NRTGnxWNzbGzZ7cq2wuA0OG8dG1SjR1UczGvie2RjhcPYbtPaoZnx1pcaPHackAkR1QA42MHU640OHzt95VbguJ4V+0YVUeGUzuV9nywQNj49OrVfZp0hOBNzV4zKPMnuF2mksytjNM/UXtBdGd9vGb8V3FLiUFS3OgmZMOmNwdbrA0jtUFsqplV5Ki9Y3uhVlVMq/JUfrG90IrPcVYSquKsJURz2XYvRPH44+8sHD/ABR+tgWflt/03+mzvLBoPFH62BentftfP6cWv9z4dJhz/s29vzKypX8l3UVraN/JHb81lF/JPUteU62eN6mBKsOVZkqw5VsjCsSVYcqzJVhyrZGusSVYkqy5ViSrbGFZ+SY/5Gi9N303KaWFQvklzjRem76blNLAuHe9+ezs2vdvuvCqqBVXG6RERAREQechWtq3LYSrVVhQQHkpzrSe2t76nbHmkxC2x47NDh/UKCMqcNkw+tdmOLOXx8Eo1jlXFj0tOjsHSpmyLyljxOmzjYSsAZPF0O84DzXax2jYlSIZr8Qlpj4JjVOaiEk8XUA3mjBPjMkPjDVoO69tSrR4XX4eDU4NVeGU50uazS5o82SE6Qbbbb9CmPG8AhmY6OeMSxO1Z2tp3HWDvCi/FeD2vw6Qz4RO5wGnir2lA6LapBu29CDHblZhGJcnFaLwaU66iEEXPSQNPvzlU8HLH/aYRijX20hpdZ7f4m6b9YCw5MrKOpJjxrDc2UHNNRC3i5gelzdAJ6/cqxZGUk5D8JxZudrbFMTHIDuOs9je1BIWSFPWxUxZXuL5WyOAcXBxLLNzTnDXpvr0re5V+So/WN7oWiyQpa2GmLK55fK2RwDnODyWWbmnOF9t9elb3KzyVH6xvdCgynFWEqrirCVBostT+xv9NneWHQ+KP1sCy8tGO8EeSLDPZr1nldCxaLxR+ti9La/a+f04tf7nw2dO+wWU1+hYMayY1coYrZVhyrMlWHKkKxJVhyrMlWHKtka6xJViSrLlWJKtsYVsckOcqH03fTcpqAUJZLOtiFGeh7u45TXDJnBcO9789v27Nr3b7vRERcbpEREBERB5SBa6qjW1IWPNHdBwmV2T7K2EsdyXNOdHJ5jv6g6iP8BRJQ1lXhVXnN+zljNnNOlkjTsPnNNta+g6qnXJ5UZMxVrLPGa9viStHKZu3t3fJErb5J5W02Jx8ghkoH2lO48odJHnN3++y20tH5vuP+V894rg1Vh8gc67c112VERIbfZZw0tO4/Fdfk7wrTRAMrY+PaNHGx2bL2tPJd8E4OXf4vgNNVjNqqdkui13DljqeNI7Co+xrghpnEupZ305813LZ1AixA67qRMJyxw+rsI6pgcf3cv2b/yvtfsutw+lY7Z2gqDgckMJqKOmMVTKJXCRxa8Oc4ZhDbDlWtqOhb3K3yVH6xvdC3EmFNOpxHuK95aGOQR8Y0P4vS2+q9rXttRWthpXv1Cw846v9rPZSMjBJ0kC5c7UN+5c/lPl/R0N2B3hEw0cVERZp/G/U3q0ncokykyvrcRObI/NjJ0U8Vww9F9rz1+4K8I7PLXK2lnBpoH8c4uDnSM8k3NN7Z33j1aN6yaPxR+tij7C8BnBD3DM0GzD4xuNvQu2wetEjR5zRZzdoI0Xt0L0NtZ/HZ6uPXn+fLdRrJjWLEVlRq5McVsqw5VmSrDlSLWJKsOVZkqw5VsjXWJKsSVZcqxZB06AtsYVlZOn9upPSPccpkoHKKMiMPdPVCW3Igvp2OeQQB7jf3dKlqijsFwbyy5yeUdm2nGDLREXI6RERAREQFaQrkQY0sV1r6ilW4IXm+O6DlaygDgQ5ocCLFpFwR0EHWuIxng/gkJMJNO47Byo/wAp1dhtuUry011hTUW5BA+IZFVkV7MbMOmNwv8AldY+6618dRXUnivqKa2wGSNvu0AqepaDcsWSg3K8pwh+HL3FG+LXv/ibE/vtKYnl3iVRHxclUQ06HcW1kZf1uYAbbhYKVJcGjd40TXdbQfmrIsn4QQRBGCNREbQR22Q4RTg+StRUWLm8Sw/ecOU70Wa+027V3GEZMxQeIy7tr3aXnt2dQXYQ4buWwp8OHQocOciwbO2LEr8ks858bjFINThqPWP12rvoaMDYskU42hZYZ5YXnGpljMpxUTPfWUvl6cvaP3sOkdZA1dtlk0mUFO794G7ngt+OpSZJQNK1NdkzDL48LHnpLRf3610zcy97H/jRdCzu1yvhsbvFe13ouB+S8pHLbT5B0p/dFvovf8rrFPB9T9D/AM3+lnNbS9WN0s/Rp5ngayB1la+eriGuRvYb/JdXHkBTDWxx63n+llsqTI2mZa1O0+kM7vXV+p055p/BnfJHDJnSm0ET5T+FpsOvo7VvMKyMnmIdVO4tuvimG7juLtQ+PYpHpsKa0AAAAbALD3LOip2t2LXnu8r1Yzhsx22M7etrsKwpkLGtYwMa0WAGr/Z3rbNFlVFyc8ugREQEREBERAREQFQoiCxy8XoiDGkWO9EQeRVWoiDJiWXGiIMhquCIgqiIgoVYURBVqvREBERAREQEREBERB//2Q==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5228" y="3965454"/>
            <a:ext cx="1066799" cy="1066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0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81400" y="2514600"/>
            <a:ext cx="1066799" cy="1066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9" name="Can 28"/>
          <p:cNvSpPr/>
          <p:nvPr/>
        </p:nvSpPr>
        <p:spPr>
          <a:xfrm>
            <a:off x="7086599" y="2660946"/>
            <a:ext cx="914400" cy="774107"/>
          </a:xfrm>
          <a:prstGeom prst="can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6779135" y="3505200"/>
            <a:ext cx="15293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Database Server 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51617" y="3513032"/>
            <a:ext cx="11300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Participant 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8027" y="5018391"/>
            <a:ext cx="10783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Coordinator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62272" y="3047999"/>
            <a:ext cx="2624328" cy="1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4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11183" y="3951591"/>
            <a:ext cx="1066799" cy="1066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55" name="Can 54"/>
          <p:cNvSpPr/>
          <p:nvPr/>
        </p:nvSpPr>
        <p:spPr>
          <a:xfrm>
            <a:off x="7116382" y="4097937"/>
            <a:ext cx="914400" cy="774107"/>
          </a:xfrm>
          <a:prstGeom prst="can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/>
          <p:cNvSpPr txBox="1"/>
          <p:nvPr/>
        </p:nvSpPr>
        <p:spPr>
          <a:xfrm>
            <a:off x="6808918" y="4942191"/>
            <a:ext cx="15293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Database Server 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581400" y="4950023"/>
            <a:ext cx="11300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Participant 2</a:t>
            </a:r>
          </a:p>
        </p:txBody>
      </p:sp>
      <p:cxnSp>
        <p:nvCxnSpPr>
          <p:cNvPr id="58" name="Straight Connector 57"/>
          <p:cNvCxnSpPr/>
          <p:nvPr/>
        </p:nvCxnSpPr>
        <p:spPr>
          <a:xfrm>
            <a:off x="4492055" y="4484990"/>
            <a:ext cx="2624328" cy="1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9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11183" y="5399391"/>
            <a:ext cx="1066799" cy="1066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0" name="Can 59"/>
          <p:cNvSpPr/>
          <p:nvPr/>
        </p:nvSpPr>
        <p:spPr>
          <a:xfrm>
            <a:off x="7116382" y="5545737"/>
            <a:ext cx="914400" cy="774107"/>
          </a:xfrm>
          <a:prstGeom prst="can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6808918" y="6389991"/>
            <a:ext cx="15293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Database Server 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581400" y="6397823"/>
            <a:ext cx="11300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Participant 3</a:t>
            </a:r>
          </a:p>
        </p:txBody>
      </p:sp>
      <p:cxnSp>
        <p:nvCxnSpPr>
          <p:cNvPr id="63" name="Straight Connector 62"/>
          <p:cNvCxnSpPr/>
          <p:nvPr/>
        </p:nvCxnSpPr>
        <p:spPr>
          <a:xfrm>
            <a:off x="4492055" y="5932790"/>
            <a:ext cx="2624328" cy="1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4" name="Straight Connector 1023"/>
          <p:cNvCxnSpPr/>
          <p:nvPr/>
        </p:nvCxnSpPr>
        <p:spPr>
          <a:xfrm flipV="1">
            <a:off x="1644976" y="3124200"/>
            <a:ext cx="5786" cy="841254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6" name="Straight Arrow Connector 1025"/>
          <p:cNvCxnSpPr/>
          <p:nvPr/>
        </p:nvCxnSpPr>
        <p:spPr>
          <a:xfrm>
            <a:off x="1650762" y="3124200"/>
            <a:ext cx="2083038" cy="0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1" name="Straight Arrow Connector 1030"/>
          <p:cNvCxnSpPr/>
          <p:nvPr/>
        </p:nvCxnSpPr>
        <p:spPr>
          <a:xfrm>
            <a:off x="1955562" y="4484990"/>
            <a:ext cx="1828800" cy="0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/>
          <p:cNvCxnSpPr/>
          <p:nvPr/>
        </p:nvCxnSpPr>
        <p:spPr>
          <a:xfrm flipV="1">
            <a:off x="1701324" y="4950023"/>
            <a:ext cx="0" cy="1069778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/>
          <p:cNvCxnSpPr/>
          <p:nvPr/>
        </p:nvCxnSpPr>
        <p:spPr>
          <a:xfrm>
            <a:off x="1701324" y="6019800"/>
            <a:ext cx="2083038" cy="0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6" name="TextBox 1035"/>
          <p:cNvSpPr txBox="1"/>
          <p:nvPr/>
        </p:nvSpPr>
        <p:spPr>
          <a:xfrm>
            <a:off x="1905000" y="2768838"/>
            <a:ext cx="16619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VOTE_REQUEST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905000" y="4126468"/>
            <a:ext cx="16619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VOTE_REQUEST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905000" y="5650468"/>
            <a:ext cx="16619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VOTE_REQUEST</a:t>
            </a:r>
          </a:p>
        </p:txBody>
      </p:sp>
      <p:sp>
        <p:nvSpPr>
          <p:cNvPr id="1039" name="TextBox 1038"/>
          <p:cNvSpPr txBox="1"/>
          <p:nvPr/>
        </p:nvSpPr>
        <p:spPr>
          <a:xfrm>
            <a:off x="76670" y="2514600"/>
            <a:ext cx="27631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Phase I: </a:t>
            </a:r>
            <a:r>
              <a:rPr lang="en-US" sz="2000" b="1" dirty="0" smtClean="0">
                <a:solidFill>
                  <a:srgbClr val="FF0000"/>
                </a:solidFill>
              </a:rPr>
              <a:t>Voting(Commit)</a:t>
            </a:r>
            <a:endParaRPr lang="en-US" sz="2000" b="1" dirty="0">
              <a:solidFill>
                <a:srgbClr val="FF0000"/>
              </a:solidFill>
            </a:endParaRPr>
          </a:p>
        </p:txBody>
      </p:sp>
      <p:cxnSp>
        <p:nvCxnSpPr>
          <p:cNvPr id="84" name="Straight Connector 83"/>
          <p:cNvCxnSpPr/>
          <p:nvPr/>
        </p:nvCxnSpPr>
        <p:spPr>
          <a:xfrm flipH="1">
            <a:off x="1905000" y="3435053"/>
            <a:ext cx="1828800" cy="0"/>
          </a:xfrm>
          <a:prstGeom prst="line">
            <a:avLst/>
          </a:prstGeom>
          <a:ln w="22225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Arrow Connector 84"/>
          <p:cNvCxnSpPr/>
          <p:nvPr/>
        </p:nvCxnSpPr>
        <p:spPr>
          <a:xfrm>
            <a:off x="1905000" y="3435053"/>
            <a:ext cx="0" cy="691415"/>
          </a:xfrm>
          <a:prstGeom prst="straightConnector1">
            <a:avLst/>
          </a:prstGeom>
          <a:ln w="22225">
            <a:solidFill>
              <a:srgbClr val="00B050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/>
          <p:cNvCxnSpPr/>
          <p:nvPr/>
        </p:nvCxnSpPr>
        <p:spPr>
          <a:xfrm flipH="1">
            <a:off x="1955562" y="4872044"/>
            <a:ext cx="1828800" cy="0"/>
          </a:xfrm>
          <a:prstGeom prst="straightConnector1">
            <a:avLst/>
          </a:prstGeom>
          <a:ln w="22225">
            <a:solidFill>
              <a:srgbClr val="00B050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/>
          <p:cNvCxnSpPr/>
          <p:nvPr/>
        </p:nvCxnSpPr>
        <p:spPr>
          <a:xfrm flipH="1">
            <a:off x="1913546" y="5650468"/>
            <a:ext cx="1828800" cy="8546"/>
          </a:xfrm>
          <a:prstGeom prst="line">
            <a:avLst/>
          </a:prstGeom>
          <a:ln w="22225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/>
          <p:cNvCxnSpPr/>
          <p:nvPr/>
        </p:nvCxnSpPr>
        <p:spPr>
          <a:xfrm flipV="1">
            <a:off x="1913546" y="4950737"/>
            <a:ext cx="0" cy="708277"/>
          </a:xfrm>
          <a:prstGeom prst="straightConnector1">
            <a:avLst/>
          </a:prstGeom>
          <a:ln w="22225">
            <a:solidFill>
              <a:srgbClr val="00B050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1895740" y="3107108"/>
            <a:ext cx="16369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VOTE_COMMIT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981200" y="4532392"/>
            <a:ext cx="16369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VOTE_COMMIT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989746" y="5329290"/>
            <a:ext cx="16369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VOTE_COMMIT</a:t>
            </a:r>
          </a:p>
        </p:txBody>
      </p:sp>
    </p:spTree>
    <p:extLst>
      <p:ext uri="{BB962C8B-B14F-4D97-AF65-F5344CB8AC3E}">
        <p14:creationId xmlns:p14="http://schemas.microsoft.com/office/powerpoint/2010/main" val="16138545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0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10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10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10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6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9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2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5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8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1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4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7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  <p:bldP spid="33" grpId="0"/>
      <p:bldP spid="35" grpId="0"/>
      <p:bldP spid="42" grpId="0"/>
      <p:bldP spid="55" grpId="0" animBg="1"/>
      <p:bldP spid="56" grpId="0"/>
      <p:bldP spid="57" grpId="0"/>
      <p:bldP spid="60" grpId="0" animBg="1"/>
      <p:bldP spid="61" grpId="0"/>
      <p:bldP spid="62" grpId="0"/>
      <p:bldP spid="1036" grpId="0"/>
      <p:bldP spid="79" grpId="0"/>
      <p:bldP spid="80" grpId="0"/>
      <p:bldP spid="1039" grpId="0"/>
      <p:bldP spid="89" grpId="0"/>
      <p:bldP spid="90" grpId="0"/>
      <p:bldP spid="9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1143000"/>
          </a:xfrm>
        </p:spPr>
        <p:txBody>
          <a:bodyPr>
            <a:normAutofit/>
          </a:bodyPr>
          <a:lstStyle/>
          <a:p>
            <a:r>
              <a:rPr lang="en-US" dirty="0"/>
              <a:t>The Two-Phase Commit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24000"/>
            <a:ext cx="8458200" cy="5257800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§"/>
            </a:pPr>
            <a:r>
              <a:rPr lang="en-US" sz="2800" dirty="0" smtClean="0"/>
              <a:t>The two-phase commit protocol (2PC) can be used to ensure atomicity and consistency </a:t>
            </a:r>
            <a:endParaRPr lang="en-US" sz="2600" dirty="0" smtClean="0"/>
          </a:p>
          <a:p>
            <a:pPr lvl="1">
              <a:buFont typeface="Wingdings" pitchFamily="2" charset="2"/>
              <a:buChar char="§"/>
            </a:pPr>
            <a:endParaRPr lang="en-US" dirty="0"/>
          </a:p>
          <a:p>
            <a:pPr lvl="2">
              <a:buFont typeface="Wingdings" pitchFamily="2" charset="2"/>
              <a:buChar char="§"/>
            </a:pPr>
            <a:endParaRPr lang="en-US" sz="1800" dirty="0"/>
          </a:p>
          <a:p>
            <a:pPr lvl="1">
              <a:buFont typeface="Wingdings" pitchFamily="2" charset="2"/>
              <a:buChar char="§"/>
            </a:pPr>
            <a:endParaRPr lang="en-US" sz="1800" dirty="0"/>
          </a:p>
        </p:txBody>
      </p:sp>
      <p:sp>
        <p:nvSpPr>
          <p:cNvPr id="28" name="AutoShape 2" descr="data:image/jpeg;base64,/9j/4AAQSkZJRgABAQAAAQABAAD/2wCEAAkGBxAPEA8UEA8WEBUQEBQQFBARFBYVERAVFBUXFhQVGBQYKCggGBsnHRQVITIhJiksLi4uFx8zODMtNygtLywBCgoKDg0OGxAQFywkHx0uLC0yLC43LC8sLDQvLCsuLywsLCw3LC8sLC0rNDcsLCwsLCwsLCwsLSwsLCwsLCwsLP/AABEIAOEA4QMBIgACEQEDEQH/xAAcAAEAAQUBAQAAAAAAAAAAAAAABwECBAUGAwj/xABGEAABAwIBBggLBQgDAAMAAAABAAIDBBEFBhIhMUFhBxMiNVFxgbIUMjNScnN0kaGxsyNCYpLwJEOCosHC0eElNFNEVJP/xAAZAQEBAAMBAAAAAAAAAAAAAAAAAQIDBAX/xAArEQEBAAEDAAkEAgMAAAAAAAAAAQIDBBESITEyQVFhcYEUM6HRE/AiYpH/2gAMAwEAAhEDEQA/AJxREQEREBERAREQEREBERARczlTl1Q4ddsknGS20U8VnSbs7YwdZG66hzKrhBrsQJZneDwuNhBCTd99QfJ4z+oWBvqROUp5V8JdFQ5zIz4XMNHFxEcWw/jl1DqFzuCiLHsr8QxOQNfI6zjyKanDgz8reU89d91ltMl+DSqqs19RekiNjZw+3eN0Z8Trd7ipWwLJ2jw1n2EYYSLOmfypX9bzp7BYblREuS3CPXUBDJCaqJpsYpnHjGWOkNkNyLdDrjRbQpiyXyzosSFoJM2S13U8tmzN6bDU4b2kha7KTI6ixIZz2ZkhGioisJN2dseOvssolylyFrcOPGAGaNhzhUQXBjtqLmjlRneLgdKHY+jEUGZKcK1VTZrKwGri1cZoFQwdeqTtsfxFS9gGUVJXsz6WZslvGZqkjvscw6W/I7FDltUREUREQEREBERAREQEREBERAREQEREBFr8axqmoozJUzNibszvGcehrRpcdwBKibKrhbmlzmUDOIZq4+QAzO9FulrOs3PUUEn5R5U0eHNvUzBriLtibypX+iwabbzYb1D+VfClV1ecymvRxG4u0/bvG+QeJ1N0jzitFgWTFdijy9jXODncurnc7MJ1El5uZD1X32Ur5McHdHRZr5B4VKNPGSgcWw9LI9IHWbneFU7UZZM5B1tfZ+b4PE434+YG776SWM1v69APSpayayMosOAcxmfIBpqJbF49HYwdXaSt1PWhvi8o/Ba6eZz/ABj2bB2KcjMqMRA0MF951e7atZLI5xu43Qq0rEXQzuYbtNt2w9i2lNibXaHck9P3T27FpyqFBh5UcHVHW5z4v2WU6c+MDi3n8cegdosetRVi+AV+ESte4OizTyKqBxzDuzxYtv5rrX6Cpnpqx8eo3HmnV/pbSKrimaWuA5QsY3gFrgdY06CNysojrJXhde3NjxFmeNXhMQ5Y3viGg9bbeiVK2GYnBVRiSnlbMw/eYbi+0HoO46VG2VHBbBNnPoXCnfr4l1zA47tsfZcbgo4LcRwaov8AaUknSNMcwHvZK3dptuKyH02ii/JXhcikzY8QZxDtA4+MEwuP4m6XM+I6SFJlPOyRjXxvbI1wu17CHNcOkOGghRXoiIgIiICIiAiIgIiICKyWRrGlznBrWi5c4gAAaySdQUcZVcLVPBnMoWiqfq443FO07jrk7LD8SCQq6tip43STSNiY3W97g1o7Sotyr4XQM6PDmZ2zwmZpzf4IjpPW63olR9VVeIYxUAOMlXJrbG0ciIHoaLNjGzONt5K77JjgpY2z8Qfxh1+DxEhg9OTQXdQsN5VRwNJQ4hjE7nDjKqS9nzSHkR7bF55LBpvmjsCkzJjgvpoM19YRVSa+LtanafR1yfxaPwruIIooGNZExsbGizY4wGtb1AaAvKWYncNynJw9nzMYAGgaBYNboAA2blhTTudrOjoGpUKsKivMq0r0KsKiPMq0q8q0oLCrSryrSgtVpVxVEGXS4i9mg8odB1jqKz5mU9ZGY5WNla7XHIAe2x27wsKnw5x0vOYP5j2bFmszWCzBm9J+8e1VUX5d8HMVJDLU00pDI80ugk5RAc4N5Ems6SNDr7dK9uAmskFTVQ5x4swcbmX5Ie17W5wGwkON+mw6F2fCVzVW+gz6rFwnAZzhUexu+rEsk8U4IiKKIiICIiAiIgIiIPm7KvKStxOpfG573M44shpYwczQ6zBmDx36BpNzcm1hoXS5McFUj819e/im6/B4yDIdz36Q3qFzvC5XJfnel9uH1F9Dq1IwsLwynpIxHTxNiYNjRpcelx1uO8kle73nZoV7gvMhYq8XKwr1IXmQg8yrCvQqwqDzKsK9CrCiPMq0q8q0oLCrSvaOFzzZov8AIdqz4aFjNL+UejYP8oMCno3yahYecdX+1sIYGRahnO84/wBF6PkJ6uheZKqj3k61YShKsJQa/hJ5qrfQZ9Vi4HgM5wn9if8AViXfcJHNVb6tv1GLgOA3nGb2KT6sKsTxTmiIiiIiAiIgIiICIiD5pyX53pfbh9RTrjlY6BsTm6ftQC3zmlrrj4fBQVkvzvS+3D6inHKMciL1w7j0qRn01Q2Vgew3B946Qd6q4LnKNz4XZ0WkHxozqdvHQV0FLVMmF2mxGtp0OaeghRRwXmV7PbZeRCDyKsK9SvMoPMqwr0K9YqUu16B8VEYmaTqF9yy4aDa82/CNfvWUxrWeKO3arXOVVXOAFmiw3LzJQlWkoKEqwlVJVhKASrCUJVpKiMThH5rrfVt+o1R9wG85TewyfWgUhcIvNdd6od9qjvgOP/Jy+wS/Wp1lC9qdkREUREQEREBERAREQfNOS/O9L7cPqKc8oPJsPRID/K5QZkvzvS+3D6inLKXyGjTyv7HJUjTYRiEVQ3OieHC9jsIO8HSFtmjSDqI2jX71BVJi89HPnMJb/UaLgg6CNx+Ck/JzLOnqg1shEUmrSfs3Hc46juPxUHaRVXnDtH+F6ANdqP66lhNXhKiti+A9a8xA47Lda1wr5GanX3O0/wC1XHsRkZFTlhzTM9gcRrAIBIHQg2zImt3lVc66oVQlBQlWkoSrCUAlWEqpKsJQCVYShKtJURQlWkoSrCUHnwic113qh32qOeA/nST2CX61OpG4Q+a671P9zVHPAhzpJ7DL9WBZQqd0REUREQEREBERAREQfNOS/O9L7cPqKdMoDaJp6Hg/yuUF5L870vtw+opyyl8h/F/Y5KkcJWYLS4oxz4nBkgNnAjb+No1H8Q+K5ym4P63OfYZmboBL2gP6td+2y9cpI58NrHPhu1ucSCNovpHQd4K6rJvLiCoAbMRC/Vnfu3HrPiHcdG9QcbRZU1uHP4p5JDDm8XILtFtYtrb2Gy6mh4Q6eWwlYYz0tIc33GxHuK2mU2SENeQ/P4t+aBnWzmvtqJGg3touDqUfYvkFVwXLW8Y0bY+V/L43wKdQkmkxGKoaXQvzwDY6CCDrsQetZOUvkqH1jO6Fy+QEJZSvDhYiXN0i2pjL/G66jKXyVD6xndCDoCVaSjirCUUJVhKqSrCUAlWEoSrSVEUJVpKEqwlAJVhKqSrCUFeEHmuu9Se8FG/Ajzo/2KX6sKknhA5rrvUH5hRtwJc6O9il+pCsoVPCIiKIiICIiAiIgIiIPmnJfnel9uH1FOmUAvE0HbIB/K5QXkvzvS+3D6inXHvJt9YO65KkaWqhiqGFlU242Tge4vA8U/jGjpAXBZSZBTQEyQctpGcHM03Gu9hrG8KRadZMbCy/FuzLm5YRnRuPSWdO8WO9QQzheVFbQnNzjmj7juVH+U6uyy6yh4SIngCaLNPTGdH5XWt7yunxfAqWqB46AxOP72K72HrA5Q9x61wmM8HErQX0z2zs6YyDbrA1Hcg7ehxOKqZnxEkA5puLEGwNvcQsrKbyVD6xndC5vIamfFTPa9paRKRYi2pjB/RdJlP5Kh9YzuhFbxxVhKq4qwlAJVhKErX4vi8FIzPnkDAdQ1ueehrRpKSW3iJbx2s0lWkri6nKmsn/AOtTtgZ/61Ol5HSGDV8QtNVTyP8A+xiUj/wQnMb1WZoXVhs8729TRluMZ2JIlkDfGIb1m3zWM7EIf/aP87f8qMTBQg3Mb5CfvOJues3Cr+xf/VPvP+Vu+h/2/DX9V6JNbVRu8WRrupwPyV7lFxjoTrp3DqJ/yvWBkDbcTUz0/QGvcG+4KXY+WX4Wbr0Shl/zXXeoPzCjXgT50d7HL9SJZtZiOIzU00PhUdXHKwsOe1olaD5rm7fSWHwWWosUHhLhCH08kTTJyQXufGWi50ac0rTnt88fVtx1sck8IiLnbhERAREQEREBERB805L870vtw+op1x7ybfWDuuUFZL87Uvtw+op1x7ybfWDuuSpGtp1mtWDAelc7JjksznFkrom2u1sYjBzTpaXmRrruI02FgL202utGvr4aOPSzrHPOYTmuzasaaMZ2cOS7z2ktf+YaVh5OYoahjg+xfGRcgWD2uvmuzdhu1wI6W31EBZ8y2Y5TKSzsrKXmcxgPbYuJcXFzs4k26ANgGwBVyn8lResZ3QqyqmVHkqL1je6FkrcOKsJVXFWEojBxrEm0sEsztIjbfN1ZzibNb2kgKN5JnAioqftZ5RnNafFhbsDR90C/60ldZwkc3y+sj74Wtx3A5KinhqqdpkDYwyVjRdzLaSQNouTfdY9K9DaTGY9K+N4cm45t4ng5apq3yHluJ3amjsXiqAqq9FxiIiAiIgq1xBuDY9I0FZ0da2QcXUNEjDozj4zd9/6rAWwwTBpq2QRwtJ899uRGOlx+Q1lY5cSc1ZzbxHb8HePSxVBoKh5kaWF9NI48rNaLmInaLAkdGadlgJIURROjGO4cyI5wiL4y4feIjkztO3XbsKl1eTucZMpZ4zl6OhbceL4CIi524REQEREBUKqvNxQfNuS/O1L7cPqKdce8m31g7rlBWS3O1L7cPqKdce8m31g7rkqRqRHntc29s5pbfouLLhpGvjc8OFnDx23AzDtvf7ush2oixXe06yH07HkFzGuLdRc0Et6idS5NztsdfGS3sa9TTmc4rS5F0bmsfIdUgaxv4msL3F43EyEA7Q240ELeTL3avCZb8MJhjMZ2RnJxOIwpVTKnyVF6xvdCrKqZU+SovWN7oWbJs3FWEqrirCVEczwjH9gk9ZH3wrcl8TfTi7ToJ5Tdh0D4qvCL/wBCT1kfeCwcN8QfrYF6W2kujZfNx61s1JZ5OrrsEw+vGe+Iwvfp42HkknaXDUT1g9a0FVwauN/B6xj+hsrS09rm3+S6LDHfZM6j8ysqZ9mOI1gFYTUzwvGNZ9HHKc2I/qOD/EWaomSehI3+/NWKcisSH/w3f/pEfk5do+ulGqRw6jZYsuJT/wDvJ+dy3TW1fT8tV08PVzMeQuJuP/Vzd7pYrD3OJ+CzouDqqGmeeCBu0ueSR2WA+Ky566Y65pD1vd/layY30nTvKy6epfGT4Y9HCeFbCPAsJpdM9U+scP3cIzWHtB/vXji2VT3R8TSxNo4dIzY9D3A67uFrX2207ytTKsSVZTDm85Xn++SXPjqnUysledcN9N/03qcgoOyWH/KYceh7/puU3tK5N7357Ona92+69ERcbpEREBERBQrwmcvZxWFUvQfO+S3O1L7a36inbH/Jt9YO65QTkrztSe2t+op2x/ybfWDuuSpER4Ll9NRTGnxWNzbGzZ7cq2wuA0OG8dG1SjR1UczGvie2RjhcPYbtPaoZnx1pcaPHackAkR1QA42MHU640OHzt95VbguJ4V+0YVUeGUzuV9nywQNj49OrVfZp0hOBNzV4zKPMnuF2mksytjNM/UXtBdGd9vGb8V3FLiUFS3OgmZMOmNwdbrA0jtUFsqplV5Ki9Y3uhVlVMq/JUfrG90IrPcVYSquKsJURz2XYvRPH44+8sHD/ABR+tgWflt/03+mzvLBoPFH62BentftfP6cWv9z4dJhz/s29vzKypX8l3UVraN/JHb81lF/JPUteU62eN6mBKsOVZkqw5VsjCsSVYcqzJVhyrZGusSVYkqy5ViSrbGFZ+SY/5Gi9N303KaWFQvklzjRem76blNLAuHe9+ezs2vdvuvCqqBVXG6RERAREQechWtq3LYSrVVhQQHkpzrSe2t76nbHmkxC2x47NDh/UKCMqcNkw+tdmOLOXx8Eo1jlXFj0tOjsHSpmyLyljxOmzjYSsAZPF0O84DzXax2jYlSIZr8Qlpj4JjVOaiEk8XUA3mjBPjMkPjDVoO69tSrR4XX4eDU4NVeGU50uazS5o82SE6Qbbbb9CmPG8AhmY6OeMSxO1Z2tp3HWDvCi/FeD2vw6Qz4RO5wGnir2lA6LapBu29CDHblZhGJcnFaLwaU66iEEXPSQNPvzlU8HLH/aYRijX20hpdZ7f4m6b9YCw5MrKOpJjxrDc2UHNNRC3i5gelzdAJ6/cqxZGUk5D8JxZudrbFMTHIDuOs9je1BIWSFPWxUxZXuL5WyOAcXBxLLNzTnDXpvr0re5V+So/WN7oWiyQpa2GmLK55fK2RwDnODyWWbmnOF9t9elb3KzyVH6xvdCgynFWEqrirCVBostT+xv9NneWHQ+KP1sCy8tGO8EeSLDPZr1nldCxaLxR+ti9La/a+f04tf7nw2dO+wWU1+hYMayY1coYrZVhyrMlWHKkKxJVhyrMlWHKtka6xJViSrLlWJKtsYVsckOcqH03fTcpqAUJZLOtiFGeh7u45TXDJnBcO9789v27Nr3b7vRERcbpEREBERB5SBa6qjW1IWPNHdBwmV2T7K2EsdyXNOdHJ5jv6g6iP8BRJQ1lXhVXnN+zljNnNOlkjTsPnNNta+g6qnXJ5UZMxVrLPGa9viStHKZu3t3fJErb5J5W02Jx8ghkoH2lO48odJHnN3++y20tH5vuP+V894rg1Vh8gc67c112VERIbfZZw0tO4/Fdfk7wrTRAMrY+PaNHGx2bL2tPJd8E4OXf4vgNNVjNqqdkui13DljqeNI7Co+xrghpnEupZ305813LZ1AixA67qRMJyxw+rsI6pgcf3cv2b/yvtfsutw+lY7Z2gqDgckMJqKOmMVTKJXCRxa8Oc4ZhDbDlWtqOhb3K3yVH6xvdC3EmFNOpxHuK95aGOQR8Y0P4vS2+q9rXttRWthpXv1Cw846v9rPZSMjBJ0kC5c7UN+5c/lPl/R0N2B3hEw0cVERZp/G/U3q0ncokykyvrcRObI/NjJ0U8Vww9F9rz1+4K8I7PLXK2lnBpoH8c4uDnSM8k3NN7Z33j1aN6yaPxR+tij7C8BnBD3DM0GzD4xuNvQu2wetEjR5zRZzdoI0Xt0L0NtZ/HZ6uPXn+fLdRrJjWLEVlRq5McVsqw5VmSrDlSLWJKsOVZkqw5VsjXWJKsSVZcqxZB06AtsYVlZOn9upPSPccpkoHKKMiMPdPVCW3Igvp2OeQQB7jf3dKlqijsFwbyy5yeUdm2nGDLREXI6RERAREQFaQrkQY0sV1r6ilW4IXm+O6DlaygDgQ5ocCLFpFwR0EHWuIxng/gkJMJNO47Byo/wAp1dhtuUry011hTUW5BA+IZFVkV7MbMOmNwv8AldY+6618dRXUnivqKa2wGSNvu0AqepaDcsWSg3K8pwh+HL3FG+LXv/ibE/vtKYnl3iVRHxclUQ06HcW1kZf1uYAbbhYKVJcGjd40TXdbQfmrIsn4QQRBGCNREbQR22Q4RTg+StRUWLm8Sw/ecOU70Wa+027V3GEZMxQeIy7tr3aXnt2dQXYQ4buWwp8OHQocOciwbO2LEr8ks858bjFINThqPWP12rvoaMDYskU42hZYZ5YXnGpljMpxUTPfWUvl6cvaP3sOkdZA1dtlk0mUFO794G7ngt+OpSZJQNK1NdkzDL48LHnpLRf3610zcy97H/jRdCzu1yvhsbvFe13ouB+S8pHLbT5B0p/dFvovf8rrFPB9T9D/AM3+lnNbS9WN0s/Rp5ngayB1la+eriGuRvYb/JdXHkBTDWxx63n+llsqTI2mZa1O0+kM7vXV+p055p/BnfJHDJnSm0ET5T+FpsOvo7VvMKyMnmIdVO4tuvimG7juLtQ+PYpHpsKa0AAAAbALD3LOip2t2LXnu8r1Yzhsx22M7etrsKwpkLGtYwMa0WAGr/Z3rbNFlVFyc8ugREQEREBERAREQFQoiCxy8XoiDGkWO9EQeRVWoiDJiWXGiIMhquCIgqiIgoVYURBVqvREBERAREQEREBERB//2Q==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5228" y="3965454"/>
            <a:ext cx="1066799" cy="1066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0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81400" y="2514600"/>
            <a:ext cx="1066799" cy="1066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9" name="Can 28"/>
          <p:cNvSpPr/>
          <p:nvPr/>
        </p:nvSpPr>
        <p:spPr>
          <a:xfrm>
            <a:off x="7086599" y="2660946"/>
            <a:ext cx="914400" cy="774107"/>
          </a:xfrm>
          <a:prstGeom prst="can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6779135" y="3505200"/>
            <a:ext cx="15293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Database Server 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51617" y="3513032"/>
            <a:ext cx="11300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Participant 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8027" y="5018391"/>
            <a:ext cx="10783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Coordinator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62272" y="3047999"/>
            <a:ext cx="2624328" cy="1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4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11183" y="3951591"/>
            <a:ext cx="1066799" cy="1066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55" name="Can 54"/>
          <p:cNvSpPr/>
          <p:nvPr/>
        </p:nvSpPr>
        <p:spPr>
          <a:xfrm>
            <a:off x="7116382" y="4097937"/>
            <a:ext cx="914400" cy="774107"/>
          </a:xfrm>
          <a:prstGeom prst="can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/>
          <p:cNvSpPr txBox="1"/>
          <p:nvPr/>
        </p:nvSpPr>
        <p:spPr>
          <a:xfrm>
            <a:off x="6808918" y="4942191"/>
            <a:ext cx="15293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Database Server 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581400" y="4950023"/>
            <a:ext cx="11300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Participant 2</a:t>
            </a:r>
          </a:p>
        </p:txBody>
      </p:sp>
      <p:cxnSp>
        <p:nvCxnSpPr>
          <p:cNvPr id="58" name="Straight Connector 57"/>
          <p:cNvCxnSpPr/>
          <p:nvPr/>
        </p:nvCxnSpPr>
        <p:spPr>
          <a:xfrm>
            <a:off x="4492055" y="4484990"/>
            <a:ext cx="2624328" cy="1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9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11183" y="5399391"/>
            <a:ext cx="1066799" cy="1066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0" name="Can 59"/>
          <p:cNvSpPr/>
          <p:nvPr/>
        </p:nvSpPr>
        <p:spPr>
          <a:xfrm>
            <a:off x="7116382" y="5545737"/>
            <a:ext cx="914400" cy="774107"/>
          </a:xfrm>
          <a:prstGeom prst="can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6808918" y="6389991"/>
            <a:ext cx="15293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Database Server 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581400" y="6397823"/>
            <a:ext cx="11300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Participant 3</a:t>
            </a:r>
          </a:p>
        </p:txBody>
      </p:sp>
      <p:cxnSp>
        <p:nvCxnSpPr>
          <p:cNvPr id="63" name="Straight Connector 62"/>
          <p:cNvCxnSpPr/>
          <p:nvPr/>
        </p:nvCxnSpPr>
        <p:spPr>
          <a:xfrm>
            <a:off x="4492055" y="5932790"/>
            <a:ext cx="2624328" cy="1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4" name="Straight Connector 1023"/>
          <p:cNvCxnSpPr/>
          <p:nvPr/>
        </p:nvCxnSpPr>
        <p:spPr>
          <a:xfrm flipV="1">
            <a:off x="1644976" y="3124200"/>
            <a:ext cx="5786" cy="841254"/>
          </a:xfrm>
          <a:prstGeom prst="line">
            <a:avLst/>
          </a:prstGeom>
          <a:ln w="254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6" name="Straight Arrow Connector 1025"/>
          <p:cNvCxnSpPr/>
          <p:nvPr/>
        </p:nvCxnSpPr>
        <p:spPr>
          <a:xfrm>
            <a:off x="1650762" y="3124200"/>
            <a:ext cx="2083038" cy="0"/>
          </a:xfrm>
          <a:prstGeom prst="straightConnector1">
            <a:avLst/>
          </a:prstGeom>
          <a:ln w="25400"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1" name="Straight Arrow Connector 1030"/>
          <p:cNvCxnSpPr/>
          <p:nvPr/>
        </p:nvCxnSpPr>
        <p:spPr>
          <a:xfrm>
            <a:off x="1955562" y="4484990"/>
            <a:ext cx="1828800" cy="0"/>
          </a:xfrm>
          <a:prstGeom prst="straightConnector1">
            <a:avLst/>
          </a:prstGeom>
          <a:ln w="25400"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/>
          <p:cNvCxnSpPr/>
          <p:nvPr/>
        </p:nvCxnSpPr>
        <p:spPr>
          <a:xfrm flipV="1">
            <a:off x="1701324" y="4950023"/>
            <a:ext cx="0" cy="1069778"/>
          </a:xfrm>
          <a:prstGeom prst="line">
            <a:avLst/>
          </a:prstGeom>
          <a:ln w="254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/>
          <p:cNvCxnSpPr/>
          <p:nvPr/>
        </p:nvCxnSpPr>
        <p:spPr>
          <a:xfrm>
            <a:off x="1701324" y="6019800"/>
            <a:ext cx="2083038" cy="0"/>
          </a:xfrm>
          <a:prstGeom prst="straightConnector1">
            <a:avLst/>
          </a:prstGeom>
          <a:ln w="25400"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6" name="TextBox 1035"/>
          <p:cNvSpPr txBox="1"/>
          <p:nvPr/>
        </p:nvSpPr>
        <p:spPr>
          <a:xfrm>
            <a:off x="1905000" y="2768838"/>
            <a:ext cx="18825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GLOBAL_COMMIT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905000" y="4126468"/>
            <a:ext cx="18825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GLOBAL_COMMIT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905000" y="5650468"/>
            <a:ext cx="18825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GLOBAL_COMMIT</a:t>
            </a:r>
          </a:p>
        </p:txBody>
      </p:sp>
      <p:sp>
        <p:nvSpPr>
          <p:cNvPr id="1039" name="TextBox 1038"/>
          <p:cNvSpPr txBox="1"/>
          <p:nvPr/>
        </p:nvSpPr>
        <p:spPr>
          <a:xfrm>
            <a:off x="76670" y="2514600"/>
            <a:ext cx="17524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0070C0"/>
                </a:solidFill>
              </a:rPr>
              <a:t>Phase II: </a:t>
            </a:r>
            <a:r>
              <a:rPr lang="en-US" sz="2000" b="1" dirty="0" smtClean="0">
                <a:solidFill>
                  <a:srgbClr val="0070C0"/>
                </a:solidFill>
              </a:rPr>
              <a:t>Abort</a:t>
            </a:r>
            <a:endParaRPr lang="en-US" sz="2000" b="1" dirty="0">
              <a:solidFill>
                <a:srgbClr val="0070C0"/>
              </a:solidFill>
            </a:endParaRPr>
          </a:p>
        </p:txBody>
      </p:sp>
      <p:cxnSp>
        <p:nvCxnSpPr>
          <p:cNvPr id="39" name="Straight Connector 38"/>
          <p:cNvCxnSpPr/>
          <p:nvPr/>
        </p:nvCxnSpPr>
        <p:spPr>
          <a:xfrm>
            <a:off x="4478708" y="3048000"/>
            <a:ext cx="2624328" cy="1"/>
          </a:xfrm>
          <a:prstGeom prst="line">
            <a:avLst/>
          </a:prstGeom>
          <a:ln w="22225"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967950" y="2712815"/>
            <a:ext cx="1737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LOCAL_COMMIT</a:t>
            </a:r>
          </a:p>
        </p:txBody>
      </p:sp>
      <p:cxnSp>
        <p:nvCxnSpPr>
          <p:cNvPr id="41" name="Straight Connector 40"/>
          <p:cNvCxnSpPr/>
          <p:nvPr/>
        </p:nvCxnSpPr>
        <p:spPr>
          <a:xfrm>
            <a:off x="4495800" y="4487291"/>
            <a:ext cx="2624328" cy="1"/>
          </a:xfrm>
          <a:prstGeom prst="line">
            <a:avLst/>
          </a:prstGeom>
          <a:ln w="22225"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4985042" y="4152106"/>
            <a:ext cx="1737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LOCAL_COMMIT</a:t>
            </a:r>
          </a:p>
        </p:txBody>
      </p:sp>
      <p:cxnSp>
        <p:nvCxnSpPr>
          <p:cNvPr id="45" name="Straight Connector 44"/>
          <p:cNvCxnSpPr/>
          <p:nvPr/>
        </p:nvCxnSpPr>
        <p:spPr>
          <a:xfrm>
            <a:off x="4495800" y="5931969"/>
            <a:ext cx="2624328" cy="1"/>
          </a:xfrm>
          <a:prstGeom prst="line">
            <a:avLst/>
          </a:prstGeom>
          <a:ln w="22225"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985042" y="5596784"/>
            <a:ext cx="1737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LOCAL_COMMIT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5575" y="6096000"/>
            <a:ext cx="3273425" cy="609600"/>
          </a:xfrm>
          <a:prstGeom prst="round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dirty="0"/>
              <a:t>“Strict” consistency, which limits scalability!</a:t>
            </a:r>
          </a:p>
        </p:txBody>
      </p:sp>
    </p:spTree>
    <p:extLst>
      <p:ext uri="{BB962C8B-B14F-4D97-AF65-F5344CB8AC3E}">
        <p14:creationId xmlns:p14="http://schemas.microsoft.com/office/powerpoint/2010/main" val="11544969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0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10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10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36" grpId="0"/>
      <p:bldP spid="79" grpId="0"/>
      <p:bldP spid="80" grpId="0"/>
      <p:bldP spid="4" grpId="0"/>
      <p:bldP spid="44" grpId="0"/>
      <p:bldP spid="46" grpId="0"/>
      <p:bldP spid="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1143000"/>
          </a:xfrm>
        </p:spPr>
        <p:txBody>
          <a:bodyPr>
            <a:normAutofit/>
          </a:bodyPr>
          <a:lstStyle/>
          <a:p>
            <a:r>
              <a:rPr lang="en-US" dirty="0"/>
              <a:t>The Two-Phase Commit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24000"/>
            <a:ext cx="8458200" cy="5257800"/>
          </a:xfrm>
        </p:spPr>
        <p:txBody>
          <a:bodyPr>
            <a:normAutofit/>
          </a:bodyPr>
          <a:lstStyle/>
          <a:p>
            <a:pPr lvl="1">
              <a:buFont typeface="Wingdings" pitchFamily="2" charset="2"/>
              <a:buChar char="§"/>
            </a:pPr>
            <a:endParaRPr lang="en-US" dirty="0"/>
          </a:p>
          <a:p>
            <a:pPr lvl="2">
              <a:buFont typeface="Wingdings" pitchFamily="2" charset="2"/>
              <a:buChar char="§"/>
            </a:pPr>
            <a:endParaRPr lang="en-US" sz="1800" dirty="0"/>
          </a:p>
          <a:p>
            <a:pPr lvl="1">
              <a:buFont typeface="Wingdings" pitchFamily="2" charset="2"/>
              <a:buChar char="§"/>
            </a:pPr>
            <a:endParaRPr lang="en-US" sz="1800" dirty="0"/>
          </a:p>
        </p:txBody>
      </p:sp>
      <p:sp>
        <p:nvSpPr>
          <p:cNvPr id="28" name="AutoShape 2" descr="data:image/jpeg;base64,/9j/4AAQSkZJRgABAQAAAQABAAD/2wCEAAkGBxAPEA8UEA8WEBUQEBQQFBARFBYVERAVFBUXFhQVGBQYKCggGBsnHRQVITIhJiksLi4uFx8zODMtNygtLywBCgoKDg0OGxAQFywkHx0uLC0yLC43LC8sLDQvLCsuLywsLCw3LC8sLC0rNDcsLCwsLCwsLCwsLSwsLCwsLCwsLP/AABEIAOEA4QMBIgACEQEDEQH/xAAcAAEAAQUBAQAAAAAAAAAAAAAABwECBAUGAwj/xABGEAABAwIBBggLBQgDAAMAAAABAAIDBBEFBhIhMUFhBxMiNVFxgbIUMjNScnN0kaGxsyNCYpLwJEOCosHC0eElNFNEVJP/xAAZAQEBAAMBAAAAAAAAAAAAAAAAAQIDBAX/xAArEQEBAAEDAAkEAgMAAAAAAAAAAQIDBBESITEyQVFhcYEUM6HRE/AiYpH/2gAMAwEAAhEDEQA/AJxREQEREBERAREQEREBERARczlTl1Q4ddsknGS20U8VnSbs7YwdZG66hzKrhBrsQJZneDwuNhBCTd99QfJ4z+oWBvqROUp5V8JdFQ5zIz4XMNHFxEcWw/jl1DqFzuCiLHsr8QxOQNfI6zjyKanDgz8reU89d91ltMl+DSqqs19RekiNjZw+3eN0Z8Trd7ipWwLJ2jw1n2EYYSLOmfypX9bzp7BYblREuS3CPXUBDJCaqJpsYpnHjGWOkNkNyLdDrjRbQpiyXyzosSFoJM2S13U8tmzN6bDU4b2kha7KTI6ixIZz2ZkhGioisJN2dseOvssolylyFrcOPGAGaNhzhUQXBjtqLmjlRneLgdKHY+jEUGZKcK1VTZrKwGri1cZoFQwdeqTtsfxFS9gGUVJXsz6WZslvGZqkjvscw6W/I7FDltUREUREQEREBERAREQEREBERAREQEREBFr8axqmoozJUzNibszvGcehrRpcdwBKibKrhbmlzmUDOIZq4+QAzO9FulrOs3PUUEn5R5U0eHNvUzBriLtibypX+iwabbzYb1D+VfClV1ecymvRxG4u0/bvG+QeJ1N0jzitFgWTFdijy9jXODncurnc7MJ1El5uZD1X32Ur5McHdHRZr5B4VKNPGSgcWw9LI9IHWbneFU7UZZM5B1tfZ+b4PE434+YG776SWM1v69APSpayayMosOAcxmfIBpqJbF49HYwdXaSt1PWhvi8o/Ba6eZz/ABj2bB2KcjMqMRA0MF951e7atZLI5xu43Qq0rEXQzuYbtNt2w9i2lNibXaHck9P3T27FpyqFBh5UcHVHW5z4v2WU6c+MDi3n8cegdosetRVi+AV+ESte4OizTyKqBxzDuzxYtv5rrX6Cpnpqx8eo3HmnV/pbSKrimaWuA5QsY3gFrgdY06CNysojrJXhde3NjxFmeNXhMQ5Y3viGg9bbeiVK2GYnBVRiSnlbMw/eYbi+0HoO46VG2VHBbBNnPoXCnfr4l1zA47tsfZcbgo4LcRwaov8AaUknSNMcwHvZK3dptuKyH02ii/JXhcikzY8QZxDtA4+MEwuP4m6XM+I6SFJlPOyRjXxvbI1wu17CHNcOkOGghRXoiIgIiICIiAiIgIiICKyWRrGlznBrWi5c4gAAaySdQUcZVcLVPBnMoWiqfq443FO07jrk7LD8SCQq6tip43STSNiY3W97g1o7Sotyr4XQM6PDmZ2zwmZpzf4IjpPW63olR9VVeIYxUAOMlXJrbG0ciIHoaLNjGzONt5K77JjgpY2z8Qfxh1+DxEhg9OTQXdQsN5VRwNJQ4hjE7nDjKqS9nzSHkR7bF55LBpvmjsCkzJjgvpoM19YRVSa+LtanafR1yfxaPwruIIooGNZExsbGizY4wGtb1AaAvKWYncNynJw9nzMYAGgaBYNboAA2blhTTudrOjoGpUKsKivMq0r0KsKiPMq0q8q0oLCrSryrSgtVpVxVEGXS4i9mg8odB1jqKz5mU9ZGY5WNla7XHIAe2x27wsKnw5x0vOYP5j2bFmszWCzBm9J+8e1VUX5d8HMVJDLU00pDI80ugk5RAc4N5Ems6SNDr7dK9uAmskFTVQ5x4swcbmX5Ie17W5wGwkON+mw6F2fCVzVW+gz6rFwnAZzhUexu+rEsk8U4IiKKIiICIiAiIgIiIPm7KvKStxOpfG573M44shpYwczQ6zBmDx36BpNzcm1hoXS5McFUj819e/im6/B4yDIdz36Q3qFzvC5XJfnel9uH1F9Dq1IwsLwynpIxHTxNiYNjRpcelx1uO8kle73nZoV7gvMhYq8XKwr1IXmQg8yrCvQqwqDzKsK9CrCiPMq0q8q0oLCrSvaOFzzZov8AIdqz4aFjNL+UejYP8oMCno3yahYecdX+1sIYGRahnO84/wBF6PkJ6uheZKqj3k61YShKsJQa/hJ5qrfQZ9Vi4HgM5wn9if8AViXfcJHNVb6tv1GLgOA3nGb2KT6sKsTxTmiIiiIiAiIgIiICIiD5pyX53pfbh9RTrjlY6BsTm6ftQC3zmlrrj4fBQVkvzvS+3D6inHKMciL1w7j0qRn01Q2Vgew3B946Qd6q4LnKNz4XZ0WkHxozqdvHQV0FLVMmF2mxGtp0OaeghRRwXmV7PbZeRCDyKsK9SvMoPMqwr0K9YqUu16B8VEYmaTqF9yy4aDa82/CNfvWUxrWeKO3arXOVVXOAFmiw3LzJQlWkoKEqwlVJVhKASrCUJVpKiMThH5rrfVt+o1R9wG85TewyfWgUhcIvNdd6od9qjvgOP/Jy+wS/Wp1lC9qdkREUREQEREBERAREQfNOS/O9L7cPqKc8oPJsPRID/K5QZkvzvS+3D6inLKXyGjTyv7HJUjTYRiEVQ3OieHC9jsIO8HSFtmjSDqI2jX71BVJi89HPnMJb/UaLgg6CNx+Ck/JzLOnqg1shEUmrSfs3Hc46juPxUHaRVXnDtH+F6ANdqP66lhNXhKiti+A9a8xA47Lda1wr5GanX3O0/wC1XHsRkZFTlhzTM9gcRrAIBIHQg2zImt3lVc66oVQlBQlWkoSrCUAlWEqpKsJQCVYShKtJURQlWkoSrCUHnwic113qh32qOeA/nST2CX61OpG4Q+a671P9zVHPAhzpJ7DL9WBZQqd0REUREQEREBERAREQfNOS/O9L7cPqKdMoDaJp6Hg/yuUF5L870vtw+opyyl8h/F/Y5KkcJWYLS4oxz4nBkgNnAjb+No1H8Q+K5ym4P63OfYZmboBL2gP6td+2y9cpI58NrHPhu1ucSCNovpHQd4K6rJvLiCoAbMRC/Vnfu3HrPiHcdG9QcbRZU1uHP4p5JDDm8XILtFtYtrb2Gy6mh4Q6eWwlYYz0tIc33GxHuK2mU2SENeQ/P4t+aBnWzmvtqJGg3touDqUfYvkFVwXLW8Y0bY+V/L43wKdQkmkxGKoaXQvzwDY6CCDrsQetZOUvkqH1jO6Fy+QEJZSvDhYiXN0i2pjL/G66jKXyVD6xndCDoCVaSjirCUUJVhKqSrCUAlWEoSrSVEUJVpKEqwlAJVhKqSrCUFeEHmuu9Se8FG/Ajzo/2KX6sKknhA5rrvUH5hRtwJc6O9il+pCsoVPCIiKIiICIiAiIgIiIPmnJfnel9uH1FOmUAvE0HbIB/K5QXkvzvS+3D6inXHvJt9YO65KkaWqhiqGFlU242Tge4vA8U/jGjpAXBZSZBTQEyQctpGcHM03Gu9hrG8KRadZMbCy/FuzLm5YRnRuPSWdO8WO9QQzheVFbQnNzjmj7juVH+U6uyy6yh4SIngCaLNPTGdH5XWt7yunxfAqWqB46AxOP72K72HrA5Q9x61wmM8HErQX0z2zs6YyDbrA1Hcg7ehxOKqZnxEkA5puLEGwNvcQsrKbyVD6xndC5vIamfFTPa9paRKRYi2pjB/RdJlP5Kh9YzuhFbxxVhKq4qwlAJVhKErX4vi8FIzPnkDAdQ1ueehrRpKSW3iJbx2s0lWkri6nKmsn/AOtTtgZ/61Ol5HSGDV8QtNVTyP8A+xiUj/wQnMb1WZoXVhs8729TRluMZ2JIlkDfGIb1m3zWM7EIf/aP87f8qMTBQg3Mb5CfvOJues3Cr+xf/VPvP+Vu+h/2/DX9V6JNbVRu8WRrupwPyV7lFxjoTrp3DqJ/yvWBkDbcTUz0/QGvcG+4KXY+WX4Wbr0Shl/zXXeoPzCjXgT50d7HL9SJZtZiOIzU00PhUdXHKwsOe1olaD5rm7fSWHwWWosUHhLhCH08kTTJyQXufGWi50ac0rTnt88fVtx1sck8IiLnbhERAREQEREBERB805L870vtw+op1x7ybfWDuuUFZL87Uvtw+op1x7ybfWDuuSpGtp1mtWDAelc7JjksznFkrom2u1sYjBzTpaXmRrruI02FgL202utGvr4aOPSzrHPOYTmuzasaaMZ2cOS7z2ktf+YaVh5OYoahjg+xfGRcgWD2uvmuzdhu1wI6W31EBZ8y2Y5TKSzsrKXmcxgPbYuJcXFzs4k26ANgGwBVyn8lResZ3QqyqmVHkqL1je6FkrcOKsJVXFWEojBxrEm0sEsztIjbfN1ZzibNb2kgKN5JnAioqftZ5RnNafFhbsDR90C/60ldZwkc3y+sj74Wtx3A5KinhqqdpkDYwyVjRdzLaSQNouTfdY9K9DaTGY9K+N4cm45t4ng5apq3yHluJ3amjsXiqAqq9FxiIiAiIgq1xBuDY9I0FZ0da2QcXUNEjDozj4zd9/6rAWwwTBpq2QRwtJ899uRGOlx+Q1lY5cSc1ZzbxHb8HePSxVBoKh5kaWF9NI48rNaLmInaLAkdGadlgJIURROjGO4cyI5wiL4y4feIjkztO3XbsKl1eTucZMpZ4zl6OhbceL4CIi524REQEREBUKqvNxQfNuS/O1L7cPqKdce8m31g7rlBWS3O1L7cPqKdce8m31g7rkqRqRHntc29s5pbfouLLhpGvjc8OFnDx23AzDtvf7ush2oixXe06yH07HkFzGuLdRc0Et6idS5NztsdfGS3sa9TTmc4rS5F0bmsfIdUgaxv4msL3F43EyEA7Q240ELeTL3avCZb8MJhjMZ2RnJxOIwpVTKnyVF6xvdCrKqZU+SovWN7oWbJs3FWEqrirCVEczwjH9gk9ZH3wrcl8TfTi7ToJ5Tdh0D4qvCL/wBCT1kfeCwcN8QfrYF6W2kujZfNx61s1JZ5OrrsEw+vGe+Iwvfp42HkknaXDUT1g9a0FVwauN/B6xj+hsrS09rm3+S6LDHfZM6j8ysqZ9mOI1gFYTUzwvGNZ9HHKc2I/qOD/EWaomSehI3+/NWKcisSH/w3f/pEfk5do+ulGqRw6jZYsuJT/wDvJ+dy3TW1fT8tV08PVzMeQuJuP/Vzd7pYrD3OJ+CzouDqqGmeeCBu0ueSR2WA+Ky566Y65pD1vd/layY30nTvKy6epfGT4Y9HCeFbCPAsJpdM9U+scP3cIzWHtB/vXji2VT3R8TSxNo4dIzY9D3A67uFrX2207ytTKsSVZTDm85Xn++SXPjqnUysledcN9N/03qcgoOyWH/KYceh7/puU3tK5N7357Ona92+69ERcbpEREBERBQrwmcvZxWFUvQfO+S3O1L7a36inbH/Jt9YO65QTkrztSe2t+op2x/ybfWDuuSpER4Ll9NRTGnxWNzbGzZ7cq2wuA0OG8dG1SjR1UczGvie2RjhcPYbtPaoZnx1pcaPHackAkR1QA42MHU640OHzt95VbguJ4V+0YVUeGUzuV9nywQNj49OrVfZp0hOBNzV4zKPMnuF2mksytjNM/UXtBdGd9vGb8V3FLiUFS3OgmZMOmNwdbrA0jtUFsqplV5Ki9Y3uhVlVMq/JUfrG90IrPcVYSquKsJURz2XYvRPH44+8sHD/ABR+tgWflt/03+mzvLBoPFH62BentftfP6cWv9z4dJhz/s29vzKypX8l3UVraN/JHb81lF/JPUteU62eN6mBKsOVZkqw5VsjCsSVYcqzJVhyrZGusSVYkqy5ViSrbGFZ+SY/5Gi9N303KaWFQvklzjRem76blNLAuHe9+ezs2vdvuvCqqBVXG6RERAREQechWtq3LYSrVVhQQHkpzrSe2t76nbHmkxC2x47NDh/UKCMqcNkw+tdmOLOXx8Eo1jlXFj0tOjsHSpmyLyljxOmzjYSsAZPF0O84DzXax2jYlSIZr8Qlpj4JjVOaiEk8XUA3mjBPjMkPjDVoO69tSrR4XX4eDU4NVeGU50uazS5o82SE6Qbbbb9CmPG8AhmY6OeMSxO1Z2tp3HWDvCi/FeD2vw6Qz4RO5wGnir2lA6LapBu29CDHblZhGJcnFaLwaU66iEEXPSQNPvzlU8HLH/aYRijX20hpdZ7f4m6b9YCw5MrKOpJjxrDc2UHNNRC3i5gelzdAJ6/cqxZGUk5D8JxZudrbFMTHIDuOs9je1BIWSFPWxUxZXuL5WyOAcXBxLLNzTnDXpvr0re5V+So/WN7oWiyQpa2GmLK55fK2RwDnODyWWbmnOF9t9elb3KzyVH6xvdCgynFWEqrirCVBostT+xv9NneWHQ+KP1sCy8tGO8EeSLDPZr1nldCxaLxR+ti9La/a+f04tf7nw2dO+wWU1+hYMayY1coYrZVhyrMlWHKkKxJVhyrMlWHKtka6xJViSrLlWJKtsYVsckOcqH03fTcpqAUJZLOtiFGeh7u45TXDJnBcO9789v27Nr3b7vRERcbpEREBERB5SBa6qjW1IWPNHdBwmV2T7K2EsdyXNOdHJ5jv6g6iP8BRJQ1lXhVXnN+zljNnNOlkjTsPnNNta+g6qnXJ5UZMxVrLPGa9viStHKZu3t3fJErb5J5W02Jx8ghkoH2lO48odJHnN3++y20tH5vuP+V894rg1Vh8gc67c112VERIbfZZw0tO4/Fdfk7wrTRAMrY+PaNHGx2bL2tPJd8E4OXf4vgNNVjNqqdkui13DljqeNI7Co+xrghpnEupZ305813LZ1AixA67qRMJyxw+rsI6pgcf3cv2b/yvtfsutw+lY7Z2gqDgckMJqKOmMVTKJXCRxa8Oc4ZhDbDlWtqOhb3K3yVH6xvdC3EmFNOpxHuK95aGOQR8Y0P4vS2+q9rXttRWthpXv1Cw846v9rPZSMjBJ0kC5c7UN+5c/lPl/R0N2B3hEw0cVERZp/G/U3q0ncokykyvrcRObI/NjJ0U8Vww9F9rz1+4K8I7PLXK2lnBpoH8c4uDnSM8k3NN7Z33j1aN6yaPxR+tij7C8BnBD3DM0GzD4xuNvQu2wetEjR5zRZzdoI0Xt0L0NtZ/HZ6uPXn+fLdRrJjWLEVlRq5McVsqw5VmSrDlSLWJKsOVZkqw5VsjXWJKsSVZcqxZB06AtsYVlZOn9upPSPccpkoHKKMiMPdPVCW3Igvp2OeQQB7jf3dKlqijsFwbyy5yeUdm2nGDLREXI6RERAREQFaQrkQY0sV1r6ilW4IXm+O6DlaygDgQ5ocCLFpFwR0EHWuIxng/gkJMJNO47Byo/wAp1dhtuUry011hTUW5BA+IZFVkV7MbMOmNwv8AldY+6618dRXUnivqKa2wGSNvu0AqepaDcsWSg3K8pwh+HL3FG+LXv/ibE/vtKYnl3iVRHxclUQ06HcW1kZf1uYAbbhYKVJcGjd40TXdbQfmrIsn4QQRBGCNREbQR22Q4RTg+StRUWLm8Sw/ecOU70Wa+027V3GEZMxQeIy7tr3aXnt2dQXYQ4buWwp8OHQocOciwbO2LEr8ks858bjFINThqPWP12rvoaMDYskU42hZYZ5YXnGpljMpxUTPfWUvl6cvaP3sOkdZA1dtlk0mUFO794G7ngt+OpSZJQNK1NdkzDL48LHnpLRf3610zcy97H/jRdCzu1yvhsbvFe13ouB+S8pHLbT5B0p/dFvovf8rrFPB9T9D/AM3+lnNbS9WN0s/Rp5ngayB1la+eriGuRvYb/JdXHkBTDWxx63n+llsqTI2mZa1O0+kM7vXV+p055p/BnfJHDJnSm0ET5T+FpsOvo7VvMKyMnmIdVO4tuvimG7juLtQ+PYpHpsKa0AAAAbALD3LOip2t2LXnu8r1Yzhsx22M7etrsKwpkLGtYwMa0WAGr/Z3rbNFlVFyc8ugREQEREBERAREQFQoiCxy8XoiDGkWO9EQeRVWoiDJiWXGiIMhquCIgqiIgoVYURBVqvREBERAREQEREBERB//2Q==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5228" y="3584454"/>
            <a:ext cx="1066799" cy="1066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0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81400" y="2133600"/>
            <a:ext cx="1066799" cy="1066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9" name="Can 28"/>
          <p:cNvSpPr/>
          <p:nvPr/>
        </p:nvSpPr>
        <p:spPr>
          <a:xfrm>
            <a:off x="7086599" y="2279946"/>
            <a:ext cx="914400" cy="774107"/>
          </a:xfrm>
          <a:prstGeom prst="can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6779135" y="3124200"/>
            <a:ext cx="15293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Database Server 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51617" y="3132032"/>
            <a:ext cx="11300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Participant 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8027" y="4637391"/>
            <a:ext cx="10783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Coordinator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62272" y="2666999"/>
            <a:ext cx="2624328" cy="1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4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11183" y="3570591"/>
            <a:ext cx="1066799" cy="1066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55" name="Can 54"/>
          <p:cNvSpPr/>
          <p:nvPr/>
        </p:nvSpPr>
        <p:spPr>
          <a:xfrm>
            <a:off x="7116382" y="3716937"/>
            <a:ext cx="914400" cy="774107"/>
          </a:xfrm>
          <a:prstGeom prst="can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/>
          <p:cNvSpPr txBox="1"/>
          <p:nvPr/>
        </p:nvSpPr>
        <p:spPr>
          <a:xfrm>
            <a:off x="6808918" y="4561191"/>
            <a:ext cx="15293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Database Server 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581400" y="4569023"/>
            <a:ext cx="11300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Participant 2</a:t>
            </a:r>
          </a:p>
        </p:txBody>
      </p:sp>
      <p:cxnSp>
        <p:nvCxnSpPr>
          <p:cNvPr id="58" name="Straight Connector 57"/>
          <p:cNvCxnSpPr/>
          <p:nvPr/>
        </p:nvCxnSpPr>
        <p:spPr>
          <a:xfrm>
            <a:off x="4492055" y="4103990"/>
            <a:ext cx="2624328" cy="1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9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11183" y="5018391"/>
            <a:ext cx="1066799" cy="1066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0" name="Can 59"/>
          <p:cNvSpPr/>
          <p:nvPr/>
        </p:nvSpPr>
        <p:spPr>
          <a:xfrm>
            <a:off x="7116382" y="5164737"/>
            <a:ext cx="914400" cy="774107"/>
          </a:xfrm>
          <a:prstGeom prst="can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6808918" y="6008991"/>
            <a:ext cx="15293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Database Server 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581400" y="6016823"/>
            <a:ext cx="11300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Participant 3</a:t>
            </a:r>
          </a:p>
        </p:txBody>
      </p:sp>
      <p:cxnSp>
        <p:nvCxnSpPr>
          <p:cNvPr id="63" name="Straight Connector 62"/>
          <p:cNvCxnSpPr/>
          <p:nvPr/>
        </p:nvCxnSpPr>
        <p:spPr>
          <a:xfrm>
            <a:off x="4492055" y="5551790"/>
            <a:ext cx="2624328" cy="1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4" name="Straight Connector 1023"/>
          <p:cNvCxnSpPr/>
          <p:nvPr/>
        </p:nvCxnSpPr>
        <p:spPr>
          <a:xfrm flipV="1">
            <a:off x="1644976" y="2743200"/>
            <a:ext cx="5786" cy="841254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6" name="Straight Arrow Connector 1025"/>
          <p:cNvCxnSpPr/>
          <p:nvPr/>
        </p:nvCxnSpPr>
        <p:spPr>
          <a:xfrm>
            <a:off x="1650762" y="2743200"/>
            <a:ext cx="2083038" cy="0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1" name="Straight Arrow Connector 1030"/>
          <p:cNvCxnSpPr/>
          <p:nvPr/>
        </p:nvCxnSpPr>
        <p:spPr>
          <a:xfrm>
            <a:off x="1955562" y="4103990"/>
            <a:ext cx="1828800" cy="0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/>
          <p:cNvCxnSpPr/>
          <p:nvPr/>
        </p:nvCxnSpPr>
        <p:spPr>
          <a:xfrm flipV="1">
            <a:off x="1701324" y="4569023"/>
            <a:ext cx="0" cy="1069778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/>
          <p:cNvCxnSpPr/>
          <p:nvPr/>
        </p:nvCxnSpPr>
        <p:spPr>
          <a:xfrm>
            <a:off x="1701324" y="5638800"/>
            <a:ext cx="2083038" cy="0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6" name="TextBox 1035"/>
          <p:cNvSpPr txBox="1"/>
          <p:nvPr/>
        </p:nvSpPr>
        <p:spPr>
          <a:xfrm>
            <a:off x="1905000" y="2387838"/>
            <a:ext cx="16619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VOTE_REQUEST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905000" y="3745468"/>
            <a:ext cx="16619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VOTE_REQUEST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905000" y="5269468"/>
            <a:ext cx="16619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VOTE_REQUEST</a:t>
            </a:r>
          </a:p>
        </p:txBody>
      </p:sp>
      <p:sp>
        <p:nvSpPr>
          <p:cNvPr id="1039" name="TextBox 1038"/>
          <p:cNvSpPr txBox="1"/>
          <p:nvPr/>
        </p:nvSpPr>
        <p:spPr>
          <a:xfrm>
            <a:off x="192063" y="1656477"/>
            <a:ext cx="253236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Phase I: </a:t>
            </a:r>
            <a:r>
              <a:rPr lang="en-US" sz="2000" b="1" dirty="0" smtClean="0">
                <a:solidFill>
                  <a:srgbClr val="FF0000"/>
                </a:solidFill>
              </a:rPr>
              <a:t>Voting(Abort)</a:t>
            </a:r>
            <a:endParaRPr lang="en-US" sz="2000" b="1" dirty="0">
              <a:solidFill>
                <a:srgbClr val="FF0000"/>
              </a:solidFill>
            </a:endParaRPr>
          </a:p>
        </p:txBody>
      </p:sp>
      <p:cxnSp>
        <p:nvCxnSpPr>
          <p:cNvPr id="84" name="Straight Connector 83"/>
          <p:cNvCxnSpPr/>
          <p:nvPr/>
        </p:nvCxnSpPr>
        <p:spPr>
          <a:xfrm flipH="1">
            <a:off x="1905000" y="3054053"/>
            <a:ext cx="1828800" cy="0"/>
          </a:xfrm>
          <a:prstGeom prst="line">
            <a:avLst/>
          </a:prstGeom>
          <a:ln w="22225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Arrow Connector 84"/>
          <p:cNvCxnSpPr/>
          <p:nvPr/>
        </p:nvCxnSpPr>
        <p:spPr>
          <a:xfrm>
            <a:off x="1905000" y="3054053"/>
            <a:ext cx="0" cy="691415"/>
          </a:xfrm>
          <a:prstGeom prst="straightConnector1">
            <a:avLst/>
          </a:prstGeom>
          <a:ln w="22225">
            <a:solidFill>
              <a:srgbClr val="00B050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/>
          <p:cNvCxnSpPr/>
          <p:nvPr/>
        </p:nvCxnSpPr>
        <p:spPr>
          <a:xfrm flipH="1">
            <a:off x="1955562" y="4491044"/>
            <a:ext cx="1828800" cy="0"/>
          </a:xfrm>
          <a:prstGeom prst="straightConnector1">
            <a:avLst/>
          </a:prstGeom>
          <a:ln w="22225">
            <a:solidFill>
              <a:srgbClr val="00B050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/>
          <p:cNvCxnSpPr/>
          <p:nvPr/>
        </p:nvCxnSpPr>
        <p:spPr>
          <a:xfrm flipH="1">
            <a:off x="1913546" y="5269468"/>
            <a:ext cx="1828800" cy="8546"/>
          </a:xfrm>
          <a:prstGeom prst="line">
            <a:avLst/>
          </a:prstGeom>
          <a:ln w="22225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/>
          <p:cNvCxnSpPr/>
          <p:nvPr/>
        </p:nvCxnSpPr>
        <p:spPr>
          <a:xfrm flipV="1">
            <a:off x="1913546" y="4569737"/>
            <a:ext cx="0" cy="708277"/>
          </a:xfrm>
          <a:prstGeom prst="straightConnector1">
            <a:avLst/>
          </a:prstGeom>
          <a:ln w="22225">
            <a:solidFill>
              <a:srgbClr val="00B050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1895740" y="2726108"/>
            <a:ext cx="16369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VOTE_COMMIT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981200" y="4151392"/>
            <a:ext cx="14443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rgbClr val="00B050"/>
                </a:solidFill>
              </a:rPr>
              <a:t>VOTE_ABORT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1989746" y="4948290"/>
            <a:ext cx="16369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VOTE_COMMIT</a:t>
            </a:r>
          </a:p>
        </p:txBody>
      </p:sp>
    </p:spTree>
    <p:extLst>
      <p:ext uri="{BB962C8B-B14F-4D97-AF65-F5344CB8AC3E}">
        <p14:creationId xmlns:p14="http://schemas.microsoft.com/office/powerpoint/2010/main" val="21011831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10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10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500"/>
                                        <p:tgtEl>
                                          <p:spTgt spid="10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2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5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8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1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4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7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0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3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  <p:bldP spid="33" grpId="0"/>
      <p:bldP spid="35" grpId="0"/>
      <p:bldP spid="42" grpId="0"/>
      <p:bldP spid="55" grpId="0" animBg="1"/>
      <p:bldP spid="56" grpId="0"/>
      <p:bldP spid="57" grpId="0"/>
      <p:bldP spid="60" grpId="0" animBg="1"/>
      <p:bldP spid="61" grpId="0"/>
      <p:bldP spid="62" grpId="0"/>
      <p:bldP spid="1036" grpId="0"/>
      <p:bldP spid="79" grpId="0"/>
      <p:bldP spid="80" grpId="0"/>
      <p:bldP spid="1039" grpId="0"/>
      <p:bldP spid="89" grpId="0"/>
      <p:bldP spid="90" grpId="0"/>
      <p:bldP spid="9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1143000"/>
          </a:xfrm>
        </p:spPr>
        <p:txBody>
          <a:bodyPr>
            <a:normAutofit/>
          </a:bodyPr>
          <a:lstStyle/>
          <a:p>
            <a:r>
              <a:rPr lang="en-US" dirty="0"/>
              <a:t>The Two-Phase Commit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24000"/>
            <a:ext cx="8458200" cy="5257800"/>
          </a:xfrm>
        </p:spPr>
        <p:txBody>
          <a:bodyPr>
            <a:normAutofit/>
          </a:bodyPr>
          <a:lstStyle/>
          <a:p>
            <a:pPr marL="342900" lvl="1" indent="0">
              <a:buNone/>
            </a:pPr>
            <a:endParaRPr lang="en-US" dirty="0"/>
          </a:p>
          <a:p>
            <a:pPr lvl="2">
              <a:buFont typeface="Wingdings" pitchFamily="2" charset="2"/>
              <a:buChar char="§"/>
            </a:pPr>
            <a:endParaRPr lang="en-US" sz="1800" dirty="0"/>
          </a:p>
          <a:p>
            <a:pPr lvl="1">
              <a:buFont typeface="Wingdings" pitchFamily="2" charset="2"/>
              <a:buChar char="§"/>
            </a:pPr>
            <a:endParaRPr lang="en-US" sz="1800" dirty="0"/>
          </a:p>
        </p:txBody>
      </p:sp>
      <p:sp>
        <p:nvSpPr>
          <p:cNvPr id="28" name="AutoShape 2" descr="data:image/jpeg;base64,/9j/4AAQSkZJRgABAQAAAQABAAD/2wCEAAkGBxAPEA8UEA8WEBUQEBQQFBARFBYVERAVFBUXFhQVGBQYKCggGBsnHRQVITIhJiksLi4uFx8zODMtNygtLywBCgoKDg0OGxAQFywkHx0uLC0yLC43LC8sLDQvLCsuLywsLCw3LC8sLC0rNDcsLCwsLCwsLCwsLSwsLCwsLCwsLP/AABEIAOEA4QMBIgACEQEDEQH/xAAcAAEAAQUBAQAAAAAAAAAAAAAABwECBAUGAwj/xABGEAABAwIBBggLBQgDAAMAAAABAAIDBBEFBhIhMUFhBxMiNVFxgbIUMjNScnN0kaGxsyNCYpLwJEOCosHC0eElNFNEVJP/xAAZAQEBAAMBAAAAAAAAAAAAAAAAAQIDBAX/xAArEQEBAAEDAAkEAgMAAAAAAAAAAQIDBBESITEyQVFhcYEUM6HRE/AiYpH/2gAMAwEAAhEDEQA/AJxREQEREBERAREQEREBERARczlTl1Q4ddsknGS20U8VnSbs7YwdZG66hzKrhBrsQJZneDwuNhBCTd99QfJ4z+oWBvqROUp5V8JdFQ5zIz4XMNHFxEcWw/jl1DqFzuCiLHsr8QxOQNfI6zjyKanDgz8reU89d91ltMl+DSqqs19RekiNjZw+3eN0Z8Trd7ipWwLJ2jw1n2EYYSLOmfypX9bzp7BYblREuS3CPXUBDJCaqJpsYpnHjGWOkNkNyLdDrjRbQpiyXyzosSFoJM2S13U8tmzN6bDU4b2kha7KTI6ixIZz2ZkhGioisJN2dseOvssolylyFrcOPGAGaNhzhUQXBjtqLmjlRneLgdKHY+jEUGZKcK1VTZrKwGri1cZoFQwdeqTtsfxFS9gGUVJXsz6WZslvGZqkjvscw6W/I7FDltUREUREQEREBERAREQEREBERAREQEREBFr8axqmoozJUzNibszvGcehrRpcdwBKibKrhbmlzmUDOIZq4+QAzO9FulrOs3PUUEn5R5U0eHNvUzBriLtibypX+iwabbzYb1D+VfClV1ecymvRxG4u0/bvG+QeJ1N0jzitFgWTFdijy9jXODncurnc7MJ1El5uZD1X32Ur5McHdHRZr5B4VKNPGSgcWw9LI9IHWbneFU7UZZM5B1tfZ+b4PE434+YG776SWM1v69APSpayayMosOAcxmfIBpqJbF49HYwdXaSt1PWhvi8o/Ba6eZz/ABj2bB2KcjMqMRA0MF951e7atZLI5xu43Qq0rEXQzuYbtNt2w9i2lNibXaHck9P3T27FpyqFBh5UcHVHW5z4v2WU6c+MDi3n8cegdosetRVi+AV+ESte4OizTyKqBxzDuzxYtv5rrX6Cpnpqx8eo3HmnV/pbSKrimaWuA5QsY3gFrgdY06CNysojrJXhde3NjxFmeNXhMQ5Y3viGg9bbeiVK2GYnBVRiSnlbMw/eYbi+0HoO46VG2VHBbBNnPoXCnfr4l1zA47tsfZcbgo4LcRwaov8AaUknSNMcwHvZK3dptuKyH02ii/JXhcikzY8QZxDtA4+MEwuP4m6XM+I6SFJlPOyRjXxvbI1wu17CHNcOkOGghRXoiIgIiICIiAiIgIiICKyWRrGlznBrWi5c4gAAaySdQUcZVcLVPBnMoWiqfq443FO07jrk7LD8SCQq6tip43STSNiY3W97g1o7Sotyr4XQM6PDmZ2zwmZpzf4IjpPW63olR9VVeIYxUAOMlXJrbG0ciIHoaLNjGzONt5K77JjgpY2z8Qfxh1+DxEhg9OTQXdQsN5VRwNJQ4hjE7nDjKqS9nzSHkR7bF55LBpvmjsCkzJjgvpoM19YRVSa+LtanafR1yfxaPwruIIooGNZExsbGizY4wGtb1AaAvKWYncNynJw9nzMYAGgaBYNboAA2blhTTudrOjoGpUKsKivMq0r0KsKiPMq0q8q0oLCrSryrSgtVpVxVEGXS4i9mg8odB1jqKz5mU9ZGY5WNla7XHIAe2x27wsKnw5x0vOYP5j2bFmszWCzBm9J+8e1VUX5d8HMVJDLU00pDI80ugk5RAc4N5Ems6SNDr7dK9uAmskFTVQ5x4swcbmX5Ie17W5wGwkON+mw6F2fCVzVW+gz6rFwnAZzhUexu+rEsk8U4IiKKIiICIiAiIgIiIPm7KvKStxOpfG573M44shpYwczQ6zBmDx36BpNzcm1hoXS5McFUj819e/im6/B4yDIdz36Q3qFzvC5XJfnel9uH1F9Dq1IwsLwynpIxHTxNiYNjRpcelx1uO8kle73nZoV7gvMhYq8XKwr1IXmQg8yrCvQqwqDzKsK9CrCiPMq0q8q0oLCrSvaOFzzZov8AIdqz4aFjNL+UejYP8oMCno3yahYecdX+1sIYGRahnO84/wBF6PkJ6uheZKqj3k61YShKsJQa/hJ5qrfQZ9Vi4HgM5wn9if8AViXfcJHNVb6tv1GLgOA3nGb2KT6sKsTxTmiIiiIiAiIgIiICIiD5pyX53pfbh9RTrjlY6BsTm6ftQC3zmlrrj4fBQVkvzvS+3D6inHKMciL1w7j0qRn01Q2Vgew3B946Qd6q4LnKNz4XZ0WkHxozqdvHQV0FLVMmF2mxGtp0OaeghRRwXmV7PbZeRCDyKsK9SvMoPMqwr0K9YqUu16B8VEYmaTqF9yy4aDa82/CNfvWUxrWeKO3arXOVVXOAFmiw3LzJQlWkoKEqwlVJVhKASrCUJVpKiMThH5rrfVt+o1R9wG85TewyfWgUhcIvNdd6od9qjvgOP/Jy+wS/Wp1lC9qdkREUREQEREBERAREQfNOS/O9L7cPqKc8oPJsPRID/K5QZkvzvS+3D6inLKXyGjTyv7HJUjTYRiEVQ3OieHC9jsIO8HSFtmjSDqI2jX71BVJi89HPnMJb/UaLgg6CNx+Ck/JzLOnqg1shEUmrSfs3Hc46juPxUHaRVXnDtH+F6ANdqP66lhNXhKiti+A9a8xA47Lda1wr5GanX3O0/wC1XHsRkZFTlhzTM9gcRrAIBIHQg2zImt3lVc66oVQlBQlWkoSrCUAlWEqpKsJQCVYShKtJURQlWkoSrCUHnwic113qh32qOeA/nST2CX61OpG4Q+a671P9zVHPAhzpJ7DL9WBZQqd0REUREQEREBERAREQfNOS/O9L7cPqKdMoDaJp6Hg/yuUF5L870vtw+opyyl8h/F/Y5KkcJWYLS4oxz4nBkgNnAjb+No1H8Q+K5ym4P63OfYZmboBL2gP6td+2y9cpI58NrHPhu1ucSCNovpHQd4K6rJvLiCoAbMRC/Vnfu3HrPiHcdG9QcbRZU1uHP4p5JDDm8XILtFtYtrb2Gy6mh4Q6eWwlYYz0tIc33GxHuK2mU2SENeQ/P4t+aBnWzmvtqJGg3touDqUfYvkFVwXLW8Y0bY+V/L43wKdQkmkxGKoaXQvzwDY6CCDrsQetZOUvkqH1jO6Fy+QEJZSvDhYiXN0i2pjL/G66jKXyVD6xndCDoCVaSjirCUUJVhKqSrCUAlWEoSrSVEUJVpKEqwlAJVhKqSrCUFeEHmuu9Se8FG/Ajzo/2KX6sKknhA5rrvUH5hRtwJc6O9il+pCsoVPCIiKIiICIiAiIgIiIPmnJfnel9uH1FOmUAvE0HbIB/K5QXkvzvS+3D6inXHvJt9YO65KkaWqhiqGFlU242Tge4vA8U/jGjpAXBZSZBTQEyQctpGcHM03Gu9hrG8KRadZMbCy/FuzLm5YRnRuPSWdO8WO9QQzheVFbQnNzjmj7juVH+U6uyy6yh4SIngCaLNPTGdH5XWt7yunxfAqWqB46AxOP72K72HrA5Q9x61wmM8HErQX0z2zs6YyDbrA1Hcg7ehxOKqZnxEkA5puLEGwNvcQsrKbyVD6xndC5vIamfFTPa9paRKRYi2pjB/RdJlP5Kh9YzuhFbxxVhKq4qwlAJVhKErX4vi8FIzPnkDAdQ1ueehrRpKSW3iJbx2s0lWkri6nKmsn/AOtTtgZ/61Ol5HSGDV8QtNVTyP8A+xiUj/wQnMb1WZoXVhs8729TRluMZ2JIlkDfGIb1m3zWM7EIf/aP87f8qMTBQg3Mb5CfvOJues3Cr+xf/VPvP+Vu+h/2/DX9V6JNbVRu8WRrupwPyV7lFxjoTrp3DqJ/yvWBkDbcTUz0/QGvcG+4KXY+WX4Wbr0Shl/zXXeoPzCjXgT50d7HL9SJZtZiOIzU00PhUdXHKwsOe1olaD5rm7fSWHwWWosUHhLhCH08kTTJyQXufGWi50ac0rTnt88fVtx1sck8IiLnbhERAREQEREBERB805L870vtw+op1x7ybfWDuuUFZL87Uvtw+op1x7ybfWDuuSpGtp1mtWDAelc7JjksznFkrom2u1sYjBzTpaXmRrruI02FgL202utGvr4aOPSzrHPOYTmuzasaaMZ2cOS7z2ktf+YaVh5OYoahjg+xfGRcgWD2uvmuzdhu1wI6W31EBZ8y2Y5TKSzsrKXmcxgPbYuJcXFzs4k26ANgGwBVyn8lResZ3QqyqmVHkqL1je6FkrcOKsJVXFWEojBxrEm0sEsztIjbfN1ZzibNb2kgKN5JnAioqftZ5RnNafFhbsDR90C/60ldZwkc3y+sj74Wtx3A5KinhqqdpkDYwyVjRdzLaSQNouTfdY9K9DaTGY9K+N4cm45t4ng5apq3yHluJ3amjsXiqAqq9FxiIiAiIgq1xBuDY9I0FZ0da2QcXUNEjDozj4zd9/6rAWwwTBpq2QRwtJ899uRGOlx+Q1lY5cSc1ZzbxHb8HePSxVBoKh5kaWF9NI48rNaLmInaLAkdGadlgJIURROjGO4cyI5wiL4y4feIjkztO3XbsKl1eTucZMpZ4zl6OhbceL4CIi524REQEREBUKqvNxQfNuS/O1L7cPqKdce8m31g7rlBWS3O1L7cPqKdce8m31g7rkqRqRHntc29s5pbfouLLhpGvjc8OFnDx23AzDtvf7ush2oixXe06yH07HkFzGuLdRc0Et6idS5NztsdfGS3sa9TTmc4rS5F0bmsfIdUgaxv4msL3F43EyEA7Q240ELeTL3avCZb8MJhjMZ2RnJxOIwpVTKnyVF6xvdCrKqZU+SovWN7oWbJs3FWEqrirCVEczwjH9gk9ZH3wrcl8TfTi7ToJ5Tdh0D4qvCL/wBCT1kfeCwcN8QfrYF6W2kujZfNx61s1JZ5OrrsEw+vGe+Iwvfp42HkknaXDUT1g9a0FVwauN/B6xj+hsrS09rm3+S6LDHfZM6j8ysqZ9mOI1gFYTUzwvGNZ9HHKc2I/qOD/EWaomSehI3+/NWKcisSH/w3f/pEfk5do+ulGqRw6jZYsuJT/wDvJ+dy3TW1fT8tV08PVzMeQuJuP/Vzd7pYrD3OJ+CzouDqqGmeeCBu0ueSR2WA+Ky566Y65pD1vd/layY30nTvKy6epfGT4Y9HCeFbCPAsJpdM9U+scP3cIzWHtB/vXji2VT3R8TSxNo4dIzY9D3A67uFrX2207ytTKsSVZTDm85Xn++SXPjqnUysledcN9N/03qcgoOyWH/KYceh7/puU3tK5N7357Ona92+69ERcbpEREBERBQrwmcvZxWFUvQfO+S3O1L7a36inbH/Jt9YO65QTkrztSe2t+op2x/ybfWDuuSpER4Ll9NRTGnxWNzbGzZ7cq2wuA0OG8dG1SjR1UczGvie2RjhcPYbtPaoZnx1pcaPHackAkR1QA42MHU640OHzt95VbguJ4V+0YVUeGUzuV9nywQNj49OrVfZp0hOBNzV4zKPMnuF2mksytjNM/UXtBdGd9vGb8V3FLiUFS3OgmZMOmNwdbrA0jtUFsqplV5Ki9Y3uhVlVMq/JUfrG90IrPcVYSquKsJURz2XYvRPH44+8sHD/ABR+tgWflt/03+mzvLBoPFH62BentftfP6cWv9z4dJhz/s29vzKypX8l3UVraN/JHb81lF/JPUteU62eN6mBKsOVZkqw5VsjCsSVYcqzJVhyrZGusSVYkqy5ViSrbGFZ+SY/5Gi9N303KaWFQvklzjRem76blNLAuHe9+ezs2vdvuvCqqBVXG6RERAREQechWtq3LYSrVVhQQHkpzrSe2t76nbHmkxC2x47NDh/UKCMqcNkw+tdmOLOXx8Eo1jlXFj0tOjsHSpmyLyljxOmzjYSsAZPF0O84DzXax2jYlSIZr8Qlpj4JjVOaiEk8XUA3mjBPjMkPjDVoO69tSrR4XX4eDU4NVeGU50uazS5o82SE6Qbbbb9CmPG8AhmY6OeMSxO1Z2tp3HWDvCi/FeD2vw6Qz4RO5wGnir2lA6LapBu29CDHblZhGJcnFaLwaU66iEEXPSQNPvzlU8HLH/aYRijX20hpdZ7f4m6b9YCw5MrKOpJjxrDc2UHNNRC3i5gelzdAJ6/cqxZGUk5D8JxZudrbFMTHIDuOs9je1BIWSFPWxUxZXuL5WyOAcXBxLLNzTnDXpvr0re5V+So/WN7oWiyQpa2GmLK55fK2RwDnODyWWbmnOF9t9elb3KzyVH6xvdCgynFWEqrirCVBostT+xv9NneWHQ+KP1sCy8tGO8EeSLDPZr1nldCxaLxR+ti9La/a+f04tf7nw2dO+wWU1+hYMayY1coYrZVhyrMlWHKkKxJVhyrMlWHKtka6xJViSrLlWJKtsYVsckOcqH03fTcpqAUJZLOtiFGeh7u45TXDJnBcO9789v27Nr3b7vRERcbpEREBERB5SBa6qjW1IWPNHdBwmV2T7K2EsdyXNOdHJ5jv6g6iP8BRJQ1lXhVXnN+zljNnNOlkjTsPnNNta+g6qnXJ5UZMxVrLPGa9viStHKZu3t3fJErb5J5W02Jx8ghkoH2lO48odJHnN3++y20tH5vuP+V894rg1Vh8gc67c112VERIbfZZw0tO4/Fdfk7wrTRAMrY+PaNHGx2bL2tPJd8E4OXf4vgNNVjNqqdkui13DljqeNI7Co+xrghpnEupZ305813LZ1AixA67qRMJyxw+rsI6pgcf3cv2b/yvtfsutw+lY7Z2gqDgckMJqKOmMVTKJXCRxa8Oc4ZhDbDlWtqOhb3K3yVH6xvdC3EmFNOpxHuK95aGOQR8Y0P4vS2+q9rXttRWthpXv1Cw846v9rPZSMjBJ0kC5c7UN+5c/lPl/R0N2B3hEw0cVERZp/G/U3q0ncokykyvrcRObI/NjJ0U8Vww9F9rz1+4K8I7PLXK2lnBpoH8c4uDnSM8k3NN7Z33j1aN6yaPxR+tij7C8BnBD3DM0GzD4xuNvQu2wetEjR5zRZzdoI0Xt0L0NtZ/HZ6uPXn+fLdRrJjWLEVlRq5McVsqw5VmSrDlSLWJKsOVZkqw5VsjXWJKsSVZcqxZB06AtsYVlZOn9upPSPccpkoHKKMiMPdPVCW3Igvp2OeQQB7jf3dKlqijsFwbyy5yeUdm2nGDLREXI6RERAREQFaQrkQY0sV1r6ilW4IXm+O6DlaygDgQ5ocCLFpFwR0EHWuIxng/gkJMJNO47Byo/wAp1dhtuUry011hTUW5BA+IZFVkV7MbMOmNwv8AldY+6618dRXUnivqKa2wGSNvu0AqepaDcsWSg3K8pwh+HL3FG+LXv/ibE/vtKYnl3iVRHxclUQ06HcW1kZf1uYAbbhYKVJcGjd40TXdbQfmrIsn4QQRBGCNREbQR22Q4RTg+StRUWLm8Sw/ecOU70Wa+027V3GEZMxQeIy7tr3aXnt2dQXYQ4buWwp8OHQocOciwbO2LEr8ks858bjFINThqPWP12rvoaMDYskU42hZYZ5YXnGpljMpxUTPfWUvl6cvaP3sOkdZA1dtlk0mUFO794G7ngt+OpSZJQNK1NdkzDL48LHnpLRf3610zcy97H/jRdCzu1yvhsbvFe13ouB+S8pHLbT5B0p/dFvovf8rrFPB9T9D/AM3+lnNbS9WN0s/Rp5ngayB1la+eriGuRvYb/JdXHkBTDWxx63n+llsqTI2mZa1O0+kM7vXV+p055p/BnfJHDJnSm0ET5T+FpsOvo7VvMKyMnmIdVO4tuvimG7juLtQ+PYpHpsKa0AAAAbALD3LOip2t2LXnu8r1Yzhsx22M7etrsKwpkLGtYwMa0WAGr/Z3rbNFlVFyc8ugREQEREBERAREQFQoiCxy8XoiDGkWO9EQeRVWoiDJiWXGiIMhquCIgqiIgoVYURBVqvREBERAREQEREBERB//2Q==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5228" y="3355854"/>
            <a:ext cx="1066799" cy="1066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0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81400" y="1905000"/>
            <a:ext cx="1066799" cy="1066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9" name="Can 28"/>
          <p:cNvSpPr/>
          <p:nvPr/>
        </p:nvSpPr>
        <p:spPr>
          <a:xfrm>
            <a:off x="7086599" y="2051346"/>
            <a:ext cx="914400" cy="774107"/>
          </a:xfrm>
          <a:prstGeom prst="can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6779135" y="2895600"/>
            <a:ext cx="15293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Database Server 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51617" y="2903432"/>
            <a:ext cx="11300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Participant 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8027" y="4408791"/>
            <a:ext cx="10783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Coordinator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62272" y="2438399"/>
            <a:ext cx="2624328" cy="1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4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11183" y="3341991"/>
            <a:ext cx="1066799" cy="1066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55" name="Can 54"/>
          <p:cNvSpPr/>
          <p:nvPr/>
        </p:nvSpPr>
        <p:spPr>
          <a:xfrm>
            <a:off x="7116382" y="3488337"/>
            <a:ext cx="914400" cy="774107"/>
          </a:xfrm>
          <a:prstGeom prst="can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/>
          <p:cNvSpPr txBox="1"/>
          <p:nvPr/>
        </p:nvSpPr>
        <p:spPr>
          <a:xfrm>
            <a:off x="6808918" y="4332591"/>
            <a:ext cx="15293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Database Server 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581400" y="4340423"/>
            <a:ext cx="11300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Participant 2</a:t>
            </a:r>
          </a:p>
        </p:txBody>
      </p:sp>
      <p:cxnSp>
        <p:nvCxnSpPr>
          <p:cNvPr id="58" name="Straight Connector 57"/>
          <p:cNvCxnSpPr/>
          <p:nvPr/>
        </p:nvCxnSpPr>
        <p:spPr>
          <a:xfrm>
            <a:off x="4492055" y="3875390"/>
            <a:ext cx="2624328" cy="1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9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11183" y="4789791"/>
            <a:ext cx="1066799" cy="1066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0" name="Can 59"/>
          <p:cNvSpPr/>
          <p:nvPr/>
        </p:nvSpPr>
        <p:spPr>
          <a:xfrm>
            <a:off x="7116382" y="4936137"/>
            <a:ext cx="914400" cy="774107"/>
          </a:xfrm>
          <a:prstGeom prst="can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6808918" y="5780391"/>
            <a:ext cx="15293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Database Server 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581400" y="5788223"/>
            <a:ext cx="11300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Participant 3</a:t>
            </a:r>
          </a:p>
        </p:txBody>
      </p:sp>
      <p:cxnSp>
        <p:nvCxnSpPr>
          <p:cNvPr id="63" name="Straight Connector 62"/>
          <p:cNvCxnSpPr/>
          <p:nvPr/>
        </p:nvCxnSpPr>
        <p:spPr>
          <a:xfrm>
            <a:off x="4492055" y="5323190"/>
            <a:ext cx="2624328" cy="1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4" name="Straight Connector 1023"/>
          <p:cNvCxnSpPr/>
          <p:nvPr/>
        </p:nvCxnSpPr>
        <p:spPr>
          <a:xfrm flipV="1">
            <a:off x="1644976" y="2514600"/>
            <a:ext cx="5786" cy="841254"/>
          </a:xfrm>
          <a:prstGeom prst="line">
            <a:avLst/>
          </a:prstGeom>
          <a:ln w="254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6" name="Straight Arrow Connector 1025"/>
          <p:cNvCxnSpPr/>
          <p:nvPr/>
        </p:nvCxnSpPr>
        <p:spPr>
          <a:xfrm>
            <a:off x="1650762" y="2514600"/>
            <a:ext cx="2083038" cy="0"/>
          </a:xfrm>
          <a:prstGeom prst="straightConnector1">
            <a:avLst/>
          </a:prstGeom>
          <a:ln w="25400"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1" name="Straight Arrow Connector 1030"/>
          <p:cNvCxnSpPr/>
          <p:nvPr/>
        </p:nvCxnSpPr>
        <p:spPr>
          <a:xfrm>
            <a:off x="1955562" y="3875390"/>
            <a:ext cx="1828800" cy="0"/>
          </a:xfrm>
          <a:prstGeom prst="straightConnector1">
            <a:avLst/>
          </a:prstGeom>
          <a:ln w="25400"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/>
          <p:cNvCxnSpPr/>
          <p:nvPr/>
        </p:nvCxnSpPr>
        <p:spPr>
          <a:xfrm flipV="1">
            <a:off x="1701324" y="4340423"/>
            <a:ext cx="0" cy="1069778"/>
          </a:xfrm>
          <a:prstGeom prst="line">
            <a:avLst/>
          </a:prstGeom>
          <a:ln w="254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/>
          <p:cNvCxnSpPr/>
          <p:nvPr/>
        </p:nvCxnSpPr>
        <p:spPr>
          <a:xfrm>
            <a:off x="1701324" y="5410200"/>
            <a:ext cx="2083038" cy="0"/>
          </a:xfrm>
          <a:prstGeom prst="straightConnector1">
            <a:avLst/>
          </a:prstGeom>
          <a:ln w="25400"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6" name="TextBox 1035"/>
          <p:cNvSpPr txBox="1"/>
          <p:nvPr/>
        </p:nvSpPr>
        <p:spPr>
          <a:xfrm>
            <a:off x="1905000" y="2159238"/>
            <a:ext cx="16899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rgbClr val="0070C0"/>
                </a:solidFill>
              </a:rPr>
              <a:t>GLOBAL_ABORT</a:t>
            </a:r>
            <a:endParaRPr lang="en-US" dirty="0">
              <a:solidFill>
                <a:srgbClr val="0070C0"/>
              </a:solidFill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1905000" y="3516868"/>
            <a:ext cx="16899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GLOBAL_ABORT</a:t>
            </a:r>
            <a:endParaRPr lang="en-US" dirty="0">
              <a:solidFill>
                <a:srgbClr val="0070C0"/>
              </a:solidFill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1905000" y="5040868"/>
            <a:ext cx="16899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GLOBAL_ABORT</a:t>
            </a:r>
            <a:endParaRPr lang="en-US" dirty="0">
              <a:solidFill>
                <a:srgbClr val="0070C0"/>
              </a:solidFill>
            </a:endParaRPr>
          </a:p>
        </p:txBody>
      </p:sp>
      <p:sp>
        <p:nvSpPr>
          <p:cNvPr id="1039" name="TextBox 1038"/>
          <p:cNvSpPr txBox="1"/>
          <p:nvPr/>
        </p:nvSpPr>
        <p:spPr>
          <a:xfrm>
            <a:off x="179026" y="1660344"/>
            <a:ext cx="17524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0070C0"/>
                </a:solidFill>
              </a:rPr>
              <a:t>Phase II: </a:t>
            </a:r>
            <a:r>
              <a:rPr lang="en-US" sz="2000" b="1" dirty="0" smtClean="0">
                <a:solidFill>
                  <a:srgbClr val="0070C0"/>
                </a:solidFill>
              </a:rPr>
              <a:t>Abort</a:t>
            </a:r>
            <a:endParaRPr lang="en-US" sz="2000" b="1" dirty="0">
              <a:solidFill>
                <a:srgbClr val="0070C0"/>
              </a:solidFill>
            </a:endParaRPr>
          </a:p>
        </p:txBody>
      </p:sp>
      <p:cxnSp>
        <p:nvCxnSpPr>
          <p:cNvPr id="39" name="Straight Connector 38"/>
          <p:cNvCxnSpPr/>
          <p:nvPr/>
        </p:nvCxnSpPr>
        <p:spPr>
          <a:xfrm>
            <a:off x="4478708" y="2438400"/>
            <a:ext cx="2624328" cy="1"/>
          </a:xfrm>
          <a:prstGeom prst="line">
            <a:avLst/>
          </a:prstGeom>
          <a:ln w="22225"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967950" y="2103215"/>
            <a:ext cx="15447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LOCAL_ABORT</a:t>
            </a:r>
            <a:endParaRPr lang="en-US" dirty="0">
              <a:solidFill>
                <a:srgbClr val="0070C0"/>
              </a:solidFill>
            </a:endParaRPr>
          </a:p>
        </p:txBody>
      </p:sp>
      <p:cxnSp>
        <p:nvCxnSpPr>
          <p:cNvPr id="41" name="Straight Connector 40"/>
          <p:cNvCxnSpPr/>
          <p:nvPr/>
        </p:nvCxnSpPr>
        <p:spPr>
          <a:xfrm>
            <a:off x="4495800" y="3877691"/>
            <a:ext cx="2624328" cy="1"/>
          </a:xfrm>
          <a:prstGeom prst="line">
            <a:avLst/>
          </a:prstGeom>
          <a:ln w="22225"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4985042" y="3542506"/>
            <a:ext cx="15447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LOCAL_ABORT</a:t>
            </a:r>
            <a:endParaRPr lang="en-US" dirty="0">
              <a:solidFill>
                <a:srgbClr val="0070C0"/>
              </a:solidFill>
            </a:endParaRPr>
          </a:p>
        </p:txBody>
      </p:sp>
      <p:cxnSp>
        <p:nvCxnSpPr>
          <p:cNvPr id="45" name="Straight Connector 44"/>
          <p:cNvCxnSpPr/>
          <p:nvPr/>
        </p:nvCxnSpPr>
        <p:spPr>
          <a:xfrm>
            <a:off x="4495800" y="5322369"/>
            <a:ext cx="2624328" cy="1"/>
          </a:xfrm>
          <a:prstGeom prst="line">
            <a:avLst/>
          </a:prstGeom>
          <a:ln w="22225"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985042" y="4987184"/>
            <a:ext cx="15447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LOCAL_ABORT</a:t>
            </a:r>
            <a:endParaRPr lang="en-US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96538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0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10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10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36" grpId="0"/>
      <p:bldP spid="79" grpId="0"/>
      <p:bldP spid="80" grpId="0"/>
      <p:bldP spid="4" grpId="0"/>
      <p:bldP spid="44" grpId="0"/>
      <p:bldP spid="46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1143000"/>
          </a:xfrm>
        </p:spPr>
        <p:txBody>
          <a:bodyPr/>
          <a:lstStyle/>
          <a:p>
            <a:r>
              <a:rPr lang="en-US" dirty="0"/>
              <a:t>The CAP Theorem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24000"/>
            <a:ext cx="8458200" cy="5257800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§"/>
            </a:pPr>
            <a:r>
              <a:rPr lang="en-US" sz="2600" dirty="0"/>
              <a:t>The limitations of distributed databases can be described in the so called the </a:t>
            </a:r>
            <a:r>
              <a:rPr lang="en-US" sz="2600" dirty="0">
                <a:solidFill>
                  <a:srgbClr val="000099"/>
                </a:solidFill>
              </a:rPr>
              <a:t>CAP theorem</a:t>
            </a:r>
          </a:p>
          <a:p>
            <a:pPr lvl="1">
              <a:buFont typeface="Wingdings" pitchFamily="2" charset="2"/>
              <a:buChar char="§"/>
            </a:pPr>
            <a:r>
              <a:rPr lang="en-US" sz="2400" b="1" u="sng" dirty="0">
                <a:solidFill>
                  <a:srgbClr val="C00000"/>
                </a:solidFill>
              </a:rPr>
              <a:t>C</a:t>
            </a:r>
            <a:r>
              <a:rPr lang="en-US" sz="2400" dirty="0">
                <a:solidFill>
                  <a:srgbClr val="C00000"/>
                </a:solidFill>
              </a:rPr>
              <a:t>onsistency</a:t>
            </a:r>
            <a:r>
              <a:rPr lang="en-US" sz="2400" dirty="0"/>
              <a:t>: every node always sees the same data at any given instance (i.e., strict consistency)</a:t>
            </a:r>
          </a:p>
          <a:p>
            <a:pPr lvl="1">
              <a:buFont typeface="Wingdings" pitchFamily="2" charset="2"/>
              <a:buChar char="§"/>
            </a:pPr>
            <a:endParaRPr lang="en-US" sz="2400" dirty="0"/>
          </a:p>
          <a:p>
            <a:pPr lvl="1">
              <a:buFont typeface="Wingdings" pitchFamily="2" charset="2"/>
              <a:buChar char="§"/>
            </a:pPr>
            <a:r>
              <a:rPr lang="en-US" sz="2400" b="1" u="sng" dirty="0">
                <a:solidFill>
                  <a:srgbClr val="C00000"/>
                </a:solidFill>
              </a:rPr>
              <a:t>A</a:t>
            </a:r>
            <a:r>
              <a:rPr lang="en-US" sz="2400" dirty="0">
                <a:solidFill>
                  <a:srgbClr val="C00000"/>
                </a:solidFill>
              </a:rPr>
              <a:t>vailability</a:t>
            </a:r>
            <a:r>
              <a:rPr lang="en-US" sz="2400" dirty="0"/>
              <a:t>: the system continues to operate, even if nodes in a cluster crash, or some hardware or software parts are down due to upgrades</a:t>
            </a:r>
          </a:p>
          <a:p>
            <a:pPr lvl="1">
              <a:buFont typeface="Wingdings" pitchFamily="2" charset="2"/>
              <a:buChar char="§"/>
            </a:pPr>
            <a:endParaRPr lang="en-US" sz="2400" dirty="0"/>
          </a:p>
          <a:p>
            <a:pPr lvl="1">
              <a:buFont typeface="Wingdings" pitchFamily="2" charset="2"/>
              <a:buChar char="§"/>
            </a:pPr>
            <a:r>
              <a:rPr lang="en-US" sz="2400" b="1" u="sng" dirty="0">
                <a:solidFill>
                  <a:srgbClr val="C00000"/>
                </a:solidFill>
              </a:rPr>
              <a:t>P</a:t>
            </a:r>
            <a:r>
              <a:rPr lang="en-US" sz="2400" dirty="0">
                <a:solidFill>
                  <a:srgbClr val="C00000"/>
                </a:solidFill>
              </a:rPr>
              <a:t>artition Tolerance</a:t>
            </a:r>
            <a:r>
              <a:rPr lang="en-US" sz="2400" dirty="0"/>
              <a:t>: the system continues to operate in the presence of network partitions</a:t>
            </a:r>
          </a:p>
          <a:p>
            <a:pPr lvl="2">
              <a:buFont typeface="Wingdings" pitchFamily="2" charset="2"/>
              <a:buChar char="§"/>
            </a:pPr>
            <a:endParaRPr lang="en-US" sz="1800" dirty="0"/>
          </a:p>
          <a:p>
            <a:pPr lvl="1">
              <a:buFont typeface="Wingdings" pitchFamily="2" charset="2"/>
              <a:buChar char="§"/>
            </a:pPr>
            <a:endParaRPr lang="en-US" sz="1800" dirty="0"/>
          </a:p>
        </p:txBody>
      </p:sp>
      <p:sp>
        <p:nvSpPr>
          <p:cNvPr id="4" name="Rounded Rectangle 3"/>
          <p:cNvSpPr/>
          <p:nvPr/>
        </p:nvSpPr>
        <p:spPr>
          <a:xfrm>
            <a:off x="381000" y="6096000"/>
            <a:ext cx="8458200" cy="609600"/>
          </a:xfrm>
          <a:prstGeom prst="roundRect">
            <a:avLst/>
          </a:prstGeom>
          <a:solidFill>
            <a:srgbClr val="92D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CAP theorem: any distributed database with shared data, can have </a:t>
            </a:r>
            <a:r>
              <a:rPr lang="en-US" sz="2000" i="1" u="sng" dirty="0">
                <a:solidFill>
                  <a:schemeClr val="tx1"/>
                </a:solidFill>
              </a:rPr>
              <a:t>at most two</a:t>
            </a:r>
            <a:r>
              <a:rPr lang="en-US" sz="2000" dirty="0">
                <a:solidFill>
                  <a:schemeClr val="tx1"/>
                </a:solidFill>
              </a:rPr>
              <a:t> of the three desirable properties, C, A or P</a:t>
            </a:r>
          </a:p>
        </p:txBody>
      </p:sp>
    </p:spTree>
    <p:extLst>
      <p:ext uri="{BB962C8B-B14F-4D97-AF65-F5344CB8AC3E}">
        <p14:creationId xmlns:p14="http://schemas.microsoft.com/office/powerpoint/2010/main" val="19285133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1143000"/>
          </a:xfrm>
        </p:spPr>
        <p:txBody>
          <a:bodyPr>
            <a:normAutofit/>
          </a:bodyPr>
          <a:lstStyle/>
          <a:p>
            <a:r>
              <a:rPr lang="en-US" dirty="0"/>
              <a:t>The CAP Theorem (</a:t>
            </a:r>
            <a:r>
              <a:rPr lang="en-US" i="1" dirty="0"/>
              <a:t>Cont’d</a:t>
            </a:r>
            <a:r>
              <a:rPr lang="en-US" dirty="0"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" y="1295400"/>
            <a:ext cx="8534400" cy="5562600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§"/>
            </a:pPr>
            <a:r>
              <a:rPr lang="en-US" sz="2600" dirty="0"/>
              <a:t>Let us assume two nodes on opposite sides of a </a:t>
            </a:r>
            <a:br>
              <a:rPr lang="en-US" sz="2600" dirty="0"/>
            </a:br>
            <a:r>
              <a:rPr lang="en-US" sz="2600" dirty="0"/>
              <a:t>network partition:</a:t>
            </a:r>
          </a:p>
          <a:p>
            <a:pPr>
              <a:buFont typeface="Wingdings" pitchFamily="2" charset="2"/>
              <a:buChar char="§"/>
            </a:pPr>
            <a:endParaRPr lang="en-US" sz="2800" dirty="0"/>
          </a:p>
          <a:p>
            <a:pPr>
              <a:buFont typeface="Wingdings" pitchFamily="2" charset="2"/>
              <a:buChar char="§"/>
            </a:pPr>
            <a:endParaRPr lang="en-US" sz="2800" dirty="0"/>
          </a:p>
          <a:p>
            <a:pPr>
              <a:buFont typeface="Wingdings" pitchFamily="2" charset="2"/>
              <a:buChar char="§"/>
            </a:pPr>
            <a:r>
              <a:rPr lang="en-US" sz="2600" dirty="0"/>
              <a:t>Availability + Partition Tolerance forfeit Consistency</a:t>
            </a:r>
          </a:p>
          <a:p>
            <a:pPr>
              <a:buFont typeface="Wingdings" pitchFamily="2" charset="2"/>
              <a:buChar char="§"/>
            </a:pPr>
            <a:r>
              <a:rPr lang="en-US" sz="2600" dirty="0"/>
              <a:t>Consistency + Partition Tolerance entails that one side of the partition must act as if it is unavailable, thus </a:t>
            </a:r>
            <a:br>
              <a:rPr lang="en-US" sz="2600" dirty="0"/>
            </a:br>
            <a:r>
              <a:rPr lang="en-US" sz="2600" dirty="0"/>
              <a:t>forfeiting Availability</a:t>
            </a:r>
          </a:p>
          <a:p>
            <a:pPr lvl="2">
              <a:buFont typeface="Wingdings" pitchFamily="2" charset="2"/>
              <a:buChar char="§"/>
            </a:pPr>
            <a:endParaRPr lang="en-US" sz="1800" dirty="0"/>
          </a:p>
          <a:p>
            <a:pPr>
              <a:buFont typeface="Wingdings" pitchFamily="2" charset="2"/>
              <a:buChar char="§"/>
            </a:pPr>
            <a:r>
              <a:rPr lang="en-US" sz="2600" dirty="0"/>
              <a:t>Consistency + Availability is only possible if there is no network partition, thereby forfeiting Partition Tolerance</a:t>
            </a:r>
          </a:p>
          <a:p>
            <a:pPr lvl="1">
              <a:buFont typeface="Wingdings" pitchFamily="2" charset="2"/>
              <a:buChar char="§"/>
            </a:pPr>
            <a:endParaRPr lang="en-US" sz="1800" dirty="0"/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55492" y="1981200"/>
            <a:ext cx="1066799" cy="1066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4454" y="1981200"/>
            <a:ext cx="1066799" cy="1066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8" name="Straight Connector 7"/>
          <p:cNvCxnSpPr/>
          <p:nvPr/>
        </p:nvCxnSpPr>
        <p:spPr>
          <a:xfrm>
            <a:off x="3352800" y="2514600"/>
            <a:ext cx="17526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Lightning Bolt 10"/>
          <p:cNvSpPr/>
          <p:nvPr/>
        </p:nvSpPr>
        <p:spPr>
          <a:xfrm>
            <a:off x="3886200" y="1981200"/>
            <a:ext cx="762000" cy="1066800"/>
          </a:xfrm>
          <a:prstGeom prst="lightningBol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3885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1143000"/>
          </a:xfrm>
        </p:spPr>
        <p:txBody>
          <a:bodyPr/>
          <a:lstStyle/>
          <a:p>
            <a:r>
              <a:rPr lang="en-US" dirty="0"/>
              <a:t>Large-Scale Databases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24000"/>
            <a:ext cx="8458200" cy="5257800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§"/>
            </a:pPr>
            <a:r>
              <a:rPr lang="en-US" sz="2600" dirty="0"/>
              <a:t>When companies such as Google and Amazon were designing large-scale databases, 24/7 Availability was a key </a:t>
            </a:r>
          </a:p>
          <a:p>
            <a:pPr lvl="1">
              <a:buFont typeface="Wingdings" pitchFamily="2" charset="2"/>
              <a:buChar char="§"/>
            </a:pPr>
            <a:r>
              <a:rPr lang="en-US" sz="2400" dirty="0"/>
              <a:t>A few minutes of downtime means lost revenue</a:t>
            </a:r>
          </a:p>
          <a:p>
            <a:pPr lvl="1">
              <a:buFont typeface="Wingdings" pitchFamily="2" charset="2"/>
              <a:buChar char="§"/>
            </a:pPr>
            <a:endParaRPr lang="en-US" sz="2200" dirty="0"/>
          </a:p>
          <a:p>
            <a:pPr>
              <a:buFont typeface="Wingdings" pitchFamily="2" charset="2"/>
              <a:buChar char="§"/>
            </a:pPr>
            <a:r>
              <a:rPr lang="en-US" sz="2600" dirty="0"/>
              <a:t>When </a:t>
            </a:r>
            <a:r>
              <a:rPr lang="en-US" sz="2600" i="1" dirty="0"/>
              <a:t>horizontally</a:t>
            </a:r>
            <a:r>
              <a:rPr lang="en-US" sz="2600" dirty="0"/>
              <a:t> scaling databases to 1000s of machines, the likelihood of a node or a network failure </a:t>
            </a:r>
            <a:br>
              <a:rPr lang="en-US" sz="2600" dirty="0"/>
            </a:br>
            <a:r>
              <a:rPr lang="en-US" sz="2600" dirty="0"/>
              <a:t>increases tremendously </a:t>
            </a:r>
          </a:p>
          <a:p>
            <a:pPr>
              <a:buFont typeface="Wingdings" pitchFamily="2" charset="2"/>
              <a:buChar char="§"/>
            </a:pPr>
            <a:endParaRPr lang="en-US" sz="2600" dirty="0"/>
          </a:p>
          <a:p>
            <a:pPr>
              <a:buFont typeface="Wingdings" pitchFamily="2" charset="2"/>
              <a:buChar char="§"/>
            </a:pPr>
            <a:r>
              <a:rPr lang="en-US" sz="2600" dirty="0"/>
              <a:t>Therefore, in order to have strong guarantees on Availability and Partition Tolerance, they had to sacrifice “strict” Consistency (</a:t>
            </a:r>
            <a:r>
              <a:rPr lang="en-US" sz="2600" i="1" dirty="0"/>
              <a:t>implied by the CAP theorem</a:t>
            </a:r>
            <a:r>
              <a:rPr lang="en-US" sz="2600" dirty="0"/>
              <a:t>)</a:t>
            </a:r>
          </a:p>
          <a:p>
            <a:pPr>
              <a:buFont typeface="Wingdings" pitchFamily="2" charset="2"/>
              <a:buChar char="§"/>
            </a:pPr>
            <a:endParaRPr lang="en-US" sz="2600" dirty="0"/>
          </a:p>
          <a:p>
            <a:pPr>
              <a:buFont typeface="Wingdings" pitchFamily="2" charset="2"/>
              <a:buChar char="§"/>
            </a:pPr>
            <a:endParaRPr lang="en-US" sz="2600" dirty="0"/>
          </a:p>
          <a:p>
            <a:pPr lvl="2">
              <a:buFont typeface="Wingdings" pitchFamily="2" charset="2"/>
              <a:buChar char="§"/>
            </a:pPr>
            <a:endParaRPr lang="en-US" sz="1800" dirty="0"/>
          </a:p>
          <a:p>
            <a:pPr lvl="1">
              <a:buFont typeface="Wingdings" pitchFamily="2" charset="2"/>
              <a:buChar char="§"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20352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1143000"/>
          </a:xfrm>
        </p:spPr>
        <p:txBody>
          <a:bodyPr/>
          <a:lstStyle/>
          <a:p>
            <a:r>
              <a:rPr lang="en-US" dirty="0"/>
              <a:t>Trading-Off Consistency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24000"/>
            <a:ext cx="8458200" cy="5257800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§"/>
            </a:pPr>
            <a:r>
              <a:rPr lang="en-US" sz="2600" dirty="0"/>
              <a:t>Maintaining consistency should balance between the strictness of consistency versus availability/scalability</a:t>
            </a:r>
          </a:p>
          <a:p>
            <a:pPr lvl="1">
              <a:buFont typeface="Wingdings" pitchFamily="2" charset="2"/>
              <a:buChar char="§"/>
            </a:pPr>
            <a:r>
              <a:rPr lang="en-US" sz="2400" dirty="0"/>
              <a:t>Good-enough consistency </a:t>
            </a:r>
            <a:r>
              <a:rPr lang="en-US" sz="2400" i="1" u="sng" dirty="0"/>
              <a:t>depends on your application</a:t>
            </a:r>
          </a:p>
          <a:p>
            <a:pPr lvl="4"/>
            <a:endParaRPr lang="en-US" sz="1050" dirty="0"/>
          </a:p>
          <a:p>
            <a:pPr>
              <a:buFont typeface="Wingdings" pitchFamily="2" charset="2"/>
              <a:buChar char="§"/>
            </a:pPr>
            <a:endParaRPr lang="en-US" sz="2600" dirty="0"/>
          </a:p>
          <a:p>
            <a:pPr>
              <a:buFont typeface="Wingdings" pitchFamily="2" charset="2"/>
              <a:buChar char="§"/>
            </a:pPr>
            <a:endParaRPr lang="en-US" sz="2600" dirty="0"/>
          </a:p>
          <a:p>
            <a:pPr lvl="2">
              <a:buFont typeface="Wingdings" pitchFamily="2" charset="2"/>
              <a:buChar char="§"/>
            </a:pPr>
            <a:endParaRPr lang="en-US" sz="1800" dirty="0"/>
          </a:p>
          <a:p>
            <a:pPr lvl="1">
              <a:buFont typeface="Wingdings" pitchFamily="2" charset="2"/>
              <a:buChar char="§"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970416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1143000"/>
          </a:xfrm>
        </p:spPr>
        <p:txBody>
          <a:bodyPr/>
          <a:lstStyle/>
          <a:p>
            <a:r>
              <a:rPr lang="en-US" dirty="0"/>
              <a:t>Trading-Off Consistency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24000"/>
            <a:ext cx="8458200" cy="5257800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§"/>
            </a:pPr>
            <a:r>
              <a:rPr lang="en-US" sz="2600" dirty="0"/>
              <a:t>Maintaining consistency should balance between the strictness of consistency versus availability/scalability</a:t>
            </a:r>
          </a:p>
          <a:p>
            <a:pPr lvl="1">
              <a:buFont typeface="Wingdings" pitchFamily="2" charset="2"/>
              <a:buChar char="§"/>
            </a:pPr>
            <a:r>
              <a:rPr lang="en-US" sz="2400" dirty="0"/>
              <a:t>Good-enough consistency </a:t>
            </a:r>
            <a:r>
              <a:rPr lang="en-US" sz="2400" i="1" u="sng" dirty="0"/>
              <a:t>depends on your application</a:t>
            </a:r>
          </a:p>
          <a:p>
            <a:pPr lvl="4"/>
            <a:endParaRPr lang="en-US" sz="1050" dirty="0"/>
          </a:p>
          <a:p>
            <a:pPr>
              <a:buFont typeface="Wingdings" pitchFamily="2" charset="2"/>
              <a:buChar char="§"/>
            </a:pPr>
            <a:endParaRPr lang="en-US" sz="2600" dirty="0"/>
          </a:p>
          <a:p>
            <a:pPr>
              <a:buFont typeface="Wingdings" pitchFamily="2" charset="2"/>
              <a:buChar char="§"/>
            </a:pPr>
            <a:endParaRPr lang="en-US" sz="2600" dirty="0"/>
          </a:p>
          <a:p>
            <a:pPr lvl="2">
              <a:buFont typeface="Wingdings" pitchFamily="2" charset="2"/>
              <a:buChar char="§"/>
            </a:pPr>
            <a:endParaRPr lang="en-US" sz="1800" dirty="0"/>
          </a:p>
          <a:p>
            <a:pPr lvl="1">
              <a:buFont typeface="Wingdings" pitchFamily="2" charset="2"/>
              <a:buChar char="§"/>
            </a:pPr>
            <a:endParaRPr lang="en-US" sz="1800" dirty="0"/>
          </a:p>
        </p:txBody>
      </p:sp>
      <p:sp>
        <p:nvSpPr>
          <p:cNvPr id="4" name="Left-Right Arrow 3"/>
          <p:cNvSpPr/>
          <p:nvPr/>
        </p:nvSpPr>
        <p:spPr>
          <a:xfrm>
            <a:off x="914400" y="3697069"/>
            <a:ext cx="7162800" cy="951131"/>
          </a:xfrm>
          <a:prstGeom prst="leftRightArrow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6400800" y="3175337"/>
            <a:ext cx="2286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/>
            <a:r>
              <a:rPr lang="en-US" b="1" dirty="0">
                <a:solidFill>
                  <a:srgbClr val="0000FF"/>
                </a:solidFill>
              </a:rPr>
              <a:t>Strict Consistency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0" y="4992469"/>
            <a:ext cx="32766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350" lvl="1" indent="-6350" algn="ctr"/>
            <a:r>
              <a:rPr lang="en-US" dirty="0"/>
              <a:t>Generally hard to implement, and is inefficient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3163669"/>
            <a:ext cx="2286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/>
            <a:r>
              <a:rPr lang="en-US" b="1" dirty="0">
                <a:solidFill>
                  <a:srgbClr val="0000FF"/>
                </a:solidFill>
              </a:rPr>
              <a:t>Loose Consistency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4916269"/>
            <a:ext cx="240618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17475" lvl="0" indent="-117475"/>
            <a:r>
              <a:rPr lang="en-US" dirty="0"/>
              <a:t>Easier to implement, and is efficient </a:t>
            </a:r>
          </a:p>
        </p:txBody>
      </p:sp>
      <p:pic>
        <p:nvPicPr>
          <p:cNvPr id="9" name="Picture 2" descr="C:\Documents and Settings\dd\Local Settings\Temporary Internet Files\Content.IE5\2JSTM34V\MM900288870[1].gif"/>
          <p:cNvPicPr>
            <a:picLocks noChangeAspect="1" noChangeArrowheads="1" noCrop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90800" y="3076575"/>
            <a:ext cx="619125" cy="809625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7023368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63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5E-6 1.11111E-6 L 0.34948 0.00347 " pathEditMode="relative" rAng="0" ptsTypes="AA">
                                      <p:cBhvr>
                                        <p:cTn id="8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75" y="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2000"/>
                            </p:stCondLst>
                            <p:childTnLst>
                              <p:par>
                                <p:cTn id="10" presetID="35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34948 0.00347 L 0.11614 0.00347 " pathEditMode="relative" rAng="0" ptsTypes="AA">
                                      <p:cBhvr>
                                        <p:cTn id="11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7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1143000"/>
          </a:xfrm>
        </p:spPr>
        <p:txBody>
          <a:bodyPr/>
          <a:lstStyle/>
          <a:p>
            <a:r>
              <a:rPr lang="en-US" dirty="0"/>
              <a:t>The BASE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24000"/>
            <a:ext cx="8458200" cy="5257800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§"/>
            </a:pPr>
            <a:r>
              <a:rPr lang="en-US" sz="2600" dirty="0"/>
              <a:t>The CAP theorem proves that it is impossible to guarantee strict Consistency and Availability while being able to tolerate network partitions</a:t>
            </a:r>
          </a:p>
          <a:p>
            <a:pPr>
              <a:buFont typeface="Wingdings" pitchFamily="2" charset="2"/>
              <a:buChar char="§"/>
            </a:pPr>
            <a:endParaRPr lang="en-US" sz="2600" dirty="0"/>
          </a:p>
          <a:p>
            <a:pPr>
              <a:buFont typeface="Wingdings" pitchFamily="2" charset="2"/>
              <a:buChar char="§"/>
            </a:pPr>
            <a:r>
              <a:rPr lang="en-US" sz="2600" dirty="0"/>
              <a:t>This resulted in databases with relaxed ACID guarantees</a:t>
            </a:r>
          </a:p>
          <a:p>
            <a:pPr>
              <a:buFont typeface="Wingdings" pitchFamily="2" charset="2"/>
              <a:buChar char="§"/>
            </a:pPr>
            <a:endParaRPr lang="en-US" sz="2600" dirty="0"/>
          </a:p>
          <a:p>
            <a:pPr>
              <a:buFont typeface="Wingdings" pitchFamily="2" charset="2"/>
              <a:buChar char="§"/>
            </a:pPr>
            <a:r>
              <a:rPr lang="en-US" sz="2600" dirty="0"/>
              <a:t>In particular, such databases apply the BASE properties:</a:t>
            </a:r>
          </a:p>
          <a:p>
            <a:pPr lvl="1">
              <a:buFont typeface="Wingdings" pitchFamily="2" charset="2"/>
              <a:buChar char="§"/>
            </a:pPr>
            <a:r>
              <a:rPr lang="en-US" sz="2400" b="1" u="sng" dirty="0"/>
              <a:t>B</a:t>
            </a:r>
            <a:r>
              <a:rPr lang="en-US" sz="2400" dirty="0"/>
              <a:t>asically </a:t>
            </a:r>
            <a:r>
              <a:rPr lang="en-US" sz="2400" b="1" u="sng" dirty="0"/>
              <a:t>A</a:t>
            </a:r>
            <a:r>
              <a:rPr lang="en-US" sz="2400" dirty="0"/>
              <a:t>vailable: the system guarantees Availability</a:t>
            </a:r>
          </a:p>
          <a:p>
            <a:pPr lvl="1">
              <a:buFont typeface="Wingdings" pitchFamily="2" charset="2"/>
              <a:buChar char="§"/>
            </a:pPr>
            <a:r>
              <a:rPr lang="en-US" sz="2400" b="1" u="sng" dirty="0"/>
              <a:t>S</a:t>
            </a:r>
            <a:r>
              <a:rPr lang="en-US" sz="2400" dirty="0"/>
              <a:t>oft-State: the state of the system may change over time</a:t>
            </a:r>
          </a:p>
          <a:p>
            <a:pPr lvl="1">
              <a:buFont typeface="Wingdings" pitchFamily="2" charset="2"/>
              <a:buChar char="§"/>
            </a:pPr>
            <a:r>
              <a:rPr lang="en-US" sz="2400" b="1" u="sng" dirty="0"/>
              <a:t>E</a:t>
            </a:r>
            <a:r>
              <a:rPr lang="en-US" sz="2400" dirty="0"/>
              <a:t>ventual Consistency: the system will </a:t>
            </a:r>
            <a:r>
              <a:rPr lang="en-US" sz="2400" i="1" dirty="0"/>
              <a:t>eventually</a:t>
            </a:r>
            <a:r>
              <a:rPr lang="en-US" sz="2400" dirty="0"/>
              <a:t> </a:t>
            </a:r>
            <a:br>
              <a:rPr lang="en-US" sz="2400" dirty="0"/>
            </a:br>
            <a:r>
              <a:rPr lang="en-US" sz="2400" dirty="0"/>
              <a:t>become consistent</a:t>
            </a:r>
          </a:p>
          <a:p>
            <a:pPr>
              <a:buFont typeface="Wingdings" pitchFamily="2" charset="2"/>
              <a:buChar char="§"/>
            </a:pPr>
            <a:endParaRPr lang="en-US" sz="2600" dirty="0"/>
          </a:p>
          <a:p>
            <a:pPr>
              <a:buFont typeface="Wingdings" pitchFamily="2" charset="2"/>
              <a:buChar char="§"/>
            </a:pPr>
            <a:endParaRPr lang="en-US" sz="2600" dirty="0"/>
          </a:p>
          <a:p>
            <a:pPr lvl="2">
              <a:buFont typeface="Wingdings" pitchFamily="2" charset="2"/>
              <a:buChar char="§"/>
            </a:pPr>
            <a:endParaRPr lang="en-US" sz="1800" dirty="0"/>
          </a:p>
          <a:p>
            <a:pPr lvl="1">
              <a:buFont typeface="Wingdings" pitchFamily="2" charset="2"/>
              <a:buChar char="§"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365054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1143000"/>
          </a:xfrm>
        </p:spPr>
        <p:txBody>
          <a:bodyPr/>
          <a:lstStyle/>
          <a:p>
            <a:r>
              <a:rPr lang="en-US" dirty="0"/>
              <a:t>Eventual Consistency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24000"/>
            <a:ext cx="8458200" cy="5257800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§"/>
            </a:pPr>
            <a:r>
              <a:rPr lang="en-US" sz="2800" dirty="0"/>
              <a:t>A database is termed as </a:t>
            </a:r>
            <a:r>
              <a:rPr lang="en-US" sz="2800" i="1" dirty="0"/>
              <a:t>Eventually Consistent</a:t>
            </a:r>
            <a:r>
              <a:rPr lang="en-US" sz="2800" dirty="0"/>
              <a:t> if:</a:t>
            </a:r>
          </a:p>
          <a:p>
            <a:pPr lvl="1">
              <a:buFont typeface="Wingdings" pitchFamily="2" charset="2"/>
              <a:buChar char="§"/>
            </a:pPr>
            <a:r>
              <a:rPr lang="en-US" sz="2600" dirty="0"/>
              <a:t>All replicas will </a:t>
            </a:r>
            <a:r>
              <a:rPr lang="en-US" sz="2600" i="1" dirty="0"/>
              <a:t>gradually</a:t>
            </a:r>
            <a:r>
              <a:rPr lang="en-US" sz="2600" dirty="0"/>
              <a:t> become consistent in the absence of updates</a:t>
            </a:r>
          </a:p>
          <a:p>
            <a:pPr>
              <a:buFont typeface="Wingdings" pitchFamily="2" charset="2"/>
              <a:buChar char="§"/>
            </a:pPr>
            <a:endParaRPr lang="en-US" sz="2600" dirty="0"/>
          </a:p>
          <a:p>
            <a:pPr>
              <a:buFont typeface="Wingdings" pitchFamily="2" charset="2"/>
              <a:buChar char="§"/>
            </a:pPr>
            <a:endParaRPr lang="en-US" sz="2600" dirty="0"/>
          </a:p>
          <a:p>
            <a:pPr lvl="2">
              <a:buFont typeface="Wingdings" pitchFamily="2" charset="2"/>
              <a:buChar char="§"/>
            </a:pPr>
            <a:endParaRPr lang="en-US" sz="1800" dirty="0"/>
          </a:p>
          <a:p>
            <a:pPr lvl="1">
              <a:buFont typeface="Wingdings" pitchFamily="2" charset="2"/>
              <a:buChar char="§"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9416956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1143000"/>
          </a:xfrm>
        </p:spPr>
        <p:txBody>
          <a:bodyPr/>
          <a:lstStyle/>
          <a:p>
            <a:r>
              <a:rPr lang="en-US" dirty="0"/>
              <a:t>Eventual Consistency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24000"/>
            <a:ext cx="8458200" cy="5257800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§"/>
            </a:pPr>
            <a:r>
              <a:rPr lang="en-US" sz="2800" dirty="0"/>
              <a:t>A database is termed as </a:t>
            </a:r>
            <a:r>
              <a:rPr lang="en-US" sz="2800" i="1" dirty="0"/>
              <a:t>Eventually Consistent</a:t>
            </a:r>
            <a:r>
              <a:rPr lang="en-US" sz="2800" dirty="0"/>
              <a:t> if:</a:t>
            </a:r>
          </a:p>
          <a:p>
            <a:pPr lvl="1">
              <a:buFont typeface="Wingdings" pitchFamily="2" charset="2"/>
              <a:buChar char="§"/>
            </a:pPr>
            <a:r>
              <a:rPr lang="en-US" sz="2600" dirty="0"/>
              <a:t>All replicas will </a:t>
            </a:r>
            <a:r>
              <a:rPr lang="en-US" sz="2600" i="1" dirty="0"/>
              <a:t>gradually</a:t>
            </a:r>
            <a:r>
              <a:rPr lang="en-US" sz="2600" dirty="0"/>
              <a:t> become consistent in the absence of updates</a:t>
            </a:r>
          </a:p>
          <a:p>
            <a:pPr>
              <a:buFont typeface="Wingdings" pitchFamily="2" charset="2"/>
              <a:buChar char="§"/>
            </a:pPr>
            <a:endParaRPr lang="en-US" sz="2600" dirty="0"/>
          </a:p>
          <a:p>
            <a:pPr>
              <a:buFont typeface="Wingdings" pitchFamily="2" charset="2"/>
              <a:buChar char="§"/>
            </a:pPr>
            <a:endParaRPr lang="en-US" sz="2600" dirty="0"/>
          </a:p>
          <a:p>
            <a:pPr lvl="2">
              <a:buFont typeface="Wingdings" pitchFamily="2" charset="2"/>
              <a:buChar char="§"/>
            </a:pPr>
            <a:endParaRPr lang="en-US" sz="1800" dirty="0"/>
          </a:p>
          <a:p>
            <a:pPr lvl="1">
              <a:buFont typeface="Wingdings" pitchFamily="2" charset="2"/>
              <a:buChar char="§"/>
            </a:pPr>
            <a:endParaRPr lang="en-US" sz="1800" dirty="0"/>
          </a:p>
        </p:txBody>
      </p:sp>
      <p:pic>
        <p:nvPicPr>
          <p:cNvPr id="4" name="Picture 2" descr="http://igcministries.org/images/WorldMap.gif"/>
          <p:cNvPicPr>
            <a:picLocks noChangeAspect="1" noChangeArrowheads="1"/>
          </p:cNvPicPr>
          <p:nvPr/>
        </p:nvPicPr>
        <p:blipFill>
          <a:blip r:embed="rId2" cstate="print">
            <a:duotone>
              <a:schemeClr val="accent3">
                <a:shade val="45000"/>
                <a:satMod val="135000"/>
              </a:schemeClr>
              <a:prstClr val="white"/>
            </a:duotone>
          </a:blip>
          <a:srcRect/>
          <a:stretch>
            <a:fillRect/>
          </a:stretch>
        </p:blipFill>
        <p:spPr bwMode="auto">
          <a:xfrm>
            <a:off x="1347993" y="2743200"/>
            <a:ext cx="6006209" cy="3082871"/>
          </a:xfrm>
          <a:prstGeom prst="rect">
            <a:avLst/>
          </a:prstGeom>
          <a:noFill/>
        </p:spPr>
      </p:pic>
      <p:grpSp>
        <p:nvGrpSpPr>
          <p:cNvPr id="5" name="Group 4"/>
          <p:cNvGrpSpPr/>
          <p:nvPr/>
        </p:nvGrpSpPr>
        <p:grpSpPr>
          <a:xfrm>
            <a:off x="1805193" y="2947534"/>
            <a:ext cx="5382267" cy="2713836"/>
            <a:chOff x="1143000" y="3674663"/>
            <a:chExt cx="5382267" cy="2713836"/>
          </a:xfrm>
        </p:grpSpPr>
        <p:sp>
          <p:nvSpPr>
            <p:cNvPr id="6" name="Can 5"/>
            <p:cNvSpPr/>
            <p:nvPr/>
          </p:nvSpPr>
          <p:spPr>
            <a:xfrm>
              <a:off x="1600200" y="4876800"/>
              <a:ext cx="1332957" cy="897337"/>
            </a:xfrm>
            <a:prstGeom prst="can">
              <a:avLst/>
            </a:prstGeom>
            <a:solidFill>
              <a:schemeClr val="bg2">
                <a:lumMod val="60000"/>
                <a:lumOff val="40000"/>
              </a:schemeClr>
            </a:solidFill>
            <a:effectLst>
              <a:outerShdw blurRad="50800" dist="38100" algn="l" rotWithShape="0">
                <a:prstClr val="black">
                  <a:alpha val="40000"/>
                </a:prstClr>
              </a:outerShdw>
            </a:effectLst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7" name="Can 6"/>
            <p:cNvSpPr/>
            <p:nvPr/>
          </p:nvSpPr>
          <p:spPr>
            <a:xfrm>
              <a:off x="4640304" y="5491162"/>
              <a:ext cx="1332957" cy="897337"/>
            </a:xfrm>
            <a:prstGeom prst="can">
              <a:avLst/>
            </a:prstGeom>
            <a:solidFill>
              <a:schemeClr val="bg2">
                <a:lumMod val="60000"/>
                <a:lumOff val="40000"/>
              </a:schemeClr>
            </a:solidFill>
            <a:effectLst>
              <a:outerShdw blurRad="50800" dist="38100" algn="l" rotWithShape="0">
                <a:prstClr val="black">
                  <a:alpha val="40000"/>
                </a:prstClr>
              </a:outerShdw>
            </a:effectLst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8" name="Can 7"/>
            <p:cNvSpPr/>
            <p:nvPr/>
          </p:nvSpPr>
          <p:spPr>
            <a:xfrm>
              <a:off x="4446254" y="4593825"/>
              <a:ext cx="1332957" cy="897337"/>
            </a:xfrm>
            <a:prstGeom prst="can">
              <a:avLst/>
            </a:prstGeom>
            <a:solidFill>
              <a:schemeClr val="bg2">
                <a:lumMod val="60000"/>
                <a:lumOff val="40000"/>
              </a:schemeClr>
            </a:solidFill>
            <a:effectLst>
              <a:outerShdw blurRad="50800" dist="38100" algn="l" rotWithShape="0">
                <a:prstClr val="black">
                  <a:alpha val="40000"/>
                </a:prstClr>
              </a:outerShdw>
            </a:effectLst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9" name="Can 8"/>
            <p:cNvSpPr/>
            <p:nvPr/>
          </p:nvSpPr>
          <p:spPr>
            <a:xfrm>
              <a:off x="5192310" y="3732860"/>
              <a:ext cx="1332957" cy="897337"/>
            </a:xfrm>
            <a:prstGeom prst="can">
              <a:avLst/>
            </a:prstGeom>
            <a:solidFill>
              <a:schemeClr val="bg2">
                <a:lumMod val="60000"/>
                <a:lumOff val="40000"/>
              </a:schemeClr>
            </a:solidFill>
            <a:effectLst>
              <a:outerShdw blurRad="50800" dist="38100" algn="l" rotWithShape="0">
                <a:prstClr val="black">
                  <a:alpha val="40000"/>
                </a:prstClr>
              </a:outerShdw>
            </a:effectLst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10" name="Can 9"/>
            <p:cNvSpPr/>
            <p:nvPr/>
          </p:nvSpPr>
          <p:spPr>
            <a:xfrm>
              <a:off x="2794305" y="3674663"/>
              <a:ext cx="1332957" cy="897337"/>
            </a:xfrm>
            <a:prstGeom prst="can">
              <a:avLst/>
            </a:prstGeom>
            <a:solidFill>
              <a:schemeClr val="bg2">
                <a:lumMod val="60000"/>
                <a:lumOff val="40000"/>
              </a:schemeClr>
            </a:solidFill>
            <a:effectLst>
              <a:outerShdw blurRad="50800" dist="38100" algn="l" rotWithShape="0">
                <a:prstClr val="black">
                  <a:alpha val="40000"/>
                </a:prstClr>
              </a:outerShdw>
            </a:effectLst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11" name="Can 10"/>
            <p:cNvSpPr/>
            <p:nvPr/>
          </p:nvSpPr>
          <p:spPr>
            <a:xfrm>
              <a:off x="1143000" y="3769183"/>
              <a:ext cx="1332957" cy="897337"/>
            </a:xfrm>
            <a:prstGeom prst="can">
              <a:avLst/>
            </a:prstGeom>
            <a:solidFill>
              <a:schemeClr val="bg2">
                <a:lumMod val="60000"/>
                <a:lumOff val="40000"/>
              </a:schemeClr>
            </a:solidFill>
            <a:effectLst>
              <a:outerShdw blurRad="50800" dist="38100" algn="l" rotWithShape="0">
                <a:prstClr val="black">
                  <a:alpha val="40000"/>
                </a:prstClr>
              </a:outerShdw>
            </a:effectLst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5416972" y="5168072"/>
            <a:ext cx="1104009" cy="276999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Webpage-A</a:t>
            </a:r>
          </a:p>
        </p:txBody>
      </p:sp>
      <p:cxnSp>
        <p:nvCxnSpPr>
          <p:cNvPr id="13" name="Straight Connector 12"/>
          <p:cNvCxnSpPr>
            <a:stCxn id="12" idx="3"/>
            <a:endCxn id="31" idx="1"/>
          </p:cNvCxnSpPr>
          <p:nvPr/>
        </p:nvCxnSpPr>
        <p:spPr>
          <a:xfrm flipV="1">
            <a:off x="6520981" y="5121667"/>
            <a:ext cx="388914" cy="184905"/>
          </a:xfrm>
          <a:prstGeom prst="line">
            <a:avLst/>
          </a:prstGeom>
          <a:ln w="28575">
            <a:solidFill>
              <a:schemeClr val="tx1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7187460" y="4149671"/>
            <a:ext cx="1769643" cy="464962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Event: Update Webpage-A</a:t>
            </a:r>
          </a:p>
        </p:txBody>
      </p:sp>
      <p:pic>
        <p:nvPicPr>
          <p:cNvPr id="15" name="Picture 4" descr="C:\Users\vkolar\AppData\Local\Microsoft\Windows\Temporary Internet Files\Content.IE5\E2H73JIM\MC900442038[1].wmf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0115" y="3040657"/>
            <a:ext cx="709463" cy="8842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4" descr="C:\Users\vkolar\AppData\Local\Microsoft\Windows\Temporary Internet Files\Content.IE5\E2H73JIM\MC900442038[1].wmf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400" y="4883870"/>
            <a:ext cx="709463" cy="8842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TextBox 16"/>
          <p:cNvSpPr txBox="1"/>
          <p:nvPr/>
        </p:nvSpPr>
        <p:spPr>
          <a:xfrm>
            <a:off x="5222920" y="4299734"/>
            <a:ext cx="1104009" cy="276999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Webpage-A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8976" y="3396202"/>
            <a:ext cx="1104009" cy="276999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Webpage-A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95350" y="3315899"/>
            <a:ext cx="1104009" cy="276999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Webpage-A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19666" y="3417025"/>
            <a:ext cx="1104009" cy="276999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Webpage-A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6866" y="4576733"/>
            <a:ext cx="1104009" cy="276999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Webpage-A</a:t>
            </a:r>
          </a:p>
        </p:txBody>
      </p:sp>
      <p:cxnSp>
        <p:nvCxnSpPr>
          <p:cNvPr id="22" name="Straight Connector 21"/>
          <p:cNvCxnSpPr>
            <a:stCxn id="15" idx="3"/>
            <a:endCxn id="20" idx="1"/>
          </p:cNvCxnSpPr>
          <p:nvPr/>
        </p:nvCxnSpPr>
        <p:spPr>
          <a:xfrm>
            <a:off x="1339578" y="3482776"/>
            <a:ext cx="580088" cy="72749"/>
          </a:xfrm>
          <a:prstGeom prst="line">
            <a:avLst/>
          </a:prstGeom>
          <a:ln w="28575">
            <a:solidFill>
              <a:schemeClr val="tx1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>
            <a:stCxn id="16" idx="3"/>
            <a:endCxn id="21" idx="1"/>
          </p:cNvCxnSpPr>
          <p:nvPr/>
        </p:nvCxnSpPr>
        <p:spPr>
          <a:xfrm flipV="1">
            <a:off x="1242863" y="4715233"/>
            <a:ext cx="1134003" cy="610756"/>
          </a:xfrm>
          <a:prstGeom prst="line">
            <a:avLst/>
          </a:prstGeom>
          <a:ln w="28575">
            <a:solidFill>
              <a:schemeClr val="tx1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11375" y="5168072"/>
            <a:ext cx="1104009" cy="276999"/>
          </a:xfrm>
          <a:prstGeom prst="rect">
            <a:avLst/>
          </a:prstGeom>
          <a:solidFill>
            <a:srgbClr val="00B050"/>
          </a:solidFill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Webpage-A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21766" y="4302071"/>
            <a:ext cx="1104009" cy="276999"/>
          </a:xfrm>
          <a:prstGeom prst="rect">
            <a:avLst/>
          </a:prstGeom>
          <a:solidFill>
            <a:srgbClr val="00B050"/>
          </a:solidFill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Webpage-A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72749" y="3398688"/>
            <a:ext cx="1104009" cy="276999"/>
          </a:xfrm>
          <a:prstGeom prst="rect">
            <a:avLst/>
          </a:prstGeom>
          <a:solidFill>
            <a:srgbClr val="00B050"/>
          </a:solidFill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Webpage-A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99532" y="3311471"/>
            <a:ext cx="1104009" cy="276999"/>
          </a:xfrm>
          <a:prstGeom prst="rect">
            <a:avLst/>
          </a:prstGeom>
          <a:solidFill>
            <a:srgbClr val="00B050"/>
          </a:solidFill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Webpage-A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06175" y="3420722"/>
            <a:ext cx="1104009" cy="276999"/>
          </a:xfrm>
          <a:prstGeom prst="rect">
            <a:avLst/>
          </a:prstGeom>
          <a:solidFill>
            <a:srgbClr val="00B050"/>
          </a:solidFill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Webpage-A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63375" y="4574739"/>
            <a:ext cx="1104009" cy="276999"/>
          </a:xfrm>
          <a:prstGeom prst="rect">
            <a:avLst/>
          </a:prstGeom>
          <a:solidFill>
            <a:srgbClr val="00B050"/>
          </a:solidFill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Webpage-A</a:t>
            </a:r>
          </a:p>
        </p:txBody>
      </p:sp>
      <p:pic>
        <p:nvPicPr>
          <p:cNvPr id="31" name="Picture 2" descr="C:\Users\vkolar\AppData\Local\Microsoft\Windows\Temporary Internet Files\Content.IE5\E2H73JIM\MC900322405[1].wmf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09895" y="4683071"/>
            <a:ext cx="787480" cy="8771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867114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2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2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2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2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2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2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2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2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2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2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2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4" grpId="1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1143000"/>
          </a:xfrm>
        </p:spPr>
        <p:txBody>
          <a:bodyPr>
            <a:normAutofit/>
          </a:bodyPr>
          <a:lstStyle/>
          <a:p>
            <a:r>
              <a:rPr lang="en-US" dirty="0"/>
              <a:t>Eventual Consistency: </a:t>
            </a:r>
            <a:br>
              <a:rPr lang="en-US" dirty="0"/>
            </a:br>
            <a:r>
              <a:rPr lang="en-US" dirty="0"/>
              <a:t>A Main Challenge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24000"/>
            <a:ext cx="8458200" cy="5257800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§"/>
            </a:pPr>
            <a:r>
              <a:rPr lang="en-US" sz="3000" dirty="0"/>
              <a:t>But, what if the client accesses the data from different replicas?</a:t>
            </a:r>
          </a:p>
          <a:p>
            <a:pPr>
              <a:buFont typeface="Wingdings" pitchFamily="2" charset="2"/>
              <a:buChar char="§"/>
            </a:pPr>
            <a:endParaRPr lang="en-US" sz="2600" dirty="0"/>
          </a:p>
          <a:p>
            <a:pPr>
              <a:buFont typeface="Wingdings" pitchFamily="2" charset="2"/>
              <a:buChar char="§"/>
            </a:pPr>
            <a:endParaRPr lang="en-US" sz="2600" dirty="0"/>
          </a:p>
          <a:p>
            <a:pPr lvl="2">
              <a:buFont typeface="Wingdings" pitchFamily="2" charset="2"/>
              <a:buChar char="§"/>
            </a:pPr>
            <a:endParaRPr lang="en-US" sz="1800" dirty="0"/>
          </a:p>
          <a:p>
            <a:pPr lvl="1">
              <a:buFont typeface="Wingdings" pitchFamily="2" charset="2"/>
              <a:buChar char="§"/>
            </a:pPr>
            <a:endParaRPr lang="en-US" sz="1800" dirty="0"/>
          </a:p>
        </p:txBody>
      </p:sp>
      <p:pic>
        <p:nvPicPr>
          <p:cNvPr id="32" name="Picture 2" descr="http://igcministries.org/images/WorldMap.gif"/>
          <p:cNvPicPr>
            <a:picLocks noChangeAspect="1" noChangeArrowheads="1"/>
          </p:cNvPicPr>
          <p:nvPr/>
        </p:nvPicPr>
        <p:blipFill>
          <a:blip r:embed="rId2" cstate="print">
            <a:duotone>
              <a:schemeClr val="accent3">
                <a:shade val="45000"/>
                <a:satMod val="135000"/>
              </a:schemeClr>
              <a:prstClr val="white"/>
            </a:duotone>
          </a:blip>
          <a:srcRect/>
          <a:stretch>
            <a:fillRect/>
          </a:stretch>
        </p:blipFill>
        <p:spPr bwMode="auto">
          <a:xfrm>
            <a:off x="1382490" y="2362200"/>
            <a:ext cx="6006209" cy="3082871"/>
          </a:xfrm>
          <a:prstGeom prst="rect">
            <a:avLst/>
          </a:prstGeom>
          <a:noFill/>
        </p:spPr>
      </p:pic>
      <p:grpSp>
        <p:nvGrpSpPr>
          <p:cNvPr id="33" name="Group 32"/>
          <p:cNvGrpSpPr/>
          <p:nvPr/>
        </p:nvGrpSpPr>
        <p:grpSpPr>
          <a:xfrm>
            <a:off x="1839690" y="2566534"/>
            <a:ext cx="5382267" cy="2713836"/>
            <a:chOff x="1143000" y="3674663"/>
            <a:chExt cx="5382267" cy="2713836"/>
          </a:xfrm>
        </p:grpSpPr>
        <p:sp>
          <p:nvSpPr>
            <p:cNvPr id="34" name="Can 33"/>
            <p:cNvSpPr/>
            <p:nvPr/>
          </p:nvSpPr>
          <p:spPr>
            <a:xfrm>
              <a:off x="1600200" y="4876800"/>
              <a:ext cx="1332957" cy="897337"/>
            </a:xfrm>
            <a:prstGeom prst="can">
              <a:avLst/>
            </a:prstGeom>
            <a:solidFill>
              <a:schemeClr val="bg2">
                <a:lumMod val="60000"/>
                <a:lumOff val="40000"/>
              </a:schemeClr>
            </a:solidFill>
            <a:effectLst>
              <a:outerShdw blurRad="50800" dist="38100" algn="l" rotWithShape="0">
                <a:prstClr val="black">
                  <a:alpha val="40000"/>
                </a:prstClr>
              </a:outerShdw>
            </a:effectLst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35" name="Can 34"/>
            <p:cNvSpPr/>
            <p:nvPr/>
          </p:nvSpPr>
          <p:spPr>
            <a:xfrm>
              <a:off x="4640304" y="5491162"/>
              <a:ext cx="1332957" cy="897337"/>
            </a:xfrm>
            <a:prstGeom prst="can">
              <a:avLst/>
            </a:prstGeom>
            <a:solidFill>
              <a:schemeClr val="bg2">
                <a:lumMod val="60000"/>
                <a:lumOff val="40000"/>
              </a:schemeClr>
            </a:solidFill>
            <a:effectLst>
              <a:outerShdw blurRad="50800" dist="38100" algn="l" rotWithShape="0">
                <a:prstClr val="black">
                  <a:alpha val="40000"/>
                </a:prstClr>
              </a:outerShdw>
            </a:effectLst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36" name="Can 35"/>
            <p:cNvSpPr/>
            <p:nvPr/>
          </p:nvSpPr>
          <p:spPr>
            <a:xfrm>
              <a:off x="4446254" y="4593825"/>
              <a:ext cx="1332957" cy="897337"/>
            </a:xfrm>
            <a:prstGeom prst="can">
              <a:avLst/>
            </a:prstGeom>
            <a:solidFill>
              <a:schemeClr val="bg2">
                <a:lumMod val="60000"/>
                <a:lumOff val="40000"/>
              </a:schemeClr>
            </a:solidFill>
            <a:effectLst>
              <a:outerShdw blurRad="50800" dist="38100" algn="l" rotWithShape="0">
                <a:prstClr val="black">
                  <a:alpha val="40000"/>
                </a:prstClr>
              </a:outerShdw>
            </a:effectLst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37" name="Can 36"/>
            <p:cNvSpPr/>
            <p:nvPr/>
          </p:nvSpPr>
          <p:spPr>
            <a:xfrm>
              <a:off x="5192310" y="3732860"/>
              <a:ext cx="1332957" cy="897337"/>
            </a:xfrm>
            <a:prstGeom prst="can">
              <a:avLst/>
            </a:prstGeom>
            <a:solidFill>
              <a:schemeClr val="bg2">
                <a:lumMod val="60000"/>
                <a:lumOff val="40000"/>
              </a:schemeClr>
            </a:solidFill>
            <a:effectLst>
              <a:outerShdw blurRad="50800" dist="38100" algn="l" rotWithShape="0">
                <a:prstClr val="black">
                  <a:alpha val="40000"/>
                </a:prstClr>
              </a:outerShdw>
            </a:effectLst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38" name="Can 37"/>
            <p:cNvSpPr/>
            <p:nvPr/>
          </p:nvSpPr>
          <p:spPr>
            <a:xfrm>
              <a:off x="2794305" y="3674663"/>
              <a:ext cx="1332957" cy="897337"/>
            </a:xfrm>
            <a:prstGeom prst="can">
              <a:avLst/>
            </a:prstGeom>
            <a:solidFill>
              <a:schemeClr val="bg2">
                <a:lumMod val="60000"/>
                <a:lumOff val="40000"/>
              </a:schemeClr>
            </a:solidFill>
            <a:effectLst>
              <a:outerShdw blurRad="50800" dist="38100" algn="l" rotWithShape="0">
                <a:prstClr val="black">
                  <a:alpha val="40000"/>
                </a:prstClr>
              </a:outerShdw>
            </a:effectLst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39" name="Can 38"/>
            <p:cNvSpPr/>
            <p:nvPr/>
          </p:nvSpPr>
          <p:spPr>
            <a:xfrm>
              <a:off x="1143000" y="3769183"/>
              <a:ext cx="1332957" cy="897337"/>
            </a:xfrm>
            <a:prstGeom prst="can">
              <a:avLst/>
            </a:prstGeom>
            <a:solidFill>
              <a:schemeClr val="bg2">
                <a:lumMod val="60000"/>
                <a:lumOff val="40000"/>
              </a:schemeClr>
            </a:solidFill>
            <a:effectLst>
              <a:outerShdw blurRad="50800" dist="38100" algn="l" rotWithShape="0">
                <a:prstClr val="black">
                  <a:alpha val="40000"/>
                </a:prstClr>
              </a:outerShdw>
            </a:effectLst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</p:grpSp>
      <p:sp>
        <p:nvSpPr>
          <p:cNvPr id="40" name="TextBox 39"/>
          <p:cNvSpPr txBox="1"/>
          <p:nvPr/>
        </p:nvSpPr>
        <p:spPr>
          <a:xfrm>
            <a:off x="5451469" y="4787072"/>
            <a:ext cx="1104009" cy="276999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Webpage-A</a:t>
            </a:r>
          </a:p>
        </p:txBody>
      </p:sp>
      <p:cxnSp>
        <p:nvCxnSpPr>
          <p:cNvPr id="41" name="Straight Connector 40"/>
          <p:cNvCxnSpPr>
            <a:stCxn id="40" idx="3"/>
            <a:endCxn id="59" idx="1"/>
          </p:cNvCxnSpPr>
          <p:nvPr/>
        </p:nvCxnSpPr>
        <p:spPr>
          <a:xfrm flipV="1">
            <a:off x="6555478" y="4740667"/>
            <a:ext cx="388914" cy="184905"/>
          </a:xfrm>
          <a:prstGeom prst="line">
            <a:avLst/>
          </a:prstGeom>
          <a:ln w="28575">
            <a:solidFill>
              <a:schemeClr val="tx1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7221957" y="3768671"/>
            <a:ext cx="1769643" cy="464962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Event: Update Webpage-A</a:t>
            </a:r>
          </a:p>
        </p:txBody>
      </p:sp>
      <p:pic>
        <p:nvPicPr>
          <p:cNvPr id="43" name="Picture 4" descr="C:\Users\vkolar\AppData\Local\Microsoft\Windows\Temporary Internet Files\Content.IE5\E2H73JIM\MC900442038[1].wmf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4612" y="2659657"/>
            <a:ext cx="709463" cy="8842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4" descr="C:\Users\vkolar\AppData\Local\Microsoft\Windows\Temporary Internet Files\Content.IE5\E2H73JIM\MC900442038[1].wmf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7897" y="4502870"/>
            <a:ext cx="709463" cy="8842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5" name="TextBox 44"/>
          <p:cNvSpPr txBox="1"/>
          <p:nvPr/>
        </p:nvSpPr>
        <p:spPr>
          <a:xfrm>
            <a:off x="5257417" y="3918734"/>
            <a:ext cx="1104009" cy="276999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Webpage-A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03473" y="3015202"/>
            <a:ext cx="1104009" cy="276999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Webpage-A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29847" y="2934899"/>
            <a:ext cx="1104009" cy="276999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Webpage-A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954163" y="3036025"/>
            <a:ext cx="1104009" cy="276999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Webpage-A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411363" y="4195733"/>
            <a:ext cx="1104009" cy="276999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Webpage-A</a:t>
            </a:r>
          </a:p>
        </p:txBody>
      </p:sp>
      <p:cxnSp>
        <p:nvCxnSpPr>
          <p:cNvPr id="50" name="Straight Connector 49"/>
          <p:cNvCxnSpPr>
            <a:stCxn id="43" idx="3"/>
            <a:endCxn id="48" idx="1"/>
          </p:cNvCxnSpPr>
          <p:nvPr/>
        </p:nvCxnSpPr>
        <p:spPr>
          <a:xfrm>
            <a:off x="1374075" y="3101776"/>
            <a:ext cx="580088" cy="72749"/>
          </a:xfrm>
          <a:prstGeom prst="line">
            <a:avLst/>
          </a:prstGeom>
          <a:ln w="28575">
            <a:solidFill>
              <a:schemeClr val="tx1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>
            <a:stCxn id="44" idx="3"/>
            <a:endCxn id="49" idx="1"/>
          </p:cNvCxnSpPr>
          <p:nvPr/>
        </p:nvCxnSpPr>
        <p:spPr>
          <a:xfrm flipV="1">
            <a:off x="1277360" y="4334233"/>
            <a:ext cx="1134003" cy="610756"/>
          </a:xfrm>
          <a:prstGeom prst="line">
            <a:avLst/>
          </a:prstGeom>
          <a:ln w="28575">
            <a:solidFill>
              <a:schemeClr val="tx1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5445872" y="4787072"/>
            <a:ext cx="1104009" cy="276999"/>
          </a:xfrm>
          <a:prstGeom prst="rect">
            <a:avLst/>
          </a:prstGeom>
          <a:solidFill>
            <a:srgbClr val="00B050"/>
          </a:solidFill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Webpage-A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56263" y="3921071"/>
            <a:ext cx="1104009" cy="276999"/>
          </a:xfrm>
          <a:prstGeom prst="rect">
            <a:avLst/>
          </a:prstGeom>
          <a:solidFill>
            <a:srgbClr val="00B050"/>
          </a:solidFill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Webpage-A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07246" y="3017688"/>
            <a:ext cx="1104009" cy="276999"/>
          </a:xfrm>
          <a:prstGeom prst="rect">
            <a:avLst/>
          </a:prstGeom>
          <a:solidFill>
            <a:srgbClr val="00B050"/>
          </a:solidFill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Webpage-A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34029" y="2930471"/>
            <a:ext cx="1104009" cy="276999"/>
          </a:xfrm>
          <a:prstGeom prst="rect">
            <a:avLst/>
          </a:prstGeom>
          <a:solidFill>
            <a:srgbClr val="00B050"/>
          </a:solidFill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Webpage-A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940672" y="3039722"/>
            <a:ext cx="1104009" cy="276999"/>
          </a:xfrm>
          <a:prstGeom prst="rect">
            <a:avLst/>
          </a:prstGeom>
          <a:solidFill>
            <a:srgbClr val="00B050"/>
          </a:solidFill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Webpage-A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97872" y="4193739"/>
            <a:ext cx="1104009" cy="276999"/>
          </a:xfrm>
          <a:prstGeom prst="rect">
            <a:avLst/>
          </a:prstGeom>
          <a:solidFill>
            <a:srgbClr val="00B050"/>
          </a:solidFill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Webpage-A</a:t>
            </a:r>
          </a:p>
        </p:txBody>
      </p:sp>
      <p:cxnSp>
        <p:nvCxnSpPr>
          <p:cNvPr id="58" name="Straight Connector 57"/>
          <p:cNvCxnSpPr>
            <a:endCxn id="55" idx="2"/>
          </p:cNvCxnSpPr>
          <p:nvPr/>
        </p:nvCxnSpPr>
        <p:spPr>
          <a:xfrm flipV="1">
            <a:off x="4157473" y="3207470"/>
            <a:ext cx="28561" cy="336424"/>
          </a:xfrm>
          <a:prstGeom prst="line">
            <a:avLst/>
          </a:prstGeom>
          <a:ln w="28575">
            <a:solidFill>
              <a:schemeClr val="tx1"/>
            </a:solidFill>
            <a:prstDash val="sysDot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9" name="Picture 2" descr="C:\Users\vkolar\AppData\Local\Microsoft\Windows\Temporary Internet Files\Content.IE5\E2H73JIM\MC900322405[1].wmf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44392" y="4302071"/>
            <a:ext cx="787480" cy="8771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60" name="Straight Connector 59"/>
          <p:cNvCxnSpPr>
            <a:endCxn id="55" idx="2"/>
          </p:cNvCxnSpPr>
          <p:nvPr/>
        </p:nvCxnSpPr>
        <p:spPr>
          <a:xfrm flipV="1">
            <a:off x="4157473" y="3207470"/>
            <a:ext cx="28561" cy="314598"/>
          </a:xfrm>
          <a:prstGeom prst="line">
            <a:avLst/>
          </a:prstGeom>
          <a:ln w="28575">
            <a:solidFill>
              <a:schemeClr val="tx1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808308" y="5562600"/>
            <a:ext cx="7154572" cy="609600"/>
          </a:xfrm>
          <a:prstGeom prst="round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Protocols like Read Your Own Writes (RYOW) can be applied!</a:t>
            </a:r>
          </a:p>
        </p:txBody>
      </p:sp>
    </p:spTree>
    <p:extLst>
      <p:ext uri="{BB962C8B-B14F-4D97-AF65-F5344CB8AC3E}">
        <p14:creationId xmlns:p14="http://schemas.microsoft.com/office/powerpoint/2010/main" val="1705106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2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2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2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2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22222E-6 4.42054E-6 L -0.34861 -0.11937 " pathEditMode="relative" rAng="0" ptsTypes="AA">
                                      <p:cBhvr>
                                        <p:cTn id="31" dur="20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7431" y="-596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2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2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2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2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20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2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2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 animBg="1"/>
      <p:bldP spid="42" grpId="1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30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1143000"/>
          </a:xfrm>
        </p:spPr>
        <p:txBody>
          <a:bodyPr/>
          <a:lstStyle/>
          <a:p>
            <a:r>
              <a:rPr lang="en-US" dirty="0"/>
              <a:t>NoSQL Databases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24000"/>
            <a:ext cx="8458200" cy="5257800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§"/>
            </a:pPr>
            <a:r>
              <a:rPr lang="en-US" sz="2800" dirty="0"/>
              <a:t>To this end, a new class of databases emerged, which mainly follow the BASE properties</a:t>
            </a:r>
          </a:p>
          <a:p>
            <a:pPr lvl="1">
              <a:buFont typeface="Wingdings" pitchFamily="2" charset="2"/>
              <a:buChar char="§"/>
            </a:pPr>
            <a:r>
              <a:rPr lang="en-US" dirty="0"/>
              <a:t>These were dubbed as NoSQL databases </a:t>
            </a:r>
          </a:p>
          <a:p>
            <a:pPr lvl="1">
              <a:buFont typeface="Wingdings" pitchFamily="2" charset="2"/>
              <a:buChar char="§"/>
            </a:pPr>
            <a:r>
              <a:rPr lang="en-US" dirty="0"/>
              <a:t>E.g., Amazon’s Dynamo and Google’s </a:t>
            </a:r>
            <a:r>
              <a:rPr lang="en-US" dirty="0" err="1"/>
              <a:t>Bigtable</a:t>
            </a:r>
            <a:endParaRPr lang="en-US" dirty="0"/>
          </a:p>
          <a:p>
            <a:pPr lvl="1">
              <a:buFont typeface="Wingdings" pitchFamily="2" charset="2"/>
              <a:buChar char="§"/>
            </a:pPr>
            <a:endParaRPr lang="en-US" dirty="0"/>
          </a:p>
          <a:p>
            <a:pPr>
              <a:buFont typeface="Wingdings" pitchFamily="2" charset="2"/>
              <a:buChar char="§"/>
            </a:pPr>
            <a:r>
              <a:rPr lang="en-US" sz="2800" dirty="0"/>
              <a:t>Main characteristics of NoSQL databases include:</a:t>
            </a:r>
          </a:p>
          <a:p>
            <a:pPr lvl="1">
              <a:buFont typeface="Wingdings" pitchFamily="2" charset="2"/>
              <a:buChar char="§"/>
            </a:pPr>
            <a:r>
              <a:rPr lang="en-US" sz="2600" dirty="0">
                <a:solidFill>
                  <a:srgbClr val="0070C0"/>
                </a:solidFill>
              </a:rPr>
              <a:t>No strict schema requirements</a:t>
            </a:r>
          </a:p>
          <a:p>
            <a:pPr lvl="1">
              <a:buFont typeface="Wingdings" pitchFamily="2" charset="2"/>
              <a:buChar char="§"/>
            </a:pPr>
            <a:r>
              <a:rPr lang="en-US" sz="2600" dirty="0">
                <a:solidFill>
                  <a:srgbClr val="0070C0"/>
                </a:solidFill>
              </a:rPr>
              <a:t>No strict adherence to ACID properties </a:t>
            </a:r>
          </a:p>
          <a:p>
            <a:pPr lvl="1">
              <a:buFont typeface="Wingdings" pitchFamily="2" charset="2"/>
              <a:buChar char="§"/>
            </a:pPr>
            <a:r>
              <a:rPr lang="en-US" sz="2600" dirty="0">
                <a:solidFill>
                  <a:srgbClr val="0070C0"/>
                </a:solidFill>
              </a:rPr>
              <a:t>Consistency is traded in favor of Availability</a:t>
            </a:r>
          </a:p>
          <a:p>
            <a:pPr lvl="2">
              <a:buFont typeface="Wingdings" pitchFamily="2" charset="2"/>
              <a:buChar char="§"/>
            </a:pPr>
            <a:endParaRPr lang="en-US" sz="1800" dirty="0"/>
          </a:p>
          <a:p>
            <a:pPr lvl="1">
              <a:buFont typeface="Wingdings" pitchFamily="2" charset="2"/>
              <a:buChar char="§"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871912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1143000"/>
          </a:xfrm>
        </p:spPr>
        <p:txBody>
          <a:bodyPr/>
          <a:lstStyle/>
          <a:p>
            <a:r>
              <a:rPr lang="en-US" dirty="0"/>
              <a:t>Types of NoSQL Databases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24000"/>
            <a:ext cx="8458200" cy="5257800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§"/>
            </a:pPr>
            <a:r>
              <a:rPr lang="en-US" sz="2800" dirty="0"/>
              <a:t>Here is a limited taxonomy of NoSQL databases:</a:t>
            </a:r>
            <a:endParaRPr lang="en-US" sz="2600" dirty="0">
              <a:solidFill>
                <a:srgbClr val="0070C0"/>
              </a:solidFill>
            </a:endParaRPr>
          </a:p>
          <a:p>
            <a:pPr lvl="2">
              <a:buFont typeface="Wingdings" pitchFamily="2" charset="2"/>
              <a:buChar char="§"/>
            </a:pPr>
            <a:endParaRPr lang="en-US" sz="1800" dirty="0"/>
          </a:p>
          <a:p>
            <a:pPr lvl="1">
              <a:buFont typeface="Wingdings" pitchFamily="2" charset="2"/>
              <a:buChar char="§"/>
            </a:pPr>
            <a:endParaRPr lang="en-US" sz="1800" dirty="0"/>
          </a:p>
        </p:txBody>
      </p:sp>
      <p:sp>
        <p:nvSpPr>
          <p:cNvPr id="5" name="Rounded Rectangle 4"/>
          <p:cNvSpPr/>
          <p:nvPr/>
        </p:nvSpPr>
        <p:spPr>
          <a:xfrm>
            <a:off x="2829374" y="2438400"/>
            <a:ext cx="3276600" cy="1066800"/>
          </a:xfrm>
          <a:prstGeom prst="round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600" dirty="0"/>
              <a:t>NoSQL Databases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" y="4267200"/>
            <a:ext cx="2057400" cy="990600"/>
          </a:xfrm>
          <a:prstGeom prst="round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Document Stores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38400" y="4267200"/>
            <a:ext cx="2057400" cy="990600"/>
          </a:xfrm>
          <a:prstGeom prst="round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Graph Databases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38230" y="4248684"/>
            <a:ext cx="2050279" cy="990600"/>
          </a:xfrm>
          <a:prstGeom prst="round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Key-Value Stores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41620" y="4248684"/>
            <a:ext cx="2050279" cy="990600"/>
          </a:xfrm>
          <a:prstGeom prst="round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Columnar Databases</a:t>
            </a:r>
          </a:p>
        </p:txBody>
      </p:sp>
      <p:cxnSp>
        <p:nvCxnSpPr>
          <p:cNvPr id="11" name="Straight Arrow Connector 10"/>
          <p:cNvCxnSpPr>
            <a:stCxn id="5" idx="2"/>
            <a:endCxn id="6" idx="0"/>
          </p:cNvCxnSpPr>
          <p:nvPr/>
        </p:nvCxnSpPr>
        <p:spPr>
          <a:xfrm flipH="1">
            <a:off x="1257300" y="3505200"/>
            <a:ext cx="3210374" cy="762000"/>
          </a:xfrm>
          <a:prstGeom prst="straightConnector1">
            <a:avLst/>
          </a:prstGeom>
          <a:ln w="254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>
            <a:stCxn id="5" idx="2"/>
            <a:endCxn id="7" idx="0"/>
          </p:cNvCxnSpPr>
          <p:nvPr/>
        </p:nvCxnSpPr>
        <p:spPr>
          <a:xfrm flipH="1">
            <a:off x="3467100" y="3505200"/>
            <a:ext cx="1000574" cy="762000"/>
          </a:xfrm>
          <a:prstGeom prst="straightConnector1">
            <a:avLst/>
          </a:prstGeom>
          <a:ln w="254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>
            <a:stCxn id="5" idx="2"/>
            <a:endCxn id="8" idx="0"/>
          </p:cNvCxnSpPr>
          <p:nvPr/>
        </p:nvCxnSpPr>
        <p:spPr>
          <a:xfrm>
            <a:off x="4467674" y="3505200"/>
            <a:ext cx="1195696" cy="743484"/>
          </a:xfrm>
          <a:prstGeom prst="straightConnector1">
            <a:avLst/>
          </a:prstGeom>
          <a:ln w="254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>
            <a:stCxn id="5" idx="2"/>
            <a:endCxn id="9" idx="0"/>
          </p:cNvCxnSpPr>
          <p:nvPr/>
        </p:nvCxnSpPr>
        <p:spPr>
          <a:xfrm>
            <a:off x="4467674" y="3505200"/>
            <a:ext cx="3399086" cy="743484"/>
          </a:xfrm>
          <a:prstGeom prst="straightConnector1">
            <a:avLst/>
          </a:prstGeom>
          <a:ln w="254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Up Arrow 17"/>
          <p:cNvSpPr/>
          <p:nvPr/>
        </p:nvSpPr>
        <p:spPr>
          <a:xfrm>
            <a:off x="796539" y="5511326"/>
            <a:ext cx="762000" cy="762000"/>
          </a:xfrm>
          <a:prstGeom prst="upArrow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455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1143000"/>
          </a:xfrm>
        </p:spPr>
        <p:txBody>
          <a:bodyPr/>
          <a:lstStyle/>
          <a:p>
            <a:r>
              <a:rPr lang="en-US" dirty="0"/>
              <a:t>Document Stores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341474"/>
            <a:ext cx="5105400" cy="5257800"/>
          </a:xfrm>
        </p:spPr>
        <p:txBody>
          <a:bodyPr>
            <a:normAutofit fontScale="92500" lnSpcReduction="20000"/>
          </a:bodyPr>
          <a:lstStyle/>
          <a:p>
            <a:pPr>
              <a:buFont typeface="Wingdings" pitchFamily="2" charset="2"/>
              <a:buChar char="§"/>
            </a:pPr>
            <a:r>
              <a:rPr lang="en-US" sz="2800" dirty="0"/>
              <a:t>Documents are stored in some standard format or encoding (e.g., XML, JSON, PDF or Office Documents)</a:t>
            </a:r>
          </a:p>
          <a:p>
            <a:pPr lvl="1">
              <a:buFont typeface="Wingdings" pitchFamily="2" charset="2"/>
              <a:buChar char="§"/>
            </a:pPr>
            <a:r>
              <a:rPr lang="en-US" sz="2600" dirty="0"/>
              <a:t>These are typically referred to as Binary Large Objects (BLOBs</a:t>
            </a:r>
            <a:r>
              <a:rPr lang="en-US" sz="2600" dirty="0" smtClean="0"/>
              <a:t>)</a:t>
            </a:r>
          </a:p>
          <a:p>
            <a:pPr lvl="1">
              <a:buFont typeface="Wingdings" pitchFamily="2" charset="2"/>
              <a:buChar char="§"/>
            </a:pPr>
            <a:endParaRPr lang="en-US" sz="2600" dirty="0"/>
          </a:p>
          <a:p>
            <a:pPr>
              <a:buFont typeface="Wingdings" pitchFamily="2" charset="2"/>
              <a:buChar char="§"/>
            </a:pPr>
            <a:r>
              <a:rPr lang="en-US" sz="2800" dirty="0"/>
              <a:t>Documents can be indexed</a:t>
            </a:r>
          </a:p>
          <a:p>
            <a:pPr lvl="1">
              <a:buFont typeface="Wingdings" pitchFamily="2" charset="2"/>
              <a:buChar char="§"/>
            </a:pPr>
            <a:r>
              <a:rPr lang="en-US" sz="2600" dirty="0"/>
              <a:t>This allows document stores to outperform traditional file </a:t>
            </a:r>
            <a:r>
              <a:rPr lang="en-US" sz="2600" dirty="0" smtClean="0"/>
              <a:t>systems</a:t>
            </a:r>
          </a:p>
          <a:p>
            <a:pPr lvl="1">
              <a:buFont typeface="Wingdings" pitchFamily="2" charset="2"/>
              <a:buChar char="§"/>
            </a:pPr>
            <a:r>
              <a:rPr lang="en-US" sz="2600" dirty="0" smtClean="0"/>
              <a:t>Documents are not typically forced to have a schema and therefore are flexible and easy to change</a:t>
            </a:r>
            <a:r>
              <a:rPr lang="en-US" sz="2600" dirty="0"/>
              <a:t>.</a:t>
            </a:r>
          </a:p>
          <a:p>
            <a:pPr lvl="1">
              <a:buFont typeface="Wingdings" pitchFamily="2" charset="2"/>
              <a:buChar char="§"/>
            </a:pPr>
            <a:endParaRPr lang="en-US" sz="2600" dirty="0" smtClean="0"/>
          </a:p>
          <a:p>
            <a:pPr>
              <a:buFont typeface="Wingdings" pitchFamily="2" charset="2"/>
              <a:buChar char="§"/>
            </a:pPr>
            <a:r>
              <a:rPr lang="en-US" sz="2800" dirty="0" smtClean="0"/>
              <a:t>E.g</a:t>
            </a:r>
            <a:r>
              <a:rPr lang="en-US" sz="2800" dirty="0"/>
              <a:t>., MongoDB and CouchDB (both can be queried using </a:t>
            </a:r>
            <a:r>
              <a:rPr lang="en-US" sz="2800" dirty="0" err="1"/>
              <a:t>MapReduce</a:t>
            </a:r>
            <a:r>
              <a:rPr lang="en-US" sz="2800" dirty="0"/>
              <a:t>)</a:t>
            </a:r>
          </a:p>
          <a:p>
            <a:pPr lvl="2">
              <a:buFont typeface="Wingdings" pitchFamily="2" charset="2"/>
              <a:buChar char="§"/>
            </a:pPr>
            <a:endParaRPr lang="en-US" sz="1800" dirty="0"/>
          </a:p>
          <a:p>
            <a:pPr lvl="1">
              <a:buFont typeface="Wingdings" pitchFamily="2" charset="2"/>
              <a:buChar char="§"/>
            </a:pPr>
            <a:endParaRPr lang="en-US" sz="18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D84563D-6368-7A45-B7D4-73F6870C09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7900" y="1752600"/>
            <a:ext cx="4011562" cy="22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7164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1143000"/>
          </a:xfrm>
        </p:spPr>
        <p:txBody>
          <a:bodyPr/>
          <a:lstStyle/>
          <a:p>
            <a:r>
              <a:rPr lang="en-US" dirty="0"/>
              <a:t>Types of NoSQL Databases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24000"/>
            <a:ext cx="8458200" cy="5257800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§"/>
            </a:pPr>
            <a:r>
              <a:rPr lang="en-US" sz="2800" dirty="0"/>
              <a:t>Here is a limited taxonomy of NoSQL databases:</a:t>
            </a:r>
            <a:endParaRPr lang="en-US" sz="2600" dirty="0">
              <a:solidFill>
                <a:srgbClr val="0070C0"/>
              </a:solidFill>
            </a:endParaRPr>
          </a:p>
          <a:p>
            <a:pPr lvl="2">
              <a:buFont typeface="Wingdings" pitchFamily="2" charset="2"/>
              <a:buChar char="§"/>
            </a:pPr>
            <a:endParaRPr lang="en-US" sz="1800" dirty="0"/>
          </a:p>
          <a:p>
            <a:pPr lvl="1">
              <a:buFont typeface="Wingdings" pitchFamily="2" charset="2"/>
              <a:buChar char="§"/>
            </a:pPr>
            <a:endParaRPr lang="en-US" sz="1800" dirty="0"/>
          </a:p>
        </p:txBody>
      </p:sp>
      <p:sp>
        <p:nvSpPr>
          <p:cNvPr id="5" name="Rounded Rectangle 4"/>
          <p:cNvSpPr/>
          <p:nvPr/>
        </p:nvSpPr>
        <p:spPr>
          <a:xfrm>
            <a:off x="2829374" y="2438400"/>
            <a:ext cx="3276600" cy="1066800"/>
          </a:xfrm>
          <a:prstGeom prst="round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600" dirty="0"/>
              <a:t>NoSQL Databases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" y="4267200"/>
            <a:ext cx="2057400" cy="990600"/>
          </a:xfrm>
          <a:prstGeom prst="round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Document Stores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38400" y="4267200"/>
            <a:ext cx="2057400" cy="990600"/>
          </a:xfrm>
          <a:prstGeom prst="round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Graph Databases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38230" y="4248684"/>
            <a:ext cx="2050279" cy="990600"/>
          </a:xfrm>
          <a:prstGeom prst="round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Key-Value Stores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41620" y="4248684"/>
            <a:ext cx="2050279" cy="990600"/>
          </a:xfrm>
          <a:prstGeom prst="round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Columnar Databases</a:t>
            </a:r>
          </a:p>
        </p:txBody>
      </p:sp>
      <p:cxnSp>
        <p:nvCxnSpPr>
          <p:cNvPr id="11" name="Straight Arrow Connector 10"/>
          <p:cNvCxnSpPr>
            <a:stCxn id="5" idx="2"/>
            <a:endCxn id="6" idx="0"/>
          </p:cNvCxnSpPr>
          <p:nvPr/>
        </p:nvCxnSpPr>
        <p:spPr>
          <a:xfrm flipH="1">
            <a:off x="1257300" y="3505200"/>
            <a:ext cx="3210374" cy="762000"/>
          </a:xfrm>
          <a:prstGeom prst="straightConnector1">
            <a:avLst/>
          </a:prstGeom>
          <a:ln w="254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>
            <a:stCxn id="5" idx="2"/>
            <a:endCxn id="7" idx="0"/>
          </p:cNvCxnSpPr>
          <p:nvPr/>
        </p:nvCxnSpPr>
        <p:spPr>
          <a:xfrm flipH="1">
            <a:off x="3467100" y="3505200"/>
            <a:ext cx="1000574" cy="762000"/>
          </a:xfrm>
          <a:prstGeom prst="straightConnector1">
            <a:avLst/>
          </a:prstGeom>
          <a:ln w="254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>
            <a:stCxn id="5" idx="2"/>
            <a:endCxn id="8" idx="0"/>
          </p:cNvCxnSpPr>
          <p:nvPr/>
        </p:nvCxnSpPr>
        <p:spPr>
          <a:xfrm>
            <a:off x="4467674" y="3505200"/>
            <a:ext cx="1195696" cy="743484"/>
          </a:xfrm>
          <a:prstGeom prst="straightConnector1">
            <a:avLst/>
          </a:prstGeom>
          <a:ln w="254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>
            <a:stCxn id="5" idx="2"/>
            <a:endCxn id="9" idx="0"/>
          </p:cNvCxnSpPr>
          <p:nvPr/>
        </p:nvCxnSpPr>
        <p:spPr>
          <a:xfrm>
            <a:off x="4467674" y="3505200"/>
            <a:ext cx="3399086" cy="743484"/>
          </a:xfrm>
          <a:prstGeom prst="straightConnector1">
            <a:avLst/>
          </a:prstGeom>
          <a:ln w="254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Up Arrow 17"/>
          <p:cNvSpPr/>
          <p:nvPr/>
        </p:nvSpPr>
        <p:spPr>
          <a:xfrm>
            <a:off x="3086100" y="5511326"/>
            <a:ext cx="762000" cy="762000"/>
          </a:xfrm>
          <a:prstGeom prst="upArrow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5564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1143000"/>
          </a:xfrm>
        </p:spPr>
        <p:txBody>
          <a:bodyPr/>
          <a:lstStyle/>
          <a:p>
            <a:r>
              <a:rPr lang="en-US" dirty="0"/>
              <a:t>Graph Databases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43000"/>
            <a:ext cx="8458200" cy="5715000"/>
          </a:xfrm>
        </p:spPr>
        <p:txBody>
          <a:bodyPr>
            <a:normAutofit fontScale="92500" lnSpcReduction="10000"/>
          </a:bodyPr>
          <a:lstStyle/>
          <a:p>
            <a:pPr>
              <a:buFont typeface="Wingdings" pitchFamily="2" charset="2"/>
              <a:buChar char="§"/>
            </a:pPr>
            <a:r>
              <a:rPr lang="en-US" sz="2600" dirty="0"/>
              <a:t>Data are represented as vertices and edges</a:t>
            </a:r>
          </a:p>
          <a:p>
            <a:pPr>
              <a:buFont typeface="Wingdings" pitchFamily="2" charset="2"/>
              <a:buChar char="§"/>
            </a:pPr>
            <a:endParaRPr lang="en-US" sz="2600" dirty="0"/>
          </a:p>
          <a:p>
            <a:pPr>
              <a:buFont typeface="Wingdings" pitchFamily="2" charset="2"/>
              <a:buChar char="§"/>
            </a:pPr>
            <a:endParaRPr lang="en-US" sz="2600" dirty="0"/>
          </a:p>
          <a:p>
            <a:pPr>
              <a:buFont typeface="Wingdings" pitchFamily="2" charset="2"/>
              <a:buChar char="§"/>
            </a:pPr>
            <a:endParaRPr lang="en-US" sz="2600" dirty="0"/>
          </a:p>
          <a:p>
            <a:pPr>
              <a:buFont typeface="Wingdings" pitchFamily="2" charset="2"/>
              <a:buChar char="§"/>
            </a:pPr>
            <a:endParaRPr lang="en-US" sz="2600" dirty="0"/>
          </a:p>
          <a:p>
            <a:pPr>
              <a:buFont typeface="Wingdings" pitchFamily="2" charset="2"/>
              <a:buChar char="§"/>
            </a:pPr>
            <a:endParaRPr lang="en-US" sz="2600" dirty="0"/>
          </a:p>
          <a:p>
            <a:pPr>
              <a:buFont typeface="Wingdings" pitchFamily="2" charset="2"/>
              <a:buChar char="§"/>
            </a:pPr>
            <a:endParaRPr lang="en-US" sz="2600" dirty="0"/>
          </a:p>
          <a:p>
            <a:pPr>
              <a:buFont typeface="Wingdings" pitchFamily="2" charset="2"/>
              <a:buChar char="§"/>
            </a:pPr>
            <a:endParaRPr lang="en-US" sz="2600" dirty="0"/>
          </a:p>
          <a:p>
            <a:pPr>
              <a:buFont typeface="Wingdings" pitchFamily="2" charset="2"/>
              <a:buChar char="§"/>
            </a:pPr>
            <a:endParaRPr lang="en-US" sz="2600" dirty="0"/>
          </a:p>
          <a:p>
            <a:pPr>
              <a:buFont typeface="Wingdings" pitchFamily="2" charset="2"/>
              <a:buChar char="§"/>
            </a:pPr>
            <a:endParaRPr lang="en-US" sz="2600" dirty="0"/>
          </a:p>
          <a:p>
            <a:pPr>
              <a:buFont typeface="Wingdings" pitchFamily="2" charset="2"/>
              <a:buChar char="§"/>
            </a:pPr>
            <a:r>
              <a:rPr lang="en-US" sz="2600" dirty="0"/>
              <a:t>Graph databases are powerful for graph-like queries (e.g., find the shortest path between two elements)</a:t>
            </a:r>
          </a:p>
          <a:p>
            <a:pPr>
              <a:buFont typeface="Wingdings" pitchFamily="2" charset="2"/>
              <a:buChar char="§"/>
            </a:pPr>
            <a:endParaRPr lang="en-US" sz="2600" dirty="0"/>
          </a:p>
          <a:p>
            <a:pPr>
              <a:buFont typeface="Wingdings" pitchFamily="2" charset="2"/>
              <a:buChar char="§"/>
            </a:pPr>
            <a:r>
              <a:rPr lang="en-US" sz="2600" dirty="0"/>
              <a:t>E.g., Neo4j and </a:t>
            </a:r>
            <a:r>
              <a:rPr lang="en-US" sz="2600" dirty="0" err="1"/>
              <a:t>VertexDB</a:t>
            </a:r>
            <a:endParaRPr lang="en-US" sz="2600" dirty="0"/>
          </a:p>
          <a:p>
            <a:pPr lvl="1">
              <a:buFont typeface="Wingdings" pitchFamily="2" charset="2"/>
              <a:buChar char="§"/>
            </a:pPr>
            <a:endParaRPr lang="en-US" sz="2400" dirty="0"/>
          </a:p>
          <a:p>
            <a:pPr lvl="2">
              <a:buFont typeface="Wingdings" pitchFamily="2" charset="2"/>
              <a:buChar char="§"/>
            </a:pPr>
            <a:endParaRPr lang="en-US" sz="1800" dirty="0"/>
          </a:p>
          <a:p>
            <a:pPr lvl="1">
              <a:buFont typeface="Wingdings" pitchFamily="2" charset="2"/>
              <a:buChar char="§"/>
            </a:pPr>
            <a:endParaRPr lang="en-US" sz="1800" dirty="0"/>
          </a:p>
        </p:txBody>
      </p:sp>
      <p:sp>
        <p:nvSpPr>
          <p:cNvPr id="4" name="Oval 3"/>
          <p:cNvSpPr/>
          <p:nvPr/>
        </p:nvSpPr>
        <p:spPr>
          <a:xfrm>
            <a:off x="2118612" y="2705925"/>
            <a:ext cx="1143000" cy="1143000"/>
          </a:xfrm>
          <a:prstGeom prst="ellipse">
            <a:avLst/>
          </a:prstGeom>
          <a:solidFill>
            <a:srgbClr val="92D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Id: 1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Name: Alice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Age: 18</a:t>
            </a:r>
          </a:p>
        </p:txBody>
      </p:sp>
      <p:sp>
        <p:nvSpPr>
          <p:cNvPr id="5" name="Oval 4"/>
          <p:cNvSpPr/>
          <p:nvPr/>
        </p:nvSpPr>
        <p:spPr>
          <a:xfrm>
            <a:off x="5014212" y="1597820"/>
            <a:ext cx="1143000" cy="1143000"/>
          </a:xfrm>
          <a:prstGeom prst="ellipse">
            <a:avLst/>
          </a:prstGeom>
          <a:solidFill>
            <a:srgbClr val="92D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Id: 2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Name: Bob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Age: 22</a:t>
            </a:r>
          </a:p>
        </p:txBody>
      </p:sp>
      <p:sp>
        <p:nvSpPr>
          <p:cNvPr id="6" name="Oval 5"/>
          <p:cNvSpPr/>
          <p:nvPr/>
        </p:nvSpPr>
        <p:spPr>
          <a:xfrm>
            <a:off x="4221606" y="3911983"/>
            <a:ext cx="1143000" cy="1143000"/>
          </a:xfrm>
          <a:prstGeom prst="ellipse">
            <a:avLst/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dirty="0"/>
              <a:t>Id: 3</a:t>
            </a:r>
          </a:p>
          <a:p>
            <a:pPr algn="ctr"/>
            <a:r>
              <a:rPr lang="en-US" sz="1200" dirty="0"/>
              <a:t>Name: Chess</a:t>
            </a:r>
          </a:p>
          <a:p>
            <a:pPr algn="ctr"/>
            <a:r>
              <a:rPr lang="en-US" sz="1200" dirty="0"/>
              <a:t>Type: Group</a:t>
            </a:r>
          </a:p>
        </p:txBody>
      </p:sp>
      <p:cxnSp>
        <p:nvCxnSpPr>
          <p:cNvPr id="8" name="Curved Connector 7"/>
          <p:cNvCxnSpPr>
            <a:stCxn id="4" idx="7"/>
            <a:endCxn id="5" idx="2"/>
          </p:cNvCxnSpPr>
          <p:nvPr/>
        </p:nvCxnSpPr>
        <p:spPr>
          <a:xfrm rot="5400000" flipH="1" flipV="1">
            <a:off x="3702222" y="1561323"/>
            <a:ext cx="703993" cy="1919988"/>
          </a:xfrm>
          <a:prstGeom prst="curvedConnector2">
            <a:avLst/>
          </a:prstGeom>
          <a:ln w="19050">
            <a:solidFill>
              <a:srgbClr val="2906FA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urved Connector 9"/>
          <p:cNvCxnSpPr>
            <a:stCxn id="5" idx="3"/>
            <a:endCxn id="4" idx="6"/>
          </p:cNvCxnSpPr>
          <p:nvPr/>
        </p:nvCxnSpPr>
        <p:spPr>
          <a:xfrm rot="5400000">
            <a:off x="3869610" y="1965434"/>
            <a:ext cx="703993" cy="1919988"/>
          </a:xfrm>
          <a:prstGeom prst="curvedConnector2">
            <a:avLst/>
          </a:prstGeom>
          <a:ln w="19050">
            <a:solidFill>
              <a:srgbClr val="2906FA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urved Connector 16"/>
          <p:cNvCxnSpPr>
            <a:stCxn id="4" idx="4"/>
            <a:endCxn id="6" idx="2"/>
          </p:cNvCxnSpPr>
          <p:nvPr/>
        </p:nvCxnSpPr>
        <p:spPr>
          <a:xfrm rot="16200000" flipH="1">
            <a:off x="3138580" y="3400457"/>
            <a:ext cx="634558" cy="1531494"/>
          </a:xfrm>
          <a:prstGeom prst="curvedConnector2">
            <a:avLst/>
          </a:prstGeom>
          <a:ln w="19050">
            <a:solidFill>
              <a:srgbClr val="2906FA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urved Connector 22"/>
          <p:cNvCxnSpPr>
            <a:stCxn id="6" idx="1"/>
          </p:cNvCxnSpPr>
          <p:nvPr/>
        </p:nvCxnSpPr>
        <p:spPr>
          <a:xfrm rot="16200000" flipV="1">
            <a:off x="3525820" y="3216197"/>
            <a:ext cx="537755" cy="1188594"/>
          </a:xfrm>
          <a:prstGeom prst="curvedConnector2">
            <a:avLst/>
          </a:prstGeom>
          <a:ln w="19050">
            <a:solidFill>
              <a:srgbClr val="2906FA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urved Connector 78"/>
          <p:cNvCxnSpPr>
            <a:stCxn id="5" idx="4"/>
            <a:endCxn id="6" idx="0"/>
          </p:cNvCxnSpPr>
          <p:nvPr/>
        </p:nvCxnSpPr>
        <p:spPr>
          <a:xfrm rot="5400000">
            <a:off x="4603828" y="2930098"/>
            <a:ext cx="1171163" cy="792606"/>
          </a:xfrm>
          <a:prstGeom prst="curvedConnector3">
            <a:avLst/>
          </a:prstGeom>
          <a:ln w="19050">
            <a:solidFill>
              <a:srgbClr val="2906FA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urved Connector 80"/>
          <p:cNvCxnSpPr>
            <a:stCxn id="6" idx="7"/>
            <a:endCxn id="5" idx="5"/>
          </p:cNvCxnSpPr>
          <p:nvPr/>
        </p:nvCxnSpPr>
        <p:spPr>
          <a:xfrm rot="5400000" flipH="1" flipV="1">
            <a:off x="4840552" y="2930099"/>
            <a:ext cx="1505939" cy="792606"/>
          </a:xfrm>
          <a:prstGeom prst="curvedConnector3">
            <a:avLst/>
          </a:prstGeom>
          <a:ln w="19050">
            <a:solidFill>
              <a:srgbClr val="2906FA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 rot="20486742">
            <a:off x="3008911" y="1719958"/>
            <a:ext cx="13372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Id:100</a:t>
            </a:r>
          </a:p>
          <a:p>
            <a:r>
              <a:rPr lang="en-US" sz="1200" dirty="0"/>
              <a:t>Label: knows</a:t>
            </a:r>
          </a:p>
          <a:p>
            <a:r>
              <a:rPr lang="en-US" sz="1200" dirty="0"/>
              <a:t>Since: 2001/10/03</a:t>
            </a:r>
          </a:p>
        </p:txBody>
      </p:sp>
      <p:sp>
        <p:nvSpPr>
          <p:cNvPr id="91" name="TextBox 90"/>
          <p:cNvSpPr txBox="1"/>
          <p:nvPr/>
        </p:nvSpPr>
        <p:spPr>
          <a:xfrm rot="20486742">
            <a:off x="3541395" y="2507111"/>
            <a:ext cx="13372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Id:101</a:t>
            </a:r>
          </a:p>
          <a:p>
            <a:r>
              <a:rPr lang="en-US" sz="1200" dirty="0"/>
              <a:t>Label: knows</a:t>
            </a:r>
          </a:p>
          <a:p>
            <a:r>
              <a:rPr lang="en-US" sz="1200" dirty="0"/>
              <a:t>Since: 2001/10/03</a:t>
            </a:r>
          </a:p>
        </p:txBody>
      </p:sp>
      <p:sp>
        <p:nvSpPr>
          <p:cNvPr id="92" name="TextBox 91"/>
          <p:cNvSpPr txBox="1"/>
          <p:nvPr/>
        </p:nvSpPr>
        <p:spPr>
          <a:xfrm rot="1144732">
            <a:off x="3533429" y="3336421"/>
            <a:ext cx="11919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Id:103</a:t>
            </a:r>
          </a:p>
          <a:p>
            <a:r>
              <a:rPr lang="en-US" sz="1200" dirty="0"/>
              <a:t>Label: Members</a:t>
            </a:r>
          </a:p>
        </p:txBody>
      </p:sp>
      <p:sp>
        <p:nvSpPr>
          <p:cNvPr id="93" name="TextBox 92"/>
          <p:cNvSpPr txBox="1"/>
          <p:nvPr/>
        </p:nvSpPr>
        <p:spPr>
          <a:xfrm rot="19087203">
            <a:off x="5338977" y="3180710"/>
            <a:ext cx="11919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Id:104</a:t>
            </a:r>
          </a:p>
          <a:p>
            <a:r>
              <a:rPr lang="en-US" sz="1200" dirty="0"/>
              <a:t>Label: Members</a:t>
            </a:r>
          </a:p>
        </p:txBody>
      </p:sp>
      <p:sp>
        <p:nvSpPr>
          <p:cNvPr id="94" name="TextBox 93"/>
          <p:cNvSpPr txBox="1"/>
          <p:nvPr/>
        </p:nvSpPr>
        <p:spPr>
          <a:xfrm rot="19046389">
            <a:off x="4252451" y="2789344"/>
            <a:ext cx="13372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Id:105</a:t>
            </a:r>
          </a:p>
          <a:p>
            <a:r>
              <a:rPr lang="en-US" sz="1200" dirty="0"/>
              <a:t>Label: </a:t>
            </a:r>
            <a:r>
              <a:rPr lang="en-US" sz="1200" dirty="0" err="1"/>
              <a:t>is_member</a:t>
            </a:r>
            <a:endParaRPr lang="en-US" sz="1200" dirty="0"/>
          </a:p>
          <a:p>
            <a:r>
              <a:rPr lang="en-US" sz="1200" dirty="0"/>
              <a:t>Since: 2011/02/14</a:t>
            </a:r>
          </a:p>
        </p:txBody>
      </p:sp>
      <p:sp>
        <p:nvSpPr>
          <p:cNvPr id="95" name="TextBox 94"/>
          <p:cNvSpPr txBox="1"/>
          <p:nvPr/>
        </p:nvSpPr>
        <p:spPr>
          <a:xfrm rot="1437996">
            <a:off x="2531785" y="4351880"/>
            <a:ext cx="13372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Id:102</a:t>
            </a:r>
          </a:p>
          <a:p>
            <a:r>
              <a:rPr lang="en-US" sz="1200" dirty="0"/>
              <a:t>Label: </a:t>
            </a:r>
            <a:r>
              <a:rPr lang="en-US" sz="1200" dirty="0" err="1"/>
              <a:t>is_member</a:t>
            </a:r>
            <a:endParaRPr lang="en-US" sz="1200" dirty="0"/>
          </a:p>
          <a:p>
            <a:r>
              <a:rPr lang="en-US" sz="1200" dirty="0"/>
              <a:t>Since: 2005/07/01</a:t>
            </a:r>
          </a:p>
        </p:txBody>
      </p:sp>
    </p:spTree>
    <p:extLst>
      <p:ext uri="{BB962C8B-B14F-4D97-AF65-F5344CB8AC3E}">
        <p14:creationId xmlns:p14="http://schemas.microsoft.com/office/powerpoint/2010/main" val="2668481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90" grpId="0"/>
      <p:bldP spid="91" grpId="0"/>
      <p:bldP spid="92" grpId="0"/>
      <p:bldP spid="93" grpId="0"/>
      <p:bldP spid="94" grpId="0"/>
      <p:bldP spid="9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 Databases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653" y="1752600"/>
            <a:ext cx="8935202" cy="3686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37688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1143000"/>
          </a:xfrm>
        </p:spPr>
        <p:txBody>
          <a:bodyPr/>
          <a:lstStyle/>
          <a:p>
            <a:r>
              <a:rPr lang="en-US" dirty="0"/>
              <a:t>Types of NoSQL Databases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24000"/>
            <a:ext cx="8458200" cy="5257800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§"/>
            </a:pPr>
            <a:r>
              <a:rPr lang="en-US" sz="2800" dirty="0"/>
              <a:t>Here is a limited taxonomy of NoSQL databases:</a:t>
            </a:r>
            <a:endParaRPr lang="en-US" sz="2600" dirty="0">
              <a:solidFill>
                <a:srgbClr val="0070C0"/>
              </a:solidFill>
            </a:endParaRPr>
          </a:p>
          <a:p>
            <a:pPr lvl="2">
              <a:buFont typeface="Wingdings" pitchFamily="2" charset="2"/>
              <a:buChar char="§"/>
            </a:pPr>
            <a:endParaRPr lang="en-US" sz="1800" dirty="0"/>
          </a:p>
          <a:p>
            <a:pPr lvl="1">
              <a:buFont typeface="Wingdings" pitchFamily="2" charset="2"/>
              <a:buChar char="§"/>
            </a:pPr>
            <a:endParaRPr lang="en-US" sz="1800" dirty="0"/>
          </a:p>
        </p:txBody>
      </p:sp>
      <p:sp>
        <p:nvSpPr>
          <p:cNvPr id="5" name="Rounded Rectangle 4"/>
          <p:cNvSpPr/>
          <p:nvPr/>
        </p:nvSpPr>
        <p:spPr>
          <a:xfrm>
            <a:off x="2829374" y="2438400"/>
            <a:ext cx="3276600" cy="1066800"/>
          </a:xfrm>
          <a:prstGeom prst="round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600" dirty="0"/>
              <a:t>NoSQL Databases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" y="4267200"/>
            <a:ext cx="2057400" cy="990600"/>
          </a:xfrm>
          <a:prstGeom prst="round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Document Stores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38400" y="4267200"/>
            <a:ext cx="2057400" cy="990600"/>
          </a:xfrm>
          <a:prstGeom prst="round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Graph Databases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38230" y="4248684"/>
            <a:ext cx="2050279" cy="990600"/>
          </a:xfrm>
          <a:prstGeom prst="round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Key-Value Stores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41620" y="4248684"/>
            <a:ext cx="2050279" cy="990600"/>
          </a:xfrm>
          <a:prstGeom prst="round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Columnar Databases</a:t>
            </a:r>
          </a:p>
        </p:txBody>
      </p:sp>
      <p:cxnSp>
        <p:nvCxnSpPr>
          <p:cNvPr id="11" name="Straight Arrow Connector 10"/>
          <p:cNvCxnSpPr>
            <a:stCxn id="5" idx="2"/>
            <a:endCxn id="6" idx="0"/>
          </p:cNvCxnSpPr>
          <p:nvPr/>
        </p:nvCxnSpPr>
        <p:spPr>
          <a:xfrm flipH="1">
            <a:off x="1257300" y="3505200"/>
            <a:ext cx="3210374" cy="762000"/>
          </a:xfrm>
          <a:prstGeom prst="straightConnector1">
            <a:avLst/>
          </a:prstGeom>
          <a:ln w="254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>
            <a:stCxn id="5" idx="2"/>
            <a:endCxn id="7" idx="0"/>
          </p:cNvCxnSpPr>
          <p:nvPr/>
        </p:nvCxnSpPr>
        <p:spPr>
          <a:xfrm flipH="1">
            <a:off x="3467100" y="3505200"/>
            <a:ext cx="1000574" cy="762000"/>
          </a:xfrm>
          <a:prstGeom prst="straightConnector1">
            <a:avLst/>
          </a:prstGeom>
          <a:ln w="254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>
            <a:stCxn id="5" idx="2"/>
            <a:endCxn id="8" idx="0"/>
          </p:cNvCxnSpPr>
          <p:nvPr/>
        </p:nvCxnSpPr>
        <p:spPr>
          <a:xfrm>
            <a:off x="4467674" y="3505200"/>
            <a:ext cx="1195696" cy="743484"/>
          </a:xfrm>
          <a:prstGeom prst="straightConnector1">
            <a:avLst/>
          </a:prstGeom>
          <a:ln w="254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>
            <a:stCxn id="5" idx="2"/>
            <a:endCxn id="9" idx="0"/>
          </p:cNvCxnSpPr>
          <p:nvPr/>
        </p:nvCxnSpPr>
        <p:spPr>
          <a:xfrm>
            <a:off x="4467674" y="3505200"/>
            <a:ext cx="3399086" cy="743484"/>
          </a:xfrm>
          <a:prstGeom prst="straightConnector1">
            <a:avLst/>
          </a:prstGeom>
          <a:ln w="254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Up Arrow 17"/>
          <p:cNvSpPr/>
          <p:nvPr/>
        </p:nvSpPr>
        <p:spPr>
          <a:xfrm>
            <a:off x="5282369" y="5464325"/>
            <a:ext cx="762000" cy="762000"/>
          </a:xfrm>
          <a:prstGeom prst="upArrow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20100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1143000"/>
          </a:xfrm>
        </p:spPr>
        <p:txBody>
          <a:bodyPr/>
          <a:lstStyle/>
          <a:p>
            <a:r>
              <a:rPr lang="en-US" dirty="0"/>
              <a:t>Key-Value Stores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24000"/>
            <a:ext cx="8458200" cy="5257800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§"/>
            </a:pPr>
            <a:r>
              <a:rPr lang="en-US" sz="2800" dirty="0"/>
              <a:t>Keys are mapped to (possibly) more complex value (e.g., lists)</a:t>
            </a:r>
          </a:p>
          <a:p>
            <a:pPr>
              <a:buFont typeface="Wingdings" pitchFamily="2" charset="2"/>
              <a:buChar char="§"/>
            </a:pPr>
            <a:endParaRPr lang="en-US" sz="2800" dirty="0"/>
          </a:p>
          <a:p>
            <a:pPr>
              <a:buFont typeface="Wingdings" pitchFamily="2" charset="2"/>
              <a:buChar char="§"/>
            </a:pPr>
            <a:r>
              <a:rPr lang="en-US" sz="2800" dirty="0"/>
              <a:t>Keys can be stored in a hash table and can be distributed easily</a:t>
            </a:r>
          </a:p>
          <a:p>
            <a:pPr>
              <a:buFont typeface="Wingdings" pitchFamily="2" charset="2"/>
              <a:buChar char="§"/>
            </a:pPr>
            <a:endParaRPr lang="en-US" sz="2800" dirty="0"/>
          </a:p>
          <a:p>
            <a:pPr>
              <a:buFont typeface="Wingdings" pitchFamily="2" charset="2"/>
              <a:buChar char="§"/>
            </a:pPr>
            <a:r>
              <a:rPr lang="en-US" sz="2800" dirty="0"/>
              <a:t>Such stores typically support regular CRUD (create, read, update, and delete) operations</a:t>
            </a:r>
          </a:p>
          <a:p>
            <a:pPr lvl="1">
              <a:buFont typeface="Wingdings" pitchFamily="2" charset="2"/>
              <a:buChar char="§"/>
            </a:pPr>
            <a:r>
              <a:rPr lang="en-US" sz="2600" dirty="0"/>
              <a:t>That is, no joins and aggregate functions</a:t>
            </a:r>
          </a:p>
          <a:p>
            <a:pPr lvl="1">
              <a:buFont typeface="Wingdings" pitchFamily="2" charset="2"/>
              <a:buChar char="§"/>
            </a:pPr>
            <a:endParaRPr lang="en-US" sz="2400" dirty="0"/>
          </a:p>
          <a:p>
            <a:pPr>
              <a:buFont typeface="Wingdings" pitchFamily="2" charset="2"/>
              <a:buChar char="§"/>
            </a:pPr>
            <a:r>
              <a:rPr lang="en-US" sz="2800" dirty="0"/>
              <a:t>E.g., Amazon </a:t>
            </a:r>
            <a:r>
              <a:rPr lang="en-US" sz="2800" dirty="0" err="1"/>
              <a:t>DynamoDB</a:t>
            </a:r>
            <a:r>
              <a:rPr lang="en-US" sz="2800" dirty="0"/>
              <a:t> and Apache Cassandra</a:t>
            </a:r>
          </a:p>
          <a:p>
            <a:pPr>
              <a:buFont typeface="Wingdings" pitchFamily="2" charset="2"/>
              <a:buChar char="§"/>
            </a:pPr>
            <a:endParaRPr lang="en-US" sz="2800" dirty="0"/>
          </a:p>
          <a:p>
            <a:pPr>
              <a:buFont typeface="Wingdings" pitchFamily="2" charset="2"/>
              <a:buChar char="§"/>
            </a:pPr>
            <a:endParaRPr lang="en-US" sz="2800" dirty="0"/>
          </a:p>
          <a:p>
            <a:pPr>
              <a:buFont typeface="Wingdings" pitchFamily="2" charset="2"/>
              <a:buChar char="§"/>
            </a:pPr>
            <a:endParaRPr lang="en-US" sz="2800" dirty="0"/>
          </a:p>
          <a:p>
            <a:pPr>
              <a:buFont typeface="Wingdings" pitchFamily="2" charset="2"/>
              <a:buChar char="§"/>
            </a:pPr>
            <a:endParaRPr lang="en-US" sz="2800" dirty="0"/>
          </a:p>
          <a:p>
            <a:pPr>
              <a:buFont typeface="Wingdings" pitchFamily="2" charset="2"/>
              <a:buChar char="§"/>
            </a:pPr>
            <a:endParaRPr lang="en-US" sz="2800" dirty="0"/>
          </a:p>
          <a:p>
            <a:pPr>
              <a:buFont typeface="Wingdings" pitchFamily="2" charset="2"/>
              <a:buChar char="§"/>
            </a:pPr>
            <a:endParaRPr lang="en-US" sz="2800" dirty="0"/>
          </a:p>
          <a:p>
            <a:pPr>
              <a:buFont typeface="Wingdings" pitchFamily="2" charset="2"/>
              <a:buChar char="§"/>
            </a:pPr>
            <a:endParaRPr lang="en-US" sz="2800" dirty="0"/>
          </a:p>
          <a:p>
            <a:pPr>
              <a:buFont typeface="Wingdings" pitchFamily="2" charset="2"/>
              <a:buChar char="§"/>
            </a:pPr>
            <a:endParaRPr lang="en-US" sz="2800" dirty="0"/>
          </a:p>
          <a:p>
            <a:pPr lvl="1">
              <a:buFont typeface="Wingdings" pitchFamily="2" charset="2"/>
              <a:buChar char="§"/>
            </a:pPr>
            <a:endParaRPr lang="en-US" sz="2400" dirty="0"/>
          </a:p>
          <a:p>
            <a:pPr lvl="2">
              <a:buFont typeface="Wingdings" pitchFamily="2" charset="2"/>
              <a:buChar char="§"/>
            </a:pPr>
            <a:endParaRPr lang="en-US" sz="1800" dirty="0"/>
          </a:p>
          <a:p>
            <a:pPr lvl="1">
              <a:buFont typeface="Wingdings" pitchFamily="2" charset="2"/>
              <a:buChar char="§"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772662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D7344-84B3-F1E3-5D8D-55DA611388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grayscl/>
          </a:blip>
          <a:stretch>
            <a:fillRect/>
          </a:stretch>
        </p:blipFill>
        <p:spPr>
          <a:xfrm>
            <a:off x="642505" y="1981200"/>
            <a:ext cx="4419600" cy="208597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8F0D444-91E2-AFAF-CA82-F4FB72AED7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0" y="1524000"/>
            <a:ext cx="3334650" cy="3657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622458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1143000"/>
          </a:xfrm>
        </p:spPr>
        <p:txBody>
          <a:bodyPr/>
          <a:lstStyle/>
          <a:p>
            <a:r>
              <a:rPr lang="en-US" dirty="0"/>
              <a:t>Types of NoSQL Databases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24000"/>
            <a:ext cx="8458200" cy="5257800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§"/>
            </a:pPr>
            <a:r>
              <a:rPr lang="en-US" sz="2800" dirty="0"/>
              <a:t>Here is a limited taxonomy of NoSQL databases:</a:t>
            </a:r>
            <a:endParaRPr lang="en-US" sz="2600" dirty="0">
              <a:solidFill>
                <a:srgbClr val="0070C0"/>
              </a:solidFill>
            </a:endParaRPr>
          </a:p>
          <a:p>
            <a:pPr lvl="2">
              <a:buFont typeface="Wingdings" pitchFamily="2" charset="2"/>
              <a:buChar char="§"/>
            </a:pPr>
            <a:endParaRPr lang="en-US" sz="1800" dirty="0"/>
          </a:p>
          <a:p>
            <a:pPr lvl="1">
              <a:buFont typeface="Wingdings" pitchFamily="2" charset="2"/>
              <a:buChar char="§"/>
            </a:pPr>
            <a:endParaRPr lang="en-US" sz="1800" dirty="0"/>
          </a:p>
        </p:txBody>
      </p:sp>
      <p:sp>
        <p:nvSpPr>
          <p:cNvPr id="5" name="Rounded Rectangle 4"/>
          <p:cNvSpPr/>
          <p:nvPr/>
        </p:nvSpPr>
        <p:spPr>
          <a:xfrm>
            <a:off x="2829374" y="2438400"/>
            <a:ext cx="3276600" cy="1066800"/>
          </a:xfrm>
          <a:prstGeom prst="round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600" dirty="0"/>
              <a:t>NoSQL Databases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" y="4267200"/>
            <a:ext cx="2057400" cy="990600"/>
          </a:xfrm>
          <a:prstGeom prst="round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Document Stores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38400" y="4267200"/>
            <a:ext cx="2057400" cy="990600"/>
          </a:xfrm>
          <a:prstGeom prst="round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Graph Databases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38230" y="4248684"/>
            <a:ext cx="2050279" cy="990600"/>
          </a:xfrm>
          <a:prstGeom prst="round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Key-Value Stores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41620" y="4248684"/>
            <a:ext cx="2050279" cy="990600"/>
          </a:xfrm>
          <a:prstGeom prst="round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Columnar Databases</a:t>
            </a:r>
          </a:p>
        </p:txBody>
      </p:sp>
      <p:cxnSp>
        <p:nvCxnSpPr>
          <p:cNvPr id="11" name="Straight Arrow Connector 10"/>
          <p:cNvCxnSpPr>
            <a:stCxn id="5" idx="2"/>
            <a:endCxn id="6" idx="0"/>
          </p:cNvCxnSpPr>
          <p:nvPr/>
        </p:nvCxnSpPr>
        <p:spPr>
          <a:xfrm flipH="1">
            <a:off x="1257300" y="3505200"/>
            <a:ext cx="3210374" cy="762000"/>
          </a:xfrm>
          <a:prstGeom prst="straightConnector1">
            <a:avLst/>
          </a:prstGeom>
          <a:ln w="254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>
            <a:stCxn id="5" idx="2"/>
            <a:endCxn id="7" idx="0"/>
          </p:cNvCxnSpPr>
          <p:nvPr/>
        </p:nvCxnSpPr>
        <p:spPr>
          <a:xfrm flipH="1">
            <a:off x="3467100" y="3505200"/>
            <a:ext cx="1000574" cy="762000"/>
          </a:xfrm>
          <a:prstGeom prst="straightConnector1">
            <a:avLst/>
          </a:prstGeom>
          <a:ln w="254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>
            <a:stCxn id="5" idx="2"/>
            <a:endCxn id="8" idx="0"/>
          </p:cNvCxnSpPr>
          <p:nvPr/>
        </p:nvCxnSpPr>
        <p:spPr>
          <a:xfrm>
            <a:off x="4467674" y="3505200"/>
            <a:ext cx="1195696" cy="743484"/>
          </a:xfrm>
          <a:prstGeom prst="straightConnector1">
            <a:avLst/>
          </a:prstGeom>
          <a:ln w="254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>
            <a:stCxn id="5" idx="2"/>
            <a:endCxn id="9" idx="0"/>
          </p:cNvCxnSpPr>
          <p:nvPr/>
        </p:nvCxnSpPr>
        <p:spPr>
          <a:xfrm>
            <a:off x="4467674" y="3505200"/>
            <a:ext cx="3399086" cy="743484"/>
          </a:xfrm>
          <a:prstGeom prst="straightConnector1">
            <a:avLst/>
          </a:prstGeom>
          <a:ln w="254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Up Arrow 17"/>
          <p:cNvSpPr/>
          <p:nvPr/>
        </p:nvSpPr>
        <p:spPr>
          <a:xfrm>
            <a:off x="7485760" y="5410200"/>
            <a:ext cx="762000" cy="762000"/>
          </a:xfrm>
          <a:prstGeom prst="upArrow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6958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1143000"/>
          </a:xfrm>
        </p:spPr>
        <p:txBody>
          <a:bodyPr/>
          <a:lstStyle/>
          <a:p>
            <a:r>
              <a:rPr lang="en-US" dirty="0"/>
              <a:t>Columnar Databases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19200"/>
            <a:ext cx="8458200" cy="5486400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§"/>
            </a:pPr>
            <a:r>
              <a:rPr lang="en-US" sz="2800" dirty="0"/>
              <a:t>Columnar databases are a hybrid of RDBMSs and Key-Value stores</a:t>
            </a:r>
          </a:p>
          <a:p>
            <a:pPr lvl="1">
              <a:buFont typeface="Wingdings" pitchFamily="2" charset="2"/>
              <a:buChar char="§"/>
            </a:pPr>
            <a:r>
              <a:rPr lang="en-US" sz="2400" dirty="0"/>
              <a:t>Values are stored in groups of zero or more columns, but in Column-Order (as opposed to Row-Order)</a:t>
            </a:r>
          </a:p>
          <a:p>
            <a:pPr lvl="1">
              <a:buFont typeface="Wingdings" pitchFamily="2" charset="2"/>
              <a:buChar char="§"/>
            </a:pPr>
            <a:endParaRPr lang="en-US" sz="2400" dirty="0"/>
          </a:p>
          <a:p>
            <a:pPr lvl="1">
              <a:buFont typeface="Wingdings" pitchFamily="2" charset="2"/>
              <a:buChar char="§"/>
            </a:pPr>
            <a:endParaRPr lang="en-US" sz="2400" dirty="0"/>
          </a:p>
          <a:p>
            <a:pPr lvl="1">
              <a:buFont typeface="Wingdings" pitchFamily="2" charset="2"/>
              <a:buChar char="§"/>
            </a:pPr>
            <a:endParaRPr lang="en-US" sz="2400" dirty="0"/>
          </a:p>
          <a:p>
            <a:pPr lvl="1">
              <a:buFont typeface="Wingdings" pitchFamily="2" charset="2"/>
              <a:buChar char="§"/>
            </a:pPr>
            <a:endParaRPr lang="en-US" sz="2400" dirty="0"/>
          </a:p>
          <a:p>
            <a:pPr lvl="1">
              <a:buFont typeface="Wingdings" pitchFamily="2" charset="2"/>
              <a:buChar char="§"/>
            </a:pPr>
            <a:endParaRPr lang="en-US" sz="2400" dirty="0" smtClean="0"/>
          </a:p>
          <a:p>
            <a:pPr lvl="1">
              <a:buFont typeface="Wingdings" pitchFamily="2" charset="2"/>
              <a:buChar char="§"/>
            </a:pPr>
            <a:endParaRPr lang="en-US" sz="2400" dirty="0"/>
          </a:p>
          <a:p>
            <a:pPr lvl="1">
              <a:buFont typeface="Wingdings" pitchFamily="2" charset="2"/>
              <a:buChar char="§"/>
            </a:pPr>
            <a:r>
              <a:rPr lang="en-US" sz="2400" dirty="0"/>
              <a:t>Values are queried by matching keys</a:t>
            </a:r>
          </a:p>
          <a:p>
            <a:pPr marL="0" indent="0">
              <a:buNone/>
            </a:pPr>
            <a:endParaRPr lang="en-US" sz="2800" dirty="0"/>
          </a:p>
          <a:p>
            <a:pPr>
              <a:buFont typeface="Wingdings" pitchFamily="2" charset="2"/>
              <a:buChar char="§"/>
            </a:pPr>
            <a:endParaRPr lang="en-US" sz="2800" dirty="0"/>
          </a:p>
          <a:p>
            <a:pPr>
              <a:buFont typeface="Wingdings" pitchFamily="2" charset="2"/>
              <a:buChar char="§"/>
            </a:pPr>
            <a:endParaRPr lang="en-US" sz="2800" dirty="0"/>
          </a:p>
          <a:p>
            <a:pPr>
              <a:buFont typeface="Wingdings" pitchFamily="2" charset="2"/>
              <a:buChar char="§"/>
            </a:pPr>
            <a:endParaRPr lang="en-US" sz="2800" dirty="0"/>
          </a:p>
          <a:p>
            <a:pPr>
              <a:buFont typeface="Wingdings" pitchFamily="2" charset="2"/>
              <a:buChar char="§"/>
            </a:pPr>
            <a:endParaRPr lang="en-US" sz="2800" dirty="0"/>
          </a:p>
          <a:p>
            <a:pPr>
              <a:buFont typeface="Wingdings" pitchFamily="2" charset="2"/>
              <a:buChar char="§"/>
            </a:pPr>
            <a:endParaRPr lang="en-US" sz="2800" dirty="0"/>
          </a:p>
          <a:p>
            <a:pPr>
              <a:buFont typeface="Wingdings" pitchFamily="2" charset="2"/>
              <a:buChar char="§"/>
            </a:pPr>
            <a:endParaRPr lang="en-US" sz="2800" dirty="0"/>
          </a:p>
          <a:p>
            <a:pPr lvl="1">
              <a:buFont typeface="Wingdings" pitchFamily="2" charset="2"/>
              <a:buChar char="§"/>
            </a:pPr>
            <a:endParaRPr lang="en-US" sz="2400" dirty="0"/>
          </a:p>
          <a:p>
            <a:pPr lvl="2">
              <a:buFont typeface="Wingdings" pitchFamily="2" charset="2"/>
              <a:buChar char="§"/>
            </a:pPr>
            <a:endParaRPr lang="en-US" sz="1800" dirty="0"/>
          </a:p>
          <a:p>
            <a:pPr lvl="1">
              <a:buFont typeface="Wingdings" pitchFamily="2" charset="2"/>
              <a:buChar char="§"/>
            </a:pPr>
            <a:endParaRPr lang="en-US" sz="1800" dirty="0"/>
          </a:p>
        </p:txBody>
      </p:sp>
      <p:sp>
        <p:nvSpPr>
          <p:cNvPr id="4" name="Rectangle 3"/>
          <p:cNvSpPr/>
          <p:nvPr/>
        </p:nvSpPr>
        <p:spPr>
          <a:xfrm>
            <a:off x="309785" y="3545210"/>
            <a:ext cx="833215" cy="228600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Alice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3538444"/>
            <a:ext cx="524854" cy="2286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1672127" y="3545210"/>
            <a:ext cx="524854" cy="228600"/>
          </a:xfrm>
          <a:prstGeom prst="rect">
            <a:avLst/>
          </a:prstGeom>
          <a:solidFill>
            <a:srgbClr val="2906FA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25</a:t>
            </a:r>
          </a:p>
        </p:txBody>
      </p:sp>
      <p:sp>
        <p:nvSpPr>
          <p:cNvPr id="7" name="Rectangle 6"/>
          <p:cNvSpPr/>
          <p:nvPr/>
        </p:nvSpPr>
        <p:spPr>
          <a:xfrm>
            <a:off x="2209800" y="3545210"/>
            <a:ext cx="832104" cy="228600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Bob</a:t>
            </a:r>
          </a:p>
        </p:txBody>
      </p:sp>
      <p:sp>
        <p:nvSpPr>
          <p:cNvPr id="8" name="Rectangle 7"/>
          <p:cNvSpPr/>
          <p:nvPr/>
        </p:nvSpPr>
        <p:spPr>
          <a:xfrm>
            <a:off x="304800" y="3791969"/>
            <a:ext cx="524854" cy="2286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843185" y="3790902"/>
            <a:ext cx="524854" cy="228600"/>
          </a:xfrm>
          <a:prstGeom prst="rect">
            <a:avLst/>
          </a:prstGeom>
          <a:solidFill>
            <a:srgbClr val="2906FA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6585" y="3789122"/>
            <a:ext cx="832104" cy="228600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Carol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18346" y="3782356"/>
            <a:ext cx="524854" cy="2286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9785" y="4041578"/>
            <a:ext cx="524854" cy="228600"/>
          </a:xfrm>
          <a:prstGeom prst="rect">
            <a:avLst/>
          </a:prstGeom>
          <a:solidFill>
            <a:srgbClr val="2906FA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45</a:t>
            </a:r>
          </a:p>
        </p:txBody>
      </p:sp>
      <p:sp>
        <p:nvSpPr>
          <p:cNvPr id="13" name="Left Bracket 12"/>
          <p:cNvSpPr/>
          <p:nvPr/>
        </p:nvSpPr>
        <p:spPr>
          <a:xfrm rot="5400000">
            <a:off x="1229348" y="2546954"/>
            <a:ext cx="57328" cy="1903576"/>
          </a:xfrm>
          <a:prstGeom prst="leftBracket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909529" y="3143429"/>
            <a:ext cx="8329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Record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0181" y="4586646"/>
            <a:ext cx="12305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Row-Order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53821" y="3528118"/>
            <a:ext cx="832104" cy="228600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Alice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53821" y="3773810"/>
            <a:ext cx="524854" cy="2286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50461" y="3773098"/>
            <a:ext cx="524854" cy="228600"/>
          </a:xfrm>
          <a:prstGeom prst="rect">
            <a:avLst/>
          </a:prstGeom>
          <a:solidFill>
            <a:srgbClr val="2906FA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25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88459" y="3528118"/>
            <a:ext cx="832104" cy="228600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Bob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99327" y="3773810"/>
            <a:ext cx="524854" cy="2286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50259" y="4022706"/>
            <a:ext cx="524854" cy="228600"/>
          </a:xfrm>
          <a:prstGeom prst="rect">
            <a:avLst/>
          </a:prstGeom>
          <a:solidFill>
            <a:srgbClr val="2906FA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19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6659" y="3527406"/>
            <a:ext cx="832104" cy="228600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Carol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24181" y="3773810"/>
            <a:ext cx="524854" cy="2286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90070" y="4022706"/>
            <a:ext cx="524854" cy="228600"/>
          </a:xfrm>
          <a:prstGeom prst="rect">
            <a:avLst/>
          </a:prstGeom>
          <a:solidFill>
            <a:srgbClr val="2906FA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45</a:t>
            </a:r>
          </a:p>
        </p:txBody>
      </p:sp>
      <p:sp>
        <p:nvSpPr>
          <p:cNvPr id="25" name="Left Bracket 24"/>
          <p:cNvSpPr/>
          <p:nvPr/>
        </p:nvSpPr>
        <p:spPr>
          <a:xfrm rot="5400000">
            <a:off x="4565344" y="2216895"/>
            <a:ext cx="78334" cy="2508503"/>
          </a:xfrm>
          <a:prstGeom prst="leftBracket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4305267" y="3126338"/>
            <a:ext cx="9076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Column 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75008" y="4569554"/>
            <a:ext cx="29209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Columnar (or Column-Order)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51962" y="3525981"/>
            <a:ext cx="832104" cy="228600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Alice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51962" y="3771673"/>
            <a:ext cx="524854" cy="2286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776816" y="3779863"/>
            <a:ext cx="524854" cy="228600"/>
          </a:xfrm>
          <a:prstGeom prst="rect">
            <a:avLst/>
          </a:prstGeom>
          <a:solidFill>
            <a:srgbClr val="2906FA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25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86600" y="3525981"/>
            <a:ext cx="832104" cy="228600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Bob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8049" y="3778301"/>
            <a:ext cx="524854" cy="2286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862131" y="3771673"/>
            <a:ext cx="524854" cy="228600"/>
          </a:xfrm>
          <a:prstGeom prst="rect">
            <a:avLst/>
          </a:prstGeom>
          <a:solidFill>
            <a:srgbClr val="2906FA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19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24800" y="3525269"/>
            <a:ext cx="832104" cy="228600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Carol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43416" y="4026268"/>
            <a:ext cx="524854" cy="2286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785362" y="4020925"/>
            <a:ext cx="524854" cy="228600"/>
          </a:xfrm>
          <a:prstGeom prst="rect">
            <a:avLst/>
          </a:prstGeom>
          <a:solidFill>
            <a:srgbClr val="2906FA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45</a:t>
            </a:r>
          </a:p>
        </p:txBody>
      </p:sp>
      <p:sp>
        <p:nvSpPr>
          <p:cNvPr id="37" name="Left Bracket 36"/>
          <p:cNvSpPr/>
          <p:nvPr/>
        </p:nvSpPr>
        <p:spPr>
          <a:xfrm rot="5400000">
            <a:off x="7464553" y="2215826"/>
            <a:ext cx="76197" cy="2508503"/>
          </a:xfrm>
          <a:prstGeom prst="leftBracket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/>
          <p:cNvSpPr txBox="1"/>
          <p:nvPr/>
        </p:nvSpPr>
        <p:spPr>
          <a:xfrm>
            <a:off x="6073149" y="4567417"/>
            <a:ext cx="31248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Columnar with Locality Groups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35020" y="3124200"/>
            <a:ext cx="16909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Column A = Group 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31278" y="4315627"/>
            <a:ext cx="17292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Column Family {B, C}</a:t>
            </a:r>
          </a:p>
        </p:txBody>
      </p:sp>
      <p:sp>
        <p:nvSpPr>
          <p:cNvPr id="41" name="Left Bracket 40"/>
          <p:cNvSpPr/>
          <p:nvPr/>
        </p:nvSpPr>
        <p:spPr>
          <a:xfrm rot="16200000">
            <a:off x="7274782" y="3218162"/>
            <a:ext cx="119788" cy="2182514"/>
          </a:xfrm>
          <a:prstGeom prst="leftBracket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573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8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/>
      <p:bldP spid="15" grpId="0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/>
      <p:bldP spid="27" grpId="0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/>
      <p:bldP spid="39" grpId="0"/>
      <p:bldP spid="40" grpId="0"/>
      <p:bldP spid="4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48CA34-2EB1-B625-755F-8D543445A0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Columnar Databases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E26CE2-C3ED-4839-71D0-5E2BD90C13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 smtClean="0"/>
          </a:p>
          <a:p>
            <a:endParaRPr lang="en-GB" dirty="0"/>
          </a:p>
          <a:p>
            <a:endParaRPr lang="en-GB" dirty="0" smtClean="0"/>
          </a:p>
          <a:p>
            <a:endParaRPr lang="en-GB" dirty="0"/>
          </a:p>
          <a:p>
            <a:endParaRPr lang="en-GB" dirty="0" smtClean="0"/>
          </a:p>
          <a:p>
            <a:endParaRPr lang="en-GB" dirty="0" smtClean="0"/>
          </a:p>
          <a:p>
            <a:endParaRPr lang="en-GB" dirty="0"/>
          </a:p>
          <a:p>
            <a:pPr>
              <a:buClr>
                <a:srgbClr val="00B0F0"/>
              </a:buClr>
              <a:buFont typeface="Wingdings" panose="05000000000000000000" pitchFamily="2" charset="2"/>
              <a:buChar char="§"/>
            </a:pPr>
            <a:r>
              <a:rPr lang="en-US" sz="1800" dirty="0"/>
              <a:t>E.g., </a:t>
            </a:r>
            <a:r>
              <a:rPr lang="en-US" sz="1800" dirty="0" err="1"/>
              <a:t>HBase</a:t>
            </a:r>
            <a:r>
              <a:rPr lang="en-US" sz="1800" dirty="0"/>
              <a:t> and Vertica</a:t>
            </a:r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4BE0EC-E0BF-DBAA-1F9C-08517415DC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6054" y="1825625"/>
            <a:ext cx="4291725" cy="3810000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078" y="1825625"/>
            <a:ext cx="3658481" cy="2517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494275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382000" cy="1143000"/>
          </a:xfrm>
        </p:spPr>
        <p:txBody>
          <a:bodyPr>
            <a:normAutofit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1178" y="1371600"/>
            <a:ext cx="8670422" cy="5334000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§"/>
            </a:pPr>
            <a:r>
              <a:rPr lang="en-US" dirty="0"/>
              <a:t>Data can be classified into 4 types, </a:t>
            </a:r>
            <a:r>
              <a:rPr lang="en-US" i="1" dirty="0">
                <a:solidFill>
                  <a:srgbClr val="C00000"/>
                </a:solidFill>
              </a:rPr>
              <a:t>structured</a:t>
            </a:r>
            <a:r>
              <a:rPr lang="en-US" dirty="0"/>
              <a:t>, </a:t>
            </a:r>
            <a:r>
              <a:rPr lang="en-US" i="1" dirty="0">
                <a:solidFill>
                  <a:srgbClr val="C00000"/>
                </a:solidFill>
              </a:rPr>
              <a:t>unstructured</a:t>
            </a:r>
            <a:r>
              <a:rPr lang="en-US" dirty="0"/>
              <a:t>, </a:t>
            </a:r>
            <a:r>
              <a:rPr lang="en-US" i="1" dirty="0">
                <a:solidFill>
                  <a:srgbClr val="C00000"/>
                </a:solidFill>
              </a:rPr>
              <a:t>dynamic</a:t>
            </a:r>
            <a:r>
              <a:rPr lang="en-US" dirty="0"/>
              <a:t> and </a:t>
            </a:r>
            <a:r>
              <a:rPr lang="en-US" i="1" dirty="0">
                <a:solidFill>
                  <a:srgbClr val="C00000"/>
                </a:solidFill>
              </a:rPr>
              <a:t>static</a:t>
            </a:r>
          </a:p>
          <a:p>
            <a:pPr>
              <a:buFont typeface="Wingdings" pitchFamily="2" charset="2"/>
              <a:buChar char="§"/>
            </a:pPr>
            <a:endParaRPr lang="en-US" dirty="0"/>
          </a:p>
          <a:p>
            <a:pPr>
              <a:buFont typeface="Wingdings" pitchFamily="2" charset="2"/>
              <a:buChar char="§"/>
            </a:pPr>
            <a:r>
              <a:rPr lang="en-US" dirty="0"/>
              <a:t>Different data types usually entail different database designs</a:t>
            </a:r>
          </a:p>
          <a:p>
            <a:pPr>
              <a:buFont typeface="Wingdings" pitchFamily="2" charset="2"/>
              <a:buChar char="§"/>
            </a:pPr>
            <a:endParaRPr lang="en-US" dirty="0"/>
          </a:p>
          <a:p>
            <a:pPr>
              <a:buFont typeface="Wingdings" pitchFamily="2" charset="2"/>
              <a:buChar char="§"/>
            </a:pPr>
            <a:r>
              <a:rPr lang="en-US" dirty="0"/>
              <a:t>Databases can be scaled </a:t>
            </a:r>
            <a:r>
              <a:rPr lang="en-US" i="1" dirty="0">
                <a:solidFill>
                  <a:srgbClr val="C00000"/>
                </a:solidFill>
              </a:rPr>
              <a:t>up</a:t>
            </a:r>
            <a:r>
              <a:rPr lang="en-US" dirty="0"/>
              <a:t> or </a:t>
            </a:r>
            <a:r>
              <a:rPr lang="en-US" i="1" dirty="0">
                <a:solidFill>
                  <a:srgbClr val="C00000"/>
                </a:solidFill>
              </a:rPr>
              <a:t>out</a:t>
            </a:r>
          </a:p>
          <a:p>
            <a:pPr>
              <a:buFont typeface="Wingdings" pitchFamily="2" charset="2"/>
              <a:buChar char="§"/>
            </a:pPr>
            <a:endParaRPr lang="en-US" dirty="0"/>
          </a:p>
          <a:p>
            <a:pPr>
              <a:buFont typeface="Wingdings" pitchFamily="2" charset="2"/>
              <a:buChar char="§"/>
            </a:pPr>
            <a:r>
              <a:rPr lang="en-US" dirty="0"/>
              <a:t>The </a:t>
            </a:r>
            <a:r>
              <a:rPr lang="en-US" i="1" dirty="0">
                <a:solidFill>
                  <a:srgbClr val="C00000"/>
                </a:solidFill>
              </a:rPr>
              <a:t>2PC protocol </a:t>
            </a:r>
            <a:r>
              <a:rPr lang="en-US" dirty="0"/>
              <a:t>can be used to ensure strict consistency</a:t>
            </a:r>
          </a:p>
          <a:p>
            <a:pPr>
              <a:buFont typeface="Wingdings" pitchFamily="2" charset="2"/>
              <a:buChar char="§"/>
            </a:pPr>
            <a:endParaRPr lang="en-US" dirty="0"/>
          </a:p>
          <a:p>
            <a:pPr>
              <a:buFont typeface="Wingdings" pitchFamily="2" charset="2"/>
              <a:buChar char="§"/>
            </a:pPr>
            <a:r>
              <a:rPr lang="en-US" dirty="0"/>
              <a:t>Strict consistency limits scalability</a:t>
            </a:r>
          </a:p>
          <a:p>
            <a:pPr>
              <a:buFont typeface="Wingdings" pitchFamily="2" charset="2"/>
              <a:buChar char="§"/>
            </a:pPr>
            <a:endParaRPr lang="en-US" dirty="0"/>
          </a:p>
          <a:p>
            <a:pPr>
              <a:buFont typeface="Wingdings" pitchFamily="2" charset="2"/>
              <a:buChar char="§"/>
            </a:pPr>
            <a:endParaRPr lang="en-US" dirty="0"/>
          </a:p>
          <a:p>
            <a:pPr lvl="1">
              <a:buFont typeface="Wingdings" pitchFamily="2" charset="2"/>
              <a:buChar char="§"/>
            </a:pP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8648555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382000" cy="1143000"/>
          </a:xfrm>
        </p:spPr>
        <p:txBody>
          <a:bodyPr>
            <a:normAutofit/>
          </a:bodyPr>
          <a:lstStyle/>
          <a:p>
            <a:r>
              <a:rPr lang="en-US" dirty="0"/>
              <a:t>Summary (</a:t>
            </a:r>
            <a:r>
              <a:rPr lang="en-US" i="1" dirty="0"/>
              <a:t>Cont’d</a:t>
            </a:r>
            <a:r>
              <a:rPr lang="en-US" dirty="0"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1178" y="1371600"/>
            <a:ext cx="8670422" cy="5334000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§"/>
            </a:pPr>
            <a:r>
              <a:rPr lang="en-US" dirty="0"/>
              <a:t>The </a:t>
            </a:r>
            <a:r>
              <a:rPr lang="en-US" i="1" dirty="0">
                <a:solidFill>
                  <a:srgbClr val="C00000"/>
                </a:solidFill>
              </a:rPr>
              <a:t>CAP theorem </a:t>
            </a:r>
            <a:r>
              <a:rPr lang="en-US" dirty="0"/>
              <a:t>states that any distributed database with shared data can have at most two of the three desirable properties:</a:t>
            </a:r>
          </a:p>
          <a:p>
            <a:pPr lvl="1">
              <a:buFont typeface="Wingdings" pitchFamily="2" charset="2"/>
              <a:buChar char="§"/>
            </a:pPr>
            <a:r>
              <a:rPr lang="en-US" b="1" u="sng" dirty="0">
                <a:solidFill>
                  <a:srgbClr val="C00000"/>
                </a:solidFill>
              </a:rPr>
              <a:t>C</a:t>
            </a:r>
            <a:r>
              <a:rPr lang="en-US" dirty="0">
                <a:solidFill>
                  <a:srgbClr val="C00000"/>
                </a:solidFill>
              </a:rPr>
              <a:t>onsistency</a:t>
            </a:r>
          </a:p>
          <a:p>
            <a:pPr lvl="1">
              <a:buFont typeface="Wingdings" pitchFamily="2" charset="2"/>
              <a:buChar char="§"/>
            </a:pPr>
            <a:r>
              <a:rPr lang="en-US" b="1" u="sng" dirty="0">
                <a:solidFill>
                  <a:srgbClr val="C00000"/>
                </a:solidFill>
              </a:rPr>
              <a:t>A</a:t>
            </a:r>
            <a:r>
              <a:rPr lang="en-US" dirty="0">
                <a:solidFill>
                  <a:srgbClr val="C00000"/>
                </a:solidFill>
              </a:rPr>
              <a:t>vailability </a:t>
            </a:r>
          </a:p>
          <a:p>
            <a:pPr lvl="1">
              <a:buFont typeface="Wingdings" pitchFamily="2" charset="2"/>
              <a:buChar char="§"/>
            </a:pPr>
            <a:r>
              <a:rPr lang="en-US" b="1" u="sng" dirty="0">
                <a:solidFill>
                  <a:srgbClr val="C00000"/>
                </a:solidFill>
              </a:rPr>
              <a:t>P</a:t>
            </a:r>
            <a:r>
              <a:rPr lang="en-US" dirty="0">
                <a:solidFill>
                  <a:srgbClr val="C00000"/>
                </a:solidFill>
              </a:rPr>
              <a:t>artition Tolerance</a:t>
            </a:r>
          </a:p>
          <a:p>
            <a:pPr>
              <a:buFont typeface="Wingdings" pitchFamily="2" charset="2"/>
              <a:buChar char="§"/>
            </a:pPr>
            <a:endParaRPr lang="en-US" dirty="0"/>
          </a:p>
          <a:p>
            <a:pPr>
              <a:buFont typeface="Wingdings" pitchFamily="2" charset="2"/>
              <a:buChar char="§"/>
            </a:pPr>
            <a:r>
              <a:rPr lang="en-US" dirty="0"/>
              <a:t>The CAP theorem lead to various designs of databases with </a:t>
            </a:r>
            <a:r>
              <a:rPr lang="en-US" i="1" dirty="0"/>
              <a:t>relaxed</a:t>
            </a:r>
            <a:r>
              <a:rPr lang="en-US" dirty="0"/>
              <a:t> ACID guarantees </a:t>
            </a:r>
          </a:p>
          <a:p>
            <a:pPr lvl="1">
              <a:buFont typeface="Wingdings" pitchFamily="2" charset="2"/>
              <a:buChar char="§"/>
            </a:pP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1947962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382000" cy="1143000"/>
          </a:xfrm>
        </p:spPr>
        <p:txBody>
          <a:bodyPr>
            <a:normAutofit/>
          </a:bodyPr>
          <a:lstStyle/>
          <a:p>
            <a:r>
              <a:rPr lang="en-US" dirty="0"/>
              <a:t>Summary (</a:t>
            </a:r>
            <a:r>
              <a:rPr lang="en-US" i="1" dirty="0"/>
              <a:t>Cont’d</a:t>
            </a:r>
            <a:r>
              <a:rPr lang="en-US" dirty="0"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1178" y="1371600"/>
            <a:ext cx="8670422" cy="5334000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§"/>
            </a:pPr>
            <a:r>
              <a:rPr lang="en-US" sz="3000" i="1" dirty="0">
                <a:solidFill>
                  <a:srgbClr val="C00000"/>
                </a:solidFill>
              </a:rPr>
              <a:t>NoSQL</a:t>
            </a:r>
            <a:r>
              <a:rPr lang="en-US" sz="3000" dirty="0"/>
              <a:t> (or </a:t>
            </a:r>
            <a:r>
              <a:rPr lang="en-US" sz="3000" i="1" dirty="0">
                <a:solidFill>
                  <a:srgbClr val="C00000"/>
                </a:solidFill>
              </a:rPr>
              <a:t>Not-Only-SQL</a:t>
            </a:r>
            <a:r>
              <a:rPr lang="en-US" sz="3000" dirty="0"/>
              <a:t>) databases follow the </a:t>
            </a:r>
            <a:r>
              <a:rPr lang="en-US" sz="3000" i="1" dirty="0">
                <a:solidFill>
                  <a:srgbClr val="C00000"/>
                </a:solidFill>
              </a:rPr>
              <a:t>BASE properties</a:t>
            </a:r>
            <a:r>
              <a:rPr lang="en-US" sz="3000" dirty="0"/>
              <a:t>:</a:t>
            </a:r>
          </a:p>
          <a:p>
            <a:pPr lvl="1">
              <a:buFont typeface="Wingdings" pitchFamily="2" charset="2"/>
              <a:buChar char="§"/>
            </a:pPr>
            <a:r>
              <a:rPr lang="en-US" b="1" u="sng" dirty="0">
                <a:solidFill>
                  <a:srgbClr val="C00000"/>
                </a:solidFill>
              </a:rPr>
              <a:t>B</a:t>
            </a:r>
            <a:r>
              <a:rPr lang="en-US" dirty="0">
                <a:solidFill>
                  <a:srgbClr val="C00000"/>
                </a:solidFill>
              </a:rPr>
              <a:t>asically </a:t>
            </a:r>
            <a:r>
              <a:rPr lang="en-US" b="1" u="sng" dirty="0">
                <a:solidFill>
                  <a:srgbClr val="C00000"/>
                </a:solidFill>
              </a:rPr>
              <a:t>A</a:t>
            </a:r>
            <a:r>
              <a:rPr lang="en-US" dirty="0">
                <a:solidFill>
                  <a:srgbClr val="C00000"/>
                </a:solidFill>
              </a:rPr>
              <a:t>vailable</a:t>
            </a:r>
          </a:p>
          <a:p>
            <a:pPr lvl="1">
              <a:buFont typeface="Wingdings" pitchFamily="2" charset="2"/>
              <a:buChar char="§"/>
            </a:pPr>
            <a:r>
              <a:rPr lang="en-US" b="1" u="sng" dirty="0">
                <a:solidFill>
                  <a:srgbClr val="C00000"/>
                </a:solidFill>
              </a:rPr>
              <a:t>S</a:t>
            </a:r>
            <a:r>
              <a:rPr lang="en-US" dirty="0">
                <a:solidFill>
                  <a:srgbClr val="C00000"/>
                </a:solidFill>
              </a:rPr>
              <a:t>oft-State</a:t>
            </a:r>
          </a:p>
          <a:p>
            <a:pPr lvl="1">
              <a:buFont typeface="Wingdings" pitchFamily="2" charset="2"/>
              <a:buChar char="§"/>
            </a:pPr>
            <a:r>
              <a:rPr lang="en-US" b="1" u="sng" dirty="0">
                <a:solidFill>
                  <a:srgbClr val="C00000"/>
                </a:solidFill>
              </a:rPr>
              <a:t>E</a:t>
            </a:r>
            <a:r>
              <a:rPr lang="en-US" dirty="0">
                <a:solidFill>
                  <a:srgbClr val="C00000"/>
                </a:solidFill>
              </a:rPr>
              <a:t>ventual Consistency</a:t>
            </a:r>
          </a:p>
          <a:p>
            <a:pPr lvl="1">
              <a:buFont typeface="Wingdings" pitchFamily="2" charset="2"/>
              <a:buChar char="§"/>
            </a:pPr>
            <a:endParaRPr lang="en-US" sz="2200" dirty="0"/>
          </a:p>
          <a:p>
            <a:pPr>
              <a:buFont typeface="Wingdings" pitchFamily="2" charset="2"/>
              <a:buChar char="§"/>
            </a:pPr>
            <a:r>
              <a:rPr lang="en-US" sz="3000" dirty="0"/>
              <a:t>NoSQL databases have different types:</a:t>
            </a:r>
          </a:p>
          <a:p>
            <a:pPr lvl="1">
              <a:buFont typeface="Wingdings" pitchFamily="2" charset="2"/>
              <a:buChar char="§"/>
            </a:pPr>
            <a:r>
              <a:rPr lang="en-US" dirty="0">
                <a:solidFill>
                  <a:srgbClr val="C00000"/>
                </a:solidFill>
              </a:rPr>
              <a:t>Document Stores</a:t>
            </a:r>
          </a:p>
          <a:p>
            <a:pPr lvl="1">
              <a:buFont typeface="Wingdings" pitchFamily="2" charset="2"/>
              <a:buChar char="§"/>
            </a:pPr>
            <a:r>
              <a:rPr lang="en-US" dirty="0">
                <a:solidFill>
                  <a:srgbClr val="C00000"/>
                </a:solidFill>
              </a:rPr>
              <a:t>Graph Databases</a:t>
            </a:r>
          </a:p>
          <a:p>
            <a:pPr lvl="1">
              <a:buFont typeface="Wingdings" pitchFamily="2" charset="2"/>
              <a:buChar char="§"/>
            </a:pPr>
            <a:r>
              <a:rPr lang="en-US" dirty="0">
                <a:solidFill>
                  <a:srgbClr val="C00000"/>
                </a:solidFill>
              </a:rPr>
              <a:t>Key-Value Stores</a:t>
            </a:r>
          </a:p>
          <a:p>
            <a:pPr lvl="1">
              <a:buFont typeface="Wingdings" pitchFamily="2" charset="2"/>
              <a:buChar char="§"/>
            </a:pPr>
            <a:r>
              <a:rPr lang="en-US" dirty="0">
                <a:solidFill>
                  <a:srgbClr val="C00000"/>
                </a:solidFill>
              </a:rPr>
              <a:t>Columnar Databases</a:t>
            </a:r>
          </a:p>
        </p:txBody>
      </p:sp>
    </p:spTree>
    <p:extLst>
      <p:ext uri="{BB962C8B-B14F-4D97-AF65-F5344CB8AC3E}">
        <p14:creationId xmlns:p14="http://schemas.microsoft.com/office/powerpoint/2010/main" val="25898821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Theme1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heme1" id="{0F2A6958-D01A-4717-8DA3-73777DB8700A}" vid="{3949F1EA-764D-426C-A423-18E34EC4E7D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Theme1</Template>
  <TotalTime>41812</TotalTime>
  <Words>1592</Words>
  <Application>Microsoft Office PowerPoint</Application>
  <PresentationFormat>On-screen Show (4:3)</PresentationFormat>
  <Paragraphs>453</Paragraphs>
  <Slides>43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8" baseType="lpstr">
      <vt:lpstr>Arial</vt:lpstr>
      <vt:lpstr>Calibri</vt:lpstr>
      <vt:lpstr>Calibri Light</vt:lpstr>
      <vt:lpstr>Wingdings</vt:lpstr>
      <vt:lpstr>Theme1</vt:lpstr>
      <vt:lpstr>Distributed Databases and NoSQL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Types of Data</vt:lpstr>
      <vt:lpstr>Types of Data</vt:lpstr>
      <vt:lpstr>Why Classifying Data?</vt:lpstr>
      <vt:lpstr>Scaling Traditional Databases</vt:lpstr>
      <vt:lpstr>PowerPoint Presentation</vt:lpstr>
      <vt:lpstr>Why Sharding Data?</vt:lpstr>
      <vt:lpstr>Why Replicating Data?</vt:lpstr>
      <vt:lpstr>Why Replicating Data?</vt:lpstr>
      <vt:lpstr>But, Consistency Becomes a Challenge</vt:lpstr>
      <vt:lpstr>The Two-Phase Commit Protocol</vt:lpstr>
      <vt:lpstr>The Two-Phase Commit Protocol</vt:lpstr>
      <vt:lpstr>The Two-Phase Commit Protocol</vt:lpstr>
      <vt:lpstr>The Two-Phase Commit Protocol</vt:lpstr>
      <vt:lpstr>The CAP Theorem</vt:lpstr>
      <vt:lpstr>The CAP Theorem (Cont’d)</vt:lpstr>
      <vt:lpstr>Large-Scale Databases</vt:lpstr>
      <vt:lpstr>Trading-Off Consistency</vt:lpstr>
      <vt:lpstr>Trading-Off Consistency</vt:lpstr>
      <vt:lpstr>The BASE Properties</vt:lpstr>
      <vt:lpstr>Eventual Consistency</vt:lpstr>
      <vt:lpstr>Eventual Consistency</vt:lpstr>
      <vt:lpstr>Eventual Consistency:  A Main Challenge</vt:lpstr>
      <vt:lpstr>NoSQL Databases</vt:lpstr>
      <vt:lpstr>Types of NoSQL Databases</vt:lpstr>
      <vt:lpstr>Document Stores</vt:lpstr>
      <vt:lpstr>Types of NoSQL Databases</vt:lpstr>
      <vt:lpstr>Graph Databases</vt:lpstr>
      <vt:lpstr>Graph Databases</vt:lpstr>
      <vt:lpstr>Types of NoSQL Databases</vt:lpstr>
      <vt:lpstr>Key-Value Stores</vt:lpstr>
      <vt:lpstr>PowerPoint Presentation</vt:lpstr>
      <vt:lpstr>Types of NoSQL Databases</vt:lpstr>
      <vt:lpstr>Columnar Databases</vt:lpstr>
      <vt:lpstr>Columnar Databases</vt:lpstr>
      <vt:lpstr>Summary</vt:lpstr>
      <vt:lpstr>Summary (Cont’d)</vt:lpstr>
      <vt:lpstr>Summary (Cont’d)</vt:lpstr>
    </vt:vector>
  </TitlesOfParts>
  <Company>Carnegie Mellon University in Qatar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Dania Abed Rabbou</dc:creator>
  <cp:lastModifiedBy>BUKC</cp:lastModifiedBy>
  <cp:revision>3906</cp:revision>
  <dcterms:created xsi:type="dcterms:W3CDTF">2013-11-24T06:45:02Z</dcterms:created>
  <dcterms:modified xsi:type="dcterms:W3CDTF">2024-06-06T06:29:46Z</dcterms:modified>
</cp:coreProperties>
</file>